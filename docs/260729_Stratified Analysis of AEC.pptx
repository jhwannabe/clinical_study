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24"/>
  </p:notesMasterIdLst>
  <p:sldIdLst>
    <p:sldId id="256" r:id="rId2"/>
    <p:sldId id="617" r:id="rId3"/>
    <p:sldId id="618" r:id="rId4"/>
    <p:sldId id="619" r:id="rId5"/>
    <p:sldId id="551" r:id="rId6"/>
    <p:sldId id="588" r:id="rId7"/>
    <p:sldId id="481" r:id="rId8"/>
    <p:sldId id="578" r:id="rId9"/>
    <p:sldId id="555" r:id="rId10"/>
    <p:sldId id="553" r:id="rId11"/>
    <p:sldId id="561" r:id="rId12"/>
    <p:sldId id="566" r:id="rId13"/>
    <p:sldId id="610" r:id="rId14"/>
    <p:sldId id="621" r:id="rId15"/>
    <p:sldId id="479" r:id="rId16"/>
    <p:sldId id="590" r:id="rId17"/>
    <p:sldId id="591" r:id="rId18"/>
    <p:sldId id="602" r:id="rId19"/>
    <p:sldId id="600" r:id="rId20"/>
    <p:sldId id="597" r:id="rId21"/>
    <p:sldId id="601" r:id="rId22"/>
    <p:sldId id="589" r:id="rId23"/>
  </p:sldIdLst>
  <p:sldSz cx="12192000" cy="6858000"/>
  <p:notesSz cx="6858000" cy="9144000"/>
  <p:embeddedFontLst>
    <p:embeddedFont>
      <p:font typeface="KoPub돋움체 Bold" panose="00000800000000000000" pitchFamily="2" charset="-127"/>
      <p:bold r:id="rId25"/>
    </p:embeddedFont>
    <p:embeddedFont>
      <p:font typeface="KoPub돋움체 Medium" panose="00000600000000000000" pitchFamily="2" charset="-127"/>
      <p:regular r:id="rId2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97B6DF2-66C3-4074-9053-F9AA00FED5D5}">
          <p14:sldIdLst>
            <p14:sldId id="256"/>
            <p14:sldId id="617"/>
            <p14:sldId id="618"/>
            <p14:sldId id="619"/>
            <p14:sldId id="551"/>
            <p14:sldId id="588"/>
            <p14:sldId id="481"/>
            <p14:sldId id="578"/>
            <p14:sldId id="555"/>
            <p14:sldId id="553"/>
            <p14:sldId id="561"/>
            <p14:sldId id="566"/>
            <p14:sldId id="610"/>
            <p14:sldId id="621"/>
            <p14:sldId id="479"/>
            <p14:sldId id="590"/>
            <p14:sldId id="591"/>
            <p14:sldId id="602"/>
            <p14:sldId id="600"/>
            <p14:sldId id="597"/>
            <p14:sldId id="601"/>
            <p14:sldId id="58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장훈" initials="전" lastIdx="19" clrIdx="0">
    <p:extLst>
      <p:ext uri="{19B8F6BF-5375-455C-9EA6-DF929625EA0E}">
        <p15:presenceInfo xmlns:p15="http://schemas.microsoft.com/office/powerpoint/2012/main" userId="전장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5C7DD0"/>
    <a:srgbClr val="1F346B"/>
    <a:srgbClr val="023670"/>
    <a:srgbClr val="17A5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87394" autoAdjust="0"/>
  </p:normalViewPr>
  <p:slideViewPr>
    <p:cSldViewPr snapToGrid="0">
      <p:cViewPr varScale="1">
        <p:scale>
          <a:sx n="110" d="100"/>
          <a:sy n="110" d="100"/>
        </p:scale>
        <p:origin x="57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33074436-1BEA-4F09-AD5C-9DF87C96BF5A}" type="datetimeFigureOut">
              <a:rPr lang="ko-KR" altLang="en-US" smtClean="0"/>
              <a:pPr/>
              <a:t>2026-07-29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433C9518-700F-4811-95BB-24DAF3FA92F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 dirty="0" err="1"/>
              <a:t>안녕하십니까</a:t>
            </a:r>
            <a:r>
              <a:rPr sz="1200" dirty="0"/>
              <a:t>. </a:t>
            </a:r>
            <a:r>
              <a:rPr sz="1200" dirty="0" err="1"/>
              <a:t>오늘은</a:t>
            </a:r>
            <a:r>
              <a:rPr sz="1200" dirty="0"/>
              <a:t> AEC, 즉 CT </a:t>
            </a:r>
            <a:r>
              <a:rPr sz="1200" dirty="0" err="1"/>
              <a:t>자동노출제어</a:t>
            </a:r>
            <a:r>
              <a:rPr sz="1200" dirty="0"/>
              <a:t> </a:t>
            </a:r>
            <a:r>
              <a:rPr sz="1200" dirty="0" err="1"/>
              <a:t>곡선을</a:t>
            </a:r>
            <a:r>
              <a:rPr sz="1200" dirty="0"/>
              <a:t> </a:t>
            </a:r>
            <a:r>
              <a:rPr sz="1200" dirty="0" err="1"/>
              <a:t>성별과</a:t>
            </a:r>
            <a:r>
              <a:rPr sz="1200" dirty="0"/>
              <a:t> </a:t>
            </a:r>
            <a:r>
              <a:rPr sz="1200" dirty="0" err="1"/>
              <a:t>체질량지수</a:t>
            </a:r>
            <a:r>
              <a:rPr sz="1200" dirty="0"/>
              <a:t>(BMI)로 </a:t>
            </a:r>
            <a:r>
              <a:rPr sz="1200" dirty="0" err="1"/>
              <a:t>층화해서</a:t>
            </a:r>
            <a:r>
              <a:rPr sz="1200" dirty="0"/>
              <a:t> </a:t>
            </a:r>
            <a:r>
              <a:rPr sz="1200" dirty="0" err="1"/>
              <a:t>분석한</a:t>
            </a:r>
            <a:r>
              <a:rPr sz="1200" dirty="0"/>
              <a:t> </a:t>
            </a:r>
            <a:r>
              <a:rPr sz="1200" dirty="0" err="1"/>
              <a:t>결과를</a:t>
            </a:r>
            <a:r>
              <a:rPr sz="1200" dirty="0"/>
              <a:t> </a:t>
            </a:r>
            <a:r>
              <a:rPr sz="1200" dirty="0" err="1"/>
              <a:t>발표하겠습니다</a:t>
            </a:r>
            <a:r>
              <a:rPr sz="1200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1EDB8-D3F6-3507-04D0-3A38924FB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B215CE-E7A1-A7FF-51C5-EA691D7A5F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E5C74F-6EC5-204E-9170-BC4AB6C070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 dirty="0" err="1"/>
              <a:t>먼저</a:t>
            </a:r>
            <a:r>
              <a:rPr sz="1200" dirty="0"/>
              <a:t> </a:t>
            </a:r>
            <a:r>
              <a:rPr lang="ko-KR" altLang="en-US" sz="1200" dirty="0"/>
              <a:t>연구에 적용되는 레퍼런스</a:t>
            </a:r>
            <a:r>
              <a:rPr sz="1200" dirty="0"/>
              <a:t> </a:t>
            </a:r>
            <a:r>
              <a:rPr sz="1200" dirty="0" err="1"/>
              <a:t>논문를</a:t>
            </a:r>
            <a:r>
              <a:rPr lang="en-US" sz="1200" dirty="0"/>
              <a:t> </a:t>
            </a:r>
            <a:r>
              <a:rPr lang="ko-KR" altLang="en-US" sz="1200" dirty="0"/>
              <a:t>간단히</a:t>
            </a:r>
            <a:r>
              <a:rPr sz="1200" dirty="0"/>
              <a:t> </a:t>
            </a:r>
            <a:r>
              <a:rPr sz="1200" dirty="0" err="1"/>
              <a:t>소개드리겠습니다</a:t>
            </a:r>
            <a:r>
              <a:rPr sz="1200" dirty="0"/>
              <a:t>. 간(liver) </a:t>
            </a:r>
            <a:r>
              <a:rPr sz="1200" dirty="0" err="1"/>
              <a:t>CT에서</a:t>
            </a:r>
            <a:r>
              <a:rPr sz="1200" dirty="0"/>
              <a:t> </a:t>
            </a:r>
            <a:r>
              <a:rPr sz="1200" dirty="0" err="1"/>
              <a:t>병변을</a:t>
            </a:r>
            <a:r>
              <a:rPr sz="1200" dirty="0"/>
              <a:t> </a:t>
            </a:r>
            <a:r>
              <a:rPr sz="1200" dirty="0" err="1"/>
              <a:t>검출한</a:t>
            </a:r>
            <a:r>
              <a:rPr sz="1200" dirty="0"/>
              <a:t> 뒤 </a:t>
            </a:r>
            <a:r>
              <a:rPr sz="1200" dirty="0" err="1"/>
              <a:t>위양성을</a:t>
            </a:r>
            <a:r>
              <a:rPr sz="1200" dirty="0"/>
              <a:t> </a:t>
            </a:r>
            <a:r>
              <a:rPr sz="1200" dirty="0" err="1"/>
              <a:t>단계적으로</a:t>
            </a:r>
            <a:r>
              <a:rPr sz="1200" dirty="0"/>
              <a:t> </a:t>
            </a:r>
            <a:r>
              <a:rPr sz="1200" dirty="0" err="1"/>
              <a:t>제거하는</a:t>
            </a:r>
            <a:r>
              <a:rPr sz="1200" dirty="0"/>
              <a:t> cascaded </a:t>
            </a:r>
            <a:r>
              <a:rPr sz="1200" dirty="0" err="1"/>
              <a:t>방법론을</a:t>
            </a:r>
            <a:r>
              <a:rPr sz="1200" dirty="0"/>
              <a:t> </a:t>
            </a:r>
            <a:r>
              <a:rPr sz="1200" dirty="0" err="1"/>
              <a:t>제안한</a:t>
            </a:r>
            <a:r>
              <a:rPr sz="1200" dirty="0"/>
              <a:t> </a:t>
            </a:r>
            <a:r>
              <a:rPr sz="1200" dirty="0" err="1"/>
              <a:t>논문인데</a:t>
            </a:r>
            <a:r>
              <a:rPr sz="1200" dirty="0"/>
              <a:t>, </a:t>
            </a:r>
            <a:r>
              <a:rPr sz="1200" dirty="0" err="1"/>
              <a:t>검출</a:t>
            </a:r>
            <a:r>
              <a:rPr sz="1200" dirty="0"/>
              <a:t> </a:t>
            </a:r>
            <a:r>
              <a:rPr sz="1200" dirty="0" err="1"/>
              <a:t>결과의</a:t>
            </a:r>
            <a:r>
              <a:rPr sz="1200" dirty="0"/>
              <a:t> </a:t>
            </a:r>
            <a:r>
              <a:rPr sz="1200" dirty="0" err="1"/>
              <a:t>위양성을</a:t>
            </a:r>
            <a:r>
              <a:rPr sz="1200" dirty="0"/>
              <a:t> </a:t>
            </a:r>
            <a:r>
              <a:rPr sz="1200" dirty="0" err="1"/>
              <a:t>통제하면서</a:t>
            </a:r>
            <a:r>
              <a:rPr sz="1200" dirty="0"/>
              <a:t> </a:t>
            </a:r>
            <a:r>
              <a:rPr sz="1200" dirty="0" err="1"/>
              <a:t>성능을</a:t>
            </a:r>
            <a:r>
              <a:rPr sz="1200" dirty="0"/>
              <a:t> </a:t>
            </a:r>
            <a:r>
              <a:rPr sz="1200" dirty="0" err="1"/>
              <a:t>확보해야</a:t>
            </a:r>
            <a:r>
              <a:rPr sz="1200" dirty="0"/>
              <a:t> </a:t>
            </a:r>
            <a:r>
              <a:rPr sz="1200" dirty="0" err="1"/>
              <a:t>하는</a:t>
            </a:r>
            <a:r>
              <a:rPr sz="1200" dirty="0"/>
              <a:t> </a:t>
            </a:r>
            <a:r>
              <a:rPr sz="1200" dirty="0" err="1"/>
              <a:t>저희</a:t>
            </a:r>
            <a:r>
              <a:rPr sz="1200" dirty="0"/>
              <a:t> AEC </a:t>
            </a:r>
            <a:r>
              <a:rPr sz="1200" dirty="0" err="1"/>
              <a:t>층화</a:t>
            </a:r>
            <a:r>
              <a:rPr sz="1200" dirty="0"/>
              <a:t> </a:t>
            </a:r>
            <a:r>
              <a:rPr sz="1200" dirty="0" err="1"/>
              <a:t>분석의</a:t>
            </a:r>
            <a:r>
              <a:rPr sz="1200" dirty="0"/>
              <a:t> </a:t>
            </a:r>
            <a:r>
              <a:rPr sz="1200" dirty="0" err="1"/>
              <a:t>방법론적</a:t>
            </a:r>
            <a:r>
              <a:rPr sz="1200" dirty="0"/>
              <a:t> </a:t>
            </a:r>
            <a:r>
              <a:rPr sz="1200" dirty="0" err="1"/>
              <a:t>토대가</a:t>
            </a:r>
            <a:r>
              <a:rPr sz="1200" dirty="0"/>
              <a:t> </a:t>
            </a:r>
            <a:r>
              <a:rPr sz="1200" dirty="0" err="1"/>
              <a:t>되었습니다</a:t>
            </a:r>
            <a:r>
              <a:rPr sz="1200" dirty="0"/>
              <a:t>.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313A3-7C82-396F-2E97-27A91023EF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866586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1EDB8-D3F6-3507-04D0-3A38924FB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B215CE-E7A1-A7FF-51C5-EA691D7A5F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E5C74F-6EC5-204E-9170-BC4AB6C070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sz="1200" dirty="0"/>
              <a:t>추가로 </a:t>
            </a:r>
            <a:r>
              <a:rPr sz="1200" dirty="0"/>
              <a:t>4편의 </a:t>
            </a:r>
            <a:r>
              <a:rPr sz="1200" dirty="0" err="1"/>
              <a:t>논문을</a:t>
            </a:r>
            <a:r>
              <a:rPr sz="1200" dirty="0"/>
              <a:t> </a:t>
            </a:r>
            <a:r>
              <a:rPr sz="1200" dirty="0" err="1"/>
              <a:t>정리했습니다</a:t>
            </a:r>
            <a:r>
              <a:rPr sz="1200" dirty="0"/>
              <a:t>. </a:t>
            </a:r>
            <a:r>
              <a:rPr sz="1200" dirty="0" err="1"/>
              <a:t>첫째</a:t>
            </a:r>
            <a:r>
              <a:rPr sz="1200" dirty="0"/>
              <a:t>, </a:t>
            </a:r>
            <a:r>
              <a:rPr sz="1200" dirty="0" err="1"/>
              <a:t>Setio</a:t>
            </a:r>
            <a:r>
              <a:rPr sz="1200" dirty="0"/>
              <a:t> 등(IEEE TMI, 2016)의 multi-view </a:t>
            </a:r>
            <a:r>
              <a:rPr sz="1200" dirty="0" err="1"/>
              <a:t>ConvNet</a:t>
            </a:r>
            <a:r>
              <a:rPr sz="1200" dirty="0"/>
              <a:t> </a:t>
            </a:r>
            <a:r>
              <a:rPr sz="1200" dirty="0" err="1"/>
              <a:t>위양성</a:t>
            </a:r>
            <a:r>
              <a:rPr sz="1200" dirty="0"/>
              <a:t> </a:t>
            </a:r>
            <a:r>
              <a:rPr sz="1200" dirty="0" err="1"/>
              <a:t>감소</a:t>
            </a:r>
            <a:r>
              <a:rPr sz="1200" dirty="0"/>
              <a:t> </a:t>
            </a:r>
            <a:r>
              <a:rPr sz="1200" dirty="0" err="1"/>
              <a:t>연구로</a:t>
            </a:r>
            <a:r>
              <a:rPr sz="1200" dirty="0"/>
              <a:t>, </a:t>
            </a:r>
            <a:r>
              <a:rPr sz="1200" dirty="0" err="1"/>
              <a:t>single-view·committee-fusion·late-fusion·mixed-fusion</a:t>
            </a:r>
            <a:r>
              <a:rPr sz="1200" dirty="0"/>
              <a:t> 등 </a:t>
            </a:r>
            <a:r>
              <a:rPr sz="1200" dirty="0" err="1"/>
              <a:t>여러</a:t>
            </a:r>
            <a:r>
              <a:rPr sz="1200" dirty="0"/>
              <a:t> </a:t>
            </a:r>
            <a:r>
              <a:rPr sz="1200" dirty="0" err="1"/>
              <a:t>융합</a:t>
            </a:r>
            <a:r>
              <a:rPr sz="1200" dirty="0"/>
              <a:t> </a:t>
            </a:r>
            <a:r>
              <a:rPr sz="1200" dirty="0" err="1"/>
              <a:t>방식을</a:t>
            </a:r>
            <a:r>
              <a:rPr sz="1200" dirty="0"/>
              <a:t> </a:t>
            </a:r>
            <a:r>
              <a:rPr sz="1200" dirty="0" err="1"/>
              <a:t>통해</a:t>
            </a:r>
            <a:r>
              <a:rPr sz="1200" dirty="0"/>
              <a:t> </a:t>
            </a:r>
            <a:r>
              <a:rPr sz="1200" dirty="0" err="1"/>
              <a:t>위양성을</a:t>
            </a:r>
            <a:r>
              <a:rPr sz="1200" dirty="0"/>
              <a:t> </a:t>
            </a:r>
            <a:r>
              <a:rPr sz="1200" dirty="0" err="1"/>
              <a:t>줄이는</a:t>
            </a:r>
            <a:r>
              <a:rPr sz="1200" dirty="0"/>
              <a:t> </a:t>
            </a:r>
            <a:r>
              <a:rPr sz="1200" dirty="0" err="1"/>
              <a:t>방법을</a:t>
            </a:r>
            <a:r>
              <a:rPr sz="1200" dirty="0"/>
              <a:t> AEC </a:t>
            </a:r>
            <a:r>
              <a:rPr sz="1200" dirty="0" err="1"/>
              <a:t>프로파일</a:t>
            </a:r>
            <a:r>
              <a:rPr sz="1200" dirty="0"/>
              <a:t> </a:t>
            </a:r>
            <a:r>
              <a:rPr sz="1200" dirty="0" err="1"/>
              <a:t>판별에</a:t>
            </a:r>
            <a:r>
              <a:rPr sz="1200" dirty="0"/>
              <a:t> </a:t>
            </a:r>
            <a:r>
              <a:rPr sz="1200" dirty="0" err="1"/>
              <a:t>적용했습니다</a:t>
            </a:r>
            <a:r>
              <a:rPr sz="1200" dirty="0"/>
              <a:t>. </a:t>
            </a:r>
            <a:r>
              <a:rPr sz="1200" dirty="0" err="1"/>
              <a:t>둘째</a:t>
            </a:r>
            <a:r>
              <a:rPr sz="1200" dirty="0"/>
              <a:t>, AAPM Report 220(McCollough 등, 2014)</a:t>
            </a:r>
            <a:r>
              <a:rPr sz="1200" dirty="0" err="1"/>
              <a:t>에서</a:t>
            </a:r>
            <a:r>
              <a:rPr sz="1200" dirty="0"/>
              <a:t> </a:t>
            </a:r>
            <a:r>
              <a:rPr sz="1200" dirty="0" err="1"/>
              <a:t>제시한</a:t>
            </a:r>
            <a:r>
              <a:rPr sz="1200" dirty="0"/>
              <a:t> WED(Water Equivalent Diameter) </a:t>
            </a:r>
            <a:r>
              <a:rPr sz="1200" dirty="0" err="1"/>
              <a:t>기반</a:t>
            </a:r>
            <a:r>
              <a:rPr sz="1200" dirty="0"/>
              <a:t> SSDE </a:t>
            </a:r>
            <a:r>
              <a:rPr sz="1200" dirty="0" err="1"/>
              <a:t>개념으로</a:t>
            </a:r>
            <a:r>
              <a:rPr sz="1200" dirty="0"/>
              <a:t>, </a:t>
            </a:r>
            <a:r>
              <a:rPr sz="1200" dirty="0" err="1"/>
              <a:t>환자</a:t>
            </a:r>
            <a:r>
              <a:rPr sz="1200" dirty="0"/>
              <a:t> </a:t>
            </a:r>
            <a:r>
              <a:rPr sz="1200" dirty="0" err="1"/>
              <a:t>체격에</a:t>
            </a:r>
            <a:r>
              <a:rPr sz="1200" dirty="0"/>
              <a:t> </a:t>
            </a:r>
            <a:r>
              <a:rPr sz="1200" dirty="0" err="1"/>
              <a:t>따라</a:t>
            </a:r>
            <a:r>
              <a:rPr sz="1200" dirty="0"/>
              <a:t> </a:t>
            </a:r>
            <a:r>
              <a:rPr sz="1200" dirty="0" err="1"/>
              <a:t>선량과</a:t>
            </a:r>
            <a:r>
              <a:rPr sz="1200" dirty="0"/>
              <a:t> AEC </a:t>
            </a:r>
            <a:r>
              <a:rPr sz="1200" dirty="0" err="1"/>
              <a:t>프로파일이</a:t>
            </a:r>
            <a:r>
              <a:rPr sz="1200" dirty="0"/>
              <a:t> </a:t>
            </a:r>
            <a:r>
              <a:rPr sz="1200" dirty="0" err="1"/>
              <a:t>달라진다는</a:t>
            </a:r>
            <a:r>
              <a:rPr sz="1200" dirty="0"/>
              <a:t> </a:t>
            </a:r>
            <a:r>
              <a:rPr sz="1200" dirty="0" err="1"/>
              <a:t>점에</a:t>
            </a:r>
            <a:r>
              <a:rPr sz="1200" dirty="0"/>
              <a:t> </a:t>
            </a:r>
            <a:r>
              <a:rPr sz="1200" dirty="0" err="1"/>
              <a:t>착안해</a:t>
            </a:r>
            <a:r>
              <a:rPr sz="1200" dirty="0"/>
              <a:t> WED </a:t>
            </a:r>
            <a:r>
              <a:rPr sz="1200" dirty="0" err="1"/>
              <a:t>기반</a:t>
            </a:r>
            <a:r>
              <a:rPr sz="1200" dirty="0"/>
              <a:t> patient-normalized </a:t>
            </a:r>
            <a:r>
              <a:rPr sz="1200" dirty="0" err="1"/>
              <a:t>전처리로</a:t>
            </a:r>
            <a:r>
              <a:rPr sz="1200" dirty="0"/>
              <a:t> </a:t>
            </a:r>
            <a:r>
              <a:rPr sz="1200" dirty="0" err="1"/>
              <a:t>체격</a:t>
            </a:r>
            <a:r>
              <a:rPr sz="1200" dirty="0"/>
              <a:t> </a:t>
            </a:r>
            <a:r>
              <a:rPr sz="1200" dirty="0" err="1"/>
              <a:t>영향을</a:t>
            </a:r>
            <a:r>
              <a:rPr sz="1200" dirty="0"/>
              <a:t> </a:t>
            </a:r>
            <a:r>
              <a:rPr sz="1200" dirty="0" err="1"/>
              <a:t>보정했습니다</a:t>
            </a:r>
            <a:r>
              <a:rPr sz="1200" dirty="0"/>
              <a:t>. </a:t>
            </a:r>
            <a:r>
              <a:rPr sz="1200" dirty="0" err="1"/>
              <a:t>셋째</a:t>
            </a:r>
            <a:r>
              <a:rPr sz="1200" dirty="0"/>
              <a:t>, </a:t>
            </a:r>
            <a:r>
              <a:rPr sz="1200" dirty="0" err="1"/>
              <a:t>Mulkens</a:t>
            </a:r>
            <a:r>
              <a:rPr sz="1200" dirty="0"/>
              <a:t> 등(AJR, 2005)의 </a:t>
            </a:r>
            <a:r>
              <a:rPr sz="1200" dirty="0" err="1"/>
              <a:t>연구는</a:t>
            </a:r>
            <a:r>
              <a:rPr sz="1200" dirty="0"/>
              <a:t> </a:t>
            </a:r>
            <a:r>
              <a:rPr sz="1200" dirty="0" err="1"/>
              <a:t>흉부</a:t>
            </a:r>
            <a:r>
              <a:rPr sz="1200" dirty="0"/>
              <a:t> p=0.003, </a:t>
            </a:r>
            <a:r>
              <a:rPr sz="1200" dirty="0" err="1"/>
              <a:t>복부</a:t>
            </a:r>
            <a:r>
              <a:rPr sz="1200" dirty="0"/>
              <a:t> p=0.002로 </a:t>
            </a:r>
            <a:r>
              <a:rPr sz="1200" dirty="0" err="1"/>
              <a:t>성별에</a:t>
            </a:r>
            <a:r>
              <a:rPr sz="1200" dirty="0"/>
              <a:t> </a:t>
            </a:r>
            <a:r>
              <a:rPr sz="1200" dirty="0" err="1"/>
              <a:t>따라</a:t>
            </a:r>
            <a:r>
              <a:rPr sz="1200" dirty="0"/>
              <a:t> </a:t>
            </a:r>
            <a:r>
              <a:rPr lang="en-US" altLang="ko-KR" sz="1200" dirty="0"/>
              <a:t>AEC </a:t>
            </a:r>
            <a:r>
              <a:rPr lang="ko-KR" altLang="en-US" sz="1200" dirty="0"/>
              <a:t>조절하는 선량 정도가 </a:t>
            </a:r>
            <a:r>
              <a:rPr sz="1200" dirty="0" err="1"/>
              <a:t>유의하게</a:t>
            </a:r>
            <a:r>
              <a:rPr sz="1200" dirty="0"/>
              <a:t> </a:t>
            </a:r>
            <a:r>
              <a:rPr sz="1200" dirty="0" err="1"/>
              <a:t>다르다는</a:t>
            </a:r>
            <a:r>
              <a:rPr sz="1200" dirty="0"/>
              <a:t> </a:t>
            </a:r>
            <a:r>
              <a:rPr sz="1200" dirty="0" err="1"/>
              <a:t>것을</a:t>
            </a:r>
            <a:r>
              <a:rPr sz="1200" dirty="0"/>
              <a:t> </a:t>
            </a:r>
            <a:r>
              <a:rPr sz="1200" dirty="0" err="1"/>
              <a:t>보였고</a:t>
            </a:r>
            <a:r>
              <a:rPr sz="1200" dirty="0"/>
              <a:t>, </a:t>
            </a:r>
            <a:r>
              <a:rPr sz="1200" dirty="0" err="1"/>
              <a:t>이에</a:t>
            </a:r>
            <a:r>
              <a:rPr sz="1200" dirty="0"/>
              <a:t> </a:t>
            </a:r>
            <a:r>
              <a:rPr sz="1200" dirty="0" err="1"/>
              <a:t>따라</a:t>
            </a:r>
            <a:r>
              <a:rPr sz="1200" dirty="0"/>
              <a:t> </a:t>
            </a:r>
            <a:r>
              <a:rPr sz="1200" dirty="0" err="1"/>
              <a:t>저희도</a:t>
            </a:r>
            <a:r>
              <a:rPr sz="1200" dirty="0"/>
              <a:t> </a:t>
            </a:r>
            <a:r>
              <a:rPr sz="1200" dirty="0" err="1"/>
              <a:t>남녀를</a:t>
            </a:r>
            <a:r>
              <a:rPr sz="1200" dirty="0"/>
              <a:t> </a:t>
            </a:r>
            <a:r>
              <a:rPr sz="1200" dirty="0" err="1"/>
              <a:t>분리해서</a:t>
            </a:r>
            <a:r>
              <a:rPr sz="1200" dirty="0"/>
              <a:t> </a:t>
            </a:r>
            <a:r>
              <a:rPr sz="1200" dirty="0" err="1"/>
              <a:t>AEC를</a:t>
            </a:r>
            <a:r>
              <a:rPr sz="1200" dirty="0"/>
              <a:t> </a:t>
            </a:r>
            <a:r>
              <a:rPr sz="1200" dirty="0" err="1"/>
              <a:t>분석했습니다</a:t>
            </a:r>
            <a:r>
              <a:rPr sz="1200" dirty="0"/>
              <a:t>. </a:t>
            </a:r>
            <a:r>
              <a:rPr sz="1200" dirty="0" err="1"/>
              <a:t>넷째</a:t>
            </a:r>
            <a:r>
              <a:rPr sz="1200" dirty="0"/>
              <a:t>, </a:t>
            </a:r>
            <a:r>
              <a:rPr sz="1200" dirty="0" err="1"/>
              <a:t>WHO의</a:t>
            </a:r>
            <a:r>
              <a:rPr sz="1200" dirty="0"/>
              <a:t> </a:t>
            </a:r>
            <a:r>
              <a:rPr sz="1200" dirty="0" err="1"/>
              <a:t>아시아인</a:t>
            </a:r>
            <a:r>
              <a:rPr sz="1200" dirty="0"/>
              <a:t> BMI </a:t>
            </a:r>
            <a:r>
              <a:rPr sz="1200" dirty="0" err="1"/>
              <a:t>기준</a:t>
            </a:r>
            <a:r>
              <a:rPr sz="1200" dirty="0"/>
              <a:t>(Lancet, 2004)에 </a:t>
            </a:r>
            <a:r>
              <a:rPr sz="1200" dirty="0" err="1"/>
              <a:t>따라</a:t>
            </a:r>
            <a:r>
              <a:rPr sz="1200" dirty="0"/>
              <a:t> </a:t>
            </a:r>
            <a:r>
              <a:rPr sz="1200" dirty="0" err="1"/>
              <a:t>과체중</a:t>
            </a:r>
            <a:r>
              <a:rPr sz="1200" dirty="0"/>
              <a:t> 23 </a:t>
            </a:r>
            <a:r>
              <a:rPr sz="1200" dirty="0" err="1"/>
              <a:t>이상</a:t>
            </a:r>
            <a:r>
              <a:rPr sz="1200" dirty="0"/>
              <a:t>, </a:t>
            </a:r>
            <a:r>
              <a:rPr sz="1200" dirty="0" err="1"/>
              <a:t>비만</a:t>
            </a:r>
            <a:r>
              <a:rPr sz="1200" dirty="0"/>
              <a:t> 25 </a:t>
            </a:r>
            <a:r>
              <a:rPr sz="1200" dirty="0" err="1"/>
              <a:t>이상이라는</a:t>
            </a:r>
            <a:r>
              <a:rPr sz="1200" dirty="0"/>
              <a:t> </a:t>
            </a:r>
            <a:r>
              <a:rPr sz="1200" dirty="0" err="1"/>
              <a:t>서양</a:t>
            </a:r>
            <a:r>
              <a:rPr sz="1200" dirty="0"/>
              <a:t> </a:t>
            </a:r>
            <a:r>
              <a:rPr sz="1200" dirty="0" err="1"/>
              <a:t>기준보다</a:t>
            </a:r>
            <a:r>
              <a:rPr sz="1200" dirty="0"/>
              <a:t> </a:t>
            </a:r>
            <a:r>
              <a:rPr sz="1200" dirty="0" err="1"/>
              <a:t>낮은</a:t>
            </a:r>
            <a:r>
              <a:rPr sz="1200" dirty="0"/>
              <a:t> </a:t>
            </a:r>
            <a:r>
              <a:rPr sz="1200" dirty="0" err="1"/>
              <a:t>컷오프를</a:t>
            </a:r>
            <a:r>
              <a:rPr sz="1200" dirty="0"/>
              <a:t> </a:t>
            </a:r>
            <a:r>
              <a:rPr sz="1200" dirty="0" err="1"/>
              <a:t>적용해</a:t>
            </a:r>
            <a:r>
              <a:rPr sz="1200" dirty="0"/>
              <a:t> BMI </a:t>
            </a:r>
            <a:r>
              <a:rPr sz="1200" dirty="0" err="1"/>
              <a:t>사분위·그룹을</a:t>
            </a:r>
            <a:r>
              <a:rPr sz="1200" dirty="0"/>
              <a:t> </a:t>
            </a:r>
            <a:r>
              <a:rPr sz="1200" dirty="0" err="1"/>
              <a:t>나눴습니다</a:t>
            </a:r>
            <a:r>
              <a:rPr sz="1200" dirty="0"/>
              <a:t>. (약 1분 15초)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313A3-7C82-396F-2E97-27A91023EF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866586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CCF4F-F5BA-0BAA-6BD8-0A6D4A798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0F49AB-9E40-1106-AC27-BF1890BFA2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6E6316-0BEA-18C3-CCE3-8220627C38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 dirty="0" err="1"/>
              <a:t>연구</a:t>
            </a:r>
            <a:r>
              <a:rPr sz="1200" dirty="0"/>
              <a:t> </a:t>
            </a:r>
            <a:r>
              <a:rPr sz="1200" dirty="0" err="1"/>
              <a:t>흐름입니다</a:t>
            </a:r>
            <a:r>
              <a:rPr sz="1200" dirty="0"/>
              <a:t>. Stage 1에서는 </a:t>
            </a:r>
            <a:r>
              <a:rPr sz="1200" dirty="0" err="1"/>
              <a:t>성별</a:t>
            </a:r>
            <a:r>
              <a:rPr sz="1200" dirty="0"/>
              <a:t>, </a:t>
            </a:r>
            <a:r>
              <a:rPr sz="1200" dirty="0" err="1"/>
              <a:t>나이</a:t>
            </a:r>
            <a:r>
              <a:rPr sz="1200" dirty="0"/>
              <a:t>, 키, </a:t>
            </a:r>
            <a:r>
              <a:rPr sz="1200" dirty="0" err="1"/>
              <a:t>몸무게</a:t>
            </a:r>
            <a:r>
              <a:rPr sz="1200" dirty="0"/>
              <a:t> 등 </a:t>
            </a:r>
            <a:r>
              <a:rPr sz="1200" dirty="0" err="1"/>
              <a:t>임상변수만으로</a:t>
            </a:r>
            <a:r>
              <a:rPr sz="1200" dirty="0"/>
              <a:t> </a:t>
            </a:r>
            <a:r>
              <a:rPr sz="1200" dirty="0" err="1"/>
              <a:t>로지스틱</a:t>
            </a:r>
            <a:r>
              <a:rPr sz="1200" dirty="0"/>
              <a:t> </a:t>
            </a:r>
            <a:r>
              <a:rPr sz="1200" dirty="0" err="1"/>
              <a:t>회귀를</a:t>
            </a:r>
            <a:r>
              <a:rPr sz="1200" dirty="0"/>
              <a:t> </a:t>
            </a:r>
            <a:r>
              <a:rPr sz="1200" dirty="0" err="1"/>
              <a:t>적합하고</a:t>
            </a:r>
            <a:r>
              <a:rPr sz="1200" dirty="0"/>
              <a:t>, </a:t>
            </a:r>
            <a:r>
              <a:rPr sz="1200" dirty="0" err="1"/>
              <a:t>민감도</a:t>
            </a:r>
            <a:r>
              <a:rPr sz="1200" dirty="0"/>
              <a:t> 90%에서 </a:t>
            </a:r>
            <a:r>
              <a:rPr sz="1200" dirty="0" err="1"/>
              <a:t>컷오프를</a:t>
            </a:r>
            <a:r>
              <a:rPr sz="1200" dirty="0"/>
              <a:t> </a:t>
            </a:r>
            <a:r>
              <a:rPr sz="1200" dirty="0" err="1"/>
              <a:t>잡아</a:t>
            </a:r>
            <a:r>
              <a:rPr sz="1200" dirty="0"/>
              <a:t> confusion </a:t>
            </a:r>
            <a:r>
              <a:rPr sz="1200" dirty="0" err="1"/>
              <a:t>matrix를</a:t>
            </a:r>
            <a:r>
              <a:rPr sz="1200" dirty="0"/>
              <a:t> </a:t>
            </a:r>
            <a:r>
              <a:rPr sz="1200" dirty="0" err="1"/>
              <a:t>산출합니다</a:t>
            </a:r>
            <a:r>
              <a:rPr sz="1200" dirty="0"/>
              <a:t>. Stage 2에서는 Stage 1에서 </a:t>
            </a:r>
            <a:r>
              <a:rPr sz="1200" dirty="0" err="1"/>
              <a:t>양성으로</a:t>
            </a:r>
            <a:r>
              <a:rPr sz="1200" dirty="0"/>
              <a:t> </a:t>
            </a:r>
            <a:r>
              <a:rPr sz="1200" dirty="0" err="1"/>
              <a:t>예측된</a:t>
            </a:r>
            <a:r>
              <a:rPr sz="1200" dirty="0"/>
              <a:t> </a:t>
            </a:r>
            <a:r>
              <a:rPr sz="1200" dirty="0" err="1"/>
              <a:t>대상</a:t>
            </a:r>
            <a:r>
              <a:rPr sz="1200" dirty="0"/>
              <a:t>, 즉 </a:t>
            </a:r>
            <a:r>
              <a:rPr sz="1200" dirty="0" err="1"/>
              <a:t>TP와</a:t>
            </a:r>
            <a:r>
              <a:rPr sz="1200" dirty="0"/>
              <a:t> </a:t>
            </a:r>
            <a:r>
              <a:rPr sz="1200" dirty="0" err="1"/>
              <a:t>FP를</a:t>
            </a:r>
            <a:r>
              <a:rPr sz="1200" dirty="0"/>
              <a:t> </a:t>
            </a:r>
            <a:r>
              <a:rPr sz="1200" dirty="0" err="1"/>
              <a:t>모아</a:t>
            </a:r>
            <a:r>
              <a:rPr sz="1200" dirty="0"/>
              <a:t> AEC </a:t>
            </a:r>
            <a:r>
              <a:rPr sz="1200" dirty="0" err="1"/>
              <a:t>곡선</a:t>
            </a:r>
            <a:r>
              <a:rPr sz="1200" dirty="0"/>
              <a:t> </a:t>
            </a:r>
            <a:r>
              <a:rPr sz="1200" dirty="0" err="1"/>
              <a:t>데이터</a:t>
            </a:r>
            <a:r>
              <a:rPr lang="en-US" sz="1200" dirty="0"/>
              <a:t> </a:t>
            </a:r>
            <a:r>
              <a:rPr lang="ko-KR" altLang="en-US" sz="1200" dirty="0"/>
              <a:t>또는 추가로 추출된 데이터</a:t>
            </a:r>
            <a:r>
              <a:rPr sz="1200" dirty="0"/>
              <a:t>로 </a:t>
            </a:r>
            <a:r>
              <a:rPr sz="1200" dirty="0" err="1"/>
              <a:t>재분류를</a:t>
            </a:r>
            <a:r>
              <a:rPr sz="1200" dirty="0"/>
              <a:t> </a:t>
            </a:r>
            <a:r>
              <a:rPr sz="1200" dirty="0" err="1"/>
              <a:t>시도</a:t>
            </a:r>
            <a:r>
              <a:rPr lang="ko-KR" altLang="en-US" sz="1200" dirty="0"/>
              <a:t>하여</a:t>
            </a:r>
            <a:r>
              <a:rPr lang="en-US" altLang="ko-KR" sz="1200" dirty="0"/>
              <a:t>, AUC</a:t>
            </a:r>
            <a:r>
              <a:rPr lang="ko-KR" altLang="en-US" sz="1200" dirty="0"/>
              <a:t>를 높이는 것이 목적입니다</a:t>
            </a:r>
            <a:r>
              <a:rPr lang="en-US" altLang="ko-KR" sz="1200" dirty="0"/>
              <a:t>.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174E54-7793-89A2-29A5-75B20A9DF8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22871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C899B-56F0-24CC-99FF-70555926E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CD546B-6114-6D8A-72D1-C997EDDB2D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080A3A-C626-ED26-1517-687ECCC043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sz="1200" dirty="0"/>
              <a:t>이번주 진행했던 </a:t>
            </a:r>
            <a:r>
              <a:rPr sz="1200" dirty="0" err="1"/>
              <a:t>연구</a:t>
            </a:r>
            <a:r>
              <a:rPr sz="1200" dirty="0"/>
              <a:t> </a:t>
            </a:r>
            <a:r>
              <a:rPr sz="1200" dirty="0" err="1"/>
              <a:t>요약입니다</a:t>
            </a:r>
            <a:r>
              <a:rPr sz="1200" dirty="0"/>
              <a:t>. </a:t>
            </a:r>
            <a:r>
              <a:rPr sz="1200" dirty="0" err="1"/>
              <a:t>전체</a:t>
            </a:r>
            <a:r>
              <a:rPr sz="1200" dirty="0"/>
              <a:t> </a:t>
            </a:r>
            <a:r>
              <a:rPr sz="1200" dirty="0" err="1"/>
              <a:t>데이터를</a:t>
            </a:r>
            <a:r>
              <a:rPr sz="1200" dirty="0"/>
              <a:t> </a:t>
            </a:r>
            <a:r>
              <a:rPr sz="1200" dirty="0" err="1"/>
              <a:t>통합해서</a:t>
            </a:r>
            <a:r>
              <a:rPr sz="1200" dirty="0"/>
              <a:t> </a:t>
            </a:r>
            <a:r>
              <a:rPr sz="1200" dirty="0" err="1"/>
              <a:t>보면</a:t>
            </a:r>
            <a:r>
              <a:rPr sz="1200" dirty="0"/>
              <a:t> </a:t>
            </a:r>
            <a:r>
              <a:rPr sz="1200" dirty="0" err="1"/>
              <a:t>TP와</a:t>
            </a:r>
            <a:r>
              <a:rPr sz="1200" dirty="0"/>
              <a:t> FP 간 AEC </a:t>
            </a:r>
            <a:r>
              <a:rPr sz="1200" dirty="0" err="1"/>
              <a:t>차이는</a:t>
            </a:r>
            <a:r>
              <a:rPr sz="1200" dirty="0"/>
              <a:t> </a:t>
            </a:r>
            <a:r>
              <a:rPr sz="1200" dirty="0" err="1"/>
              <a:t>통계적으로</a:t>
            </a:r>
            <a:r>
              <a:rPr sz="1200" dirty="0"/>
              <a:t> </a:t>
            </a:r>
            <a:r>
              <a:rPr sz="1200" dirty="0" err="1"/>
              <a:t>유의하지</a:t>
            </a:r>
            <a:r>
              <a:rPr sz="1200" dirty="0"/>
              <a:t> </a:t>
            </a:r>
            <a:r>
              <a:rPr sz="1200" dirty="0" err="1"/>
              <a:t>않았습니다</a:t>
            </a:r>
            <a:r>
              <a:rPr sz="1200" dirty="0"/>
              <a:t>(p&gt;0.05). </a:t>
            </a:r>
            <a:r>
              <a:rPr sz="1200" dirty="0" err="1"/>
              <a:t>하지만</a:t>
            </a:r>
            <a:r>
              <a:rPr sz="1200" dirty="0"/>
              <a:t> </a:t>
            </a:r>
            <a:r>
              <a:rPr sz="1200" dirty="0" err="1"/>
              <a:t>성별과</a:t>
            </a:r>
            <a:r>
              <a:rPr sz="1200" dirty="0"/>
              <a:t> </a:t>
            </a:r>
            <a:r>
              <a:rPr sz="1200" dirty="0" err="1"/>
              <a:t>BMI로</a:t>
            </a:r>
            <a:r>
              <a:rPr sz="1200" dirty="0"/>
              <a:t> </a:t>
            </a:r>
            <a:r>
              <a:rPr sz="1200" dirty="0" err="1"/>
              <a:t>그룹을</a:t>
            </a:r>
            <a:r>
              <a:rPr sz="1200" dirty="0"/>
              <a:t> </a:t>
            </a:r>
            <a:r>
              <a:rPr sz="1200" dirty="0" err="1"/>
              <a:t>나누면</a:t>
            </a:r>
            <a:r>
              <a:rPr sz="1200" dirty="0"/>
              <a:t> </a:t>
            </a:r>
            <a:r>
              <a:rPr sz="1200" dirty="0" err="1"/>
              <a:t>일부</a:t>
            </a:r>
            <a:r>
              <a:rPr sz="1200" dirty="0"/>
              <a:t> </a:t>
            </a:r>
            <a:r>
              <a:rPr sz="1200" dirty="0" err="1"/>
              <a:t>그룹에서</a:t>
            </a:r>
            <a:r>
              <a:rPr sz="1200" dirty="0"/>
              <a:t> </a:t>
            </a:r>
            <a:r>
              <a:rPr sz="1200" dirty="0" err="1"/>
              <a:t>유의한</a:t>
            </a:r>
            <a:r>
              <a:rPr sz="1200" dirty="0"/>
              <a:t> </a:t>
            </a:r>
            <a:r>
              <a:rPr sz="1200" dirty="0" err="1"/>
              <a:t>차이가</a:t>
            </a:r>
            <a:r>
              <a:rPr sz="1200" dirty="0"/>
              <a:t> </a:t>
            </a:r>
            <a:r>
              <a:rPr sz="1200" dirty="0" err="1"/>
              <a:t>나타났습니다</a:t>
            </a:r>
            <a:r>
              <a:rPr sz="1200" dirty="0"/>
              <a:t>. </a:t>
            </a:r>
            <a:r>
              <a:rPr sz="1200" dirty="0" err="1"/>
              <a:t>남성은</a:t>
            </a:r>
            <a:r>
              <a:rPr sz="1200" dirty="0"/>
              <a:t> </a:t>
            </a:r>
            <a:r>
              <a:rPr sz="1200" dirty="0" err="1"/>
              <a:t>전체에서는</a:t>
            </a:r>
            <a:r>
              <a:rPr sz="1200" dirty="0"/>
              <a:t> p&lt;0.05로 </a:t>
            </a:r>
            <a:r>
              <a:rPr sz="1200" dirty="0" err="1"/>
              <a:t>유의했지만</a:t>
            </a:r>
            <a:r>
              <a:rPr sz="1200" dirty="0"/>
              <a:t> </a:t>
            </a:r>
            <a:r>
              <a:rPr sz="1200" dirty="0" err="1"/>
              <a:t>성별×BMI로</a:t>
            </a:r>
            <a:r>
              <a:rPr sz="1200" dirty="0"/>
              <a:t> </a:t>
            </a:r>
            <a:r>
              <a:rPr sz="1200" dirty="0" err="1"/>
              <a:t>다시</a:t>
            </a:r>
            <a:r>
              <a:rPr sz="1200" dirty="0"/>
              <a:t> </a:t>
            </a:r>
            <a:r>
              <a:rPr sz="1200" dirty="0" err="1"/>
              <a:t>나누면</a:t>
            </a:r>
            <a:r>
              <a:rPr sz="1200" dirty="0"/>
              <a:t> </a:t>
            </a:r>
            <a:r>
              <a:rPr sz="1200" dirty="0" err="1"/>
              <a:t>유의성이</a:t>
            </a:r>
            <a:r>
              <a:rPr sz="1200" dirty="0"/>
              <a:t> </a:t>
            </a:r>
            <a:r>
              <a:rPr sz="1200" dirty="0" err="1"/>
              <a:t>사라졌고</a:t>
            </a:r>
            <a:r>
              <a:rPr sz="1200" dirty="0"/>
              <a:t>(p&gt;0.05), </a:t>
            </a:r>
            <a:r>
              <a:rPr sz="1200" dirty="0" err="1"/>
              <a:t>여성은</a:t>
            </a:r>
            <a:r>
              <a:rPr sz="1200" dirty="0"/>
              <a:t> </a:t>
            </a:r>
            <a:r>
              <a:rPr sz="1200" dirty="0" err="1"/>
              <a:t>전체에서는</a:t>
            </a:r>
            <a:r>
              <a:rPr sz="1200" dirty="0"/>
              <a:t> </a:t>
            </a:r>
            <a:r>
              <a:rPr sz="1200" dirty="0" err="1"/>
              <a:t>유의하지</a:t>
            </a:r>
            <a:r>
              <a:rPr sz="1200" dirty="0"/>
              <a:t> </a:t>
            </a:r>
            <a:r>
              <a:rPr sz="1200" dirty="0" err="1"/>
              <a:t>않았지만</a:t>
            </a:r>
            <a:r>
              <a:rPr sz="1200" dirty="0"/>
              <a:t> </a:t>
            </a:r>
            <a:r>
              <a:rPr sz="1200" dirty="0" err="1"/>
              <a:t>BMI가</a:t>
            </a:r>
            <a:r>
              <a:rPr sz="1200" dirty="0"/>
              <a:t> </a:t>
            </a:r>
            <a:r>
              <a:rPr sz="1200" dirty="0" err="1"/>
              <a:t>가장</a:t>
            </a:r>
            <a:r>
              <a:rPr sz="1200" dirty="0"/>
              <a:t> </a:t>
            </a:r>
            <a:r>
              <a:rPr sz="1200" dirty="0" err="1"/>
              <a:t>낮은</a:t>
            </a:r>
            <a:r>
              <a:rPr sz="1200" dirty="0"/>
              <a:t> Q1 </a:t>
            </a:r>
            <a:r>
              <a:rPr sz="1200" dirty="0" err="1"/>
              <a:t>구간에서만</a:t>
            </a:r>
            <a:r>
              <a:rPr sz="1200" dirty="0"/>
              <a:t> </a:t>
            </a:r>
            <a:r>
              <a:rPr sz="1200" dirty="0" err="1"/>
              <a:t>유의한</a:t>
            </a:r>
            <a:r>
              <a:rPr sz="1200" dirty="0"/>
              <a:t> </a:t>
            </a:r>
            <a:r>
              <a:rPr sz="1200" dirty="0" err="1"/>
              <a:t>차이</a:t>
            </a:r>
            <a:r>
              <a:rPr sz="1200" dirty="0"/>
              <a:t>(p&lt;0.05)가 </a:t>
            </a:r>
            <a:r>
              <a:rPr sz="1200" dirty="0" err="1"/>
              <a:t>나타났습니다</a:t>
            </a:r>
            <a:r>
              <a:rPr sz="1200" dirty="0"/>
              <a:t>. </a:t>
            </a:r>
            <a:r>
              <a:rPr sz="1200" dirty="0" err="1"/>
              <a:t>또한</a:t>
            </a:r>
            <a:r>
              <a:rPr sz="1200" dirty="0"/>
              <a:t> </a:t>
            </a:r>
            <a:r>
              <a:rPr sz="1200" dirty="0" err="1"/>
              <a:t>TotalSegmentator로</a:t>
            </a:r>
            <a:r>
              <a:rPr sz="1200" dirty="0"/>
              <a:t> </a:t>
            </a:r>
            <a:r>
              <a:rPr sz="1200" dirty="0" err="1"/>
              <a:t>crop한</a:t>
            </a:r>
            <a:r>
              <a:rPr sz="1200" dirty="0"/>
              <a:t> </a:t>
            </a:r>
            <a:r>
              <a:rPr sz="1200" dirty="0" err="1"/>
              <a:t>영역에서</a:t>
            </a:r>
            <a:r>
              <a:rPr sz="1200" dirty="0"/>
              <a:t> </a:t>
            </a:r>
            <a:r>
              <a:rPr sz="1200" dirty="0" err="1"/>
              <a:t>전체</a:t>
            </a:r>
            <a:r>
              <a:rPr sz="1200" dirty="0"/>
              <a:t> </a:t>
            </a:r>
            <a:r>
              <a:rPr sz="1200" dirty="0" err="1"/>
              <a:t>지방량·근육량을</a:t>
            </a:r>
            <a:r>
              <a:rPr sz="1200" dirty="0"/>
              <a:t> </a:t>
            </a:r>
            <a:r>
              <a:rPr lang="ko-KR" altLang="en-US" sz="1200" dirty="0"/>
              <a:t>추출하여 </a:t>
            </a:r>
            <a:r>
              <a:rPr sz="1200" dirty="0" err="1"/>
              <a:t>비교했는데</a:t>
            </a:r>
            <a:r>
              <a:rPr sz="1200" dirty="0"/>
              <a:t>, SAT(</a:t>
            </a:r>
            <a:r>
              <a:rPr sz="1200" dirty="0" err="1"/>
              <a:t>피하지방</a:t>
            </a:r>
            <a:r>
              <a:rPr sz="1200" dirty="0"/>
              <a:t>)만 raw </a:t>
            </a:r>
            <a:r>
              <a:rPr sz="1200" dirty="0" err="1"/>
              <a:t>수치에서</a:t>
            </a:r>
            <a:r>
              <a:rPr sz="1200" dirty="0"/>
              <a:t> </a:t>
            </a:r>
            <a:r>
              <a:rPr sz="1200" dirty="0" err="1"/>
              <a:t>유의</a:t>
            </a:r>
            <a:r>
              <a:rPr sz="1200" dirty="0"/>
              <a:t>(p=0.003)</a:t>
            </a:r>
            <a:r>
              <a:rPr sz="1200" dirty="0" err="1"/>
              <a:t>했고</a:t>
            </a:r>
            <a:r>
              <a:rPr sz="1200" dirty="0"/>
              <a:t> </a:t>
            </a:r>
            <a:r>
              <a:rPr sz="1200" dirty="0" err="1"/>
              <a:t>VAT와</a:t>
            </a:r>
            <a:r>
              <a:rPr sz="1200" dirty="0"/>
              <a:t> </a:t>
            </a:r>
            <a:r>
              <a:rPr sz="1200" dirty="0" err="1"/>
              <a:t>근육량은</a:t>
            </a:r>
            <a:r>
              <a:rPr sz="1200" dirty="0"/>
              <a:t> </a:t>
            </a:r>
            <a:r>
              <a:rPr sz="1200" dirty="0" err="1"/>
              <a:t>라벨인</a:t>
            </a:r>
            <a:r>
              <a:rPr sz="1200" dirty="0"/>
              <a:t> </a:t>
            </a:r>
            <a:r>
              <a:rPr lang="en-US" sz="1200" dirty="0"/>
              <a:t>L3</a:t>
            </a:r>
            <a:r>
              <a:rPr lang="ko-KR" altLang="en-US" sz="1200" dirty="0"/>
              <a:t>의 </a:t>
            </a:r>
            <a:r>
              <a:rPr lang="en-US" altLang="ko-KR" sz="1200" dirty="0" err="1"/>
              <a:t>TAMA</a:t>
            </a:r>
            <a:r>
              <a:rPr sz="1200" dirty="0" err="1"/>
              <a:t>와</a:t>
            </a:r>
            <a:r>
              <a:rPr sz="1200" dirty="0"/>
              <a:t> </a:t>
            </a:r>
            <a:r>
              <a:rPr sz="1200" dirty="0" err="1"/>
              <a:t>상관</a:t>
            </a:r>
            <a:r>
              <a:rPr lang="ko-KR" altLang="en-US" sz="1200" dirty="0"/>
              <a:t>계수가</a:t>
            </a:r>
            <a:r>
              <a:rPr sz="1200" dirty="0"/>
              <a:t> 높</a:t>
            </a:r>
            <a:r>
              <a:rPr lang="ko-KR" altLang="en-US" sz="1200" dirty="0"/>
              <a:t>게 나왔습니다</a:t>
            </a:r>
            <a:r>
              <a:rPr sz="1200" dirty="0"/>
              <a:t>.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487E7-3F2A-82D2-5633-17F3915E31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673602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127EA-DB53-0301-0ACD-39763E95F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3F611E-21FB-8AA8-ECB2-7F8B703049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5DE818-1386-6F94-27FF-C5AEAB6771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/>
              <a:t>세부 진행 내용입니다. Clinical 모델이 예측한 양성군에서 TP는 117건, FP는 447건으로 FP가 TP보다 약 3.8배 많습니다. 위양성 비중이 이렇게 크기 때문에 TP와 FP를 구분할 수 있는 AEC 분석이 반드시 필요합니다. (약 1분)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2AE8E6-DCA5-B91C-154B-33F9AEF139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993858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D5800-EA71-D145-0837-D3C41EAD9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132213-835B-7AF3-EE2B-5C889AF097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6F0901-2276-87F5-C980-93A999EA40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 dirty="0"/>
              <a:t>TP·FP 간 AEC </a:t>
            </a:r>
            <a:r>
              <a:rPr sz="1200" dirty="0" err="1"/>
              <a:t>곡선</a:t>
            </a:r>
            <a:r>
              <a:rPr sz="1200" dirty="0"/>
              <a:t> </a:t>
            </a:r>
            <a:r>
              <a:rPr sz="1200" dirty="0" err="1"/>
              <a:t>차이를</a:t>
            </a:r>
            <a:r>
              <a:rPr sz="1200" dirty="0"/>
              <a:t> </a:t>
            </a:r>
            <a:r>
              <a:rPr sz="1200" dirty="0" err="1"/>
              <a:t>검정하는</a:t>
            </a:r>
            <a:r>
              <a:rPr sz="1200" dirty="0"/>
              <a:t> </a:t>
            </a:r>
            <a:r>
              <a:rPr sz="1200" dirty="0" err="1"/>
              <a:t>방법입니다</a:t>
            </a:r>
            <a:r>
              <a:rPr sz="1200" dirty="0"/>
              <a:t>. 128개 </a:t>
            </a:r>
            <a:r>
              <a:rPr sz="1200" dirty="0" err="1"/>
              <a:t>슬라이스로</a:t>
            </a:r>
            <a:r>
              <a:rPr sz="1200" dirty="0"/>
              <a:t> </a:t>
            </a:r>
            <a:r>
              <a:rPr sz="1200" dirty="0" err="1"/>
              <a:t>구성된</a:t>
            </a:r>
            <a:r>
              <a:rPr sz="1200" dirty="0"/>
              <a:t> AEC </a:t>
            </a:r>
            <a:r>
              <a:rPr sz="1200" dirty="0" err="1"/>
              <a:t>곡선은</a:t>
            </a:r>
            <a:r>
              <a:rPr sz="1200" dirty="0"/>
              <a:t> </a:t>
            </a:r>
            <a:r>
              <a:rPr sz="1200" dirty="0" err="1"/>
              <a:t>포인트별이</a:t>
            </a:r>
            <a:r>
              <a:rPr sz="1200" dirty="0"/>
              <a:t> </a:t>
            </a:r>
            <a:r>
              <a:rPr sz="1200" dirty="0" err="1"/>
              <a:t>아니라</a:t>
            </a:r>
            <a:r>
              <a:rPr sz="1200" dirty="0"/>
              <a:t> </a:t>
            </a:r>
            <a:r>
              <a:rPr sz="1200" dirty="0" err="1"/>
              <a:t>곡선</a:t>
            </a:r>
            <a:r>
              <a:rPr sz="1200" dirty="0"/>
              <a:t> </a:t>
            </a:r>
            <a:r>
              <a:rPr sz="1200" dirty="0" err="1"/>
              <a:t>전체</a:t>
            </a:r>
            <a:r>
              <a:rPr sz="1200" dirty="0"/>
              <a:t> </a:t>
            </a:r>
            <a:r>
              <a:rPr sz="1200" dirty="0" err="1"/>
              <a:t>단위로</a:t>
            </a:r>
            <a:r>
              <a:rPr sz="1200" dirty="0"/>
              <a:t> </a:t>
            </a:r>
            <a:r>
              <a:rPr sz="1200" dirty="0" err="1"/>
              <a:t>비교해야</a:t>
            </a:r>
            <a:r>
              <a:rPr sz="1200" dirty="0"/>
              <a:t> </a:t>
            </a:r>
            <a:r>
              <a:rPr sz="1200" dirty="0" err="1"/>
              <a:t>하므로</a:t>
            </a:r>
            <a:r>
              <a:rPr sz="1200" dirty="0"/>
              <a:t>, 두 </a:t>
            </a:r>
            <a:r>
              <a:rPr sz="1200" dirty="0" err="1"/>
              <a:t>곡선</a:t>
            </a:r>
            <a:r>
              <a:rPr sz="1200" dirty="0"/>
              <a:t> 간 </a:t>
            </a:r>
            <a:r>
              <a:rPr sz="1200" dirty="0" err="1"/>
              <a:t>RMSD를</a:t>
            </a:r>
            <a:r>
              <a:rPr sz="1200" dirty="0"/>
              <a:t> </a:t>
            </a:r>
            <a:r>
              <a:rPr sz="1200" dirty="0" err="1"/>
              <a:t>계산하고</a:t>
            </a:r>
            <a:r>
              <a:rPr sz="1200" dirty="0"/>
              <a:t> </a:t>
            </a:r>
            <a:r>
              <a:rPr sz="1200" dirty="0" err="1"/>
              <a:t>이를</a:t>
            </a:r>
            <a:r>
              <a:rPr sz="1200" dirty="0"/>
              <a:t> 2,000회 permutation </a:t>
            </a:r>
            <a:r>
              <a:rPr sz="1200" dirty="0" err="1"/>
              <a:t>test로</a:t>
            </a:r>
            <a:r>
              <a:rPr sz="1200" dirty="0"/>
              <a:t> </a:t>
            </a:r>
            <a:r>
              <a:rPr sz="1200" dirty="0" err="1"/>
              <a:t>비모수</a:t>
            </a:r>
            <a:r>
              <a:rPr sz="1200" dirty="0"/>
              <a:t> </a:t>
            </a:r>
            <a:r>
              <a:rPr sz="1200" dirty="0" err="1"/>
              <a:t>검정했습니다</a:t>
            </a:r>
            <a:r>
              <a:rPr sz="1200" dirty="0"/>
              <a:t>.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1E999-85F0-DACB-4128-35DBB0B1E8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189210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AA0E8-C8E5-A56A-5B50-E586A486E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B1E4B0-B55B-906F-F550-ED2B841930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BA8961-F1E4-9382-2190-79BAE3DACA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 dirty="0" err="1"/>
              <a:t>먼저</a:t>
            </a:r>
            <a:r>
              <a:rPr sz="1200" dirty="0"/>
              <a:t> </a:t>
            </a:r>
            <a:r>
              <a:rPr sz="1200" dirty="0" err="1"/>
              <a:t>전체</a:t>
            </a:r>
            <a:r>
              <a:rPr sz="1200" dirty="0"/>
              <a:t>(pooled) </a:t>
            </a:r>
            <a:r>
              <a:rPr sz="1200" dirty="0" err="1"/>
              <a:t>데이터에서</a:t>
            </a:r>
            <a:r>
              <a:rPr sz="1200" dirty="0"/>
              <a:t> Raw, Patient-normalized, Global 세 </a:t>
            </a:r>
            <a:r>
              <a:rPr sz="1200" dirty="0" err="1"/>
              <a:t>가지</a:t>
            </a:r>
            <a:r>
              <a:rPr sz="1200" dirty="0"/>
              <a:t> </a:t>
            </a:r>
            <a:r>
              <a:rPr sz="1200" dirty="0" err="1"/>
              <a:t>전처리</a:t>
            </a:r>
            <a:r>
              <a:rPr sz="1200" dirty="0"/>
              <a:t> </a:t>
            </a:r>
            <a:r>
              <a:rPr sz="1200" dirty="0" err="1"/>
              <a:t>방식을</a:t>
            </a:r>
            <a:r>
              <a:rPr sz="1200" dirty="0"/>
              <a:t> </a:t>
            </a:r>
            <a:r>
              <a:rPr sz="1200" dirty="0" err="1"/>
              <a:t>모두</a:t>
            </a:r>
            <a:r>
              <a:rPr sz="1200" dirty="0"/>
              <a:t> </a:t>
            </a:r>
            <a:r>
              <a:rPr sz="1200" dirty="0" err="1"/>
              <a:t>비교했습니다</a:t>
            </a:r>
            <a:r>
              <a:rPr sz="1200" dirty="0"/>
              <a:t>. 세 </a:t>
            </a:r>
            <a:r>
              <a:rPr sz="1200" dirty="0" err="1"/>
              <a:t>방식</a:t>
            </a:r>
            <a:r>
              <a:rPr sz="1200" dirty="0"/>
              <a:t> </a:t>
            </a:r>
            <a:r>
              <a:rPr sz="1200" dirty="0" err="1"/>
              <a:t>모두에서</a:t>
            </a:r>
            <a:r>
              <a:rPr sz="1200" dirty="0"/>
              <a:t> </a:t>
            </a:r>
            <a:r>
              <a:rPr sz="1200" dirty="0" err="1"/>
              <a:t>TP와</a:t>
            </a:r>
            <a:r>
              <a:rPr sz="1200" dirty="0"/>
              <a:t> </a:t>
            </a:r>
            <a:r>
              <a:rPr sz="1200" dirty="0" err="1"/>
              <a:t>FP의</a:t>
            </a:r>
            <a:r>
              <a:rPr sz="1200" dirty="0"/>
              <a:t> AEC </a:t>
            </a:r>
            <a:r>
              <a:rPr sz="1200" dirty="0" err="1"/>
              <a:t>곡선은</a:t>
            </a:r>
            <a:r>
              <a:rPr sz="1200" dirty="0"/>
              <a:t> </a:t>
            </a:r>
            <a:r>
              <a:rPr sz="1200" dirty="0" err="1"/>
              <a:t>유의하게</a:t>
            </a:r>
            <a:r>
              <a:rPr sz="1200" dirty="0"/>
              <a:t> </a:t>
            </a:r>
            <a:r>
              <a:rPr sz="1200" dirty="0" err="1"/>
              <a:t>구분되지</a:t>
            </a:r>
            <a:r>
              <a:rPr sz="1200" dirty="0"/>
              <a:t> </a:t>
            </a:r>
            <a:r>
              <a:rPr sz="1200" dirty="0" err="1"/>
              <a:t>않았습니다</a:t>
            </a:r>
            <a:r>
              <a:rPr lang="en-US" sz="1200" dirty="0"/>
              <a:t>.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AA86E-34BE-4F90-50CB-6A33553977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939252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6CB6D-97C4-BD12-692A-8C7377658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EA0D5B-D24A-14DB-DFEF-16DA58E0E6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2F30BD-0EF9-84E0-5EC9-0657C1F558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 dirty="0" err="1"/>
              <a:t>같은</a:t>
            </a:r>
            <a:r>
              <a:rPr sz="1200" dirty="0"/>
              <a:t> </a:t>
            </a:r>
            <a:r>
              <a:rPr sz="1200" dirty="0" err="1"/>
              <a:t>비교를</a:t>
            </a:r>
            <a:r>
              <a:rPr sz="1200" dirty="0"/>
              <a:t> </a:t>
            </a:r>
            <a:r>
              <a:rPr sz="1200" dirty="0" err="1"/>
              <a:t>남성만</a:t>
            </a:r>
            <a:r>
              <a:rPr sz="1200" dirty="0"/>
              <a:t> </a:t>
            </a:r>
            <a:r>
              <a:rPr sz="1200" dirty="0" err="1"/>
              <a:t>따로</a:t>
            </a:r>
            <a:r>
              <a:rPr sz="1200" dirty="0"/>
              <a:t> </a:t>
            </a:r>
            <a:r>
              <a:rPr sz="1200" dirty="0" err="1"/>
              <a:t>보면</a:t>
            </a:r>
            <a:r>
              <a:rPr sz="1200" dirty="0"/>
              <a:t> </a:t>
            </a:r>
            <a:r>
              <a:rPr sz="1200" dirty="0" err="1"/>
              <a:t>결과가</a:t>
            </a:r>
            <a:r>
              <a:rPr sz="1200" dirty="0"/>
              <a:t> </a:t>
            </a:r>
            <a:r>
              <a:rPr sz="1200" dirty="0" err="1"/>
              <a:t>달라집니다</a:t>
            </a:r>
            <a:r>
              <a:rPr sz="1200" dirty="0"/>
              <a:t>. </a:t>
            </a:r>
            <a:r>
              <a:rPr sz="1200" dirty="0" err="1"/>
              <a:t>Raw와</a:t>
            </a:r>
            <a:r>
              <a:rPr sz="1200" dirty="0"/>
              <a:t> Global </a:t>
            </a:r>
            <a:r>
              <a:rPr sz="1200" dirty="0" err="1"/>
              <a:t>전처리에서는</a:t>
            </a:r>
            <a:r>
              <a:rPr sz="1200" dirty="0"/>
              <a:t> TP·FP </a:t>
            </a:r>
            <a:r>
              <a:rPr sz="1200" dirty="0" err="1"/>
              <a:t>곡선</a:t>
            </a:r>
            <a:r>
              <a:rPr sz="1200" dirty="0"/>
              <a:t> </a:t>
            </a:r>
            <a:r>
              <a:rPr sz="1200" dirty="0" err="1"/>
              <a:t>차이가</a:t>
            </a:r>
            <a:r>
              <a:rPr sz="1200" dirty="0"/>
              <a:t> p&lt;0.05로 </a:t>
            </a:r>
            <a:r>
              <a:rPr sz="1200" dirty="0" err="1"/>
              <a:t>유의하게</a:t>
            </a:r>
            <a:r>
              <a:rPr sz="1200" dirty="0"/>
              <a:t> </a:t>
            </a:r>
            <a:r>
              <a:rPr sz="1200" dirty="0" err="1"/>
              <a:t>나타났습니다</a:t>
            </a:r>
            <a:r>
              <a:rPr sz="1200" dirty="0"/>
              <a:t>.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E3598-8B95-6FBB-D2F7-F9B1A3EF8E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4922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B2EA2-F7A6-2D2C-DBBD-4B80647CD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E0F665-A6AA-BFC5-93BE-26E151C301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1A4397-1256-5B95-DC2E-91523D5BBB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 dirty="0" err="1"/>
              <a:t>반대로</a:t>
            </a:r>
            <a:r>
              <a:rPr sz="1200" dirty="0"/>
              <a:t> </a:t>
            </a:r>
            <a:r>
              <a:rPr sz="1200" dirty="0" err="1"/>
              <a:t>여성만</a:t>
            </a:r>
            <a:r>
              <a:rPr sz="1200" dirty="0"/>
              <a:t> </a:t>
            </a:r>
            <a:r>
              <a:rPr sz="1200" dirty="0" err="1"/>
              <a:t>보면</a:t>
            </a:r>
            <a:r>
              <a:rPr sz="1200" dirty="0"/>
              <a:t> </a:t>
            </a:r>
            <a:r>
              <a:rPr sz="1200" dirty="0" err="1"/>
              <a:t>Raw·Patient·Global</a:t>
            </a:r>
            <a:r>
              <a:rPr sz="1200" dirty="0"/>
              <a:t> 세 </a:t>
            </a:r>
            <a:r>
              <a:rPr sz="1200" dirty="0" err="1"/>
              <a:t>전처리</a:t>
            </a:r>
            <a:r>
              <a:rPr sz="1200" dirty="0"/>
              <a:t> </a:t>
            </a:r>
            <a:r>
              <a:rPr sz="1200" dirty="0" err="1"/>
              <a:t>모두에서</a:t>
            </a:r>
            <a:r>
              <a:rPr sz="1200" dirty="0"/>
              <a:t> </a:t>
            </a:r>
            <a:r>
              <a:rPr sz="1200" dirty="0" err="1"/>
              <a:t>유의한</a:t>
            </a:r>
            <a:r>
              <a:rPr sz="1200" dirty="0"/>
              <a:t> </a:t>
            </a:r>
            <a:r>
              <a:rPr sz="1200" dirty="0" err="1"/>
              <a:t>차이가</a:t>
            </a:r>
            <a:r>
              <a:rPr sz="1200" dirty="0"/>
              <a:t> </a:t>
            </a:r>
            <a:r>
              <a:rPr sz="1200" dirty="0" err="1"/>
              <a:t>없었습니다</a:t>
            </a:r>
            <a:r>
              <a:rPr sz="1200" dirty="0"/>
              <a:t>(p&gt;0.05).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EEB58-9124-B18F-D672-1F91A9D7DB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265954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3012A-5E5A-01DC-F15C-D5A0420B8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549088-ADBA-2A64-E371-965B638FA9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F33B1D-8285-3E96-52B2-9172B797F3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 dirty="0" err="1"/>
              <a:t>성별과</a:t>
            </a:r>
            <a:r>
              <a:rPr sz="1200" dirty="0"/>
              <a:t> </a:t>
            </a:r>
            <a:r>
              <a:rPr sz="1200" dirty="0" err="1"/>
              <a:t>BMI를</a:t>
            </a:r>
            <a:r>
              <a:rPr sz="1200" dirty="0"/>
              <a:t> </a:t>
            </a:r>
            <a:r>
              <a:rPr sz="1200" dirty="0" err="1"/>
              <a:t>함께</a:t>
            </a:r>
            <a:r>
              <a:rPr sz="1200" dirty="0"/>
              <a:t> </a:t>
            </a:r>
            <a:r>
              <a:rPr sz="1200" dirty="0" err="1"/>
              <a:t>층화해서</a:t>
            </a:r>
            <a:r>
              <a:rPr sz="1200" dirty="0"/>
              <a:t> 8개 </a:t>
            </a:r>
            <a:r>
              <a:rPr sz="1200" dirty="0" err="1"/>
              <a:t>구간으로</a:t>
            </a:r>
            <a:r>
              <a:rPr sz="1200" dirty="0"/>
              <a:t> </a:t>
            </a:r>
            <a:r>
              <a:rPr sz="1200" dirty="0" err="1"/>
              <a:t>나눠</a:t>
            </a:r>
            <a:r>
              <a:rPr sz="1200" dirty="0"/>
              <a:t> </a:t>
            </a:r>
            <a:r>
              <a:rPr sz="1200" dirty="0" err="1"/>
              <a:t>봤습니다</a:t>
            </a:r>
            <a:r>
              <a:rPr sz="1200" dirty="0"/>
              <a:t>. 8개 </a:t>
            </a:r>
            <a:r>
              <a:rPr sz="1200" dirty="0" err="1"/>
              <a:t>구간</a:t>
            </a:r>
            <a:r>
              <a:rPr sz="1200" dirty="0"/>
              <a:t> 중 </a:t>
            </a:r>
            <a:r>
              <a:rPr sz="1200" dirty="0" err="1"/>
              <a:t>여성의</a:t>
            </a:r>
            <a:r>
              <a:rPr sz="1200" dirty="0"/>
              <a:t> BMI </a:t>
            </a:r>
            <a:r>
              <a:rPr sz="1200" dirty="0" err="1"/>
              <a:t>최저</a:t>
            </a:r>
            <a:r>
              <a:rPr sz="1200" dirty="0"/>
              <a:t> </a:t>
            </a:r>
            <a:r>
              <a:rPr sz="1200" dirty="0" err="1"/>
              <a:t>구간</a:t>
            </a:r>
            <a:r>
              <a:rPr sz="1200" dirty="0"/>
              <a:t>(Q1)</a:t>
            </a:r>
            <a:r>
              <a:rPr sz="1200" dirty="0" err="1"/>
              <a:t>에서만</a:t>
            </a:r>
            <a:r>
              <a:rPr sz="1200" dirty="0"/>
              <a:t> TP·FP AEC </a:t>
            </a:r>
            <a:r>
              <a:rPr sz="1200" dirty="0" err="1"/>
              <a:t>곡선이</a:t>
            </a:r>
            <a:r>
              <a:rPr sz="1200" dirty="0"/>
              <a:t> </a:t>
            </a:r>
            <a:r>
              <a:rPr sz="1200" dirty="0" err="1"/>
              <a:t>유의하게</a:t>
            </a:r>
            <a:r>
              <a:rPr sz="1200" dirty="0"/>
              <a:t> </a:t>
            </a:r>
            <a:r>
              <a:rPr sz="1200" dirty="0" err="1"/>
              <a:t>달랐습니다</a:t>
            </a:r>
            <a:r>
              <a:rPr sz="1200" dirty="0"/>
              <a:t>(p=0.031). </a:t>
            </a:r>
            <a:r>
              <a:rPr sz="1200" dirty="0" err="1"/>
              <a:t>참고로</a:t>
            </a:r>
            <a:r>
              <a:rPr sz="1200" dirty="0"/>
              <a:t> WHO </a:t>
            </a:r>
            <a:r>
              <a:rPr sz="1200" dirty="0" err="1"/>
              <a:t>절대</a:t>
            </a:r>
            <a:r>
              <a:rPr sz="1200" dirty="0"/>
              <a:t> </a:t>
            </a:r>
            <a:r>
              <a:rPr sz="1200" dirty="0" err="1"/>
              <a:t>아시아</a:t>
            </a:r>
            <a:r>
              <a:rPr sz="1200" dirty="0"/>
              <a:t> BMI </a:t>
            </a:r>
            <a:r>
              <a:rPr sz="1200" dirty="0" err="1"/>
              <a:t>컷오프</a:t>
            </a:r>
            <a:r>
              <a:rPr sz="1200" dirty="0"/>
              <a:t>(&lt;18.5 / 18.5~23 / 23~25 / ≥25)를 </a:t>
            </a:r>
            <a:r>
              <a:rPr sz="1200" dirty="0" err="1"/>
              <a:t>그대로</a:t>
            </a:r>
            <a:r>
              <a:rPr sz="1200" dirty="0"/>
              <a:t> </a:t>
            </a:r>
            <a:r>
              <a:rPr sz="1200" dirty="0" err="1"/>
              <a:t>적용하면</a:t>
            </a:r>
            <a:r>
              <a:rPr sz="1200" dirty="0"/>
              <a:t> </a:t>
            </a:r>
            <a:r>
              <a:rPr sz="1200" dirty="0" err="1"/>
              <a:t>여성</a:t>
            </a:r>
            <a:r>
              <a:rPr sz="1200" dirty="0"/>
              <a:t> </a:t>
            </a:r>
            <a:r>
              <a:rPr sz="1200" dirty="0" err="1"/>
              <a:t>상위</a:t>
            </a:r>
            <a:r>
              <a:rPr sz="1200" dirty="0"/>
              <a:t> </a:t>
            </a:r>
            <a:r>
              <a:rPr sz="1200" dirty="0" err="1"/>
              <a:t>구간에서</a:t>
            </a:r>
            <a:r>
              <a:rPr sz="1200" dirty="0"/>
              <a:t> TP·FP </a:t>
            </a:r>
            <a:r>
              <a:rPr sz="1200" dirty="0" err="1"/>
              <a:t>표본이</a:t>
            </a:r>
            <a:r>
              <a:rPr sz="1200" dirty="0"/>
              <a:t> </a:t>
            </a:r>
            <a:r>
              <a:rPr sz="1200" dirty="0" err="1"/>
              <a:t>모두</a:t>
            </a:r>
            <a:r>
              <a:rPr sz="1200" dirty="0"/>
              <a:t> 0이 </a:t>
            </a:r>
            <a:r>
              <a:rPr sz="1200" dirty="0" err="1"/>
              <a:t>되어</a:t>
            </a:r>
            <a:r>
              <a:rPr sz="1200" dirty="0"/>
              <a:t> </a:t>
            </a:r>
            <a:r>
              <a:rPr sz="1200" dirty="0" err="1"/>
              <a:t>검정</a:t>
            </a:r>
            <a:r>
              <a:rPr sz="1200" dirty="0"/>
              <a:t> </a:t>
            </a:r>
            <a:r>
              <a:rPr sz="1200" dirty="0" err="1"/>
              <a:t>자체가</a:t>
            </a:r>
            <a:r>
              <a:rPr sz="1200" dirty="0"/>
              <a:t> </a:t>
            </a:r>
            <a:r>
              <a:rPr sz="1200" dirty="0" err="1"/>
              <a:t>불가능해지므로</a:t>
            </a:r>
            <a:r>
              <a:rPr sz="1200" dirty="0"/>
              <a:t>, </a:t>
            </a:r>
            <a:r>
              <a:rPr sz="1200" dirty="0" err="1"/>
              <a:t>성별</a:t>
            </a:r>
            <a:r>
              <a:rPr sz="1200" dirty="0"/>
              <a:t> </a:t>
            </a:r>
            <a:r>
              <a:rPr sz="1200" dirty="0" err="1"/>
              <a:t>내에서</a:t>
            </a:r>
            <a:r>
              <a:rPr sz="1200" dirty="0"/>
              <a:t> </a:t>
            </a:r>
            <a:r>
              <a:rPr sz="1200" dirty="0" err="1"/>
              <a:t>상대적인</a:t>
            </a:r>
            <a:r>
              <a:rPr sz="1200" dirty="0"/>
              <a:t> </a:t>
            </a:r>
            <a:r>
              <a:rPr sz="1200" dirty="0" err="1"/>
              <a:t>사분위로</a:t>
            </a:r>
            <a:r>
              <a:rPr sz="1200" dirty="0"/>
              <a:t> </a:t>
            </a:r>
            <a:r>
              <a:rPr sz="1200" dirty="0" err="1"/>
              <a:t>균등</a:t>
            </a:r>
            <a:r>
              <a:rPr sz="1200" dirty="0"/>
              <a:t> </a:t>
            </a:r>
            <a:r>
              <a:rPr sz="1200" dirty="0" err="1"/>
              <a:t>분할해</a:t>
            </a:r>
            <a:r>
              <a:rPr sz="1200" dirty="0"/>
              <a:t> 8개 칸 </a:t>
            </a:r>
            <a:r>
              <a:rPr sz="1200" dirty="0" err="1"/>
              <a:t>모두</a:t>
            </a:r>
            <a:r>
              <a:rPr sz="1200" dirty="0"/>
              <a:t> </a:t>
            </a:r>
            <a:r>
              <a:rPr sz="1200" dirty="0" err="1"/>
              <a:t>검정</a:t>
            </a:r>
            <a:r>
              <a:rPr sz="1200" dirty="0"/>
              <a:t> </a:t>
            </a:r>
            <a:r>
              <a:rPr sz="1200" dirty="0" err="1"/>
              <a:t>가능하도록</a:t>
            </a:r>
            <a:r>
              <a:rPr sz="1200" dirty="0"/>
              <a:t> </a:t>
            </a:r>
            <a:r>
              <a:rPr sz="1200" dirty="0" err="1"/>
              <a:t>했습니다</a:t>
            </a:r>
            <a:r>
              <a:rPr sz="1200" dirty="0"/>
              <a:t>.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4323B-11DC-355A-45E6-6EF1BC38D8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853312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D5252-0237-FC48-548D-F4A675C51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CD281B-7F36-5586-B229-0E2F0E095F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F76168-A9BD-716F-9BBD-D05896290B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 dirty="0"/>
              <a:t>이 새 </a:t>
            </a:r>
            <a:r>
              <a:rPr sz="1200" dirty="0" err="1"/>
              <a:t>지표로</a:t>
            </a:r>
            <a:r>
              <a:rPr sz="1200" dirty="0"/>
              <a:t> </a:t>
            </a:r>
            <a:r>
              <a:rPr sz="1200" dirty="0" err="1"/>
              <a:t>강남</a:t>
            </a:r>
            <a:r>
              <a:rPr sz="1200" dirty="0"/>
              <a:t> </a:t>
            </a:r>
            <a:r>
              <a:rPr sz="1200" dirty="0" err="1"/>
              <a:t>데이터에서</a:t>
            </a:r>
            <a:r>
              <a:rPr sz="1200" dirty="0"/>
              <a:t> baseline </a:t>
            </a:r>
            <a:r>
              <a:rPr sz="1200" dirty="0" err="1"/>
              <a:t>내부</a:t>
            </a:r>
            <a:r>
              <a:rPr sz="1200" dirty="0"/>
              <a:t> OOF </a:t>
            </a:r>
            <a:r>
              <a:rPr sz="1200" dirty="0" err="1"/>
              <a:t>기준</a:t>
            </a:r>
            <a:r>
              <a:rPr sz="1200" dirty="0"/>
              <a:t> TP·FP </a:t>
            </a:r>
            <a:r>
              <a:rPr sz="1200" dirty="0" err="1"/>
              <a:t>비교를</a:t>
            </a:r>
            <a:r>
              <a:rPr sz="1200" dirty="0"/>
              <a:t> </a:t>
            </a:r>
            <a:r>
              <a:rPr sz="1200" dirty="0" err="1"/>
              <a:t>완료했습니다</a:t>
            </a:r>
            <a:r>
              <a:rPr sz="1200" dirty="0"/>
              <a:t>. NAMA, SAT, </a:t>
            </a:r>
            <a:r>
              <a:rPr sz="1200" dirty="0" err="1"/>
              <a:t>근육량</a:t>
            </a:r>
            <a:r>
              <a:rPr sz="1200" dirty="0"/>
              <a:t>, </a:t>
            </a:r>
            <a:r>
              <a:rPr sz="1200" dirty="0" err="1"/>
              <a:t>지방량</a:t>
            </a:r>
            <a:r>
              <a:rPr sz="1200" dirty="0"/>
              <a:t> 4개 </a:t>
            </a:r>
            <a:r>
              <a:rPr sz="1200" dirty="0" err="1"/>
              <a:t>지표</a:t>
            </a:r>
            <a:r>
              <a:rPr sz="1200" dirty="0"/>
              <a:t> </a:t>
            </a:r>
            <a:r>
              <a:rPr sz="1200" dirty="0" err="1"/>
              <a:t>모두에서</a:t>
            </a:r>
            <a:r>
              <a:rPr sz="1200" dirty="0"/>
              <a:t> </a:t>
            </a:r>
            <a:r>
              <a:rPr sz="1200" dirty="0" err="1"/>
              <a:t>TP가</a:t>
            </a:r>
            <a:r>
              <a:rPr sz="1200" dirty="0"/>
              <a:t> FP보다 </a:t>
            </a:r>
            <a:r>
              <a:rPr sz="1200" dirty="0" err="1"/>
              <a:t>낮고</a:t>
            </a:r>
            <a:r>
              <a:rPr sz="1200" dirty="0"/>
              <a:t> </a:t>
            </a:r>
            <a:r>
              <a:rPr sz="1200" dirty="0" err="1"/>
              <a:t>차이가</a:t>
            </a:r>
            <a:r>
              <a:rPr sz="1200" dirty="0"/>
              <a:t> </a:t>
            </a:r>
            <a:r>
              <a:rPr sz="1200" dirty="0" err="1"/>
              <a:t>뚜렷했습니다</a:t>
            </a:r>
            <a:r>
              <a:rPr sz="1200" dirty="0"/>
              <a:t>(p&lt;0.05). </a:t>
            </a:r>
            <a:r>
              <a:rPr sz="1200" dirty="0" err="1"/>
              <a:t>그중</a:t>
            </a:r>
            <a:r>
              <a:rPr sz="1200" dirty="0"/>
              <a:t> </a:t>
            </a:r>
            <a:r>
              <a:rPr sz="1200" dirty="0" err="1"/>
              <a:t>SAT는</a:t>
            </a:r>
            <a:r>
              <a:rPr sz="1200" dirty="0"/>
              <a:t> </a:t>
            </a:r>
            <a:r>
              <a:rPr sz="1200" dirty="0" err="1"/>
              <a:t>라벨</a:t>
            </a:r>
            <a:r>
              <a:rPr sz="1200" dirty="0"/>
              <a:t>(TAMA)과 </a:t>
            </a:r>
            <a:r>
              <a:rPr sz="1200" dirty="0" err="1"/>
              <a:t>상관이</a:t>
            </a:r>
            <a:r>
              <a:rPr sz="1200" dirty="0"/>
              <a:t> </a:t>
            </a:r>
            <a:r>
              <a:rPr sz="1200" dirty="0" err="1"/>
              <a:t>낮은데도</a:t>
            </a:r>
            <a:r>
              <a:rPr sz="1200" dirty="0"/>
              <a:t> </a:t>
            </a:r>
            <a:r>
              <a:rPr sz="1200" dirty="0" err="1"/>
              <a:t>차이가</a:t>
            </a:r>
            <a:r>
              <a:rPr sz="1200" dirty="0"/>
              <a:t> </a:t>
            </a:r>
            <a:r>
              <a:rPr sz="1200" dirty="0" err="1"/>
              <a:t>뚜렷해</a:t>
            </a:r>
            <a:r>
              <a:rPr sz="1200" dirty="0"/>
              <a:t> </a:t>
            </a:r>
            <a:r>
              <a:rPr sz="1200" dirty="0" err="1"/>
              <a:t>가장</a:t>
            </a:r>
            <a:r>
              <a:rPr sz="1200" dirty="0"/>
              <a:t> </a:t>
            </a:r>
            <a:r>
              <a:rPr sz="1200" dirty="0" err="1"/>
              <a:t>신뢰할</a:t>
            </a:r>
            <a:r>
              <a:rPr sz="1200" dirty="0"/>
              <a:t> 수 </a:t>
            </a:r>
            <a:r>
              <a:rPr sz="1200" dirty="0" err="1"/>
              <a:t>있는</a:t>
            </a:r>
            <a:r>
              <a:rPr sz="1200" dirty="0"/>
              <a:t> </a:t>
            </a:r>
            <a:r>
              <a:rPr sz="1200" dirty="0" err="1"/>
              <a:t>신호로</a:t>
            </a:r>
            <a:r>
              <a:rPr sz="1200" dirty="0"/>
              <a:t> </a:t>
            </a:r>
            <a:r>
              <a:rPr sz="1200" dirty="0" err="1"/>
              <a:t>판단했습니다</a:t>
            </a:r>
            <a:r>
              <a:rPr sz="1200" dirty="0"/>
              <a:t>. </a:t>
            </a:r>
            <a:r>
              <a:rPr sz="1200" dirty="0" err="1"/>
              <a:t>반면</a:t>
            </a:r>
            <a:r>
              <a:rPr sz="1200" dirty="0"/>
              <a:t> </a:t>
            </a:r>
            <a:r>
              <a:rPr sz="1200" dirty="0" err="1"/>
              <a:t>NAMA와</a:t>
            </a:r>
            <a:r>
              <a:rPr sz="1200" dirty="0"/>
              <a:t> </a:t>
            </a:r>
            <a:r>
              <a:rPr sz="1200" dirty="0" err="1"/>
              <a:t>근육량은</a:t>
            </a:r>
            <a:r>
              <a:rPr sz="1200" dirty="0"/>
              <a:t> </a:t>
            </a:r>
            <a:r>
              <a:rPr sz="1200" dirty="0" err="1"/>
              <a:t>기존</a:t>
            </a:r>
            <a:r>
              <a:rPr sz="1200" dirty="0"/>
              <a:t> TAMA </a:t>
            </a:r>
            <a:r>
              <a:rPr sz="1200" dirty="0" err="1"/>
              <a:t>라벨과</a:t>
            </a:r>
            <a:r>
              <a:rPr sz="1200" dirty="0"/>
              <a:t> </a:t>
            </a:r>
            <a:r>
              <a:rPr sz="1200" dirty="0" err="1"/>
              <a:t>상관계수가</a:t>
            </a:r>
            <a:r>
              <a:rPr sz="1200" dirty="0"/>
              <a:t> </a:t>
            </a:r>
            <a:r>
              <a:rPr sz="1200" dirty="0" err="1"/>
              <a:t>각각</a:t>
            </a:r>
            <a:r>
              <a:rPr sz="1200" dirty="0"/>
              <a:t> 0.80, 0.84로 </a:t>
            </a:r>
            <a:r>
              <a:rPr sz="1200" dirty="0" err="1"/>
              <a:t>높아</a:t>
            </a:r>
            <a:r>
              <a:rPr sz="1200" dirty="0"/>
              <a:t> </a:t>
            </a:r>
            <a:r>
              <a:rPr sz="1200" dirty="0" err="1"/>
              <a:t>순환논리</a:t>
            </a:r>
            <a:r>
              <a:rPr sz="1200" dirty="0"/>
              <a:t> </a:t>
            </a:r>
            <a:r>
              <a:rPr sz="1200" dirty="0" err="1"/>
              <a:t>우려가</a:t>
            </a:r>
            <a:r>
              <a:rPr sz="1200" dirty="0"/>
              <a:t> </a:t>
            </a:r>
            <a:r>
              <a:rPr sz="1200" dirty="0" err="1"/>
              <a:t>있어</a:t>
            </a:r>
            <a:r>
              <a:rPr sz="1200" dirty="0"/>
              <a:t> </a:t>
            </a:r>
            <a:r>
              <a:rPr sz="1200" dirty="0" err="1"/>
              <a:t>해석을</a:t>
            </a:r>
            <a:r>
              <a:rPr sz="1200" dirty="0"/>
              <a:t> </a:t>
            </a:r>
            <a:r>
              <a:rPr sz="1200" dirty="0" err="1"/>
              <a:t>보류했습니다</a:t>
            </a:r>
            <a:r>
              <a:rPr sz="1200" dirty="0"/>
              <a:t>.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15346-ECC1-1FFD-70FA-9BCC13F00E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026443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 dirty="0" err="1"/>
              <a:t>결론입니다</a:t>
            </a:r>
            <a:r>
              <a:rPr sz="1200" dirty="0"/>
              <a:t>. </a:t>
            </a:r>
            <a:r>
              <a:rPr sz="1200" dirty="0" err="1"/>
              <a:t>통합</a:t>
            </a:r>
            <a:r>
              <a:rPr sz="1200" dirty="0"/>
              <a:t> </a:t>
            </a:r>
            <a:r>
              <a:rPr sz="1200" dirty="0" err="1"/>
              <a:t>분석은</a:t>
            </a:r>
            <a:r>
              <a:rPr sz="1200" dirty="0"/>
              <a:t> </a:t>
            </a:r>
            <a:r>
              <a:rPr sz="1200" dirty="0" err="1"/>
              <a:t>세부</a:t>
            </a:r>
            <a:r>
              <a:rPr sz="1200" dirty="0"/>
              <a:t> </a:t>
            </a:r>
            <a:r>
              <a:rPr sz="1200" dirty="0" err="1"/>
              <a:t>그룹의</a:t>
            </a:r>
            <a:r>
              <a:rPr sz="1200" dirty="0"/>
              <a:t> </a:t>
            </a:r>
            <a:r>
              <a:rPr sz="1200" dirty="0" err="1"/>
              <a:t>효과를</a:t>
            </a:r>
            <a:r>
              <a:rPr sz="1200" dirty="0"/>
              <a:t> </a:t>
            </a:r>
            <a:r>
              <a:rPr sz="1200" dirty="0" err="1"/>
              <a:t>가릴</a:t>
            </a:r>
            <a:r>
              <a:rPr sz="1200" dirty="0"/>
              <a:t> 수 </a:t>
            </a:r>
            <a:r>
              <a:rPr sz="1200" dirty="0" err="1"/>
              <a:t>있어</a:t>
            </a:r>
            <a:r>
              <a:rPr sz="1200" dirty="0"/>
              <a:t> </a:t>
            </a:r>
            <a:r>
              <a:rPr sz="1200" dirty="0" err="1"/>
              <a:t>성별·BMI</a:t>
            </a:r>
            <a:r>
              <a:rPr sz="1200" dirty="0"/>
              <a:t> </a:t>
            </a:r>
            <a:r>
              <a:rPr sz="1200" dirty="0" err="1"/>
              <a:t>계층을</a:t>
            </a:r>
            <a:r>
              <a:rPr sz="1200" dirty="0"/>
              <a:t> </a:t>
            </a:r>
            <a:r>
              <a:rPr sz="1200" dirty="0" err="1"/>
              <a:t>반영한</a:t>
            </a:r>
            <a:r>
              <a:rPr sz="1200" dirty="0"/>
              <a:t> </a:t>
            </a:r>
            <a:r>
              <a:rPr sz="1200" dirty="0" err="1"/>
              <a:t>평가가</a:t>
            </a:r>
            <a:r>
              <a:rPr sz="1200" dirty="0"/>
              <a:t> </a:t>
            </a:r>
            <a:r>
              <a:rPr sz="1200" dirty="0" err="1"/>
              <a:t>필요합니다</a:t>
            </a:r>
            <a:r>
              <a:rPr sz="1200" dirty="0"/>
              <a:t>. </a:t>
            </a:r>
            <a:r>
              <a:rPr sz="1200" dirty="0" err="1"/>
              <a:t>전체</a:t>
            </a:r>
            <a:r>
              <a:rPr sz="1200" dirty="0"/>
              <a:t>(pooled) </a:t>
            </a:r>
            <a:r>
              <a:rPr sz="1200" dirty="0" err="1"/>
              <a:t>분석에서는</a:t>
            </a:r>
            <a:r>
              <a:rPr sz="1200" dirty="0"/>
              <a:t> TP·FP 간 AEC </a:t>
            </a:r>
            <a:r>
              <a:rPr sz="1200" dirty="0" err="1"/>
              <a:t>차이가</a:t>
            </a:r>
            <a:r>
              <a:rPr sz="1200" dirty="0"/>
              <a:t> </a:t>
            </a:r>
            <a:r>
              <a:rPr sz="1200" dirty="0" err="1"/>
              <a:t>유의하지</a:t>
            </a:r>
            <a:r>
              <a:rPr sz="1200" dirty="0"/>
              <a:t> </a:t>
            </a:r>
            <a:r>
              <a:rPr sz="1200" dirty="0" err="1"/>
              <a:t>않았지만</a:t>
            </a:r>
            <a:r>
              <a:rPr sz="1200" dirty="0"/>
              <a:t>, </a:t>
            </a:r>
            <a:r>
              <a:rPr sz="1200" dirty="0" err="1"/>
              <a:t>성별·BMI로</a:t>
            </a:r>
            <a:r>
              <a:rPr sz="1200" dirty="0"/>
              <a:t> </a:t>
            </a:r>
            <a:r>
              <a:rPr sz="1200" dirty="0" err="1"/>
              <a:t>층화하면</a:t>
            </a:r>
            <a:r>
              <a:rPr sz="1200" dirty="0"/>
              <a:t> </a:t>
            </a:r>
            <a:r>
              <a:rPr sz="1200" dirty="0" err="1"/>
              <a:t>특정</a:t>
            </a:r>
            <a:r>
              <a:rPr sz="1200" dirty="0"/>
              <a:t> </a:t>
            </a:r>
            <a:r>
              <a:rPr sz="1200" dirty="0" err="1"/>
              <a:t>그룹에서만</a:t>
            </a:r>
            <a:r>
              <a:rPr sz="1200" dirty="0"/>
              <a:t> </a:t>
            </a:r>
            <a:r>
              <a:rPr sz="1200" dirty="0" err="1"/>
              <a:t>유의한</a:t>
            </a:r>
            <a:r>
              <a:rPr sz="1200" dirty="0"/>
              <a:t> </a:t>
            </a:r>
            <a:r>
              <a:rPr sz="1200" dirty="0" err="1"/>
              <a:t>차이가</a:t>
            </a:r>
            <a:r>
              <a:rPr sz="1200" dirty="0"/>
              <a:t> </a:t>
            </a:r>
            <a:r>
              <a:rPr sz="1200" dirty="0" err="1"/>
              <a:t>나타났습니다</a:t>
            </a:r>
            <a:r>
              <a:rPr sz="1200" dirty="0"/>
              <a:t>. </a:t>
            </a:r>
            <a:r>
              <a:rPr sz="1200" dirty="0" err="1"/>
              <a:t>다음</a:t>
            </a:r>
            <a:r>
              <a:rPr sz="1200" dirty="0"/>
              <a:t> </a:t>
            </a:r>
            <a:r>
              <a:rPr sz="1200" dirty="0" err="1"/>
              <a:t>단계로는</a:t>
            </a:r>
            <a:r>
              <a:rPr sz="1200" dirty="0"/>
              <a:t> </a:t>
            </a:r>
            <a:r>
              <a:rPr sz="1200" dirty="0" err="1"/>
              <a:t>새로운</a:t>
            </a:r>
            <a:r>
              <a:rPr sz="1200" dirty="0"/>
              <a:t> </a:t>
            </a:r>
            <a:r>
              <a:rPr sz="1200" dirty="0" err="1"/>
              <a:t>데이터인</a:t>
            </a:r>
            <a:r>
              <a:rPr sz="1200" dirty="0"/>
              <a:t> </a:t>
            </a:r>
            <a:r>
              <a:rPr sz="1200" dirty="0" err="1"/>
              <a:t>SAT를</a:t>
            </a:r>
            <a:r>
              <a:rPr sz="1200" dirty="0"/>
              <a:t> </a:t>
            </a:r>
            <a:r>
              <a:rPr sz="1200" dirty="0" err="1"/>
              <a:t>활용하는</a:t>
            </a:r>
            <a:r>
              <a:rPr sz="1200" dirty="0"/>
              <a:t> </a:t>
            </a:r>
            <a:r>
              <a:rPr sz="1200" dirty="0" err="1"/>
              <a:t>방안을</a:t>
            </a:r>
            <a:r>
              <a:rPr sz="1200" dirty="0"/>
              <a:t> </a:t>
            </a:r>
            <a:r>
              <a:rPr sz="1200" dirty="0" err="1"/>
              <a:t>모색할</a:t>
            </a:r>
            <a:r>
              <a:rPr sz="1200" dirty="0"/>
              <a:t> </a:t>
            </a:r>
            <a:r>
              <a:rPr sz="1200" dirty="0" err="1"/>
              <a:t>계획입니다</a:t>
            </a:r>
            <a:r>
              <a:rPr sz="1200" dirty="0"/>
              <a:t>. </a:t>
            </a:r>
            <a:r>
              <a:rPr sz="1200" dirty="0" err="1"/>
              <a:t>TotalSegmentator</a:t>
            </a:r>
            <a:r>
              <a:rPr sz="1200" dirty="0"/>
              <a:t> </a:t>
            </a:r>
            <a:r>
              <a:rPr sz="1200" dirty="0" err="1"/>
              <a:t>기반</a:t>
            </a:r>
            <a:r>
              <a:rPr sz="1200" dirty="0"/>
              <a:t> </a:t>
            </a:r>
            <a:r>
              <a:rPr sz="1200" dirty="0" err="1"/>
              <a:t>지방량·근육량</a:t>
            </a:r>
            <a:r>
              <a:rPr sz="1200" dirty="0"/>
              <a:t> </a:t>
            </a:r>
            <a:r>
              <a:rPr sz="1200" dirty="0" err="1"/>
              <a:t>비교에서</a:t>
            </a:r>
            <a:r>
              <a:rPr sz="1200" dirty="0"/>
              <a:t> </a:t>
            </a:r>
            <a:r>
              <a:rPr sz="1200" dirty="0" err="1"/>
              <a:t>SAT만</a:t>
            </a:r>
            <a:r>
              <a:rPr sz="1200" dirty="0"/>
              <a:t> raw </a:t>
            </a:r>
            <a:r>
              <a:rPr sz="1200" dirty="0" err="1"/>
              <a:t>수치로</a:t>
            </a:r>
            <a:r>
              <a:rPr sz="1200" dirty="0"/>
              <a:t> </a:t>
            </a:r>
            <a:r>
              <a:rPr sz="1200" dirty="0" err="1"/>
              <a:t>유의</a:t>
            </a:r>
            <a:r>
              <a:rPr sz="1200" dirty="0"/>
              <a:t>(p=0.003)</a:t>
            </a:r>
            <a:r>
              <a:rPr sz="1200" dirty="0" err="1"/>
              <a:t>했기</a:t>
            </a:r>
            <a:r>
              <a:rPr sz="1200" dirty="0"/>
              <a:t> </a:t>
            </a:r>
            <a:r>
              <a:rPr sz="1200" dirty="0" err="1"/>
              <a:t>때문에</a:t>
            </a:r>
            <a:r>
              <a:rPr sz="1200" dirty="0"/>
              <a:t>, 이 </a:t>
            </a:r>
            <a:r>
              <a:rPr sz="1200" dirty="0" err="1"/>
              <a:t>지표를</a:t>
            </a:r>
            <a:r>
              <a:rPr sz="1200" dirty="0"/>
              <a:t> </a:t>
            </a:r>
            <a:r>
              <a:rPr sz="1200" dirty="0" err="1"/>
              <a:t>중심으로</a:t>
            </a:r>
            <a:r>
              <a:rPr sz="1200" dirty="0"/>
              <a:t> </a:t>
            </a:r>
            <a:r>
              <a:rPr sz="1200" dirty="0" err="1"/>
              <a:t>후속</a:t>
            </a:r>
            <a:r>
              <a:rPr sz="1200" dirty="0"/>
              <a:t> </a:t>
            </a:r>
            <a:r>
              <a:rPr sz="1200" dirty="0" err="1"/>
              <a:t>분석을</a:t>
            </a:r>
            <a:r>
              <a:rPr sz="1200" dirty="0"/>
              <a:t> </a:t>
            </a:r>
            <a:r>
              <a:rPr sz="1200" dirty="0" err="1"/>
              <a:t>진행하겠습니다</a:t>
            </a:r>
            <a:r>
              <a:rPr lang="en-US" sz="1200" dirty="0"/>
              <a:t>.</a:t>
            </a:r>
            <a:endParaRPr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d412ffb079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40188" y="857250"/>
            <a:ext cx="4113212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3d412ffb079_0_6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dirty="0" err="1"/>
              <a:t>이상으로</a:t>
            </a:r>
            <a:r>
              <a:rPr sz="1200" dirty="0"/>
              <a:t> </a:t>
            </a:r>
            <a:r>
              <a:rPr sz="1200" dirty="0" err="1"/>
              <a:t>본론</a:t>
            </a:r>
            <a:r>
              <a:rPr sz="1200" dirty="0"/>
              <a:t> </a:t>
            </a:r>
            <a:r>
              <a:rPr sz="1200" dirty="0" err="1"/>
              <a:t>발표를</a:t>
            </a:r>
            <a:r>
              <a:rPr sz="1200" dirty="0"/>
              <a:t> </a:t>
            </a:r>
            <a:r>
              <a:rPr sz="1200" dirty="0" err="1"/>
              <a:t>마치겠습니다</a:t>
            </a:r>
            <a:r>
              <a:rPr sz="1200" dirty="0"/>
              <a:t>. </a:t>
            </a:r>
            <a:r>
              <a:rPr sz="1200" dirty="0" err="1"/>
              <a:t>감사합니다</a:t>
            </a:r>
            <a:r>
              <a:rPr sz="1200" dirty="0"/>
              <a:t>.</a:t>
            </a:r>
            <a:endParaRPr dirty="0"/>
          </a:p>
        </p:txBody>
      </p:sp>
      <p:sp>
        <p:nvSpPr>
          <p:cNvPr id="1174" name="Google Shape;1174;g3d412ffb079_0_61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636419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55715-AE2A-CA3F-B2E1-4C6A97948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39CE76-F7FB-832C-4B7E-1238F61A5E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545C4B-7DF7-39DA-6FA7-AE11631308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38E0F-C524-6EC2-637D-2DFDC720B1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15781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55962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CE84-6AD8-453A-AD6E-FEAF604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44141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EF105-0337-4580-9111-FD2F527F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44141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B31AF83-2C46-4BF6-B48E-DD76F99A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800" y="6044141"/>
            <a:ext cx="2743200" cy="365125"/>
          </a:xfrm>
        </p:spPr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7068" y="2062806"/>
            <a:ext cx="113878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Stratified</a:t>
            </a:r>
            <a:r>
              <a:rPr lang="ko-KR" altLang="en-US" sz="24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altLang="ko-KR" sz="24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Analysis of AEC</a:t>
            </a:r>
            <a:endParaRPr sz="2400" b="1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7068" y="3139177"/>
            <a:ext cx="71399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chemeClr val="bg1"/>
                </a:solidFill>
                <a:latin typeface="KoPub돋움체 Medium"/>
              </a:rPr>
              <a:t>2026. 07. </a:t>
            </a:r>
            <a:r>
              <a:rPr lang="en-US" sz="1600">
                <a:solidFill>
                  <a:schemeClr val="bg1"/>
                </a:solidFill>
                <a:latin typeface="KoPub돋움체 Medium"/>
              </a:rPr>
              <a:t>29</a:t>
            </a:r>
            <a:endParaRPr sz="1600" dirty="0">
              <a:solidFill>
                <a:schemeClr val="bg1"/>
              </a:solidFill>
              <a:latin typeface="KoPub돋움체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7068" y="3564777"/>
            <a:ext cx="7139940" cy="289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KoPub돋움체 Medium"/>
              </a:rPr>
              <a:t>JangHoon Chun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7068" y="3978214"/>
            <a:ext cx="7139940" cy="121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KoPub돋움체 Medium"/>
              </a:rPr>
              <a:t>Department of, Medical Device Engineering &amp; Management</a:t>
            </a:r>
          </a:p>
          <a:p>
            <a:r>
              <a:rPr sz="1600">
                <a:solidFill>
                  <a:srgbClr val="FFFFFF"/>
                </a:solidFill>
                <a:latin typeface="KoPub돋움체 Medium"/>
              </a:rPr>
              <a:t>Gangnam Severance Hospital,</a:t>
            </a:r>
          </a:p>
          <a:p>
            <a:r>
              <a:rPr sz="1600">
                <a:solidFill>
                  <a:srgbClr val="FFFFFF"/>
                </a:solidFill>
                <a:latin typeface="KoPub돋움체 Medium"/>
              </a:rPr>
              <a:t>Yonsei University College of Medicine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33089-A92C-12D5-3225-F71B17118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83BFE-B078-9DD0-5E70-CD302E754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Reference Papers – 2 stage work flow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4896C6-77DC-75F6-7744-9EAADAACD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A Cascaded Approach for ultraly High Performance Lesion Detection and False Positive Removal in Liver CT Scans</a:t>
            </a:r>
          </a:p>
          <a:p>
            <a:pPr lvl="1"/>
            <a:r>
              <a:rPr lang="ko-KR" altLang="en-US" sz="1400" dirty="0"/>
              <a:t>단계적 위양성 제거로 검출 성능 확보 — AEC 층화 분석의 방법론적 토대</a:t>
            </a:r>
            <a:endParaRPr lang="en-US" altLang="ko-KR" sz="1400" dirty="0"/>
          </a:p>
          <a:p>
            <a:pPr lvl="1"/>
            <a:r>
              <a:rPr lang="ko-KR" altLang="ko-KR" sz="1400" dirty="0"/>
              <a:t>검출 후 위양성을 단계적으로 제거하는 이 논문의 2단계(</a:t>
            </a:r>
            <a:r>
              <a:rPr lang="ko-KR" altLang="ko-KR" sz="1400" dirty="0" err="1"/>
              <a:t>cascaded</a:t>
            </a:r>
            <a:r>
              <a:rPr lang="ko-KR" altLang="ko-KR" sz="1400" dirty="0"/>
              <a:t>) 접근법은, 위양성을 통제하며 병변 검출 성능을 확보해야 하는 본 연구의 AEC 층화 분석 방법론에 직접적인 참고가 된다.</a:t>
            </a:r>
            <a:endParaRPr lang="ko-KR" altLang="en-US" sz="11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07EDAE6-2FF1-981E-1F67-BDA2ABD79DA8}"/>
              </a:ext>
            </a:extLst>
          </p:cNvPr>
          <p:cNvGrpSpPr/>
          <p:nvPr/>
        </p:nvGrpSpPr>
        <p:grpSpPr>
          <a:xfrm>
            <a:off x="1420731" y="2595484"/>
            <a:ext cx="9350538" cy="3643433"/>
            <a:chOff x="474821" y="1625799"/>
            <a:chExt cx="11124696" cy="4334733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2A6EAC54-FF64-6BE8-789D-E40BEEFEB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04352" y="1874277"/>
              <a:ext cx="6595165" cy="2138973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4D36DA98-BA28-1E1A-2D69-3224DFE4F6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4821" y="1625799"/>
              <a:ext cx="4445048" cy="4334733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B1CA332B-0CE4-0EDB-E244-C8E5424A12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04352" y="4222264"/>
              <a:ext cx="6595165" cy="1535590"/>
            </a:xfrm>
            <a:prstGeom prst="rect">
              <a:avLst/>
            </a:prstGeom>
          </p:spPr>
        </p:pic>
      </p:grp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539309-9B93-7911-B5CA-B20C81CA5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3183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33089-A92C-12D5-3225-F71B17118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83BFE-B078-9DD0-5E70-CD302E754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Reference Papers - </a:t>
            </a:r>
            <a:r>
              <a:rPr lang="ko-KR" altLang="en-US" dirty="0"/>
              <a:t>AEC 층화 분석 설계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3F8ED0F-29DE-0DC8-D902-6BEC62750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7"/>
            <a:ext cx="11176000" cy="535424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ko-KR" altLang="en-US" sz="18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① TP </a:t>
            </a:r>
            <a:r>
              <a:rPr lang="ko-KR" altLang="en-US" sz="1800" b="1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vs</a:t>
            </a:r>
            <a:r>
              <a:rPr lang="ko-KR" altLang="en-US" sz="18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FP · </a:t>
            </a:r>
            <a:r>
              <a:rPr lang="ko-KR" altLang="en-US" sz="1800" b="1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위양성</a:t>
            </a:r>
            <a:r>
              <a:rPr lang="ko-KR" altLang="en-US" sz="18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감소</a:t>
            </a:r>
          </a:p>
          <a:p>
            <a:pPr marL="788670" lvl="1" indent="-331470">
              <a:spcBef>
                <a:spcPts val="200"/>
              </a:spcBef>
              <a:buFont typeface="Arial"/>
              <a:buChar char="•"/>
            </a:pP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Setio AAA et al., Multi-view ConvNets FP reduction, IEEE TMI, 2016.</a:t>
            </a:r>
          </a:p>
          <a:p>
            <a:pPr marL="788670" lvl="1" indent="0">
              <a:spcBef>
                <a:spcPts val="100"/>
              </a:spcBef>
              <a:buNone/>
            </a:pPr>
            <a:r>
              <a:rPr lang="ko-KR" altLang="en-US" sz="12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</a:t>
            </a:r>
            <a:r>
              <a:rPr lang="en-US" altLang="ko-KR" sz="12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false positive reduction, Convnets Fusion (single view, committee-fusion, late-fusion, mixed-fusion)</a:t>
            </a:r>
            <a:endParaRPr lang="ko-KR" altLang="en-US" sz="1200" dirty="0">
              <a:solidFill>
                <a:srgbClr val="37562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788670" lvl="1" indent="0">
              <a:spcBef>
                <a:spcPts val="100"/>
              </a:spcBef>
              <a:buNone/>
            </a:pPr>
            <a:r>
              <a:rPr lang="ko-KR" altLang="en-US" sz="12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AEC 프로파일 분석에서 위양성을 줄이는 판별에 활용함</a:t>
            </a: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ko-KR" altLang="en-US" sz="18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② 체격 의존성 · AEC 프로파일 정규화</a:t>
            </a:r>
          </a:p>
          <a:p>
            <a:pPr marL="788670" lvl="1" indent="-331470">
              <a:spcBef>
                <a:spcPts val="200"/>
              </a:spcBef>
              <a:buFont typeface="Arial"/>
              <a:buChar char="•"/>
            </a:pP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McCollough C et al., AAPM Report 220: WED·SSDE, 2014.</a:t>
            </a:r>
          </a:p>
          <a:p>
            <a:pPr marL="788670" lvl="1" indent="0">
              <a:spcBef>
                <a:spcPts val="100"/>
              </a:spcBef>
              <a:buNone/>
            </a:pPr>
            <a:r>
              <a:rPr lang="ko-KR" altLang="en-US" sz="12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체격(WED, </a:t>
            </a:r>
            <a:r>
              <a:rPr lang="en-US" altLang="ko-KR" sz="12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Water Equivalent Diameter</a:t>
            </a:r>
            <a:r>
              <a:rPr lang="ko-KR" altLang="en-US" sz="12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)에 따라 </a:t>
            </a:r>
            <a:r>
              <a:rPr lang="ko-KR" altLang="en-US" sz="1200" dirty="0" err="1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선량·AEC</a:t>
            </a:r>
            <a:r>
              <a:rPr lang="ko-KR" altLang="en-US" sz="12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프로파일이 달라짐</a:t>
            </a:r>
          </a:p>
          <a:p>
            <a:pPr marL="788670" lvl="1" indent="0">
              <a:spcBef>
                <a:spcPts val="100"/>
              </a:spcBef>
              <a:buNone/>
            </a:pPr>
            <a:r>
              <a:rPr lang="ko-KR" altLang="en-US" sz="12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WED 기반 </a:t>
            </a:r>
            <a:r>
              <a:rPr lang="ko-KR" altLang="en-US" sz="1200" dirty="0" err="1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patient-normalized</a:t>
            </a:r>
            <a:r>
              <a:rPr lang="ko-KR" altLang="en-US" sz="12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전처리로 체격 영향을 보정함</a:t>
            </a: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ko-KR" altLang="en-US" sz="18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③ 성별 층화</a:t>
            </a:r>
          </a:p>
          <a:p>
            <a:pPr marL="788670" lvl="1" indent="-331470">
              <a:spcBef>
                <a:spcPts val="200"/>
              </a:spcBef>
              <a:buFont typeface="Arial"/>
              <a:buChar char="•"/>
            </a:pP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Mulkens TH et al., Attenuation-based online TCM, AJR, 2005.</a:t>
            </a:r>
          </a:p>
          <a:p>
            <a:pPr marL="788670" lvl="1" indent="0">
              <a:spcBef>
                <a:spcPts val="100"/>
              </a:spcBef>
              <a:buNone/>
            </a:pPr>
            <a:r>
              <a:rPr lang="ko-KR" altLang="en-US" sz="12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AEC </a:t>
            </a:r>
            <a:r>
              <a:rPr lang="ko-KR" altLang="en-US" sz="1200" dirty="0" err="1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조절하는 선량 정도가</a:t>
            </a:r>
            <a:r>
              <a:rPr lang="ko-KR" altLang="en-US" sz="12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성별에 따라 유의하게 다름 (흉부 </a:t>
            </a:r>
            <a:r>
              <a:rPr lang="ko-KR" altLang="en-US" sz="1200" dirty="0" err="1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</a:t>
            </a:r>
            <a:r>
              <a:rPr lang="ko-KR" altLang="en-US" sz="12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=0.003·복부 </a:t>
            </a:r>
            <a:r>
              <a:rPr lang="ko-KR" altLang="en-US" sz="1200" dirty="0" err="1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</a:t>
            </a:r>
            <a:r>
              <a:rPr lang="ko-KR" altLang="en-US" sz="12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=0.002)</a:t>
            </a:r>
          </a:p>
          <a:p>
            <a:pPr marL="788670" lvl="1" indent="0">
              <a:spcBef>
                <a:spcPts val="100"/>
              </a:spcBef>
              <a:buNone/>
            </a:pPr>
            <a:r>
              <a:rPr lang="ko-KR" altLang="en-US" sz="12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남녀를 분리해 </a:t>
            </a:r>
            <a:r>
              <a:rPr lang="ko-KR" altLang="en-US" sz="1200" dirty="0" err="1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AEC를</a:t>
            </a:r>
            <a:r>
              <a:rPr lang="ko-KR" altLang="en-US" sz="12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따로 분석함</a:t>
            </a: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ko-KR" altLang="en-US" sz="18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④ BMI 사분위 컷오프</a:t>
            </a:r>
          </a:p>
          <a:p>
            <a:pPr marL="788670" lvl="1" indent="-331470">
              <a:spcBef>
                <a:spcPts val="200"/>
              </a:spcBef>
              <a:buFont typeface="Arial"/>
              <a:buChar char="•"/>
            </a:pP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WHO Expert Consultation, Appropriate BMI for Asian populations, Lancet, 2004.</a:t>
            </a:r>
          </a:p>
          <a:p>
            <a:pPr marL="788670" lvl="1" indent="0">
              <a:spcBef>
                <a:spcPts val="100"/>
              </a:spcBef>
              <a:buNone/>
            </a:pPr>
            <a:r>
              <a:rPr lang="ko-KR" altLang="en-US" sz="12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한국·아시아 환자는 서양 기준보다 낮은 컷오프(과체중 ≥23·비만 ≥25)로 나누는 것이 적절함</a:t>
            </a:r>
          </a:p>
          <a:p>
            <a:pPr marL="788670" lvl="1" indent="0">
              <a:spcBef>
                <a:spcPts val="100"/>
              </a:spcBef>
              <a:buNone/>
            </a:pPr>
            <a:r>
              <a:rPr lang="ko-KR" altLang="en-US" sz="12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아시아 컷오프로 BMI 사분위·군을 나눠 AEC 차이를 층화 분석함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8DE95CB-66E3-4F39-6A11-91F952275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9245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6677BF-67FE-1FA6-CA73-224700B90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Reference Papers - </a:t>
            </a:r>
            <a:r>
              <a:rPr lang="ko-KR" altLang="en-US" dirty="0"/>
              <a:t>전체 영역(Volumetric) 체성분 지표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AF146C-FDD7-6ED7-69B2-D62A94998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ko-KR" altLang="en-US" sz="18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① 전체 영역(Volumetric) vs L3 단면 비교</a:t>
            </a:r>
          </a:p>
          <a:p>
            <a:pPr marL="788670" lvl="1" indent="-331470">
              <a:spcBef>
                <a:spcPts val="200"/>
              </a:spcBef>
              <a:buFont typeface="Arial"/>
              <a:buChar char="•"/>
            </a:pP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Comparison of volumetric and single-slice CT body composition metrics for colorectal cancer survival, 2025.</a:t>
            </a:r>
          </a:p>
          <a:p>
            <a:pPr marL="788670" lvl="1" indent="0">
              <a:spcBef>
                <a:spcPts val="100"/>
              </a:spcBef>
              <a:buNone/>
            </a:pPr>
            <a:r>
              <a:rPr lang="ko-KR" altLang="en-US" sz="12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volumetric(T12~천골) 지표가 mid-L3 단면보다 복부 지방·근육의 분포를 더 잘 반영함</a:t>
            </a:r>
          </a:p>
          <a:p>
            <a:pPr marL="788670" lvl="1" indent="-331470">
              <a:spcBef>
                <a:spcPts val="200"/>
              </a:spcBef>
              <a:buFont typeface="Arial"/>
              <a:buChar char="•"/>
            </a:pP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Single- vs multi-slice CT body composition analysis in oesophagogastric cancer, 2024.</a:t>
            </a:r>
          </a:p>
          <a:p>
            <a:pPr marL="788670" lvl="1" indent="0">
              <a:spcBef>
                <a:spcPts val="100"/>
              </a:spcBef>
              <a:buNone/>
            </a:pPr>
            <a:r>
              <a:rPr lang="ko-KR" altLang="en-US" sz="12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다중 슬라이스(T12~L4) 부피가 단일 슬라이스와 높은 상관을 보이며 전신 체성분을 더 잘 추정함</a:t>
            </a:r>
          </a:p>
          <a:p>
            <a:pPr marL="788670" lvl="1" indent="-331470">
              <a:spcBef>
                <a:spcPts val="200"/>
              </a:spcBef>
              <a:buFont typeface="Arial"/>
              <a:buChar char="•"/>
            </a:pP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Comparative analysis of body composition using torso CT with BIA, Sci Rep, 2024.</a:t>
            </a:r>
          </a:p>
          <a:p>
            <a:pPr marL="788670" lvl="1" indent="0">
              <a:spcBef>
                <a:spcPts val="100"/>
              </a:spcBef>
              <a:buNone/>
            </a:pPr>
            <a:r>
              <a:rPr lang="ko-KR" altLang="en-US" sz="12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torso 근육 부피 지수가 L3 단면 지표보다 BIA와 더 강하게 상관함</a:t>
            </a:r>
          </a:p>
          <a:p>
            <a:pPr marL="788670" lvl="1" indent="-331470">
              <a:spcBef>
                <a:spcPts val="200"/>
              </a:spcBef>
              <a:buFont typeface="Arial"/>
              <a:buChar char="•"/>
            </a:pP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3D-derived AI from multiple CT scans across L3 vs single mid-L3, 2023.</a:t>
            </a:r>
          </a:p>
          <a:p>
            <a:pPr marL="788670" lvl="1" indent="0">
              <a:spcBef>
                <a:spcPts val="100"/>
              </a:spcBef>
              <a:buNone/>
            </a:pPr>
            <a:r>
              <a:rPr lang="ko-KR" altLang="en-US" sz="12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단일 mid-L3 슬라이스만 쓰면 체성분 추정값이 달라져 여러 단면을 함께 볼 필요가 있음</a:t>
            </a:r>
          </a:p>
          <a:p>
            <a:pPr marL="788670" lvl="1" indent="-331470">
              <a:spcBef>
                <a:spcPts val="200"/>
              </a:spcBef>
              <a:buFont typeface="Arial"/>
              <a:buChar char="•"/>
            </a:pP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Quantification of fat and skeletal muscle at abdominal CT: single-slice vs total compartment volumes, Abdom Radiol, 2019.</a:t>
            </a:r>
          </a:p>
          <a:p>
            <a:pPr marL="788670" lvl="1" indent="0">
              <a:spcBef>
                <a:spcPts val="100"/>
              </a:spcBef>
              <a:buNone/>
            </a:pPr>
            <a:r>
              <a:rPr lang="ko-KR" altLang="en-US" sz="12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단일 슬라이스가 전체 지방 부피와 강한 상관을 보이나 근육은 L3/4 부근이 가장 대표적임</a:t>
            </a: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ko-KR" altLang="en-US" sz="18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② 자동 분할 도구</a:t>
            </a:r>
          </a:p>
          <a:p>
            <a:pPr marL="788670" lvl="1" indent="-331470">
              <a:spcBef>
                <a:spcPts val="200"/>
              </a:spcBef>
              <a:buFont typeface="Arial"/>
              <a:buChar char="•"/>
            </a:pP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Wasserthal J et al., TotalSegmentator: Robust Segmentation of 104 Anatomic Structures in CT Images, Radiol Artif Intell, 2023.</a:t>
            </a:r>
          </a:p>
          <a:p>
            <a:pPr marL="788670" lvl="1" indent="0">
              <a:spcBef>
                <a:spcPts val="100"/>
              </a:spcBef>
              <a:buNone/>
            </a:pPr>
            <a:r>
              <a:rPr lang="ko-KR" altLang="en-US" sz="12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전체 CT에서 VAT·SAT·IMAT·근육을 자동·3D로 분할해 본 연구의 전체영역 지표 추출에 사용함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F1EB10-0512-4CD5-CC83-9C21AE8B4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3234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226C0-E69E-C194-4D15-4398B9723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ia 101">
            <a:extLst>
              <a:ext uri="{FF2B5EF4-FFF2-40B4-BE49-F238E27FC236}">
                <a16:creationId xmlns:a16="http://schemas.microsoft.com/office/drawing/2014/main" id="{C1160051-D7BB-6B71-E012-0F9F18083A85}"/>
              </a:ext>
            </a:extLst>
          </p:cNvPr>
          <p:cNvSpPr/>
          <p:nvPr/>
        </p:nvSpPr>
        <p:spPr>
          <a:xfrm>
            <a:off x="501650" y="3903132"/>
            <a:ext cx="11176000" cy="2362200"/>
          </a:xfrm>
          <a:prstGeom prst="roundRect">
            <a:avLst>
              <a:gd name="adj" fmla="val 8252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9B3FC9-B52B-FBE4-B31A-9F4816FDE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</a:t>
            </a:r>
            <a:r>
              <a:rPr lang="ko-KR" altLang="en-US" dirty="0"/>
              <a:t> </a:t>
            </a:r>
            <a:r>
              <a:rPr lang="en-US" altLang="ko-KR" dirty="0"/>
              <a:t>Workflow</a:t>
            </a:r>
            <a:endParaRPr dirty="0"/>
          </a:p>
        </p:txBody>
      </p:sp>
      <p:sp>
        <p:nvSpPr>
          <p:cNvPr id="101" name="Dia 101"/>
          <p:cNvSpPr/>
          <p:nvPr/>
        </p:nvSpPr>
        <p:spPr>
          <a:xfrm>
            <a:off x="508000" y="1219200"/>
            <a:ext cx="11176000" cy="2362200"/>
          </a:xfrm>
          <a:prstGeom prst="roundRect">
            <a:avLst>
              <a:gd name="adj" fmla="val 8252"/>
            </a:avLst>
          </a:prstGeom>
          <a:solidFill>
            <a:srgbClr val="F4F7FC"/>
          </a:solidFill>
          <a:ln w="12700">
            <a:solidFill>
              <a:srgbClr val="2F5597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endParaRPr lang="en-US"/>
          </a:p>
        </p:txBody>
      </p:sp>
      <p:sp>
        <p:nvSpPr>
          <p:cNvPr id="102" name="Dia 102"/>
          <p:cNvSpPr/>
          <p:nvPr/>
        </p:nvSpPr>
        <p:spPr>
          <a:xfrm>
            <a:off x="736600" y="1346200"/>
            <a:ext cx="1600200" cy="431800"/>
          </a:xfrm>
          <a:prstGeom prst="roundRect">
            <a:avLst/>
          </a:prstGeom>
          <a:solidFill>
            <a:srgbClr val="2F5597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Stage 1</a:t>
            </a:r>
          </a:p>
        </p:txBody>
      </p:sp>
      <p:sp>
        <p:nvSpPr>
          <p:cNvPr id="103" name="Dia 103"/>
          <p:cNvSpPr/>
          <p:nvPr/>
        </p:nvSpPr>
        <p:spPr>
          <a:xfrm>
            <a:off x="762000" y="1930400"/>
            <a:ext cx="24765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2F5597"/>
                </a:solidFill>
              </a:rPr>
              <a:t>Clinic 변수</a:t>
            </a:r>
          </a:p>
          <a:p>
            <a:pPr algn="ctr">
              <a:buNone/>
            </a:pPr>
            <a:r>
              <a:rPr lang="en-US" sz="1200" b="0" dirty="0">
                <a:solidFill>
                  <a:srgbClr val="595959"/>
                </a:solidFill>
              </a:rPr>
              <a:t>(Sex · Age · Height · Weight)</a:t>
            </a:r>
          </a:p>
          <a:p>
            <a:pPr algn="ctr">
              <a:lnSpc>
                <a:spcPct val="200000"/>
              </a:lnSpc>
              <a:buNone/>
            </a:pPr>
            <a:r>
              <a:rPr lang="en-US" sz="1200" dirty="0">
                <a:solidFill>
                  <a:srgbClr val="595959"/>
                </a:solidFill>
              </a:rPr>
              <a:t>Output (low-SMI binary)</a:t>
            </a:r>
            <a:endParaRPr lang="en-US" sz="1200" b="0" dirty="0">
              <a:solidFill>
                <a:srgbClr val="595959"/>
              </a:solidFill>
            </a:endParaRPr>
          </a:p>
        </p:txBody>
      </p:sp>
      <p:sp>
        <p:nvSpPr>
          <p:cNvPr id="104" name="Dia 104"/>
          <p:cNvSpPr/>
          <p:nvPr/>
        </p:nvSpPr>
        <p:spPr>
          <a:xfrm>
            <a:off x="3263900" y="2501900"/>
            <a:ext cx="203200" cy="27940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>
              <a:buNone/>
            </a:pPr>
            <a:endParaRPr lang="en-US"/>
          </a:p>
        </p:txBody>
      </p:sp>
      <p:sp>
        <p:nvSpPr>
          <p:cNvPr id="105" name="Dia 105"/>
          <p:cNvSpPr/>
          <p:nvPr/>
        </p:nvSpPr>
        <p:spPr>
          <a:xfrm>
            <a:off x="3492500" y="1930400"/>
            <a:ext cx="24765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2F5597"/>
                </a:solidFill>
              </a:rPr>
              <a:t>Logistic Regression</a:t>
            </a:r>
          </a:p>
          <a:p>
            <a:pPr algn="ctr">
              <a:buNone/>
            </a:pPr>
            <a:r>
              <a:rPr lang="en-US" sz="1600" b="1" dirty="0">
                <a:solidFill>
                  <a:srgbClr val="2F5597"/>
                </a:solidFill>
              </a:rPr>
              <a:t>(ML)</a:t>
            </a:r>
          </a:p>
        </p:txBody>
      </p:sp>
      <p:sp>
        <p:nvSpPr>
          <p:cNvPr id="106" name="Dia 106"/>
          <p:cNvSpPr/>
          <p:nvPr/>
        </p:nvSpPr>
        <p:spPr>
          <a:xfrm>
            <a:off x="5994400" y="2501900"/>
            <a:ext cx="203200" cy="27940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>
              <a:buNone/>
            </a:pPr>
            <a:endParaRPr lang="en-US"/>
          </a:p>
        </p:txBody>
      </p:sp>
      <p:sp>
        <p:nvSpPr>
          <p:cNvPr id="107" name="Dia 107"/>
          <p:cNvSpPr/>
          <p:nvPr/>
        </p:nvSpPr>
        <p:spPr>
          <a:xfrm>
            <a:off x="6223000" y="1930400"/>
            <a:ext cx="24765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2F5597"/>
                </a:solidFill>
              </a:rPr>
              <a:t>Cutoff</a:t>
            </a:r>
          </a:p>
          <a:p>
            <a:pPr algn="ctr">
              <a:buNone/>
            </a:pPr>
            <a:r>
              <a:rPr lang="en-US" sz="1400" b="0" dirty="0">
                <a:solidFill>
                  <a:srgbClr val="595959"/>
                </a:solidFill>
              </a:rPr>
              <a:t>@ Sensitivity 90</a:t>
            </a:r>
          </a:p>
        </p:txBody>
      </p:sp>
      <p:sp>
        <p:nvSpPr>
          <p:cNvPr id="108" name="Dia 108"/>
          <p:cNvSpPr/>
          <p:nvPr/>
        </p:nvSpPr>
        <p:spPr>
          <a:xfrm>
            <a:off x="8724900" y="2501900"/>
            <a:ext cx="203200" cy="27940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>
              <a:buNone/>
            </a:pPr>
            <a:endParaRPr lang="en-US"/>
          </a:p>
        </p:txBody>
      </p:sp>
      <p:sp>
        <p:nvSpPr>
          <p:cNvPr id="109" name="Dia 109"/>
          <p:cNvSpPr/>
          <p:nvPr/>
        </p:nvSpPr>
        <p:spPr>
          <a:xfrm>
            <a:off x="8953500" y="1930400"/>
            <a:ext cx="24765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2F5597"/>
                </a:solidFill>
              </a:rPr>
              <a:t>Confusion Matrix</a:t>
            </a:r>
          </a:p>
        </p:txBody>
      </p:sp>
      <p:sp>
        <p:nvSpPr>
          <p:cNvPr id="110" name="Dia 110"/>
          <p:cNvSpPr/>
          <p:nvPr/>
        </p:nvSpPr>
        <p:spPr>
          <a:xfrm>
            <a:off x="5943600" y="3606800"/>
            <a:ext cx="304800" cy="254000"/>
          </a:xfrm>
          <a:prstGeom prst="downArrow">
            <a:avLst/>
          </a:prstGeom>
          <a:solidFill>
            <a:srgbClr val="C55A11"/>
          </a:solidFill>
          <a:ln>
            <a:noFill/>
          </a:ln>
        </p:spPr>
        <p:txBody>
          <a:bodyPr wrap="square" lIns="91440" tIns="45720" rIns="91440" bIns="45720" anchor="ctr">
            <a:normAutofit fontScale="40000" lnSpcReduction="20000"/>
          </a:bodyPr>
          <a:lstStyle/>
          <a:p>
            <a:pPr algn="ctr">
              <a:buNone/>
            </a:pPr>
            <a:endParaRPr lang="en-US"/>
          </a:p>
        </p:txBody>
      </p:sp>
      <p:sp>
        <p:nvSpPr>
          <p:cNvPr id="112" name="Dia 112"/>
          <p:cNvSpPr/>
          <p:nvPr/>
        </p:nvSpPr>
        <p:spPr>
          <a:xfrm>
            <a:off x="736600" y="4038600"/>
            <a:ext cx="1600200" cy="431800"/>
          </a:xfrm>
          <a:prstGeom prst="roundRect">
            <a:avLst/>
          </a:prstGeom>
          <a:solidFill>
            <a:srgbClr val="C55A11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Stage 2</a:t>
            </a:r>
          </a:p>
        </p:txBody>
      </p:sp>
      <p:sp>
        <p:nvSpPr>
          <p:cNvPr id="113" name="Dia 113"/>
          <p:cNvSpPr/>
          <p:nvPr/>
        </p:nvSpPr>
        <p:spPr>
          <a:xfrm>
            <a:off x="762000" y="4622800"/>
            <a:ext cx="33655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5A11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C55A11"/>
                </a:solidFill>
              </a:rPr>
              <a:t>Predicted Positive</a:t>
            </a:r>
          </a:p>
          <a:p>
            <a:pPr algn="ctr">
              <a:buNone/>
            </a:pPr>
            <a:r>
              <a:rPr lang="en-US" sz="1400" b="0" dirty="0">
                <a:solidFill>
                  <a:srgbClr val="595959"/>
                </a:solidFill>
              </a:rPr>
              <a:t>Stage 1 결과 (TP + FP)</a:t>
            </a:r>
          </a:p>
        </p:txBody>
      </p:sp>
      <p:sp>
        <p:nvSpPr>
          <p:cNvPr id="114" name="Dia 114"/>
          <p:cNvSpPr/>
          <p:nvPr/>
        </p:nvSpPr>
        <p:spPr>
          <a:xfrm>
            <a:off x="4165600" y="5194300"/>
            <a:ext cx="203200" cy="279400"/>
          </a:xfrm>
          <a:prstGeom prst="rightArrow">
            <a:avLst/>
          </a:prstGeom>
          <a:solidFill>
            <a:srgbClr val="C55A11"/>
          </a:solidFill>
          <a:ln>
            <a:noFill/>
          </a:ln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>
              <a:buNone/>
            </a:pPr>
            <a:endParaRPr lang="en-US"/>
          </a:p>
        </p:txBody>
      </p:sp>
      <p:sp>
        <p:nvSpPr>
          <p:cNvPr id="115" name="Dia 115"/>
          <p:cNvSpPr/>
          <p:nvPr/>
        </p:nvSpPr>
        <p:spPr>
          <a:xfrm>
            <a:off x="4406900" y="4622800"/>
            <a:ext cx="33655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5A11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C55A11"/>
                </a:solidFill>
              </a:rPr>
              <a:t>AEC Curve Data</a:t>
            </a:r>
          </a:p>
          <a:p>
            <a:pPr algn="ctr">
              <a:buNone/>
            </a:pPr>
            <a:r>
              <a:rPr lang="ko-KR" altLang="en-US" sz="1600" b="1" dirty="0">
                <a:solidFill>
                  <a:srgbClr val="C55A11"/>
                </a:solidFill>
              </a:rPr>
              <a:t>또는 추가 추출 </a:t>
            </a:r>
            <a:r>
              <a:rPr lang="en-US" altLang="ko-KR" sz="1600" b="1" dirty="0">
                <a:solidFill>
                  <a:srgbClr val="C55A11"/>
                </a:solidFill>
              </a:rPr>
              <a:t>Data</a:t>
            </a:r>
            <a:endParaRPr lang="en-US" sz="1600" b="1" dirty="0">
              <a:solidFill>
                <a:srgbClr val="C55A11"/>
              </a:solidFill>
            </a:endParaRPr>
          </a:p>
        </p:txBody>
      </p:sp>
      <p:sp>
        <p:nvSpPr>
          <p:cNvPr id="116" name="Dia 116"/>
          <p:cNvSpPr/>
          <p:nvPr/>
        </p:nvSpPr>
        <p:spPr>
          <a:xfrm>
            <a:off x="7810500" y="5194300"/>
            <a:ext cx="203200" cy="279400"/>
          </a:xfrm>
          <a:prstGeom prst="rightArrow">
            <a:avLst/>
          </a:prstGeom>
          <a:solidFill>
            <a:srgbClr val="C55A11"/>
          </a:solidFill>
          <a:ln>
            <a:noFill/>
          </a:ln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>
              <a:buNone/>
            </a:pPr>
            <a:endParaRPr lang="en-US"/>
          </a:p>
        </p:txBody>
      </p:sp>
      <p:sp>
        <p:nvSpPr>
          <p:cNvPr id="117" name="Dia 117"/>
          <p:cNvSpPr/>
          <p:nvPr/>
        </p:nvSpPr>
        <p:spPr>
          <a:xfrm>
            <a:off x="8051800" y="4622800"/>
            <a:ext cx="33782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5A11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C55A11"/>
                </a:solidFill>
              </a:rPr>
              <a:t>Reclassification</a:t>
            </a:r>
          </a:p>
          <a:p>
            <a:pPr algn="ctr">
              <a:buNone/>
            </a:pPr>
            <a:r>
              <a:rPr lang="en-US" sz="1600" b="1" dirty="0">
                <a:solidFill>
                  <a:srgbClr val="C55A11"/>
                </a:solidFill>
              </a:rPr>
              <a:t>(DL)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070748B-92AD-5975-5493-E0045B81A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4139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15A64-DABA-7F82-E6B8-548DAD788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95BA5-6DCE-5C2D-85CB-622952E69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</a:t>
            </a:r>
            <a:r>
              <a:rPr lang="ko-KR" altLang="en-US" dirty="0"/>
              <a:t> </a:t>
            </a:r>
            <a:r>
              <a:rPr lang="en-US" altLang="ko-KR" dirty="0"/>
              <a:t>Summary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D54EE-E609-EC91-C532-219A90FFA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b="1" dirty="0"/>
              <a:t>전체 분석: 진양성(TP)·위양성(FP) AEC 차이는 통계적으로 의미 없음 </a:t>
            </a:r>
            <a:r>
              <a:rPr lang="en-US" altLang="ko-KR" sz="1800" b="1" dirty="0"/>
              <a:t>(</a:t>
            </a:r>
            <a:r>
              <a:rPr lang="ko-KR" altLang="en-US" sz="1800" b="1" dirty="0"/>
              <a:t>전체 통합, </a:t>
            </a:r>
            <a:r>
              <a:rPr lang="en-US" altLang="ko-KR" sz="1800" b="1" dirty="0"/>
              <a:t>p &gt; 0.05)</a:t>
            </a:r>
          </a:p>
          <a:p>
            <a:pPr>
              <a:lnSpc>
                <a:spcPct val="150000"/>
              </a:lnSpc>
            </a:pPr>
            <a:r>
              <a:rPr lang="ko-KR" altLang="en-US" sz="1800" b="1" dirty="0"/>
              <a:t>단, 성별·BMI로 그룹을 나눠 보면 일부 그룹에서 차이가 나타남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/>
              <a:t>남성(Male): 전체에서는 의미 있는 차이</a:t>
            </a:r>
            <a:r>
              <a:rPr lang="en-US" altLang="ko-KR" sz="1600" dirty="0"/>
              <a:t>(p &lt; 0.05)</a:t>
            </a:r>
            <a:r>
              <a:rPr lang="ko-KR" altLang="en-US" sz="1600" dirty="0"/>
              <a:t>였으나, 성별과 BMI로 다시 나누면 차이가 사라짐</a:t>
            </a:r>
            <a:r>
              <a:rPr lang="en-US" altLang="ko-KR" sz="1600" dirty="0"/>
              <a:t>(p &gt; 0.05)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/>
              <a:t>여성(Female): 전체에서는 의미 없었으나</a:t>
            </a:r>
            <a:r>
              <a:rPr lang="en-US" altLang="ko-KR" sz="1600" dirty="0"/>
              <a:t>(p &gt; 0.05)</a:t>
            </a:r>
            <a:r>
              <a:rPr lang="ko-KR" altLang="en-US" sz="1600" dirty="0"/>
              <a:t>, BMI가 가장 낮은 구간</a:t>
            </a:r>
            <a:r>
              <a:rPr lang="en-US" altLang="ko-KR" sz="1600" dirty="0"/>
              <a:t>(Q1)</a:t>
            </a:r>
            <a:r>
              <a:rPr lang="ko-KR" altLang="en-US" sz="1600" dirty="0"/>
              <a:t>에서만 의미 있는 차이</a:t>
            </a:r>
            <a:r>
              <a:rPr lang="en-US" altLang="ko-KR" sz="1600" dirty="0"/>
              <a:t>(p &lt; 0.05)</a:t>
            </a:r>
          </a:p>
          <a:p>
            <a:pPr>
              <a:lnSpc>
                <a:spcPct val="150000"/>
              </a:lnSpc>
            </a:pPr>
            <a:r>
              <a:rPr lang="en-US" altLang="ko-KR" sz="1800" b="1" dirty="0"/>
              <a:t>Total </a:t>
            </a:r>
            <a:r>
              <a:rPr lang="en-US" altLang="ko-KR" sz="1800" b="1" dirty="0" err="1"/>
              <a:t>Segmentator</a:t>
            </a:r>
            <a:r>
              <a:rPr lang="ko-KR" altLang="en-US" sz="1800" b="1" dirty="0"/>
              <a:t> </a:t>
            </a:r>
            <a:r>
              <a:rPr lang="en-US" altLang="ko-KR" sz="1800" b="1" dirty="0"/>
              <a:t>crop</a:t>
            </a:r>
            <a:r>
              <a:rPr lang="ko-KR" altLang="en-US" sz="1800" b="1" dirty="0"/>
              <a:t>된 영역의 전체 </a:t>
            </a:r>
            <a:r>
              <a:rPr lang="ko-KR" altLang="en-US" sz="1800" b="1" dirty="0" err="1"/>
              <a:t>지방량</a:t>
            </a:r>
            <a:r>
              <a:rPr lang="en-US" altLang="ko-KR" sz="1800" b="1" dirty="0"/>
              <a:t>, </a:t>
            </a:r>
            <a:r>
              <a:rPr lang="ko-KR" altLang="en-US" sz="1800" b="1" dirty="0" err="1"/>
              <a:t>근육량</a:t>
            </a:r>
            <a:r>
              <a:rPr lang="ko-KR" altLang="en-US" sz="1800" b="1" dirty="0"/>
              <a:t> 비교</a:t>
            </a:r>
          </a:p>
          <a:p>
            <a:pPr lvl="1"/>
            <a:r>
              <a:rPr lang="ko-KR" altLang="en-US" sz="1600" dirty="0"/>
              <a:t>SAT(피하지방)만 raw 유의(p=0.003), </a:t>
            </a:r>
            <a:r>
              <a:rPr lang="ko-KR" altLang="en-US" sz="1600" dirty="0" err="1"/>
              <a:t>VAT·근육량은</a:t>
            </a:r>
            <a:r>
              <a:rPr lang="ko-KR" altLang="en-US" sz="1600" dirty="0"/>
              <a:t> </a:t>
            </a:r>
            <a:r>
              <a:rPr lang="en-US" altLang="ko-KR" sz="1600" dirty="0"/>
              <a:t>L3</a:t>
            </a:r>
            <a:r>
              <a:rPr lang="ko-KR" altLang="en-US" sz="1600" dirty="0"/>
              <a:t>의 </a:t>
            </a:r>
            <a:r>
              <a:rPr lang="en-US" altLang="ko-KR" sz="1600" dirty="0"/>
              <a:t>TAMA</a:t>
            </a:r>
            <a:r>
              <a:rPr lang="ko-KR" altLang="en-US" sz="1600" dirty="0"/>
              <a:t>와 상관 계수가 높음</a:t>
            </a:r>
            <a:endParaRPr lang="ko-KR" altLang="en-US" sz="18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CFE583-1157-667E-0BAA-B8DA39575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825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CB61D-7E64-8CF1-E551-B99C0CF23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1" descr="clinical_only_confusion_matrix_sens90.png">
            <a:extLst>
              <a:ext uri="{FF2B5EF4-FFF2-40B4-BE49-F238E27FC236}">
                <a16:creationId xmlns:a16="http://schemas.microsoft.com/office/drawing/2014/main" id="{2F24916C-A441-3603-271D-D4DB93C7DD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303" r="49839"/>
          <a:stretch>
            <a:fillRect/>
          </a:stretch>
        </p:blipFill>
        <p:spPr>
          <a:xfrm>
            <a:off x="3440795" y="2464903"/>
            <a:ext cx="4137590" cy="36581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7B451F-E3AA-9A58-2DD0-035C12DCB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  <a:endParaRPr dirty="0"/>
          </a:p>
        </p:txBody>
      </p:sp>
      <p:pic>
        <p:nvPicPr>
          <p:cNvPr id="12" name="Picture 11" descr="clinical_only_confusion_matrix_sens90.png"/>
          <p:cNvPicPr>
            <a:picLocks noChangeAspect="1"/>
          </p:cNvPicPr>
          <p:nvPr/>
        </p:nvPicPr>
        <p:blipFill>
          <a:blip r:embed="rId3"/>
          <a:srcRect b="94039"/>
          <a:stretch>
            <a:fillRect/>
          </a:stretch>
        </p:blipFill>
        <p:spPr>
          <a:xfrm>
            <a:off x="1971662" y="2084870"/>
            <a:ext cx="8248675" cy="24584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A628EAB-B760-F1BF-B989-BB10B23CA891}"/>
              </a:ext>
            </a:extLst>
          </p:cNvPr>
          <p:cNvSpPr/>
          <p:nvPr/>
        </p:nvSpPr>
        <p:spPr>
          <a:xfrm>
            <a:off x="4420378" y="2771891"/>
            <a:ext cx="1590520" cy="311906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8C8C573-6157-F26B-BB6F-C21558EED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4E87C0C-6BBF-B6C3-D970-618A8B801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>
            <a:normAutofit/>
          </a:bodyPr>
          <a:lstStyle/>
          <a:p>
            <a:r>
              <a:rPr lang="en-US" altLang="ko-KR" sz="1800" b="1" dirty="0"/>
              <a:t>Clinical </a:t>
            </a:r>
            <a:r>
              <a:rPr lang="ko-KR" altLang="en-US" sz="1800" b="1" dirty="0"/>
              <a:t>모델의 예측 양성군은 </a:t>
            </a:r>
            <a:r>
              <a:rPr lang="en-US" altLang="ko-KR" sz="1800" b="1" dirty="0"/>
              <a:t>FP</a:t>
            </a:r>
            <a:r>
              <a:rPr lang="ko-KR" altLang="en-US" sz="1800" b="1" dirty="0"/>
              <a:t>가 </a:t>
            </a:r>
            <a:r>
              <a:rPr lang="en-US" altLang="ko-KR" sz="1800" b="1" dirty="0"/>
              <a:t>TP</a:t>
            </a:r>
            <a:r>
              <a:rPr lang="ko-KR" altLang="en-US" sz="1800" b="1" dirty="0"/>
              <a:t>보다 크게 많아</a:t>
            </a:r>
            <a:r>
              <a:rPr lang="en-US" altLang="ko-KR" sz="1800" b="1" dirty="0"/>
              <a:t>(447:117), TP/FP </a:t>
            </a:r>
            <a:r>
              <a:rPr lang="ko-KR" altLang="en-US" sz="1800" b="1" dirty="0"/>
              <a:t>구분을 위한 </a:t>
            </a:r>
            <a:r>
              <a:rPr lang="en-US" altLang="ko-KR" sz="1800" b="1" dirty="0"/>
              <a:t>AEC </a:t>
            </a:r>
            <a:r>
              <a:rPr lang="ko-KR" altLang="en-US" sz="1800" b="1" dirty="0"/>
              <a:t>분석이 필요함</a:t>
            </a:r>
          </a:p>
        </p:txBody>
      </p:sp>
    </p:spTree>
    <p:extLst>
      <p:ext uri="{BB962C8B-B14F-4D97-AF65-F5344CB8AC3E}">
        <p14:creationId xmlns:p14="http://schemas.microsoft.com/office/powerpoint/2010/main" val="4060176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7272D-7F1C-A374-B8BE-19CB40963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9EC42BA-0718-9D05-3C29-653A46D99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AEC 곡선 비교 — Permutation Test (p-value </a:t>
            </a:r>
            <a:r>
              <a:rPr lang="en-US" altLang="ko-KR" b="1" dirty="0" err="1"/>
              <a:t>산출</a:t>
            </a:r>
            <a:r>
              <a:rPr lang="en-US" altLang="ko-KR" b="1" dirty="0"/>
              <a:t> </a:t>
            </a:r>
            <a:r>
              <a:rPr lang="ko-KR" altLang="en-US" b="1" dirty="0"/>
              <a:t>방법</a:t>
            </a:r>
            <a:r>
              <a:rPr lang="en-US" altLang="ko-KR" b="1" dirty="0"/>
              <a:t>)</a:t>
            </a:r>
          </a:p>
          <a:p>
            <a:pPr lvl="1"/>
            <a:r>
              <a:rPr lang="en-US" altLang="ko-KR" sz="1600" dirty="0"/>
              <a:t>TP/FP AEC </a:t>
            </a:r>
            <a:r>
              <a:rPr lang="ko-KR" altLang="en-US" sz="1600" dirty="0"/>
              <a:t>곡선 차이는 </a:t>
            </a:r>
            <a:r>
              <a:rPr lang="en-US" altLang="ko-KR" sz="1600" dirty="0"/>
              <a:t>RMSD </a:t>
            </a:r>
            <a:r>
              <a:rPr lang="ko-KR" altLang="en-US" sz="1600" dirty="0"/>
              <a:t>기반 </a:t>
            </a:r>
            <a:r>
              <a:rPr lang="en-US" altLang="ko-KR" sz="1600" dirty="0"/>
              <a:t>2,000</a:t>
            </a:r>
            <a:r>
              <a:rPr lang="ko-KR" altLang="en-US" sz="1600" dirty="0"/>
              <a:t>회 </a:t>
            </a:r>
            <a:r>
              <a:rPr lang="en-US" altLang="ko-KR" sz="1600" dirty="0"/>
              <a:t>permutation test</a:t>
            </a:r>
            <a:r>
              <a:rPr lang="ko-KR" altLang="en-US" sz="1600" dirty="0"/>
              <a:t>로 </a:t>
            </a:r>
            <a:r>
              <a:rPr lang="ko-KR" altLang="en-US" sz="1600" dirty="0" err="1"/>
              <a:t>비모수</a:t>
            </a:r>
            <a:r>
              <a:rPr lang="ko-KR" altLang="en-US" sz="1600" dirty="0"/>
              <a:t> 검정함</a:t>
            </a:r>
            <a:endParaRPr lang="en-US" altLang="ko-KR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E55E53-EC79-6CE5-25BC-B6893A2F9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  <a:endParaRPr lang="en-US" altLang="ko-KR" sz="2400" b="1" dirty="0">
              <a:solidFill>
                <a:srgbClr val="1F3864"/>
              </a:solidFill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AA9D6C2-7FD6-C489-5421-A7D07D6156F3}"/>
              </a:ext>
            </a:extLst>
          </p:cNvPr>
          <p:cNvGrpSpPr/>
          <p:nvPr/>
        </p:nvGrpSpPr>
        <p:grpSpPr>
          <a:xfrm>
            <a:off x="764208" y="2061409"/>
            <a:ext cx="10663583" cy="4220123"/>
            <a:chOff x="508000" y="1168399"/>
            <a:chExt cx="11176000" cy="4775201"/>
          </a:xfrm>
        </p:grpSpPr>
        <p:sp>
          <p:nvSpPr>
            <p:cNvPr id="201" name="D201">
              <a:extLst>
                <a:ext uri="{FF2B5EF4-FFF2-40B4-BE49-F238E27FC236}">
                  <a16:creationId xmlns:a16="http://schemas.microsoft.com/office/drawing/2014/main" id="{B92225A7-3913-1B5C-1C0C-05BE29CFF584}"/>
                </a:ext>
              </a:extLst>
            </p:cNvPr>
            <p:cNvSpPr/>
            <p:nvPr/>
          </p:nvSpPr>
          <p:spPr>
            <a:xfrm>
              <a:off x="508000" y="1168400"/>
              <a:ext cx="3556000" cy="2133600"/>
            </a:xfrm>
            <a:prstGeom prst="roundRect">
              <a:avLst/>
            </a:prstGeom>
            <a:solidFill>
              <a:srgbClr val="F4F7FC"/>
            </a:solidFill>
            <a:ln w="12700">
              <a:solidFill>
                <a:srgbClr val="2F5597"/>
              </a:solidFill>
            </a:ln>
          </p:spPr>
          <p:txBody>
            <a:bodyPr wrap="square" lIns="114300" tIns="68580" rIns="114300" bIns="68580" anchor="ctr">
              <a:normAutofit/>
            </a:bodyPr>
            <a:lstStyle/>
            <a:p>
              <a:pPr algn="ctr">
                <a:buNone/>
              </a:pPr>
              <a:r>
                <a:rPr lang="en-US" altLang="ko-KR" sz="1400" b="1" dirty="0"/>
                <a:t>① 곡선 차이를 숫자로 압축</a:t>
              </a:r>
            </a:p>
            <a:p>
              <a:pPr algn="ctr">
                <a:buNone/>
              </a:pPr>
              <a:r>
                <a:rPr lang="en-US" altLang="ko-KR" sz="1400" b="1" dirty="0"/>
                <a:t>TP·FP 평균 곡선의 </a:t>
              </a:r>
              <a:r>
                <a:rPr lang="en-US" altLang="ko-KR" sz="1400" b="1" dirty="0" err="1"/>
                <a:t>slice별</a:t>
              </a:r>
              <a:r>
                <a:rPr lang="en-US" altLang="ko-KR" sz="1400" b="1" dirty="0"/>
                <a:t> </a:t>
              </a:r>
              <a:r>
                <a:rPr lang="en-US" altLang="ko-KR" sz="1400" b="1" dirty="0" err="1"/>
                <a:t>차이</a:t>
              </a:r>
              <a:endParaRPr lang="en-US" altLang="ko-KR" sz="1400" b="1" dirty="0"/>
            </a:p>
            <a:p>
              <a:pPr algn="ctr">
                <a:buNone/>
              </a:pPr>
              <a:r>
                <a:rPr lang="en-US" altLang="ko-KR" sz="1400" b="1" dirty="0"/>
                <a:t>→ RMSD = 0.0580</a:t>
              </a:r>
            </a:p>
          </p:txBody>
        </p:sp>
        <p:sp>
          <p:nvSpPr>
            <p:cNvPr id="202" name="D202">
              <a:extLst>
                <a:ext uri="{FF2B5EF4-FFF2-40B4-BE49-F238E27FC236}">
                  <a16:creationId xmlns:a16="http://schemas.microsoft.com/office/drawing/2014/main" id="{88E39357-0F19-5FFD-13D5-88D83870170B}"/>
                </a:ext>
              </a:extLst>
            </p:cNvPr>
            <p:cNvSpPr/>
            <p:nvPr/>
          </p:nvSpPr>
          <p:spPr>
            <a:xfrm>
              <a:off x="4089400" y="2095500"/>
              <a:ext cx="203200" cy="279400"/>
            </a:xfrm>
            <a:prstGeom prst="rightArrow">
              <a:avLst/>
            </a:prstGeom>
            <a:solidFill>
              <a:srgbClr val="2F5597"/>
            </a:solidFill>
            <a:ln>
              <a:noFill/>
            </a:ln>
          </p:spPr>
          <p:txBody>
            <a:bodyPr wrap="square" lIns="114300" tIns="68580" rIns="114300" bIns="68580" anchor="ctr">
              <a:noAutofit/>
            </a:bodyPr>
            <a:lstStyle/>
            <a:p>
              <a:pPr algn="ctr">
                <a:buNone/>
              </a:pPr>
              <a:endParaRPr lang="en-US" sz="400"/>
            </a:p>
          </p:txBody>
        </p:sp>
        <p:sp>
          <p:nvSpPr>
            <p:cNvPr id="203" name="D203">
              <a:extLst>
                <a:ext uri="{FF2B5EF4-FFF2-40B4-BE49-F238E27FC236}">
                  <a16:creationId xmlns:a16="http://schemas.microsoft.com/office/drawing/2014/main" id="{596CD019-6524-8138-8A83-4E67EF580E52}"/>
                </a:ext>
              </a:extLst>
            </p:cNvPr>
            <p:cNvSpPr/>
            <p:nvPr/>
          </p:nvSpPr>
          <p:spPr>
            <a:xfrm>
              <a:off x="4318000" y="1168399"/>
              <a:ext cx="3556000" cy="2133600"/>
            </a:xfrm>
            <a:prstGeom prst="roundRect">
              <a:avLst/>
            </a:prstGeom>
            <a:solidFill>
              <a:srgbClr val="F4F7FC"/>
            </a:solidFill>
            <a:ln w="12700">
              <a:solidFill>
                <a:srgbClr val="2F5597"/>
              </a:solidFill>
            </a:ln>
          </p:spPr>
          <p:txBody>
            <a:bodyPr wrap="square" lIns="114300" tIns="68580" rIns="114300" bIns="68580" anchor="ctr">
              <a:normAutofit/>
            </a:bodyPr>
            <a:lstStyle/>
            <a:p>
              <a:pPr algn="ctr">
                <a:buNone/>
              </a:pPr>
              <a:r>
                <a:rPr lang="en-US" altLang="ko-KR" sz="1400" b="1" dirty="0"/>
                <a:t>② 라벨 2,000회 무작위 섞기</a:t>
              </a:r>
            </a:p>
            <a:p>
              <a:pPr algn="ctr">
                <a:buNone/>
              </a:pPr>
              <a:r>
                <a:rPr lang="en-US" altLang="ko-KR" sz="1400" b="1" dirty="0"/>
                <a:t>TP/FP 재배치 후 RMSD </a:t>
              </a:r>
              <a:r>
                <a:rPr lang="en-US" altLang="ko-KR" sz="1400" b="1" dirty="0" err="1"/>
                <a:t>재계산</a:t>
              </a:r>
              <a:endParaRPr lang="en-US" altLang="ko-KR" sz="1400" b="1" dirty="0"/>
            </a:p>
          </p:txBody>
        </p:sp>
        <p:sp>
          <p:nvSpPr>
            <p:cNvPr id="204" name="D204">
              <a:extLst>
                <a:ext uri="{FF2B5EF4-FFF2-40B4-BE49-F238E27FC236}">
                  <a16:creationId xmlns:a16="http://schemas.microsoft.com/office/drawing/2014/main" id="{9F911D7A-F612-A67F-AFD3-ECF0FB54783E}"/>
                </a:ext>
              </a:extLst>
            </p:cNvPr>
            <p:cNvSpPr/>
            <p:nvPr/>
          </p:nvSpPr>
          <p:spPr>
            <a:xfrm>
              <a:off x="7899400" y="2095500"/>
              <a:ext cx="203200" cy="279400"/>
            </a:xfrm>
            <a:prstGeom prst="rightArrow">
              <a:avLst/>
            </a:prstGeom>
            <a:solidFill>
              <a:srgbClr val="2F5597"/>
            </a:solidFill>
            <a:ln>
              <a:noFill/>
            </a:ln>
          </p:spPr>
          <p:txBody>
            <a:bodyPr wrap="square" lIns="114300" tIns="68580" rIns="114300" bIns="68580" anchor="ctr">
              <a:noAutofit/>
            </a:bodyPr>
            <a:lstStyle/>
            <a:p>
              <a:pPr algn="ctr">
                <a:buNone/>
              </a:pPr>
              <a:endParaRPr lang="en-US" sz="400"/>
            </a:p>
          </p:txBody>
        </p:sp>
        <p:sp>
          <p:nvSpPr>
            <p:cNvPr id="205" name="D205">
              <a:extLst>
                <a:ext uri="{FF2B5EF4-FFF2-40B4-BE49-F238E27FC236}">
                  <a16:creationId xmlns:a16="http://schemas.microsoft.com/office/drawing/2014/main" id="{3C89E269-FA98-DA7F-B2A9-AA9B069F7C62}"/>
                </a:ext>
              </a:extLst>
            </p:cNvPr>
            <p:cNvSpPr/>
            <p:nvPr/>
          </p:nvSpPr>
          <p:spPr>
            <a:xfrm>
              <a:off x="8128000" y="1168400"/>
              <a:ext cx="3556000" cy="2133600"/>
            </a:xfrm>
            <a:prstGeom prst="roundRect">
              <a:avLst/>
            </a:prstGeom>
            <a:solidFill>
              <a:srgbClr val="F4F7FC"/>
            </a:solidFill>
            <a:ln w="12700">
              <a:solidFill>
                <a:srgbClr val="2F5597"/>
              </a:solidFill>
            </a:ln>
          </p:spPr>
          <p:txBody>
            <a:bodyPr wrap="square" lIns="114300" tIns="68580" rIns="114300" bIns="68580" anchor="ctr">
              <a:normAutofit/>
            </a:bodyPr>
            <a:lstStyle/>
            <a:p>
              <a:pPr algn="ctr">
                <a:buNone/>
              </a:pPr>
              <a:r>
                <a:rPr lang="en-US" altLang="ko-KR" sz="1400" b="1" dirty="0"/>
                <a:t>③ 관찰값과 비교</a:t>
              </a:r>
            </a:p>
            <a:p>
              <a:pPr algn="ctr">
                <a:buNone/>
              </a:pPr>
              <a:r>
                <a:rPr lang="en-US" altLang="ko-KR" sz="1400" b="1" dirty="0"/>
                <a:t>섞은 RMSD ≥ 관찰값 횟수 카운트</a:t>
              </a:r>
            </a:p>
            <a:p>
              <a:pPr algn="ctr">
                <a:buNone/>
              </a:pPr>
              <a:r>
                <a:rPr lang="en-US" altLang="ko-KR" sz="1400" b="1" dirty="0"/>
                <a:t>→ p-value 산출</a:t>
              </a:r>
            </a:p>
          </p:txBody>
        </p:sp>
        <p:sp>
          <p:nvSpPr>
            <p:cNvPr id="206" name="D206">
              <a:extLst>
                <a:ext uri="{FF2B5EF4-FFF2-40B4-BE49-F238E27FC236}">
                  <a16:creationId xmlns:a16="http://schemas.microsoft.com/office/drawing/2014/main" id="{38ABBB02-E8FE-70DD-AB61-25AAD0011D77}"/>
                </a:ext>
              </a:extLst>
            </p:cNvPr>
            <p:cNvSpPr/>
            <p:nvPr/>
          </p:nvSpPr>
          <p:spPr>
            <a:xfrm>
              <a:off x="508000" y="3530600"/>
              <a:ext cx="11176000" cy="939800"/>
            </a:xfrm>
            <a:prstGeom prst="roundRect">
              <a:avLst/>
            </a:prstGeom>
            <a:solidFill>
              <a:srgbClr val="FBE5D6"/>
            </a:solidFill>
            <a:ln w="12700">
              <a:solidFill>
                <a:srgbClr val="C55A11"/>
              </a:solidFill>
            </a:ln>
          </p:spPr>
          <p:txBody>
            <a:bodyPr wrap="square" lIns="114300" tIns="68580" rIns="114300" bIns="68580" anchor="ctr">
              <a:normAutofit/>
            </a:bodyPr>
            <a:lstStyle/>
            <a:p>
              <a:pPr algn="ctr">
                <a:buNone/>
              </a:pPr>
              <a:r>
                <a:rPr lang="en-US" altLang="ko-KR" sz="1600" b="1" dirty="0">
                  <a:solidFill>
                    <a:srgbClr val="843C0C"/>
                  </a:solidFill>
                </a:rPr>
                <a:t>p = (RMSD ≥ 관찰값 횟수 + 1) ÷ (전체 + 1)</a:t>
              </a:r>
            </a:p>
            <a:p>
              <a:pPr algn="ctr">
                <a:buNone/>
              </a:pPr>
              <a:r>
                <a:rPr lang="en-US" altLang="ko-KR" sz="1200" b="0" dirty="0">
                  <a:solidFill>
                    <a:srgbClr val="595959"/>
                  </a:solidFill>
                </a:rPr>
                <a:t>+1: p가 0이 되지 않게 하는 표준 관례</a:t>
              </a:r>
            </a:p>
          </p:txBody>
        </p:sp>
        <p:sp>
          <p:nvSpPr>
            <p:cNvPr id="207" name="D207">
              <a:extLst>
                <a:ext uri="{FF2B5EF4-FFF2-40B4-BE49-F238E27FC236}">
                  <a16:creationId xmlns:a16="http://schemas.microsoft.com/office/drawing/2014/main" id="{79D6A951-A563-E9A9-83E6-E8B0F5AFEDF3}"/>
                </a:ext>
              </a:extLst>
            </p:cNvPr>
            <p:cNvSpPr/>
            <p:nvPr/>
          </p:nvSpPr>
          <p:spPr>
            <a:xfrm>
              <a:off x="508000" y="4673600"/>
              <a:ext cx="5461000" cy="1270000"/>
            </a:xfrm>
            <a:prstGeom prst="roundRect">
              <a:avLst/>
            </a:prstGeom>
            <a:solidFill>
              <a:srgbClr val="E8F5E9"/>
            </a:solidFill>
            <a:ln w="12700">
              <a:solidFill>
                <a:srgbClr val="2E7D32"/>
              </a:solidFill>
            </a:ln>
          </p:spPr>
          <p:txBody>
            <a:bodyPr wrap="square" lIns="114300" tIns="68580" rIns="114300" bIns="68580" anchor="ctr">
              <a:normAutofit/>
            </a:bodyPr>
            <a:lstStyle/>
            <a:p>
              <a:pPr algn="ctr">
                <a:buNone/>
              </a:pPr>
              <a:r>
                <a:rPr lang="en-US" altLang="ko-KR" sz="1600" b="1" dirty="0">
                  <a:solidFill>
                    <a:srgbClr val="2E7D32"/>
                  </a:solidFill>
                </a:rPr>
                <a:t>p ≈ 0.0035 · 유의함</a:t>
              </a:r>
            </a:p>
            <a:p>
              <a:pPr algn="ctr">
                <a:buNone/>
              </a:pPr>
              <a:r>
                <a:rPr lang="en-US" altLang="ko-KR" sz="1200" b="0" dirty="0">
                  <a:solidFill>
                    <a:srgbClr val="595959"/>
                  </a:solidFill>
                </a:rPr>
                <a:t>2,000회 중 6회 → 두 곡선은 다름</a:t>
              </a:r>
            </a:p>
          </p:txBody>
        </p:sp>
        <p:sp>
          <p:nvSpPr>
            <p:cNvPr id="208" name="D208">
              <a:extLst>
                <a:ext uri="{FF2B5EF4-FFF2-40B4-BE49-F238E27FC236}">
                  <a16:creationId xmlns:a16="http://schemas.microsoft.com/office/drawing/2014/main" id="{294BFF1D-2970-5920-8757-8DCACA7E3338}"/>
                </a:ext>
              </a:extLst>
            </p:cNvPr>
            <p:cNvSpPr/>
            <p:nvPr/>
          </p:nvSpPr>
          <p:spPr>
            <a:xfrm>
              <a:off x="6223000" y="4673600"/>
              <a:ext cx="5461000" cy="1270000"/>
            </a:xfrm>
            <a:prstGeom prst="roundRect">
              <a:avLst/>
            </a:prstGeom>
            <a:solidFill>
              <a:srgbClr val="F5EDED"/>
            </a:solidFill>
            <a:ln w="12700">
              <a:solidFill>
                <a:srgbClr val="9C2A2A"/>
              </a:solidFill>
            </a:ln>
          </p:spPr>
          <p:txBody>
            <a:bodyPr wrap="square" lIns="114300" tIns="68580" rIns="114300" bIns="68580" anchor="ctr">
              <a:normAutofit/>
            </a:bodyPr>
            <a:lstStyle/>
            <a:p>
              <a:pPr algn="ctr">
                <a:buNone/>
              </a:pPr>
              <a:r>
                <a:rPr lang="en-US" altLang="ko-KR" sz="1600" b="1" dirty="0">
                  <a:solidFill>
                    <a:srgbClr val="9C2A2A"/>
                  </a:solidFill>
                </a:rPr>
                <a:t>p ≈ 0.200 · 유의하지 않음</a:t>
              </a:r>
            </a:p>
            <a:p>
              <a:pPr algn="ctr">
                <a:buNone/>
              </a:pPr>
              <a:r>
                <a:rPr lang="en-US" altLang="ko-KR" sz="1200" b="0" dirty="0">
                  <a:solidFill>
                    <a:srgbClr val="595959"/>
                  </a:solidFill>
                </a:rPr>
                <a:t>2,000회 중 400회 → 흔한 차이</a:t>
              </a:r>
            </a:p>
          </p:txBody>
        </p: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7B4D6B0-AA25-92C7-E737-6471B208D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1787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BD3DC-82A2-5F26-A020-8F0C5DBF9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A875-CD02-71CE-1CAA-571E1B386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CAA16-F5F5-D4AD-F5B3-2B9B5649C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Stage 1</a:t>
            </a:r>
            <a:r>
              <a:rPr lang="ko-KR" altLang="en-US" b="1" dirty="0"/>
              <a:t>의</a:t>
            </a:r>
            <a:r>
              <a:rPr lang="en-US" altLang="ko-KR" b="1" dirty="0"/>
              <a:t> TP vs FP AEC Preprocessing</a:t>
            </a:r>
            <a:r>
              <a:rPr lang="ko-KR" altLang="en-US" b="1" dirty="0"/>
              <a:t> </a:t>
            </a:r>
            <a:r>
              <a:rPr lang="en-US" altLang="ko-KR" b="1" dirty="0" err="1"/>
              <a:t>비교</a:t>
            </a:r>
            <a:endParaRPr lang="en-US" altLang="ko-KR" b="1" dirty="0"/>
          </a:p>
          <a:p>
            <a:pPr lvl="1"/>
            <a:r>
              <a:rPr lang="ko-KR" altLang="en-US" dirty="0"/>
              <a:t>세 </a:t>
            </a:r>
            <a:r>
              <a:rPr lang="ko-KR" altLang="en-US" dirty="0" err="1"/>
              <a:t>전처리</a:t>
            </a:r>
            <a:r>
              <a:rPr lang="en-US" altLang="ko-KR" dirty="0"/>
              <a:t>(</a:t>
            </a:r>
            <a:r>
              <a:rPr lang="en-US" altLang="ko-KR" dirty="0" err="1"/>
              <a:t>Raw·Patient·Global</a:t>
            </a:r>
            <a:r>
              <a:rPr lang="en-US" altLang="ko-KR" dirty="0"/>
              <a:t>) </a:t>
            </a:r>
            <a:r>
              <a:rPr lang="ko-KR" altLang="en-US" dirty="0"/>
              <a:t>모두에서 </a:t>
            </a:r>
            <a:r>
              <a:rPr lang="en-US" altLang="ko-KR" dirty="0"/>
              <a:t>AEC </a:t>
            </a:r>
            <a:r>
              <a:rPr lang="ko-KR" altLang="en-US" dirty="0"/>
              <a:t>곡선은 </a:t>
            </a:r>
            <a:r>
              <a:rPr lang="en-US" altLang="ko-KR" dirty="0"/>
              <a:t>TP</a:t>
            </a:r>
            <a:r>
              <a:rPr lang="ko-KR" altLang="en-US" dirty="0"/>
              <a:t>와 </a:t>
            </a:r>
            <a:r>
              <a:rPr lang="en-US" altLang="ko-KR" dirty="0"/>
              <a:t>FP</a:t>
            </a:r>
            <a:r>
              <a:rPr lang="ko-KR" altLang="en-US" dirty="0"/>
              <a:t>를 유의하게 구분하지 못함 </a:t>
            </a:r>
            <a:r>
              <a:rPr lang="en-US" altLang="ko-KR" dirty="0"/>
              <a:t>(pooled)</a:t>
            </a:r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AB233A3-DD15-0B12-C27D-D480E6160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5247" y="2375447"/>
            <a:ext cx="3958497" cy="270000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808B1A2-271C-ABC3-744E-BCC258C0CA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6752" y="2375448"/>
            <a:ext cx="3958495" cy="27000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928A389-5F06-2BAB-D754-1D970E5A37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255" y="2375447"/>
            <a:ext cx="3958497" cy="270000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B9F9E9-F893-54C0-E886-7FFDE7EC3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7380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045D1-DE0E-7476-4AB5-17D35A83C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DA4EE-076A-B732-16C9-A560CF339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7B5F5-A367-46F3-7152-2CB600D6F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Stage 1</a:t>
            </a:r>
            <a:r>
              <a:rPr lang="ko-KR" altLang="en-US" b="1" dirty="0"/>
              <a:t>의</a:t>
            </a:r>
            <a:r>
              <a:rPr lang="en-US" altLang="ko-KR" b="1" dirty="0"/>
              <a:t> TP vs FP AEC Preprocessing</a:t>
            </a:r>
            <a:r>
              <a:rPr lang="ko-KR" altLang="en-US" b="1" dirty="0"/>
              <a:t> </a:t>
            </a:r>
            <a:r>
              <a:rPr lang="en-US" altLang="ko-KR" b="1" dirty="0" err="1"/>
              <a:t>비교</a:t>
            </a:r>
            <a:r>
              <a:rPr lang="en-US" altLang="ko-KR" b="1" dirty="0"/>
              <a:t> (Male)</a:t>
            </a:r>
            <a:endParaRPr lang="en-US" altLang="ko-KR" b="1" dirty="0">
              <a:solidFill>
                <a:srgbClr val="1F3864"/>
              </a:solidFill>
            </a:endParaRPr>
          </a:p>
          <a:p>
            <a:pPr lvl="1"/>
            <a:r>
              <a:rPr lang="ko-KR" altLang="en-US" dirty="0"/>
              <a:t>남성에서는 </a:t>
            </a:r>
            <a:r>
              <a:rPr lang="en-US" altLang="ko-KR" dirty="0" err="1"/>
              <a:t>Raw·Global</a:t>
            </a:r>
            <a:r>
              <a:rPr lang="ko-KR" altLang="en-US" dirty="0"/>
              <a:t>에서 </a:t>
            </a:r>
            <a:r>
              <a:rPr lang="en-US" altLang="ko-KR" dirty="0"/>
              <a:t>TP/FP AEC </a:t>
            </a:r>
            <a:r>
              <a:rPr lang="ko-KR" altLang="en-US" dirty="0"/>
              <a:t>곡선 차이가 유의하게 나타남 </a:t>
            </a:r>
            <a:r>
              <a:rPr lang="en-US" altLang="ko-KR" dirty="0"/>
              <a:t>(p &lt; 0.05)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0C3747B-B09B-71B7-CE9B-DA83450261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916"/>
          <a:stretch>
            <a:fillRect/>
          </a:stretch>
        </p:blipFill>
        <p:spPr>
          <a:xfrm>
            <a:off x="155999" y="2253464"/>
            <a:ext cx="3960000" cy="285850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E99B784-22C9-2428-F0BF-1ED41B5AB2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9916"/>
          <a:stretch>
            <a:fillRect/>
          </a:stretch>
        </p:blipFill>
        <p:spPr>
          <a:xfrm>
            <a:off x="4115999" y="2253464"/>
            <a:ext cx="3960000" cy="285850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043AA95-037D-28E4-F04A-6B16878B109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9916"/>
          <a:stretch>
            <a:fillRect/>
          </a:stretch>
        </p:blipFill>
        <p:spPr>
          <a:xfrm>
            <a:off x="8076001" y="2253466"/>
            <a:ext cx="3960000" cy="2858502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A0506EC-BE1C-C1C3-A1A2-DAFD7946DCA7}"/>
              </a:ext>
            </a:extLst>
          </p:cNvPr>
          <p:cNvSpPr/>
          <p:nvPr/>
        </p:nvSpPr>
        <p:spPr>
          <a:xfrm>
            <a:off x="1262270" y="4621695"/>
            <a:ext cx="546652" cy="2286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0E6C34C-5009-8983-B297-462CE351BEC4}"/>
              </a:ext>
            </a:extLst>
          </p:cNvPr>
          <p:cNvSpPr/>
          <p:nvPr/>
        </p:nvSpPr>
        <p:spPr>
          <a:xfrm>
            <a:off x="9157254" y="4621695"/>
            <a:ext cx="546652" cy="2286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D84DA3-BF83-7ACF-4FDB-B1AA5842C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7565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EDC08-9FE6-8AC4-D4F0-1C1A7422D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E1D71-F034-4B65-F9CB-2489464A3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09809-EE41-8C5E-129E-F1DDF8795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Stage 1</a:t>
            </a:r>
            <a:r>
              <a:rPr lang="ko-KR" altLang="en-US" b="1" dirty="0"/>
              <a:t>의</a:t>
            </a:r>
            <a:r>
              <a:rPr lang="en-US" altLang="ko-KR" b="1" dirty="0"/>
              <a:t> TP vs FP AEC Preprocessing</a:t>
            </a:r>
            <a:r>
              <a:rPr lang="ko-KR" altLang="en-US" b="1" dirty="0"/>
              <a:t> </a:t>
            </a:r>
            <a:r>
              <a:rPr lang="en-US" altLang="ko-KR" b="1" dirty="0" err="1"/>
              <a:t>비교</a:t>
            </a:r>
            <a:r>
              <a:rPr lang="en-US" altLang="ko-KR" b="1" dirty="0"/>
              <a:t> (Female)</a:t>
            </a:r>
          </a:p>
          <a:p>
            <a:pPr lvl="1"/>
            <a:r>
              <a:rPr lang="ko-KR" altLang="en-US" dirty="0"/>
              <a:t>여성에서는 세 </a:t>
            </a:r>
            <a:r>
              <a:rPr lang="ko-KR" altLang="en-US" dirty="0" err="1"/>
              <a:t>전처리</a:t>
            </a:r>
            <a:r>
              <a:rPr lang="ko-KR" altLang="en-US" dirty="0"/>
              <a:t> 모두 </a:t>
            </a:r>
            <a:r>
              <a:rPr lang="en-US" altLang="ko-KR" dirty="0"/>
              <a:t>TP/FP AEC </a:t>
            </a:r>
            <a:r>
              <a:rPr lang="ko-KR" altLang="en-US" dirty="0"/>
              <a:t>곡선에 유의한 차이가 없음 </a:t>
            </a:r>
            <a:r>
              <a:rPr lang="en-US" altLang="ko-KR" dirty="0"/>
              <a:t>(p &gt; 0.05)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174C530-E4D5-2032-216C-BE4209705B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84"/>
          <a:stretch>
            <a:fillRect/>
          </a:stretch>
        </p:blipFill>
        <p:spPr>
          <a:xfrm>
            <a:off x="156000" y="2264192"/>
            <a:ext cx="3960000" cy="28681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90E1C13-B3B6-D245-A04A-61F6572A4D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84"/>
          <a:stretch>
            <a:fillRect/>
          </a:stretch>
        </p:blipFill>
        <p:spPr>
          <a:xfrm>
            <a:off x="4116000" y="2264193"/>
            <a:ext cx="3960000" cy="286816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59E57C3-DF1C-B4D3-9C37-273B82F9646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0084"/>
          <a:stretch>
            <a:fillRect/>
          </a:stretch>
        </p:blipFill>
        <p:spPr>
          <a:xfrm>
            <a:off x="8076000" y="2264196"/>
            <a:ext cx="3960000" cy="2868158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FEDF48-4289-8447-30BC-CD56AB877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5976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3126D-0F08-6AF4-7EF0-988B68B1D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C4603-FC44-E0FB-774F-CC077CBAA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66BE1-0D6F-A458-8605-BC7B3C109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7"/>
            <a:ext cx="11176000" cy="569492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b="1" dirty="0"/>
              <a:t>Stage 1</a:t>
            </a:r>
            <a:r>
              <a:rPr lang="ko-KR" altLang="en-US" b="1" dirty="0"/>
              <a:t>의</a:t>
            </a:r>
            <a:r>
              <a:rPr lang="en-US" altLang="ko-KR" b="1" dirty="0"/>
              <a:t> TP vs FP AEC Preprocessing</a:t>
            </a:r>
            <a:r>
              <a:rPr lang="ko-KR" altLang="en-US" b="1" dirty="0"/>
              <a:t> 비교 (성별 × BMI </a:t>
            </a:r>
            <a:r>
              <a:rPr lang="ko-KR" altLang="en-US" b="1" dirty="0" err="1"/>
              <a:t>사분위</a:t>
            </a:r>
            <a:r>
              <a:rPr lang="ko-KR" altLang="en-US" b="1" dirty="0"/>
              <a:t>, </a:t>
            </a:r>
            <a:r>
              <a:rPr lang="ko-KR" altLang="en-US" b="1" dirty="0" err="1"/>
              <a:t>Raw</a:t>
            </a:r>
            <a:r>
              <a:rPr lang="ko-KR" altLang="en-US" b="1" dirty="0"/>
              <a:t> AEC)</a:t>
            </a:r>
            <a:endParaRPr lang="en-US" altLang="ko-KR" b="1" dirty="0"/>
          </a:p>
          <a:p>
            <a:pPr lvl="1"/>
            <a:r>
              <a:rPr lang="ko-KR" altLang="en-US" dirty="0"/>
              <a:t>성별 </a:t>
            </a:r>
            <a:r>
              <a:rPr lang="en-US" altLang="ko-KR" dirty="0"/>
              <a:t>× BMI 8</a:t>
            </a:r>
            <a:r>
              <a:rPr lang="ko-KR" altLang="en-US" dirty="0"/>
              <a:t>개 구간 중 여성 최저 </a:t>
            </a:r>
            <a:r>
              <a:rPr lang="en-US" altLang="ko-KR" dirty="0"/>
              <a:t>BMI(Q1)</a:t>
            </a:r>
            <a:r>
              <a:rPr lang="ko-KR" altLang="en-US" dirty="0"/>
              <a:t>에서만 </a:t>
            </a:r>
            <a:r>
              <a:rPr lang="en-US" altLang="ko-KR" dirty="0"/>
              <a:t>TP/FP AEC </a:t>
            </a:r>
            <a:r>
              <a:rPr lang="ko-KR" altLang="en-US" dirty="0"/>
              <a:t>곡선이 유의하게 다름 </a:t>
            </a:r>
            <a:r>
              <a:rPr lang="en-US" altLang="ko-KR" dirty="0"/>
              <a:t>(p = 0.031)</a:t>
            </a:r>
            <a:endParaRPr lang="ko-KR" altLang="en-US" dirty="0"/>
          </a:p>
          <a:p>
            <a:pPr marL="457200" lvl="1" indent="0">
              <a:lnSpc>
                <a:spcPct val="105000"/>
              </a:lnSpc>
              <a:spcBef>
                <a:spcPts val="300"/>
              </a:spcBef>
              <a:buNone/>
            </a:pPr>
            <a:endParaRPr lang="en-US" altLang="ko-KR" sz="1400" b="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457200" lvl="1" indent="0">
              <a:lnSpc>
                <a:spcPct val="105000"/>
              </a:lnSpc>
              <a:spcBef>
                <a:spcPts val="300"/>
              </a:spcBef>
              <a:buNone/>
            </a:pP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457200" lvl="1" indent="0">
              <a:lnSpc>
                <a:spcPct val="105000"/>
              </a:lnSpc>
              <a:spcBef>
                <a:spcPts val="300"/>
              </a:spcBef>
              <a:buNone/>
            </a:pPr>
            <a:endParaRPr lang="en-US" altLang="ko-KR" sz="1400" b="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457200" lvl="1" indent="0">
              <a:lnSpc>
                <a:spcPct val="105000"/>
              </a:lnSpc>
              <a:spcBef>
                <a:spcPts val="300"/>
              </a:spcBef>
              <a:buNone/>
            </a:pP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457200" lvl="1" indent="0">
              <a:lnSpc>
                <a:spcPct val="105000"/>
              </a:lnSpc>
              <a:spcBef>
                <a:spcPts val="300"/>
              </a:spcBef>
              <a:buNone/>
            </a:pPr>
            <a:endParaRPr lang="en-US" altLang="ko-KR" sz="1400" b="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457200" lvl="1" indent="0">
              <a:lnSpc>
                <a:spcPct val="105000"/>
              </a:lnSpc>
              <a:spcBef>
                <a:spcPts val="300"/>
              </a:spcBef>
              <a:buNone/>
            </a:pP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457200" lvl="1" indent="0">
              <a:lnSpc>
                <a:spcPct val="105000"/>
              </a:lnSpc>
              <a:spcBef>
                <a:spcPts val="300"/>
              </a:spcBef>
              <a:buNone/>
            </a:pPr>
            <a:endParaRPr lang="en-US" altLang="ko-KR" sz="1400" b="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457200" lvl="1" indent="0">
              <a:lnSpc>
                <a:spcPct val="105000"/>
              </a:lnSpc>
              <a:spcBef>
                <a:spcPts val="300"/>
              </a:spcBef>
              <a:buNone/>
            </a:pP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457200" lvl="1" indent="0">
              <a:lnSpc>
                <a:spcPct val="105000"/>
              </a:lnSpc>
              <a:spcBef>
                <a:spcPts val="300"/>
              </a:spcBef>
              <a:buNone/>
            </a:pP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457200" lvl="1" indent="0">
              <a:lnSpc>
                <a:spcPct val="105000"/>
              </a:lnSpc>
              <a:spcBef>
                <a:spcPts val="300"/>
              </a:spcBef>
              <a:buNone/>
            </a:pP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457200" lvl="1" indent="0">
              <a:lnSpc>
                <a:spcPct val="105000"/>
              </a:lnSpc>
              <a:spcBef>
                <a:spcPts val="300"/>
              </a:spcBef>
              <a:buNone/>
            </a:pP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457200" lvl="1" indent="0">
              <a:lnSpc>
                <a:spcPct val="105000"/>
              </a:lnSpc>
              <a:spcBef>
                <a:spcPts val="300"/>
              </a:spcBef>
              <a:buNone/>
            </a:pP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457200" lvl="1" indent="0">
              <a:lnSpc>
                <a:spcPct val="105000"/>
              </a:lnSpc>
              <a:spcBef>
                <a:spcPts val="300"/>
              </a:spcBef>
              <a:buNone/>
            </a:pP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457200" lvl="1" indent="0">
              <a:lnSpc>
                <a:spcPct val="105000"/>
              </a:lnSpc>
              <a:spcBef>
                <a:spcPts val="300"/>
              </a:spcBef>
              <a:buNone/>
            </a:pP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457200" lvl="1" indent="0">
              <a:lnSpc>
                <a:spcPct val="105000"/>
              </a:lnSpc>
              <a:spcBef>
                <a:spcPts val="300"/>
              </a:spcBef>
              <a:buNone/>
            </a:pP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457200" lvl="1" indent="0">
              <a:lnSpc>
                <a:spcPct val="105000"/>
              </a:lnSpc>
              <a:spcBef>
                <a:spcPts val="300"/>
              </a:spcBef>
              <a:buNone/>
            </a:pPr>
            <a:endParaRPr lang="en-US" altLang="ko-KR" sz="1400" b="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457200" lvl="1" indent="0">
              <a:lnSpc>
                <a:spcPct val="105000"/>
              </a:lnSpc>
              <a:spcBef>
                <a:spcPts val="300"/>
              </a:spcBef>
              <a:buNone/>
            </a:pPr>
            <a:r>
              <a:rPr lang="ko-KR" altLang="en-US" sz="1400" b="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※ 아시아 BMI 컷오프(&lt;18.5 / 18.5–23 / 23–25 / ≥25)로 나누면 여성 상위 구간(</a:t>
            </a:r>
            <a:r>
              <a:rPr lang="ko-KR" altLang="en-US" sz="1400" b="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Overweight·Obese</a:t>
            </a:r>
            <a:r>
              <a:rPr lang="ko-KR" altLang="en-US" sz="1400" b="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)이 표본 부족으로 검정 불가</a:t>
            </a:r>
            <a:endParaRPr lang="en-US" altLang="ko-KR" sz="1400" b="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457200" lvl="1" indent="0">
              <a:lnSpc>
                <a:spcPct val="105000"/>
              </a:lnSpc>
              <a:spcBef>
                <a:spcPts val="300"/>
              </a:spcBef>
              <a:buNone/>
            </a:pPr>
            <a:r>
              <a:rPr lang="ko-KR" altLang="en-US" sz="1400" b="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성별 내 상대 사분위로 균등분할해 8개 칸 모두 검정 가능</a:t>
            </a:r>
            <a:endParaRPr lang="en-US" altLang="ko-KR" sz="1400" b="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457200" lvl="1" indent="0">
              <a:lnSpc>
                <a:spcPct val="105000"/>
              </a:lnSpc>
              <a:spcBef>
                <a:spcPts val="300"/>
              </a:spcBef>
              <a:buNone/>
            </a:pPr>
            <a:endParaRPr lang="ko-KR" altLang="en-US" sz="1400" b="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001958F5-9B7D-5D2D-266C-A1E1CFDECF48}"/>
              </a:ext>
            </a:extLst>
          </p:cNvPr>
          <p:cNvGrpSpPr/>
          <p:nvPr/>
        </p:nvGrpSpPr>
        <p:grpSpPr>
          <a:xfrm>
            <a:off x="999510" y="1869675"/>
            <a:ext cx="10192979" cy="3951232"/>
            <a:chOff x="254000" y="1794694"/>
            <a:chExt cx="11684000" cy="452921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4BF421F0-3673-E16B-816A-DEC9B9B82A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4000" y="1794694"/>
              <a:ext cx="11684000" cy="4529215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0C9F0AB-D2E6-3DA3-DBDB-244FAA7FCF97}"/>
                </a:ext>
              </a:extLst>
            </p:cNvPr>
            <p:cNvSpPr/>
            <p:nvPr/>
          </p:nvSpPr>
          <p:spPr>
            <a:xfrm>
              <a:off x="1093303" y="5923560"/>
              <a:ext cx="467140" cy="19894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B2B6447-94B2-D3BB-5FD6-63C66A4E5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551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C0D31-B84E-16FE-A425-CDA60F456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FA34F1-854F-6853-18A5-417D3C914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1A7A25-4073-C91F-93E4-F089DF664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TP vs FP</a:t>
            </a:r>
            <a:r>
              <a:rPr lang="ko-KR" altLang="en-US" b="1" dirty="0"/>
              <a:t>의 추출 </a:t>
            </a:r>
            <a:r>
              <a:rPr lang="en-US" altLang="ko-KR" b="1" dirty="0"/>
              <a:t>Data </a:t>
            </a:r>
            <a:r>
              <a:rPr lang="en-US" altLang="ko-KR" b="1" dirty="0" err="1"/>
              <a:t>비교</a:t>
            </a:r>
            <a:r>
              <a:rPr lang="en-US" altLang="ko-KR" b="1" dirty="0"/>
              <a:t> (Gangnam, baseline 내부 OOF 기준)</a:t>
            </a:r>
          </a:p>
          <a:p>
            <a:pPr lvl="1"/>
            <a:r>
              <a:rPr lang="en-US" altLang="ko-KR" b="0" dirty="0"/>
              <a:t>NAMA·SAT·Muscle·Fat 4개는 TP가 FP보다 낮고 차이 뚜렷(p&lt;0.05)</a:t>
            </a:r>
          </a:p>
          <a:p>
            <a:pPr lvl="1"/>
            <a:r>
              <a:rPr lang="en-US" altLang="ko-KR" b="0" dirty="0"/>
              <a:t>SAT는 라벨(TAMA)과 무관한데도 차이 뚜렷 → 가장 믿을 </a:t>
            </a:r>
            <a:r>
              <a:rPr lang="en-US" altLang="ko-KR" b="0" dirty="0" err="1"/>
              <a:t>만한</a:t>
            </a:r>
            <a:r>
              <a:rPr lang="en-US" altLang="ko-KR" b="0" dirty="0"/>
              <a:t> </a:t>
            </a:r>
            <a:r>
              <a:rPr lang="en-US" altLang="ko-KR" b="0" dirty="0" err="1"/>
              <a:t>신호</a:t>
            </a:r>
            <a:endParaRPr lang="en-US" altLang="ko-KR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5CEC81-308F-BAAE-22F2-00849D388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7EA1C30-2526-00E6-2084-AA8C21B401BE}"/>
              </a:ext>
            </a:extLst>
          </p:cNvPr>
          <p:cNvGrpSpPr/>
          <p:nvPr/>
        </p:nvGrpSpPr>
        <p:grpSpPr>
          <a:xfrm>
            <a:off x="0" y="2760618"/>
            <a:ext cx="12192000" cy="3056708"/>
            <a:chOff x="0" y="3039292"/>
            <a:chExt cx="12192000" cy="3056708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BAA22EDB-7508-D20C-03A5-4448EB8FA0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8083" b="8202"/>
            <a:stretch>
              <a:fillRect/>
            </a:stretch>
          </p:blipFill>
          <p:spPr>
            <a:xfrm>
              <a:off x="0" y="3039292"/>
              <a:ext cx="12192000" cy="3056708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D509793-A0E0-93A7-F442-1BB86EC15F3D}"/>
                </a:ext>
              </a:extLst>
            </p:cNvPr>
            <p:cNvSpPr/>
            <p:nvPr/>
          </p:nvSpPr>
          <p:spPr>
            <a:xfrm>
              <a:off x="1358537" y="4937760"/>
              <a:ext cx="9457509" cy="38317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07435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D057D8-BB16-1062-1A05-3B2EF4834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138673-2354-7B56-2DC1-1EC510DFC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b="1" dirty="0"/>
              <a:t>결과 정리</a:t>
            </a:r>
          </a:p>
          <a:p>
            <a:pPr lvl="1"/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전체(pooled) 분석: 진양성(TP)·위양성(FP) 간 AEC 차이가 통계적으로 유의하지 않음 (p &gt; 0.05)</a:t>
            </a:r>
          </a:p>
          <a:p>
            <a:pPr lvl="1"/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성별·BMI로 계층화(stratification) 시 특정 그룹에서만 유의한 차이가 관찰됨 → 통합 결과가 세부 그룹의 효과를 가릴 수 있음</a:t>
            </a:r>
          </a:p>
          <a:p>
            <a:pPr>
              <a:lnSpc>
                <a:spcPct val="150000"/>
              </a:lnSpc>
            </a:pP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ko-KR" altLang="en-US" b="1" dirty="0"/>
              <a:t>향후 연구 방향</a:t>
            </a:r>
          </a:p>
          <a:p>
            <a:pPr lvl="1"/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성별·BMI 계층을 반영한 평가 필요</a:t>
            </a:r>
          </a:p>
          <a:p>
            <a:pPr lvl="1"/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새로운 데이터(SAT) 활용 </a:t>
            </a:r>
            <a:r>
              <a:rPr lang="ko-KR" altLang="en-US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방안 모색</a:t>
            </a:r>
            <a:endParaRPr lang="en-US" altLang="ko-KR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4066EA-E576-B4C1-9382-D2B00AEC1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4888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6" name="Google Shape;1176;g3d412ffb079_0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79866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Appendix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sz="2200" dirty="0" err="1"/>
              <a:t>강남</a:t>
            </a:r>
            <a:r>
              <a:rPr sz="2200" dirty="0"/>
              <a:t>(Gangnam) </a:t>
            </a:r>
            <a:r>
              <a:rPr sz="2200" dirty="0" err="1"/>
              <a:t>코호트</a:t>
            </a:r>
            <a:r>
              <a:rPr sz="2200" dirty="0"/>
              <a:t> </a:t>
            </a:r>
            <a:r>
              <a:rPr sz="2200" dirty="0" err="1"/>
              <a:t>추가</a:t>
            </a:r>
            <a:r>
              <a:rPr sz="2200" dirty="0"/>
              <a:t> </a:t>
            </a:r>
            <a:r>
              <a:rPr sz="2200" dirty="0" err="1"/>
              <a:t>분석</a:t>
            </a:r>
            <a:r>
              <a:rPr sz="2200" dirty="0"/>
              <a:t> — </a:t>
            </a:r>
            <a:r>
              <a:rPr sz="2200" dirty="0" err="1"/>
              <a:t>다음</a:t>
            </a:r>
            <a:r>
              <a:rPr sz="2200" dirty="0"/>
              <a:t> </a:t>
            </a:r>
            <a:r>
              <a:rPr sz="2200" dirty="0" err="1"/>
              <a:t>슬라이드</a:t>
            </a:r>
            <a:r>
              <a:rPr sz="2200" dirty="0"/>
              <a:t>(16~19) </a:t>
            </a:r>
            <a:r>
              <a:rPr sz="2200" dirty="0" err="1"/>
              <a:t>요약</a:t>
            </a:r>
            <a:endParaRPr sz="2200" dirty="0"/>
          </a:p>
          <a:p>
            <a:r>
              <a:rPr sz="2200" dirty="0"/>
              <a:t>Vendor(</a:t>
            </a:r>
            <a:r>
              <a:rPr sz="2200" dirty="0" err="1"/>
              <a:t>스캐너</a:t>
            </a:r>
            <a:r>
              <a:rPr sz="2200" dirty="0"/>
              <a:t>) </a:t>
            </a:r>
            <a:r>
              <a:rPr sz="2200" dirty="0" err="1"/>
              <a:t>층화</a:t>
            </a:r>
            <a:r>
              <a:rPr sz="2200" dirty="0"/>
              <a:t> </a:t>
            </a:r>
            <a:endParaRPr lang="en-US" sz="2200" dirty="0"/>
          </a:p>
          <a:p>
            <a:pPr lvl="1"/>
            <a:r>
              <a:rPr sz="1600" b="0" dirty="0"/>
              <a:t>Vendor 간 AEC </a:t>
            </a:r>
            <a:r>
              <a:rPr sz="1600" b="0" dirty="0" err="1"/>
              <a:t>곡선</a:t>
            </a:r>
            <a:r>
              <a:rPr sz="1600" b="0" dirty="0"/>
              <a:t> </a:t>
            </a:r>
            <a:r>
              <a:rPr sz="1600" b="0" dirty="0" err="1"/>
              <a:t>유의하게</a:t>
            </a:r>
            <a:r>
              <a:rPr sz="1600" b="0" dirty="0"/>
              <a:t> </a:t>
            </a:r>
            <a:r>
              <a:rPr sz="1600" b="0" dirty="0" err="1"/>
              <a:t>다름</a:t>
            </a:r>
            <a:r>
              <a:rPr sz="1600" b="0" dirty="0"/>
              <a:t> (p=0.0005) → </a:t>
            </a:r>
            <a:r>
              <a:rPr sz="1600" b="0" dirty="0" err="1"/>
              <a:t>강한</a:t>
            </a:r>
            <a:r>
              <a:rPr sz="1600" b="0" dirty="0"/>
              <a:t> confound</a:t>
            </a:r>
          </a:p>
          <a:p>
            <a:pPr lvl="1"/>
            <a:r>
              <a:rPr sz="1800" b="0" dirty="0"/>
              <a:t>Vendor 내 TP/FP: Sensation 64만 </a:t>
            </a:r>
            <a:r>
              <a:rPr sz="1800" b="0" dirty="0" err="1"/>
              <a:t>미보정</a:t>
            </a:r>
            <a:r>
              <a:rPr sz="1800" b="0" dirty="0"/>
              <a:t> p=0.009</a:t>
            </a:r>
          </a:p>
          <a:p>
            <a:r>
              <a:rPr sz="2200" dirty="0" err="1"/>
              <a:t>mAs</a:t>
            </a:r>
            <a:r>
              <a:rPr sz="2200" dirty="0"/>
              <a:t> </a:t>
            </a:r>
            <a:r>
              <a:rPr sz="2200" dirty="0" err="1"/>
              <a:t>층화</a:t>
            </a:r>
            <a:endParaRPr lang="en-US" sz="2200" dirty="0"/>
          </a:p>
          <a:p>
            <a:pPr lvl="1"/>
            <a:r>
              <a:rPr sz="1600" b="0" dirty="0"/>
              <a:t>TP/FP </a:t>
            </a:r>
            <a:r>
              <a:rPr sz="1600" b="0" dirty="0" err="1"/>
              <a:t>mAs</a:t>
            </a:r>
            <a:r>
              <a:rPr sz="1600" b="0" dirty="0"/>
              <a:t> </a:t>
            </a:r>
            <a:r>
              <a:rPr sz="1600" b="0" dirty="0" err="1"/>
              <a:t>분포</a:t>
            </a:r>
            <a:r>
              <a:rPr sz="1600" b="0" dirty="0"/>
              <a:t> </a:t>
            </a:r>
            <a:r>
              <a:rPr sz="1600" b="0" dirty="0" err="1"/>
              <a:t>비유의</a:t>
            </a:r>
            <a:r>
              <a:rPr sz="1600" b="0" dirty="0"/>
              <a:t> (Welch-t p=0.744, Mann-Whitney p=0.104)</a:t>
            </a:r>
          </a:p>
          <a:p>
            <a:r>
              <a:rPr sz="2200" dirty="0"/>
              <a:t>WHO Asian BMI </a:t>
            </a:r>
            <a:r>
              <a:rPr sz="2200" dirty="0" err="1"/>
              <a:t>절대</a:t>
            </a:r>
            <a:r>
              <a:rPr sz="2200" dirty="0"/>
              <a:t> cutoff</a:t>
            </a:r>
          </a:p>
          <a:p>
            <a:pPr lvl="1"/>
            <a:r>
              <a:rPr sz="1800" b="0" dirty="0" err="1"/>
              <a:t>남성</a:t>
            </a:r>
            <a:r>
              <a:rPr sz="1800" b="0" dirty="0"/>
              <a:t> </a:t>
            </a:r>
            <a:r>
              <a:rPr sz="1800" b="0" dirty="0" err="1"/>
              <a:t>Underweight만</a:t>
            </a:r>
            <a:r>
              <a:rPr sz="1800" b="0" dirty="0"/>
              <a:t> p=0.034(</a:t>
            </a:r>
            <a:r>
              <a:rPr sz="1800" b="0" dirty="0" err="1"/>
              <a:t>n_FP</a:t>
            </a:r>
            <a:r>
              <a:rPr sz="1800" b="0" dirty="0"/>
              <a:t>=3, </a:t>
            </a:r>
            <a:r>
              <a:rPr sz="1800" b="0" dirty="0" err="1"/>
              <a:t>극소표본</a:t>
            </a:r>
            <a:r>
              <a:rPr sz="1800" b="0" dirty="0"/>
              <a:t>) 외 </a:t>
            </a:r>
            <a:r>
              <a:rPr sz="1800" b="0" dirty="0" err="1"/>
              <a:t>전부</a:t>
            </a:r>
            <a:r>
              <a:rPr sz="1800" b="0" dirty="0"/>
              <a:t> </a:t>
            </a:r>
            <a:r>
              <a:rPr sz="1800" b="0" dirty="0" err="1"/>
              <a:t>비유의</a:t>
            </a:r>
            <a:endParaRPr sz="1800" b="0" dirty="0"/>
          </a:p>
          <a:p>
            <a:r>
              <a:rPr sz="2200" dirty="0"/>
              <a:t>Pooled 2D-FFT</a:t>
            </a:r>
          </a:p>
          <a:p>
            <a:pPr lvl="1"/>
            <a:r>
              <a:rPr sz="1800" b="0" dirty="0" err="1"/>
              <a:t>Raw·Patient-norm</a:t>
            </a:r>
            <a:r>
              <a:rPr sz="1800" b="0" dirty="0"/>
              <a:t> 전 </a:t>
            </a:r>
            <a:r>
              <a:rPr sz="1800" b="0" dirty="0" err="1"/>
              <a:t>조건</a:t>
            </a:r>
            <a:r>
              <a:rPr sz="1800" b="0" dirty="0"/>
              <a:t> </a:t>
            </a:r>
            <a:r>
              <a:rPr sz="1800" b="0" dirty="0" err="1"/>
              <a:t>비유의</a:t>
            </a:r>
            <a:r>
              <a:rPr sz="1800" b="0" dirty="0"/>
              <a:t> (p=0.32~0.55)</a:t>
            </a:r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1F84CAA7-D28F-3897-5B71-2A3E177DF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897467"/>
            <a:ext cx="11176000" cy="1527681"/>
          </a:xfrm>
        </p:spPr>
        <p:txBody>
          <a:bodyPr>
            <a:normAutofit/>
          </a:bodyPr>
          <a:lstStyle/>
          <a:p>
            <a:r>
              <a:rPr sz="1800" b="0" dirty="0" err="1"/>
              <a:t>Vendor별</a:t>
            </a:r>
            <a:r>
              <a:rPr sz="1800" b="0" dirty="0"/>
              <a:t> raw AEC </a:t>
            </a:r>
            <a:r>
              <a:rPr sz="1800" b="0" dirty="0" err="1"/>
              <a:t>곡선</a:t>
            </a:r>
            <a:r>
              <a:rPr sz="1800" b="0" dirty="0"/>
              <a:t> (Gangnam)</a:t>
            </a:r>
            <a:endParaRPr lang="en-US" sz="1800" b="0" dirty="0"/>
          </a:p>
          <a:p>
            <a:pPr lvl="1"/>
            <a:r>
              <a:rPr lang="en-US" sz="1600" b="0" dirty="0"/>
              <a:t>Vendor</a:t>
            </a:r>
            <a:r>
              <a:rPr lang="ko-KR" altLang="en-US" sz="1600" b="0" dirty="0"/>
              <a:t>별로 </a:t>
            </a:r>
            <a:r>
              <a:rPr lang="en-US" altLang="ko-KR" sz="1600" b="0" dirty="0"/>
              <a:t>AEC</a:t>
            </a:r>
            <a:r>
              <a:rPr lang="ko-KR" altLang="en-US" sz="1600" b="0" dirty="0"/>
              <a:t>의 차이가 나타남</a:t>
            </a:r>
            <a:r>
              <a:rPr lang="en-US" altLang="ko-KR" sz="1600" b="0" dirty="0"/>
              <a:t>(p=0.0005)</a:t>
            </a:r>
            <a:endParaRPr lang="en-US" sz="1600" b="0" dirty="0"/>
          </a:p>
          <a:p>
            <a:pPr lvl="1"/>
            <a:endParaRPr sz="1400" b="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F84CAA7-D28F-3897-5B71-2A3E177DF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6AF42CD-163B-B3C7-130A-3CCC1AF04B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2336" y="2121533"/>
            <a:ext cx="7107327" cy="429475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C0E5C-E88A-B944-9957-74CA80543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5C90B-AC63-EF4E-0A0E-A7F1EE4C5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65190-4BA6-F584-6279-15C22CB42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7"/>
            <a:ext cx="11176000" cy="1527681"/>
          </a:xfrm>
        </p:spPr>
        <p:txBody>
          <a:bodyPr>
            <a:normAutofit/>
          </a:bodyPr>
          <a:lstStyle/>
          <a:p>
            <a:r>
              <a:rPr sz="1800" b="0" dirty="0" err="1"/>
              <a:t>Vendor별</a:t>
            </a:r>
            <a:r>
              <a:rPr sz="1800" b="0" dirty="0"/>
              <a:t> TP vs FP raw AEC </a:t>
            </a:r>
            <a:r>
              <a:rPr sz="1800" b="0" dirty="0" err="1"/>
              <a:t>곡선</a:t>
            </a:r>
            <a:r>
              <a:rPr sz="1800" b="0" dirty="0"/>
              <a:t> (Gangnam, 4개 </a:t>
            </a:r>
            <a:r>
              <a:rPr sz="1800" b="0" dirty="0" err="1"/>
              <a:t>스캐너</a:t>
            </a:r>
            <a:r>
              <a:rPr sz="1800" b="0" dirty="0"/>
              <a:t>)</a:t>
            </a:r>
            <a:endParaRPr lang="en-US" sz="1800" b="0" dirty="0"/>
          </a:p>
          <a:p>
            <a:pPr lvl="1"/>
            <a:r>
              <a:rPr lang="en-US" sz="1600" b="0" dirty="0"/>
              <a:t>Sensation 64 </a:t>
            </a:r>
            <a:r>
              <a:rPr lang="ko-KR" altLang="en-US" sz="1600" b="0" dirty="0"/>
              <a:t>에서만 </a:t>
            </a:r>
            <a:r>
              <a:rPr lang="en-US" altLang="ko-KR" sz="1600" b="0" dirty="0"/>
              <a:t>p&lt;0.05 </a:t>
            </a:r>
            <a:r>
              <a:rPr lang="ko-KR" altLang="en-US" sz="1600" b="0" dirty="0"/>
              <a:t>확인</a:t>
            </a:r>
            <a:endParaRPr sz="1600" b="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F603A9-2485-0CC2-2E8E-4D463D0D1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83C34440-B830-579A-43E6-5A04246CA8CB}"/>
              </a:ext>
            </a:extLst>
          </p:cNvPr>
          <p:cNvGrpSpPr/>
          <p:nvPr/>
        </p:nvGrpSpPr>
        <p:grpSpPr>
          <a:xfrm>
            <a:off x="3129998" y="2198062"/>
            <a:ext cx="5912126" cy="4115772"/>
            <a:chOff x="3129998" y="2198062"/>
            <a:chExt cx="5912126" cy="4115772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362F73EF-BE32-293D-CA40-6918BEB7A008}"/>
                </a:ext>
              </a:extLst>
            </p:cNvPr>
            <p:cNvGrpSpPr/>
            <p:nvPr/>
          </p:nvGrpSpPr>
          <p:grpSpPr>
            <a:xfrm>
              <a:off x="3149876" y="2198062"/>
              <a:ext cx="5892248" cy="2055883"/>
              <a:chOff x="0" y="2812773"/>
              <a:chExt cx="6096000" cy="2126975"/>
            </a:xfrm>
          </p:grpSpPr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11D9CC1E-92CB-464E-970A-902AD7D065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t="7621" r="50000"/>
              <a:stretch>
                <a:fillRect/>
              </a:stretch>
            </p:blipFill>
            <p:spPr>
              <a:xfrm>
                <a:off x="0" y="2812773"/>
                <a:ext cx="6096000" cy="2043856"/>
              </a:xfrm>
              <a:prstGeom prst="rect">
                <a:avLst/>
              </a:prstGeom>
            </p:spPr>
          </p:pic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9E8A5606-AE3A-D727-4AD5-0C05CB5173C1}"/>
                  </a:ext>
                </a:extLst>
              </p:cNvPr>
              <p:cNvSpPr/>
              <p:nvPr/>
            </p:nvSpPr>
            <p:spPr>
              <a:xfrm>
                <a:off x="0" y="2812774"/>
                <a:ext cx="2932043" cy="2126974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80FC8D79-4EB1-14E1-E18B-4AEE6DB06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1597" t="12043"/>
            <a:stretch>
              <a:fillRect/>
            </a:stretch>
          </p:blipFill>
          <p:spPr>
            <a:xfrm>
              <a:off x="3129998" y="4432853"/>
              <a:ext cx="5703967" cy="18809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976881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897467"/>
            <a:ext cx="11176000" cy="2173723"/>
          </a:xfrm>
        </p:spPr>
        <p:txBody>
          <a:bodyPr>
            <a:normAutofit/>
          </a:bodyPr>
          <a:lstStyle/>
          <a:p>
            <a:r>
              <a:rPr sz="1800" b="0" dirty="0" err="1"/>
              <a:t>mAs</a:t>
            </a:r>
            <a:r>
              <a:rPr sz="1800" b="0" dirty="0"/>
              <a:t> </a:t>
            </a:r>
            <a:r>
              <a:rPr sz="1800" b="0" dirty="0" err="1"/>
              <a:t>분포</a:t>
            </a:r>
            <a:r>
              <a:rPr sz="1800" b="0" dirty="0"/>
              <a:t> TP vs FP (Welch-t p=0.744, Mann-Whitney p=0.104)</a:t>
            </a:r>
            <a:endParaRPr lang="en-US" sz="1800" b="0" dirty="0"/>
          </a:p>
          <a:p>
            <a:pPr lvl="1"/>
            <a:r>
              <a:rPr sz="1600" dirty="0" err="1"/>
              <a:t>mAs는</a:t>
            </a:r>
            <a:r>
              <a:rPr sz="1600" dirty="0"/>
              <a:t> TP와 FP를 통계적으로 구분하지 못한다 (두 검정 모두 p&gt;0.05).</a:t>
            </a:r>
            <a:endParaRPr lang="en-US" sz="1600" dirty="0"/>
          </a:p>
        </p:txBody>
      </p:sp>
      <p:pic>
        <p:nvPicPr>
          <p:cNvPr id="4" name="Picture 3" descr="tp_vs_fp_m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74" y="2197116"/>
            <a:ext cx="9909052" cy="4069416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F84CAA7-D28F-3897-5B71-2A3E177DF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7826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996860"/>
            <a:ext cx="11176000" cy="137859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1800" b="0" dirty="0" err="1"/>
              <a:t>성별</a:t>
            </a:r>
            <a:r>
              <a:rPr sz="1800" b="0" dirty="0"/>
              <a:t> x WHO Asian BMI </a:t>
            </a:r>
            <a:r>
              <a:rPr sz="1800" b="0" dirty="0" err="1"/>
              <a:t>절대구간</a:t>
            </a:r>
            <a:r>
              <a:rPr sz="1800" b="0" dirty="0"/>
              <a:t> raw AEC </a:t>
            </a:r>
            <a:r>
              <a:rPr sz="1800" b="0" dirty="0" err="1"/>
              <a:t>곡선</a:t>
            </a:r>
            <a:endParaRPr lang="en-US" sz="1800" b="0" dirty="0"/>
          </a:p>
          <a:p>
            <a:pPr lvl="1"/>
            <a:r>
              <a:rPr lang="ko-KR" altLang="en-US" sz="1600" b="0" dirty="0"/>
              <a:t>여성의 </a:t>
            </a:r>
            <a:r>
              <a:rPr lang="en-US" altLang="ko-KR" sz="1600" b="0" dirty="0"/>
              <a:t>Overweight, Obese </a:t>
            </a:r>
            <a:r>
              <a:rPr lang="ko-KR" altLang="en-US" sz="1600" b="0" dirty="0"/>
              <a:t>데이터 부족으로 비교 불가</a:t>
            </a:r>
            <a:endParaRPr sz="1600" b="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F84CAA7-D28F-3897-5B71-2A3E177DF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1788525C-0403-A9B0-6DEB-144D8FB5BFA7}"/>
              </a:ext>
            </a:extLst>
          </p:cNvPr>
          <p:cNvGrpSpPr/>
          <p:nvPr/>
        </p:nvGrpSpPr>
        <p:grpSpPr>
          <a:xfrm>
            <a:off x="414737" y="2112664"/>
            <a:ext cx="11362525" cy="4110577"/>
            <a:chOff x="414737" y="2112664"/>
            <a:chExt cx="11362525" cy="4110577"/>
          </a:xfrm>
        </p:grpSpPr>
        <p:pic>
          <p:nvPicPr>
            <p:cNvPr id="4" name="Picture 3" descr="tp_vs_fp_aec_curve_raw_by_sex_who_bmi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4737" y="2112664"/>
              <a:ext cx="11362525" cy="4110577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CB8A2F1-5EDB-D252-8BF1-EB7F30E1291F}"/>
                </a:ext>
              </a:extLst>
            </p:cNvPr>
            <p:cNvSpPr/>
            <p:nvPr/>
          </p:nvSpPr>
          <p:spPr>
            <a:xfrm>
              <a:off x="1219199" y="3877979"/>
              <a:ext cx="327852" cy="16279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996857"/>
            <a:ext cx="11176000" cy="226317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1800" b="0" dirty="0"/>
              <a:t>Pooled 2D-FFT </a:t>
            </a:r>
            <a:r>
              <a:rPr sz="1800" b="0" dirty="0" err="1"/>
              <a:t>진폭</a:t>
            </a:r>
            <a:r>
              <a:rPr sz="1800" b="0" dirty="0"/>
              <a:t> </a:t>
            </a:r>
            <a:r>
              <a:rPr sz="1800" b="0" dirty="0" err="1"/>
              <a:t>스펙트럼</a:t>
            </a:r>
            <a:r>
              <a:rPr lang="en-US" sz="1800" b="0" dirty="0"/>
              <a:t>(</a:t>
            </a:r>
            <a:r>
              <a:rPr lang="en-US" altLang="ko-KR" sz="1800" dirty="0"/>
              <a:t>Raw / Patient-normalized</a:t>
            </a:r>
            <a:r>
              <a:rPr lang="en-US" sz="1800" b="0" dirty="0"/>
              <a:t>)</a:t>
            </a:r>
            <a:r>
              <a:rPr sz="1800" b="0" dirty="0"/>
              <a:t> — p=0.32~0.55 </a:t>
            </a:r>
            <a:r>
              <a:rPr sz="1800" b="0" dirty="0" err="1"/>
              <a:t>범위</a:t>
            </a:r>
            <a:r>
              <a:rPr sz="1800" b="0" dirty="0"/>
              <a:t>, </a:t>
            </a:r>
            <a:r>
              <a:rPr sz="1800" b="0" dirty="0" err="1"/>
              <a:t>비유의</a:t>
            </a:r>
            <a:endParaRPr lang="en-US" sz="1800" b="0" dirty="0"/>
          </a:p>
          <a:p>
            <a:pPr lvl="1"/>
            <a:r>
              <a:rPr sz="1600" dirty="0"/>
              <a:t>2D-FFT </a:t>
            </a:r>
            <a:r>
              <a:rPr sz="1600" dirty="0" err="1"/>
              <a:t>주파수</a:t>
            </a:r>
            <a:r>
              <a:rPr sz="1600" dirty="0"/>
              <a:t> </a:t>
            </a:r>
            <a:r>
              <a:rPr sz="1600" dirty="0" err="1"/>
              <a:t>특징도</a:t>
            </a:r>
            <a:r>
              <a:rPr sz="1600" dirty="0"/>
              <a:t> </a:t>
            </a:r>
            <a:r>
              <a:rPr sz="1600" dirty="0" err="1"/>
              <a:t>TP와</a:t>
            </a:r>
            <a:r>
              <a:rPr sz="1600" dirty="0"/>
              <a:t> </a:t>
            </a:r>
            <a:r>
              <a:rPr sz="1600" dirty="0" err="1"/>
              <a:t>FP를</a:t>
            </a:r>
            <a:r>
              <a:rPr sz="1600" dirty="0"/>
              <a:t> </a:t>
            </a:r>
            <a:r>
              <a:rPr sz="1600" dirty="0" err="1"/>
              <a:t>구분하지</a:t>
            </a:r>
            <a:r>
              <a:rPr sz="1600" dirty="0"/>
              <a:t> </a:t>
            </a:r>
            <a:r>
              <a:rPr sz="1600" dirty="0" err="1"/>
              <a:t>못한다</a:t>
            </a:r>
            <a:r>
              <a:rPr sz="1600" dirty="0"/>
              <a:t> (p&gt;0.05).</a:t>
            </a:r>
            <a:endParaRPr lang="en-US" sz="16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F84CAA7-D28F-3897-5B71-2A3E177DF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C1649BF-7467-2D24-B48E-792C29352DAE}"/>
              </a:ext>
            </a:extLst>
          </p:cNvPr>
          <p:cNvGrpSpPr/>
          <p:nvPr/>
        </p:nvGrpSpPr>
        <p:grpSpPr>
          <a:xfrm>
            <a:off x="1085316" y="1997765"/>
            <a:ext cx="10021367" cy="4343046"/>
            <a:chOff x="1058173" y="2029053"/>
            <a:chExt cx="10155576" cy="4401210"/>
          </a:xfrm>
        </p:grpSpPr>
        <p:pic>
          <p:nvPicPr>
            <p:cNvPr id="4" name="Picture 3" descr="tp_vs_fp_aec_2dfft_raw_linearfft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8173" y="2029054"/>
              <a:ext cx="5037827" cy="4401209"/>
            </a:xfrm>
            <a:prstGeom prst="rect">
              <a:avLst/>
            </a:prstGeom>
          </p:spPr>
        </p:pic>
        <p:pic>
          <p:nvPicPr>
            <p:cNvPr id="7" name="Picture 3" descr="tp_vs_fp_aec_2dfft_patient_norm_linearfft.png">
              <a:extLst>
                <a:ext uri="{FF2B5EF4-FFF2-40B4-BE49-F238E27FC236}">
                  <a16:creationId xmlns:a16="http://schemas.microsoft.com/office/drawing/2014/main" id="{7BFADA46-85F9-0934-D823-84EDF6292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0" y="2029053"/>
              <a:ext cx="5117749" cy="44012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748621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10F74-79DB-4ACE-4828-25A370413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F2DE7-F288-B9B9-A7DE-3BC8BAFA9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  <a:endParaRPr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9C111A78-15F9-3CAF-417A-A79D4FFE5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200" b="1"/>
              <a:t>P-value 검정 방법 정리 — 곡선 전체 비교는 permutation test 기본 사용</a:t>
            </a:r>
            <a:endParaRPr sz="1800" b="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F84CAA7-D28F-3897-5B71-2A3E177DF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523199"/>
              </p:ext>
            </p:extLst>
          </p:nvPr>
        </p:nvGraphicFramePr>
        <p:xfrm>
          <a:off x="1196723" y="1740045"/>
          <a:ext cx="9798554" cy="43000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971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32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/>
                        <a:t>검정명</a:t>
                      </a:r>
                      <a:endParaRPr sz="13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/>
                        <a:t>무엇을</a:t>
                      </a:r>
                      <a:r>
                        <a:rPr sz="1300" b="1" dirty="0"/>
                        <a:t> </a:t>
                      </a:r>
                      <a:r>
                        <a:rPr sz="1300" b="1" dirty="0" err="1"/>
                        <a:t>비교</a:t>
                      </a:r>
                      <a:endParaRPr sz="13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/>
                        <a:t>데이터</a:t>
                      </a:r>
                      <a:r>
                        <a:rPr sz="1300" b="1" dirty="0"/>
                        <a:t> / </a:t>
                      </a:r>
                      <a:r>
                        <a:rPr sz="1300" b="1" dirty="0" err="1"/>
                        <a:t>가정</a:t>
                      </a:r>
                      <a:endParaRPr sz="13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정의</a:t>
                      </a:r>
                      <a:endParaRPr sz="13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t-검정 (Student's / Welch's)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두 그룹 평균 차이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연속형, 정규분포 가정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t = (x̄₁−x̄₂) / SE, df 기반 t-분포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F-검정 (ANOVA / 분산비)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3개↑ 그룹 평균 또는 두 분산 비교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연속형, 정규분포 가정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F = MSᵦ / MSw (ANOVA), F-분포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Mann-Whitney 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두 그룹 분포(순위) 차이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연속형/순서형, 비모수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U = R₁ − n₁(n₁+1)/2, 정규근사/정확분포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Fisher's exact 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2×2 범주형 비율 차이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범주형, 소표본 exact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초기하분포(hypergeometric) 기반 정확확률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Permutation test (RMSD)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곡선 전체 형태 차이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곡선/벡터, 분포가정 없음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관측 RMSD ≥ 라벨 셔플(2,000회) 귀무분포 비율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McNemar 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동일 대상 전/후 이진결과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paired binary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χ² = (b−c)² / (b+c), 1자유도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DeLong 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상관된 두 ROC AUC 비교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ROC / 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공분산 구조 기반 비모수 검정통계량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BH-FDR q-value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다중비교 시 p-value 보정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p-value 집합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qᵢ = pᵢ × m / i (오름차순 정렬)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Non-inferiority 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사전정의 마진 내 열등 아님 검증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편측 검정, margin 필요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(차이−margin)의 (1−α)% CI 하한 ≥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6011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1A4B9BE-6ABB-4644-A858-A1BE01A7D227}">
  <we:reference id="wa200010725" version="1.0.0.1" store="ko-KR" storeType="OMEX"/>
  <we:alternateReferences>
    <we:reference id="WA200010725" version="1.0.0.1" store="WA200010725" storeType="OMEX"/>
  </we:alternateReferences>
  <we:properties>
    <we:property name="claude.fileId" value="&quot;b67ecc52-606c-4d9b-921c-389ac737e61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6230</TotalTime>
  <Words>2457</Words>
  <Application>Microsoft Office PowerPoint</Application>
  <PresentationFormat>와이드스크린</PresentationFormat>
  <Paragraphs>230</Paragraphs>
  <Slides>22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6" baseType="lpstr">
      <vt:lpstr>KoPub돋움체 Bold</vt:lpstr>
      <vt:lpstr>Arial</vt:lpstr>
      <vt:lpstr>KoPub돋움체 Medium</vt:lpstr>
      <vt:lpstr>Office 테마</vt:lpstr>
      <vt:lpstr>PowerPoint 프레젠테이션</vt:lpstr>
      <vt:lpstr>Reference Papers – 2 stage work flow</vt:lpstr>
      <vt:lpstr>Reference Papers - AEC 층화 분석 설계</vt:lpstr>
      <vt:lpstr>Reference Papers - 전체 영역(Volumetric) 체성분 지표</vt:lpstr>
      <vt:lpstr>Research Workflow</vt:lpstr>
      <vt:lpstr>Research Summary</vt:lpstr>
      <vt:lpstr>Detailed progress</vt:lpstr>
      <vt:lpstr>Detailed progress</vt:lpstr>
      <vt:lpstr>Detailed progress</vt:lpstr>
      <vt:lpstr>Detailed progress</vt:lpstr>
      <vt:lpstr>Detailed progress</vt:lpstr>
      <vt:lpstr>Detailed progress</vt:lpstr>
      <vt:lpstr>Detailed progress</vt:lpstr>
      <vt:lpstr>Conclusion</vt:lpstr>
      <vt:lpstr>PowerPoint 프레젠테이션</vt:lpstr>
      <vt:lpstr>Appendix</vt:lpstr>
      <vt:lpstr>Appendix</vt:lpstr>
      <vt:lpstr>Appendix</vt:lpstr>
      <vt:lpstr>Appendix</vt:lpstr>
      <vt:lpstr>Appendix</vt:lpstr>
      <vt:lpstr>Appendix</vt:lpstr>
      <vt:lpstr>Appendix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592</cp:revision>
  <dcterms:created xsi:type="dcterms:W3CDTF">2026-04-09T07:05:16Z</dcterms:created>
  <dcterms:modified xsi:type="dcterms:W3CDTF">2026-07-29T05:58:43Z</dcterms:modified>
</cp:coreProperties>
</file>