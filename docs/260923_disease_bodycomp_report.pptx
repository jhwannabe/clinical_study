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0" r:id="rId4"/>
    <p:sldId id="297" r:id="rId5"/>
    <p:sldId id="304" r:id="rId6"/>
    <p:sldId id="298" r:id="rId7"/>
    <p:sldId id="303" r:id="rId8"/>
    <p:sldId id="281" r:id="rId9"/>
    <p:sldId id="282" r:id="rId10"/>
    <p:sldId id="262" r:id="rId11"/>
    <p:sldId id="283" r:id="rId12"/>
    <p:sldId id="284" r:id="rId13"/>
    <p:sldId id="265" r:id="rId14"/>
    <p:sldId id="285" r:id="rId15"/>
    <p:sldId id="286" r:id="rId16"/>
    <p:sldId id="287" r:id="rId17"/>
    <p:sldId id="288" r:id="rId18"/>
    <p:sldId id="270" r:id="rId19"/>
    <p:sldId id="289" r:id="rId20"/>
    <p:sldId id="290" r:id="rId21"/>
    <p:sldId id="291" r:id="rId22"/>
    <p:sldId id="299" r:id="rId23"/>
    <p:sldId id="300" r:id="rId24"/>
    <p:sldId id="301" r:id="rId25"/>
    <p:sldId id="302" r:id="rId26"/>
    <p:sldId id="293" r:id="rId27"/>
    <p:sldId id="292" r:id="rId28"/>
    <p:sldId id="294" r:id="rId29"/>
    <p:sldId id="295" r:id="rId30"/>
    <p:sldId id="296" r:id="rId31"/>
    <p:sldId id="279" r:id="rId32"/>
  </p:sldIdLst>
  <p:sldSz cx="12192000" cy="6858000"/>
  <p:notesSz cx="6858000" cy="9144000"/>
  <p:embeddedFontLst>
    <p:embeddedFont>
      <p:font typeface="KoPub돋움체 Bold" panose="00000800000000000000" pitchFamily="2" charset="-127"/>
      <p:bold r:id="rId34"/>
    </p:embeddedFont>
    <p:embeddedFont>
      <p:font typeface="KoPub돋움체 Medium" panose="00000600000000000000" pitchFamily="2" charset="-127"/>
      <p:regular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280"/>
            <p14:sldId id="297"/>
            <p14:sldId id="304"/>
            <p14:sldId id="298"/>
            <p14:sldId id="303"/>
            <p14:sldId id="281"/>
            <p14:sldId id="282"/>
            <p14:sldId id="262"/>
            <p14:sldId id="283"/>
            <p14:sldId id="284"/>
            <p14:sldId id="265"/>
            <p14:sldId id="285"/>
            <p14:sldId id="286"/>
            <p14:sldId id="287"/>
            <p14:sldId id="288"/>
            <p14:sldId id="270"/>
            <p14:sldId id="289"/>
            <p14:sldId id="290"/>
            <p14:sldId id="291"/>
            <p14:sldId id="299"/>
            <p14:sldId id="300"/>
            <p14:sldId id="301"/>
            <p14:sldId id="302"/>
            <p14:sldId id="293"/>
            <p14:sldId id="292"/>
            <p14:sldId id="294"/>
            <p14:sldId id="295"/>
            <p14:sldId id="296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연구미팅용 발표자료. 0910 체성분 개별변수 vs AEC 성능비교 결과 발표 — 배경(AEC 신호 부재)→방법→결과→논의 순으로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9672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bg1"/>
                </a:solidFill>
              </a:rPr>
              <a:t>Clinic4 Baseline Logistic Regression (Gangnam)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</a:t>
            </a:r>
            <a:r>
              <a:rPr lang="en-US" sz="1600" dirty="0">
                <a:solidFill>
                  <a:schemeClr val="bg1"/>
                </a:solidFill>
              </a:rPr>
              <a:t>09</a:t>
            </a:r>
            <a:r>
              <a:rPr sz="1600" dirty="0">
                <a:solidFill>
                  <a:schemeClr val="bg1"/>
                </a:solidFill>
              </a:rPr>
              <a:t>. 2</a:t>
            </a:r>
            <a:r>
              <a:rPr lang="en-US" sz="1600" dirty="0">
                <a:solidFill>
                  <a:schemeClr val="bg1"/>
                </a:solidFill>
              </a:rPr>
              <a:t>3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Methods — 데이터와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896112"/>
            <a:ext cx="11173968" cy="5065776"/>
          </a:xfrm>
        </p:spPr>
        <p:txBody>
          <a:bodyPr wrap="square">
            <a:normAutofit lnSpcReduction="10000"/>
          </a:bodyPr>
          <a:lstStyle/>
          <a:p>
            <a:r>
              <a:rPr sz="1500"/>
              <a:t>Cohort: Internal(Gangnam) 개발·내부검증, External(Sinchon, New10000) 외부검증 — New10000은 CKD 컬럼이 없어 HTN/DM만 검증</a:t>
            </a:r>
          </a:p>
          <a:p>
            <a:r>
              <a:rPr sz="1500"/>
              <a:t>Input: Clinic4 = Sex(M/F) + Age + Height + Weight. age/height/weight는 Gangnam에서 fit한 StandardScaler로 표준화하고 외부 코호트에는 그대로 적용(재적합 없음)</a:t>
            </a:r>
          </a:p>
          <a:p>
            <a:r>
              <a:rPr sz="1500"/>
              <a:t>Model: L1/L2 정규화 로지스틱 회귀. 질병 라벨로 stratify한 patient-level train:valid:test = 7:1:2, 하이퍼파라미터(C, penalty)는 valid AUC 기준 GridSearchCV로 선택</a:t>
            </a:r>
          </a:p>
          <a:p>
            <a:r>
              <a:rPr sz="1500"/>
              <a:t>Threshold: valid ROC에서 Youden index(J = Se + Sp - 1)가 최대인 지점을 cutoff로 사용. 외부검증에는 Gangnam(train+valid)에서 고정한 cutoff를 그대로 적용한다(코호트마다 다시 고르면 낙관적 편향)</a:t>
            </a:r>
          </a:p>
          <a:p>
            <a:r>
              <a:rPr sz="1500"/>
              <a:t>External validation: train+valid로 재학습한 frozen 모델을 외부 코호트에 그대로 적용</a:t>
            </a:r>
          </a:p>
          <a:p>
            <a:r>
              <a:rPr sz="1500"/>
              <a:t>Sampling: 원본 유병률 그대로와 질병별 1:1 언더샘플링 두 설정을 모두 산출해 나란히 보고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985C10-DBE9-E529-F106-B74D6042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762D-B24F-8B9C-F50C-84637B8C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1E01-8598-F7B5-7031-CED8D84E4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1. 코호트별 데이터 분포 (연속형 mean ± SD, 범주형 n (%))</a:t>
            </a:r>
            <a:endParaRPr dirty="0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93E91089-1FFB-5D82-ACF2-876E9F47F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54479"/>
              </p:ext>
            </p:extLst>
          </p:nvPr>
        </p:nvGraphicFramePr>
        <p:xfrm>
          <a:off x="512064" y="978408"/>
          <a:ext cx="11173965" cy="51889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Characteristic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6938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(Male), 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475 (37.7%)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547 (48.7%)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3501 (50.5%)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57.3 ± 12.1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59.7 ± 12.3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55.5 ± 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162.8 ± 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163.7 ±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164.1 ± 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62.0 ± 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62.4 ± 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63.4 ± 10.9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23.3 ± 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23.2 ± 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23.4 ± 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6873.5 ± 1562.8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6661.3 ± 1639.9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5168.3 ± 1659.9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8486.2 ± 5165.1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9096.4 ± 5280.4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6374.2 ± 4110.4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19243.6 ± 7914.4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17914.4 ± 8631.1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12437.5 ± 6086.0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IMATA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1175.5 ± 576.0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1224.9 ± 617.6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746.1 ± 403.0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14279.5 ± 4408.5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12931.5 ± 4709.8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10776.9 ± 4250.5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4127.4 ± 1962.2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5093.2 ± 2123.8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3294.7 ± 1600.5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18406.9 ± 5171.0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18024.7 ± 5311.8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14071.6 ± 5156.8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HTN, 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386 (30.6%)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507 (45.1%)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1358 (19.6%)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DM, 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233 (18.5%)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335 (29.8%)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742 (10.7%)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449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CKD, 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105 (8.3%)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188 (16.7%)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59F9F7-2EDD-931B-413B-F3219A83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430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0564-0679-2022-D0AC-B574FFAB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7F96-6CDB-4C7B-A8F4-CA2C6485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Result. </a:t>
            </a:r>
            <a:r>
              <a:rPr lang="ko-KR" altLang="en-US" dirty="0"/>
              <a:t>전체 모델 </a:t>
            </a:r>
            <a:r>
              <a:rPr lang="en-US" altLang="ko-KR" dirty="0"/>
              <a:t>AUC </a:t>
            </a:r>
            <a:r>
              <a:rPr lang="ko-KR" altLang="en-US" dirty="0"/>
              <a:t>종합 </a:t>
            </a:r>
            <a:r>
              <a:rPr lang="en-US" altLang="ko-KR" dirty="0"/>
              <a:t>(</a:t>
            </a:r>
            <a:r>
              <a:rPr lang="ko-KR" altLang="en-US" dirty="0"/>
              <a:t>원본 유병률</a:t>
            </a:r>
            <a:r>
              <a:rPr lang="en-US" altLang="ko-KR" dirty="0"/>
              <a:t>) — Baseline </a:t>
            </a:r>
            <a:r>
              <a:rPr lang="ko-KR" altLang="en-US" dirty="0"/>
              <a:t>대비 </a:t>
            </a:r>
            <a:r>
              <a:rPr lang="en-US" altLang="ko-KR" dirty="0"/>
              <a:t>DeLong * p&lt;0.05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08281EE0-A559-8493-221D-57986C364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327792"/>
              </p:ext>
            </p:extLst>
          </p:nvPr>
        </p:nvGraphicFramePr>
        <p:xfrm>
          <a:off x="1129030" y="978408"/>
          <a:ext cx="9933939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Di</a:t>
                      </a:r>
                      <a:r>
                        <a:rPr lang="en-US" sz="1200" b="1" dirty="0"/>
                        <a:t>s</a:t>
                      </a:r>
                      <a:r>
                        <a:rPr sz="1200" b="1" dirty="0"/>
                        <a:t>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</a:t>
                      </a:r>
                      <a:r>
                        <a:rPr sz="1200" b="1" dirty="0" err="1"/>
                        <a:t>FPCA+Ratio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</a:t>
                      </a:r>
                      <a:r>
                        <a:rPr sz="1200" b="1" dirty="0" err="1"/>
                        <a:t>체성분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고혈압</a:t>
                      </a:r>
                      <a:r>
                        <a:rPr sz="1200" b="0" dirty="0"/>
                        <a:t>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0.736*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0.677*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0.676*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만성신장질환</a:t>
                      </a:r>
                      <a:r>
                        <a:rPr sz="1200" b="0" dirty="0"/>
                        <a:t>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0.684*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0.670*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44CEF-F2AE-2D35-7E03-BC25B874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48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dirty="0"/>
              <a:t>Result</a:t>
            </a:r>
            <a:r>
              <a:rPr dirty="0"/>
              <a:t>. </a:t>
            </a:r>
            <a:r>
              <a:rPr dirty="0" err="1"/>
              <a:t>체성분</a:t>
            </a:r>
            <a:r>
              <a:rPr dirty="0"/>
              <a:t> </a:t>
            </a:r>
            <a:r>
              <a:rPr dirty="0" err="1"/>
              <a:t>단일부위</a:t>
            </a:r>
            <a:r>
              <a:rPr dirty="0"/>
              <a:t>/</a:t>
            </a:r>
            <a:r>
              <a:rPr dirty="0" err="1"/>
              <a:t>조합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— AEC </a:t>
            </a:r>
            <a:r>
              <a:rPr dirty="0" err="1"/>
              <a:t>제외</a:t>
            </a:r>
            <a:r>
              <a:rPr dirty="0"/>
              <a:t> (AUC,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유병률</a:t>
            </a:r>
            <a:r>
              <a:rPr dirty="0"/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686575"/>
              </p:ext>
            </p:extLst>
          </p:nvPr>
        </p:nvGraphicFramePr>
        <p:xfrm>
          <a:off x="246829" y="978408"/>
          <a:ext cx="11698342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82240904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IMATA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VAT+SAT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VAT+SAT+VSR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2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C742-4238-863E-B52F-836D503E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F7EAE-045D-A5A4-179C-F8EC8921A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Result. </a:t>
            </a:r>
            <a:r>
              <a:rPr lang="ko-KR" altLang="en-US" dirty="0"/>
              <a:t>전체 모델 </a:t>
            </a:r>
            <a:r>
              <a:rPr lang="en-US" altLang="ko-KR" dirty="0"/>
              <a:t>AUC </a:t>
            </a:r>
            <a:r>
              <a:rPr lang="ko-KR" altLang="en-US" dirty="0"/>
              <a:t>종합 </a:t>
            </a:r>
            <a:r>
              <a:rPr lang="en-US" altLang="ko-KR" dirty="0"/>
              <a:t>(1:1 Balanced) — Baseline </a:t>
            </a:r>
            <a:r>
              <a:rPr lang="ko-KR" altLang="en-US" dirty="0"/>
              <a:t>대비 </a:t>
            </a:r>
            <a:r>
              <a:rPr lang="en-US" altLang="ko-KR" dirty="0"/>
              <a:t>DeLong * p&lt;0.05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D202FAC9-7E7D-9A9A-203E-AE524E991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65519"/>
              </p:ext>
            </p:extLst>
          </p:nvPr>
        </p:nvGraphicFramePr>
        <p:xfrm>
          <a:off x="1129030" y="978408"/>
          <a:ext cx="9933939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</a:t>
                      </a:r>
                      <a:r>
                        <a:rPr sz="1200" b="1" dirty="0" err="1"/>
                        <a:t>FPCA+Ratio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</a:t>
                      </a:r>
                      <a:r>
                        <a:rPr sz="1200" b="1" dirty="0" err="1"/>
                        <a:t>체성분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0.664*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DCEE60-8229-B8B3-8CE0-4CADEA84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838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dirty="0"/>
              <a:t>Result.</a:t>
            </a:r>
            <a:r>
              <a:rPr dirty="0"/>
              <a:t> </a:t>
            </a:r>
            <a:r>
              <a:rPr dirty="0" err="1"/>
              <a:t>체성분</a:t>
            </a:r>
            <a:r>
              <a:rPr dirty="0"/>
              <a:t> </a:t>
            </a:r>
            <a:r>
              <a:rPr dirty="0" err="1"/>
              <a:t>단일부위</a:t>
            </a:r>
            <a:r>
              <a:rPr dirty="0"/>
              <a:t>/</a:t>
            </a:r>
            <a:r>
              <a:rPr dirty="0" err="1"/>
              <a:t>조합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— AEC </a:t>
            </a:r>
            <a:r>
              <a:rPr dirty="0" err="1"/>
              <a:t>제외</a:t>
            </a:r>
            <a:r>
              <a:rPr dirty="0"/>
              <a:t> (AUC, 1:1 Balanced)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324475"/>
              </p:ext>
            </p:extLst>
          </p:nvPr>
        </p:nvGraphicFramePr>
        <p:xfrm>
          <a:off x="246829" y="978408"/>
          <a:ext cx="11698342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600966906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IMATA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VAT+SAT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VAT+SAT+VSR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00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52B15-3913-CFB5-2812-27D923CF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DB85-2A07-F5BC-B748-8A35D286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2. Baseline Optimized Parameters &amp; AUC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0BE34556-C4ED-866F-4715-97333C09C86E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Best C (penalty)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Valid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252 (77)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100 (l2)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 (506)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6909 (1347)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252 (47)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 (335)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6909 (739)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252 (21)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 (l2)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 (188)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9ABC37-0010-FA28-B96B-DA388838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0017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6FFE-AD28-98DF-A0BA-2240CC44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4A2F-B820-9993-AC62-45E33912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3. Baseline Sensitivity / Specificity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0DC37342-813E-3A0F-162C-776BB816D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97834"/>
              </p:ext>
            </p:extLst>
          </p:nvPr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Prevalence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30.6%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45.1%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29.8%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0329E0-1348-3A89-1742-A6F73674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69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Methods — 1:1 Balanced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896112"/>
            <a:ext cx="11173968" cy="5065776"/>
          </a:xfrm>
        </p:spPr>
        <p:txBody>
          <a:bodyPr wrap="square"/>
          <a:lstStyle/>
          <a:p>
            <a:r>
              <a:rPr sz="1500" dirty="0" err="1"/>
              <a:t>질병별로</a:t>
            </a:r>
            <a:r>
              <a:rPr sz="1500" dirty="0"/>
              <a:t> </a:t>
            </a:r>
            <a:r>
              <a:rPr sz="1500" dirty="0" err="1"/>
              <a:t>양성</a:t>
            </a:r>
            <a:r>
              <a:rPr sz="1500" dirty="0"/>
              <a:t> </a:t>
            </a:r>
            <a:r>
              <a:rPr sz="1500" dirty="0" err="1"/>
              <a:t>표본</a:t>
            </a:r>
            <a:r>
              <a:rPr sz="1500" dirty="0"/>
              <a:t> 100% + </a:t>
            </a:r>
            <a:r>
              <a:rPr sz="1500" dirty="0" err="1"/>
              <a:t>음성</a:t>
            </a:r>
            <a:r>
              <a:rPr sz="1500" dirty="0"/>
              <a:t> </a:t>
            </a:r>
            <a:r>
              <a:rPr sz="1500" dirty="0" err="1"/>
              <a:t>표본을</a:t>
            </a:r>
            <a:r>
              <a:rPr sz="1500" dirty="0"/>
              <a:t> </a:t>
            </a:r>
            <a:r>
              <a:rPr sz="1500" dirty="0" err="1"/>
              <a:t>양성</a:t>
            </a:r>
            <a:r>
              <a:rPr sz="1500" dirty="0"/>
              <a:t> </a:t>
            </a:r>
            <a:r>
              <a:rPr sz="1500" dirty="0" err="1"/>
              <a:t>개수만큼</a:t>
            </a:r>
            <a:r>
              <a:rPr sz="1500" dirty="0"/>
              <a:t> </a:t>
            </a:r>
            <a:r>
              <a:rPr sz="1500" dirty="0" err="1"/>
              <a:t>무작위</a:t>
            </a:r>
            <a:r>
              <a:rPr sz="1500" dirty="0"/>
              <a:t> </a:t>
            </a:r>
            <a:r>
              <a:rPr sz="1500" dirty="0" err="1"/>
              <a:t>언더샘플링해</a:t>
            </a:r>
            <a:r>
              <a:rPr sz="1500" dirty="0"/>
              <a:t> 1:1 </a:t>
            </a:r>
            <a:r>
              <a:rPr sz="1500" dirty="0" err="1"/>
              <a:t>부분집합을</a:t>
            </a:r>
            <a:r>
              <a:rPr sz="1500" dirty="0"/>
              <a:t> </a:t>
            </a:r>
            <a:r>
              <a:rPr sz="1500" dirty="0" err="1"/>
              <a:t>만들고</a:t>
            </a:r>
            <a:r>
              <a:rPr sz="1500" dirty="0"/>
              <a:t>, 그 </a:t>
            </a:r>
            <a:r>
              <a:rPr sz="1500" dirty="0" err="1"/>
              <a:t>부분집합에서</a:t>
            </a:r>
            <a:r>
              <a:rPr sz="1500" dirty="0"/>
              <a:t> </a:t>
            </a:r>
            <a:r>
              <a:rPr sz="1500" dirty="0" err="1"/>
              <a:t>다시</a:t>
            </a:r>
            <a:r>
              <a:rPr sz="1500" dirty="0"/>
              <a:t> </a:t>
            </a:r>
            <a:r>
              <a:rPr sz="1500" dirty="0" err="1"/>
              <a:t>train:valid:test</a:t>
            </a:r>
            <a:r>
              <a:rPr sz="1500" dirty="0"/>
              <a:t> = 7:1:2로 </a:t>
            </a:r>
            <a:r>
              <a:rPr sz="1500" dirty="0" err="1"/>
              <a:t>재분할한다</a:t>
            </a:r>
            <a:endParaRPr sz="1500" dirty="0"/>
          </a:p>
          <a:p>
            <a:r>
              <a:rPr sz="1500" dirty="0" err="1"/>
              <a:t>질병마다</a:t>
            </a:r>
            <a:r>
              <a:rPr sz="1500" dirty="0"/>
              <a:t> </a:t>
            </a:r>
            <a:r>
              <a:rPr sz="1500" dirty="0" err="1"/>
              <a:t>유병률이</a:t>
            </a:r>
            <a:r>
              <a:rPr sz="1500" dirty="0"/>
              <a:t> </a:t>
            </a:r>
            <a:r>
              <a:rPr sz="1500" dirty="0" err="1"/>
              <a:t>달라</a:t>
            </a:r>
            <a:r>
              <a:rPr sz="1500" dirty="0"/>
              <a:t> </a:t>
            </a:r>
            <a:r>
              <a:rPr sz="1500" dirty="0" err="1"/>
              <a:t>split을</a:t>
            </a:r>
            <a:r>
              <a:rPr sz="1500" dirty="0"/>
              <a:t> </a:t>
            </a:r>
            <a:r>
              <a:rPr sz="1500" dirty="0" err="1"/>
              <a:t>공유하지</a:t>
            </a:r>
            <a:r>
              <a:rPr sz="1500" dirty="0"/>
              <a:t> </a:t>
            </a:r>
            <a:r>
              <a:rPr sz="1500" dirty="0" err="1"/>
              <a:t>않고</a:t>
            </a:r>
            <a:r>
              <a:rPr sz="1500" dirty="0"/>
              <a:t> </a:t>
            </a:r>
            <a:r>
              <a:rPr sz="1500" dirty="0" err="1"/>
              <a:t>질병별로</a:t>
            </a:r>
            <a:r>
              <a:rPr sz="1500" dirty="0"/>
              <a:t> </a:t>
            </a:r>
            <a:r>
              <a:rPr sz="1500" dirty="0" err="1"/>
              <a:t>따로</a:t>
            </a:r>
            <a:r>
              <a:rPr sz="1500" dirty="0"/>
              <a:t> </a:t>
            </a:r>
            <a:r>
              <a:rPr sz="1500" dirty="0" err="1"/>
              <a:t>뽑는다</a:t>
            </a:r>
            <a:r>
              <a:rPr sz="1500" dirty="0"/>
              <a:t>(</a:t>
            </a:r>
            <a:r>
              <a:rPr sz="1500" dirty="0" err="1"/>
              <a:t>공유하면</a:t>
            </a:r>
            <a:r>
              <a:rPr sz="1500" dirty="0"/>
              <a:t> </a:t>
            </a:r>
            <a:r>
              <a:rPr sz="1500" dirty="0" err="1"/>
              <a:t>다른</a:t>
            </a:r>
            <a:r>
              <a:rPr sz="1500" dirty="0"/>
              <a:t> </a:t>
            </a:r>
            <a:r>
              <a:rPr sz="1500" dirty="0" err="1"/>
              <a:t>질병의</a:t>
            </a:r>
            <a:r>
              <a:rPr sz="1500" dirty="0"/>
              <a:t> </a:t>
            </a:r>
            <a:r>
              <a:rPr sz="1500" dirty="0" err="1"/>
              <a:t>stratify가</a:t>
            </a:r>
            <a:r>
              <a:rPr sz="1500" dirty="0"/>
              <a:t> </a:t>
            </a:r>
            <a:r>
              <a:rPr sz="1500" dirty="0" err="1"/>
              <a:t>깨짐</a:t>
            </a:r>
            <a:r>
              <a:rPr sz="1500" dirty="0"/>
              <a:t>)</a:t>
            </a:r>
          </a:p>
          <a:p>
            <a:r>
              <a:rPr sz="1500" dirty="0" err="1"/>
              <a:t>외부검증</a:t>
            </a:r>
            <a:r>
              <a:rPr sz="1500" dirty="0"/>
              <a:t>(Sinchon/New10000)도 각 </a:t>
            </a:r>
            <a:r>
              <a:rPr sz="1500" dirty="0" err="1"/>
              <a:t>코호트</a:t>
            </a:r>
            <a:r>
              <a:rPr sz="1500" dirty="0"/>
              <a:t> </a:t>
            </a:r>
            <a:r>
              <a:rPr sz="1500" dirty="0" err="1"/>
              <a:t>안에서</a:t>
            </a:r>
            <a:r>
              <a:rPr sz="1500" dirty="0"/>
              <a:t> </a:t>
            </a:r>
            <a:r>
              <a:rPr sz="1500" dirty="0" err="1"/>
              <a:t>동일하게</a:t>
            </a:r>
            <a:r>
              <a:rPr sz="1500" dirty="0"/>
              <a:t> 1:1 </a:t>
            </a:r>
            <a:r>
              <a:rPr sz="1500" dirty="0" err="1"/>
              <a:t>부분집합을</a:t>
            </a:r>
            <a:r>
              <a:rPr sz="1500" dirty="0"/>
              <a:t> </a:t>
            </a:r>
            <a:r>
              <a:rPr sz="1500" dirty="0" err="1"/>
              <a:t>만들어</a:t>
            </a:r>
            <a:r>
              <a:rPr sz="1500" dirty="0"/>
              <a:t> </a:t>
            </a:r>
            <a:r>
              <a:rPr sz="1500" dirty="0" err="1"/>
              <a:t>평가한다</a:t>
            </a:r>
            <a:endParaRPr sz="1500" dirty="0"/>
          </a:p>
          <a:p>
            <a:r>
              <a:rPr sz="1500" dirty="0" err="1"/>
              <a:t>목적</a:t>
            </a:r>
            <a:r>
              <a:rPr sz="1500" dirty="0"/>
              <a:t>: </a:t>
            </a:r>
            <a:r>
              <a:rPr sz="1500" dirty="0" err="1"/>
              <a:t>양성</a:t>
            </a:r>
            <a:r>
              <a:rPr sz="1500" dirty="0"/>
              <a:t> </a:t>
            </a:r>
            <a:r>
              <a:rPr sz="1500" dirty="0" err="1"/>
              <a:t>표본이</a:t>
            </a:r>
            <a:r>
              <a:rPr sz="1500" dirty="0"/>
              <a:t> </a:t>
            </a:r>
            <a:r>
              <a:rPr sz="1500" dirty="0" err="1"/>
              <a:t>수십</a:t>
            </a:r>
            <a:r>
              <a:rPr sz="1500" dirty="0"/>
              <a:t> 명 </a:t>
            </a:r>
            <a:r>
              <a:rPr sz="1500" dirty="0" err="1"/>
              <a:t>수준인</a:t>
            </a:r>
            <a:r>
              <a:rPr sz="1500" dirty="0"/>
              <a:t> </a:t>
            </a:r>
            <a:r>
              <a:rPr sz="1500" dirty="0" err="1"/>
              <a:t>질환</a:t>
            </a:r>
            <a:r>
              <a:rPr sz="1500" dirty="0"/>
              <a:t>(CKD </a:t>
            </a:r>
            <a:r>
              <a:rPr sz="1500" dirty="0" err="1"/>
              <a:t>내부</a:t>
            </a:r>
            <a:r>
              <a:rPr sz="1500" dirty="0"/>
              <a:t> n=21)</a:t>
            </a:r>
            <a:r>
              <a:rPr sz="1500" dirty="0" err="1"/>
              <a:t>에서</a:t>
            </a:r>
            <a:r>
              <a:rPr sz="1500" dirty="0"/>
              <a:t> </a:t>
            </a:r>
            <a:r>
              <a:rPr sz="1500" dirty="0" err="1"/>
              <a:t>다수</a:t>
            </a:r>
            <a:r>
              <a:rPr sz="1500" dirty="0"/>
              <a:t> </a:t>
            </a:r>
            <a:r>
              <a:rPr sz="1500" dirty="0" err="1"/>
              <a:t>클래스가</a:t>
            </a:r>
            <a:r>
              <a:rPr sz="1500" dirty="0"/>
              <a:t> </a:t>
            </a:r>
            <a:r>
              <a:rPr sz="1500" dirty="0" err="1"/>
              <a:t>계수</a:t>
            </a:r>
            <a:r>
              <a:rPr sz="1500" dirty="0"/>
              <a:t> </a:t>
            </a:r>
            <a:r>
              <a:rPr sz="1500" dirty="0" err="1"/>
              <a:t>추정을</a:t>
            </a:r>
            <a:r>
              <a:rPr sz="1500" dirty="0"/>
              <a:t> </a:t>
            </a:r>
            <a:r>
              <a:rPr sz="1500" dirty="0" err="1"/>
              <a:t>지배하는</a:t>
            </a:r>
            <a:r>
              <a:rPr sz="1500" dirty="0"/>
              <a:t> </a:t>
            </a:r>
            <a:r>
              <a:rPr sz="1500" dirty="0" err="1"/>
              <a:t>것을</a:t>
            </a:r>
            <a:r>
              <a:rPr sz="1500" dirty="0"/>
              <a:t> </a:t>
            </a:r>
            <a:r>
              <a:rPr sz="1500" dirty="0" err="1"/>
              <a:t>줄이고</a:t>
            </a:r>
            <a:r>
              <a:rPr sz="1500" dirty="0"/>
              <a:t>, </a:t>
            </a:r>
            <a:r>
              <a:rPr sz="1500" dirty="0" err="1"/>
              <a:t>유병률이</a:t>
            </a:r>
            <a:r>
              <a:rPr sz="1500" dirty="0"/>
              <a:t> </a:t>
            </a:r>
            <a:r>
              <a:rPr sz="1500" dirty="0" err="1"/>
              <a:t>서로</a:t>
            </a:r>
            <a:r>
              <a:rPr sz="1500" dirty="0"/>
              <a:t> </a:t>
            </a:r>
            <a:r>
              <a:rPr sz="1500" dirty="0" err="1"/>
              <a:t>다른</a:t>
            </a:r>
            <a:r>
              <a:rPr sz="1500" dirty="0"/>
              <a:t> 세 </a:t>
            </a:r>
            <a:r>
              <a:rPr sz="1500" dirty="0" err="1"/>
              <a:t>코호트를</a:t>
            </a:r>
            <a:r>
              <a:rPr sz="1500" dirty="0"/>
              <a:t> </a:t>
            </a:r>
            <a:r>
              <a:rPr sz="1500" dirty="0" err="1"/>
              <a:t>같은</a:t>
            </a:r>
            <a:r>
              <a:rPr sz="1500" dirty="0"/>
              <a:t> </a:t>
            </a:r>
            <a:r>
              <a:rPr sz="1500" dirty="0" err="1"/>
              <a:t>조건에서</a:t>
            </a:r>
            <a:r>
              <a:rPr sz="1500" dirty="0"/>
              <a:t> </a:t>
            </a:r>
            <a:r>
              <a:rPr sz="1500" dirty="0" err="1"/>
              <a:t>비교하기</a:t>
            </a:r>
            <a:r>
              <a:rPr sz="1500" dirty="0"/>
              <a:t> </a:t>
            </a:r>
            <a:r>
              <a:rPr sz="1500" dirty="0" err="1"/>
              <a:t>위함</a:t>
            </a:r>
            <a:endParaRPr sz="1500" dirty="0"/>
          </a:p>
          <a:p>
            <a:r>
              <a:rPr sz="1500" dirty="0" err="1"/>
              <a:t>Scaler와</a:t>
            </a:r>
            <a:r>
              <a:rPr sz="1500" dirty="0"/>
              <a:t> </a:t>
            </a:r>
            <a:r>
              <a:rPr sz="1500" dirty="0" err="1"/>
              <a:t>FPCA는</a:t>
            </a:r>
            <a:r>
              <a:rPr sz="1500" dirty="0"/>
              <a:t> </a:t>
            </a:r>
            <a:r>
              <a:rPr sz="1500" dirty="0" err="1"/>
              <a:t>어느</a:t>
            </a:r>
            <a:r>
              <a:rPr sz="1500" dirty="0"/>
              <a:t> </a:t>
            </a:r>
            <a:r>
              <a:rPr sz="1500" dirty="0" err="1"/>
              <a:t>설정에서도</a:t>
            </a:r>
            <a:r>
              <a:rPr sz="1500" dirty="0"/>
              <a:t> </a:t>
            </a:r>
            <a:r>
              <a:rPr sz="1500" dirty="0" err="1"/>
              <a:t>Gangnam에서</a:t>
            </a:r>
            <a:r>
              <a:rPr sz="1500" dirty="0"/>
              <a:t> 한 </a:t>
            </a:r>
            <a:r>
              <a:rPr sz="1500" dirty="0" err="1"/>
              <a:t>번만</a:t>
            </a:r>
            <a:r>
              <a:rPr sz="1500" dirty="0"/>
              <a:t> </a:t>
            </a:r>
            <a:r>
              <a:rPr sz="1500" dirty="0" err="1"/>
              <a:t>fit해</a:t>
            </a:r>
            <a:r>
              <a:rPr sz="1500" dirty="0"/>
              <a:t> </a:t>
            </a:r>
            <a:r>
              <a:rPr sz="1500" dirty="0" err="1"/>
              <a:t>외부</a:t>
            </a:r>
            <a:r>
              <a:rPr sz="1500" dirty="0"/>
              <a:t> </a:t>
            </a:r>
            <a:r>
              <a:rPr sz="1500" dirty="0" err="1"/>
              <a:t>코호트에</a:t>
            </a:r>
            <a:r>
              <a:rPr sz="1500" dirty="0"/>
              <a:t> </a:t>
            </a:r>
            <a:r>
              <a:rPr sz="1500" dirty="0" err="1"/>
              <a:t>frozen으로</a:t>
            </a:r>
            <a:r>
              <a:rPr sz="1500" dirty="0"/>
              <a:t> </a:t>
            </a:r>
            <a:r>
              <a:rPr sz="1500" dirty="0" err="1"/>
              <a:t>적용</a:t>
            </a:r>
            <a:r>
              <a:rPr sz="1500" dirty="0"/>
              <a:t>(</a:t>
            </a:r>
            <a:r>
              <a:rPr sz="1500" dirty="0" err="1"/>
              <a:t>누수</a:t>
            </a:r>
            <a:r>
              <a:rPr sz="1500" dirty="0"/>
              <a:t> </a:t>
            </a:r>
            <a:r>
              <a:rPr sz="1500" dirty="0" err="1"/>
              <a:t>방지</a:t>
            </a:r>
            <a:r>
              <a:rPr sz="1500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062C2-7778-AC8F-EFDA-85CB8046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4A7C-3ACE-2619-04E6-14A02DED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4317-3A9F-78B9-6BA2-BB4D2E48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4. Clinic4 Baseline 성능 (1:1 Balanced)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5CC047E9-2F4F-0415-3B2E-02409F73CBE5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Best C (penalty)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Valid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155 (77)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1014 (507)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2700 (1350)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94 (47)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670 (335)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1478 (739)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42 (21)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 (l2)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376 (188)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5D422D-4233-B3A3-4EC6-A808D8D8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19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3B74-D326-BEA3-1318-05550963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C110-41DB-61F6-48E7-D913FA881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5. Clinic4 Baseline Sensitivity / Specificity (1:1 Balanced)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C7E6204-C9A4-5689-5E96-4361DB706062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Prevalence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49.7%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4DA230-28C6-8344-F7DD-06D8887D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592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Methods — AEC 곡선 파생 (FPCA vs Upper/Lower Ratio)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896112"/>
            <a:ext cx="11173968" cy="5065776"/>
          </a:xfrm>
        </p:spPr>
        <p:txBody>
          <a:bodyPr wrap="square"/>
          <a:lstStyle/>
          <a:p>
            <a:r>
              <a:rPr sz="1500"/>
              <a:t>AEC 128구간 곡선(liver→pubis, 전처리 없음)을 두 방식으로 파생한다: FPCA(elbow로 정한 n=3)와 곡선을 앞/뒤 절반으로 나눈 구간평균의 비(Upper/Lower ratio)</a:t>
            </a:r>
          </a:p>
          <a:p>
            <a:r>
              <a:rPr sz="1500"/>
              <a:t>두 파생을 함께 넣으면 aec_uplow_ratio와 aec_fpca_pc2가 VIF&gt;10으로 겹쳐, 어느 쪽이 억눌린 계수인지 구분할 수 없다</a:t>
            </a:r>
          </a:p>
          <a:p>
            <a:r>
              <a:rPr sz="1500"/>
              <a:t>ratio를 빼고 FPCA만 남기면 전 항목 VIF&lt;2.0으로 해소되고 AUC도 ratio 포함 모델과 비슷하거나 더 높다</a:t>
            </a:r>
          </a:p>
          <a:p>
            <a:r>
              <a:rPr sz="1500"/>
              <a:t>따라서 이후 모든 확장모델은 FPCA 파생만 사용한다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2D21A-8E23-EBE1-8541-D5DE5364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38BD-1AAC-6B74-4280-C2D912EE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A469-E134-12B6-0C95-1EF2FAD3F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6. AEC 파생 변형 비교 — FPCA vs Ratio (AUC, 1:1 Balanced)</a:t>
            </a:r>
            <a:endParaRPr dirty="0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CDFF517C-1FC4-73CB-C04A-E47B24CB523B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(FPCA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(Ratio only)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DBB3FF0-AEA8-4480-2168-AA9D887A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95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F85F-070B-ACA3-668F-5FB5FAD2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DC33-3266-2A99-7682-E4C27AA2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7. Clinic4+AEC(FPCA) 곡선 계수 (Internal, * p&lt;0.05, 다중비교 보정 전)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41979992-A31B-8DB9-6878-CFD59EF7C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796394"/>
              </p:ext>
            </p:extLst>
          </p:nvPr>
        </p:nvGraphicFramePr>
        <p:xfrm>
          <a:off x="512064" y="978408"/>
          <a:ext cx="11173965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Odds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0.010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당뇨병</a:t>
                      </a:r>
                      <a:r>
                        <a:rPr sz="1200" b="0" dirty="0"/>
                        <a:t>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0.232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0.003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0.418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746157-9113-0F7D-0F28-A64BDD43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3840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AC60-AA7D-FB20-4468-2081BD4C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1105-5AD1-FAD5-30E0-101E90F8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Table 8. Clinic4 Baseline vs +AEC(FPCA) (AUC, 1:1 Balanced)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8675FA3A-E8E8-7DA1-96C6-5DE6F14F92F4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(+AEC)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Δ(AUC)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A0136C-FD27-8E2F-8C56-28FB8F72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440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598C5C-18F1-22E9-620C-4B14C2ED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831F-89E4-434F-1649-DD095755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rPr lang="en-US" altLang="ko-KR" dirty="0"/>
              <a:t>Figure 2. AEC FPCA </a:t>
            </a:r>
            <a:r>
              <a:rPr lang="ko-KR" altLang="en-US" dirty="0"/>
              <a:t>계수 </a:t>
            </a:r>
            <a:r>
              <a:rPr lang="ko-KR" altLang="en-US" dirty="0" err="1"/>
              <a:t>역변환</a:t>
            </a:r>
            <a:r>
              <a:rPr lang="ko-KR" altLang="en-US" dirty="0"/>
              <a:t> </a:t>
            </a:r>
            <a:r>
              <a:rPr lang="en-US" altLang="ko-KR" dirty="0"/>
              <a:t>— Slice</a:t>
            </a:r>
            <a:r>
              <a:rPr lang="ko-KR" altLang="en-US" dirty="0"/>
              <a:t>별 </a:t>
            </a:r>
            <a:r>
              <a:rPr lang="en-US" altLang="ko-KR" dirty="0"/>
              <a:t>logit </a:t>
            </a:r>
            <a:r>
              <a:rPr lang="ko-KR" altLang="en-US" dirty="0"/>
              <a:t>기여도</a:t>
            </a:r>
            <a:endParaRPr dirty="0"/>
          </a:p>
        </p:txBody>
      </p:sp>
      <p:pic>
        <p:nvPicPr>
          <p:cNvPr id="4" name="Picture 2" descr="fpca_recovered_curve.png">
            <a:extLst>
              <a:ext uri="{FF2B5EF4-FFF2-40B4-BE49-F238E27FC236}">
                <a16:creationId xmlns:a16="http://schemas.microsoft.com/office/drawing/2014/main" id="{B211E7BC-3AE8-2CB3-77C2-D4D5DC88D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10512"/>
            <a:ext cx="11173968" cy="380390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D060D-26E1-8A5E-388C-4EF59225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9030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Methods — 체성분 지표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896112"/>
            <a:ext cx="11173968" cy="5065776"/>
          </a:xfrm>
        </p:spPr>
        <p:txBody>
          <a:bodyPr wrap="square"/>
          <a:lstStyle/>
          <a:p>
            <a:r>
              <a:rPr sz="1500"/>
              <a:t>VAT(내장지방)/SAT(피하지방)/LAMA·NAMA(저·정상감쇠 근육)/IMATA(근육내지방) 128구간 곡선을 각각 FPCA로 압축해 입력에 추가한다(성분 수는 Kneedle/elbow로 결정: VAT 2, SAT 2, LAMA 2, NAMA 2, IMATA 3)</a:t>
            </a:r>
          </a:p>
          <a:p>
            <a:r>
              <a:rPr sz="1500"/>
              <a:t>TAMA(전체 근육)는 정의상 LAMA+NAMA와 동일해 VIF가 6만대까지 치솟는 완전 다중공선성이 발생하므로 제외한다</a:t>
            </a:r>
          </a:p>
          <a:p>
            <a:r>
              <a:rPr sz="1500"/>
              <a:t>단일 부위(VAT / LAMA / NAMA)를 하나씩 추가한 모델과, 다섯 부위를 모두 결합한 모델(+AEC+체성분)을 함께 본다</a:t>
            </a:r>
          </a:p>
          <a:p>
            <a:r>
              <a:rPr sz="1500"/>
              <a:t>+AEC+체성분(전체 결합)을 사전지정 확장모델로 두고 Baseline 대비 개선을 DeLong으로 검정한다 — 확장모델끼리는 외부 AUC 차이가 작아 사후에 최고값을 고르면 노이즈를 좇게 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42536-9375-579C-5AF5-11E2FAF4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29B0-6E68-3266-89C2-F2A4842F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B5DB-6877-4FB9-BD48-6089F1E5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Table 9. AEC+VAT vs AEC+LAMA vs AEC+NAMA (AUC, 1:1 Balanced)</a:t>
            </a:r>
            <a:endParaRPr dirty="0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8A2C937B-6D4C-F6EC-255A-872D66ABF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269196"/>
              </p:ext>
            </p:extLst>
          </p:nvPr>
        </p:nvGraphicFramePr>
        <p:xfrm>
          <a:off x="512064" y="1030659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+AEC+체성분(전체)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9EDC092-5282-3238-D5F9-18E20570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0777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29BC0-816C-5336-3D2F-EC2320E9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4535-107B-51E5-C9FF-7D51A433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Table 10. Clinic4+AEC+체성분(전체 결합) 성능 (1:1 Balanced)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E4BB483B-994C-278D-38FB-38C6F84C3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786173"/>
              </p:ext>
            </p:extLst>
          </p:nvPr>
        </p:nvGraphicFramePr>
        <p:xfrm>
          <a:off x="509016" y="1091619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Best C (penalty)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Valid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155 (77)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1014 (507)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2700 (1350)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94 (47)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670 (335)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1478 (739)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42 (21)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376 (188)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96F6F3-3D80-DC00-CC23-4F867696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6833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E4C6-45AA-E3AC-56E7-58A388FA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AF07-119F-EF0D-C17A-982875827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Table 11. Clinic4+AEC+체성분(전체 결합) Sensitivity / Specificity (1:1 Balanced)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8DE7727-FA02-43E2-68C1-47BDFD5F998E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14664-5940-D745-9141-C7AF23D0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4158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Table 12. Clinic4+체성분만(AEC 제외) 성능 (1:1 Balanced)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Best C (penalty)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Valid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155 (77)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1014 (507)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2700 (1350)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94 (47)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100 (l1)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670 (335)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1478 (739)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42 (21)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 (l2)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376 (188)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Table 13. Clinic4+체성분만(AEC 제외) Sensitivity / Specificity (1:1 Balanced)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Table 14. Clinic4 Baseline vs 체성분만(AEC 제외) (AUC, 1:1 Balanced)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(체성분만)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Δ(AUC)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(New10000)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 fontScale="90000"/>
          </a:bodyPr>
          <a:lstStyle/>
          <a:p>
            <a:r>
              <a:t>Table 15. 체성분만(AEC 제외) 유의 계수 — 질환별 p 낮은 순 상위 3개 (Internal, 보정 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Odds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1.428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-0.537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-0.616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9AF7-52F3-16B3-6DFD-EF21F149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825F-4C45-0159-D065-375B30FB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Table 18. 전체 모델 AUC 종합 (원본 유병률) — Baseline 대비 DeLong * p&lt;0.05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CB580EC5-9D83-E305-D129-3EA5CD31E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2381"/>
              </p:ext>
            </p:extLst>
          </p:nvPr>
        </p:nvGraphicFramePr>
        <p:xfrm>
          <a:off x="1129030" y="978408"/>
          <a:ext cx="9933939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br>
                        <a:rPr lang="en-US" sz="1200" b="1" dirty="0"/>
                      </a:br>
                      <a:r>
                        <a:rPr sz="1200" b="1" dirty="0"/>
                        <a:t>(</a:t>
                      </a:r>
                      <a:r>
                        <a:rPr sz="1200" b="1" dirty="0" err="1"/>
                        <a:t>FPCA+Ratio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</a:t>
                      </a:r>
                      <a:r>
                        <a:rPr lang="en-US" sz="1200" b="1" dirty="0"/>
                        <a:t>C</a:t>
                      </a:r>
                    </a:p>
                    <a:p>
                      <a:pPr algn="ctr"/>
                      <a:r>
                        <a:rPr sz="1200" b="1" dirty="0"/>
                        <a:t>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</a:t>
                      </a:r>
                      <a:r>
                        <a:rPr sz="1200" b="1" dirty="0" err="1"/>
                        <a:t>체성분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0.689*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0.670*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FCE65-5B14-50AA-11B5-74AD01C4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374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2903-01D7-27F6-C087-DECCE751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2A7F-3B65-9193-256D-8BB8A507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Table 19. 전체 모델 AUC 종합 (1:1 Balanced) — Baseline 대비 DeLong * p&lt;0.05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A97DB7DF-0A97-E6BE-901C-E1D8D219A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686798"/>
              </p:ext>
            </p:extLst>
          </p:nvPr>
        </p:nvGraphicFramePr>
        <p:xfrm>
          <a:off x="1129030" y="978408"/>
          <a:ext cx="9933939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</a:t>
                      </a:r>
                      <a:r>
                        <a:rPr sz="1200" b="1" dirty="0" err="1"/>
                        <a:t>FPCA+Ratio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</a:t>
                      </a:r>
                      <a:r>
                        <a:rPr sz="1200" b="1" dirty="0" err="1"/>
                        <a:t>체성분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0.664*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F324E3-FB5A-D9A1-E6D2-E89A1E1D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838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10B6-8C14-C60D-B02A-552EB1D6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E084-5C37-8DD5-6D2F-C6D44F02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Table 20. +AEC+체성분(전체 결합) 유의 계수 — 질환별 p 낮은 순 상위 3개 (Internal, 보정 전)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A68D191D-86D5-6926-5D0F-4BB28723B2C8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5" cy="512463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Odds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79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3.943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79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sat_fpca_pc2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-0.541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1.529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579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1.988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-0.747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8053C5-69B5-5C5E-ABBB-423FB96D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5890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081E0-902E-B20B-3281-3620A7543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B376-ADCB-89C8-F7B1-94712A5C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Table 21. 모델간 AUC 차이 유의성 — DeLong (Baseline 대비, 1:1 Balanced, * p&lt;0.05)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3AD0D114-7597-0D09-C7DA-C4995EFFF3C4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0.012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0.010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0.013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0.030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0.016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0.047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0.037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0.001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36F3A-4FE8-F9EE-1781-EC3FF795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3238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B17A-AA8F-8FE1-D093-49B82887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D7E6-A5DF-2E5D-5BBF-6B8A83E33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>
            <a:normAutofit/>
          </a:bodyPr>
          <a:lstStyle/>
          <a:p>
            <a:r>
              <a:rPr lang="en-US" altLang="ko-KR" dirty="0"/>
              <a:t>Table 22. AEC 순기여도 — 체성분만 vs +AEC+체성분 (AUC, 1:1 Balanced)</a:t>
            </a:r>
            <a:endParaRPr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B8445DE8-EDDC-4283-355E-77B4388A44FD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5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Δ(AUC)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New10000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+0.003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B6EEC-BEFB-2C03-381B-ADE92D3A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086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365760"/>
            <a:ext cx="11173968" cy="530352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896112"/>
            <a:ext cx="11173968" cy="5065776"/>
          </a:xfrm>
        </p:spPr>
        <p:txBody>
          <a:bodyPr wrap="square"/>
          <a:lstStyle/>
          <a:p>
            <a:r>
              <a:rPr sz="1500"/>
              <a:t>Clinic4(성별·나이·키·몸무게)만으로도 내부 AUC 0.761~0.794, 외부 AUC 0.600~0.722 수준의 판별력을 보인다</a:t>
            </a:r>
          </a:p>
          <a:p>
            <a:r>
              <a:rPr sz="1500"/>
              <a:t>Youden 임계값을 쓰면 원본 유병률에서도 Sensitivity 0.447~0.771 / Specificity 0.528~0.712로 균형이 잡힌다 — 0.5 고정 cutoff는 유병률이 낮은 질환에서 전원을 음성으로 분류해 Sensitivity를 0으로 무너뜨리므로 쓰지 않는다</a:t>
            </a:r>
          </a:p>
          <a:p>
            <a:r>
              <a:rPr sz="1500"/>
              <a:t>AEC 곡선은 FPCA로 압축해야 Upper/Lower ratio와의 다중공선성 없이 쓸 수 있고, HTN에서는 Baseline 대비 내부·외부 모두 유의한 AUC 개선을 준다</a:t>
            </a:r>
          </a:p>
          <a:p>
            <a:r>
              <a:rPr sz="1500"/>
              <a:t>체성분을 더한 확장모델은 Baseline 대비 개선되지만 확장모델끼리는 외부 AUC 격차가 최대 0.067로 서로 구분되지 않는다 — 단일 최고 모델을 고르기보다 확장 입력 전반의 기여로 해석해야 한다</a:t>
            </a:r>
          </a:p>
          <a:p>
            <a:r>
              <a:rPr sz="1500"/>
              <a:t>한계: 임계값은 개발 코호트에서 한 번 고정한 값이라 유병률이 다른 기관에 적용할 때는 재보정이 필요하고, 계수 p-value는 다중비교 보정 전 값이다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80880A-0D85-68F2-14F3-868DD9FF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7257</TotalTime>
  <Words>3674</Words>
  <Application>Microsoft Office PowerPoint</Application>
  <PresentationFormat>와이드스크린</PresentationFormat>
  <Paragraphs>1512</Paragraphs>
  <Slides>31</Slides>
  <Notes>1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Arial</vt:lpstr>
      <vt:lpstr>KoPub돋움체 Medium</vt:lpstr>
      <vt:lpstr>KoPub돋움체 Bold</vt:lpstr>
      <vt:lpstr>Office 테마</vt:lpstr>
      <vt:lpstr>PowerPoint 프레젠테이션</vt:lpstr>
      <vt:lpstr>Methods — 데이터와 모델</vt:lpstr>
      <vt:lpstr>Table 1. 코호트별 데이터 분포 (연속형 mean ± SD, 범주형 n (%))</vt:lpstr>
      <vt:lpstr>Result. 전체 모델 AUC 종합 (원본 유병률) — Baseline 대비 DeLong * p&lt;0.05</vt:lpstr>
      <vt:lpstr>Result. 체성분 단일부위/조합 비교 — AEC 제외 (AUC, 원본 유병률)</vt:lpstr>
      <vt:lpstr>Result. 전체 모델 AUC 종합 (1:1 Balanced) — Baseline 대비 DeLong * p&lt;0.05</vt:lpstr>
      <vt:lpstr>Result. 체성분 단일부위/조합 비교 — AEC 제외 (AUC, 1:1 Balanced)</vt:lpstr>
      <vt:lpstr>Table 2. Baseline Optimized Parameters &amp; AUC</vt:lpstr>
      <vt:lpstr>Table 3. Baseline Sensitivity / Specificity</vt:lpstr>
      <vt:lpstr>Methods — 1:1 Balanced 설계</vt:lpstr>
      <vt:lpstr>Table 4. Clinic4 Baseline 성능 (1:1 Balanced)</vt:lpstr>
      <vt:lpstr>Table 5. Clinic4 Baseline Sensitivity / Specificity (1:1 Balanced)</vt:lpstr>
      <vt:lpstr>Methods — AEC 곡선 파생 (FPCA vs Upper/Lower Ratio)</vt:lpstr>
      <vt:lpstr>Table 6. AEC 파생 변형 비교 — FPCA vs Ratio (AUC, 1:1 Balanced)</vt:lpstr>
      <vt:lpstr>Table 7. Clinic4+AEC(FPCA) 곡선 계수 (Internal, * p&lt;0.05, 다중비교 보정 전)</vt:lpstr>
      <vt:lpstr>Table 8. Clinic4 Baseline vs +AEC(FPCA) (AUC, 1:1 Balanced)</vt:lpstr>
      <vt:lpstr>Figure 2. AEC FPCA 계수 역변환 — Slice별 logit 기여도</vt:lpstr>
      <vt:lpstr>Methods — 체성분 지표 추가</vt:lpstr>
      <vt:lpstr>Table 9. AEC+VAT vs AEC+LAMA vs AEC+NAMA (AUC, 1:1 Balanced)</vt:lpstr>
      <vt:lpstr>Table 10. Clinic4+AEC+체성분(전체 결합) 성능 (1:1 Balanced)</vt:lpstr>
      <vt:lpstr>Table 11. Clinic4+AEC+체성분(전체 결합) Sensitivity / Specificity (1:1 Balanced)</vt:lpstr>
      <vt:lpstr>Table 12. Clinic4+체성분만(AEC 제외) 성능 (1:1 Balanced)</vt:lpstr>
      <vt:lpstr>Table 13. Clinic4+체성분만(AEC 제외) Sensitivity / Specificity (1:1 Balanced)</vt:lpstr>
      <vt:lpstr>Table 14. Clinic4 Baseline vs 체성분만(AEC 제외) (AUC, 1:1 Balanced)</vt:lpstr>
      <vt:lpstr>Table 15. 체성분만(AEC 제외) 유의 계수 — 질환별 p 낮은 순 상위 3개 (Internal, 보정 전)</vt:lpstr>
      <vt:lpstr>Table 18. 전체 모델 AUC 종합 (원본 유병률) — Baseline 대비 DeLong * p&lt;0.05</vt:lpstr>
      <vt:lpstr>Table 19. 전체 모델 AUC 종합 (1:1 Balanced) — Baseline 대비 DeLong * p&lt;0.05</vt:lpstr>
      <vt:lpstr>Table 20. +AEC+체성분(전체 결합) 유의 계수 — 질환별 p 낮은 순 상위 3개 (Internal, 보정 전)</vt:lpstr>
      <vt:lpstr>Table 21. 모델간 AUC 차이 유의성 — DeLong (Baseline 대비, 1:1 Balanced, * p&lt;0.05)</vt:lpstr>
      <vt:lpstr>Table 22. AEC 순기여도 — 체성분만 vs +AEC+체성분 (AUC, 1:1 Balanced)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713</cp:revision>
  <dcterms:created xsi:type="dcterms:W3CDTF">2026-04-09T07:05:16Z</dcterms:created>
  <dcterms:modified xsi:type="dcterms:W3CDTF">2026-09-23T06:25:47Z</dcterms:modified>
</cp:coreProperties>
</file>