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3"/>
  </p:notesMasterIdLst>
  <p:sldIdLst>
    <p:sldId id="256" r:id="rId2"/>
    <p:sldId id="269" r:id="rId3"/>
    <p:sldId id="257" r:id="rId4"/>
    <p:sldId id="258" r:id="rId5"/>
    <p:sldId id="260" r:id="rId6"/>
    <p:sldId id="259" r:id="rId7"/>
    <p:sldId id="265" r:id="rId8"/>
    <p:sldId id="277" r:id="rId9"/>
    <p:sldId id="270" r:id="rId10"/>
    <p:sldId id="268" r:id="rId11"/>
    <p:sldId id="487" r:id="rId12"/>
    <p:sldId id="267" r:id="rId13"/>
    <p:sldId id="262" r:id="rId14"/>
    <p:sldId id="261" r:id="rId15"/>
    <p:sldId id="266" r:id="rId16"/>
    <p:sldId id="263" r:id="rId17"/>
    <p:sldId id="264" r:id="rId18"/>
    <p:sldId id="273" r:id="rId19"/>
    <p:sldId id="278" r:id="rId20"/>
    <p:sldId id="279" r:id="rId21"/>
    <p:sldId id="488" r:id="rId22"/>
  </p:sldIdLst>
  <p:sldSz cx="12192000" cy="6858000"/>
  <p:notesSz cx="6858000" cy="9144000"/>
  <p:embeddedFontLst>
    <p:embeddedFont>
      <p:font typeface="KoPub돋움체 Bold" panose="00000800000000000000" pitchFamily="2" charset="-127"/>
      <p:bold r:id="rId24"/>
    </p:embeddedFont>
    <p:embeddedFont>
      <p:font typeface="KoPub돋움체 Medium" panose="00000600000000000000" pitchFamily="2" charset="-127"/>
      <p:regular r:id="rId25"/>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269"/>
            <p14:sldId id="257"/>
            <p14:sldId id="258"/>
            <p14:sldId id="260"/>
            <p14:sldId id="259"/>
            <p14:sldId id="265"/>
            <p14:sldId id="277"/>
            <p14:sldId id="270"/>
            <p14:sldId id="268"/>
            <p14:sldId id="487"/>
            <p14:sldId id="267"/>
            <p14:sldId id="262"/>
            <p14:sldId id="261"/>
            <p14:sldId id="266"/>
            <p14:sldId id="263"/>
            <p14:sldId id="264"/>
            <p14:sldId id="273"/>
            <p14:sldId id="278"/>
            <p14:sldId id="279"/>
            <p14:sldId id="4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152" autoAdjust="0"/>
  </p:normalViewPr>
  <p:slideViewPr>
    <p:cSldViewPr snapToGrid="0">
      <p:cViewPr varScale="1">
        <p:scale>
          <a:sx n="96" d="100"/>
          <a:sy n="96" d="100"/>
        </p:scale>
        <p:origin x="1092" y="90"/>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hoon jun" userId="056a5883350c2f5e" providerId="LiveId" clId="{6DA654A6-03B0-40F7-A259-B276216985A6}"/>
    <pc:docChg chg="undo redo custSel addSld delSld modSld sldOrd modSection">
      <pc:chgData name="janghoon jun" userId="056a5883350c2f5e" providerId="LiveId" clId="{6DA654A6-03B0-40F7-A259-B276216985A6}" dt="2026-09-10T05:04:12.456" v="4648" actId="403"/>
      <pc:docMkLst>
        <pc:docMk/>
      </pc:docMkLst>
      <pc:sldChg chg="modSp mod modNotes modNotesTx">
        <pc:chgData name="janghoon jun" userId="056a5883350c2f5e" providerId="LiveId" clId="{6DA654A6-03B0-40F7-A259-B276216985A6}" dt="2026-09-10T04:59:39.505" v="4550" actId="207"/>
        <pc:sldMkLst>
          <pc:docMk/>
          <pc:sldMk cId="0" sldId="256"/>
        </pc:sldMkLst>
        <pc:spChg chg="mod">
          <ac:chgData name="janghoon jun" userId="056a5883350c2f5e" providerId="LiveId" clId="{6DA654A6-03B0-40F7-A259-B276216985A6}" dt="2026-09-10T04:59:39.505" v="4550" actId="207"/>
          <ac:spMkLst>
            <pc:docMk/>
            <pc:sldMk cId="0" sldId="256"/>
            <ac:spMk id="2" creationId="{00000000-0000-0000-0000-000000000000}"/>
          </ac:spMkLst>
        </pc:spChg>
        <pc:spChg chg="mod">
          <ac:chgData name="janghoon jun" userId="056a5883350c2f5e" providerId="LiveId" clId="{6DA654A6-03B0-40F7-A259-B276216985A6}" dt="2026-09-10T04:59:39.505" v="4550" actId="207"/>
          <ac:spMkLst>
            <pc:docMk/>
            <pc:sldMk cId="0" sldId="256"/>
            <ac:spMk id="3" creationId="{00000000-0000-0000-0000-000000000000}"/>
          </ac:spMkLst>
        </pc:spChg>
        <pc:spChg chg="mod">
          <ac:chgData name="janghoon jun" userId="056a5883350c2f5e" providerId="LiveId" clId="{6DA654A6-03B0-40F7-A259-B276216985A6}" dt="2026-09-10T04:59:39.505" v="4550" actId="207"/>
          <ac:spMkLst>
            <pc:docMk/>
            <pc:sldMk cId="0" sldId="256"/>
            <ac:spMk id="4" creationId="{00000000-0000-0000-0000-000000000000}"/>
          </ac:spMkLst>
        </pc:spChg>
        <pc:spChg chg="mod">
          <ac:chgData name="janghoon jun" userId="056a5883350c2f5e" providerId="LiveId" clId="{6DA654A6-03B0-40F7-A259-B276216985A6}" dt="2026-09-10T04:59:39.505" v="4550" actId="207"/>
          <ac:spMkLst>
            <pc:docMk/>
            <pc:sldMk cId="0" sldId="256"/>
            <ac:spMk id="5" creationId="{00000000-0000-0000-0000-000000000000}"/>
          </ac:spMkLst>
        </pc:spChg>
      </pc:sldChg>
      <pc:sldChg chg="addSp delSp modSp mod chgLayout modNotes modNotesTx">
        <pc:chgData name="janghoon jun" userId="056a5883350c2f5e" providerId="LiveId" clId="{6DA654A6-03B0-40F7-A259-B276216985A6}" dt="2026-09-10T05:04:12.456" v="4648" actId="403"/>
        <pc:sldMkLst>
          <pc:docMk/>
          <pc:sldMk cId="0" sldId="257"/>
        </pc:sldMkLst>
        <pc:spChg chg="mod ord">
          <ac:chgData name="janghoon jun" userId="056a5883350c2f5e" providerId="LiveId" clId="{6DA654A6-03B0-40F7-A259-B276216985A6}" dt="2026-09-02T02:37:45.894" v="3728" actId="6549"/>
          <ac:spMkLst>
            <pc:docMk/>
            <pc:sldMk cId="0" sldId="257"/>
            <ac:spMk id="2" creationId="{00000000-0000-0000-0000-000000000000}"/>
          </ac:spMkLst>
        </pc:spChg>
        <pc:spChg chg="mod">
          <ac:chgData name="janghoon jun" userId="056a5883350c2f5e" providerId="LiveId" clId="{6DA654A6-03B0-40F7-A259-B276216985A6}" dt="2026-09-10T05:04:12.456" v="4648" actId="403"/>
          <ac:spMkLst>
            <pc:docMk/>
            <pc:sldMk cId="0" sldId="257"/>
            <ac:spMk id="3" creationId="{00000000-0000-0000-0000-000000000000}"/>
          </ac:spMkLst>
        </pc:spChg>
      </pc:sldChg>
      <pc:sldChg chg="modSp mod">
        <pc:chgData name="janghoon jun" userId="056a5883350c2f5e" providerId="LiveId" clId="{6DA654A6-03B0-40F7-A259-B276216985A6}" dt="2026-09-10T03:16:00.971" v="4488" actId="404"/>
        <pc:sldMkLst>
          <pc:docMk/>
          <pc:sldMk cId="0" sldId="258"/>
        </pc:sldMkLst>
        <pc:spChg chg="mod">
          <ac:chgData name="janghoon jun" userId="056a5883350c2f5e" providerId="LiveId" clId="{6DA654A6-03B0-40F7-A259-B276216985A6}" dt="2026-09-10T03:16:00.971" v="4488" actId="404"/>
          <ac:spMkLst>
            <pc:docMk/>
            <pc:sldMk cId="0" sldId="258"/>
            <ac:spMk id="3" creationId="{00000000-0000-0000-0000-000000000000}"/>
          </ac:spMkLst>
        </pc:spChg>
      </pc:sldChg>
      <pc:sldChg chg="modSp mod">
        <pc:chgData name="janghoon jun" userId="056a5883350c2f5e" providerId="LiveId" clId="{6DA654A6-03B0-40F7-A259-B276216985A6}" dt="2026-09-08T03:15:38.775" v="4423" actId="2062"/>
        <pc:sldMkLst>
          <pc:docMk/>
          <pc:sldMk cId="0" sldId="259"/>
        </pc:sldMkLst>
      </pc:sldChg>
      <pc:sldChg chg="delSp modSp del mod">
        <pc:chgData name="janghoon jun" userId="056a5883350c2f5e" providerId="LiveId" clId="{6DA654A6-03B0-40F7-A259-B276216985A6}" dt="2026-09-10T05:01:31.864" v="4601" actId="47"/>
        <pc:sldMkLst>
          <pc:docMk/>
          <pc:sldMk cId="0" sldId="261"/>
        </pc:sldMkLst>
        <pc:spChg chg="mod">
          <ac:chgData name="janghoon jun" userId="056a5883350c2f5e" providerId="LiveId" clId="{6DA654A6-03B0-40F7-A259-B276216985A6}" dt="2026-09-10T05:01:04.719" v="4595" actId="21"/>
          <ac:spMkLst>
            <pc:docMk/>
            <pc:sldMk cId="0" sldId="261"/>
            <ac:spMk id="2" creationId="{00000000-0000-0000-0000-000000000000}"/>
          </ac:spMkLst>
        </pc:spChg>
        <pc:picChg chg="del mod">
          <ac:chgData name="janghoon jun" userId="056a5883350c2f5e" providerId="LiveId" clId="{6DA654A6-03B0-40F7-A259-B276216985A6}" dt="2026-09-10T05:01:08.538" v="4597" actId="21"/>
          <ac:picMkLst>
            <pc:docMk/>
            <pc:sldMk cId="0" sldId="261"/>
            <ac:picMk id="3" creationId="{00000000-0000-0000-0000-000000000000}"/>
          </ac:picMkLst>
        </pc:picChg>
      </pc:sldChg>
      <pc:sldChg chg="delSp modSp del mod">
        <pc:chgData name="janghoon jun" userId="056a5883350c2f5e" providerId="LiveId" clId="{6DA654A6-03B0-40F7-A259-B276216985A6}" dt="2026-09-10T05:01:46.958" v="4608" actId="47"/>
        <pc:sldMkLst>
          <pc:docMk/>
          <pc:sldMk cId="0" sldId="262"/>
        </pc:sldMkLst>
        <pc:spChg chg="mod">
          <ac:chgData name="janghoon jun" userId="056a5883350c2f5e" providerId="LiveId" clId="{6DA654A6-03B0-40F7-A259-B276216985A6}" dt="2026-09-10T05:01:37.563" v="4603" actId="21"/>
          <ac:spMkLst>
            <pc:docMk/>
            <pc:sldMk cId="0" sldId="262"/>
            <ac:spMk id="2" creationId="{00000000-0000-0000-0000-000000000000}"/>
          </ac:spMkLst>
        </pc:spChg>
        <pc:picChg chg="del">
          <ac:chgData name="janghoon jun" userId="056a5883350c2f5e" providerId="LiveId" clId="{6DA654A6-03B0-40F7-A259-B276216985A6}" dt="2026-09-10T05:01:41.989" v="4605" actId="21"/>
          <ac:picMkLst>
            <pc:docMk/>
            <pc:sldMk cId="0" sldId="262"/>
            <ac:picMk id="3" creationId="{00000000-0000-0000-0000-000000000000}"/>
          </ac:picMkLst>
        </pc:picChg>
      </pc:sldChg>
      <pc:sldChg chg="delSp modSp del mod">
        <pc:chgData name="janghoon jun" userId="056a5883350c2f5e" providerId="LiveId" clId="{6DA654A6-03B0-40F7-A259-B276216985A6}" dt="2026-09-10T05:02:01.467" v="4615" actId="47"/>
        <pc:sldMkLst>
          <pc:docMk/>
          <pc:sldMk cId="0" sldId="263"/>
        </pc:sldMkLst>
        <pc:spChg chg="mod">
          <ac:chgData name="janghoon jun" userId="056a5883350c2f5e" providerId="LiveId" clId="{6DA654A6-03B0-40F7-A259-B276216985A6}" dt="2026-09-10T05:01:54.745" v="4611" actId="21"/>
          <ac:spMkLst>
            <pc:docMk/>
            <pc:sldMk cId="0" sldId="263"/>
            <ac:spMk id="2" creationId="{00000000-0000-0000-0000-000000000000}"/>
          </ac:spMkLst>
        </pc:spChg>
        <pc:picChg chg="del">
          <ac:chgData name="janghoon jun" userId="056a5883350c2f5e" providerId="LiveId" clId="{6DA654A6-03B0-40F7-A259-B276216985A6}" dt="2026-09-10T05:01:59.021" v="4613" actId="21"/>
          <ac:picMkLst>
            <pc:docMk/>
            <pc:sldMk cId="0" sldId="263"/>
            <ac:picMk id="3" creationId="{00000000-0000-0000-0000-000000000000}"/>
          </ac:picMkLst>
        </pc:picChg>
      </pc:sldChg>
      <pc:sldChg chg="delSp modSp del mod">
        <pc:chgData name="janghoon jun" userId="056a5883350c2f5e" providerId="LiveId" clId="{6DA654A6-03B0-40F7-A259-B276216985A6}" dt="2026-09-10T05:02:33.552" v="4626" actId="47"/>
        <pc:sldMkLst>
          <pc:docMk/>
          <pc:sldMk cId="0" sldId="264"/>
        </pc:sldMkLst>
        <pc:spChg chg="mod">
          <ac:chgData name="janghoon jun" userId="056a5883350c2f5e" providerId="LiveId" clId="{6DA654A6-03B0-40F7-A259-B276216985A6}" dt="2026-09-10T05:02:07.183" v="4617" actId="21"/>
          <ac:spMkLst>
            <pc:docMk/>
            <pc:sldMk cId="0" sldId="264"/>
            <ac:spMk id="2" creationId="{00000000-0000-0000-0000-000000000000}"/>
          </ac:spMkLst>
        </pc:spChg>
        <pc:picChg chg="del mod">
          <ac:chgData name="janghoon jun" userId="056a5883350c2f5e" providerId="LiveId" clId="{6DA654A6-03B0-40F7-A259-B276216985A6}" dt="2026-09-10T05:02:10.641" v="4619" actId="21"/>
          <ac:picMkLst>
            <pc:docMk/>
            <pc:sldMk cId="0" sldId="264"/>
            <ac:picMk id="3" creationId="{00000000-0000-0000-0000-000000000000}"/>
          </ac:picMkLst>
        </pc:picChg>
      </pc:sldChg>
      <pc:sldChg chg="delSp modSp del mod">
        <pc:chgData name="janghoon jun" userId="056a5883350c2f5e" providerId="LiveId" clId="{6DA654A6-03B0-40F7-A259-B276216985A6}" dt="2026-09-10T05:03:04.881" v="4633" actId="47"/>
        <pc:sldMkLst>
          <pc:docMk/>
          <pc:sldMk cId="0" sldId="265"/>
        </pc:sldMkLst>
        <pc:spChg chg="mod">
          <ac:chgData name="janghoon jun" userId="056a5883350c2f5e" providerId="LiveId" clId="{6DA654A6-03B0-40F7-A259-B276216985A6}" dt="2026-09-10T05:02:38.758" v="4628" actId="21"/>
          <ac:spMkLst>
            <pc:docMk/>
            <pc:sldMk cId="0" sldId="265"/>
            <ac:spMk id="2" creationId="{00000000-0000-0000-0000-000000000000}"/>
          </ac:spMkLst>
        </pc:spChg>
        <pc:graphicFrameChg chg="modGraphic">
          <ac:chgData name="janghoon jun" userId="056a5883350c2f5e" providerId="LiveId" clId="{6DA654A6-03B0-40F7-A259-B276216985A6}" dt="2026-09-10T03:22:54.047" v="4543" actId="255"/>
          <ac:graphicFrameMkLst>
            <pc:docMk/>
            <pc:sldMk cId="0" sldId="265"/>
            <ac:graphicFrameMk id="3" creationId="{00000000-0000-0000-0000-000000000000}"/>
          </ac:graphicFrameMkLst>
        </pc:graphicFrameChg>
        <pc:picChg chg="del">
          <ac:chgData name="janghoon jun" userId="056a5883350c2f5e" providerId="LiveId" clId="{6DA654A6-03B0-40F7-A259-B276216985A6}" dt="2026-09-10T05:02:42.851" v="4630" actId="21"/>
          <ac:picMkLst>
            <pc:docMk/>
            <pc:sldMk cId="0" sldId="265"/>
            <ac:picMk id="3" creationId="{00000000-0000-0000-0000-000000000000}"/>
          </ac:picMkLst>
        </pc:picChg>
      </pc:sldChg>
      <pc:sldChg chg="delSp modSp mod">
        <pc:chgData name="janghoon jun" userId="056a5883350c2f5e" providerId="LiveId" clId="{6DA654A6-03B0-40F7-A259-B276216985A6}" dt="2026-09-10T05:03:31.457" v="4640" actId="1076"/>
        <pc:sldMkLst>
          <pc:docMk/>
          <pc:sldMk cId="0" sldId="266"/>
        </pc:sldMkLst>
        <pc:spChg chg="mod">
          <ac:chgData name="janghoon jun" userId="056a5883350c2f5e" providerId="LiveId" clId="{6DA654A6-03B0-40F7-A259-B276216985A6}" dt="2026-09-10T03:16:18.752" v="4490" actId="404"/>
          <ac:spMkLst>
            <pc:docMk/>
            <pc:sldMk cId="0" sldId="266"/>
            <ac:spMk id="3" creationId="{00000000-0000-0000-0000-000000000000}"/>
          </ac:spMkLst>
        </pc:spChg>
        <pc:spChg chg="mod">
          <ac:chgData name="janghoon jun" userId="056a5883350c2f5e" providerId="LiveId" clId="{6DA654A6-03B0-40F7-A259-B276216985A6}" dt="2026-09-10T05:03:31.457" v="4640" actId="1076"/>
          <ac:spMkLst>
            <pc:docMk/>
            <pc:sldMk cId="0" sldId="266"/>
            <ac:spMk id="5" creationId="{00000000-0000-0000-0000-000000000000}"/>
          </ac:spMkLst>
        </pc:spChg>
        <pc:graphicFrameChg chg="mod modGraphic">
          <ac:chgData name="janghoon jun" userId="056a5883350c2f5e" providerId="LiveId" clId="{6DA654A6-03B0-40F7-A259-B276216985A6}" dt="2026-09-10T05:03:27.249" v="4639" actId="1076"/>
          <ac:graphicFrameMkLst>
            <pc:docMk/>
            <pc:sldMk cId="0" sldId="266"/>
            <ac:graphicFrameMk id="4" creationId="{00000000-0000-0000-0000-000000000000}"/>
          </ac:graphicFrameMkLst>
        </pc:graphicFrameChg>
      </pc:sldChg>
      <pc:sldChg chg="delSp modSp del mod">
        <pc:chgData name="janghoon jun" userId="056a5883350c2f5e" providerId="LiveId" clId="{6DA654A6-03B0-40F7-A259-B276216985A6}" dt="2026-09-10T05:00:59.834" v="4593" actId="27636"/>
        <pc:sldMkLst>
          <pc:docMk/>
          <pc:sldMk cId="0" sldId="267"/>
        </pc:sldMkLst>
        <pc:spChg chg="mod">
          <ac:chgData name="janghoon jun" userId="056a5883350c2f5e" providerId="LiveId" clId="{6DA654A6-03B0-40F7-A259-B276216985A6}" dt="2026-09-08T03:22:06.514" v="4485" actId="20577"/>
          <ac:spMkLst>
            <pc:docMk/>
            <pc:sldMk cId="0" sldId="267"/>
            <ac:spMk id="2" creationId="{00000000-0000-0000-0000-000000000000}"/>
          </ac:spMkLst>
        </pc:spChg>
        <pc:spChg chg="mod">
          <ac:chgData name="janghoon jun" userId="056a5883350c2f5e" providerId="LiveId" clId="{6DA654A6-03B0-40F7-A259-B276216985A6}" dt="2026-09-10T05:00:59.834" v="4593" actId="27636"/>
          <ac:spMkLst>
            <pc:docMk/>
            <pc:sldMk cId="0" sldId="267"/>
            <ac:spMk id="3" creationId="{00000000-0000-0000-0000-000000000000}"/>
          </ac:spMkLst>
        </pc:spChg>
      </pc:sldChg>
      <pc:sldChg chg="modSp del mod">
        <pc:chgData name="janghoon jun" userId="056a5883350c2f5e" providerId="LiveId" clId="{6DA654A6-03B0-40F7-A259-B276216985A6}" dt="2026-09-10T05:04:04.780" v="4641" actId="47"/>
        <pc:sldMkLst>
          <pc:docMk/>
          <pc:sldMk cId="0" sldId="269"/>
        </pc:sldMkLst>
        <pc:graphicFrameChg chg="modGraphic">
          <ac:chgData name="janghoon jun" userId="056a5883350c2f5e" providerId="LiveId" clId="{6DA654A6-03B0-40F7-A259-B276216985A6}" dt="2026-09-10T03:22:45.138" v="4542" actId="255"/>
          <ac:graphicFrameMkLst>
            <pc:docMk/>
            <pc:sldMk cId="0" sldId="269"/>
            <ac:graphicFrameMk id="6" creationId="{E510CECF-189E-7B95-A7D1-8CF39243907A}"/>
          </ac:graphicFrameMkLst>
        </pc:graphicFrameChg>
      </pc:sldChg>
      <pc:sldChg chg="modSp mod">
        <pc:chgData name="janghoon jun" userId="056a5883350c2f5e" providerId="LiveId" clId="{6DA654A6-03B0-40F7-A259-B276216985A6}" dt="2026-09-10T03:22:37.115" v="4541" actId="255"/>
        <pc:sldMkLst>
          <pc:docMk/>
          <pc:sldMk cId="0" sldId="270"/>
        </pc:sldMkLst>
        <pc:spChg chg="mod">
          <ac:chgData name="janghoon jun" userId="056a5883350c2f5e" providerId="LiveId" clId="{6DA654A6-03B0-40F7-A259-B276216985A6}" dt="2026-09-10T03:22:37.115" v="4541" actId="255"/>
          <ac:spMkLst>
            <pc:docMk/>
            <pc:sldMk cId="0" sldId="270"/>
            <ac:spMk id="4" creationId="{00000000-0000-0000-0000-000000000000}"/>
          </ac:spMkLst>
        </pc:spChg>
        <pc:graphicFrameChg chg="modGraphic">
          <ac:chgData name="janghoon jun" userId="056a5883350c2f5e" providerId="LiveId" clId="{6DA654A6-03B0-40F7-A259-B276216985A6}" dt="2026-09-10T03:22:33.054" v="4540" actId="255"/>
          <ac:graphicFrameMkLst>
            <pc:docMk/>
            <pc:sldMk cId="0" sldId="270"/>
            <ac:graphicFrameMk id="3" creationId="{00000000-0000-0000-0000-000000000000}"/>
          </ac:graphicFrameMkLst>
        </pc:graphicFrameChg>
      </pc:sldChg>
      <pc:sldChg chg="modSp mod">
        <pc:chgData name="janghoon jun" userId="056a5883350c2f5e" providerId="LiveId" clId="{6DA654A6-03B0-40F7-A259-B276216985A6}" dt="2026-09-10T03:23:12.656" v="4546" actId="2710"/>
        <pc:sldMkLst>
          <pc:docMk/>
          <pc:sldMk cId="0" sldId="271"/>
        </pc:sldMkLst>
        <pc:spChg chg="mod">
          <ac:chgData name="janghoon jun" userId="056a5883350c2f5e" providerId="LiveId" clId="{6DA654A6-03B0-40F7-A259-B276216985A6}" dt="2026-09-10T03:23:12.656" v="4546" actId="2710"/>
          <ac:spMkLst>
            <pc:docMk/>
            <pc:sldMk cId="0" sldId="271"/>
            <ac:spMk id="4" creationId="{00000000-0000-0000-0000-000000000000}"/>
          </ac:spMkLst>
        </pc:spChg>
      </pc:sldChg>
      <pc:sldChg chg="modSp mod">
        <pc:chgData name="janghoon jun" userId="056a5883350c2f5e" providerId="LiveId" clId="{6DA654A6-03B0-40F7-A259-B276216985A6}" dt="2026-09-10T03:22:18.743" v="4536" actId="255"/>
        <pc:sldMkLst>
          <pc:docMk/>
          <pc:sldMk cId="0" sldId="272"/>
        </pc:sldMkLst>
        <pc:graphicFrameChg chg="modGraphic">
          <ac:chgData name="janghoon jun" userId="056a5883350c2f5e" providerId="LiveId" clId="{6DA654A6-03B0-40F7-A259-B276216985A6}" dt="2026-09-10T03:22:18.743" v="4536" actId="255"/>
          <ac:graphicFrameMkLst>
            <pc:docMk/>
            <pc:sldMk cId="0" sldId="272"/>
            <ac:graphicFrameMk id="3" creationId="{00000000-0000-0000-0000-000000000000}"/>
          </ac:graphicFrameMkLst>
        </pc:graphicFrameChg>
      </pc:sldChg>
      <pc:sldChg chg="addSp delSp modSp add mod">
        <pc:chgData name="janghoon jun" userId="056a5883350c2f5e" providerId="LiveId" clId="{6DA654A6-03B0-40F7-A259-B276216985A6}" dt="2026-09-10T05:01:14.195" v="4600" actId="1076"/>
        <pc:sldMkLst>
          <pc:docMk/>
          <pc:sldMk cId="2755278307" sldId="272"/>
        </pc:sldMkLst>
        <pc:spChg chg="mod">
          <ac:chgData name="janghoon jun" userId="056a5883350c2f5e" providerId="LiveId" clId="{6DA654A6-03B0-40F7-A259-B276216985A6}" dt="2026-09-10T05:01:06.801" v="4596"/>
          <ac:spMkLst>
            <pc:docMk/>
            <pc:sldMk cId="2755278307" sldId="272"/>
            <ac:spMk id="2" creationId="{47399A34-AE2B-4CC6-8304-596321EC9448}"/>
          </ac:spMkLst>
        </pc:spChg>
        <pc:spChg chg="del">
          <ac:chgData name="janghoon jun" userId="056a5883350c2f5e" providerId="LiveId" clId="{6DA654A6-03B0-40F7-A259-B276216985A6}" dt="2026-09-10T05:01:02.342" v="4594" actId="478"/>
          <ac:spMkLst>
            <pc:docMk/>
            <pc:sldMk cId="2755278307" sldId="272"/>
            <ac:spMk id="3" creationId="{8C665CBB-843D-1473-C103-8CBA53FCFA04}"/>
          </ac:spMkLst>
        </pc:spChg>
        <pc:spChg chg="add del mod">
          <ac:chgData name="janghoon jun" userId="056a5883350c2f5e" providerId="LiveId" clId="{6DA654A6-03B0-40F7-A259-B276216985A6}" dt="2026-09-10T05:01:11.596" v="4598" actId="478"/>
          <ac:spMkLst>
            <pc:docMk/>
            <pc:sldMk cId="2755278307" sldId="272"/>
            <ac:spMk id="5" creationId="{093EABBB-1335-B701-D6E0-0A3678A54285}"/>
          </ac:spMkLst>
        </pc:spChg>
        <pc:picChg chg="add mod">
          <ac:chgData name="janghoon jun" userId="056a5883350c2f5e" providerId="LiveId" clId="{6DA654A6-03B0-40F7-A259-B276216985A6}" dt="2026-09-10T05:01:14.195" v="4600" actId="1076"/>
          <ac:picMkLst>
            <pc:docMk/>
            <pc:sldMk cId="2755278307" sldId="272"/>
            <ac:picMk id="7" creationId="{DB5C9DB1-2489-F3D0-1976-537E15A9259F}"/>
          </ac:picMkLst>
        </pc:picChg>
      </pc:sldChg>
      <pc:sldChg chg="modSp mod">
        <pc:chgData name="janghoon jun" userId="056a5883350c2f5e" providerId="LiveId" clId="{6DA654A6-03B0-40F7-A259-B276216985A6}" dt="2026-09-10T03:21:38.729" v="4528" actId="255"/>
        <pc:sldMkLst>
          <pc:docMk/>
          <pc:sldMk cId="0" sldId="273"/>
        </pc:sldMkLst>
        <pc:graphicFrameChg chg="modGraphic">
          <ac:chgData name="janghoon jun" userId="056a5883350c2f5e" providerId="LiveId" clId="{6DA654A6-03B0-40F7-A259-B276216985A6}" dt="2026-09-10T03:21:38.729" v="4528" actId="255"/>
          <ac:graphicFrameMkLst>
            <pc:docMk/>
            <pc:sldMk cId="0" sldId="273"/>
            <ac:graphicFrameMk id="6" creationId="{E510CECF-189E-7B95-A7D1-8CF39243907A}"/>
          </ac:graphicFrameMkLst>
        </pc:graphicFrameChg>
      </pc:sldChg>
      <pc:sldChg chg="addSp delSp modSp add mod">
        <pc:chgData name="janghoon jun" userId="056a5883350c2f5e" providerId="LiveId" clId="{6DA654A6-03B0-40F7-A259-B276216985A6}" dt="2026-09-10T05:01:44.278" v="4607" actId="22"/>
        <pc:sldMkLst>
          <pc:docMk/>
          <pc:sldMk cId="3764616405" sldId="273"/>
        </pc:sldMkLst>
        <pc:spChg chg="mod">
          <ac:chgData name="janghoon jun" userId="056a5883350c2f5e" providerId="LiveId" clId="{6DA654A6-03B0-40F7-A259-B276216985A6}" dt="2026-09-10T05:01:39.369" v="4604"/>
          <ac:spMkLst>
            <pc:docMk/>
            <pc:sldMk cId="3764616405" sldId="273"/>
            <ac:spMk id="2" creationId="{81756DD1-59E1-2584-8E19-3E1B59037185}"/>
          </ac:spMkLst>
        </pc:spChg>
        <pc:picChg chg="add">
          <ac:chgData name="janghoon jun" userId="056a5883350c2f5e" providerId="LiveId" clId="{6DA654A6-03B0-40F7-A259-B276216985A6}" dt="2026-09-10T05:01:44.278" v="4607" actId="22"/>
          <ac:picMkLst>
            <pc:docMk/>
            <pc:sldMk cId="3764616405" sldId="273"/>
            <ac:picMk id="4" creationId="{4D791A2B-D934-61D3-05BA-457321A70678}"/>
          </ac:picMkLst>
        </pc:picChg>
        <pc:picChg chg="del">
          <ac:chgData name="janghoon jun" userId="056a5883350c2f5e" providerId="LiveId" clId="{6DA654A6-03B0-40F7-A259-B276216985A6}" dt="2026-09-10T05:01:43.956" v="4606" actId="478"/>
          <ac:picMkLst>
            <pc:docMk/>
            <pc:sldMk cId="3764616405" sldId="273"/>
            <ac:picMk id="7" creationId="{C0C8C0CA-19F3-5E89-D747-E613365C3187}"/>
          </ac:picMkLst>
        </pc:picChg>
      </pc:sldChg>
      <pc:sldChg chg="modSp mod">
        <pc:chgData name="janghoon jun" userId="056a5883350c2f5e" providerId="LiveId" clId="{6DA654A6-03B0-40F7-A259-B276216985A6}" dt="2026-09-10T03:21:46.220" v="4529" actId="255"/>
        <pc:sldMkLst>
          <pc:docMk/>
          <pc:sldMk cId="0" sldId="274"/>
        </pc:sldMkLst>
        <pc:graphicFrameChg chg="modGraphic">
          <ac:chgData name="janghoon jun" userId="056a5883350c2f5e" providerId="LiveId" clId="{6DA654A6-03B0-40F7-A259-B276216985A6}" dt="2026-09-10T03:21:46.220" v="4529" actId="255"/>
          <ac:graphicFrameMkLst>
            <pc:docMk/>
            <pc:sldMk cId="0" sldId="274"/>
            <ac:graphicFrameMk id="3" creationId="{00000000-0000-0000-0000-000000000000}"/>
          </ac:graphicFrameMkLst>
        </pc:graphicFrameChg>
      </pc:sldChg>
      <pc:sldChg chg="addSp delSp modSp add mod">
        <pc:chgData name="janghoon jun" userId="056a5883350c2f5e" providerId="LiveId" clId="{6DA654A6-03B0-40F7-A259-B276216985A6}" dt="2026-09-10T05:01:59.785" v="4614" actId="22"/>
        <pc:sldMkLst>
          <pc:docMk/>
          <pc:sldMk cId="2820107391" sldId="274"/>
        </pc:sldMkLst>
        <pc:spChg chg="mod">
          <ac:chgData name="janghoon jun" userId="056a5883350c2f5e" providerId="LiveId" clId="{6DA654A6-03B0-40F7-A259-B276216985A6}" dt="2026-09-10T05:01:56.743" v="4612"/>
          <ac:spMkLst>
            <pc:docMk/>
            <pc:sldMk cId="2820107391" sldId="274"/>
            <ac:spMk id="2" creationId="{96BE39D2-BACD-9BFA-6BEF-E23EB76F52A3}"/>
          </ac:spMkLst>
        </pc:spChg>
        <pc:picChg chg="del">
          <ac:chgData name="janghoon jun" userId="056a5883350c2f5e" providerId="LiveId" clId="{6DA654A6-03B0-40F7-A259-B276216985A6}" dt="2026-09-10T05:01:51.432" v="4610" actId="478"/>
          <ac:picMkLst>
            <pc:docMk/>
            <pc:sldMk cId="2820107391" sldId="274"/>
            <ac:picMk id="4" creationId="{44560D41-702E-22B7-E44B-6688B87607EB}"/>
          </ac:picMkLst>
        </pc:picChg>
        <pc:picChg chg="add">
          <ac:chgData name="janghoon jun" userId="056a5883350c2f5e" providerId="LiveId" clId="{6DA654A6-03B0-40F7-A259-B276216985A6}" dt="2026-09-10T05:01:59.785" v="4614" actId="22"/>
          <ac:picMkLst>
            <pc:docMk/>
            <pc:sldMk cId="2820107391" sldId="274"/>
            <ac:picMk id="5" creationId="{789B8AA2-C797-6A65-8F18-1F3D8565FBA8}"/>
          </ac:picMkLst>
        </pc:picChg>
      </pc:sldChg>
      <pc:sldChg chg="modSp mod">
        <pc:chgData name="janghoon jun" userId="056a5883350c2f5e" providerId="LiveId" clId="{6DA654A6-03B0-40F7-A259-B276216985A6}" dt="2026-09-10T03:23:26.413" v="4549" actId="2710"/>
        <pc:sldMkLst>
          <pc:docMk/>
          <pc:sldMk cId="0" sldId="275"/>
        </pc:sldMkLst>
        <pc:spChg chg="mod">
          <ac:chgData name="janghoon jun" userId="056a5883350c2f5e" providerId="LiveId" clId="{6DA654A6-03B0-40F7-A259-B276216985A6}" dt="2026-09-10T03:23:26.413" v="4549" actId="2710"/>
          <ac:spMkLst>
            <pc:docMk/>
            <pc:sldMk cId="0" sldId="275"/>
            <ac:spMk id="4" creationId="{00000000-0000-0000-0000-000000000000}"/>
          </ac:spMkLst>
        </pc:spChg>
      </pc:sldChg>
      <pc:sldChg chg="addSp delSp modSp add mod">
        <pc:chgData name="janghoon jun" userId="056a5883350c2f5e" providerId="LiveId" clId="{6DA654A6-03B0-40F7-A259-B276216985A6}" dt="2026-09-10T05:02:27.064" v="4625" actId="1076"/>
        <pc:sldMkLst>
          <pc:docMk/>
          <pc:sldMk cId="1751739855" sldId="275"/>
        </pc:sldMkLst>
        <pc:spChg chg="mod">
          <ac:chgData name="janghoon jun" userId="056a5883350c2f5e" providerId="LiveId" clId="{6DA654A6-03B0-40F7-A259-B276216985A6}" dt="2026-09-10T05:02:08.939" v="4618"/>
          <ac:spMkLst>
            <pc:docMk/>
            <pc:sldMk cId="1751739855" sldId="275"/>
            <ac:spMk id="2" creationId="{6F7E1DCF-9740-40AC-B307-1426493A0AC5}"/>
          </ac:spMkLst>
        </pc:spChg>
        <pc:picChg chg="add mod">
          <ac:chgData name="janghoon jun" userId="056a5883350c2f5e" providerId="LiveId" clId="{6DA654A6-03B0-40F7-A259-B276216985A6}" dt="2026-09-10T05:02:27.064" v="4625" actId="1076"/>
          <ac:picMkLst>
            <pc:docMk/>
            <pc:sldMk cId="1751739855" sldId="275"/>
            <ac:picMk id="4" creationId="{84710ACD-2049-27DA-4399-427001462009}"/>
          </ac:picMkLst>
        </pc:picChg>
        <pc:picChg chg="del">
          <ac:chgData name="janghoon jun" userId="056a5883350c2f5e" providerId="LiveId" clId="{6DA654A6-03B0-40F7-A259-B276216985A6}" dt="2026-09-10T05:02:12.860" v="4620" actId="478"/>
          <ac:picMkLst>
            <pc:docMk/>
            <pc:sldMk cId="1751739855" sldId="275"/>
            <ac:picMk id="5" creationId="{9575D779-2B9E-87D3-6075-E635B5824B4E}"/>
          </ac:picMkLst>
        </pc:picChg>
      </pc:sldChg>
      <pc:sldChg chg="modSp mod">
        <pc:chgData name="janghoon jun" userId="056a5883350c2f5e" providerId="LiveId" clId="{6DA654A6-03B0-40F7-A259-B276216985A6}" dt="2026-09-10T03:21:51.722" v="4530" actId="255"/>
        <pc:sldMkLst>
          <pc:docMk/>
          <pc:sldMk cId="0" sldId="276"/>
        </pc:sldMkLst>
        <pc:graphicFrameChg chg="modGraphic">
          <ac:chgData name="janghoon jun" userId="056a5883350c2f5e" providerId="LiveId" clId="{6DA654A6-03B0-40F7-A259-B276216985A6}" dt="2026-09-10T03:21:51.722" v="4530" actId="255"/>
          <ac:graphicFrameMkLst>
            <pc:docMk/>
            <pc:sldMk cId="0" sldId="276"/>
            <ac:graphicFrameMk id="3" creationId="{00000000-0000-0000-0000-000000000000}"/>
          </ac:graphicFrameMkLst>
        </pc:graphicFrameChg>
      </pc:sldChg>
      <pc:sldChg chg="addSp delSp modSp add mod">
        <pc:chgData name="janghoon jun" userId="056a5883350c2f5e" providerId="LiveId" clId="{6DA654A6-03B0-40F7-A259-B276216985A6}" dt="2026-09-10T05:02:45.534" v="4632" actId="22"/>
        <pc:sldMkLst>
          <pc:docMk/>
          <pc:sldMk cId="1504938630" sldId="276"/>
        </pc:sldMkLst>
        <pc:spChg chg="mod">
          <ac:chgData name="janghoon jun" userId="056a5883350c2f5e" providerId="LiveId" clId="{6DA654A6-03B0-40F7-A259-B276216985A6}" dt="2026-09-10T05:02:40.704" v="4629"/>
          <ac:spMkLst>
            <pc:docMk/>
            <pc:sldMk cId="1504938630" sldId="276"/>
            <ac:spMk id="2" creationId="{913683FB-DF95-E126-F2AF-437AEE942621}"/>
          </ac:spMkLst>
        </pc:spChg>
        <pc:picChg chg="del">
          <ac:chgData name="janghoon jun" userId="056a5883350c2f5e" providerId="LiveId" clId="{6DA654A6-03B0-40F7-A259-B276216985A6}" dt="2026-09-10T05:02:45.004" v="4631" actId="478"/>
          <ac:picMkLst>
            <pc:docMk/>
            <pc:sldMk cId="1504938630" sldId="276"/>
            <ac:picMk id="4" creationId="{46693135-C301-9F06-2589-F08988C88813}"/>
          </ac:picMkLst>
        </pc:picChg>
        <pc:picChg chg="add">
          <ac:chgData name="janghoon jun" userId="056a5883350c2f5e" providerId="LiveId" clId="{6DA654A6-03B0-40F7-A259-B276216985A6}" dt="2026-09-10T05:02:45.534" v="4632" actId="22"/>
          <ac:picMkLst>
            <pc:docMk/>
            <pc:sldMk cId="1504938630" sldId="276"/>
            <ac:picMk id="5" creationId="{D4DA04F9-B60D-B9E9-17B8-B1E936BB0517}"/>
          </ac:picMkLst>
        </pc:picChg>
      </pc:sldChg>
      <pc:sldChg chg="add del">
        <pc:chgData name="janghoon jun" userId="056a5883350c2f5e" providerId="LiveId" clId="{6DA654A6-03B0-40F7-A259-B276216985A6}" dt="2026-09-10T05:03:12.292" v="4635" actId="47"/>
        <pc:sldMkLst>
          <pc:docMk/>
          <pc:sldMk cId="2410116862"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2026-09-29</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안녕하십니까, 발표를 시작하겠습니다. 오늘은 CT에서 얻는 AEC 곡선과 체성분 곡선이, 성별·나이·키·몸무게 같은 임상 기본 변수 대비 고혈압·당뇨·만성신장질환 예측에 실제로 얼마나 추가 기여를 하는지, 그리고 그 기여가 내부·외부 코호트에 걸쳐 일관되는지를 말씀드리겠습니다. 순서는 배경, 방법, 결과(표 3개·그림 2개), Discussion, Conclusion 순입니다. 세부 수치와 하이퍼파라미터는 Supplementary에 따로 정리해뒀습니다.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먼저 배경입니다. 만성질환 예측에서 성별·나이·키·몸무게 같은 임상 기본 변수만으로도 어느 정도 판별력이 나오는지 기준선(Baseline)을 먼저 세웠습니다. 여기에 CT에서 얻을 수 있는 AEC 곡선—liver부터 pubis까지 128구간으로 나눈 감쇠/면적 곡선—과, VAT·SAT·LAMA·NAMA·IMATA 다섯 가지 체성분 곡선을 추가했을 때 이 기준선을 얼마나 넘어서는지를 봤습니다. 핵심 질문은 두 가지입니다. 첫째, 이 곡선들이 기준선 대비 실제로 추가 정보를 주는가. 둘째, 그 개선이 개발 코호트와 외부 코호트에 걸쳐 일관되게 나타나는가입니다. 오늘 다루는 데이터는 모두 단면(cross-sectional) 설계이고, longitudinal 설계인 New10000 코호트는 오늘 발표 범위에서 제외했습니다.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방법론입니다. 표로 정리했는데, 몇 가지는 설계 이유를 짚고 넘어가겠습니다. 코호트는 Gangnam(n=1,260)에서 개발하고 Sinchon(n=1,123)에서 외부검증했고, 둘 다 단면 데이터입니다. 입력은 성별·나이·키·몸무게이며, age/height/weight는 Gangnam 기준으로 fit한 StandardScaler로 표준화하고 이 scaler를 그대로 얼려서(frozen) 외부 코호트에 적용했습니다—외부 데이터가 학습 과정에 전혀 관여하지 않도록 하기 위함입니다. 질환은 HTN/DM/CKD 세 개를 각각 독립된 모델로 학습했고, 질환마다 유병률이 달라 split도 질환별로 따로 뽑았습니다. 하이퍼파라미터는 C, L1/L2 penalty, class_weight까지 GridSearchCV로 탐색했는데, valid를 별도 predefined fold로 고정해서 썼습니다—CKD 같은 경우 Gangnam 양성이 21명뿐이라 k-fold를 새로 나누면 fold별로 표본이 너무 작아져 불안정해지기 때문입니다. Cutoff는 0.5 고정이 아니라 valid ROC에서 Youden index가 최대인 지점을 씁니다. 0.5 고정 cutoff는 유병률이 낮은 질환에서 거의 전원을 음성으로 찍어버려 Sensitivity가 붕괴하는 문제가 있었습니다. 외부검증은 train+valid로 재학습한 frozen 모델과 Gangnam에서 고정한 cutoff를 Sinchon에 그대로 적용했고, 재학습이나 재튜닝은 전혀 하지 않았습니다. 확장 입력은 AEC와 체성분 곡선을 각각 FPCA로 압축해서 넣었는데, 128차원 원본 곡선을 그대로 쓰면 표본 대비 차원이 너무 커 과적합·다중공선성 위험이 크기 때문입니다. 모델 간 비교는 같은 환자를 짝지은(paired) DeLong test로 유의성을 검정했습니다.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1은 두 코호트의 기초 특성입니다. Gangnam 1,260명, Sinchon 1,123명입니다. 성비가 다른데, Gangnam은 남성이 37.7%인 반면 Sinchon은 48.7%로 유의하게 더 높습니다. 나이도 Sinchon이 59.7세로 Gangnam 57.3세보다 유의하게 많습니다. 키는 통계적으로는 유의하지만 차이 자체는 1cm 이내로 작고, 몸무게와 BMI는 유의한 차이가 없어서 전반적인 체구는 비슷하다고 볼 수 있습니다. 반면 체성분 지표는 TAMA를 제외한 VAT·SAT·IMATA·NAMA·LAMA 전부 두 코호트 간에 유의하게 다릅니다—같은 체구라도 지방·근육의 조성 자체는 기관마다 다르게 측정된다는 뜻입니다. 가장 중요한 부분은 마지막 세 줄인데, 세 질환의 유병률이 Sinchon에서 전부 1.5배 가량 높습니다. HTN 30.6%→45.1%, DM 18.5%→29.8%, CKD 8.3%→16.7%입니다. 이 유병률 차이가 크기 때문에, 0.5 고정 cutoff 대신 Youden cutoff를 쓰고 AUC 같은 유병률에 둔감한 지표를 중심으로 비교하는 게 중요했습니다.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2가 오늘의 핵심 결과입니다. Best 모델은 AEC와 다섯 체성분을 모두 결합한 모델이고, 지금까지 만든 확장모델 중 전 질환에서 가장 성능이 좋았습니다. 질환별로 보면, HTN은 Gangnam 0.761에서 0.793으로, Sinchon은 0.715에서 0.739로 개선됐고 둘 다 DeLong 유의(p=0.048, p=0.004)합니다. DM은 Sinchon에서 0.649에서 0.701로 크게, 유의하게(p&lt;0.001) 개선됐지만 Gangnam은 0.661에서 0.701로 수치는 올랐어도 유의하지 않습니다(p=0.184)—Gangnam DM 양성이 47명뿐이라 검정력이 낮습니다. CKD가 가장 인상적인데, Sinchon에서 0.613이라는 가장 낮은 baseline이 0.684까지 유의하게(p&lt;0.001) 올라갑니다. 다만 Gangnam CKD는 양성이 21명뿐이라 0.765→0.811로 올랐어도 유의성엔 못 미칩니다(p=0.293). 정리하면 표본이 큰 Sinchon(외부)에서는 세 질환 모두 유의한 개선이 있고, 표본이 작은 Gangnam(내부)은 HTN 한 건만 유의합니다. 한 가지 짚고 넘어갈 점은 DM Sinchon의 Accuracy가 0.614에서 0.533으로 오히려 떨어진다는 겁니다. AUC와 Sensitivity는 올랐는데 Accuracy가 떨어진 이유는, Youden cutoff가 민감도를 더 확보하는 쪽으로 이동하면서(Sensitivity 0.609→0.851) Specificity가 0.615에서 0.398로 크게 내려갔기 때문입니다. Accuracy는 cutoff와 클래스 비율에 민감한 지표라 AUC 개선과 방향이 다를 수 있다는 점을 참고해주시면 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1은 Baseline 모델의 Odds Ratio를 forest plot으로 그린 겁니다. 점은 OR 추정치, 막대는 95% 신뢰구간이고, 점선(OR=1)을 CI가 넘어가지 않으면(빨간색) 유의합니다. 모든 변수는 표준화된 척도라 OR은 '표준편차 1만큼 증가할 때' 오즈 변화로 읽어야 합니다—나이는 약 12세, 몸무게는 약 10kg 단위입니다. 성별(남성)은 HTN·DM에서 OR 2.4~2.6으로 유의하지만 CKD는 OR 2.13임에도 신뢰구간이 넓어 유의하지 않습니다(p=0.143)—CKD 표본이 작아 검정력이 낮은 영향으로 보입니다. 나이는 세 질환 모두 강하게 유의합니다(OR 1.78~2.86). 몸무게도 세 질환 모두 유의하게 위험을 높이는 방향입니다(OR 1.76~2.10). 흥미로운 건 키인데, 방향이 반대입니다(OR&lt;1)—즉 키가 클수록 오즈가 낮습니다. 이건 몸무게를 이미 모델에 같이 넣은 상태에서의 효과라, '같은 몸무게라면 키가 클수록(더 마른 체형일수록) 위험이 낮다'는 식으로 해석하는 게 자연스럽습니다. CKD는 키도 유의하지 않았습니다(p=0.819).</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2는 AEC 곡선의 FPCA 계수를 다시 128개 slice 축으로 역변환한 결과입니다. 왜 이 작업이 필요했냐면, 로지스틱 회귀는 AEC 곡선을 FPCA로 압축한 주성분 점수(PC1~PC3) 위에서 학습되기 때문에, 계수 자체는 'PC2가 커지면 로짓이 어떻게 변한다'는 추상적인 정보만 줍니다. 이걸 '곡선의 몇 번째 slice, 즉 어느 해부학적 구간이 실제로 기여하는가'로 바꾸는 게 이 역변환입니다. PCA가 선형변환이라는 점을 이용해서, PC 점수는 (곡선-평균)과 주성분 벡터의 내적이고, 로짓은 표준화된 PC 점수에 대한 선형식이니 이 둘을 대입해서 정리하면 '곡선 slice별 계수 벡터'를 직접 복구할 수 있습니다. 그래프의 값은 '그 slice가 1 표준편차만큼 커질 때 logit이 얼마나 변하는가'로 정규화되어 있어서, 서로 다른 slice를 같은 기준으로 비교할 수 있습니다. 오늘 발표에서 이 방법이 'FPCA로 차원을 줄인 계수를 다시 해부학적으로 해석 가능한 형태로 복구할 수 있는가'라는 질문에 대한 답입니다—결론적으로 가능합니다.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49F85-BE6B-5075-93DD-06C87EF09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CB01C-6DFB-662E-6D77-086F50A171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DA8B0F6-581D-F115-E541-F080CF8FE923}"/>
              </a:ext>
            </a:extLst>
          </p:cNvPr>
          <p:cNvSpPr>
            <a:spLocks noGrp="1"/>
          </p:cNvSpPr>
          <p:nvPr>
            <p:ph type="body" sz="quarter" idx="3"/>
          </p:nvPr>
        </p:nvSpPr>
        <p:spPr/>
        <p:txBody>
          <a:bodyPr/>
          <a:lstStyle/>
          <a:p>
            <a:r>
              <a:t>Figure 2는 AEC 곡선의 FPCA 계수를 다시 128개 slice 축으로 역변환한 결과입니다. 왜 이 작업이 필요했냐면, 로지스틱 회귀는 AEC 곡선을 FPCA로 압축한 주성분 점수(PC1~PC3) 위에서 학습되기 때문에, 계수 자체는 'PC2가 커지면 로짓이 어떻게 변한다'는 추상적인 정보만 줍니다. 이걸 '곡선의 몇 번째 slice, 즉 어느 해부학적 구간이 실제로 기여하는가'로 바꾸는 게 이 역변환입니다. PCA가 선형변환이라는 점을 이용해서, PC 점수는 (곡선-평균)과 주성분 벡터의 내적이고, 로짓은 표준화된 PC 점수에 대한 선형식이니 이 둘을 대입해서 정리하면 '곡선 slice별 계수 벡터'를 직접 복구할 수 있습니다. 그래프의 값은 '그 slice가 1 표준편차만큼 커질 때 logit이 얼마나 변하는가'로 정규화되어 있어서, 서로 다른 slice를 같은 기준으로 비교할 수 있습니다. 오늘 발표에서 이 방법이 'FPCA로 차원을 줄인 계수를 다시 해부학적으로 해석 가능한 형태로 복구할 수 있는가'라는 질문에 대한 답입니다—결론적으로 가능합니다.</a:t>
            </a:r>
          </a:p>
        </p:txBody>
      </p:sp>
      <p:sp>
        <p:nvSpPr>
          <p:cNvPr id="4" name="Slide Number Placeholder 3">
            <a:extLst>
              <a:ext uri="{FF2B5EF4-FFF2-40B4-BE49-F238E27FC236}">
                <a16:creationId xmlns:a16="http://schemas.microsoft.com/office/drawing/2014/main" id="{437BEC81-8798-CC3F-98AB-C751B4C75E29}"/>
              </a:ext>
            </a:extLst>
          </p:cNvPr>
          <p:cNvSpPr>
            <a:spLocks noGrp="1"/>
          </p:cNvSpPr>
          <p:nvPr>
            <p:ph type="sldNum" sz="quarter" idx="5"/>
          </p:nvPr>
        </p:nvSpPr>
        <p:spPr/>
      </p:sp>
    </p:spTree>
    <p:extLst>
      <p:ext uri="{BB962C8B-B14F-4D97-AF65-F5344CB8AC3E}">
        <p14:creationId xmlns:p14="http://schemas.microsoft.com/office/powerpoint/2010/main" val="1799801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Discussion입니다. 세 가지를 관찰했습니다. 첫째, AEC 단독 추가는 ΔAUC가 -0.034에서 +0.039 사이로 작고, Sinchon에서도 3개 질환 중 2개만 유의합니다. 둘째, 체성분까지 더하면(+AEC+체성분) ΔAUC가 +0.024에서 +0.071로 커지지만, Sinchon은 3개 질환 모두 유의한 반면 Gangnam은 1개뿐입니다. 체성분만 넣었을 때도 패턴은 비슷합니다. 셋째, 같은 확장이라도 부위·질환·코호트에 따라 크기가 들쭉날쭉합니다—예를 들어 CKD Gangnam은 체성분만 넣었을 때 ΔAUC가 +0.005에 불과한데, AEC만 넣었을 때는 오히려 -0.034로 떨어집니다. 이 세 관찰을 묶어서 나온 해석(가설)은 이렇습니다: crop 범위 안에서 128구간으로 슬라이스를 나눌 때, 환자마다 crop된 실제 해부학적 길이(liver부터 pubis까지 거리)가 다르면, 같은 slice index라도 환자마다 가리키는 실제 해부학적 위치가 달라집니다. 그러면 FPCA가 압축하는 신호 자체가 환자마다 일관되지 않은 것을 압축하는 셈이 되어, 개선의 크기와 일관성이 모두 제한될 수 있습니다. 다만 이건 이번 데이터로 직접 측정한 게 아니라, 관찰된 불일치 패턴에서 추론한 가설이라는 점을 분명히 말씀드립니다. 이 가설을 검증하는 landmark 기반 체성분 연구는 현재 데이터 구축 중이라 오늘 발표 범위에는 포함하지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결론입니다. 첫째, 임상 기본 변수만으로도 Gangnam AUC 0.66~0.77, Sinchon 0.61~0.71 수준의 판별력이 나옵니다. 둘째, AEC 곡선만 추가하면 개선이 작거나(-0.034~+0.039) 오히려 떨어지는 경우도 있습니다. 셋째, 체성분까지 더하면 개선되지만—Sinchon에서는 세 질환 모두 유의한 반면 Gangnam은 표본이 작아 유의성에 이르지 못하는 경우가 많아, 코호트 간에 일관되게 재현된다고 보기는 어렵습니다. 넷째, 이 불일치의 원인으로 crop range가 환자마다 일정하지 않을 가능성을 가설로 제시했지만, 이번 연구에서 직접 측정하거나 검증하지는 않았습니다. 오늘 다루지 못한 부분—하이퍼파라미터 상세, 언더샘플링 전후 비교, 부위별 세부 breakdown, 계수 표(SE 포함)와 VIF—은 Supplementary에 정리해뒀으니 질문 주시면 그 자리에서 같이 보겠습니다. 이상으로 발표를 마치겠습니다. 질문 받겠습니다.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47299"/>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7C6CE84-6AD8-453A-AD6E-FEAF6049C1C5}"/>
              </a:ext>
            </a:extLst>
          </p:cNvPr>
          <p:cNvSpPr>
            <a:spLocks noGrp="1"/>
          </p:cNvSpPr>
          <p:nvPr>
            <p:ph type="dt" sz="half" idx="10"/>
          </p:nvPr>
        </p:nvSpPr>
        <p:spPr>
          <a:xfrm>
            <a:off x="838200" y="6044141"/>
            <a:ext cx="2743200" cy="365125"/>
          </a:xfrm>
        </p:spPr>
        <p:txBody>
          <a:bodyPr/>
          <a:lstStyle/>
          <a:p>
            <a:endParaRPr lang="ko-KR" altLang="en-US"/>
          </a:p>
        </p:txBody>
      </p:sp>
      <p:sp>
        <p:nvSpPr>
          <p:cNvPr id="5" name="바닥글 개체 틀 4">
            <a:extLst>
              <a:ext uri="{FF2B5EF4-FFF2-40B4-BE49-F238E27FC236}">
                <a16:creationId xmlns:a16="http://schemas.microsoft.com/office/drawing/2014/main" id="{549EF105-0337-4580-9111-FD2F527F97D8}"/>
              </a:ext>
            </a:extLst>
          </p:cNvPr>
          <p:cNvSpPr>
            <a:spLocks noGrp="1"/>
          </p:cNvSpPr>
          <p:nvPr>
            <p:ph type="ftr" sz="quarter" idx="11"/>
          </p:nvPr>
        </p:nvSpPr>
        <p:spPr>
          <a:xfrm>
            <a:off x="4038600" y="6044141"/>
            <a:ext cx="4114800" cy="365125"/>
          </a:xfrm>
        </p:spPr>
        <p:txBody>
          <a:bodyPr/>
          <a:lstStyle/>
          <a:p>
            <a:endParaRPr lang="ko-KR" altLang="en-US"/>
          </a:p>
        </p:txBody>
      </p:sp>
      <p:sp>
        <p:nvSpPr>
          <p:cNvPr id="7" name="슬라이드 번호 개체 틀 5">
            <a:extLst>
              <a:ext uri="{FF2B5EF4-FFF2-40B4-BE49-F238E27FC236}">
                <a16:creationId xmlns:a16="http://schemas.microsoft.com/office/drawing/2014/main" id="{AB31AF83-2C46-4BF6-B48E-DD76F99A3E2F}"/>
              </a:ext>
            </a:extLst>
          </p:cNvPr>
          <p:cNvSpPr>
            <a:spLocks noGrp="1"/>
          </p:cNvSpPr>
          <p:nvPr>
            <p:ph type="sldNum" sz="quarter" idx="12"/>
          </p:nvPr>
        </p:nvSpPr>
        <p:spPr>
          <a:xfrm>
            <a:off x="8940800" y="6044141"/>
            <a:ext cx="2743200" cy="365125"/>
          </a:xfrm>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074" y="2203269"/>
            <a:ext cx="8437053" cy="707886"/>
          </a:xfrm>
          <a:prstGeom prst="rect">
            <a:avLst/>
          </a:prstGeom>
          <a:noFill/>
        </p:spPr>
        <p:txBody>
          <a:bodyPr wrap="none">
            <a:spAutoFit/>
          </a:bodyPr>
          <a:lstStyle/>
          <a:p>
            <a:r>
              <a:rPr lang="ko-KR" altLang="ko-KR" sz="2000" b="1" dirty="0" err="1">
                <a:solidFill>
                  <a:schemeClr val="bg1"/>
                </a:solidFill>
              </a:rPr>
              <a:t>Contribution</a:t>
            </a:r>
            <a:r>
              <a:rPr lang="ko-KR" altLang="ko-KR" sz="2000" b="1" dirty="0">
                <a:solidFill>
                  <a:schemeClr val="bg1"/>
                </a:solidFill>
              </a:rPr>
              <a:t> and </a:t>
            </a:r>
            <a:r>
              <a:rPr lang="ko-KR" altLang="ko-KR" sz="2000" b="1" dirty="0" err="1">
                <a:solidFill>
                  <a:schemeClr val="bg1"/>
                </a:solidFill>
              </a:rPr>
              <a:t>Limitations</a:t>
            </a:r>
            <a:r>
              <a:rPr lang="ko-KR" altLang="ko-KR" sz="2000" b="1" dirty="0">
                <a:solidFill>
                  <a:schemeClr val="bg1"/>
                </a:solidFill>
              </a:rPr>
              <a:t> of AEC and </a:t>
            </a:r>
            <a:r>
              <a:rPr lang="ko-KR" altLang="ko-KR" sz="2000" b="1" dirty="0" err="1">
                <a:solidFill>
                  <a:schemeClr val="bg1"/>
                </a:solidFill>
              </a:rPr>
              <a:t>Body</a:t>
            </a:r>
            <a:r>
              <a:rPr lang="ko-KR" altLang="ko-KR" sz="2000" b="1" dirty="0">
                <a:solidFill>
                  <a:schemeClr val="bg1"/>
                </a:solidFill>
              </a:rPr>
              <a:t> </a:t>
            </a:r>
            <a:r>
              <a:rPr lang="ko-KR" altLang="ko-KR" sz="2000" b="1" dirty="0" err="1">
                <a:solidFill>
                  <a:schemeClr val="bg1"/>
                </a:solidFill>
              </a:rPr>
              <a:t>Composition</a:t>
            </a:r>
            <a:r>
              <a:rPr lang="ko-KR" altLang="ko-KR" sz="2000" b="1" dirty="0">
                <a:solidFill>
                  <a:schemeClr val="bg1"/>
                </a:solidFill>
              </a:rPr>
              <a:t> </a:t>
            </a:r>
            <a:r>
              <a:rPr lang="ko-KR" altLang="ko-KR" sz="2000" b="1" dirty="0" err="1">
                <a:solidFill>
                  <a:schemeClr val="bg1"/>
                </a:solidFill>
              </a:rPr>
              <a:t>Curves</a:t>
            </a:r>
            <a:endParaRPr lang="en-US" altLang="ko-KR" sz="2000" b="1" dirty="0">
              <a:solidFill>
                <a:schemeClr val="bg1"/>
              </a:solidFill>
            </a:endParaRPr>
          </a:p>
          <a:p>
            <a:r>
              <a:rPr lang="ko-KR" altLang="ko-KR" sz="2000" b="1" dirty="0" err="1">
                <a:solidFill>
                  <a:schemeClr val="bg1"/>
                </a:solidFill>
              </a:rPr>
              <a:t>in</a:t>
            </a:r>
            <a:r>
              <a:rPr lang="ko-KR" altLang="ko-KR" sz="2000" b="1" dirty="0">
                <a:solidFill>
                  <a:schemeClr val="bg1"/>
                </a:solidFill>
              </a:rPr>
              <a:t> </a:t>
            </a:r>
            <a:r>
              <a:rPr lang="ko-KR" altLang="ko-KR" sz="2000" b="1" dirty="0" err="1">
                <a:solidFill>
                  <a:schemeClr val="bg1"/>
                </a:solidFill>
              </a:rPr>
              <a:t>Chronic</a:t>
            </a:r>
            <a:r>
              <a:rPr lang="ko-KR" altLang="ko-KR" sz="2000" b="1" dirty="0">
                <a:solidFill>
                  <a:schemeClr val="bg1"/>
                </a:solidFill>
              </a:rPr>
              <a:t> </a:t>
            </a:r>
            <a:r>
              <a:rPr lang="ko-KR" altLang="ko-KR" sz="2000" b="1" dirty="0" err="1">
                <a:solidFill>
                  <a:schemeClr val="bg1"/>
                </a:solidFill>
              </a:rPr>
              <a:t>Disease</a:t>
            </a:r>
            <a:r>
              <a:rPr lang="ko-KR" altLang="ko-KR" sz="2000" b="1" dirty="0">
                <a:solidFill>
                  <a:schemeClr val="bg1"/>
                </a:solidFill>
              </a:rPr>
              <a:t> </a:t>
            </a:r>
            <a:r>
              <a:rPr lang="ko-KR" altLang="ko-KR" sz="2000" b="1" dirty="0" err="1">
                <a:solidFill>
                  <a:schemeClr val="bg1"/>
                </a:solidFill>
              </a:rPr>
              <a:t>Prediction</a:t>
            </a:r>
            <a:endParaRPr sz="3600" b="1" dirty="0">
              <a:solidFill>
                <a:schemeClr val="bg1"/>
              </a:solidFill>
            </a:endParaRPr>
          </a:p>
        </p:txBody>
      </p:sp>
      <p:sp>
        <p:nvSpPr>
          <p:cNvPr id="3" name="TextBox 2"/>
          <p:cNvSpPr txBox="1"/>
          <p:nvPr/>
        </p:nvSpPr>
        <p:spPr>
          <a:xfrm>
            <a:off x="431074" y="3091544"/>
            <a:ext cx="1329210" cy="338554"/>
          </a:xfrm>
          <a:prstGeom prst="rect">
            <a:avLst/>
          </a:prstGeom>
          <a:noFill/>
        </p:spPr>
        <p:txBody>
          <a:bodyPr wrap="none">
            <a:spAutoFit/>
          </a:bodyPr>
          <a:lstStyle/>
          <a:p>
            <a:r>
              <a:rPr sz="1600" dirty="0">
                <a:solidFill>
                  <a:schemeClr val="bg1"/>
                </a:solidFill>
              </a:rPr>
              <a:t>2026. 10. 02</a:t>
            </a:r>
          </a:p>
        </p:txBody>
      </p:sp>
      <p:sp>
        <p:nvSpPr>
          <p:cNvPr id="4" name="TextBox 3"/>
          <p:cNvSpPr txBox="1"/>
          <p:nvPr/>
        </p:nvSpPr>
        <p:spPr>
          <a:xfrm>
            <a:off x="431074" y="3548744"/>
            <a:ext cx="1946880" cy="369332"/>
          </a:xfrm>
          <a:prstGeom prst="rect">
            <a:avLst/>
          </a:prstGeom>
          <a:noFill/>
        </p:spPr>
        <p:txBody>
          <a:bodyPr wrap="none">
            <a:spAutoFit/>
          </a:bodyPr>
          <a:lstStyle/>
          <a:p>
            <a:r>
              <a:rPr sz="1800" b="1">
                <a:solidFill>
                  <a:schemeClr val="bg1"/>
                </a:solidFill>
              </a:rPr>
              <a:t>JangHoon Chun</a:t>
            </a:r>
          </a:p>
        </p:txBody>
      </p:sp>
      <p:sp>
        <p:nvSpPr>
          <p:cNvPr id="5" name="TextBox 4"/>
          <p:cNvSpPr txBox="1"/>
          <p:nvPr/>
        </p:nvSpPr>
        <p:spPr>
          <a:xfrm>
            <a:off x="431074" y="4005944"/>
            <a:ext cx="5093254" cy="738664"/>
          </a:xfrm>
          <a:prstGeom prst="rect">
            <a:avLst/>
          </a:prstGeom>
          <a:noFill/>
        </p:spPr>
        <p:txBody>
          <a:bodyPr wrap="none">
            <a:spAutoFit/>
          </a:bodyPr>
          <a:lstStyle/>
          <a:p>
            <a:r>
              <a:rPr sz="1400">
                <a:solidFill>
                  <a:schemeClr val="bg1"/>
                </a:solidFill>
              </a:rPr>
              <a:t>Department of, Medical Device Engineering &amp; Management</a:t>
            </a:r>
          </a:p>
          <a:p>
            <a:r>
              <a:rPr sz="1400">
                <a:solidFill>
                  <a:schemeClr val="bg1"/>
                </a:solidFill>
              </a:rPr>
              <a:t>Gangnam Severance Hospital,</a:t>
            </a:r>
          </a:p>
          <a:p>
            <a:r>
              <a:rPr sz="1400">
                <a:solidFill>
                  <a:schemeClr val="bg1"/>
                </a:solidFill>
              </a:rPr>
              <a:t>Yonsei University College of Medicine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65126"/>
            <a:ext cx="11176000" cy="532342"/>
          </a:xfrm>
        </p:spPr>
        <p:txBody>
          <a:bodyPr/>
          <a:lstStyle/>
          <a:p>
            <a:r>
              <a:t>Background &amp; Objective</a:t>
            </a:r>
          </a:p>
        </p:txBody>
      </p:sp>
      <p:sp>
        <p:nvSpPr>
          <p:cNvPr id="3" name="Content Placeholder 2"/>
          <p:cNvSpPr>
            <a:spLocks noGrp="1"/>
          </p:cNvSpPr>
          <p:nvPr>
            <p:ph idx="1"/>
          </p:nvPr>
        </p:nvSpPr>
        <p:spPr>
          <a:xfrm>
            <a:off x="508000" y="897468"/>
            <a:ext cx="11176000" cy="5063066"/>
          </a:xfrm>
        </p:spPr>
        <p:txBody>
          <a:bodyPr wrap="square"/>
          <a:lstStyle/>
          <a:p>
            <a:r>
              <a:rPr sz="1800"/>
              <a:t>Clinic4(성별·나이·신장·체중)만으로 만성질환(HTN·DM·CKD)을 어느 정도 판별할 수 있는지 기준선을 만든다</a:t>
            </a:r>
          </a:p>
          <a:p>
            <a:r>
              <a:rPr sz="1800"/>
              <a:t>CT에서 얻는 AEC 곡선과 체성분(VAT/SAT/근육/근내지방) 곡선이 이 기준선을 넘어서는 추가 정보를 주는지 평가한다</a:t>
            </a:r>
          </a:p>
          <a:p>
            <a:r>
              <a:rPr sz="1800"/>
              <a:t>곡선은 liver→pubis로 crop한 128구간으로 표현하고, 전처리·FPCA·부위 조합을 바꿔가며 개선을 시도했다</a:t>
            </a:r>
          </a:p>
          <a:p>
            <a:r>
              <a:rPr sz="1800"/>
              <a:t>개발은 Gangnam, 외부검증은 Sinchon(둘 다 단면 데이터)에서 같은 프레임(Youden cutoff·DeLong)으로 평가한다</a:t>
            </a:r>
          </a:p>
          <a:p>
            <a:r>
              <a:rPr sz="1800"/>
              <a:t>목적: 곡선 기반 확장이 Baseline 대비 얼마나, 그리고 코호트 간 일관되게 성능을 올리는지 확인하고, 일관되지 않다면 원인과 다음 단계를 제시한다</a:t>
            </a:r>
          </a:p>
        </p:txBody>
      </p:sp>
      <p:sp>
        <p:nvSpPr>
          <p:cNvPr id="4" name="슬라이드 번호 개체 틀 3">
            <a:extLst>
              <a:ext uri="{FF2B5EF4-FFF2-40B4-BE49-F238E27FC236}">
                <a16:creationId xmlns:a16="http://schemas.microsoft.com/office/drawing/2014/main" id="{D8F63E61-31BA-0C84-5523-4F90057F231B}"/>
              </a:ext>
            </a:extLst>
          </p:cNvPr>
          <p:cNvSpPr>
            <a:spLocks noGrp="1"/>
          </p:cNvSpPr>
          <p:nvPr>
            <p:ph type="sldNum" sz="quarter" idx="12"/>
          </p:nvPr>
        </p:nvSpPr>
        <p:spPr/>
        <p:txBody>
          <a:bodyPr/>
          <a:lstStyle/>
          <a:p>
            <a:fld id="{9F4AF89A-28FA-47FA-B28F-9A9C6913CB7A}" type="slidenum">
              <a:rPr lang="ko-KR" altLang="en-US" smtClean="0"/>
              <a:pPr/>
              <a:t>2</a:t>
            </a:fld>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Methods</a:t>
            </a:r>
          </a:p>
        </p:txBody>
      </p:sp>
      <p:graphicFrame>
        <p:nvGraphicFramePr>
          <p:cNvPr id="4" name="Table 3"/>
          <p:cNvGraphicFramePr>
            <a:graphicFrameLocks noGrp="1"/>
          </p:cNvGraphicFramePr>
          <p:nvPr>
            <p:extLst>
              <p:ext uri="{D42A27DB-BD31-4B8C-83A1-F6EECF244321}">
                <p14:modId xmlns:p14="http://schemas.microsoft.com/office/powerpoint/2010/main" val="2042106120"/>
              </p:ext>
            </p:extLst>
          </p:nvPr>
        </p:nvGraphicFramePr>
        <p:xfrm>
          <a:off x="512064" y="978408"/>
          <a:ext cx="11173968" cy="5124630"/>
        </p:xfrm>
        <a:graphic>
          <a:graphicData uri="http://schemas.openxmlformats.org/drawingml/2006/table">
            <a:tbl>
              <a:tblPr firstRow="1" bandRow="1">
                <a:tableStyleId>{C083E6E3-FA7D-4D7B-A595-EF9225AFEA82}</a:tableStyleId>
              </a:tblPr>
              <a:tblGrid>
                <a:gridCol w="2728093">
                  <a:extLst>
                    <a:ext uri="{9D8B030D-6E8A-4147-A177-3AD203B41FA5}">
                      <a16:colId xmlns:a16="http://schemas.microsoft.com/office/drawing/2014/main" val="20000"/>
                    </a:ext>
                  </a:extLst>
                </a:gridCol>
                <a:gridCol w="8445875">
                  <a:extLst>
                    <a:ext uri="{9D8B030D-6E8A-4147-A177-3AD203B41FA5}">
                      <a16:colId xmlns:a16="http://schemas.microsoft.com/office/drawing/2014/main" val="20001"/>
                    </a:ext>
                  </a:extLst>
                </a:gridCol>
              </a:tblGrid>
              <a:tr h="512463">
                <a:tc>
                  <a:txBody>
                    <a:bodyPr/>
                    <a:lstStyle/>
                    <a:p>
                      <a:pPr algn="ctr"/>
                      <a:r>
                        <a:rPr sz="1200" b="1"/>
                        <a:t>Item</a:t>
                      </a:r>
                    </a:p>
                  </a:txBody>
                  <a:tcPr anchor="ctr"/>
                </a:tc>
                <a:tc>
                  <a:txBody>
                    <a:bodyPr/>
                    <a:lstStyle/>
                    <a:p>
                      <a:pPr algn="l"/>
                      <a:r>
                        <a:rPr sz="1200" b="1"/>
                        <a:t>Detail</a:t>
                      </a:r>
                    </a:p>
                  </a:txBody>
                  <a:tcPr anchor="ctr"/>
                </a:tc>
                <a:extLst>
                  <a:ext uri="{0D108BD9-81ED-4DB2-BD59-A6C34878D82A}">
                    <a16:rowId xmlns:a16="http://schemas.microsoft.com/office/drawing/2014/main" val="10000"/>
                  </a:ext>
                </a:extLst>
              </a:tr>
              <a:tr h="512463">
                <a:tc>
                  <a:txBody>
                    <a:bodyPr/>
                    <a:lstStyle/>
                    <a:p>
                      <a:pPr algn="ctr"/>
                      <a:r>
                        <a:rPr sz="1200" b="0"/>
                        <a:t>Cohort</a:t>
                      </a:r>
                    </a:p>
                  </a:txBody>
                  <a:tcPr anchor="ctr"/>
                </a:tc>
                <a:tc>
                  <a:txBody>
                    <a:bodyPr/>
                    <a:lstStyle/>
                    <a:p>
                      <a:pPr algn="l"/>
                      <a:r>
                        <a:rPr sz="1200" b="0"/>
                        <a:t>Internal(Gangnam, n=1,260) 개발·내부검증 / External(Sinchon, n=1,123) 외부검증 — 둘 다 단면(cross-sectional)</a:t>
                      </a:r>
                    </a:p>
                  </a:txBody>
                  <a:tcPr anchor="ctr"/>
                </a:tc>
                <a:extLst>
                  <a:ext uri="{0D108BD9-81ED-4DB2-BD59-A6C34878D82A}">
                    <a16:rowId xmlns:a16="http://schemas.microsoft.com/office/drawing/2014/main" val="10001"/>
                  </a:ext>
                </a:extLst>
              </a:tr>
              <a:tr h="512463">
                <a:tc>
                  <a:txBody>
                    <a:bodyPr/>
                    <a:lstStyle/>
                    <a:p>
                      <a:pPr algn="ctr"/>
                      <a:r>
                        <a:rPr sz="1200" b="0"/>
                        <a:t>Input</a:t>
                      </a:r>
                    </a:p>
                  </a:txBody>
                  <a:tcPr anchor="ctr"/>
                </a:tc>
                <a:tc>
                  <a:txBody>
                    <a:bodyPr/>
                    <a:lstStyle/>
                    <a:p>
                      <a:pPr algn="l"/>
                      <a:r>
                        <a:rPr sz="1200" b="0"/>
                        <a:t>Clinic4 = Sex + Age + Height + Weight (Gangnam 기준 StandardScaler로 표준화)</a:t>
                      </a:r>
                    </a:p>
                  </a:txBody>
                  <a:tcPr anchor="ctr"/>
                </a:tc>
                <a:extLst>
                  <a:ext uri="{0D108BD9-81ED-4DB2-BD59-A6C34878D82A}">
                    <a16:rowId xmlns:a16="http://schemas.microsoft.com/office/drawing/2014/main" val="10002"/>
                  </a:ext>
                </a:extLst>
              </a:tr>
              <a:tr h="512463">
                <a:tc>
                  <a:txBody>
                    <a:bodyPr/>
                    <a:lstStyle/>
                    <a:p>
                      <a:pPr algn="ctr"/>
                      <a:r>
                        <a:rPr sz="1200" b="0"/>
                        <a:t>Outcome</a:t>
                      </a:r>
                    </a:p>
                  </a:txBody>
                  <a:tcPr anchor="ctr"/>
                </a:tc>
                <a:tc>
                  <a:txBody>
                    <a:bodyPr/>
                    <a:lstStyle/>
                    <a:p>
                      <a:pPr algn="l"/>
                      <a:r>
                        <a:rPr sz="1200" b="0"/>
                        <a:t>HTN / DM / CKD 각각 독립적인 logistic regression (질병마다 별도 split)</a:t>
                      </a:r>
                    </a:p>
                  </a:txBody>
                  <a:tcPr anchor="ctr"/>
                </a:tc>
                <a:extLst>
                  <a:ext uri="{0D108BD9-81ED-4DB2-BD59-A6C34878D82A}">
                    <a16:rowId xmlns:a16="http://schemas.microsoft.com/office/drawing/2014/main" val="10003"/>
                  </a:ext>
                </a:extLst>
              </a:tr>
              <a:tr h="512463">
                <a:tc>
                  <a:txBody>
                    <a:bodyPr/>
                    <a:lstStyle/>
                    <a:p>
                      <a:pPr algn="ctr"/>
                      <a:r>
                        <a:rPr sz="1200" b="0"/>
                        <a:t>Split</a:t>
                      </a:r>
                    </a:p>
                  </a:txBody>
                  <a:tcPr anchor="ctr"/>
                </a:tc>
                <a:tc>
                  <a:txBody>
                    <a:bodyPr/>
                    <a:lstStyle/>
                    <a:p>
                      <a:pPr algn="l"/>
                      <a:r>
                        <a:rPr sz="1200" b="0"/>
                        <a:t>patient-level train:valid:test = 7:1:2 (질병 라벨로 stratify)</a:t>
                      </a:r>
                    </a:p>
                  </a:txBody>
                  <a:tcPr anchor="ctr"/>
                </a:tc>
                <a:extLst>
                  <a:ext uri="{0D108BD9-81ED-4DB2-BD59-A6C34878D82A}">
                    <a16:rowId xmlns:a16="http://schemas.microsoft.com/office/drawing/2014/main" val="10004"/>
                  </a:ext>
                </a:extLst>
              </a:tr>
              <a:tr h="512463">
                <a:tc>
                  <a:txBody>
                    <a:bodyPr/>
                    <a:lstStyle/>
                    <a:p>
                      <a:pPr algn="ctr"/>
                      <a:r>
                        <a:rPr sz="1200" b="0"/>
                        <a:t>Tuning</a:t>
                      </a:r>
                    </a:p>
                  </a:txBody>
                  <a:tcPr anchor="ctr"/>
                </a:tc>
                <a:tc>
                  <a:txBody>
                    <a:bodyPr/>
                    <a:lstStyle/>
                    <a:p>
                      <a:pPr algn="l"/>
                      <a:r>
                        <a:rPr sz="1200" b="0"/>
                        <a:t>GridSearchCV(C×penalty(l1/l2)×class_weight, solver=liblinear, scoring=roc_auc), valid는 단일 predefined fold</a:t>
                      </a:r>
                    </a:p>
                  </a:txBody>
                  <a:tcPr anchor="ctr"/>
                </a:tc>
                <a:extLst>
                  <a:ext uri="{0D108BD9-81ED-4DB2-BD59-A6C34878D82A}">
                    <a16:rowId xmlns:a16="http://schemas.microsoft.com/office/drawing/2014/main" val="10005"/>
                  </a:ext>
                </a:extLst>
              </a:tr>
              <a:tr h="512463">
                <a:tc>
                  <a:txBody>
                    <a:bodyPr/>
                    <a:lstStyle/>
                    <a:p>
                      <a:pPr algn="ctr"/>
                      <a:r>
                        <a:rPr sz="1200" b="0"/>
                        <a:t>Cutoff</a:t>
                      </a:r>
                    </a:p>
                  </a:txBody>
                  <a:tcPr anchor="ctr"/>
                </a:tc>
                <a:tc>
                  <a:txBody>
                    <a:bodyPr/>
                    <a:lstStyle/>
                    <a:p>
                      <a:pPr algn="l"/>
                      <a:r>
                        <a:rPr sz="1200" b="0"/>
                        <a:t>valid ROC의 Youden index 최대점. 외부검증은 Gangnam에서 고정한 값을 그대로 적용</a:t>
                      </a:r>
                    </a:p>
                  </a:txBody>
                  <a:tcPr anchor="ctr"/>
                </a:tc>
                <a:extLst>
                  <a:ext uri="{0D108BD9-81ED-4DB2-BD59-A6C34878D82A}">
                    <a16:rowId xmlns:a16="http://schemas.microsoft.com/office/drawing/2014/main" val="10006"/>
                  </a:ext>
                </a:extLst>
              </a:tr>
              <a:tr h="512463">
                <a:tc>
                  <a:txBody>
                    <a:bodyPr/>
                    <a:lstStyle/>
                    <a:p>
                      <a:pPr algn="ctr"/>
                      <a:r>
                        <a:rPr sz="1200" b="0"/>
                        <a:t>External validation</a:t>
                      </a:r>
                    </a:p>
                  </a:txBody>
                  <a:tcPr anchor="ctr"/>
                </a:tc>
                <a:tc>
                  <a:txBody>
                    <a:bodyPr/>
                    <a:lstStyle/>
                    <a:p>
                      <a:pPr algn="l"/>
                      <a:r>
                        <a:rPr sz="1200" b="0"/>
                        <a:t>train+valid로 재학습한 frozen 모델(scaler 포함)을 Sinchon에 재학습 없이 적용</a:t>
                      </a:r>
                    </a:p>
                  </a:txBody>
                  <a:tcPr anchor="ctr"/>
                </a:tc>
                <a:extLst>
                  <a:ext uri="{0D108BD9-81ED-4DB2-BD59-A6C34878D82A}">
                    <a16:rowId xmlns:a16="http://schemas.microsoft.com/office/drawing/2014/main" val="10007"/>
                  </a:ext>
                </a:extLst>
              </a:tr>
              <a:tr h="512463">
                <a:tc>
                  <a:txBody>
                    <a:bodyPr/>
                    <a:lstStyle/>
                    <a:p>
                      <a:pPr algn="ctr"/>
                      <a:r>
                        <a:rPr sz="1200" b="0"/>
                        <a:t>Extended input</a:t>
                      </a:r>
                    </a:p>
                  </a:txBody>
                  <a:tcPr anchor="ctr"/>
                </a:tc>
                <a:tc>
                  <a:txBody>
                    <a:bodyPr/>
                    <a:lstStyle/>
                    <a:p>
                      <a:pPr algn="l"/>
                      <a:r>
                        <a:rPr sz="1200" b="0"/>
                        <a:t>AEC + 체성분(VAT/SAT/LAMA/NAMA/IMATA) 128구간 곡선(liver→pubis crop, 전처리 없음)을 FPCA로 압축해 추가</a:t>
                      </a:r>
                    </a:p>
                  </a:txBody>
                  <a:tcPr anchor="ctr"/>
                </a:tc>
                <a:extLst>
                  <a:ext uri="{0D108BD9-81ED-4DB2-BD59-A6C34878D82A}">
                    <a16:rowId xmlns:a16="http://schemas.microsoft.com/office/drawing/2014/main" val="10008"/>
                  </a:ext>
                </a:extLst>
              </a:tr>
              <a:tr h="512463">
                <a:tc>
                  <a:txBody>
                    <a:bodyPr/>
                    <a:lstStyle/>
                    <a:p>
                      <a:pPr algn="ctr"/>
                      <a:r>
                        <a:rPr sz="1200" b="0"/>
                        <a:t>Comparison</a:t>
                      </a:r>
                    </a:p>
                  </a:txBody>
                  <a:tcPr anchor="ctr"/>
                </a:tc>
                <a:tc>
                  <a:txBody>
                    <a:bodyPr/>
                    <a:lstStyle/>
                    <a:p>
                      <a:pPr algn="l"/>
                      <a:r>
                        <a:rPr sz="1200" b="0" dirty="0"/>
                        <a:t>Baseline </a:t>
                      </a:r>
                      <a:r>
                        <a:rPr sz="1200" b="0" dirty="0" err="1"/>
                        <a:t>대비</a:t>
                      </a:r>
                      <a:r>
                        <a:rPr sz="1200" b="0" dirty="0"/>
                        <a:t> </a:t>
                      </a:r>
                      <a:r>
                        <a:rPr sz="1200" b="0" dirty="0" err="1"/>
                        <a:t>patient_id로</a:t>
                      </a:r>
                      <a:r>
                        <a:rPr sz="1200" b="0" dirty="0"/>
                        <a:t> </a:t>
                      </a:r>
                      <a:r>
                        <a:rPr sz="1200" b="0" dirty="0" err="1"/>
                        <a:t>짝지은</a:t>
                      </a:r>
                      <a:r>
                        <a:rPr sz="1200" b="0" dirty="0"/>
                        <a:t> paired DeLong </a:t>
                      </a:r>
                      <a:r>
                        <a:rPr sz="1200" b="0" dirty="0" err="1"/>
                        <a:t>test로</a:t>
                      </a:r>
                      <a:r>
                        <a:rPr sz="1200" b="0" dirty="0"/>
                        <a:t> AUC </a:t>
                      </a:r>
                      <a:r>
                        <a:rPr sz="1200" b="0" dirty="0" err="1"/>
                        <a:t>차이</a:t>
                      </a:r>
                      <a:r>
                        <a:rPr sz="1200" b="0" dirty="0"/>
                        <a:t> </a:t>
                      </a:r>
                      <a:r>
                        <a:rPr sz="1200" b="0" dirty="0" err="1"/>
                        <a:t>검정</a:t>
                      </a:r>
                      <a:r>
                        <a:rPr sz="1200" b="0" dirty="0"/>
                        <a:t> (* p&lt;0.05, </a:t>
                      </a:r>
                      <a:r>
                        <a:rPr sz="1200" b="0" dirty="0" err="1"/>
                        <a:t>보정</a:t>
                      </a:r>
                      <a:r>
                        <a:rPr sz="1200" b="0" dirty="0"/>
                        <a:t> 전)</a:t>
                      </a:r>
                    </a:p>
                  </a:txBody>
                  <a:tcPr anchor="ctr"/>
                </a:tc>
                <a:extLst>
                  <a:ext uri="{0D108BD9-81ED-4DB2-BD59-A6C34878D82A}">
                    <a16:rowId xmlns:a16="http://schemas.microsoft.com/office/drawing/2014/main" val="10009"/>
                  </a:ext>
                </a:extLst>
              </a:tr>
            </a:tbl>
          </a:graphicData>
        </a:graphic>
      </p:graphicFrame>
      <p:sp>
        <p:nvSpPr>
          <p:cNvPr id="3" name="슬라이드 번호 개체 틀 2">
            <a:extLst>
              <a:ext uri="{FF2B5EF4-FFF2-40B4-BE49-F238E27FC236}">
                <a16:creationId xmlns:a16="http://schemas.microsoft.com/office/drawing/2014/main" id="{A2A07828-50EF-3A57-FEBD-8ED533A26CE3}"/>
              </a:ext>
            </a:extLst>
          </p:cNvPr>
          <p:cNvSpPr>
            <a:spLocks noGrp="1"/>
          </p:cNvSpPr>
          <p:nvPr>
            <p:ph type="sldNum" sz="quarter" idx="12"/>
          </p:nvPr>
        </p:nvSpPr>
        <p:spPr/>
        <p:txBody>
          <a:bodyPr/>
          <a:lstStyle/>
          <a:p>
            <a:fld id="{9F4AF89A-28FA-47FA-B28F-9A9C6913CB7A}" type="slidenum">
              <a:rPr lang="ko-KR" altLang="en-US" smtClean="0"/>
              <a:pPr/>
              <a:t>3</a:t>
            </a:fld>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Table 1. Baseline Characteristics — Internal (Gangnam) vs External (Sinchon)</a:t>
            </a:r>
          </a:p>
        </p:txBody>
      </p:sp>
      <p:graphicFrame>
        <p:nvGraphicFramePr>
          <p:cNvPr id="3" name="Table 2"/>
          <p:cNvGraphicFramePr>
            <a:graphicFrameLocks noGrp="1"/>
          </p:cNvGraphicFramePr>
          <p:nvPr>
            <p:extLst>
              <p:ext uri="{D42A27DB-BD31-4B8C-83A1-F6EECF244321}">
                <p14:modId xmlns:p14="http://schemas.microsoft.com/office/powerpoint/2010/main" val="2960264235"/>
              </p:ext>
            </p:extLst>
          </p:nvPr>
        </p:nvGraphicFramePr>
        <p:xfrm>
          <a:off x="512064" y="978408"/>
          <a:ext cx="11173968" cy="4896000"/>
        </p:xfrm>
        <a:graphic>
          <a:graphicData uri="http://schemas.openxmlformats.org/drawingml/2006/table">
            <a:tbl>
              <a:tblPr firstRow="1" bandRow="1">
                <a:tableStyleId>{C083E6E3-FA7D-4D7B-A595-EF9225AFEA82}</a:tableStyleId>
              </a:tblPr>
              <a:tblGrid>
                <a:gridCol w="2793492">
                  <a:extLst>
                    <a:ext uri="{9D8B030D-6E8A-4147-A177-3AD203B41FA5}">
                      <a16:colId xmlns:a16="http://schemas.microsoft.com/office/drawing/2014/main" val="20000"/>
                    </a:ext>
                  </a:extLst>
                </a:gridCol>
                <a:gridCol w="2793492">
                  <a:extLst>
                    <a:ext uri="{9D8B030D-6E8A-4147-A177-3AD203B41FA5}">
                      <a16:colId xmlns:a16="http://schemas.microsoft.com/office/drawing/2014/main" val="20001"/>
                    </a:ext>
                  </a:extLst>
                </a:gridCol>
                <a:gridCol w="2793492">
                  <a:extLst>
                    <a:ext uri="{9D8B030D-6E8A-4147-A177-3AD203B41FA5}">
                      <a16:colId xmlns:a16="http://schemas.microsoft.com/office/drawing/2014/main" val="20002"/>
                    </a:ext>
                  </a:extLst>
                </a:gridCol>
                <a:gridCol w="2793492">
                  <a:extLst>
                    <a:ext uri="{9D8B030D-6E8A-4147-A177-3AD203B41FA5}">
                      <a16:colId xmlns:a16="http://schemas.microsoft.com/office/drawing/2014/main" val="20003"/>
                    </a:ext>
                  </a:extLst>
                </a:gridCol>
              </a:tblGrid>
              <a:tr h="288000">
                <a:tc>
                  <a:txBody>
                    <a:bodyPr/>
                    <a:lstStyle/>
                    <a:p>
                      <a:pPr algn="ctr"/>
                      <a:r>
                        <a:rPr sz="1200" b="1" dirty="0"/>
                        <a:t>Characteristic</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1"/>
                        <a:t>Gangnam</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1"/>
                        <a:t>Sinchon</a:t>
                      </a:r>
                    </a:p>
                  </a:txBody>
                  <a:tcPr anchor="ctr"/>
                </a:tc>
                <a:tc>
                  <a:txBody>
                    <a:bodyPr/>
                    <a:lstStyle/>
                    <a:p>
                      <a:pPr algn="ctr"/>
                      <a:r>
                        <a:rPr sz="1200" b="1"/>
                        <a:t>p-value</a:t>
                      </a:r>
                    </a:p>
                  </a:txBody>
                  <a:tcPr anchor="ctr"/>
                </a:tc>
                <a:extLst>
                  <a:ext uri="{0D108BD9-81ED-4DB2-BD59-A6C34878D82A}">
                    <a16:rowId xmlns:a16="http://schemas.microsoft.com/office/drawing/2014/main" val="10000"/>
                  </a:ext>
                </a:extLst>
              </a:tr>
              <a:tr h="288000">
                <a:tc>
                  <a:txBody>
                    <a:bodyPr/>
                    <a:lstStyle/>
                    <a:p>
                      <a:pPr algn="ctr"/>
                      <a:r>
                        <a:rPr sz="1200" b="0" dirty="0"/>
                        <a:t>n</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dirty="0"/>
                        <a:t>1260</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dirty="0"/>
                        <a:t>1123</a:t>
                      </a:r>
                    </a:p>
                  </a:txBody>
                  <a:tcPr anchor="ctr"/>
                </a:tc>
                <a:tc>
                  <a:txBody>
                    <a:bodyPr/>
                    <a:lstStyle/>
                    <a:p>
                      <a:pPr algn="ctr"/>
                      <a:endParaRPr sz="1200" b="0" dirty="0"/>
                    </a:p>
                  </a:txBody>
                  <a:tcPr anchor="ctr"/>
                </a:tc>
                <a:extLst>
                  <a:ext uri="{0D108BD9-81ED-4DB2-BD59-A6C34878D82A}">
                    <a16:rowId xmlns:a16="http://schemas.microsoft.com/office/drawing/2014/main" val="2641951059"/>
                  </a:ext>
                </a:extLst>
              </a:tr>
              <a:tr h="288000">
                <a:tc>
                  <a:txBody>
                    <a:bodyPr/>
                    <a:lstStyle/>
                    <a:p>
                      <a:pPr algn="ctr"/>
                      <a:r>
                        <a:rPr sz="1200" b="0" dirty="0"/>
                        <a:t>Sex (Male), n (%)</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dirty="0"/>
                        <a:t>475 (37.7%)</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dirty="0"/>
                        <a:t>547 (48.7%)</a:t>
                      </a:r>
                    </a:p>
                  </a:txBody>
                  <a:tcPr anchor="ctr"/>
                </a:tc>
                <a:tc>
                  <a:txBody>
                    <a:bodyPr/>
                    <a:lstStyle/>
                    <a:p>
                      <a:pPr algn="ctr"/>
                      <a:r>
                        <a:rPr sz="1200" b="0" dirty="0"/>
                        <a:t>&lt;0.001</a:t>
                      </a:r>
                    </a:p>
                  </a:txBody>
                  <a:tcPr anchor="ctr"/>
                </a:tc>
                <a:extLst>
                  <a:ext uri="{0D108BD9-81ED-4DB2-BD59-A6C34878D82A}">
                    <a16:rowId xmlns:a16="http://schemas.microsoft.com/office/drawing/2014/main" val="10002"/>
                  </a:ext>
                </a:extLst>
              </a:tr>
              <a:tr h="288000">
                <a:tc>
                  <a:txBody>
                    <a:bodyPr/>
                    <a:lstStyle/>
                    <a:p>
                      <a:pPr algn="ctr"/>
                      <a:r>
                        <a:rPr sz="1200" b="0"/>
                        <a:t>Age</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57.3 ± 12.1</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59.7 ± 12.3</a:t>
                      </a:r>
                    </a:p>
                  </a:txBody>
                  <a:tcPr anchor="ctr"/>
                </a:tc>
                <a:tc>
                  <a:txBody>
                    <a:bodyPr/>
                    <a:lstStyle/>
                    <a:p>
                      <a:pPr algn="ctr"/>
                      <a:r>
                        <a:rPr sz="1200" b="0"/>
                        <a:t>&lt;0.001</a:t>
                      </a:r>
                    </a:p>
                  </a:txBody>
                  <a:tcPr anchor="ctr"/>
                </a:tc>
                <a:extLst>
                  <a:ext uri="{0D108BD9-81ED-4DB2-BD59-A6C34878D82A}">
                    <a16:rowId xmlns:a16="http://schemas.microsoft.com/office/drawing/2014/main" val="10003"/>
                  </a:ext>
                </a:extLst>
              </a:tr>
              <a:tr h="288000">
                <a:tc>
                  <a:txBody>
                    <a:bodyPr/>
                    <a:lstStyle/>
                    <a:p>
                      <a:pPr algn="ctr"/>
                      <a:r>
                        <a:rPr sz="1200" b="0" dirty="0"/>
                        <a:t>Height</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162.8 ± 8.0</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163.7 ± 8.3</a:t>
                      </a:r>
                    </a:p>
                  </a:txBody>
                  <a:tcPr anchor="ctr"/>
                </a:tc>
                <a:tc>
                  <a:txBody>
                    <a:bodyPr/>
                    <a:lstStyle/>
                    <a:p>
                      <a:pPr algn="ctr"/>
                      <a:r>
                        <a:rPr sz="1200" b="0"/>
                        <a:t>0.018</a:t>
                      </a:r>
                    </a:p>
                  </a:txBody>
                  <a:tcPr anchor="ctr"/>
                </a:tc>
                <a:extLst>
                  <a:ext uri="{0D108BD9-81ED-4DB2-BD59-A6C34878D82A}">
                    <a16:rowId xmlns:a16="http://schemas.microsoft.com/office/drawing/2014/main" val="10004"/>
                  </a:ext>
                </a:extLst>
              </a:tr>
              <a:tr h="288000">
                <a:tc>
                  <a:txBody>
                    <a:bodyPr/>
                    <a:lstStyle/>
                    <a:p>
                      <a:pPr algn="ctr"/>
                      <a:r>
                        <a:rPr sz="1200" b="0"/>
                        <a:t>Weight</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62.0 ± 10.1</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62.4 ± 10.1</a:t>
                      </a:r>
                    </a:p>
                  </a:txBody>
                  <a:tcPr anchor="ctr"/>
                </a:tc>
                <a:tc>
                  <a:txBody>
                    <a:bodyPr/>
                    <a:lstStyle/>
                    <a:p>
                      <a:pPr algn="ctr"/>
                      <a:r>
                        <a:rPr sz="1200" b="0"/>
                        <a:t>0.359</a:t>
                      </a:r>
                    </a:p>
                  </a:txBody>
                  <a:tcPr anchor="ctr"/>
                </a:tc>
                <a:extLst>
                  <a:ext uri="{0D108BD9-81ED-4DB2-BD59-A6C34878D82A}">
                    <a16:rowId xmlns:a16="http://schemas.microsoft.com/office/drawing/2014/main" val="10005"/>
                  </a:ext>
                </a:extLst>
              </a:tr>
              <a:tr h="288000">
                <a:tc>
                  <a:txBody>
                    <a:bodyPr/>
                    <a:lstStyle/>
                    <a:p>
                      <a:pPr algn="ctr"/>
                      <a:r>
                        <a:rPr sz="1200" b="0" dirty="0"/>
                        <a:t>BMI</a:t>
                      </a:r>
                    </a:p>
                  </a:txBody>
                  <a:tcPr anchor="ctr">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tcPr>
                </a:tc>
                <a:tc>
                  <a:txBody>
                    <a:bodyPr/>
                    <a:lstStyle/>
                    <a:p>
                      <a:pPr algn="ctr"/>
                      <a:r>
                        <a:rPr sz="1200" b="0"/>
                        <a:t>23.3 ± 2.9</a:t>
                      </a:r>
                    </a:p>
                  </a:txBody>
                  <a:tcPr anchor="ctr">
                    <a:lnL w="12700" cap="flat" cmpd="sng" algn="ctr">
                      <a:solidFill>
                        <a:schemeClr val="bg1">
                          <a:lumMod val="75000"/>
                        </a:schemeClr>
                      </a:solidFill>
                      <a:prstDash val="solid"/>
                      <a:round/>
                      <a:headEnd type="none" w="med" len="med"/>
                      <a:tailEnd type="none" w="med" len="med"/>
                    </a:lnL>
                    <a:lnB w="12700" cap="flat" cmpd="sng" algn="ctr">
                      <a:solidFill>
                        <a:schemeClr val="bg1">
                          <a:lumMod val="75000"/>
                        </a:schemeClr>
                      </a:solidFill>
                      <a:prstDash val="solid"/>
                      <a:round/>
                      <a:headEnd type="none" w="med" len="med"/>
                      <a:tailEnd type="none" w="med" len="med"/>
                    </a:lnB>
                  </a:tcPr>
                </a:tc>
                <a:tc>
                  <a:txBody>
                    <a:bodyPr/>
                    <a:lstStyle/>
                    <a:p>
                      <a:pPr algn="ctr"/>
                      <a:r>
                        <a:rPr sz="1200" b="0"/>
                        <a:t>23.2 ± 2.9</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0.322</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88000">
                <a:tc>
                  <a:txBody>
                    <a:bodyPr/>
                    <a:lstStyle/>
                    <a:p>
                      <a:pPr algn="ctr"/>
                      <a:r>
                        <a:rPr sz="1200" b="0" dirty="0"/>
                        <a:t>SMI</a:t>
                      </a: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pPr algn="ctr"/>
                      <a:r>
                        <a:rPr sz="1200" b="0"/>
                        <a:t>6873.5 ± 1562.8</a:t>
                      </a:r>
                    </a:p>
                  </a:txBody>
                  <a:tcPr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tc>
                  <a:txBody>
                    <a:bodyPr/>
                    <a:lstStyle/>
                    <a:p>
                      <a:pPr algn="ctr"/>
                      <a:r>
                        <a:rPr sz="1200" b="0"/>
                        <a:t>6661.3 ± 1639.9</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0.108</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7"/>
                  </a:ext>
                </a:extLst>
              </a:tr>
              <a:tr h="288000">
                <a:tc>
                  <a:txBody>
                    <a:bodyPr/>
                    <a:lstStyle/>
                    <a:p>
                      <a:pPr algn="ctr"/>
                      <a:r>
                        <a:rPr sz="1200" b="0"/>
                        <a:t>VAT</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8486.2 ± 5165.1</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9096.4 ± 5280.4</a:t>
                      </a:r>
                    </a:p>
                  </a:txBody>
                  <a:tcPr anchor="ctr"/>
                </a:tc>
                <a:tc>
                  <a:txBody>
                    <a:bodyPr/>
                    <a:lstStyle/>
                    <a:p>
                      <a:pPr algn="ctr"/>
                      <a:r>
                        <a:rPr sz="1200" b="0"/>
                        <a:t>0.002</a:t>
                      </a:r>
                    </a:p>
                  </a:txBody>
                  <a:tcPr anchor="ctr"/>
                </a:tc>
                <a:extLst>
                  <a:ext uri="{0D108BD9-81ED-4DB2-BD59-A6C34878D82A}">
                    <a16:rowId xmlns:a16="http://schemas.microsoft.com/office/drawing/2014/main" val="10008"/>
                  </a:ext>
                </a:extLst>
              </a:tr>
              <a:tr h="288000">
                <a:tc>
                  <a:txBody>
                    <a:bodyPr/>
                    <a:lstStyle/>
                    <a:p>
                      <a:pPr algn="ctr"/>
                      <a:r>
                        <a:rPr sz="1200" b="0" dirty="0"/>
                        <a:t>SAT</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19243.6 ± 7914.4</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17914.4 ± 8631.1</a:t>
                      </a:r>
                    </a:p>
                  </a:txBody>
                  <a:tcPr anchor="ctr"/>
                </a:tc>
                <a:tc>
                  <a:txBody>
                    <a:bodyPr/>
                    <a:lstStyle/>
                    <a:p>
                      <a:pPr algn="ctr"/>
                      <a:r>
                        <a:rPr sz="1200" b="0"/>
                        <a:t>&lt;0.001</a:t>
                      </a:r>
                    </a:p>
                  </a:txBody>
                  <a:tcPr anchor="ctr"/>
                </a:tc>
                <a:extLst>
                  <a:ext uri="{0D108BD9-81ED-4DB2-BD59-A6C34878D82A}">
                    <a16:rowId xmlns:a16="http://schemas.microsoft.com/office/drawing/2014/main" val="10009"/>
                  </a:ext>
                </a:extLst>
              </a:tr>
              <a:tr h="288000">
                <a:tc>
                  <a:txBody>
                    <a:bodyPr/>
                    <a:lstStyle/>
                    <a:p>
                      <a:pPr algn="ctr"/>
                      <a:r>
                        <a:rPr sz="1200" b="0" dirty="0"/>
                        <a:t>IMATA</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1175.5 ± 576.0</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1224.9 ± 617.6</a:t>
                      </a:r>
                    </a:p>
                  </a:txBody>
                  <a:tcPr anchor="ctr"/>
                </a:tc>
                <a:tc>
                  <a:txBody>
                    <a:bodyPr/>
                    <a:lstStyle/>
                    <a:p>
                      <a:pPr algn="ctr"/>
                      <a:r>
                        <a:rPr sz="1200" b="0"/>
                        <a:t>0.019</a:t>
                      </a:r>
                    </a:p>
                  </a:txBody>
                  <a:tcPr anchor="ctr"/>
                </a:tc>
                <a:extLst>
                  <a:ext uri="{0D108BD9-81ED-4DB2-BD59-A6C34878D82A}">
                    <a16:rowId xmlns:a16="http://schemas.microsoft.com/office/drawing/2014/main" val="10010"/>
                  </a:ext>
                </a:extLst>
              </a:tr>
              <a:tr h="288000">
                <a:tc>
                  <a:txBody>
                    <a:bodyPr/>
                    <a:lstStyle/>
                    <a:p>
                      <a:pPr algn="ctr"/>
                      <a:r>
                        <a:rPr sz="1200" b="0" dirty="0"/>
                        <a:t>NAMA</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14279.5 ± 4408.5</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12931.5 ± 4709.8</a:t>
                      </a:r>
                    </a:p>
                  </a:txBody>
                  <a:tcPr anchor="ctr"/>
                </a:tc>
                <a:tc>
                  <a:txBody>
                    <a:bodyPr/>
                    <a:lstStyle/>
                    <a:p>
                      <a:pPr algn="ctr"/>
                      <a:r>
                        <a:rPr sz="1200" b="0"/>
                        <a:t>&lt;0.001</a:t>
                      </a:r>
                    </a:p>
                  </a:txBody>
                  <a:tcPr anchor="ctr"/>
                </a:tc>
                <a:extLst>
                  <a:ext uri="{0D108BD9-81ED-4DB2-BD59-A6C34878D82A}">
                    <a16:rowId xmlns:a16="http://schemas.microsoft.com/office/drawing/2014/main" val="10011"/>
                  </a:ext>
                </a:extLst>
              </a:tr>
              <a:tr h="288000">
                <a:tc>
                  <a:txBody>
                    <a:bodyPr/>
                    <a:lstStyle/>
                    <a:p>
                      <a:pPr algn="ctr"/>
                      <a:r>
                        <a:rPr sz="1200" b="0" dirty="0"/>
                        <a:t>LAMA</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4127.4 ± 1962.2</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5093.2 ± 2123.8</a:t>
                      </a:r>
                    </a:p>
                  </a:txBody>
                  <a:tcPr anchor="ctr"/>
                </a:tc>
                <a:tc>
                  <a:txBody>
                    <a:bodyPr/>
                    <a:lstStyle/>
                    <a:p>
                      <a:pPr algn="ctr"/>
                      <a:r>
                        <a:rPr sz="1200" b="0"/>
                        <a:t>&lt;0.001</a:t>
                      </a:r>
                    </a:p>
                  </a:txBody>
                  <a:tcPr anchor="ctr"/>
                </a:tc>
                <a:extLst>
                  <a:ext uri="{0D108BD9-81ED-4DB2-BD59-A6C34878D82A}">
                    <a16:rowId xmlns:a16="http://schemas.microsoft.com/office/drawing/2014/main" val="10012"/>
                  </a:ext>
                </a:extLst>
              </a:tr>
              <a:tr h="288000">
                <a:tc>
                  <a:txBody>
                    <a:bodyPr/>
                    <a:lstStyle/>
                    <a:p>
                      <a:pPr algn="ctr"/>
                      <a:r>
                        <a:rPr sz="1200" b="0" dirty="0"/>
                        <a:t>TAMA</a:t>
                      </a:r>
                    </a:p>
                  </a:txBody>
                  <a:tcPr anchor="ctr">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tcPr>
                </a:tc>
                <a:tc>
                  <a:txBody>
                    <a:bodyPr/>
                    <a:lstStyle/>
                    <a:p>
                      <a:pPr algn="ctr"/>
                      <a:r>
                        <a:rPr sz="1200" b="0"/>
                        <a:t>18406.9 ± 5171.0</a:t>
                      </a:r>
                    </a:p>
                  </a:txBody>
                  <a:tcPr anchor="ctr">
                    <a:lnL w="12700" cap="flat" cmpd="sng" algn="ctr">
                      <a:solidFill>
                        <a:schemeClr val="bg1">
                          <a:lumMod val="75000"/>
                        </a:schemeClr>
                      </a:solidFill>
                      <a:prstDash val="solid"/>
                      <a:round/>
                      <a:headEnd type="none" w="med" len="med"/>
                      <a:tailEnd type="none" w="med" len="med"/>
                    </a:lnL>
                    <a:lnB w="12700" cap="flat" cmpd="sng" algn="ctr">
                      <a:solidFill>
                        <a:schemeClr val="bg1">
                          <a:lumMod val="75000"/>
                        </a:schemeClr>
                      </a:solidFill>
                      <a:prstDash val="solid"/>
                      <a:round/>
                      <a:headEnd type="none" w="med" len="med"/>
                      <a:tailEnd type="none" w="med" len="med"/>
                    </a:lnB>
                  </a:tcPr>
                </a:tc>
                <a:tc>
                  <a:txBody>
                    <a:bodyPr/>
                    <a:lstStyle/>
                    <a:p>
                      <a:pPr algn="ctr"/>
                      <a:r>
                        <a:rPr sz="1200" b="0"/>
                        <a:t>18024.7 ± 5311.8</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0.378</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r h="288000">
                <a:tc>
                  <a:txBody>
                    <a:bodyPr/>
                    <a:lstStyle/>
                    <a:p>
                      <a:pPr algn="ctr"/>
                      <a:r>
                        <a:rPr sz="1200" b="0" dirty="0"/>
                        <a:t>HTN, n (%)</a:t>
                      </a: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pPr algn="ctr"/>
                      <a:r>
                        <a:rPr sz="1200" b="0"/>
                        <a:t>386 (30.6%)</a:t>
                      </a:r>
                    </a:p>
                  </a:txBody>
                  <a:tcPr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tc>
                  <a:txBody>
                    <a:bodyPr/>
                    <a:lstStyle/>
                    <a:p>
                      <a:pPr algn="ctr"/>
                      <a:r>
                        <a:rPr sz="1200" b="0"/>
                        <a:t>507 (45.1%)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&lt;0.001</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14"/>
                  </a:ext>
                </a:extLst>
              </a:tr>
              <a:tr h="288000">
                <a:tc>
                  <a:txBody>
                    <a:bodyPr/>
                    <a:lstStyle/>
                    <a:p>
                      <a:pPr algn="ctr"/>
                      <a:r>
                        <a:rPr sz="1200" b="0" dirty="0"/>
                        <a:t>DM, n (%)</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233 (18.5%)</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335 (29.8%)</a:t>
                      </a:r>
                    </a:p>
                  </a:txBody>
                  <a:tcPr anchor="ctr"/>
                </a:tc>
                <a:tc>
                  <a:txBody>
                    <a:bodyPr/>
                    <a:lstStyle/>
                    <a:p>
                      <a:pPr algn="ctr"/>
                      <a:r>
                        <a:rPr sz="1200" b="0"/>
                        <a:t>&lt;0.001</a:t>
                      </a:r>
                    </a:p>
                  </a:txBody>
                  <a:tcPr anchor="ctr"/>
                </a:tc>
                <a:extLst>
                  <a:ext uri="{0D108BD9-81ED-4DB2-BD59-A6C34878D82A}">
                    <a16:rowId xmlns:a16="http://schemas.microsoft.com/office/drawing/2014/main" val="10015"/>
                  </a:ext>
                </a:extLst>
              </a:tr>
              <a:tr h="288000">
                <a:tc>
                  <a:txBody>
                    <a:bodyPr/>
                    <a:lstStyle/>
                    <a:p>
                      <a:pPr algn="ctr"/>
                      <a:r>
                        <a:rPr sz="1200" b="0" dirty="0"/>
                        <a:t>CKD, n (%)</a:t>
                      </a:r>
                    </a:p>
                  </a:txBody>
                  <a:tcPr anchor="ctr">
                    <a:lnR w="12700" cap="flat" cmpd="sng" algn="ctr">
                      <a:solidFill>
                        <a:schemeClr val="bg1">
                          <a:lumMod val="75000"/>
                        </a:schemeClr>
                      </a:solidFill>
                      <a:prstDash val="solid"/>
                      <a:round/>
                      <a:headEnd type="none" w="med" len="med"/>
                      <a:tailEnd type="none" w="med" len="med"/>
                    </a:lnR>
                  </a:tcPr>
                </a:tc>
                <a:tc>
                  <a:txBody>
                    <a:bodyPr/>
                    <a:lstStyle/>
                    <a:p>
                      <a:pPr algn="ctr"/>
                      <a:r>
                        <a:rPr sz="1200" b="0"/>
                        <a:t>105 (8.3%)</a:t>
                      </a:r>
                    </a:p>
                  </a:txBody>
                  <a:tcPr anchor="ctr">
                    <a:lnL w="12700" cap="flat" cmpd="sng" algn="ctr">
                      <a:solidFill>
                        <a:schemeClr val="bg1">
                          <a:lumMod val="75000"/>
                        </a:schemeClr>
                      </a:solidFill>
                      <a:prstDash val="solid"/>
                      <a:round/>
                      <a:headEnd type="none" w="med" len="med"/>
                      <a:tailEnd type="none" w="med" len="med"/>
                    </a:lnL>
                  </a:tcPr>
                </a:tc>
                <a:tc>
                  <a:txBody>
                    <a:bodyPr/>
                    <a:lstStyle/>
                    <a:p>
                      <a:pPr algn="ctr"/>
                      <a:r>
                        <a:rPr sz="1200" b="0"/>
                        <a:t>188 (16.7%)</a:t>
                      </a:r>
                    </a:p>
                  </a:txBody>
                  <a:tcPr anchor="ctr"/>
                </a:tc>
                <a:tc>
                  <a:txBody>
                    <a:bodyPr/>
                    <a:lstStyle/>
                    <a:p>
                      <a:pPr algn="ctr"/>
                      <a:r>
                        <a:rPr sz="1200" b="0" dirty="0"/>
                        <a:t>&lt;0.001</a:t>
                      </a:r>
                    </a:p>
                  </a:txBody>
                  <a:tcPr anchor="ctr"/>
                </a:tc>
                <a:extLst>
                  <a:ext uri="{0D108BD9-81ED-4DB2-BD59-A6C34878D82A}">
                    <a16:rowId xmlns:a16="http://schemas.microsoft.com/office/drawing/2014/main" val="10016"/>
                  </a:ext>
                </a:extLst>
              </a:tr>
            </a:tbl>
          </a:graphicData>
        </a:graphic>
      </p:graphicFrame>
      <p:sp>
        <p:nvSpPr>
          <p:cNvPr id="4" name="슬라이드 번호 개체 틀 3">
            <a:extLst>
              <a:ext uri="{FF2B5EF4-FFF2-40B4-BE49-F238E27FC236}">
                <a16:creationId xmlns:a16="http://schemas.microsoft.com/office/drawing/2014/main" id="{048D9492-77D8-9D4C-A0F4-E86DA11F67DE}"/>
              </a:ext>
            </a:extLst>
          </p:cNvPr>
          <p:cNvSpPr>
            <a:spLocks noGrp="1"/>
          </p:cNvSpPr>
          <p:nvPr>
            <p:ph type="sldNum" sz="quarter" idx="12"/>
          </p:nvPr>
        </p:nvSpPr>
        <p:spPr/>
        <p:txBody>
          <a:bodyPr/>
          <a:lstStyle/>
          <a:p>
            <a:fld id="{9F4AF89A-28FA-47FA-B28F-9A9C6913CB7A}" type="slidenum">
              <a:rPr lang="ko-KR" altLang="en-US" smtClean="0"/>
              <a:pPr/>
              <a:t>4</a:t>
            </a:fld>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Table 2. Performance — Baseline vs Best (+</a:t>
            </a:r>
            <a:r>
              <a:rPr dirty="0" err="1"/>
              <a:t>AEC+체성분</a:t>
            </a:r>
            <a:r>
              <a:rPr dirty="0"/>
              <a:t>), Internal &amp; External</a:t>
            </a:r>
          </a:p>
        </p:txBody>
      </p:sp>
      <p:graphicFrame>
        <p:nvGraphicFramePr>
          <p:cNvPr id="3" name="Table 2"/>
          <p:cNvGraphicFramePr>
            <a:graphicFrameLocks noGrp="1"/>
          </p:cNvGraphicFramePr>
          <p:nvPr>
            <p:extLst>
              <p:ext uri="{D42A27DB-BD31-4B8C-83A1-F6EECF244321}">
                <p14:modId xmlns:p14="http://schemas.microsoft.com/office/powerpoint/2010/main" val="1787112704"/>
              </p:ext>
            </p:extLst>
          </p:nvPr>
        </p:nvGraphicFramePr>
        <p:xfrm>
          <a:off x="512064" y="978408"/>
          <a:ext cx="11173967" cy="5124626"/>
        </p:xfrm>
        <a:graphic>
          <a:graphicData uri="http://schemas.openxmlformats.org/drawingml/2006/table">
            <a:tbl>
              <a:tblPr firstRow="1" bandRow="1">
                <a:tableStyleId>{C083E6E3-FA7D-4D7B-A595-EF9225AFEA82}</a:tableStyleId>
              </a:tblPr>
              <a:tblGrid>
                <a:gridCol w="1596281">
                  <a:extLst>
                    <a:ext uri="{9D8B030D-6E8A-4147-A177-3AD203B41FA5}">
                      <a16:colId xmlns:a16="http://schemas.microsoft.com/office/drawing/2014/main" val="20000"/>
                    </a:ext>
                  </a:extLst>
                </a:gridCol>
                <a:gridCol w="1596281">
                  <a:extLst>
                    <a:ext uri="{9D8B030D-6E8A-4147-A177-3AD203B41FA5}">
                      <a16:colId xmlns:a16="http://schemas.microsoft.com/office/drawing/2014/main" val="20001"/>
                    </a:ext>
                  </a:extLst>
                </a:gridCol>
                <a:gridCol w="1596281">
                  <a:extLst>
                    <a:ext uri="{9D8B030D-6E8A-4147-A177-3AD203B41FA5}">
                      <a16:colId xmlns:a16="http://schemas.microsoft.com/office/drawing/2014/main" val="20002"/>
                    </a:ext>
                  </a:extLst>
                </a:gridCol>
                <a:gridCol w="1596281">
                  <a:extLst>
                    <a:ext uri="{9D8B030D-6E8A-4147-A177-3AD203B41FA5}">
                      <a16:colId xmlns:a16="http://schemas.microsoft.com/office/drawing/2014/main" val="20003"/>
                    </a:ext>
                  </a:extLst>
                </a:gridCol>
                <a:gridCol w="1596281">
                  <a:extLst>
                    <a:ext uri="{9D8B030D-6E8A-4147-A177-3AD203B41FA5}">
                      <a16:colId xmlns:a16="http://schemas.microsoft.com/office/drawing/2014/main" val="20004"/>
                    </a:ext>
                  </a:extLst>
                </a:gridCol>
                <a:gridCol w="1596281">
                  <a:extLst>
                    <a:ext uri="{9D8B030D-6E8A-4147-A177-3AD203B41FA5}">
                      <a16:colId xmlns:a16="http://schemas.microsoft.com/office/drawing/2014/main" val="20005"/>
                    </a:ext>
                  </a:extLst>
                </a:gridCol>
                <a:gridCol w="1596281">
                  <a:extLst>
                    <a:ext uri="{9D8B030D-6E8A-4147-A177-3AD203B41FA5}">
                      <a16:colId xmlns:a16="http://schemas.microsoft.com/office/drawing/2014/main" val="20006"/>
                    </a:ext>
                  </a:extLst>
                </a:gridCol>
              </a:tblGrid>
              <a:tr h="394202">
                <a:tc>
                  <a:txBody>
                    <a:bodyPr/>
                    <a:lstStyle/>
                    <a:p>
                      <a:pPr algn="ctr"/>
                      <a:r>
                        <a:rPr sz="1200" b="1"/>
                        <a:t>Disease</a:t>
                      </a:r>
                    </a:p>
                  </a:txBody>
                  <a:tcPr anchor="ctr"/>
                </a:tc>
                <a:tc>
                  <a:txBody>
                    <a:bodyPr/>
                    <a:lstStyle/>
                    <a:p>
                      <a:pPr algn="ctr"/>
                      <a:r>
                        <a:rPr sz="1200" b="1"/>
                        <a:t>Cohort</a:t>
                      </a:r>
                    </a:p>
                  </a:txBody>
                  <a:tcPr anchor="ctr"/>
                </a:tc>
                <a:tc>
                  <a:txBody>
                    <a:bodyPr/>
                    <a:lstStyle/>
                    <a:p>
                      <a:pPr algn="ctr"/>
                      <a:r>
                        <a:rPr sz="1200" b="1"/>
                        <a:t>Model</a:t>
                      </a:r>
                    </a:p>
                  </a:txBody>
                  <a:tcPr anchor="ctr"/>
                </a:tc>
                <a:tc>
                  <a:txBody>
                    <a:bodyPr/>
                    <a:lstStyle/>
                    <a:p>
                      <a:pPr algn="ctr"/>
                      <a:r>
                        <a:rPr sz="1200" b="1"/>
                        <a:t>AUC</a:t>
                      </a:r>
                    </a:p>
                  </a:txBody>
                  <a:tcPr anchor="ctr"/>
                </a:tc>
                <a:tc>
                  <a:txBody>
                    <a:bodyPr/>
                    <a:lstStyle/>
                    <a:p>
                      <a:pPr algn="ctr"/>
                      <a:r>
                        <a:rPr sz="1200" b="1"/>
                        <a:t>ACC</a:t>
                      </a:r>
                    </a:p>
                  </a:txBody>
                  <a:tcPr anchor="ctr"/>
                </a:tc>
                <a:tc>
                  <a:txBody>
                    <a:bodyPr/>
                    <a:lstStyle/>
                    <a:p>
                      <a:pPr algn="ctr"/>
                      <a:r>
                        <a:rPr sz="1200" b="1"/>
                        <a:t>Sensitivity</a:t>
                      </a:r>
                    </a:p>
                  </a:txBody>
                  <a:tcPr anchor="ctr"/>
                </a:tc>
                <a:tc>
                  <a:txBody>
                    <a:bodyPr/>
                    <a:lstStyle/>
                    <a:p>
                      <a:pPr algn="ctr"/>
                      <a:r>
                        <a:rPr sz="1200" b="1"/>
                        <a:t>Specificity</a:t>
                      </a:r>
                    </a:p>
                  </a:txBody>
                  <a:tcPr anchor="ctr"/>
                </a:tc>
                <a:extLst>
                  <a:ext uri="{0D108BD9-81ED-4DB2-BD59-A6C34878D82A}">
                    <a16:rowId xmlns:a16="http://schemas.microsoft.com/office/drawing/2014/main" val="10000"/>
                  </a:ext>
                </a:extLst>
              </a:tr>
              <a:tr h="394202">
                <a:tc rowSpan="4">
                  <a:txBody>
                    <a:bodyPr/>
                    <a:lstStyle/>
                    <a:p>
                      <a:pPr algn="ctr"/>
                      <a:r>
                        <a:rPr sz="1200" b="0" dirty="0" err="1"/>
                        <a:t>고혈압</a:t>
                      </a:r>
                      <a:r>
                        <a:rPr sz="1200" b="0" dirty="0"/>
                        <a:t>(HTN)</a:t>
                      </a:r>
                    </a:p>
                  </a:txBody>
                  <a:tcPr anchor="ctr">
                    <a:solidFill>
                      <a:schemeClr val="bg1">
                        <a:alpha val="20000"/>
                      </a:schemeClr>
                    </a:solidFill>
                  </a:tcPr>
                </a:tc>
                <a:tc rowSpan="2">
                  <a:txBody>
                    <a:bodyPr/>
                    <a:lstStyle/>
                    <a:p>
                      <a:pPr algn="ctr"/>
                      <a:r>
                        <a:rPr sz="1200" b="0" dirty="0"/>
                        <a:t>Internal (Gangnam)</a:t>
                      </a:r>
                    </a:p>
                  </a:txBody>
                  <a:tcPr anchor="ctr">
                    <a:solidFill>
                      <a:schemeClr val="bg1"/>
                    </a:solidFill>
                  </a:tcPr>
                </a:tc>
                <a:tc>
                  <a:txBody>
                    <a:bodyPr/>
                    <a:lstStyle/>
                    <a:p>
                      <a:pPr algn="ctr"/>
                      <a:r>
                        <a:rPr sz="1200" b="0"/>
                        <a:t>Baseline</a:t>
                      </a:r>
                    </a:p>
                  </a:txBody>
                  <a:tcPr anchor="ctr"/>
                </a:tc>
                <a:tc>
                  <a:txBody>
                    <a:bodyPr/>
                    <a:lstStyle/>
                    <a:p>
                      <a:pPr algn="ctr"/>
                      <a:r>
                        <a:rPr sz="1200" b="0"/>
                        <a:t>0.761</a:t>
                      </a:r>
                    </a:p>
                  </a:txBody>
                  <a:tcPr anchor="ctr"/>
                </a:tc>
                <a:tc>
                  <a:txBody>
                    <a:bodyPr/>
                    <a:lstStyle/>
                    <a:p>
                      <a:pPr algn="ctr"/>
                      <a:r>
                        <a:rPr sz="1200" b="0"/>
                        <a:t>0.659</a:t>
                      </a:r>
                    </a:p>
                  </a:txBody>
                  <a:tcPr anchor="ctr"/>
                </a:tc>
                <a:tc>
                  <a:txBody>
                    <a:bodyPr/>
                    <a:lstStyle/>
                    <a:p>
                      <a:pPr algn="ctr"/>
                      <a:r>
                        <a:rPr sz="1200" b="0"/>
                        <a:t>0.740</a:t>
                      </a:r>
                    </a:p>
                  </a:txBody>
                  <a:tcPr anchor="ctr"/>
                </a:tc>
                <a:tc>
                  <a:txBody>
                    <a:bodyPr/>
                    <a:lstStyle/>
                    <a:p>
                      <a:pPr algn="ctr"/>
                      <a:r>
                        <a:rPr sz="1200" b="0"/>
                        <a:t>0.623</a:t>
                      </a:r>
                    </a:p>
                  </a:txBody>
                  <a:tcPr anchor="ctr"/>
                </a:tc>
                <a:extLst>
                  <a:ext uri="{0D108BD9-81ED-4DB2-BD59-A6C34878D82A}">
                    <a16:rowId xmlns:a16="http://schemas.microsoft.com/office/drawing/2014/main" val="10001"/>
                  </a:ext>
                </a:extLst>
              </a:tr>
              <a:tr h="394202">
                <a:tc vMerge="1">
                  <a:txBody>
                    <a:bodyPr/>
                    <a:lstStyle/>
                    <a:p>
                      <a:endParaRPr/>
                    </a:p>
                  </a:txBody>
                  <a:tcPr anchor="ctr"/>
                </a:tc>
                <a:tc vMerge="1">
                  <a:txBody>
                    <a:bodyPr/>
                    <a:lstStyle/>
                    <a:p>
                      <a:endParaRPr/>
                    </a:p>
                  </a:txBody>
                  <a:tcPr anchor="ctr"/>
                </a:tc>
                <a:tc>
                  <a:txBody>
                    <a:bodyPr/>
                    <a:lstStyle/>
                    <a:p>
                      <a:pPr algn="ctr"/>
                      <a:r>
                        <a:rPr sz="1200" b="0" dirty="0"/>
                        <a:t>+</a:t>
                      </a:r>
                      <a:r>
                        <a:rPr sz="1200" b="0" dirty="0" err="1"/>
                        <a:t>AEC+체성분</a:t>
                      </a:r>
                      <a:r>
                        <a:rPr lang="en-US" sz="1200" b="0" dirty="0"/>
                        <a:t> </a:t>
                      </a:r>
                      <a:r>
                        <a:rPr sz="1200" b="0" dirty="0"/>
                        <a:t>*</a:t>
                      </a:r>
                    </a:p>
                  </a:txBody>
                  <a:tcPr anchor="ctr"/>
                </a:tc>
                <a:tc>
                  <a:txBody>
                    <a:bodyPr/>
                    <a:lstStyle/>
                    <a:p>
                      <a:pPr algn="ctr"/>
                      <a:r>
                        <a:rPr sz="1200" b="0"/>
                        <a:t>0.793</a:t>
                      </a:r>
                    </a:p>
                  </a:txBody>
                  <a:tcPr anchor="ctr"/>
                </a:tc>
                <a:tc>
                  <a:txBody>
                    <a:bodyPr/>
                    <a:lstStyle/>
                    <a:p>
                      <a:pPr algn="ctr"/>
                      <a:r>
                        <a:rPr sz="1200" b="0"/>
                        <a:t>0.687</a:t>
                      </a:r>
                    </a:p>
                  </a:txBody>
                  <a:tcPr anchor="ctr"/>
                </a:tc>
                <a:tc>
                  <a:txBody>
                    <a:bodyPr/>
                    <a:lstStyle/>
                    <a:p>
                      <a:pPr algn="ctr"/>
                      <a:r>
                        <a:rPr sz="1200" b="0"/>
                        <a:t>0.883</a:t>
                      </a:r>
                    </a:p>
                  </a:txBody>
                  <a:tcPr anchor="ctr"/>
                </a:tc>
                <a:tc>
                  <a:txBody>
                    <a:bodyPr/>
                    <a:lstStyle/>
                    <a:p>
                      <a:pPr algn="ctr"/>
                      <a:r>
                        <a:rPr sz="1200" b="0"/>
                        <a:t>0.600</a:t>
                      </a:r>
                    </a:p>
                  </a:txBody>
                  <a:tcPr anchor="ctr"/>
                </a:tc>
                <a:extLst>
                  <a:ext uri="{0D108BD9-81ED-4DB2-BD59-A6C34878D82A}">
                    <a16:rowId xmlns:a16="http://schemas.microsoft.com/office/drawing/2014/main" val="10002"/>
                  </a:ext>
                </a:extLst>
              </a:tr>
              <a:tr h="394202">
                <a:tc vMerge="1">
                  <a:txBody>
                    <a:bodyPr/>
                    <a:lstStyle/>
                    <a:p>
                      <a:endParaRPr dirty="0"/>
                    </a:p>
                  </a:txBody>
                  <a:tcPr anchor="ctr">
                    <a:lnB w="12700" cap="flat" cmpd="sng" algn="ctr">
                      <a:solidFill>
                        <a:schemeClr val="tx1"/>
                      </a:solidFill>
                      <a:prstDash val="solid"/>
                      <a:round/>
                      <a:headEnd type="none" w="med" len="med"/>
                      <a:tailEnd type="none" w="med" len="med"/>
                    </a:lnB>
                    <a:solidFill>
                      <a:schemeClr val="bg1">
                        <a:alpha val="20000"/>
                      </a:schemeClr>
                    </a:solidFill>
                  </a:tcPr>
                </a:tc>
                <a:tc rowSpan="2">
                  <a:txBody>
                    <a:bodyPr/>
                    <a:lstStyle/>
                    <a:p>
                      <a:pPr algn="ctr"/>
                      <a:r>
                        <a:rPr sz="1200" b="0" dirty="0"/>
                        <a:t>External (Sinchon)</a:t>
                      </a:r>
                    </a:p>
                  </a:txBody>
                  <a:tcPr anchor="ct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sz="1200" b="0"/>
                        <a:t>Baseline</a:t>
                      </a:r>
                    </a:p>
                  </a:txBody>
                  <a:tcPr anchor="ctr"/>
                </a:tc>
                <a:tc>
                  <a:txBody>
                    <a:bodyPr/>
                    <a:lstStyle/>
                    <a:p>
                      <a:pPr algn="ctr"/>
                      <a:r>
                        <a:rPr sz="1200" b="0"/>
                        <a:t>0.715</a:t>
                      </a:r>
                    </a:p>
                  </a:txBody>
                  <a:tcPr anchor="ctr"/>
                </a:tc>
                <a:tc>
                  <a:txBody>
                    <a:bodyPr/>
                    <a:lstStyle/>
                    <a:p>
                      <a:pPr algn="ctr"/>
                      <a:r>
                        <a:rPr sz="1200" b="0"/>
                        <a:t>0.664</a:t>
                      </a:r>
                    </a:p>
                  </a:txBody>
                  <a:tcPr anchor="ctr"/>
                </a:tc>
                <a:tc>
                  <a:txBody>
                    <a:bodyPr/>
                    <a:lstStyle/>
                    <a:p>
                      <a:pPr algn="ctr"/>
                      <a:r>
                        <a:rPr sz="1200" b="0"/>
                        <a:t>0.771</a:t>
                      </a:r>
                    </a:p>
                  </a:txBody>
                  <a:tcPr anchor="ctr"/>
                </a:tc>
                <a:tc>
                  <a:txBody>
                    <a:bodyPr/>
                    <a:lstStyle/>
                    <a:p>
                      <a:pPr algn="ctr"/>
                      <a:r>
                        <a:rPr sz="1200" b="0"/>
                        <a:t>0.578</a:t>
                      </a:r>
                    </a:p>
                  </a:txBody>
                  <a:tcPr anchor="ctr"/>
                </a:tc>
                <a:extLst>
                  <a:ext uri="{0D108BD9-81ED-4DB2-BD59-A6C34878D82A}">
                    <a16:rowId xmlns:a16="http://schemas.microsoft.com/office/drawing/2014/main" val="10003"/>
                  </a:ext>
                </a:extLst>
              </a:tr>
              <a:tr h="394202">
                <a:tc vMerge="1">
                  <a:txBody>
                    <a:bodyPr/>
                    <a:lstStyle/>
                    <a:p>
                      <a:endParaRPr/>
                    </a:p>
                  </a:txBody>
                  <a:tcPr anchor="ctr"/>
                </a:tc>
                <a:tc vMerge="1">
                  <a:txBody>
                    <a:bodyPr/>
                    <a:lstStyle/>
                    <a:p>
                      <a:endParaRPr/>
                    </a:p>
                  </a:txBody>
                  <a:tcPr anchor="ctr"/>
                </a:tc>
                <a:tc>
                  <a:txBody>
                    <a:bodyPr/>
                    <a:lstStyle/>
                    <a:p>
                      <a:pPr algn="ctr"/>
                      <a:r>
                        <a:rPr sz="1200" b="0" dirty="0"/>
                        <a:t>+</a:t>
                      </a:r>
                      <a:r>
                        <a:rPr sz="1200" b="0" dirty="0" err="1"/>
                        <a:t>AEC+체성분</a:t>
                      </a:r>
                      <a:r>
                        <a:rPr lang="en-US" sz="1200" b="0" dirty="0"/>
                        <a:t> </a:t>
                      </a:r>
                      <a:r>
                        <a:rPr sz="1200" b="0" dirty="0"/>
                        <a:t>*</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0.739</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0.667</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0.787</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0.568</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94202">
                <a:tc rowSpan="4">
                  <a:txBody>
                    <a:bodyPr/>
                    <a:lstStyle/>
                    <a:p>
                      <a:pPr algn="ctr"/>
                      <a:r>
                        <a:rPr sz="1200" b="0" dirty="0" err="1"/>
                        <a:t>당뇨병</a:t>
                      </a:r>
                      <a:r>
                        <a:rPr sz="1200" b="0" dirty="0"/>
                        <a:t>(DM)</a:t>
                      </a:r>
                    </a:p>
                  </a:txBody>
                  <a:tcPr anchor="ctr">
                    <a:solidFill>
                      <a:schemeClr val="bg1">
                        <a:alpha val="20000"/>
                      </a:schemeClr>
                    </a:solidFill>
                  </a:tcPr>
                </a:tc>
                <a:tc rowSpan="2">
                  <a:txBody>
                    <a:bodyPr/>
                    <a:lstStyle/>
                    <a:p>
                      <a:pPr algn="ctr"/>
                      <a:r>
                        <a:rPr sz="1200" b="0" dirty="0"/>
                        <a:t>Internal (Gangnam)</a:t>
                      </a:r>
                    </a:p>
                  </a:txBody>
                  <a:tcPr anchor="ct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pPr algn="ctr"/>
                      <a:r>
                        <a:rPr sz="1200" b="0"/>
                        <a:t>Baseline</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0.661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0.667</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0.532</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0.698</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5"/>
                  </a:ext>
                </a:extLst>
              </a:tr>
              <a:tr h="394202">
                <a:tc vMerge="1">
                  <a:txBody>
                    <a:bodyPr/>
                    <a:lstStyle/>
                    <a:p>
                      <a:endParaRPr/>
                    </a:p>
                  </a:txBody>
                  <a:tcPr anchor="ctr"/>
                </a:tc>
                <a:tc vMerge="1">
                  <a:txBody>
                    <a:bodyPr/>
                    <a:lstStyle/>
                    <a:p>
                      <a:endParaRPr/>
                    </a:p>
                  </a:txBody>
                  <a:tcPr anchor="ctr"/>
                </a:tc>
                <a:tc>
                  <a:txBody>
                    <a:bodyPr/>
                    <a:lstStyle/>
                    <a:p>
                      <a:pPr algn="ctr"/>
                      <a:r>
                        <a:rPr sz="1200" b="0"/>
                        <a:t>+AEC+체성분</a:t>
                      </a:r>
                    </a:p>
                  </a:txBody>
                  <a:tcPr anchor="ctr"/>
                </a:tc>
                <a:tc>
                  <a:txBody>
                    <a:bodyPr/>
                    <a:lstStyle/>
                    <a:p>
                      <a:pPr algn="ctr"/>
                      <a:r>
                        <a:rPr sz="1200" b="0"/>
                        <a:t>0.701</a:t>
                      </a:r>
                    </a:p>
                  </a:txBody>
                  <a:tcPr anchor="ctr"/>
                </a:tc>
                <a:tc>
                  <a:txBody>
                    <a:bodyPr/>
                    <a:lstStyle/>
                    <a:p>
                      <a:pPr algn="ctr"/>
                      <a:r>
                        <a:rPr sz="1200" b="0"/>
                        <a:t>0.687</a:t>
                      </a:r>
                    </a:p>
                  </a:txBody>
                  <a:tcPr anchor="ctr"/>
                </a:tc>
                <a:tc>
                  <a:txBody>
                    <a:bodyPr/>
                    <a:lstStyle/>
                    <a:p>
                      <a:pPr algn="ctr"/>
                      <a:r>
                        <a:rPr sz="1200" b="0"/>
                        <a:t>0.574</a:t>
                      </a:r>
                    </a:p>
                  </a:txBody>
                  <a:tcPr anchor="ctr"/>
                </a:tc>
                <a:tc>
                  <a:txBody>
                    <a:bodyPr/>
                    <a:lstStyle/>
                    <a:p>
                      <a:pPr algn="ctr"/>
                      <a:r>
                        <a:rPr sz="1200" b="0"/>
                        <a:t>0.712</a:t>
                      </a:r>
                    </a:p>
                  </a:txBody>
                  <a:tcPr anchor="ctr"/>
                </a:tc>
                <a:extLst>
                  <a:ext uri="{0D108BD9-81ED-4DB2-BD59-A6C34878D82A}">
                    <a16:rowId xmlns:a16="http://schemas.microsoft.com/office/drawing/2014/main" val="10006"/>
                  </a:ext>
                </a:extLst>
              </a:tr>
              <a:tr h="394202">
                <a:tc vMerge="1">
                  <a:txBody>
                    <a:bodyPr/>
                    <a:lstStyle/>
                    <a:p>
                      <a:endParaRPr dirty="0"/>
                    </a:p>
                  </a:txBody>
                  <a:tcPr anchor="ctr">
                    <a:lnB w="12700" cap="flat" cmpd="sng" algn="ctr">
                      <a:solidFill>
                        <a:schemeClr val="tx1"/>
                      </a:solidFill>
                      <a:prstDash val="solid"/>
                      <a:round/>
                      <a:headEnd type="none" w="med" len="med"/>
                      <a:tailEnd type="none" w="med" len="med"/>
                    </a:lnB>
                    <a:solidFill>
                      <a:schemeClr val="bg1">
                        <a:alpha val="20000"/>
                      </a:schemeClr>
                    </a:solidFill>
                  </a:tcPr>
                </a:tc>
                <a:tc rowSpan="2">
                  <a:txBody>
                    <a:bodyPr/>
                    <a:lstStyle/>
                    <a:p>
                      <a:pPr algn="ctr"/>
                      <a:r>
                        <a:rPr sz="1200" b="0" dirty="0"/>
                        <a:t>External (Sinchon)</a:t>
                      </a:r>
                    </a:p>
                  </a:txBody>
                  <a:tcPr anchor="ct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sz="1200" b="0"/>
                        <a:t>Baseline</a:t>
                      </a:r>
                    </a:p>
                  </a:txBody>
                  <a:tcPr anchor="ctr"/>
                </a:tc>
                <a:tc>
                  <a:txBody>
                    <a:bodyPr/>
                    <a:lstStyle/>
                    <a:p>
                      <a:pPr algn="ctr"/>
                      <a:r>
                        <a:rPr sz="1200" b="0"/>
                        <a:t>0.649</a:t>
                      </a:r>
                    </a:p>
                  </a:txBody>
                  <a:tcPr anchor="ctr"/>
                </a:tc>
                <a:tc>
                  <a:txBody>
                    <a:bodyPr/>
                    <a:lstStyle/>
                    <a:p>
                      <a:pPr algn="ctr"/>
                      <a:r>
                        <a:rPr sz="1200" b="0"/>
                        <a:t>0.614</a:t>
                      </a:r>
                    </a:p>
                  </a:txBody>
                  <a:tcPr anchor="ctr"/>
                </a:tc>
                <a:tc>
                  <a:txBody>
                    <a:bodyPr/>
                    <a:lstStyle/>
                    <a:p>
                      <a:pPr algn="ctr"/>
                      <a:r>
                        <a:rPr sz="1200" b="0"/>
                        <a:t>0.609</a:t>
                      </a:r>
                    </a:p>
                  </a:txBody>
                  <a:tcPr anchor="ctr"/>
                </a:tc>
                <a:tc>
                  <a:txBody>
                    <a:bodyPr/>
                    <a:lstStyle/>
                    <a:p>
                      <a:pPr algn="ctr"/>
                      <a:r>
                        <a:rPr sz="1200" b="0"/>
                        <a:t>0.615</a:t>
                      </a:r>
                    </a:p>
                  </a:txBody>
                  <a:tcPr anchor="ctr"/>
                </a:tc>
                <a:extLst>
                  <a:ext uri="{0D108BD9-81ED-4DB2-BD59-A6C34878D82A}">
                    <a16:rowId xmlns:a16="http://schemas.microsoft.com/office/drawing/2014/main" val="10007"/>
                  </a:ext>
                </a:extLst>
              </a:tr>
              <a:tr h="394202">
                <a:tc vMerge="1">
                  <a:txBody>
                    <a:bodyPr/>
                    <a:lstStyle/>
                    <a:p>
                      <a:endParaRPr/>
                    </a:p>
                  </a:txBody>
                  <a:tcPr anchor="ctr"/>
                </a:tc>
                <a:tc vMerge="1">
                  <a:txBody>
                    <a:bodyPr/>
                    <a:lstStyle/>
                    <a:p>
                      <a:endParaRPr/>
                    </a:p>
                  </a:txBody>
                  <a:tcPr anchor="ctr"/>
                </a:tc>
                <a:tc>
                  <a:txBody>
                    <a:bodyPr/>
                    <a:lstStyle/>
                    <a:p>
                      <a:pPr algn="ctr"/>
                      <a:r>
                        <a:rPr sz="1200" b="0" dirty="0"/>
                        <a:t>+</a:t>
                      </a:r>
                      <a:r>
                        <a:rPr sz="1200" b="0" dirty="0" err="1"/>
                        <a:t>AEC+체성분</a:t>
                      </a:r>
                      <a:r>
                        <a:rPr lang="en-US" sz="1200" b="0" dirty="0"/>
                        <a:t> </a:t>
                      </a:r>
                      <a:r>
                        <a:rPr sz="1200" b="0" dirty="0"/>
                        <a:t>*</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0.701</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0.533</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0.851</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0.398</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394202">
                <a:tc rowSpan="4">
                  <a:txBody>
                    <a:bodyPr/>
                    <a:lstStyle/>
                    <a:p>
                      <a:pPr algn="ctr"/>
                      <a:r>
                        <a:rPr sz="1200" b="0" dirty="0" err="1"/>
                        <a:t>만성신장질환</a:t>
                      </a:r>
                      <a:r>
                        <a:rPr sz="1200" b="0" dirty="0"/>
                        <a:t>(CKD)</a:t>
                      </a:r>
                    </a:p>
                  </a:txBody>
                  <a:tcPr anchor="ctr">
                    <a:solidFill>
                      <a:schemeClr val="bg1">
                        <a:alpha val="20000"/>
                      </a:schemeClr>
                    </a:solidFill>
                  </a:tcPr>
                </a:tc>
                <a:tc rowSpan="2">
                  <a:txBody>
                    <a:bodyPr/>
                    <a:lstStyle/>
                    <a:p>
                      <a:pPr algn="ctr"/>
                      <a:r>
                        <a:rPr sz="1200" b="0" dirty="0"/>
                        <a:t>Internal (Gangnam)</a:t>
                      </a:r>
                    </a:p>
                  </a:txBody>
                  <a:tcPr anchor="ct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pPr algn="ctr"/>
                      <a:r>
                        <a:rPr sz="1200" b="0"/>
                        <a:t>Baseline</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0.765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0.643</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0.667</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0.641</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9"/>
                  </a:ext>
                </a:extLst>
              </a:tr>
              <a:tr h="394202">
                <a:tc vMerge="1">
                  <a:txBody>
                    <a:bodyPr/>
                    <a:lstStyle/>
                    <a:p>
                      <a:endParaRPr/>
                    </a:p>
                  </a:txBody>
                  <a:tcPr anchor="ctr"/>
                </a:tc>
                <a:tc vMerge="1">
                  <a:txBody>
                    <a:bodyPr/>
                    <a:lstStyle/>
                    <a:p>
                      <a:endParaRPr/>
                    </a:p>
                  </a:txBody>
                  <a:tcPr anchor="ctr"/>
                </a:tc>
                <a:tc>
                  <a:txBody>
                    <a:bodyPr/>
                    <a:lstStyle/>
                    <a:p>
                      <a:pPr algn="ctr"/>
                      <a:r>
                        <a:rPr sz="1200" b="0" dirty="0"/>
                        <a:t>+</a:t>
                      </a:r>
                      <a:r>
                        <a:rPr sz="1200" b="0" dirty="0" err="1"/>
                        <a:t>AEC+체성분</a:t>
                      </a:r>
                      <a:endParaRPr sz="1200" b="0" dirty="0"/>
                    </a:p>
                  </a:txBody>
                  <a:tcPr anchor="ctr"/>
                </a:tc>
                <a:tc>
                  <a:txBody>
                    <a:bodyPr/>
                    <a:lstStyle/>
                    <a:p>
                      <a:pPr algn="ctr"/>
                      <a:r>
                        <a:rPr sz="1200" b="0"/>
                        <a:t>0.811</a:t>
                      </a:r>
                    </a:p>
                  </a:txBody>
                  <a:tcPr anchor="ctr"/>
                </a:tc>
                <a:tc>
                  <a:txBody>
                    <a:bodyPr/>
                    <a:lstStyle/>
                    <a:p>
                      <a:pPr algn="ctr"/>
                      <a:r>
                        <a:rPr sz="1200" b="0"/>
                        <a:t>0.631</a:t>
                      </a:r>
                    </a:p>
                  </a:txBody>
                  <a:tcPr anchor="ctr"/>
                </a:tc>
                <a:tc>
                  <a:txBody>
                    <a:bodyPr/>
                    <a:lstStyle/>
                    <a:p>
                      <a:pPr algn="ctr"/>
                      <a:r>
                        <a:rPr sz="1200" b="0"/>
                        <a:t>0.810</a:t>
                      </a:r>
                    </a:p>
                  </a:txBody>
                  <a:tcPr anchor="ctr"/>
                </a:tc>
                <a:tc>
                  <a:txBody>
                    <a:bodyPr/>
                    <a:lstStyle/>
                    <a:p>
                      <a:pPr algn="ctr"/>
                      <a:r>
                        <a:rPr sz="1200" b="0"/>
                        <a:t>0.606</a:t>
                      </a:r>
                    </a:p>
                  </a:txBody>
                  <a:tcPr anchor="ctr"/>
                </a:tc>
                <a:extLst>
                  <a:ext uri="{0D108BD9-81ED-4DB2-BD59-A6C34878D82A}">
                    <a16:rowId xmlns:a16="http://schemas.microsoft.com/office/drawing/2014/main" val="10010"/>
                  </a:ext>
                </a:extLst>
              </a:tr>
              <a:tr h="394202">
                <a:tc vMerge="1">
                  <a:txBody>
                    <a:bodyPr/>
                    <a:lstStyle/>
                    <a:p>
                      <a:endParaRPr dirty="0"/>
                    </a:p>
                  </a:txBody>
                  <a:tcPr anchor="ctr">
                    <a:solidFill>
                      <a:schemeClr val="bg1">
                        <a:alpha val="20000"/>
                      </a:schemeClr>
                    </a:solidFill>
                  </a:tcPr>
                </a:tc>
                <a:tc rowSpan="2">
                  <a:txBody>
                    <a:bodyPr/>
                    <a:lstStyle/>
                    <a:p>
                      <a:pPr algn="ctr"/>
                      <a:r>
                        <a:rPr sz="1200" b="0" dirty="0"/>
                        <a:t>External (Sinchon)</a:t>
                      </a:r>
                    </a:p>
                  </a:txBody>
                  <a:tcPr anchor="ctr">
                    <a:solidFill>
                      <a:schemeClr val="bg1"/>
                    </a:solidFill>
                  </a:tcPr>
                </a:tc>
                <a:tc>
                  <a:txBody>
                    <a:bodyPr/>
                    <a:lstStyle/>
                    <a:p>
                      <a:pPr algn="ctr"/>
                      <a:r>
                        <a:rPr sz="1200" b="0"/>
                        <a:t>Baseline</a:t>
                      </a:r>
                    </a:p>
                  </a:txBody>
                  <a:tcPr anchor="ctr"/>
                </a:tc>
                <a:tc>
                  <a:txBody>
                    <a:bodyPr/>
                    <a:lstStyle/>
                    <a:p>
                      <a:pPr algn="ctr"/>
                      <a:r>
                        <a:rPr sz="1200" b="0"/>
                        <a:t>0.613</a:t>
                      </a:r>
                    </a:p>
                  </a:txBody>
                  <a:tcPr anchor="ctr"/>
                </a:tc>
                <a:tc>
                  <a:txBody>
                    <a:bodyPr/>
                    <a:lstStyle/>
                    <a:p>
                      <a:pPr algn="ctr"/>
                      <a:r>
                        <a:rPr sz="1200" b="0"/>
                        <a:t>0.547</a:t>
                      </a:r>
                    </a:p>
                  </a:txBody>
                  <a:tcPr anchor="ctr"/>
                </a:tc>
                <a:tc>
                  <a:txBody>
                    <a:bodyPr/>
                    <a:lstStyle/>
                    <a:p>
                      <a:pPr algn="ctr"/>
                      <a:r>
                        <a:rPr sz="1200" b="0"/>
                        <a:t>0.638</a:t>
                      </a:r>
                    </a:p>
                  </a:txBody>
                  <a:tcPr anchor="ctr"/>
                </a:tc>
                <a:tc>
                  <a:txBody>
                    <a:bodyPr/>
                    <a:lstStyle/>
                    <a:p>
                      <a:pPr algn="ctr"/>
                      <a:r>
                        <a:rPr sz="1200" b="0"/>
                        <a:t>0.528</a:t>
                      </a:r>
                    </a:p>
                  </a:txBody>
                  <a:tcPr anchor="ctr"/>
                </a:tc>
                <a:extLst>
                  <a:ext uri="{0D108BD9-81ED-4DB2-BD59-A6C34878D82A}">
                    <a16:rowId xmlns:a16="http://schemas.microsoft.com/office/drawing/2014/main" val="10011"/>
                  </a:ext>
                </a:extLst>
              </a:tr>
              <a:tr h="394202">
                <a:tc vMerge="1">
                  <a:txBody>
                    <a:bodyPr/>
                    <a:lstStyle/>
                    <a:p>
                      <a:endParaRPr/>
                    </a:p>
                  </a:txBody>
                  <a:tcPr anchor="ctr"/>
                </a:tc>
                <a:tc vMerge="1">
                  <a:txBody>
                    <a:bodyPr/>
                    <a:lstStyle/>
                    <a:p>
                      <a:endParaRPr/>
                    </a:p>
                  </a:txBody>
                  <a:tcPr anchor="ctr"/>
                </a:tc>
                <a:tc>
                  <a:txBody>
                    <a:bodyPr/>
                    <a:lstStyle/>
                    <a:p>
                      <a:pPr algn="ctr"/>
                      <a:r>
                        <a:rPr sz="1200" b="0" dirty="0"/>
                        <a:t>+</a:t>
                      </a:r>
                      <a:r>
                        <a:rPr sz="1200" b="0" dirty="0" err="1"/>
                        <a:t>AEC+체성분</a:t>
                      </a:r>
                      <a:r>
                        <a:rPr lang="en-US" sz="1200" b="0" dirty="0"/>
                        <a:t> </a:t>
                      </a:r>
                      <a:r>
                        <a:rPr sz="1200" b="0" dirty="0"/>
                        <a:t>*</a:t>
                      </a:r>
                    </a:p>
                  </a:txBody>
                  <a:tcPr anchor="ctr"/>
                </a:tc>
                <a:tc>
                  <a:txBody>
                    <a:bodyPr/>
                    <a:lstStyle/>
                    <a:p>
                      <a:pPr algn="ctr"/>
                      <a:r>
                        <a:rPr sz="1200" b="0"/>
                        <a:t>0.684</a:t>
                      </a:r>
                    </a:p>
                  </a:txBody>
                  <a:tcPr anchor="ctr"/>
                </a:tc>
                <a:tc>
                  <a:txBody>
                    <a:bodyPr/>
                    <a:lstStyle/>
                    <a:p>
                      <a:pPr algn="ctr"/>
                      <a:r>
                        <a:rPr sz="1200" b="0"/>
                        <a:t>0.529</a:t>
                      </a:r>
                    </a:p>
                  </a:txBody>
                  <a:tcPr anchor="ctr"/>
                </a:tc>
                <a:tc>
                  <a:txBody>
                    <a:bodyPr/>
                    <a:lstStyle/>
                    <a:p>
                      <a:pPr algn="ctr"/>
                      <a:r>
                        <a:rPr sz="1200" b="0"/>
                        <a:t>0.798</a:t>
                      </a:r>
                    </a:p>
                  </a:txBody>
                  <a:tcPr anchor="ctr"/>
                </a:tc>
                <a:tc>
                  <a:txBody>
                    <a:bodyPr/>
                    <a:lstStyle/>
                    <a:p>
                      <a:pPr algn="ctr"/>
                      <a:r>
                        <a:rPr sz="1200" b="0" dirty="0"/>
                        <a:t>0.473</a:t>
                      </a:r>
                    </a:p>
                  </a:txBody>
                  <a:tcPr anchor="ctr"/>
                </a:tc>
                <a:extLst>
                  <a:ext uri="{0D108BD9-81ED-4DB2-BD59-A6C34878D82A}">
                    <a16:rowId xmlns:a16="http://schemas.microsoft.com/office/drawing/2014/main" val="10012"/>
                  </a:ext>
                </a:extLst>
              </a:tr>
            </a:tbl>
          </a:graphicData>
        </a:graphic>
      </p:graphicFrame>
      <p:sp>
        <p:nvSpPr>
          <p:cNvPr id="4" name="슬라이드 번호 개체 틀 3">
            <a:extLst>
              <a:ext uri="{FF2B5EF4-FFF2-40B4-BE49-F238E27FC236}">
                <a16:creationId xmlns:a16="http://schemas.microsoft.com/office/drawing/2014/main" id="{80B6F5C5-8D53-6EB3-73C5-17B8D7F88CB6}"/>
              </a:ext>
            </a:extLst>
          </p:cNvPr>
          <p:cNvSpPr>
            <a:spLocks noGrp="1"/>
          </p:cNvSpPr>
          <p:nvPr>
            <p:ph type="sldNum" sz="quarter" idx="12"/>
          </p:nvPr>
        </p:nvSpPr>
        <p:spPr/>
        <p:txBody>
          <a:bodyPr/>
          <a:lstStyle/>
          <a:p>
            <a:fld id="{9F4AF89A-28FA-47FA-B28F-9A9C6913CB7A}" type="slidenum">
              <a:rPr lang="ko-KR" altLang="en-US" smtClean="0"/>
              <a:pPr/>
              <a:t>5</a:t>
            </a:fld>
            <a:endParaRPr lang="ko-KR" altLang="en-US" dirty="0"/>
          </a:p>
        </p:txBody>
      </p:sp>
      <p:sp>
        <p:nvSpPr>
          <p:cNvPr id="6" name="TextBox 5">
            <a:extLst>
              <a:ext uri="{FF2B5EF4-FFF2-40B4-BE49-F238E27FC236}">
                <a16:creationId xmlns:a16="http://schemas.microsoft.com/office/drawing/2014/main" id="{F2B3D3A8-A8E5-E8A2-ABF2-C59FC7E2A71D}"/>
              </a:ext>
            </a:extLst>
          </p:cNvPr>
          <p:cNvSpPr txBox="1"/>
          <p:nvPr/>
        </p:nvSpPr>
        <p:spPr>
          <a:xfrm>
            <a:off x="394063" y="6103034"/>
            <a:ext cx="6117770" cy="276999"/>
          </a:xfrm>
          <a:prstGeom prst="rect">
            <a:avLst/>
          </a:prstGeom>
          <a:noFill/>
        </p:spPr>
        <p:txBody>
          <a:bodyPr wrap="square">
            <a:spAutoFit/>
          </a:bodyPr>
          <a:lstStyle/>
          <a:p>
            <a:r>
              <a:rPr lang="en-US" altLang="ko-KR" sz="1200" dirty="0">
                <a:solidFill>
                  <a:schemeClr val="tx1">
                    <a:lumMod val="50000"/>
                    <a:lumOff val="50000"/>
                  </a:schemeClr>
                </a:solidFill>
              </a:rPr>
              <a:t>* DeLong p&lt;0.05 vs Baseline</a:t>
            </a:r>
            <a:endParaRPr lang="ko-KR" altLang="en-US" sz="1200" dirty="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1. Clinic4 Baseline Odds Ratio (95% CI, Internal train+valid)</a:t>
            </a:r>
          </a:p>
        </p:txBody>
      </p:sp>
      <p:pic>
        <p:nvPicPr>
          <p:cNvPr id="3" name="Picture 2" descr="fig_baseline_or_forest.png"/>
          <p:cNvPicPr>
            <a:picLocks noChangeAspect="1"/>
          </p:cNvPicPr>
          <p:nvPr/>
        </p:nvPicPr>
        <p:blipFill>
          <a:blip r:embed="rId3"/>
          <a:srcRect t="9129"/>
          <a:stretch>
            <a:fillRect/>
          </a:stretch>
        </p:blipFill>
        <p:spPr>
          <a:xfrm>
            <a:off x="508000" y="1838328"/>
            <a:ext cx="11176000" cy="3458718"/>
          </a:xfrm>
          <a:prstGeom prst="rect">
            <a:avLst/>
          </a:prstGeom>
        </p:spPr>
      </p:pic>
      <p:sp>
        <p:nvSpPr>
          <p:cNvPr id="4" name="슬라이드 번호 개체 틀 3">
            <a:extLst>
              <a:ext uri="{FF2B5EF4-FFF2-40B4-BE49-F238E27FC236}">
                <a16:creationId xmlns:a16="http://schemas.microsoft.com/office/drawing/2014/main" id="{6B4CDF56-6C7D-B301-188E-7F81AB291D2E}"/>
              </a:ext>
            </a:extLst>
          </p:cNvPr>
          <p:cNvSpPr>
            <a:spLocks noGrp="1"/>
          </p:cNvSpPr>
          <p:nvPr>
            <p:ph type="sldNum" sz="quarter" idx="12"/>
          </p:nvPr>
        </p:nvSpPr>
        <p:spPr/>
        <p:txBody>
          <a:bodyPr/>
          <a:lstStyle/>
          <a:p>
            <a:fld id="{9F4AF89A-28FA-47FA-B28F-9A9C6913CB7A}" type="slidenum">
              <a:rPr lang="ko-KR" altLang="en-US" smtClean="0"/>
              <a:pPr/>
              <a:t>6</a:t>
            </a:fld>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Figure 2. FPCA Coefficient Inverse Transform — Slice-wise Logit Contribution</a:t>
            </a:r>
            <a:r>
              <a:rPr lang="en-US" dirty="0"/>
              <a:t> </a:t>
            </a:r>
            <a:r>
              <a:rPr dirty="0"/>
              <a:t>(Dimension Recovery)</a:t>
            </a:r>
          </a:p>
        </p:txBody>
      </p:sp>
      <p:pic>
        <p:nvPicPr>
          <p:cNvPr id="3" name="Picture 2" descr="fpca_recovered_curve.png"/>
          <p:cNvPicPr>
            <a:picLocks noChangeAspect="1"/>
          </p:cNvPicPr>
          <p:nvPr/>
        </p:nvPicPr>
        <p:blipFill>
          <a:blip r:embed="rId3"/>
          <a:stretch>
            <a:fillRect/>
          </a:stretch>
        </p:blipFill>
        <p:spPr>
          <a:xfrm>
            <a:off x="508000" y="1812276"/>
            <a:ext cx="11176000" cy="3806168"/>
          </a:xfrm>
          <a:prstGeom prst="rect">
            <a:avLst/>
          </a:prstGeom>
        </p:spPr>
      </p:pic>
      <p:sp>
        <p:nvSpPr>
          <p:cNvPr id="4" name="슬라이드 번호 개체 틀 3">
            <a:extLst>
              <a:ext uri="{FF2B5EF4-FFF2-40B4-BE49-F238E27FC236}">
                <a16:creationId xmlns:a16="http://schemas.microsoft.com/office/drawing/2014/main" id="{6F985A2A-E881-0F89-38EF-8306EF68B806}"/>
              </a:ext>
            </a:extLst>
          </p:cNvPr>
          <p:cNvSpPr>
            <a:spLocks noGrp="1"/>
          </p:cNvSpPr>
          <p:nvPr>
            <p:ph type="sldNum" sz="quarter" idx="12"/>
          </p:nvPr>
        </p:nvSpPr>
        <p:spPr/>
        <p:txBody>
          <a:bodyPr/>
          <a:lstStyle/>
          <a:p>
            <a:fld id="{9F4AF89A-28FA-47FA-B28F-9A9C6913CB7A}" type="slidenum">
              <a:rPr lang="ko-KR" altLang="en-US" smtClean="0"/>
              <a:pPr/>
              <a:t>7</a:t>
            </a:fld>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743A7-2DE1-484D-10ED-54E154F4C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E494A-8665-27CC-F400-B88484969F80}"/>
              </a:ext>
            </a:extLst>
          </p:cNvPr>
          <p:cNvSpPr>
            <a:spLocks noGrp="1"/>
          </p:cNvSpPr>
          <p:nvPr>
            <p:ph type="title"/>
          </p:nvPr>
        </p:nvSpPr>
        <p:spPr/>
        <p:txBody>
          <a:bodyPr>
            <a:normAutofit/>
          </a:bodyPr>
          <a:lstStyle/>
          <a:p>
            <a:r>
              <a:rPr lang="en-US" altLang="ko-KR" dirty="0"/>
              <a:t>Figure 3. Calibration Plot — Best (+AEC+</a:t>
            </a:r>
            <a:r>
              <a:rPr lang="ko-KR" altLang="en-US" dirty="0" err="1"/>
              <a:t>체성분</a:t>
            </a:r>
            <a:r>
              <a:rPr lang="en-US" altLang="ko-KR" dirty="0"/>
              <a:t>)</a:t>
            </a:r>
            <a:endParaRPr dirty="0"/>
          </a:p>
        </p:txBody>
      </p:sp>
      <p:sp>
        <p:nvSpPr>
          <p:cNvPr id="4" name="슬라이드 번호 개체 틀 3">
            <a:extLst>
              <a:ext uri="{FF2B5EF4-FFF2-40B4-BE49-F238E27FC236}">
                <a16:creationId xmlns:a16="http://schemas.microsoft.com/office/drawing/2014/main" id="{258CA5B1-7A51-6B75-7EFD-944329CBC36D}"/>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6" name="Picture 2" descr="fig_calibration.png">
            <a:extLst>
              <a:ext uri="{FF2B5EF4-FFF2-40B4-BE49-F238E27FC236}">
                <a16:creationId xmlns:a16="http://schemas.microsoft.com/office/drawing/2014/main" id="{3F6EA643-7E3D-BDA7-F3C1-EF007B4332AB}"/>
              </a:ext>
            </a:extLst>
          </p:cNvPr>
          <p:cNvPicPr>
            <a:picLocks noChangeAspect="1"/>
          </p:cNvPicPr>
          <p:nvPr/>
        </p:nvPicPr>
        <p:blipFill>
          <a:blip r:embed="rId3"/>
          <a:stretch>
            <a:fillRect/>
          </a:stretch>
        </p:blipFill>
        <p:spPr>
          <a:xfrm>
            <a:off x="508000" y="1812276"/>
            <a:ext cx="11176000" cy="3806168"/>
          </a:xfrm>
          <a:prstGeom prst="rect">
            <a:avLst/>
          </a:prstGeom>
        </p:spPr>
      </p:pic>
    </p:spTree>
    <p:extLst>
      <p:ext uri="{BB962C8B-B14F-4D97-AF65-F5344CB8AC3E}">
        <p14:creationId xmlns:p14="http://schemas.microsoft.com/office/powerpoint/2010/main" val="786707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65126"/>
            <a:ext cx="11176000" cy="532342"/>
          </a:xfrm>
        </p:spPr>
        <p:txBody>
          <a:bodyPr/>
          <a:lstStyle/>
          <a:p>
            <a:r>
              <a:t>Discussion — 체성분은 기여하지만 코호트 간 일관되지 않다</a:t>
            </a:r>
          </a:p>
        </p:txBody>
      </p:sp>
      <p:sp>
        <p:nvSpPr>
          <p:cNvPr id="3" name="Content Placeholder 2"/>
          <p:cNvSpPr>
            <a:spLocks noGrp="1"/>
          </p:cNvSpPr>
          <p:nvPr>
            <p:ph idx="1"/>
          </p:nvPr>
        </p:nvSpPr>
        <p:spPr>
          <a:xfrm>
            <a:off x="512064" y="1131824"/>
            <a:ext cx="11173968" cy="3460053"/>
          </a:xfrm>
        </p:spPr>
        <p:txBody>
          <a:bodyPr wrap="square">
            <a:normAutofit fontScale="92500" lnSpcReduction="20000"/>
          </a:bodyPr>
          <a:lstStyle/>
          <a:p>
            <a:r>
              <a:rPr sz="1800" dirty="0"/>
              <a:t>AEC </a:t>
            </a:r>
            <a:r>
              <a:rPr sz="1800" dirty="0" err="1"/>
              <a:t>단독</a:t>
            </a:r>
            <a:r>
              <a:rPr sz="1800" dirty="0"/>
              <a:t> </a:t>
            </a:r>
            <a:r>
              <a:rPr sz="1800" dirty="0" err="1"/>
              <a:t>기여는</a:t>
            </a:r>
            <a:r>
              <a:rPr sz="1800" dirty="0"/>
              <a:t> </a:t>
            </a:r>
            <a:r>
              <a:rPr sz="1800" dirty="0" err="1"/>
              <a:t>작고</a:t>
            </a:r>
            <a:r>
              <a:rPr sz="1800" dirty="0"/>
              <a:t>(</a:t>
            </a:r>
            <a:r>
              <a:rPr sz="1800" dirty="0" err="1"/>
              <a:t>sinchon</a:t>
            </a:r>
            <a:r>
              <a:rPr sz="1800" dirty="0"/>
              <a:t> 2/3만 </a:t>
            </a:r>
            <a:r>
              <a:rPr sz="1800" dirty="0" err="1"/>
              <a:t>유의</a:t>
            </a:r>
            <a:r>
              <a:rPr sz="1800" dirty="0"/>
              <a:t>), </a:t>
            </a:r>
            <a:r>
              <a:rPr sz="1800" dirty="0" err="1"/>
              <a:t>체성분을</a:t>
            </a:r>
            <a:r>
              <a:rPr sz="1800" dirty="0"/>
              <a:t> </a:t>
            </a:r>
            <a:r>
              <a:rPr sz="1800" dirty="0" err="1"/>
              <a:t>더하면</a:t>
            </a:r>
            <a:r>
              <a:rPr sz="1800" dirty="0"/>
              <a:t> </a:t>
            </a:r>
            <a:r>
              <a:rPr sz="1800" dirty="0" err="1"/>
              <a:t>커지지만</a:t>
            </a:r>
            <a:r>
              <a:rPr sz="1800" dirty="0"/>
              <a:t> Sinchon </a:t>
            </a:r>
            <a:r>
              <a:rPr sz="1800" dirty="0" err="1"/>
              <a:t>위주로</a:t>
            </a:r>
            <a:r>
              <a:rPr sz="1800" dirty="0"/>
              <a:t> </a:t>
            </a:r>
            <a:r>
              <a:rPr sz="1800" dirty="0" err="1"/>
              <a:t>유의</a:t>
            </a:r>
            <a:r>
              <a:rPr lang="ko-KR" altLang="en-US" sz="1800" dirty="0"/>
              <a:t>함</a:t>
            </a:r>
            <a:endParaRPr sz="1800" dirty="0"/>
          </a:p>
          <a:p>
            <a:r>
              <a:rPr sz="1800" dirty="0" err="1"/>
              <a:t>같은</a:t>
            </a:r>
            <a:r>
              <a:rPr sz="1800" dirty="0"/>
              <a:t> </a:t>
            </a:r>
            <a:r>
              <a:rPr sz="1800" dirty="0" err="1"/>
              <a:t>확장이라도</a:t>
            </a:r>
            <a:r>
              <a:rPr sz="1800" dirty="0"/>
              <a:t> </a:t>
            </a:r>
            <a:r>
              <a:rPr sz="1800" dirty="0" err="1"/>
              <a:t>부위·질환·코호트에</a:t>
            </a:r>
            <a:r>
              <a:rPr sz="1800" dirty="0"/>
              <a:t> </a:t>
            </a:r>
            <a:r>
              <a:rPr sz="1800" dirty="0" err="1"/>
              <a:t>따라</a:t>
            </a:r>
            <a:r>
              <a:rPr sz="1800" dirty="0"/>
              <a:t> </a:t>
            </a:r>
            <a:r>
              <a:rPr sz="1800" dirty="0" err="1"/>
              <a:t>크기가</a:t>
            </a:r>
            <a:r>
              <a:rPr sz="1800" dirty="0"/>
              <a:t> </a:t>
            </a:r>
            <a:r>
              <a:rPr lang="ko-KR" altLang="en-US" sz="1800" dirty="0"/>
              <a:t>다름</a:t>
            </a:r>
            <a:r>
              <a:rPr sz="1800" dirty="0"/>
              <a:t> (예: CKD </a:t>
            </a:r>
            <a:r>
              <a:rPr sz="1800" dirty="0" err="1"/>
              <a:t>Gangnam은</a:t>
            </a:r>
            <a:r>
              <a:rPr sz="1800" dirty="0"/>
              <a:t> </a:t>
            </a:r>
            <a:r>
              <a:rPr sz="1800" dirty="0" err="1"/>
              <a:t>체성분만</a:t>
            </a:r>
            <a:r>
              <a:rPr sz="1800" dirty="0"/>
              <a:t> +0.005, </a:t>
            </a:r>
            <a:r>
              <a:rPr sz="1800" dirty="0" err="1"/>
              <a:t>AEC만</a:t>
            </a:r>
            <a:r>
              <a:rPr sz="1800" dirty="0"/>
              <a:t> -0.034)</a:t>
            </a:r>
          </a:p>
          <a:p>
            <a:r>
              <a:rPr sz="1800" dirty="0" err="1"/>
              <a:t>해석</a:t>
            </a:r>
            <a:r>
              <a:rPr sz="1800" dirty="0"/>
              <a:t>(</a:t>
            </a:r>
            <a:r>
              <a:rPr sz="1800" dirty="0" err="1"/>
              <a:t>가설</a:t>
            </a:r>
            <a:r>
              <a:rPr sz="1800" dirty="0"/>
              <a:t>): crop </a:t>
            </a:r>
            <a:r>
              <a:rPr sz="1800" dirty="0" err="1"/>
              <a:t>범위</a:t>
            </a:r>
            <a:r>
              <a:rPr sz="1800" dirty="0"/>
              <a:t> </a:t>
            </a:r>
            <a:r>
              <a:rPr sz="1800" dirty="0" err="1"/>
              <a:t>안에서도</a:t>
            </a:r>
            <a:r>
              <a:rPr sz="1800" dirty="0"/>
              <a:t> </a:t>
            </a:r>
            <a:r>
              <a:rPr sz="1800" dirty="0" err="1"/>
              <a:t>환자마다</a:t>
            </a:r>
            <a:r>
              <a:rPr sz="1800" dirty="0"/>
              <a:t> </a:t>
            </a:r>
            <a:r>
              <a:rPr sz="1800" dirty="0" err="1"/>
              <a:t>해부학적</a:t>
            </a:r>
            <a:r>
              <a:rPr sz="1800" dirty="0"/>
              <a:t> </a:t>
            </a:r>
            <a:r>
              <a:rPr sz="1800" dirty="0" err="1"/>
              <a:t>구성이</a:t>
            </a:r>
            <a:r>
              <a:rPr sz="1800" dirty="0"/>
              <a:t> </a:t>
            </a:r>
            <a:r>
              <a:rPr sz="1800" dirty="0" err="1"/>
              <a:t>달라</a:t>
            </a:r>
            <a:r>
              <a:rPr sz="1800" dirty="0"/>
              <a:t>, </a:t>
            </a:r>
            <a:r>
              <a:rPr sz="1800" dirty="0" err="1"/>
              <a:t>같은</a:t>
            </a:r>
            <a:r>
              <a:rPr sz="1800" dirty="0"/>
              <a:t> slice </a:t>
            </a:r>
            <a:r>
              <a:rPr sz="1800" dirty="0" err="1"/>
              <a:t>index가</a:t>
            </a:r>
            <a:r>
              <a:rPr sz="1800" dirty="0"/>
              <a:t> </a:t>
            </a:r>
            <a:r>
              <a:rPr sz="1800" dirty="0" err="1"/>
              <a:t>같은</a:t>
            </a:r>
            <a:r>
              <a:rPr sz="1800" dirty="0"/>
              <a:t> </a:t>
            </a:r>
            <a:r>
              <a:rPr sz="1800" dirty="0" err="1"/>
              <a:t>위치를</a:t>
            </a:r>
            <a:r>
              <a:rPr sz="1800" dirty="0"/>
              <a:t> </a:t>
            </a:r>
            <a:r>
              <a:rPr sz="1800" dirty="0" err="1"/>
              <a:t>가리키지</a:t>
            </a:r>
            <a:r>
              <a:rPr sz="1800" dirty="0"/>
              <a:t> </a:t>
            </a:r>
            <a:r>
              <a:rPr sz="1800" dirty="0" err="1"/>
              <a:t>않을</a:t>
            </a:r>
            <a:r>
              <a:rPr sz="1800" dirty="0"/>
              <a:t> 수 있</a:t>
            </a:r>
            <a:r>
              <a:rPr lang="ko-KR" altLang="en-US" sz="1800" dirty="0"/>
              <a:t>음</a:t>
            </a:r>
            <a:endParaRPr sz="1800" dirty="0"/>
          </a:p>
          <a:p>
            <a:r>
              <a:rPr sz="1800" dirty="0" err="1"/>
              <a:t>한계</a:t>
            </a:r>
            <a:r>
              <a:rPr sz="1800" dirty="0"/>
              <a:t>: 이 </a:t>
            </a:r>
            <a:r>
              <a:rPr sz="1800" dirty="0" err="1"/>
              <a:t>위치</a:t>
            </a:r>
            <a:r>
              <a:rPr sz="1800" dirty="0"/>
              <a:t> </a:t>
            </a:r>
            <a:r>
              <a:rPr sz="1800" dirty="0" err="1"/>
              <a:t>불일치는</a:t>
            </a:r>
            <a:r>
              <a:rPr sz="1800" dirty="0"/>
              <a:t> </a:t>
            </a:r>
            <a:r>
              <a:rPr sz="1800" dirty="0" err="1"/>
              <a:t>직접</a:t>
            </a:r>
            <a:r>
              <a:rPr sz="1800" dirty="0"/>
              <a:t> </a:t>
            </a:r>
            <a:r>
              <a:rPr sz="1800" dirty="0" err="1"/>
              <a:t>측정하지</a:t>
            </a:r>
            <a:r>
              <a:rPr sz="1800" dirty="0"/>
              <a:t> </a:t>
            </a:r>
            <a:r>
              <a:rPr sz="1800" dirty="0" err="1"/>
              <a:t>않은</a:t>
            </a:r>
            <a:r>
              <a:rPr sz="1800" dirty="0"/>
              <a:t> </a:t>
            </a:r>
            <a:r>
              <a:rPr sz="1800" dirty="0" err="1"/>
              <a:t>가설이며</a:t>
            </a:r>
            <a:r>
              <a:rPr sz="1800" dirty="0"/>
              <a:t>, </a:t>
            </a:r>
            <a:r>
              <a:rPr sz="1800" dirty="0" err="1"/>
              <a:t>이번</a:t>
            </a:r>
            <a:r>
              <a:rPr sz="1800" dirty="0"/>
              <a:t> </a:t>
            </a:r>
            <a:r>
              <a:rPr sz="1800" dirty="0" err="1"/>
              <a:t>발표에서는</a:t>
            </a:r>
            <a:r>
              <a:rPr sz="1800" dirty="0"/>
              <a:t> </a:t>
            </a:r>
            <a:r>
              <a:rPr sz="1800" dirty="0" err="1"/>
              <a:t>추가</a:t>
            </a:r>
            <a:r>
              <a:rPr sz="1800" dirty="0"/>
              <a:t> </a:t>
            </a:r>
            <a:r>
              <a:rPr sz="1800" dirty="0" err="1"/>
              <a:t>검증</a:t>
            </a:r>
            <a:r>
              <a:rPr sz="1800" dirty="0"/>
              <a:t> </a:t>
            </a:r>
            <a:r>
              <a:rPr sz="1800" dirty="0" err="1"/>
              <a:t>없이</a:t>
            </a:r>
            <a:r>
              <a:rPr sz="1800" dirty="0"/>
              <a:t> </a:t>
            </a:r>
            <a:r>
              <a:rPr sz="1800" dirty="0" err="1"/>
              <a:t>관찰</a:t>
            </a:r>
            <a:r>
              <a:rPr lang="en-US" sz="1800" dirty="0"/>
              <a:t> </a:t>
            </a:r>
            <a:r>
              <a:rPr sz="1800" dirty="0" err="1"/>
              <a:t>제시</a:t>
            </a:r>
            <a:endParaRPr sz="1800" dirty="0"/>
          </a:p>
          <a:p>
            <a:r>
              <a:rPr lang="en-US" sz="1800" dirty="0"/>
              <a:t>Internal</a:t>
            </a:r>
            <a:r>
              <a:rPr lang="ko-KR" altLang="en-US" sz="1800" dirty="0"/>
              <a:t>을 </a:t>
            </a:r>
            <a:r>
              <a:rPr sz="1800" dirty="0"/>
              <a:t>5-fold CV</a:t>
            </a:r>
            <a:r>
              <a:rPr lang="ko-KR" altLang="en-US" sz="1800" dirty="0"/>
              <a:t>로 재평가 </a:t>
            </a:r>
            <a:r>
              <a:rPr lang="en-US" altLang="ko-KR" sz="1800" dirty="0"/>
              <a:t>— Sinchon(+0.039, p=0.015 </a:t>
            </a:r>
            <a:r>
              <a:rPr lang="ko-KR" altLang="en-US" sz="1800" dirty="0"/>
              <a:t>유의</a:t>
            </a:r>
            <a:r>
              <a:rPr lang="en-US" altLang="ko-KR" sz="1800" dirty="0"/>
              <a:t>)</a:t>
            </a:r>
            <a:r>
              <a:rPr lang="ko-KR" altLang="en-US" sz="1800" dirty="0"/>
              <a:t>과의 방향 불일치가 실제로 존재할 가능성 시사함         </a:t>
            </a:r>
            <a:r>
              <a:rPr sz="1800" dirty="0"/>
              <a:t>(Supplementary Table S8)</a:t>
            </a:r>
          </a:p>
        </p:txBody>
      </p:sp>
      <p:sp>
        <p:nvSpPr>
          <p:cNvPr id="5" name="슬라이드 번호 개체 틀 4">
            <a:extLst>
              <a:ext uri="{FF2B5EF4-FFF2-40B4-BE49-F238E27FC236}">
                <a16:creationId xmlns:a16="http://schemas.microsoft.com/office/drawing/2014/main" id="{BCF90836-9E69-7EFC-2877-0FBBA2FAD373}"/>
              </a:ext>
            </a:extLst>
          </p:cNvPr>
          <p:cNvSpPr>
            <a:spLocks noGrp="1"/>
          </p:cNvSpPr>
          <p:nvPr>
            <p:ph type="sldNum" sz="quarter" idx="12"/>
          </p:nvPr>
        </p:nvSpPr>
        <p:spPr/>
        <p:txBody>
          <a:bodyPr/>
          <a:lstStyle/>
          <a:p>
            <a:fld id="{9F4AF89A-28FA-47FA-B28F-9A9C6913CB7A}" type="slidenum">
              <a:rPr lang="ko-KR" altLang="en-US" smtClean="0"/>
              <a:pPr/>
              <a:t>9</a:t>
            </a:fld>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65126"/>
            <a:ext cx="11176000" cy="532342"/>
          </a:xfrm>
        </p:spPr>
        <p:txBody>
          <a:bodyPr/>
          <a:lstStyle/>
          <a:p>
            <a:r>
              <a:t>Conclusion</a:t>
            </a:r>
          </a:p>
        </p:txBody>
      </p:sp>
      <p:sp>
        <p:nvSpPr>
          <p:cNvPr id="3" name="Content Placeholder 2"/>
          <p:cNvSpPr>
            <a:spLocks noGrp="1"/>
          </p:cNvSpPr>
          <p:nvPr>
            <p:ph idx="1"/>
          </p:nvPr>
        </p:nvSpPr>
        <p:spPr>
          <a:xfrm>
            <a:off x="508000" y="897468"/>
            <a:ext cx="11176000" cy="5063066"/>
          </a:xfrm>
        </p:spPr>
        <p:txBody>
          <a:bodyPr wrap="square"/>
          <a:lstStyle/>
          <a:p>
            <a:r>
              <a:rPr sz="1800"/>
              <a:t>Clinic4(성별·나이·신장·체중)만으로 AUC Gangnam 0.66~0.77, Sinchon 0.61~0.71 수준의 판별력을 보인다</a:t>
            </a:r>
          </a:p>
          <a:p>
            <a:r>
              <a:rPr sz="1800"/>
              <a:t>AEC 곡선(FPCA)만 추가하면 ΔAUC -0.034~+0.039로 미미하거나 오히려 하락한다 (CKD Gangnam -0.034)</a:t>
            </a:r>
          </a:p>
          <a:p>
            <a:r>
              <a:rPr sz="1800"/>
              <a:t>체성분을 더하면 개선된다 — AEC+체성분 ΔAUC +0.024~+0.071, Sinchon 3/3 질환에서 유의. 다만 Gangnam은 1/3 질환뿐이고 부위·질환에 따라 편차가 커 코호트 간 일관되지 않다</a:t>
            </a:r>
          </a:p>
          <a:p>
            <a:r>
              <a:rPr sz="1800"/>
              <a:t>한계: crop range가 환자마다 일정하지 않을 가능성을 가설로 제시하나, 직접 측정하지 않았다 — 추가 검증이 필요하다</a:t>
            </a:r>
          </a:p>
        </p:txBody>
      </p:sp>
      <p:sp>
        <p:nvSpPr>
          <p:cNvPr id="4" name="슬라이드 번호 개체 틀 3">
            <a:extLst>
              <a:ext uri="{FF2B5EF4-FFF2-40B4-BE49-F238E27FC236}">
                <a16:creationId xmlns:a16="http://schemas.microsoft.com/office/drawing/2014/main" id="{25FC0757-D1D4-11B5-E65D-AF1C9B6A5716}"/>
              </a:ext>
            </a:extLst>
          </p:cNvPr>
          <p:cNvSpPr>
            <a:spLocks noGrp="1"/>
          </p:cNvSpPr>
          <p:nvPr>
            <p:ph type="sldNum" sz="quarter" idx="12"/>
          </p:nvPr>
        </p:nvSpPr>
        <p:spPr/>
        <p:txBody>
          <a:bodyPr/>
          <a:lstStyle/>
          <a:p>
            <a:fld id="{9F4AF89A-28FA-47FA-B28F-9A9C6913CB7A}" type="slidenum">
              <a:rPr lang="ko-KR" altLang="en-US" smtClean="0"/>
              <a:pPr/>
              <a:t>10</a:t>
            </a:fld>
            <a:endParaRPr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atch_image1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Supplementary</a:t>
            </a:r>
          </a:p>
        </p:txBody>
      </p:sp>
      <p:sp>
        <p:nvSpPr>
          <p:cNvPr id="3" name="슬라이드 번호 개체 틀 2">
            <a:extLst>
              <a:ext uri="{FF2B5EF4-FFF2-40B4-BE49-F238E27FC236}">
                <a16:creationId xmlns:a16="http://schemas.microsoft.com/office/drawing/2014/main" id="{6B8F56E8-9DBA-93D7-63F1-C8508A93B842}"/>
              </a:ext>
            </a:extLst>
          </p:cNvPr>
          <p:cNvSpPr>
            <a:spLocks noGrp="1"/>
          </p:cNvSpPr>
          <p:nvPr>
            <p:ph type="sldNum" sz="quarter" idx="12"/>
          </p:nvPr>
        </p:nvSpPr>
        <p:spPr/>
        <p:txBody>
          <a:bodyPr/>
          <a:lstStyle/>
          <a:p>
            <a:fld id="{9F4AF89A-28FA-47FA-B28F-9A9C6913CB7A}" type="slidenum">
              <a:rPr lang="ko-KR" altLang="en-US" smtClean="0"/>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Figure S1. Baseline 대비 확장모델 ΔAUC (Gangnam / Sinchon, 참고용 그래프)</a:t>
            </a:r>
          </a:p>
        </p:txBody>
      </p:sp>
      <p:pic>
        <p:nvPicPr>
          <p:cNvPr id="3" name="Picture 2" descr="fig2_delta_auc.png"/>
          <p:cNvPicPr>
            <a:picLocks noChangeAspect="1"/>
          </p:cNvPicPr>
          <p:nvPr/>
        </p:nvPicPr>
        <p:blipFill>
          <a:blip r:embed="rId2"/>
          <a:stretch>
            <a:fillRect/>
          </a:stretch>
        </p:blipFill>
        <p:spPr>
          <a:xfrm>
            <a:off x="508000" y="1812276"/>
            <a:ext cx="11176000" cy="3806168"/>
          </a:xfrm>
          <a:prstGeom prst="rect">
            <a:avLst/>
          </a:prstGeom>
        </p:spPr>
      </p:pic>
      <p:sp>
        <p:nvSpPr>
          <p:cNvPr id="4" name="슬라이드 번호 개체 틀 3">
            <a:extLst>
              <a:ext uri="{FF2B5EF4-FFF2-40B4-BE49-F238E27FC236}">
                <a16:creationId xmlns:a16="http://schemas.microsoft.com/office/drawing/2014/main" id="{37412909-25DE-E3CF-2D11-6AA6372F1E27}"/>
              </a:ext>
            </a:extLst>
          </p:cNvPr>
          <p:cNvSpPr>
            <a:spLocks noGrp="1"/>
          </p:cNvSpPr>
          <p:nvPr>
            <p:ph type="sldNum" sz="quarter" idx="12"/>
          </p:nvPr>
        </p:nvSpPr>
        <p:spPr/>
        <p:txBody>
          <a:bodyPr/>
          <a:lstStyle/>
          <a:p>
            <a:fld id="{9F4AF89A-28FA-47FA-B28F-9A9C6913CB7A}" type="slidenum">
              <a:rPr lang="ko-KR" altLang="en-US" smtClean="0"/>
              <a:pPr/>
              <a:t>13</a:t>
            </a:fld>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Table S1. 전체 확장모델 AUC 비교 (원본 유병률, * paired DeLong p&lt;0.05 vs Baseline)</a:t>
            </a:r>
          </a:p>
        </p:txBody>
      </p:sp>
      <p:graphicFrame>
        <p:nvGraphicFramePr>
          <p:cNvPr id="3" name="Table 2"/>
          <p:cNvGraphicFramePr>
            <a:graphicFrameLocks noGrp="1"/>
          </p:cNvGraphicFramePr>
          <p:nvPr>
            <p:extLst>
              <p:ext uri="{D42A27DB-BD31-4B8C-83A1-F6EECF244321}">
                <p14:modId xmlns:p14="http://schemas.microsoft.com/office/powerpoint/2010/main" val="1283656107"/>
              </p:ext>
            </p:extLst>
          </p:nvPr>
        </p:nvGraphicFramePr>
        <p:xfrm>
          <a:off x="770892" y="978408"/>
          <a:ext cx="10650216" cy="5124630"/>
        </p:xfrm>
        <a:graphic>
          <a:graphicData uri="http://schemas.openxmlformats.org/drawingml/2006/table">
            <a:tbl>
              <a:tblPr firstRow="1" bandRow="1">
                <a:tableStyleId>{C083E6E3-FA7D-4D7B-A595-EF9225AFEA82}</a:tableStyleId>
              </a:tblPr>
              <a:tblGrid>
                <a:gridCol w="1862328">
                  <a:extLst>
                    <a:ext uri="{9D8B030D-6E8A-4147-A177-3AD203B41FA5}">
                      <a16:colId xmlns:a16="http://schemas.microsoft.com/office/drawing/2014/main" val="20000"/>
                    </a:ext>
                  </a:extLst>
                </a:gridCol>
                <a:gridCol w="1862328">
                  <a:extLst>
                    <a:ext uri="{9D8B030D-6E8A-4147-A177-3AD203B41FA5}">
                      <a16:colId xmlns:a16="http://schemas.microsoft.com/office/drawing/2014/main" val="20001"/>
                    </a:ext>
                  </a:extLst>
                </a:gridCol>
                <a:gridCol w="828992">
                  <a:extLst>
                    <a:ext uri="{9D8B030D-6E8A-4147-A177-3AD203B41FA5}">
                      <a16:colId xmlns:a16="http://schemas.microsoft.com/office/drawing/2014/main" val="20002"/>
                    </a:ext>
                  </a:extLst>
                </a:gridCol>
                <a:gridCol w="1173480">
                  <a:extLst>
                    <a:ext uri="{9D8B030D-6E8A-4147-A177-3AD203B41FA5}">
                      <a16:colId xmlns:a16="http://schemas.microsoft.com/office/drawing/2014/main" val="20003"/>
                    </a:ext>
                  </a:extLst>
                </a:gridCol>
                <a:gridCol w="2460688">
                  <a:extLst>
                    <a:ext uri="{9D8B030D-6E8A-4147-A177-3AD203B41FA5}">
                      <a16:colId xmlns:a16="http://schemas.microsoft.com/office/drawing/2014/main" val="20004"/>
                    </a:ext>
                  </a:extLst>
                </a:gridCol>
                <a:gridCol w="2462400">
                  <a:extLst>
                    <a:ext uri="{9D8B030D-6E8A-4147-A177-3AD203B41FA5}">
                      <a16:colId xmlns:a16="http://schemas.microsoft.com/office/drawing/2014/main" val="20005"/>
                    </a:ext>
                  </a:extLst>
                </a:gridCol>
              </a:tblGrid>
              <a:tr h="732090">
                <a:tc>
                  <a:txBody>
                    <a:bodyPr/>
                    <a:lstStyle/>
                    <a:p>
                      <a:pPr algn="ctr"/>
                      <a:r>
                        <a:rPr sz="1200" b="1"/>
                        <a:t>Disease</a:t>
                      </a:r>
                    </a:p>
                  </a:txBody>
                  <a:tcPr anchor="ctr"/>
                </a:tc>
                <a:tc>
                  <a:txBody>
                    <a:bodyPr/>
                    <a:lstStyle/>
                    <a:p>
                      <a:pPr algn="ctr"/>
                      <a:r>
                        <a:rPr sz="1200" b="1"/>
                        <a:t>Cohort</a:t>
                      </a:r>
                    </a:p>
                  </a:txBody>
                  <a:tcPr anchor="ctr"/>
                </a:tc>
                <a:tc>
                  <a:txBody>
                    <a:bodyPr/>
                    <a:lstStyle/>
                    <a:p>
                      <a:pPr algn="ctr"/>
                      <a:r>
                        <a:rPr sz="1200" b="1"/>
                        <a:t>Baseline</a:t>
                      </a:r>
                    </a:p>
                  </a:txBody>
                  <a:tcPr anchor="ctr"/>
                </a:tc>
                <a:tc>
                  <a:txBody>
                    <a:bodyPr/>
                    <a:lstStyle/>
                    <a:p>
                      <a:pPr algn="ctr"/>
                      <a:r>
                        <a:rPr sz="1200" b="1"/>
                        <a:t>+AEC (FPCA)</a:t>
                      </a:r>
                    </a:p>
                  </a:txBody>
                  <a:tcPr anchor="ctr"/>
                </a:tc>
                <a:tc>
                  <a:txBody>
                    <a:bodyPr/>
                    <a:lstStyle/>
                    <a:p>
                      <a:pPr algn="ctr"/>
                      <a:r>
                        <a:rPr sz="1200" b="1" dirty="0"/>
                        <a:t>+</a:t>
                      </a:r>
                      <a:r>
                        <a:rPr sz="1200" b="1" dirty="0" err="1"/>
                        <a:t>AEC+체성분</a:t>
                      </a:r>
                      <a:endParaRPr lang="en-US" sz="1200" b="1" dirty="0"/>
                    </a:p>
                    <a:p>
                      <a:pPr algn="ctr"/>
                      <a:r>
                        <a:rPr sz="1200" b="1" dirty="0"/>
                        <a:t>(VAT·SAT·LAMA·NAMA·IMATA)</a:t>
                      </a:r>
                    </a:p>
                  </a:txBody>
                  <a:tcPr anchor="ctr"/>
                </a:tc>
                <a:tc>
                  <a:txBody>
                    <a:bodyPr/>
                    <a:lstStyle/>
                    <a:p>
                      <a:pPr algn="ctr"/>
                      <a:r>
                        <a:rPr sz="1200" b="1" dirty="0" err="1"/>
                        <a:t>체성분만</a:t>
                      </a:r>
                      <a:endParaRPr lang="en-US" sz="1200" b="1" dirty="0"/>
                    </a:p>
                    <a:p>
                      <a:pPr algn="ctr"/>
                      <a:r>
                        <a:rPr sz="1200" b="1" dirty="0"/>
                        <a:t>(VAT·SAT·LAMA·NAMA·IMATA)</a:t>
                      </a:r>
                    </a:p>
                  </a:txBody>
                  <a:tcPr anchor="ctr"/>
                </a:tc>
                <a:extLst>
                  <a:ext uri="{0D108BD9-81ED-4DB2-BD59-A6C34878D82A}">
                    <a16:rowId xmlns:a16="http://schemas.microsoft.com/office/drawing/2014/main" val="10000"/>
                  </a:ext>
                </a:extLst>
              </a:tr>
              <a:tr h="732090">
                <a:tc rowSpan="2">
                  <a:txBody>
                    <a:bodyPr/>
                    <a:lstStyle/>
                    <a:p>
                      <a:pPr algn="ctr"/>
                      <a:r>
                        <a:rPr sz="1200" b="0" dirty="0" err="1"/>
                        <a:t>고혈압</a:t>
                      </a:r>
                      <a:r>
                        <a:rPr sz="1200" b="0" dirty="0"/>
                        <a:t>(HTN)</a:t>
                      </a:r>
                    </a:p>
                  </a:txBody>
                  <a:tcPr anchor="ctr">
                    <a:lnB w="12700" cap="flat" cmpd="sng" algn="ctr">
                      <a:solidFill>
                        <a:schemeClr val="bg1">
                          <a:lumMod val="75000"/>
                        </a:schemeClr>
                      </a:solidFill>
                      <a:prstDash val="solid"/>
                      <a:round/>
                      <a:headEnd type="none" w="med" len="med"/>
                      <a:tailEnd type="none" w="med" len="med"/>
                    </a:lnB>
                    <a:solidFill>
                      <a:schemeClr val="bg1">
                        <a:alpha val="20000"/>
                      </a:schemeClr>
                    </a:solidFill>
                  </a:tcPr>
                </a:tc>
                <a:tc>
                  <a:txBody>
                    <a:bodyPr/>
                    <a:lstStyle/>
                    <a:p>
                      <a:pPr algn="ctr"/>
                      <a:r>
                        <a:rPr sz="1200" b="0"/>
                        <a:t>Internal (Gangnam)</a:t>
                      </a:r>
                    </a:p>
                  </a:txBody>
                  <a:tcPr anchor="ctr"/>
                </a:tc>
                <a:tc>
                  <a:txBody>
                    <a:bodyPr/>
                    <a:lstStyle/>
                    <a:p>
                      <a:pPr algn="ctr"/>
                      <a:r>
                        <a:rPr sz="1200" b="0"/>
                        <a:t>0.761</a:t>
                      </a:r>
                    </a:p>
                  </a:txBody>
                  <a:tcPr anchor="ctr"/>
                </a:tc>
                <a:tc>
                  <a:txBody>
                    <a:bodyPr/>
                    <a:lstStyle/>
                    <a:p>
                      <a:pPr algn="ctr"/>
                      <a:r>
                        <a:rPr sz="1200" b="0"/>
                        <a:t>0.775</a:t>
                      </a:r>
                    </a:p>
                  </a:txBody>
                  <a:tcPr anchor="ctr"/>
                </a:tc>
                <a:tc>
                  <a:txBody>
                    <a:bodyPr/>
                    <a:lstStyle/>
                    <a:p>
                      <a:pPr algn="ctr"/>
                      <a:r>
                        <a:rPr sz="1200" b="0"/>
                        <a:t>0.793*</a:t>
                      </a:r>
                    </a:p>
                  </a:txBody>
                  <a:tcPr anchor="ctr"/>
                </a:tc>
                <a:tc>
                  <a:txBody>
                    <a:bodyPr/>
                    <a:lstStyle/>
                    <a:p>
                      <a:pPr algn="ctr"/>
                      <a:r>
                        <a:rPr sz="1200" b="0"/>
                        <a:t>0.791</a:t>
                      </a:r>
                    </a:p>
                  </a:txBody>
                  <a:tcPr anchor="ctr"/>
                </a:tc>
                <a:extLst>
                  <a:ext uri="{0D108BD9-81ED-4DB2-BD59-A6C34878D82A}">
                    <a16:rowId xmlns:a16="http://schemas.microsoft.com/office/drawing/2014/main" val="10001"/>
                  </a:ext>
                </a:extLst>
              </a:tr>
              <a:tr h="732090">
                <a:tc vMerge="1">
                  <a:txBody>
                    <a:bodyPr/>
                    <a:lstStyle/>
                    <a:p>
                      <a:pPr algn="ctr"/>
                      <a:endParaRPr dirty="0"/>
                    </a:p>
                  </a:txBody>
                  <a:tcPr anchor="ct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0.715</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0.728*</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0.739*</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0.736*</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732090">
                <a:tc rowSpan="2">
                  <a:txBody>
                    <a:bodyPr/>
                    <a:lstStyle/>
                    <a:p>
                      <a:pPr algn="ctr"/>
                      <a:r>
                        <a:rPr sz="1200" b="0" dirty="0" err="1"/>
                        <a:t>당뇨병</a:t>
                      </a:r>
                      <a:r>
                        <a:rPr sz="1200" b="0" dirty="0"/>
                        <a:t>(DM)</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alpha val="20000"/>
                      </a:schemeClr>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0.661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0.675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0.701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0.698</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3"/>
                  </a:ext>
                </a:extLst>
              </a:tr>
              <a:tr h="732090">
                <a:tc vMerge="1">
                  <a:txBody>
                    <a:bodyPr/>
                    <a:lstStyle/>
                    <a:p>
                      <a:pPr algn="ctr"/>
                      <a:endParaRPr dirty="0"/>
                    </a:p>
                  </a:txBody>
                  <a:tcPr anchor="ct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0.649</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0.661</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0.701*</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0.691*</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732090">
                <a:tc rowSpan="2">
                  <a:txBody>
                    <a:bodyPr/>
                    <a:lstStyle/>
                    <a:p>
                      <a:pPr algn="ctr"/>
                      <a:r>
                        <a:rPr sz="1200" b="0" dirty="0" err="1"/>
                        <a:t>만성신장질환</a:t>
                      </a:r>
                      <a:r>
                        <a:rPr sz="1200" b="0" dirty="0"/>
                        <a:t>(CKD)</a:t>
                      </a:r>
                    </a:p>
                  </a:txBody>
                  <a:tcPr anchor="ctr">
                    <a:lnT w="12700" cap="flat" cmpd="sng" algn="ctr">
                      <a:solidFill>
                        <a:schemeClr val="bg1">
                          <a:lumMod val="75000"/>
                        </a:schemeClr>
                      </a:solidFill>
                      <a:prstDash val="solid"/>
                      <a:round/>
                      <a:headEnd type="none" w="med" len="med"/>
                      <a:tailEnd type="none" w="med" len="med"/>
                    </a:lnT>
                    <a:solidFill>
                      <a:schemeClr val="bg1">
                        <a:alpha val="20000"/>
                      </a:schemeClr>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0.765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0.731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0.811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0.770</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5"/>
                  </a:ext>
                </a:extLst>
              </a:tr>
              <a:tr h="732090">
                <a:tc vMerge="1">
                  <a:txBody>
                    <a:bodyPr/>
                    <a:lstStyle/>
                    <a:p>
                      <a:pPr algn="ctr"/>
                      <a:endParaRPr dirty="0"/>
                    </a:p>
                  </a:txBody>
                  <a:tcPr anchor="ctr"/>
                </a:tc>
                <a:tc>
                  <a:txBody>
                    <a:bodyPr/>
                    <a:lstStyle/>
                    <a:p>
                      <a:pPr algn="ctr"/>
                      <a:r>
                        <a:rPr sz="1200" b="0"/>
                        <a:t>External (Sinchon)</a:t>
                      </a:r>
                    </a:p>
                  </a:txBody>
                  <a:tcPr anchor="ctr"/>
                </a:tc>
                <a:tc>
                  <a:txBody>
                    <a:bodyPr/>
                    <a:lstStyle/>
                    <a:p>
                      <a:pPr algn="ctr"/>
                      <a:r>
                        <a:rPr sz="1200" b="0"/>
                        <a:t>0.613</a:t>
                      </a:r>
                    </a:p>
                  </a:txBody>
                  <a:tcPr anchor="ctr"/>
                </a:tc>
                <a:tc>
                  <a:txBody>
                    <a:bodyPr/>
                    <a:lstStyle/>
                    <a:p>
                      <a:pPr algn="ctr"/>
                      <a:r>
                        <a:rPr sz="1200" b="0"/>
                        <a:t>0.652*</a:t>
                      </a:r>
                    </a:p>
                  </a:txBody>
                  <a:tcPr anchor="ctr"/>
                </a:tc>
                <a:tc>
                  <a:txBody>
                    <a:bodyPr/>
                    <a:lstStyle/>
                    <a:p>
                      <a:pPr algn="ctr"/>
                      <a:r>
                        <a:rPr sz="1200" b="0"/>
                        <a:t>0.684*</a:t>
                      </a:r>
                    </a:p>
                  </a:txBody>
                  <a:tcPr anchor="ctr"/>
                </a:tc>
                <a:tc>
                  <a:txBody>
                    <a:bodyPr/>
                    <a:lstStyle/>
                    <a:p>
                      <a:pPr algn="ctr"/>
                      <a:r>
                        <a:rPr sz="1200" b="0" dirty="0"/>
                        <a:t>0.670*</a:t>
                      </a:r>
                    </a:p>
                  </a:txBody>
                  <a:tcPr anchor="ctr"/>
                </a:tc>
                <a:extLst>
                  <a:ext uri="{0D108BD9-81ED-4DB2-BD59-A6C34878D82A}">
                    <a16:rowId xmlns:a16="http://schemas.microsoft.com/office/drawing/2014/main" val="10006"/>
                  </a:ext>
                </a:extLst>
              </a:tr>
            </a:tbl>
          </a:graphicData>
        </a:graphic>
      </p:graphicFrame>
      <p:sp>
        <p:nvSpPr>
          <p:cNvPr id="4" name="슬라이드 번호 개체 틀 3">
            <a:extLst>
              <a:ext uri="{FF2B5EF4-FFF2-40B4-BE49-F238E27FC236}">
                <a16:creationId xmlns:a16="http://schemas.microsoft.com/office/drawing/2014/main" id="{02C5A0FE-4927-3A33-20F9-1AA1153E4106}"/>
              </a:ext>
            </a:extLst>
          </p:cNvPr>
          <p:cNvSpPr>
            <a:spLocks noGrp="1"/>
          </p:cNvSpPr>
          <p:nvPr>
            <p:ph type="sldNum" sz="quarter" idx="12"/>
          </p:nvPr>
        </p:nvSpPr>
        <p:spPr/>
        <p:txBody>
          <a:bodyPr/>
          <a:lstStyle/>
          <a:p>
            <a:fld id="{9F4AF89A-28FA-47FA-B28F-9A9C6913CB7A}" type="slidenum">
              <a:rPr lang="ko-KR" altLang="en-US" smtClean="0"/>
              <a:pPr/>
              <a:t>14</a:t>
            </a:fld>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Table S2. </a:t>
            </a:r>
            <a:r>
              <a:rPr dirty="0" err="1"/>
              <a:t>Undersampling</a:t>
            </a:r>
            <a:r>
              <a:rPr dirty="0"/>
              <a:t> </a:t>
            </a:r>
            <a:r>
              <a:rPr dirty="0" err="1"/>
              <a:t>전후</a:t>
            </a:r>
            <a:r>
              <a:rPr dirty="0"/>
              <a:t> </a:t>
            </a:r>
            <a:r>
              <a:rPr dirty="0" err="1"/>
              <a:t>비교</a:t>
            </a:r>
            <a:r>
              <a:rPr dirty="0"/>
              <a:t> </a:t>
            </a:r>
            <a:r>
              <a:rPr lang="en-US" dirty="0"/>
              <a:t>(</a:t>
            </a:r>
            <a:r>
              <a:rPr dirty="0" err="1"/>
              <a:t>AUC는</a:t>
            </a:r>
            <a:r>
              <a:rPr dirty="0"/>
              <a:t> </a:t>
            </a:r>
            <a:r>
              <a:rPr dirty="0" err="1"/>
              <a:t>대체로</a:t>
            </a:r>
            <a:r>
              <a:rPr dirty="0"/>
              <a:t> </a:t>
            </a:r>
            <a:r>
              <a:rPr dirty="0" err="1"/>
              <a:t>유지</a:t>
            </a:r>
            <a:r>
              <a:rPr dirty="0"/>
              <a:t>, Youden cutoff</a:t>
            </a:r>
            <a:r>
              <a:rPr lang="en-US" dirty="0"/>
              <a: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2063421009"/>
              </p:ext>
            </p:extLst>
          </p:nvPr>
        </p:nvGraphicFramePr>
        <p:xfrm>
          <a:off x="614331" y="978408"/>
          <a:ext cx="10963338" cy="5124630"/>
        </p:xfrm>
        <a:graphic>
          <a:graphicData uri="http://schemas.openxmlformats.org/drawingml/2006/table">
            <a:tbl>
              <a:tblPr firstRow="1" bandRow="1">
                <a:tableStyleId>{C083E6E3-FA7D-4D7B-A595-EF9225AFEA82}</a:tableStyleId>
              </a:tblPr>
              <a:tblGrid>
                <a:gridCol w="1862328">
                  <a:extLst>
                    <a:ext uri="{9D8B030D-6E8A-4147-A177-3AD203B41FA5}">
                      <a16:colId xmlns:a16="http://schemas.microsoft.com/office/drawing/2014/main" val="20000"/>
                    </a:ext>
                  </a:extLst>
                </a:gridCol>
                <a:gridCol w="1573530">
                  <a:extLst>
                    <a:ext uri="{9D8B030D-6E8A-4147-A177-3AD203B41FA5}">
                      <a16:colId xmlns:a16="http://schemas.microsoft.com/office/drawing/2014/main" val="20001"/>
                    </a:ext>
                  </a:extLst>
                </a:gridCol>
                <a:gridCol w="1940496">
                  <a:extLst>
                    <a:ext uri="{9D8B030D-6E8A-4147-A177-3AD203B41FA5}">
                      <a16:colId xmlns:a16="http://schemas.microsoft.com/office/drawing/2014/main" val="20002"/>
                    </a:ext>
                  </a:extLst>
                </a:gridCol>
                <a:gridCol w="1862328">
                  <a:extLst>
                    <a:ext uri="{9D8B030D-6E8A-4147-A177-3AD203B41FA5}">
                      <a16:colId xmlns:a16="http://schemas.microsoft.com/office/drawing/2014/main" val="20003"/>
                    </a:ext>
                  </a:extLst>
                </a:gridCol>
                <a:gridCol w="1862328">
                  <a:extLst>
                    <a:ext uri="{9D8B030D-6E8A-4147-A177-3AD203B41FA5}">
                      <a16:colId xmlns:a16="http://schemas.microsoft.com/office/drawing/2014/main" val="20004"/>
                    </a:ext>
                  </a:extLst>
                </a:gridCol>
                <a:gridCol w="1862328">
                  <a:extLst>
                    <a:ext uri="{9D8B030D-6E8A-4147-A177-3AD203B41FA5}">
                      <a16:colId xmlns:a16="http://schemas.microsoft.com/office/drawing/2014/main" val="20005"/>
                    </a:ext>
                  </a:extLst>
                </a:gridCol>
              </a:tblGrid>
              <a:tr h="732090">
                <a:tc>
                  <a:txBody>
                    <a:bodyPr/>
                    <a:lstStyle/>
                    <a:p>
                      <a:pPr algn="ctr"/>
                      <a:r>
                        <a:rPr sz="1200" b="1"/>
                        <a:t>Disease</a:t>
                      </a:r>
                    </a:p>
                  </a:txBody>
                  <a:tcPr anchor="ctr"/>
                </a:tc>
                <a:tc>
                  <a:txBody>
                    <a:bodyPr/>
                    <a:lstStyle/>
                    <a:p>
                      <a:pPr algn="ctr"/>
                      <a:r>
                        <a:rPr sz="1200" b="1" dirty="0"/>
                        <a:t>Cohort</a:t>
                      </a:r>
                    </a:p>
                  </a:txBody>
                  <a:tcPr anchor="ctr"/>
                </a:tc>
                <a:tc>
                  <a:txBody>
                    <a:bodyPr/>
                    <a:lstStyle/>
                    <a:p>
                      <a:pPr algn="ctr"/>
                      <a:r>
                        <a:rPr sz="1200" b="1" dirty="0"/>
                        <a:t>Cutoff</a:t>
                      </a:r>
                      <a:endParaRPr lang="en-US" sz="1200" b="1" dirty="0"/>
                    </a:p>
                    <a:p>
                      <a:pPr algn="ctr"/>
                      <a:r>
                        <a:rPr sz="1200" b="1" dirty="0"/>
                        <a:t>(</a:t>
                      </a:r>
                      <a:r>
                        <a:rPr sz="1200" b="1" dirty="0" err="1"/>
                        <a:t>orig→balanced</a:t>
                      </a:r>
                      <a:r>
                        <a:rPr sz="1200" b="1" dirty="0"/>
                        <a:t>)</a:t>
                      </a:r>
                    </a:p>
                  </a:txBody>
                  <a:tcPr anchor="ctr"/>
                </a:tc>
                <a:tc>
                  <a:txBody>
                    <a:bodyPr/>
                    <a:lstStyle/>
                    <a:p>
                      <a:pPr algn="ctr"/>
                      <a:r>
                        <a:rPr sz="1200" b="1" dirty="0"/>
                        <a:t>AUC</a:t>
                      </a:r>
                      <a:endParaRPr lang="en-US" sz="1200" b="1" dirty="0"/>
                    </a:p>
                    <a:p>
                      <a:pPr algn="ctr"/>
                      <a:r>
                        <a:rPr lang="en-US" altLang="ko-KR" sz="1200" b="1" dirty="0"/>
                        <a:t>(</a:t>
                      </a:r>
                      <a:r>
                        <a:rPr sz="1200" b="1" dirty="0" err="1"/>
                        <a:t>orig→balanced</a:t>
                      </a:r>
                      <a:r>
                        <a:rPr sz="1200" b="1" dirty="0"/>
                        <a:t>)</a:t>
                      </a:r>
                    </a:p>
                  </a:txBody>
                  <a:tcPr anchor="ctr"/>
                </a:tc>
                <a:tc>
                  <a:txBody>
                    <a:bodyPr/>
                    <a:lstStyle/>
                    <a:p>
                      <a:pPr algn="ctr"/>
                      <a:r>
                        <a:rPr sz="1200" b="1" dirty="0"/>
                        <a:t>Sensitivity</a:t>
                      </a:r>
                      <a:endParaRPr lang="en-US" sz="1200" b="1" dirty="0"/>
                    </a:p>
                    <a:p>
                      <a:pPr algn="ctr"/>
                      <a:r>
                        <a:rPr sz="1200" b="1" dirty="0"/>
                        <a:t>(</a:t>
                      </a:r>
                      <a:r>
                        <a:rPr sz="1200" b="1" dirty="0" err="1"/>
                        <a:t>orig→balanced</a:t>
                      </a:r>
                      <a:r>
                        <a:rPr sz="1200" b="1" dirty="0"/>
                        <a:t>)</a:t>
                      </a:r>
                    </a:p>
                  </a:txBody>
                  <a:tcPr anchor="ctr"/>
                </a:tc>
                <a:tc>
                  <a:txBody>
                    <a:bodyPr/>
                    <a:lstStyle/>
                    <a:p>
                      <a:pPr algn="ctr"/>
                      <a:r>
                        <a:rPr sz="1200" b="1" dirty="0"/>
                        <a:t>Specificity</a:t>
                      </a:r>
                      <a:endParaRPr lang="en-US" sz="1200" b="1" dirty="0"/>
                    </a:p>
                    <a:p>
                      <a:pPr algn="ctr"/>
                      <a:r>
                        <a:rPr sz="1200" b="1" dirty="0"/>
                        <a:t>(</a:t>
                      </a:r>
                      <a:r>
                        <a:rPr sz="1200" b="1" dirty="0" err="1"/>
                        <a:t>orig→balanced</a:t>
                      </a:r>
                      <a:r>
                        <a:rPr sz="1200" b="1" dirty="0"/>
                        <a:t>)</a:t>
                      </a:r>
                    </a:p>
                  </a:txBody>
                  <a:tcPr anchor="ctr"/>
                </a:tc>
                <a:extLst>
                  <a:ext uri="{0D108BD9-81ED-4DB2-BD59-A6C34878D82A}">
                    <a16:rowId xmlns:a16="http://schemas.microsoft.com/office/drawing/2014/main" val="10000"/>
                  </a:ext>
                </a:extLst>
              </a:tr>
              <a:tr h="732090">
                <a:tc rowSpan="2">
                  <a:txBody>
                    <a:bodyPr/>
                    <a:lstStyle/>
                    <a:p>
                      <a:pPr algn="ctr"/>
                      <a:r>
                        <a:rPr sz="1200" b="0" dirty="0" err="1"/>
                        <a:t>고혈압</a:t>
                      </a:r>
                      <a:r>
                        <a:rPr sz="1200" b="0" dirty="0"/>
                        <a:t>(HTN)</a:t>
                      </a:r>
                    </a:p>
                  </a:txBody>
                  <a:tcPr anchor="ct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sz="1200" b="0"/>
                        <a:t>Internal (Gangnam)</a:t>
                      </a:r>
                    </a:p>
                  </a:txBody>
                  <a:tcPr anchor="ctr"/>
                </a:tc>
                <a:tc>
                  <a:txBody>
                    <a:bodyPr/>
                    <a:lstStyle/>
                    <a:p>
                      <a:pPr algn="ctr"/>
                      <a:r>
                        <a:rPr sz="1200" b="0"/>
                        <a:t>0.303→0.498</a:t>
                      </a:r>
                    </a:p>
                  </a:txBody>
                  <a:tcPr anchor="ctr"/>
                </a:tc>
                <a:tc>
                  <a:txBody>
                    <a:bodyPr/>
                    <a:lstStyle/>
                    <a:p>
                      <a:pPr algn="ctr"/>
                      <a:r>
                        <a:rPr sz="1200" b="0"/>
                        <a:t>0.761→0.780</a:t>
                      </a:r>
                    </a:p>
                  </a:txBody>
                  <a:tcPr anchor="ctr"/>
                </a:tc>
                <a:tc>
                  <a:txBody>
                    <a:bodyPr/>
                    <a:lstStyle/>
                    <a:p>
                      <a:pPr algn="ctr"/>
                      <a:r>
                        <a:rPr sz="1200" b="0"/>
                        <a:t>0.740→0.792</a:t>
                      </a:r>
                    </a:p>
                  </a:txBody>
                  <a:tcPr anchor="ctr"/>
                </a:tc>
                <a:tc>
                  <a:txBody>
                    <a:bodyPr/>
                    <a:lstStyle/>
                    <a:p>
                      <a:pPr algn="ctr"/>
                      <a:r>
                        <a:rPr sz="1200" b="0"/>
                        <a:t>0.623→0.654</a:t>
                      </a:r>
                    </a:p>
                  </a:txBody>
                  <a:tcPr anchor="ctr"/>
                </a:tc>
                <a:extLst>
                  <a:ext uri="{0D108BD9-81ED-4DB2-BD59-A6C34878D82A}">
                    <a16:rowId xmlns:a16="http://schemas.microsoft.com/office/drawing/2014/main" val="10001"/>
                  </a:ext>
                </a:extLst>
              </a:tr>
              <a:tr h="732090">
                <a:tc vMerge="1">
                  <a:txBody>
                    <a:bodyPr/>
                    <a:lstStyle/>
                    <a:p>
                      <a:pPr algn="ctr"/>
                      <a:endParaRPr dirty="0"/>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0.279→0.466</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0.715→0.722</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0.771→0.787</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0.578→0.538</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732090">
                <a:tc rowSpan="2">
                  <a:txBody>
                    <a:bodyPr/>
                    <a:lstStyle/>
                    <a:p>
                      <a:pPr algn="ctr"/>
                      <a:r>
                        <a:rPr sz="1200" b="0" dirty="0" err="1"/>
                        <a:t>당뇨병</a:t>
                      </a:r>
                      <a:r>
                        <a:rPr sz="1200" b="0" dirty="0"/>
                        <a:t>(DM)</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0.545→0.395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0.661→0.761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0.532→0.915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0.698→0.447</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3"/>
                  </a:ext>
                </a:extLst>
              </a:tr>
              <a:tr h="732090">
                <a:tc vMerge="1">
                  <a:txBody>
                    <a:bodyPr/>
                    <a:lstStyle/>
                    <a:p>
                      <a:pPr algn="ctr"/>
                      <a:endParaRPr dirty="0"/>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0.527→0.445</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0.649→0.682</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0.609→0.773</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0.615→0.478</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732090">
                <a:tc rowSpan="2">
                  <a:txBody>
                    <a:bodyPr/>
                    <a:lstStyle/>
                    <a:p>
                      <a:pPr algn="ctr"/>
                      <a:r>
                        <a:rPr sz="1200" b="0" dirty="0" err="1"/>
                        <a:t>만성신장질환</a:t>
                      </a:r>
                      <a:r>
                        <a:rPr sz="1200" b="0" dirty="0"/>
                        <a:t>(CKD)</a:t>
                      </a:r>
                    </a:p>
                  </a:txBody>
                  <a:tcPr anchor="ct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0.087→0.545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0.765→0.794</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0.667→0.429</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0.641→0.857</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5"/>
                  </a:ext>
                </a:extLst>
              </a:tr>
              <a:tr h="732090">
                <a:tc vMerge="1">
                  <a:txBody>
                    <a:bodyPr/>
                    <a:lstStyle/>
                    <a:p>
                      <a:pPr algn="ctr"/>
                      <a:endParaRPr dirty="0"/>
                    </a:p>
                  </a:txBody>
                  <a:tcPr anchor="ctr">
                    <a:solidFill>
                      <a:schemeClr val="bg1"/>
                    </a:solidFill>
                  </a:tcPr>
                </a:tc>
                <a:tc>
                  <a:txBody>
                    <a:bodyPr/>
                    <a:lstStyle/>
                    <a:p>
                      <a:pPr algn="ctr"/>
                      <a:r>
                        <a:rPr sz="1200" b="0"/>
                        <a:t>External (Sinchon)</a:t>
                      </a:r>
                    </a:p>
                  </a:txBody>
                  <a:tcPr anchor="ctr"/>
                </a:tc>
                <a:tc>
                  <a:txBody>
                    <a:bodyPr/>
                    <a:lstStyle/>
                    <a:p>
                      <a:pPr algn="ctr"/>
                      <a:r>
                        <a:rPr sz="1200" b="0"/>
                        <a:t>0.071→0.529</a:t>
                      </a:r>
                    </a:p>
                  </a:txBody>
                  <a:tcPr anchor="ctr"/>
                </a:tc>
                <a:tc>
                  <a:txBody>
                    <a:bodyPr/>
                    <a:lstStyle/>
                    <a:p>
                      <a:pPr algn="ctr"/>
                      <a:r>
                        <a:rPr sz="1200" b="0"/>
                        <a:t>0.613→0.600</a:t>
                      </a:r>
                    </a:p>
                  </a:txBody>
                  <a:tcPr anchor="ctr"/>
                </a:tc>
                <a:tc>
                  <a:txBody>
                    <a:bodyPr/>
                    <a:lstStyle/>
                    <a:p>
                      <a:pPr algn="ctr"/>
                      <a:r>
                        <a:rPr sz="1200" b="0"/>
                        <a:t>0.638→0.473</a:t>
                      </a:r>
                    </a:p>
                  </a:txBody>
                  <a:tcPr anchor="ctr"/>
                </a:tc>
                <a:tc>
                  <a:txBody>
                    <a:bodyPr/>
                    <a:lstStyle/>
                    <a:p>
                      <a:pPr algn="ctr"/>
                      <a:r>
                        <a:rPr sz="1200" b="0" dirty="0"/>
                        <a:t>0.528→0.649</a:t>
                      </a:r>
                    </a:p>
                  </a:txBody>
                  <a:tcPr anchor="ctr"/>
                </a:tc>
                <a:extLst>
                  <a:ext uri="{0D108BD9-81ED-4DB2-BD59-A6C34878D82A}">
                    <a16:rowId xmlns:a16="http://schemas.microsoft.com/office/drawing/2014/main" val="10006"/>
                  </a:ext>
                </a:extLst>
              </a:tr>
            </a:tbl>
          </a:graphicData>
        </a:graphic>
      </p:graphicFrame>
      <p:sp>
        <p:nvSpPr>
          <p:cNvPr id="4" name="슬라이드 번호 개체 틀 3">
            <a:extLst>
              <a:ext uri="{FF2B5EF4-FFF2-40B4-BE49-F238E27FC236}">
                <a16:creationId xmlns:a16="http://schemas.microsoft.com/office/drawing/2014/main" id="{98F03381-1813-77E0-AA01-15C37149041A}"/>
              </a:ext>
            </a:extLst>
          </p:cNvPr>
          <p:cNvSpPr>
            <a:spLocks noGrp="1"/>
          </p:cNvSpPr>
          <p:nvPr>
            <p:ph type="sldNum" sz="quarter" idx="12"/>
          </p:nvPr>
        </p:nvSpPr>
        <p:spPr/>
        <p:txBody>
          <a:bodyPr/>
          <a:lstStyle/>
          <a:p>
            <a:fld id="{9F4AF89A-28FA-47FA-B28F-9A9C6913CB7A}" type="slidenum">
              <a:rPr lang="ko-KR" altLang="en-US" smtClean="0"/>
              <a:pPr/>
              <a:t>15</a:t>
            </a:fld>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Table S3. AEC 변형 비교 - FPCA+ratio vs FPCA-only vs ratio-only (VIF 다중공선성 확인)</a:t>
            </a:r>
          </a:p>
        </p:txBody>
      </p:sp>
      <p:graphicFrame>
        <p:nvGraphicFramePr>
          <p:cNvPr id="3" name="Table 2"/>
          <p:cNvGraphicFramePr>
            <a:graphicFrameLocks noGrp="1"/>
          </p:cNvGraphicFramePr>
          <p:nvPr>
            <p:extLst>
              <p:ext uri="{D42A27DB-BD31-4B8C-83A1-F6EECF244321}">
                <p14:modId xmlns:p14="http://schemas.microsoft.com/office/powerpoint/2010/main" val="2603115111"/>
              </p:ext>
            </p:extLst>
          </p:nvPr>
        </p:nvGraphicFramePr>
        <p:xfrm>
          <a:off x="512064" y="978408"/>
          <a:ext cx="11173965" cy="5124630"/>
        </p:xfrm>
        <a:graphic>
          <a:graphicData uri="http://schemas.openxmlformats.org/drawingml/2006/table">
            <a:tbl>
              <a:tblPr firstRow="1" bandRow="1">
                <a:tableStyleId>{C083E6E3-FA7D-4D7B-A595-EF9225AFEA82}</a:tableStyleId>
              </a:tblPr>
              <a:tblGrid>
                <a:gridCol w="2234793">
                  <a:extLst>
                    <a:ext uri="{9D8B030D-6E8A-4147-A177-3AD203B41FA5}">
                      <a16:colId xmlns:a16="http://schemas.microsoft.com/office/drawing/2014/main" val="20000"/>
                    </a:ext>
                  </a:extLst>
                </a:gridCol>
                <a:gridCol w="2234793">
                  <a:extLst>
                    <a:ext uri="{9D8B030D-6E8A-4147-A177-3AD203B41FA5}">
                      <a16:colId xmlns:a16="http://schemas.microsoft.com/office/drawing/2014/main" val="20001"/>
                    </a:ext>
                  </a:extLst>
                </a:gridCol>
                <a:gridCol w="2234793">
                  <a:extLst>
                    <a:ext uri="{9D8B030D-6E8A-4147-A177-3AD203B41FA5}">
                      <a16:colId xmlns:a16="http://schemas.microsoft.com/office/drawing/2014/main" val="20002"/>
                    </a:ext>
                  </a:extLst>
                </a:gridCol>
                <a:gridCol w="2234793">
                  <a:extLst>
                    <a:ext uri="{9D8B030D-6E8A-4147-A177-3AD203B41FA5}">
                      <a16:colId xmlns:a16="http://schemas.microsoft.com/office/drawing/2014/main" val="20003"/>
                    </a:ext>
                  </a:extLst>
                </a:gridCol>
                <a:gridCol w="2234793">
                  <a:extLst>
                    <a:ext uri="{9D8B030D-6E8A-4147-A177-3AD203B41FA5}">
                      <a16:colId xmlns:a16="http://schemas.microsoft.com/office/drawing/2014/main" val="20004"/>
                    </a:ext>
                  </a:extLst>
                </a:gridCol>
              </a:tblGrid>
              <a:tr h="732090">
                <a:tc>
                  <a:txBody>
                    <a:bodyPr/>
                    <a:lstStyle/>
                    <a:p>
                      <a:pPr algn="ctr"/>
                      <a:r>
                        <a:rPr sz="1200" b="1"/>
                        <a:t>Disease</a:t>
                      </a:r>
                    </a:p>
                  </a:txBody>
                  <a:tcPr anchor="ctr"/>
                </a:tc>
                <a:tc>
                  <a:txBody>
                    <a:bodyPr/>
                    <a:lstStyle/>
                    <a:p>
                      <a:pPr algn="ctr"/>
                      <a:r>
                        <a:rPr sz="1200" b="1"/>
                        <a:t>Cohort</a:t>
                      </a:r>
                    </a:p>
                  </a:txBody>
                  <a:tcPr anchor="ctr"/>
                </a:tc>
                <a:tc>
                  <a:txBody>
                    <a:bodyPr/>
                    <a:lstStyle/>
                    <a:p>
                      <a:pPr algn="ctr"/>
                      <a:r>
                        <a:rPr sz="1200" b="1"/>
                        <a:t>AUC (FPCA+ratio)</a:t>
                      </a:r>
                    </a:p>
                  </a:txBody>
                  <a:tcPr anchor="ctr"/>
                </a:tc>
                <a:tc>
                  <a:txBody>
                    <a:bodyPr/>
                    <a:lstStyle/>
                    <a:p>
                      <a:pPr algn="ctr"/>
                      <a:r>
                        <a:rPr sz="1200" b="1"/>
                        <a:t>AUC (FPCA-only)</a:t>
                      </a:r>
                    </a:p>
                  </a:txBody>
                  <a:tcPr anchor="ctr"/>
                </a:tc>
                <a:tc>
                  <a:txBody>
                    <a:bodyPr/>
                    <a:lstStyle/>
                    <a:p>
                      <a:pPr algn="ctr"/>
                      <a:r>
                        <a:rPr sz="1200" b="1"/>
                        <a:t>AUC (ratio-only)</a:t>
                      </a:r>
                    </a:p>
                  </a:txBody>
                  <a:tcPr anchor="ctr"/>
                </a:tc>
                <a:extLst>
                  <a:ext uri="{0D108BD9-81ED-4DB2-BD59-A6C34878D82A}">
                    <a16:rowId xmlns:a16="http://schemas.microsoft.com/office/drawing/2014/main" val="10000"/>
                  </a:ext>
                </a:extLst>
              </a:tr>
              <a:tr h="732090">
                <a:tc rowSpan="2">
                  <a:txBody>
                    <a:bodyPr/>
                    <a:lstStyle/>
                    <a:p>
                      <a:pPr algn="ctr"/>
                      <a:r>
                        <a:rPr sz="1200" b="0" dirty="0" err="1"/>
                        <a:t>고혈압</a:t>
                      </a:r>
                      <a:r>
                        <a:rPr sz="1200" b="0" dirty="0"/>
                        <a:t>(HTN)</a:t>
                      </a:r>
                    </a:p>
                  </a:txBody>
                  <a:tcPr anchor="ctr">
                    <a:lnB w="12700" cap="flat" cmpd="sng" algn="ctr">
                      <a:solidFill>
                        <a:schemeClr val="bg1">
                          <a:lumMod val="75000"/>
                        </a:schemeClr>
                      </a:solidFill>
                      <a:prstDash val="solid"/>
                      <a:round/>
                      <a:headEnd type="none" w="med" len="med"/>
                      <a:tailEnd type="none" w="med" len="med"/>
                    </a:lnB>
                    <a:solidFill>
                      <a:schemeClr val="bg1">
                        <a:alpha val="20000"/>
                      </a:schemeClr>
                    </a:solidFill>
                  </a:tcPr>
                </a:tc>
                <a:tc>
                  <a:txBody>
                    <a:bodyPr/>
                    <a:lstStyle/>
                    <a:p>
                      <a:pPr algn="ctr"/>
                      <a:r>
                        <a:rPr sz="1200" b="0"/>
                        <a:t>Internal (Gangnam)</a:t>
                      </a:r>
                    </a:p>
                  </a:txBody>
                  <a:tcPr anchor="ctr"/>
                </a:tc>
                <a:tc>
                  <a:txBody>
                    <a:bodyPr/>
                    <a:lstStyle/>
                    <a:p>
                      <a:pPr algn="ctr"/>
                      <a:r>
                        <a:rPr sz="1200" b="0"/>
                        <a:t>0.778</a:t>
                      </a:r>
                    </a:p>
                  </a:txBody>
                  <a:tcPr anchor="ctr"/>
                </a:tc>
                <a:tc>
                  <a:txBody>
                    <a:bodyPr/>
                    <a:lstStyle/>
                    <a:p>
                      <a:pPr algn="ctr"/>
                      <a:r>
                        <a:rPr sz="1200" b="0"/>
                        <a:t>0.775</a:t>
                      </a:r>
                    </a:p>
                  </a:txBody>
                  <a:tcPr anchor="ctr"/>
                </a:tc>
                <a:tc>
                  <a:txBody>
                    <a:bodyPr/>
                    <a:lstStyle/>
                    <a:p>
                      <a:pPr algn="ctr"/>
                      <a:r>
                        <a:rPr sz="1200" b="0"/>
                        <a:t>0.767</a:t>
                      </a:r>
                    </a:p>
                  </a:txBody>
                  <a:tcPr anchor="ctr"/>
                </a:tc>
                <a:extLst>
                  <a:ext uri="{0D108BD9-81ED-4DB2-BD59-A6C34878D82A}">
                    <a16:rowId xmlns:a16="http://schemas.microsoft.com/office/drawing/2014/main" val="10001"/>
                  </a:ext>
                </a:extLst>
              </a:tr>
              <a:tr h="732090">
                <a:tc vMerge="1">
                  <a:txBody>
                    <a:bodyPr/>
                    <a:lstStyle/>
                    <a:p>
                      <a:endParaRPr/>
                    </a:p>
                  </a:txBody>
                  <a:tcP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0.729</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0.728</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0.726</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732090">
                <a:tc rowSpan="2">
                  <a:txBody>
                    <a:bodyPr/>
                    <a:lstStyle/>
                    <a:p>
                      <a:pPr algn="ctr"/>
                      <a:r>
                        <a:rPr sz="1200" b="0" dirty="0" err="1"/>
                        <a:t>당뇨병</a:t>
                      </a:r>
                      <a:r>
                        <a:rPr sz="1200" b="0" dirty="0"/>
                        <a:t>(DM)</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alpha val="20000"/>
                      </a:schemeClr>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0.679</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0.675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0.656</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3"/>
                  </a:ext>
                </a:extLst>
              </a:tr>
              <a:tr h="732090">
                <a:tc vMerge="1">
                  <a:txBody>
                    <a:bodyPr/>
                    <a:lstStyle/>
                    <a:p>
                      <a:endParaRPr/>
                    </a:p>
                  </a:txBody>
                  <a:tcP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0.671</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0.661</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0.650</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732090">
                <a:tc rowSpan="2">
                  <a:txBody>
                    <a:bodyPr/>
                    <a:lstStyle/>
                    <a:p>
                      <a:pPr algn="ctr"/>
                      <a:r>
                        <a:rPr sz="1200" b="0" dirty="0" err="1"/>
                        <a:t>만성신장질환</a:t>
                      </a:r>
                      <a:r>
                        <a:rPr sz="1200" b="0" dirty="0"/>
                        <a:t>(CKD)</a:t>
                      </a:r>
                    </a:p>
                  </a:txBody>
                  <a:tcPr anchor="ctr">
                    <a:lnT w="12700" cap="flat" cmpd="sng" algn="ctr">
                      <a:solidFill>
                        <a:schemeClr val="bg1">
                          <a:lumMod val="75000"/>
                        </a:schemeClr>
                      </a:solidFill>
                      <a:prstDash val="solid"/>
                      <a:round/>
                      <a:headEnd type="none" w="med" len="med"/>
                      <a:tailEnd type="none" w="med" len="med"/>
                    </a:lnT>
                    <a:solidFill>
                      <a:schemeClr val="bg1">
                        <a:alpha val="20000"/>
                      </a:schemeClr>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0.755</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0.731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0.750</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5"/>
                  </a:ext>
                </a:extLst>
              </a:tr>
              <a:tr h="732090">
                <a:tc vMerge="1">
                  <a:txBody>
                    <a:bodyPr/>
                    <a:lstStyle/>
                    <a:p>
                      <a:endParaRPr/>
                    </a:p>
                  </a:txBody>
                  <a:tcPr/>
                </a:tc>
                <a:tc>
                  <a:txBody>
                    <a:bodyPr/>
                    <a:lstStyle/>
                    <a:p>
                      <a:pPr algn="ctr"/>
                      <a:r>
                        <a:rPr sz="1200" b="0" dirty="0"/>
                        <a:t>External (Sinchon)</a:t>
                      </a:r>
                    </a:p>
                  </a:txBody>
                  <a:tcPr anchor="ctr"/>
                </a:tc>
                <a:tc>
                  <a:txBody>
                    <a:bodyPr/>
                    <a:lstStyle/>
                    <a:p>
                      <a:pPr algn="ctr"/>
                      <a:r>
                        <a:rPr sz="1200" b="0"/>
                        <a:t>0.630</a:t>
                      </a:r>
                    </a:p>
                  </a:txBody>
                  <a:tcPr anchor="ctr"/>
                </a:tc>
                <a:tc>
                  <a:txBody>
                    <a:bodyPr/>
                    <a:lstStyle/>
                    <a:p>
                      <a:pPr algn="ctr"/>
                      <a:r>
                        <a:rPr sz="1200" b="0"/>
                        <a:t>0.652</a:t>
                      </a:r>
                    </a:p>
                  </a:txBody>
                  <a:tcPr anchor="ctr"/>
                </a:tc>
                <a:tc>
                  <a:txBody>
                    <a:bodyPr/>
                    <a:lstStyle/>
                    <a:p>
                      <a:pPr algn="ctr"/>
                      <a:r>
                        <a:rPr sz="1200" b="0" dirty="0"/>
                        <a:t>0.635</a:t>
                      </a:r>
                    </a:p>
                  </a:txBody>
                  <a:tcPr anchor="ctr"/>
                </a:tc>
                <a:extLst>
                  <a:ext uri="{0D108BD9-81ED-4DB2-BD59-A6C34878D82A}">
                    <a16:rowId xmlns:a16="http://schemas.microsoft.com/office/drawing/2014/main" val="10006"/>
                  </a:ext>
                </a:extLst>
              </a:tr>
            </a:tbl>
          </a:graphicData>
        </a:graphic>
      </p:graphicFrame>
      <p:sp>
        <p:nvSpPr>
          <p:cNvPr id="4" name="슬라이드 번호 개체 틀 3">
            <a:extLst>
              <a:ext uri="{FF2B5EF4-FFF2-40B4-BE49-F238E27FC236}">
                <a16:creationId xmlns:a16="http://schemas.microsoft.com/office/drawing/2014/main" id="{F3A4C25A-7BBB-E4ED-3893-28D8B243A120}"/>
              </a:ext>
            </a:extLst>
          </p:cNvPr>
          <p:cNvSpPr>
            <a:spLocks noGrp="1"/>
          </p:cNvSpPr>
          <p:nvPr>
            <p:ph type="sldNum" sz="quarter" idx="12"/>
          </p:nvPr>
        </p:nvSpPr>
        <p:spPr/>
        <p:txBody>
          <a:bodyPr/>
          <a:lstStyle/>
          <a:p>
            <a:fld id="{9F4AF89A-28FA-47FA-B28F-9A9C6913CB7A}" type="slidenum">
              <a:rPr lang="ko-KR" altLang="en-US" smtClean="0"/>
              <a:pPr/>
              <a:t>16</a:t>
            </a:fld>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Table S4. +AEC FPCA-only Coefficient (Internal, * p&lt;0.05, 보정 전)</a:t>
            </a:r>
          </a:p>
        </p:txBody>
      </p:sp>
      <p:graphicFrame>
        <p:nvGraphicFramePr>
          <p:cNvPr id="3" name="Table 2"/>
          <p:cNvGraphicFramePr>
            <a:graphicFrameLocks noGrp="1"/>
          </p:cNvGraphicFramePr>
          <p:nvPr>
            <p:extLst>
              <p:ext uri="{D42A27DB-BD31-4B8C-83A1-F6EECF244321}">
                <p14:modId xmlns:p14="http://schemas.microsoft.com/office/powerpoint/2010/main" val="3483561688"/>
              </p:ext>
            </p:extLst>
          </p:nvPr>
        </p:nvGraphicFramePr>
        <p:xfrm>
          <a:off x="512064" y="978408"/>
          <a:ext cx="11173965" cy="5124630"/>
        </p:xfrm>
        <a:graphic>
          <a:graphicData uri="http://schemas.openxmlformats.org/drawingml/2006/table">
            <a:tbl>
              <a:tblPr firstRow="1" bandRow="1">
                <a:tableStyleId>{C083E6E3-FA7D-4D7B-A595-EF9225AFEA82}</a:tableStyleId>
              </a:tblPr>
              <a:tblGrid>
                <a:gridCol w="2234793">
                  <a:extLst>
                    <a:ext uri="{9D8B030D-6E8A-4147-A177-3AD203B41FA5}">
                      <a16:colId xmlns:a16="http://schemas.microsoft.com/office/drawing/2014/main" val="20000"/>
                    </a:ext>
                  </a:extLst>
                </a:gridCol>
                <a:gridCol w="2234793">
                  <a:extLst>
                    <a:ext uri="{9D8B030D-6E8A-4147-A177-3AD203B41FA5}">
                      <a16:colId xmlns:a16="http://schemas.microsoft.com/office/drawing/2014/main" val="20001"/>
                    </a:ext>
                  </a:extLst>
                </a:gridCol>
                <a:gridCol w="2234793">
                  <a:extLst>
                    <a:ext uri="{9D8B030D-6E8A-4147-A177-3AD203B41FA5}">
                      <a16:colId xmlns:a16="http://schemas.microsoft.com/office/drawing/2014/main" val="20002"/>
                    </a:ext>
                  </a:extLst>
                </a:gridCol>
                <a:gridCol w="2234793">
                  <a:extLst>
                    <a:ext uri="{9D8B030D-6E8A-4147-A177-3AD203B41FA5}">
                      <a16:colId xmlns:a16="http://schemas.microsoft.com/office/drawing/2014/main" val="20003"/>
                    </a:ext>
                  </a:extLst>
                </a:gridCol>
                <a:gridCol w="2234793">
                  <a:extLst>
                    <a:ext uri="{9D8B030D-6E8A-4147-A177-3AD203B41FA5}">
                      <a16:colId xmlns:a16="http://schemas.microsoft.com/office/drawing/2014/main" val="20004"/>
                    </a:ext>
                  </a:extLst>
                </a:gridCol>
              </a:tblGrid>
              <a:tr h="512463">
                <a:tc>
                  <a:txBody>
                    <a:bodyPr/>
                    <a:lstStyle/>
                    <a:p>
                      <a:pPr algn="ctr"/>
                      <a:r>
                        <a:rPr sz="1200" b="1"/>
                        <a:t>Disease</a:t>
                      </a:r>
                    </a:p>
                  </a:txBody>
                  <a:tcPr anchor="ctr"/>
                </a:tc>
                <a:tc>
                  <a:txBody>
                    <a:bodyPr/>
                    <a:lstStyle/>
                    <a:p>
                      <a:pPr algn="ctr"/>
                      <a:r>
                        <a:rPr sz="1200" b="1"/>
                        <a:t>Term</a:t>
                      </a:r>
                    </a:p>
                  </a:txBody>
                  <a:tcPr anchor="ctr"/>
                </a:tc>
                <a:tc>
                  <a:txBody>
                    <a:bodyPr/>
                    <a:lstStyle/>
                    <a:p>
                      <a:pPr algn="ctr"/>
                      <a:r>
                        <a:rPr sz="1200" b="1"/>
                        <a:t>Coefficient</a:t>
                      </a:r>
                    </a:p>
                  </a:txBody>
                  <a:tcPr anchor="ctr"/>
                </a:tc>
                <a:tc>
                  <a:txBody>
                    <a:bodyPr/>
                    <a:lstStyle/>
                    <a:p>
                      <a:pPr algn="ctr"/>
                      <a:r>
                        <a:rPr sz="1200" b="1"/>
                        <a:t>Odds Ratio</a:t>
                      </a:r>
                    </a:p>
                  </a:txBody>
                  <a:tcPr anchor="ctr"/>
                </a:tc>
                <a:tc>
                  <a:txBody>
                    <a:bodyPr/>
                    <a:lstStyle/>
                    <a:p>
                      <a:pPr algn="ctr"/>
                      <a:r>
                        <a:rPr sz="1200" b="1"/>
                        <a:t>p-value</a:t>
                      </a:r>
                    </a:p>
                  </a:txBody>
                  <a:tcPr anchor="ctr"/>
                </a:tc>
                <a:extLst>
                  <a:ext uri="{0D108BD9-81ED-4DB2-BD59-A6C34878D82A}">
                    <a16:rowId xmlns:a16="http://schemas.microsoft.com/office/drawing/2014/main" val="10000"/>
                  </a:ext>
                </a:extLst>
              </a:tr>
              <a:tr h="512463">
                <a:tc rowSpan="3">
                  <a:txBody>
                    <a:bodyPr/>
                    <a:lstStyle/>
                    <a:p>
                      <a:pPr algn="ctr"/>
                      <a:r>
                        <a:rPr sz="1200" b="0" dirty="0" err="1"/>
                        <a:t>고혈압</a:t>
                      </a:r>
                      <a:r>
                        <a:rPr sz="1200" b="0" dirty="0"/>
                        <a:t>(HTN)</a:t>
                      </a:r>
                    </a:p>
                  </a:txBody>
                  <a:tcPr anchor="ct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sz="1200" b="0"/>
                        <a:t>aec_fpca_pc1</a:t>
                      </a:r>
                    </a:p>
                  </a:txBody>
                  <a:tcPr anchor="ctr"/>
                </a:tc>
                <a:tc>
                  <a:txBody>
                    <a:bodyPr/>
                    <a:lstStyle/>
                    <a:p>
                      <a:pPr algn="ctr"/>
                      <a:r>
                        <a:rPr sz="1200" b="0"/>
                        <a:t>0.337</a:t>
                      </a:r>
                    </a:p>
                  </a:txBody>
                  <a:tcPr anchor="ctr"/>
                </a:tc>
                <a:tc>
                  <a:txBody>
                    <a:bodyPr/>
                    <a:lstStyle/>
                    <a:p>
                      <a:pPr algn="ctr"/>
                      <a:r>
                        <a:rPr sz="1200" b="0"/>
                        <a:t>1.400</a:t>
                      </a:r>
                    </a:p>
                  </a:txBody>
                  <a:tcPr anchor="ctr"/>
                </a:tc>
                <a:tc>
                  <a:txBody>
                    <a:bodyPr/>
                    <a:lstStyle/>
                    <a:p>
                      <a:pPr algn="ctr"/>
                      <a:r>
                        <a:rPr sz="1200" b="0"/>
                        <a:t>6.31e-04 *</a:t>
                      </a:r>
                    </a:p>
                  </a:txBody>
                  <a:tcPr anchor="ctr"/>
                </a:tc>
                <a:extLst>
                  <a:ext uri="{0D108BD9-81ED-4DB2-BD59-A6C34878D82A}">
                    <a16:rowId xmlns:a16="http://schemas.microsoft.com/office/drawing/2014/main" val="10001"/>
                  </a:ext>
                </a:extLst>
              </a:tr>
              <a:tr h="512463">
                <a:tc vMerge="1">
                  <a:txBody>
                    <a:bodyPr/>
                    <a:lstStyle/>
                    <a:p>
                      <a:pPr algn="ctr"/>
                      <a:endParaRPr dirty="0"/>
                    </a:p>
                  </a:txBody>
                  <a:tcPr anchor="ctr">
                    <a:solidFill>
                      <a:schemeClr val="bg1"/>
                    </a:solidFill>
                  </a:tcPr>
                </a:tc>
                <a:tc>
                  <a:txBody>
                    <a:bodyPr/>
                    <a:lstStyle/>
                    <a:p>
                      <a:pPr algn="ctr"/>
                      <a:r>
                        <a:rPr sz="1200" b="0"/>
                        <a:t>aec_fpca_pc2</a:t>
                      </a:r>
                    </a:p>
                  </a:txBody>
                  <a:tcPr anchor="ctr"/>
                </a:tc>
                <a:tc>
                  <a:txBody>
                    <a:bodyPr/>
                    <a:lstStyle/>
                    <a:p>
                      <a:pPr algn="ctr"/>
                      <a:r>
                        <a:rPr sz="1200" b="0"/>
                        <a:t>-0.493</a:t>
                      </a:r>
                    </a:p>
                  </a:txBody>
                  <a:tcPr anchor="ctr"/>
                </a:tc>
                <a:tc>
                  <a:txBody>
                    <a:bodyPr/>
                    <a:lstStyle/>
                    <a:p>
                      <a:pPr algn="ctr"/>
                      <a:r>
                        <a:rPr sz="1200" b="0"/>
                        <a:t>0.611</a:t>
                      </a:r>
                    </a:p>
                  </a:txBody>
                  <a:tcPr anchor="ctr"/>
                </a:tc>
                <a:tc>
                  <a:txBody>
                    <a:bodyPr/>
                    <a:lstStyle/>
                    <a:p>
                      <a:pPr algn="ctr"/>
                      <a:r>
                        <a:rPr sz="1200" b="0"/>
                        <a:t>4.51e-06 *</a:t>
                      </a:r>
                    </a:p>
                  </a:txBody>
                  <a:tcPr anchor="ctr"/>
                </a:tc>
                <a:extLst>
                  <a:ext uri="{0D108BD9-81ED-4DB2-BD59-A6C34878D82A}">
                    <a16:rowId xmlns:a16="http://schemas.microsoft.com/office/drawing/2014/main" val="10002"/>
                  </a:ext>
                </a:extLst>
              </a:tr>
              <a:tr h="512463">
                <a:tc vMerge="1">
                  <a:txBody>
                    <a:bodyPr/>
                    <a:lstStyle/>
                    <a:p>
                      <a:endParaRPr/>
                    </a:p>
                  </a:txBody>
                  <a:tcPr/>
                </a:tc>
                <a:tc>
                  <a:txBody>
                    <a:bodyPr/>
                    <a:lstStyle/>
                    <a:p>
                      <a:pPr algn="ctr"/>
                      <a:r>
                        <a:rPr sz="1200" b="0"/>
                        <a:t>aec_fpca_pc3</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0.084</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1.088</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0.337</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12463">
                <a:tc rowSpan="3">
                  <a:txBody>
                    <a:bodyPr/>
                    <a:lstStyle/>
                    <a:p>
                      <a:pPr algn="ctr"/>
                      <a:r>
                        <a:rPr sz="1200" b="0" dirty="0" err="1"/>
                        <a:t>당뇨병</a:t>
                      </a:r>
                      <a:r>
                        <a:rPr sz="1200" b="0" dirty="0"/>
                        <a:t>(DM)</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sz="1200" b="0"/>
                        <a:t>aec_fpca_pc1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0.121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1.129</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0.216</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4"/>
                  </a:ext>
                </a:extLst>
              </a:tr>
              <a:tr h="512463">
                <a:tc vMerge="1">
                  <a:txBody>
                    <a:bodyPr/>
                    <a:lstStyle/>
                    <a:p>
                      <a:pPr algn="ctr"/>
                      <a:endParaRPr dirty="0"/>
                    </a:p>
                  </a:txBody>
                  <a:tcPr anchor="ctr">
                    <a:solidFill>
                      <a:schemeClr val="bg1"/>
                    </a:solidFill>
                  </a:tcPr>
                </a:tc>
                <a:tc>
                  <a:txBody>
                    <a:bodyPr/>
                    <a:lstStyle/>
                    <a:p>
                      <a:pPr algn="ctr"/>
                      <a:r>
                        <a:rPr sz="1200" b="0"/>
                        <a:t>aec_fpca_pc2</a:t>
                      </a:r>
                    </a:p>
                  </a:txBody>
                  <a:tcPr anchor="ctr"/>
                </a:tc>
                <a:tc>
                  <a:txBody>
                    <a:bodyPr/>
                    <a:lstStyle/>
                    <a:p>
                      <a:pPr algn="ctr"/>
                      <a:r>
                        <a:rPr sz="1200" b="0"/>
                        <a:t>-0.520</a:t>
                      </a:r>
                    </a:p>
                  </a:txBody>
                  <a:tcPr anchor="ctr"/>
                </a:tc>
                <a:tc>
                  <a:txBody>
                    <a:bodyPr/>
                    <a:lstStyle/>
                    <a:p>
                      <a:pPr algn="ctr"/>
                      <a:r>
                        <a:rPr sz="1200" b="0"/>
                        <a:t>0.595</a:t>
                      </a:r>
                    </a:p>
                  </a:txBody>
                  <a:tcPr anchor="ctr"/>
                </a:tc>
                <a:tc>
                  <a:txBody>
                    <a:bodyPr/>
                    <a:lstStyle/>
                    <a:p>
                      <a:pPr algn="ctr"/>
                      <a:r>
                        <a:rPr sz="1200" b="0"/>
                        <a:t>9.23e-06 *</a:t>
                      </a:r>
                    </a:p>
                  </a:txBody>
                  <a:tcPr anchor="ctr"/>
                </a:tc>
                <a:extLst>
                  <a:ext uri="{0D108BD9-81ED-4DB2-BD59-A6C34878D82A}">
                    <a16:rowId xmlns:a16="http://schemas.microsoft.com/office/drawing/2014/main" val="10005"/>
                  </a:ext>
                </a:extLst>
              </a:tr>
              <a:tr h="512463">
                <a:tc vMerge="1">
                  <a:txBody>
                    <a:bodyPr/>
                    <a:lstStyle/>
                    <a:p>
                      <a:endParaRPr/>
                    </a:p>
                  </a:txBody>
                  <a:tcPr/>
                </a:tc>
                <a:tc>
                  <a:txBody>
                    <a:bodyPr/>
                    <a:lstStyle/>
                    <a:p>
                      <a:pPr algn="ctr"/>
                      <a:r>
                        <a:rPr sz="1200" b="0"/>
                        <a:t>aec_fpca_pc3</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0.127</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1.136</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0.173</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512463">
                <a:tc rowSpan="3">
                  <a:txBody>
                    <a:bodyPr/>
                    <a:lstStyle/>
                    <a:p>
                      <a:pPr algn="ctr"/>
                      <a:r>
                        <a:rPr sz="1200" b="0" dirty="0" err="1"/>
                        <a:t>만성신장질환</a:t>
                      </a:r>
                      <a:r>
                        <a:rPr sz="1200" b="0" dirty="0"/>
                        <a:t>(CKD)</a:t>
                      </a:r>
                    </a:p>
                  </a:txBody>
                  <a:tcPr anchor="ctr">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pPr algn="ctr"/>
                      <a:r>
                        <a:rPr sz="1200" b="0"/>
                        <a:t>aec_fpca_pc1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0.101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1.106</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0.450</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7"/>
                  </a:ext>
                </a:extLst>
              </a:tr>
              <a:tr h="512463">
                <a:tc vMerge="1">
                  <a:txBody>
                    <a:bodyPr/>
                    <a:lstStyle/>
                    <a:p>
                      <a:pPr algn="ctr"/>
                      <a:endParaRPr dirty="0"/>
                    </a:p>
                  </a:txBody>
                  <a:tcPr anchor="ctr">
                    <a:solidFill>
                      <a:schemeClr val="bg1"/>
                    </a:solidFill>
                  </a:tcPr>
                </a:tc>
                <a:tc>
                  <a:txBody>
                    <a:bodyPr/>
                    <a:lstStyle/>
                    <a:p>
                      <a:pPr algn="ctr"/>
                      <a:r>
                        <a:rPr sz="1200" b="0"/>
                        <a:t>aec_fpca_pc2</a:t>
                      </a:r>
                    </a:p>
                  </a:txBody>
                  <a:tcPr anchor="ctr"/>
                </a:tc>
                <a:tc>
                  <a:txBody>
                    <a:bodyPr/>
                    <a:lstStyle/>
                    <a:p>
                      <a:pPr algn="ctr"/>
                      <a:r>
                        <a:rPr sz="1200" b="0"/>
                        <a:t>-0.371</a:t>
                      </a:r>
                    </a:p>
                  </a:txBody>
                  <a:tcPr anchor="ctr"/>
                </a:tc>
                <a:tc>
                  <a:txBody>
                    <a:bodyPr/>
                    <a:lstStyle/>
                    <a:p>
                      <a:pPr algn="ctr"/>
                      <a:r>
                        <a:rPr sz="1200" b="0"/>
                        <a:t>0.690</a:t>
                      </a:r>
                    </a:p>
                  </a:txBody>
                  <a:tcPr anchor="ctr"/>
                </a:tc>
                <a:tc>
                  <a:txBody>
                    <a:bodyPr/>
                    <a:lstStyle/>
                    <a:p>
                      <a:pPr algn="ctr"/>
                      <a:r>
                        <a:rPr sz="1200" b="0"/>
                        <a:t>0.018 *</a:t>
                      </a:r>
                    </a:p>
                  </a:txBody>
                  <a:tcPr anchor="ctr"/>
                </a:tc>
                <a:extLst>
                  <a:ext uri="{0D108BD9-81ED-4DB2-BD59-A6C34878D82A}">
                    <a16:rowId xmlns:a16="http://schemas.microsoft.com/office/drawing/2014/main" val="10008"/>
                  </a:ext>
                </a:extLst>
              </a:tr>
              <a:tr h="512463">
                <a:tc vMerge="1">
                  <a:txBody>
                    <a:bodyPr/>
                    <a:lstStyle/>
                    <a:p>
                      <a:endParaRPr/>
                    </a:p>
                  </a:txBody>
                  <a:tcPr/>
                </a:tc>
                <a:tc>
                  <a:txBody>
                    <a:bodyPr/>
                    <a:lstStyle/>
                    <a:p>
                      <a:pPr algn="ctr"/>
                      <a:r>
                        <a:rPr sz="1200" b="0"/>
                        <a:t>aec_fpca_pc3</a:t>
                      </a:r>
                    </a:p>
                  </a:txBody>
                  <a:tcPr anchor="ctr"/>
                </a:tc>
                <a:tc>
                  <a:txBody>
                    <a:bodyPr/>
                    <a:lstStyle/>
                    <a:p>
                      <a:pPr algn="ctr"/>
                      <a:r>
                        <a:rPr sz="1200" b="0"/>
                        <a:t>-0.077</a:t>
                      </a:r>
                    </a:p>
                  </a:txBody>
                  <a:tcPr anchor="ctr"/>
                </a:tc>
                <a:tc>
                  <a:txBody>
                    <a:bodyPr/>
                    <a:lstStyle/>
                    <a:p>
                      <a:pPr algn="ctr"/>
                      <a:r>
                        <a:rPr sz="1200" b="0"/>
                        <a:t>0.926</a:t>
                      </a:r>
                    </a:p>
                  </a:txBody>
                  <a:tcPr anchor="ctr"/>
                </a:tc>
                <a:tc>
                  <a:txBody>
                    <a:bodyPr/>
                    <a:lstStyle/>
                    <a:p>
                      <a:pPr algn="ctr"/>
                      <a:r>
                        <a:rPr sz="1200" b="0" dirty="0"/>
                        <a:t>0.540</a:t>
                      </a:r>
                    </a:p>
                  </a:txBody>
                  <a:tcPr anchor="ctr"/>
                </a:tc>
                <a:extLst>
                  <a:ext uri="{0D108BD9-81ED-4DB2-BD59-A6C34878D82A}">
                    <a16:rowId xmlns:a16="http://schemas.microsoft.com/office/drawing/2014/main" val="10009"/>
                  </a:ext>
                </a:extLst>
              </a:tr>
            </a:tbl>
          </a:graphicData>
        </a:graphic>
      </p:graphicFrame>
      <p:sp>
        <p:nvSpPr>
          <p:cNvPr id="4" name="슬라이드 번호 개체 틀 3">
            <a:extLst>
              <a:ext uri="{FF2B5EF4-FFF2-40B4-BE49-F238E27FC236}">
                <a16:creationId xmlns:a16="http://schemas.microsoft.com/office/drawing/2014/main" id="{62B6C037-1BE8-AD43-7C28-151B04A0A4D8}"/>
              </a:ext>
            </a:extLst>
          </p:cNvPr>
          <p:cNvSpPr>
            <a:spLocks noGrp="1"/>
          </p:cNvSpPr>
          <p:nvPr>
            <p:ph type="sldNum" sz="quarter" idx="12"/>
          </p:nvPr>
        </p:nvSpPr>
        <p:spPr/>
        <p:txBody>
          <a:bodyPr/>
          <a:lstStyle/>
          <a:p>
            <a:fld id="{9F4AF89A-28FA-47FA-B28F-9A9C6913CB7A}" type="slidenum">
              <a:rPr lang="ko-KR" altLang="en-US" smtClean="0"/>
              <a:pPr/>
              <a:t>17</a:t>
            </a:fld>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A736-49F1-35CA-5DCF-27B9C138A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1584B-E861-AA77-BED9-73B583CD9D8A}"/>
              </a:ext>
            </a:extLst>
          </p:cNvPr>
          <p:cNvSpPr>
            <a:spLocks noGrp="1"/>
          </p:cNvSpPr>
          <p:nvPr>
            <p:ph type="title"/>
          </p:nvPr>
        </p:nvSpPr>
        <p:spPr/>
        <p:txBody>
          <a:bodyPr>
            <a:normAutofit fontScale="90000"/>
          </a:bodyPr>
          <a:lstStyle/>
          <a:p>
            <a:r>
              <a:rPr lang="en-US" altLang="ko-KR" dirty="0"/>
              <a:t>Table S5. Baseline </a:t>
            </a:r>
            <a:r>
              <a:rPr lang="ko-KR" altLang="en-US" dirty="0"/>
              <a:t>대비 확장모델 </a:t>
            </a:r>
            <a:r>
              <a:rPr lang="en-US" altLang="ko-KR" dirty="0"/>
              <a:t>AUC (1:1 Balanced, * paired DeLong p&lt;0.05 vs Baseline)</a:t>
            </a:r>
            <a:endParaRPr dirty="0"/>
          </a:p>
        </p:txBody>
      </p:sp>
      <p:graphicFrame>
        <p:nvGraphicFramePr>
          <p:cNvPr id="5" name="Table 2">
            <a:extLst>
              <a:ext uri="{FF2B5EF4-FFF2-40B4-BE49-F238E27FC236}">
                <a16:creationId xmlns:a16="http://schemas.microsoft.com/office/drawing/2014/main" id="{128F5A60-9614-2179-6D0A-74877251E00C}"/>
              </a:ext>
            </a:extLst>
          </p:cNvPr>
          <p:cNvGraphicFramePr>
            <a:graphicFrameLocks noGrp="1"/>
          </p:cNvGraphicFramePr>
          <p:nvPr>
            <p:extLst>
              <p:ext uri="{D42A27DB-BD31-4B8C-83A1-F6EECF244321}">
                <p14:modId xmlns:p14="http://schemas.microsoft.com/office/powerpoint/2010/main" val="2786048625"/>
              </p:ext>
            </p:extLst>
          </p:nvPr>
        </p:nvGraphicFramePr>
        <p:xfrm>
          <a:off x="512064" y="978408"/>
          <a:ext cx="11173968" cy="5124630"/>
        </p:xfrm>
        <a:graphic>
          <a:graphicData uri="http://schemas.openxmlformats.org/drawingml/2006/table">
            <a:tbl>
              <a:tblPr firstRow="1" bandRow="1">
                <a:tableStyleId>{C083E6E3-FA7D-4D7B-A595-EF9225AFEA82}</a:tableStyleId>
              </a:tblPr>
              <a:tblGrid>
                <a:gridCol w="1862328">
                  <a:extLst>
                    <a:ext uri="{9D8B030D-6E8A-4147-A177-3AD203B41FA5}">
                      <a16:colId xmlns:a16="http://schemas.microsoft.com/office/drawing/2014/main" val="20000"/>
                    </a:ext>
                  </a:extLst>
                </a:gridCol>
                <a:gridCol w="1862328">
                  <a:extLst>
                    <a:ext uri="{9D8B030D-6E8A-4147-A177-3AD203B41FA5}">
                      <a16:colId xmlns:a16="http://schemas.microsoft.com/office/drawing/2014/main" val="20001"/>
                    </a:ext>
                  </a:extLst>
                </a:gridCol>
                <a:gridCol w="1862328">
                  <a:extLst>
                    <a:ext uri="{9D8B030D-6E8A-4147-A177-3AD203B41FA5}">
                      <a16:colId xmlns:a16="http://schemas.microsoft.com/office/drawing/2014/main" val="20002"/>
                    </a:ext>
                  </a:extLst>
                </a:gridCol>
                <a:gridCol w="1862328">
                  <a:extLst>
                    <a:ext uri="{9D8B030D-6E8A-4147-A177-3AD203B41FA5}">
                      <a16:colId xmlns:a16="http://schemas.microsoft.com/office/drawing/2014/main" val="20003"/>
                    </a:ext>
                  </a:extLst>
                </a:gridCol>
                <a:gridCol w="1862328">
                  <a:extLst>
                    <a:ext uri="{9D8B030D-6E8A-4147-A177-3AD203B41FA5}">
                      <a16:colId xmlns:a16="http://schemas.microsoft.com/office/drawing/2014/main" val="20004"/>
                    </a:ext>
                  </a:extLst>
                </a:gridCol>
                <a:gridCol w="1862328">
                  <a:extLst>
                    <a:ext uri="{9D8B030D-6E8A-4147-A177-3AD203B41FA5}">
                      <a16:colId xmlns:a16="http://schemas.microsoft.com/office/drawing/2014/main" val="20005"/>
                    </a:ext>
                  </a:extLst>
                </a:gridCol>
              </a:tblGrid>
              <a:tr h="732090">
                <a:tc>
                  <a:txBody>
                    <a:bodyPr/>
                    <a:lstStyle/>
                    <a:p>
                      <a:pPr algn="ctr"/>
                      <a:r>
                        <a:rPr sz="1200" b="1"/>
                        <a:t>Disease</a:t>
                      </a:r>
                    </a:p>
                  </a:txBody>
                  <a:tcPr anchor="ctr"/>
                </a:tc>
                <a:tc>
                  <a:txBody>
                    <a:bodyPr/>
                    <a:lstStyle/>
                    <a:p>
                      <a:pPr algn="ctr"/>
                      <a:r>
                        <a:rPr sz="1200" b="1"/>
                        <a:t>Cohort</a:t>
                      </a:r>
                    </a:p>
                  </a:txBody>
                  <a:tcPr anchor="ctr"/>
                </a:tc>
                <a:tc>
                  <a:txBody>
                    <a:bodyPr/>
                    <a:lstStyle/>
                    <a:p>
                      <a:pPr algn="ctr"/>
                      <a:r>
                        <a:rPr sz="1200" b="1"/>
                        <a:t>Baseline</a:t>
                      </a:r>
                    </a:p>
                  </a:txBody>
                  <a:tcPr anchor="ctr"/>
                </a:tc>
                <a:tc>
                  <a:txBody>
                    <a:bodyPr/>
                    <a:lstStyle/>
                    <a:p>
                      <a:pPr algn="ctr"/>
                      <a:r>
                        <a:rPr sz="1200" b="1"/>
                        <a:t>+AEC (FPCA)</a:t>
                      </a:r>
                    </a:p>
                  </a:txBody>
                  <a:tcPr anchor="ctr"/>
                </a:tc>
                <a:tc>
                  <a:txBody>
                    <a:bodyPr/>
                    <a:lstStyle/>
                    <a:p>
                      <a:pPr algn="ctr"/>
                      <a:r>
                        <a:rPr sz="1200" b="1"/>
                        <a:t>+AEC+체성분</a:t>
                      </a:r>
                    </a:p>
                  </a:txBody>
                  <a:tcPr anchor="ctr"/>
                </a:tc>
                <a:tc>
                  <a:txBody>
                    <a:bodyPr/>
                    <a:lstStyle/>
                    <a:p>
                      <a:pPr algn="ctr"/>
                      <a:r>
                        <a:rPr sz="1200" b="1"/>
                        <a:t>체성분만</a:t>
                      </a:r>
                    </a:p>
                  </a:txBody>
                  <a:tcPr anchor="ctr"/>
                </a:tc>
                <a:extLst>
                  <a:ext uri="{0D108BD9-81ED-4DB2-BD59-A6C34878D82A}">
                    <a16:rowId xmlns:a16="http://schemas.microsoft.com/office/drawing/2014/main" val="10000"/>
                  </a:ext>
                </a:extLst>
              </a:tr>
              <a:tr h="732090">
                <a:tc rowSpan="2">
                  <a:txBody>
                    <a:bodyPr/>
                    <a:lstStyle/>
                    <a:p>
                      <a:pPr algn="ctr"/>
                      <a:r>
                        <a:rPr sz="1200" b="0" dirty="0" err="1"/>
                        <a:t>고혈압</a:t>
                      </a:r>
                      <a:r>
                        <a:rPr sz="1200" b="0" dirty="0"/>
                        <a:t>(HTN)</a:t>
                      </a:r>
                    </a:p>
                  </a:txBody>
                  <a:tcPr anchor="ctr">
                    <a:lnB w="12700" cap="flat" cmpd="sng" algn="ctr">
                      <a:solidFill>
                        <a:schemeClr val="bg1">
                          <a:lumMod val="75000"/>
                        </a:schemeClr>
                      </a:solidFill>
                      <a:prstDash val="solid"/>
                      <a:round/>
                      <a:headEnd type="none" w="med" len="med"/>
                      <a:tailEnd type="none" w="med" len="med"/>
                    </a:lnB>
                    <a:solidFill>
                      <a:schemeClr val="bg1">
                        <a:alpha val="20000"/>
                      </a:schemeClr>
                    </a:solidFill>
                  </a:tcPr>
                </a:tc>
                <a:tc>
                  <a:txBody>
                    <a:bodyPr/>
                    <a:lstStyle/>
                    <a:p>
                      <a:pPr algn="ctr"/>
                      <a:r>
                        <a:rPr sz="1200" b="0"/>
                        <a:t>Internal (Gangnam)</a:t>
                      </a:r>
                    </a:p>
                  </a:txBody>
                  <a:tcPr anchor="ctr"/>
                </a:tc>
                <a:tc>
                  <a:txBody>
                    <a:bodyPr/>
                    <a:lstStyle/>
                    <a:p>
                      <a:pPr algn="ctr"/>
                      <a:r>
                        <a:rPr sz="1200" b="0"/>
                        <a:t>0.780</a:t>
                      </a:r>
                    </a:p>
                  </a:txBody>
                  <a:tcPr anchor="ctr"/>
                </a:tc>
                <a:tc>
                  <a:txBody>
                    <a:bodyPr/>
                    <a:lstStyle/>
                    <a:p>
                      <a:pPr algn="ctr"/>
                      <a:r>
                        <a:rPr sz="1200" b="0"/>
                        <a:t>0.821*</a:t>
                      </a:r>
                    </a:p>
                  </a:txBody>
                  <a:tcPr anchor="ctr"/>
                </a:tc>
                <a:tc>
                  <a:txBody>
                    <a:bodyPr/>
                    <a:lstStyle/>
                    <a:p>
                      <a:pPr algn="ctr"/>
                      <a:r>
                        <a:rPr sz="1200" b="0"/>
                        <a:t>0.827*</a:t>
                      </a:r>
                    </a:p>
                  </a:txBody>
                  <a:tcPr anchor="ctr"/>
                </a:tc>
                <a:tc>
                  <a:txBody>
                    <a:bodyPr/>
                    <a:lstStyle/>
                    <a:p>
                      <a:pPr algn="ctr"/>
                      <a:r>
                        <a:rPr sz="1200" b="0"/>
                        <a:t>0.817*</a:t>
                      </a:r>
                    </a:p>
                  </a:txBody>
                  <a:tcPr anchor="ctr"/>
                </a:tc>
                <a:extLst>
                  <a:ext uri="{0D108BD9-81ED-4DB2-BD59-A6C34878D82A}">
                    <a16:rowId xmlns:a16="http://schemas.microsoft.com/office/drawing/2014/main" val="10001"/>
                  </a:ext>
                </a:extLst>
              </a:tr>
              <a:tr h="732090">
                <a:tc vMerge="1">
                  <a:txBody>
                    <a:bodyPr/>
                    <a:lstStyle/>
                    <a:p>
                      <a:endParaRPr/>
                    </a:p>
                  </a:txBody>
                  <a:tcP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0.722</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0.729</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0.739*</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0.736</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732090">
                <a:tc rowSpan="2">
                  <a:txBody>
                    <a:bodyPr/>
                    <a:lstStyle/>
                    <a:p>
                      <a:pPr algn="ctr"/>
                      <a:r>
                        <a:rPr sz="1200" b="0" dirty="0" err="1"/>
                        <a:t>당뇨병</a:t>
                      </a:r>
                      <a:r>
                        <a:rPr sz="1200" b="0" dirty="0"/>
                        <a:t>(DM)</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alpha val="20000"/>
                      </a:schemeClr>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0.761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0.777</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0.764</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0.755</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3"/>
                  </a:ext>
                </a:extLst>
              </a:tr>
              <a:tr h="732090">
                <a:tc vMerge="1">
                  <a:txBody>
                    <a:bodyPr/>
                    <a:lstStyle/>
                    <a:p>
                      <a:endParaRPr/>
                    </a:p>
                  </a:txBody>
                  <a:tcPr/>
                </a:tc>
                <a:tc>
                  <a:txBody>
                    <a:bodyPr/>
                    <a:lstStyle/>
                    <a:p>
                      <a:pPr algn="ctr"/>
                      <a:r>
                        <a:rPr sz="1200" b="0"/>
                        <a:t>External (Sinchon)</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0.682</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0.682</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0.690</a:t>
                      </a:r>
                    </a:p>
                  </a:txBody>
                  <a:tcPr anchor="ctr">
                    <a:lnB w="12700" cap="flat" cmpd="sng" algn="ctr">
                      <a:solidFill>
                        <a:schemeClr val="bg1">
                          <a:lumMod val="75000"/>
                        </a:schemeClr>
                      </a:solidFill>
                      <a:prstDash val="solid"/>
                      <a:round/>
                      <a:headEnd type="none" w="med" len="med"/>
                      <a:tailEnd type="none" w="med" len="med"/>
                    </a:lnB>
                  </a:tcPr>
                </a:tc>
                <a:tc>
                  <a:txBody>
                    <a:bodyPr/>
                    <a:lstStyle/>
                    <a:p>
                      <a:pPr algn="ctr"/>
                      <a:r>
                        <a:rPr sz="1200" b="0"/>
                        <a:t>0.687</a:t>
                      </a:r>
                    </a:p>
                  </a:txBody>
                  <a:tcPr anchor="ctr">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732090">
                <a:tc rowSpan="2">
                  <a:txBody>
                    <a:bodyPr/>
                    <a:lstStyle/>
                    <a:p>
                      <a:pPr algn="ctr"/>
                      <a:r>
                        <a:rPr sz="1200" b="0" dirty="0" err="1"/>
                        <a:t>만성신장질환</a:t>
                      </a:r>
                      <a:r>
                        <a:rPr sz="1200" b="0" dirty="0"/>
                        <a:t>(CKD)</a:t>
                      </a:r>
                    </a:p>
                  </a:txBody>
                  <a:tcPr anchor="ctr">
                    <a:lnT w="12700" cap="flat" cmpd="sng" algn="ctr">
                      <a:solidFill>
                        <a:schemeClr val="bg1">
                          <a:lumMod val="75000"/>
                        </a:schemeClr>
                      </a:solidFill>
                      <a:prstDash val="solid"/>
                      <a:round/>
                      <a:headEnd type="none" w="med" len="med"/>
                      <a:tailEnd type="none" w="med" len="med"/>
                    </a:lnT>
                    <a:solidFill>
                      <a:schemeClr val="bg1">
                        <a:alpha val="20000"/>
                      </a:schemeClr>
                    </a:solidFill>
                  </a:tcPr>
                </a:tc>
                <a:tc>
                  <a:txBody>
                    <a:bodyPr/>
                    <a:lstStyle/>
                    <a:p>
                      <a:pPr algn="ctr"/>
                      <a:r>
                        <a:rPr sz="1200" b="0"/>
                        <a:t>Internal (Gangnam)</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0.794</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0.791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0.771</a:t>
                      </a:r>
                    </a:p>
                  </a:txBody>
                  <a:tcPr anchor="ctr">
                    <a:lnT w="12700" cap="flat" cmpd="sng" algn="ctr">
                      <a:solidFill>
                        <a:schemeClr val="bg1">
                          <a:lumMod val="75000"/>
                        </a:schemeClr>
                      </a:solidFill>
                      <a:prstDash val="solid"/>
                      <a:round/>
                      <a:headEnd type="none" w="med" len="med"/>
                      <a:tailEnd type="none" w="med" len="med"/>
                    </a:lnT>
                  </a:tcPr>
                </a:tc>
                <a:tc>
                  <a:txBody>
                    <a:bodyPr/>
                    <a:lstStyle/>
                    <a:p>
                      <a:pPr algn="ctr"/>
                      <a:r>
                        <a:rPr sz="1200" b="0"/>
                        <a:t>0.785</a:t>
                      </a:r>
                    </a:p>
                  </a:txBody>
                  <a:tcPr anchor="ct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005"/>
                  </a:ext>
                </a:extLst>
              </a:tr>
              <a:tr h="732090">
                <a:tc vMerge="1">
                  <a:txBody>
                    <a:bodyPr/>
                    <a:lstStyle/>
                    <a:p>
                      <a:endParaRPr/>
                    </a:p>
                  </a:txBody>
                  <a:tcPr/>
                </a:tc>
                <a:tc>
                  <a:txBody>
                    <a:bodyPr/>
                    <a:lstStyle/>
                    <a:p>
                      <a:pPr algn="ctr"/>
                      <a:r>
                        <a:rPr sz="1200" b="0"/>
                        <a:t>External (Sinchon)</a:t>
                      </a:r>
                    </a:p>
                  </a:txBody>
                  <a:tcPr anchor="ctr"/>
                </a:tc>
                <a:tc>
                  <a:txBody>
                    <a:bodyPr/>
                    <a:lstStyle/>
                    <a:p>
                      <a:pPr algn="ctr"/>
                      <a:r>
                        <a:rPr sz="1200" b="0" dirty="0"/>
                        <a:t>0.600</a:t>
                      </a:r>
                    </a:p>
                  </a:txBody>
                  <a:tcPr anchor="ctr"/>
                </a:tc>
                <a:tc>
                  <a:txBody>
                    <a:bodyPr/>
                    <a:lstStyle/>
                    <a:p>
                      <a:pPr algn="ctr"/>
                      <a:r>
                        <a:rPr sz="1200" b="0"/>
                        <a:t>0.603</a:t>
                      </a:r>
                    </a:p>
                  </a:txBody>
                  <a:tcPr anchor="ctr"/>
                </a:tc>
                <a:tc>
                  <a:txBody>
                    <a:bodyPr/>
                    <a:lstStyle/>
                    <a:p>
                      <a:pPr algn="ctr"/>
                      <a:r>
                        <a:rPr sz="1200" b="0"/>
                        <a:t>0.667*</a:t>
                      </a:r>
                    </a:p>
                  </a:txBody>
                  <a:tcPr anchor="ctr"/>
                </a:tc>
                <a:tc>
                  <a:txBody>
                    <a:bodyPr/>
                    <a:lstStyle/>
                    <a:p>
                      <a:pPr algn="ctr"/>
                      <a:r>
                        <a:rPr sz="1200" b="0" dirty="0"/>
                        <a:t>0.664*</a:t>
                      </a:r>
                    </a:p>
                  </a:txBody>
                  <a:tcPr anchor="ctr"/>
                </a:tc>
                <a:extLst>
                  <a:ext uri="{0D108BD9-81ED-4DB2-BD59-A6C34878D82A}">
                    <a16:rowId xmlns:a16="http://schemas.microsoft.com/office/drawing/2014/main" val="10006"/>
                  </a:ext>
                </a:extLst>
              </a:tr>
            </a:tbl>
          </a:graphicData>
        </a:graphic>
      </p:graphicFrame>
      <p:sp>
        <p:nvSpPr>
          <p:cNvPr id="6" name="슬라이드 번호 개체 틀 5">
            <a:extLst>
              <a:ext uri="{FF2B5EF4-FFF2-40B4-BE49-F238E27FC236}">
                <a16:creationId xmlns:a16="http://schemas.microsoft.com/office/drawing/2014/main" id="{51689EDB-EE54-BBC1-5BB3-05FA60D4B55E}"/>
              </a:ext>
            </a:extLst>
          </p:cNvPr>
          <p:cNvSpPr>
            <a:spLocks noGrp="1"/>
          </p:cNvSpPr>
          <p:nvPr>
            <p:ph type="sldNum" sz="quarter" idx="12"/>
          </p:nvPr>
        </p:nvSpPr>
        <p:spPr/>
        <p:txBody>
          <a:bodyPr/>
          <a:lstStyle/>
          <a:p>
            <a:fld id="{9F4AF89A-28FA-47FA-B28F-9A9C6913CB7A}" type="slidenum">
              <a:rPr lang="ko-KR" altLang="en-US" smtClean="0"/>
              <a:pPr/>
              <a:t>18</a:t>
            </a:fld>
            <a:endParaRPr lang="ko-KR" altLang="en-US" dirty="0"/>
          </a:p>
        </p:txBody>
      </p:sp>
    </p:spTree>
    <p:extLst>
      <p:ext uri="{BB962C8B-B14F-4D97-AF65-F5344CB8AC3E}">
        <p14:creationId xmlns:p14="http://schemas.microsoft.com/office/powerpoint/2010/main" val="3476775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8BB5-7A3D-4040-D873-8EFC1E56D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8A9CB-D578-8F7A-989B-900CEEA10B3E}"/>
              </a:ext>
            </a:extLst>
          </p:cNvPr>
          <p:cNvSpPr>
            <a:spLocks noGrp="1"/>
          </p:cNvSpPr>
          <p:nvPr>
            <p:ph type="title"/>
          </p:nvPr>
        </p:nvSpPr>
        <p:spPr/>
        <p:txBody>
          <a:bodyPr>
            <a:normAutofit fontScale="90000"/>
          </a:bodyPr>
          <a:lstStyle/>
          <a:p>
            <a:r>
              <a:rPr lang="en-US" altLang="ko-KR" dirty="0"/>
              <a:t>Table S6. Clinic4 Baseline Coefficients — Detail (Coefficient, SE, Odds Ratio, p-value)</a:t>
            </a:r>
            <a:endParaRPr dirty="0"/>
          </a:p>
        </p:txBody>
      </p:sp>
      <p:sp>
        <p:nvSpPr>
          <p:cNvPr id="6" name="슬라이드 번호 개체 틀 5">
            <a:extLst>
              <a:ext uri="{FF2B5EF4-FFF2-40B4-BE49-F238E27FC236}">
                <a16:creationId xmlns:a16="http://schemas.microsoft.com/office/drawing/2014/main" id="{9FAEA37D-047D-C628-6786-B49D627859EF}"/>
              </a:ext>
            </a:extLst>
          </p:cNvPr>
          <p:cNvSpPr>
            <a:spLocks noGrp="1"/>
          </p:cNvSpPr>
          <p:nvPr>
            <p:ph type="sldNum" sz="quarter" idx="12"/>
          </p:nvPr>
        </p:nvSpPr>
        <p:spPr/>
        <p:txBody>
          <a:bodyPr/>
          <a:lstStyle/>
          <a:p>
            <a:fld id="{9F4AF89A-28FA-47FA-B28F-9A9C6913CB7A}" type="slidenum">
              <a:rPr lang="ko-KR" altLang="en-US" smtClean="0"/>
              <a:pPr/>
              <a:t>19</a:t>
            </a:fld>
            <a:endParaRPr lang="ko-KR" altLang="en-US" dirty="0"/>
          </a:p>
        </p:txBody>
      </p:sp>
      <p:graphicFrame>
        <p:nvGraphicFramePr>
          <p:cNvPr id="4" name="Table 2">
            <a:extLst>
              <a:ext uri="{FF2B5EF4-FFF2-40B4-BE49-F238E27FC236}">
                <a16:creationId xmlns:a16="http://schemas.microsoft.com/office/drawing/2014/main" id="{20051640-1BF8-9B33-B3CD-63B75AD41CE6}"/>
              </a:ext>
            </a:extLst>
          </p:cNvPr>
          <p:cNvGraphicFramePr>
            <a:graphicFrameLocks noGrp="1"/>
          </p:cNvGraphicFramePr>
          <p:nvPr>
            <p:extLst>
              <p:ext uri="{D42A27DB-BD31-4B8C-83A1-F6EECF244321}">
                <p14:modId xmlns:p14="http://schemas.microsoft.com/office/powerpoint/2010/main" val="2749145898"/>
              </p:ext>
            </p:extLst>
          </p:nvPr>
        </p:nvGraphicFramePr>
        <p:xfrm>
          <a:off x="512064" y="978408"/>
          <a:ext cx="11173968" cy="5124626"/>
        </p:xfrm>
        <a:graphic>
          <a:graphicData uri="http://schemas.openxmlformats.org/drawingml/2006/table">
            <a:tbl>
              <a:tblPr firstRow="1" bandRow="1">
                <a:tableStyleId>{C083E6E3-FA7D-4D7B-A595-EF9225AFEA82}</a:tableStyleId>
              </a:tblPr>
              <a:tblGrid>
                <a:gridCol w="1862328">
                  <a:extLst>
                    <a:ext uri="{9D8B030D-6E8A-4147-A177-3AD203B41FA5}">
                      <a16:colId xmlns:a16="http://schemas.microsoft.com/office/drawing/2014/main" val="20000"/>
                    </a:ext>
                  </a:extLst>
                </a:gridCol>
                <a:gridCol w="1862328">
                  <a:extLst>
                    <a:ext uri="{9D8B030D-6E8A-4147-A177-3AD203B41FA5}">
                      <a16:colId xmlns:a16="http://schemas.microsoft.com/office/drawing/2014/main" val="20001"/>
                    </a:ext>
                  </a:extLst>
                </a:gridCol>
                <a:gridCol w="1862328">
                  <a:extLst>
                    <a:ext uri="{9D8B030D-6E8A-4147-A177-3AD203B41FA5}">
                      <a16:colId xmlns:a16="http://schemas.microsoft.com/office/drawing/2014/main" val="20002"/>
                    </a:ext>
                  </a:extLst>
                </a:gridCol>
                <a:gridCol w="1862328">
                  <a:extLst>
                    <a:ext uri="{9D8B030D-6E8A-4147-A177-3AD203B41FA5}">
                      <a16:colId xmlns:a16="http://schemas.microsoft.com/office/drawing/2014/main" val="20003"/>
                    </a:ext>
                  </a:extLst>
                </a:gridCol>
                <a:gridCol w="1862328">
                  <a:extLst>
                    <a:ext uri="{9D8B030D-6E8A-4147-A177-3AD203B41FA5}">
                      <a16:colId xmlns:a16="http://schemas.microsoft.com/office/drawing/2014/main" val="20004"/>
                    </a:ext>
                  </a:extLst>
                </a:gridCol>
                <a:gridCol w="1862328">
                  <a:extLst>
                    <a:ext uri="{9D8B030D-6E8A-4147-A177-3AD203B41FA5}">
                      <a16:colId xmlns:a16="http://schemas.microsoft.com/office/drawing/2014/main" val="20005"/>
                    </a:ext>
                  </a:extLst>
                </a:gridCol>
              </a:tblGrid>
              <a:tr h="394202">
                <a:tc>
                  <a:txBody>
                    <a:bodyPr/>
                    <a:lstStyle/>
                    <a:p>
                      <a:pPr algn="ctr"/>
                      <a:r>
                        <a:rPr sz="1200" b="1"/>
                        <a:t>Disease</a:t>
                      </a:r>
                    </a:p>
                  </a:txBody>
                  <a:tcPr anchor="ctr"/>
                </a:tc>
                <a:tc>
                  <a:txBody>
                    <a:bodyPr/>
                    <a:lstStyle/>
                    <a:p>
                      <a:pPr algn="ctr"/>
                      <a:r>
                        <a:rPr sz="1200" b="1"/>
                        <a:t>Term</a:t>
                      </a:r>
                    </a:p>
                  </a:txBody>
                  <a:tcPr anchor="ctr"/>
                </a:tc>
                <a:tc>
                  <a:txBody>
                    <a:bodyPr/>
                    <a:lstStyle/>
                    <a:p>
                      <a:pPr algn="ctr"/>
                      <a:r>
                        <a:rPr sz="1200" b="1" dirty="0"/>
                        <a:t>Coefficient</a:t>
                      </a:r>
                    </a:p>
                  </a:txBody>
                  <a:tcPr anchor="ctr"/>
                </a:tc>
                <a:tc>
                  <a:txBody>
                    <a:bodyPr/>
                    <a:lstStyle/>
                    <a:p>
                      <a:pPr algn="ctr"/>
                      <a:r>
                        <a:rPr sz="1200" b="1"/>
                        <a:t>Std. Error</a:t>
                      </a:r>
                    </a:p>
                  </a:txBody>
                  <a:tcPr anchor="ctr"/>
                </a:tc>
                <a:tc>
                  <a:txBody>
                    <a:bodyPr/>
                    <a:lstStyle/>
                    <a:p>
                      <a:pPr algn="ctr"/>
                      <a:r>
                        <a:rPr sz="1200" b="1"/>
                        <a:t>Odds Ratio</a:t>
                      </a:r>
                    </a:p>
                  </a:txBody>
                  <a:tcPr anchor="ctr"/>
                </a:tc>
                <a:tc>
                  <a:txBody>
                    <a:bodyPr/>
                    <a:lstStyle/>
                    <a:p>
                      <a:pPr algn="ctr"/>
                      <a:r>
                        <a:rPr sz="1200" b="1"/>
                        <a:t>p-value</a:t>
                      </a:r>
                    </a:p>
                  </a:txBody>
                  <a:tcPr anchor="ctr"/>
                </a:tc>
                <a:extLst>
                  <a:ext uri="{0D108BD9-81ED-4DB2-BD59-A6C34878D82A}">
                    <a16:rowId xmlns:a16="http://schemas.microsoft.com/office/drawing/2014/main" val="10000"/>
                  </a:ext>
                </a:extLst>
              </a:tr>
              <a:tr h="394202">
                <a:tc rowSpan="4">
                  <a:txBody>
                    <a:bodyPr/>
                    <a:lstStyle/>
                    <a:p>
                      <a:pPr algn="ctr"/>
                      <a:r>
                        <a:rPr sz="1200" b="0" dirty="0" err="1"/>
                        <a:t>고혈압</a:t>
                      </a:r>
                      <a:r>
                        <a:rPr sz="1200" b="0" dirty="0"/>
                        <a:t>(HTN)</a:t>
                      </a:r>
                    </a:p>
                  </a:txBody>
                  <a:tcPr anchor="ctr">
                    <a:lnB w="12700" cap="flat" cmpd="sng" algn="ctr">
                      <a:solidFill>
                        <a:schemeClr val="bg1">
                          <a:lumMod val="65000"/>
                        </a:schemeClr>
                      </a:solidFill>
                      <a:prstDash val="solid"/>
                      <a:round/>
                      <a:headEnd type="none" w="med" len="med"/>
                      <a:tailEnd type="none" w="med" len="med"/>
                    </a:lnB>
                    <a:solidFill>
                      <a:schemeClr val="bg1">
                        <a:alpha val="20000"/>
                      </a:schemeClr>
                    </a:solidFill>
                  </a:tcPr>
                </a:tc>
                <a:tc>
                  <a:txBody>
                    <a:bodyPr/>
                    <a:lstStyle/>
                    <a:p>
                      <a:pPr algn="ctr"/>
                      <a:r>
                        <a:rPr sz="1200" b="0"/>
                        <a:t>Sex (M)</a:t>
                      </a:r>
                    </a:p>
                  </a:txBody>
                  <a:tcPr anchor="ctr"/>
                </a:tc>
                <a:tc>
                  <a:txBody>
                    <a:bodyPr/>
                    <a:lstStyle/>
                    <a:p>
                      <a:pPr algn="ctr"/>
                      <a:r>
                        <a:rPr sz="1200" b="0"/>
                        <a:t>0.952</a:t>
                      </a:r>
                    </a:p>
                  </a:txBody>
                  <a:tcPr anchor="ctr"/>
                </a:tc>
                <a:tc>
                  <a:txBody>
                    <a:bodyPr/>
                    <a:lstStyle/>
                    <a:p>
                      <a:pPr algn="ctr"/>
                      <a:r>
                        <a:rPr sz="1200" b="0"/>
                        <a:t>0.289</a:t>
                      </a:r>
                    </a:p>
                  </a:txBody>
                  <a:tcPr anchor="ctr"/>
                </a:tc>
                <a:tc>
                  <a:txBody>
                    <a:bodyPr/>
                    <a:lstStyle/>
                    <a:p>
                      <a:pPr algn="ctr"/>
                      <a:r>
                        <a:rPr sz="1200" b="0"/>
                        <a:t>2.591</a:t>
                      </a:r>
                    </a:p>
                  </a:txBody>
                  <a:tcPr anchor="ctr"/>
                </a:tc>
                <a:tc>
                  <a:txBody>
                    <a:bodyPr/>
                    <a:lstStyle/>
                    <a:p>
                      <a:pPr algn="ctr"/>
                      <a:r>
                        <a:rPr sz="1200" b="0"/>
                        <a:t>&lt;0.001 *</a:t>
                      </a:r>
                    </a:p>
                  </a:txBody>
                  <a:tcPr anchor="ctr"/>
                </a:tc>
                <a:extLst>
                  <a:ext uri="{0D108BD9-81ED-4DB2-BD59-A6C34878D82A}">
                    <a16:rowId xmlns:a16="http://schemas.microsoft.com/office/drawing/2014/main" val="10001"/>
                  </a:ext>
                </a:extLst>
              </a:tr>
              <a:tr h="394202">
                <a:tc vMerge="1">
                  <a:txBody>
                    <a:bodyPr/>
                    <a:lstStyle/>
                    <a:p>
                      <a:endParaRPr/>
                    </a:p>
                  </a:txBody>
                  <a:tcPr/>
                </a:tc>
                <a:tc>
                  <a:txBody>
                    <a:bodyPr/>
                    <a:lstStyle/>
                    <a:p>
                      <a:pPr algn="ctr"/>
                      <a:r>
                        <a:rPr sz="1200" b="0"/>
                        <a:t>Age</a:t>
                      </a:r>
                    </a:p>
                  </a:txBody>
                  <a:tcPr anchor="ctr"/>
                </a:tc>
                <a:tc>
                  <a:txBody>
                    <a:bodyPr/>
                    <a:lstStyle/>
                    <a:p>
                      <a:pPr algn="ctr"/>
                      <a:r>
                        <a:rPr sz="1200" b="0"/>
                        <a:t>1.052</a:t>
                      </a:r>
                    </a:p>
                  </a:txBody>
                  <a:tcPr anchor="ctr"/>
                </a:tc>
                <a:tc>
                  <a:txBody>
                    <a:bodyPr/>
                    <a:lstStyle/>
                    <a:p>
                      <a:pPr algn="ctr"/>
                      <a:r>
                        <a:rPr sz="1200" b="0"/>
                        <a:t>0.125</a:t>
                      </a:r>
                    </a:p>
                  </a:txBody>
                  <a:tcPr anchor="ctr"/>
                </a:tc>
                <a:tc>
                  <a:txBody>
                    <a:bodyPr/>
                    <a:lstStyle/>
                    <a:p>
                      <a:pPr algn="ctr"/>
                      <a:r>
                        <a:rPr sz="1200" b="0"/>
                        <a:t>2.863</a:t>
                      </a:r>
                    </a:p>
                  </a:txBody>
                  <a:tcPr anchor="ctr"/>
                </a:tc>
                <a:tc>
                  <a:txBody>
                    <a:bodyPr/>
                    <a:lstStyle/>
                    <a:p>
                      <a:pPr algn="ctr"/>
                      <a:r>
                        <a:rPr sz="1200" b="0"/>
                        <a:t>&lt;0.001 *</a:t>
                      </a:r>
                    </a:p>
                  </a:txBody>
                  <a:tcPr anchor="ctr"/>
                </a:tc>
                <a:extLst>
                  <a:ext uri="{0D108BD9-81ED-4DB2-BD59-A6C34878D82A}">
                    <a16:rowId xmlns:a16="http://schemas.microsoft.com/office/drawing/2014/main" val="10002"/>
                  </a:ext>
                </a:extLst>
              </a:tr>
              <a:tr h="394202">
                <a:tc vMerge="1">
                  <a:txBody>
                    <a:bodyPr/>
                    <a:lstStyle/>
                    <a:p>
                      <a:endParaRPr/>
                    </a:p>
                  </a:txBody>
                  <a:tcPr/>
                </a:tc>
                <a:tc>
                  <a:txBody>
                    <a:bodyPr/>
                    <a:lstStyle/>
                    <a:p>
                      <a:pPr algn="ctr"/>
                      <a:r>
                        <a:rPr sz="1200" b="0"/>
                        <a:t>Height</a:t>
                      </a:r>
                    </a:p>
                  </a:txBody>
                  <a:tcPr anchor="ctr"/>
                </a:tc>
                <a:tc>
                  <a:txBody>
                    <a:bodyPr/>
                    <a:lstStyle/>
                    <a:p>
                      <a:pPr algn="ctr"/>
                      <a:r>
                        <a:rPr sz="1200" b="0"/>
                        <a:t>-0.406</a:t>
                      </a:r>
                    </a:p>
                  </a:txBody>
                  <a:tcPr anchor="ctr"/>
                </a:tc>
                <a:tc>
                  <a:txBody>
                    <a:bodyPr/>
                    <a:lstStyle/>
                    <a:p>
                      <a:pPr algn="ctr"/>
                      <a:r>
                        <a:rPr sz="1200" b="0"/>
                        <a:t>0.165</a:t>
                      </a:r>
                    </a:p>
                  </a:txBody>
                  <a:tcPr anchor="ctr"/>
                </a:tc>
                <a:tc>
                  <a:txBody>
                    <a:bodyPr/>
                    <a:lstStyle/>
                    <a:p>
                      <a:pPr algn="ctr"/>
                      <a:r>
                        <a:rPr sz="1200" b="0"/>
                        <a:t>0.666</a:t>
                      </a:r>
                    </a:p>
                  </a:txBody>
                  <a:tcPr anchor="ctr"/>
                </a:tc>
                <a:tc>
                  <a:txBody>
                    <a:bodyPr/>
                    <a:lstStyle/>
                    <a:p>
                      <a:pPr algn="ctr"/>
                      <a:r>
                        <a:rPr sz="1200" b="0"/>
                        <a:t>0.014 *</a:t>
                      </a:r>
                    </a:p>
                  </a:txBody>
                  <a:tcPr anchor="ctr"/>
                </a:tc>
                <a:extLst>
                  <a:ext uri="{0D108BD9-81ED-4DB2-BD59-A6C34878D82A}">
                    <a16:rowId xmlns:a16="http://schemas.microsoft.com/office/drawing/2014/main" val="10003"/>
                  </a:ext>
                </a:extLst>
              </a:tr>
              <a:tr h="394202">
                <a:tc vMerge="1">
                  <a:txBody>
                    <a:bodyPr/>
                    <a:lstStyle/>
                    <a:p>
                      <a:endParaRPr/>
                    </a:p>
                  </a:txBody>
                  <a:tcPr/>
                </a:tc>
                <a:tc>
                  <a:txBody>
                    <a:bodyPr/>
                    <a:lstStyle/>
                    <a:p>
                      <a:pPr algn="ctr"/>
                      <a:r>
                        <a:rPr sz="1200" b="0"/>
                        <a:t>Weight</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0.693</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0.137</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1.999</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&lt;0.001 *</a:t>
                      </a:r>
                    </a:p>
                  </a:txBody>
                  <a:tcPr anchor="ctr">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394202">
                <a:tc rowSpan="4">
                  <a:txBody>
                    <a:bodyPr/>
                    <a:lstStyle/>
                    <a:p>
                      <a:pPr algn="ctr"/>
                      <a:r>
                        <a:rPr sz="1200" b="0" dirty="0" err="1"/>
                        <a:t>당뇨병</a:t>
                      </a:r>
                      <a:r>
                        <a:rPr sz="1200" b="0" dirty="0"/>
                        <a:t>(DM)</a:t>
                      </a:r>
                    </a:p>
                  </a:txBody>
                  <a:tcPr anchor="ct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alpha val="20000"/>
                      </a:schemeClr>
                    </a:solidFill>
                  </a:tcPr>
                </a:tc>
                <a:tc>
                  <a:txBody>
                    <a:bodyPr/>
                    <a:lstStyle/>
                    <a:p>
                      <a:pPr algn="ctr"/>
                      <a:r>
                        <a:rPr sz="1200" b="0"/>
                        <a:t>Sex (M)</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0.879</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0.357</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2.408</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0.014 *</a:t>
                      </a:r>
                    </a:p>
                  </a:txBody>
                  <a:tcPr anchor="ctr">
                    <a:lnT w="12700" cap="flat" cmpd="sng" algn="ctr">
                      <a:solidFill>
                        <a:schemeClr val="bg1">
                          <a:lumMod val="65000"/>
                        </a:schemeClr>
                      </a:solidFill>
                      <a:prstDash val="solid"/>
                      <a:round/>
                      <a:headEnd type="none" w="med" len="med"/>
                      <a:tailEnd type="none" w="med" len="med"/>
                    </a:lnT>
                  </a:tcPr>
                </a:tc>
                <a:extLst>
                  <a:ext uri="{0D108BD9-81ED-4DB2-BD59-A6C34878D82A}">
                    <a16:rowId xmlns:a16="http://schemas.microsoft.com/office/drawing/2014/main" val="10005"/>
                  </a:ext>
                </a:extLst>
              </a:tr>
              <a:tr h="394202">
                <a:tc vMerge="1">
                  <a:txBody>
                    <a:bodyPr/>
                    <a:lstStyle/>
                    <a:p>
                      <a:endParaRPr/>
                    </a:p>
                  </a:txBody>
                  <a:tcPr/>
                </a:tc>
                <a:tc>
                  <a:txBody>
                    <a:bodyPr/>
                    <a:lstStyle/>
                    <a:p>
                      <a:pPr algn="ctr"/>
                      <a:r>
                        <a:rPr sz="1200" b="0"/>
                        <a:t>Age</a:t>
                      </a:r>
                    </a:p>
                  </a:txBody>
                  <a:tcPr anchor="ctr"/>
                </a:tc>
                <a:tc>
                  <a:txBody>
                    <a:bodyPr/>
                    <a:lstStyle/>
                    <a:p>
                      <a:pPr algn="ctr"/>
                      <a:r>
                        <a:rPr sz="1200" b="0"/>
                        <a:t>0.578</a:t>
                      </a:r>
                    </a:p>
                  </a:txBody>
                  <a:tcPr anchor="ctr"/>
                </a:tc>
                <a:tc>
                  <a:txBody>
                    <a:bodyPr/>
                    <a:lstStyle/>
                    <a:p>
                      <a:pPr algn="ctr"/>
                      <a:r>
                        <a:rPr sz="1200" b="0"/>
                        <a:t>0.134</a:t>
                      </a:r>
                    </a:p>
                  </a:txBody>
                  <a:tcPr anchor="ctr"/>
                </a:tc>
                <a:tc>
                  <a:txBody>
                    <a:bodyPr/>
                    <a:lstStyle/>
                    <a:p>
                      <a:pPr algn="ctr"/>
                      <a:r>
                        <a:rPr sz="1200" b="0"/>
                        <a:t>1.783</a:t>
                      </a:r>
                    </a:p>
                  </a:txBody>
                  <a:tcPr anchor="ctr"/>
                </a:tc>
                <a:tc>
                  <a:txBody>
                    <a:bodyPr/>
                    <a:lstStyle/>
                    <a:p>
                      <a:pPr algn="ctr"/>
                      <a:r>
                        <a:rPr sz="1200" b="0"/>
                        <a:t>&lt;0.001 *</a:t>
                      </a:r>
                    </a:p>
                  </a:txBody>
                  <a:tcPr anchor="ctr"/>
                </a:tc>
                <a:extLst>
                  <a:ext uri="{0D108BD9-81ED-4DB2-BD59-A6C34878D82A}">
                    <a16:rowId xmlns:a16="http://schemas.microsoft.com/office/drawing/2014/main" val="10006"/>
                  </a:ext>
                </a:extLst>
              </a:tr>
              <a:tr h="394202">
                <a:tc vMerge="1">
                  <a:txBody>
                    <a:bodyPr/>
                    <a:lstStyle/>
                    <a:p>
                      <a:endParaRPr/>
                    </a:p>
                  </a:txBody>
                  <a:tcPr/>
                </a:tc>
                <a:tc>
                  <a:txBody>
                    <a:bodyPr/>
                    <a:lstStyle/>
                    <a:p>
                      <a:pPr algn="ctr"/>
                      <a:r>
                        <a:rPr sz="1200" b="0"/>
                        <a:t>Height</a:t>
                      </a:r>
                    </a:p>
                  </a:txBody>
                  <a:tcPr anchor="ctr"/>
                </a:tc>
                <a:tc>
                  <a:txBody>
                    <a:bodyPr/>
                    <a:lstStyle/>
                    <a:p>
                      <a:pPr algn="ctr"/>
                      <a:r>
                        <a:rPr sz="1200" b="0"/>
                        <a:t>-0.782</a:t>
                      </a:r>
                    </a:p>
                  </a:txBody>
                  <a:tcPr anchor="ctr"/>
                </a:tc>
                <a:tc>
                  <a:txBody>
                    <a:bodyPr/>
                    <a:lstStyle/>
                    <a:p>
                      <a:pPr algn="ctr"/>
                      <a:r>
                        <a:rPr sz="1200" b="0"/>
                        <a:t>0.198</a:t>
                      </a:r>
                    </a:p>
                  </a:txBody>
                  <a:tcPr anchor="ctr"/>
                </a:tc>
                <a:tc>
                  <a:txBody>
                    <a:bodyPr/>
                    <a:lstStyle/>
                    <a:p>
                      <a:pPr algn="ctr"/>
                      <a:r>
                        <a:rPr sz="1200" b="0"/>
                        <a:t>0.457</a:t>
                      </a:r>
                    </a:p>
                  </a:txBody>
                  <a:tcPr anchor="ctr"/>
                </a:tc>
                <a:tc>
                  <a:txBody>
                    <a:bodyPr/>
                    <a:lstStyle/>
                    <a:p>
                      <a:pPr algn="ctr"/>
                      <a:r>
                        <a:rPr sz="1200" b="0"/>
                        <a:t>&lt;0.001 *</a:t>
                      </a:r>
                    </a:p>
                  </a:txBody>
                  <a:tcPr anchor="ctr"/>
                </a:tc>
                <a:extLst>
                  <a:ext uri="{0D108BD9-81ED-4DB2-BD59-A6C34878D82A}">
                    <a16:rowId xmlns:a16="http://schemas.microsoft.com/office/drawing/2014/main" val="10007"/>
                  </a:ext>
                </a:extLst>
              </a:tr>
              <a:tr h="394202">
                <a:tc vMerge="1">
                  <a:txBody>
                    <a:bodyPr/>
                    <a:lstStyle/>
                    <a:p>
                      <a:endParaRPr/>
                    </a:p>
                  </a:txBody>
                  <a:tcPr/>
                </a:tc>
                <a:tc>
                  <a:txBody>
                    <a:bodyPr/>
                    <a:lstStyle/>
                    <a:p>
                      <a:pPr algn="ctr"/>
                      <a:r>
                        <a:rPr sz="1200" b="0"/>
                        <a:t>Weight</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0.744</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0.155</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2.104</a:t>
                      </a:r>
                    </a:p>
                  </a:txBody>
                  <a:tcPr anchor="ctr">
                    <a:lnB w="12700" cap="flat" cmpd="sng" algn="ctr">
                      <a:solidFill>
                        <a:schemeClr val="bg1">
                          <a:lumMod val="65000"/>
                        </a:schemeClr>
                      </a:solidFill>
                      <a:prstDash val="solid"/>
                      <a:round/>
                      <a:headEnd type="none" w="med" len="med"/>
                      <a:tailEnd type="none" w="med" len="med"/>
                    </a:lnB>
                  </a:tcPr>
                </a:tc>
                <a:tc>
                  <a:txBody>
                    <a:bodyPr/>
                    <a:lstStyle/>
                    <a:p>
                      <a:pPr algn="ctr"/>
                      <a:r>
                        <a:rPr sz="1200" b="0"/>
                        <a:t>&lt;0.001 *</a:t>
                      </a:r>
                    </a:p>
                  </a:txBody>
                  <a:tcPr anchor="ctr">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r h="394202">
                <a:tc rowSpan="4">
                  <a:txBody>
                    <a:bodyPr/>
                    <a:lstStyle/>
                    <a:p>
                      <a:pPr algn="ctr"/>
                      <a:r>
                        <a:rPr sz="1200" b="0" dirty="0" err="1"/>
                        <a:t>만성신장질환</a:t>
                      </a:r>
                      <a:r>
                        <a:rPr sz="1200" b="0" dirty="0"/>
                        <a:t>(CKD)</a:t>
                      </a:r>
                    </a:p>
                  </a:txBody>
                  <a:tcPr anchor="ctr">
                    <a:lnT w="12700" cap="flat" cmpd="sng" algn="ctr">
                      <a:solidFill>
                        <a:schemeClr val="bg1">
                          <a:lumMod val="65000"/>
                        </a:schemeClr>
                      </a:solidFill>
                      <a:prstDash val="solid"/>
                      <a:round/>
                      <a:headEnd type="none" w="med" len="med"/>
                      <a:tailEnd type="none" w="med" len="med"/>
                    </a:lnT>
                    <a:solidFill>
                      <a:schemeClr val="bg1">
                        <a:alpha val="20000"/>
                      </a:schemeClr>
                    </a:solidFill>
                  </a:tcPr>
                </a:tc>
                <a:tc>
                  <a:txBody>
                    <a:bodyPr/>
                    <a:lstStyle/>
                    <a:p>
                      <a:pPr algn="ctr"/>
                      <a:r>
                        <a:rPr sz="1200" b="0"/>
                        <a:t>Sex (M)</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0.757</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0.517</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2.132</a:t>
                      </a:r>
                    </a:p>
                  </a:txBody>
                  <a:tcPr anchor="ctr">
                    <a:lnT w="12700" cap="flat" cmpd="sng" algn="ctr">
                      <a:solidFill>
                        <a:schemeClr val="bg1">
                          <a:lumMod val="65000"/>
                        </a:schemeClr>
                      </a:solidFill>
                      <a:prstDash val="solid"/>
                      <a:round/>
                      <a:headEnd type="none" w="med" len="med"/>
                      <a:tailEnd type="none" w="med" len="med"/>
                    </a:lnT>
                  </a:tcPr>
                </a:tc>
                <a:tc>
                  <a:txBody>
                    <a:bodyPr/>
                    <a:lstStyle/>
                    <a:p>
                      <a:pPr algn="ctr"/>
                      <a:r>
                        <a:rPr sz="1200" b="0"/>
                        <a:t>0.143</a:t>
                      </a:r>
                    </a:p>
                  </a:txBody>
                  <a:tcPr anchor="ctr">
                    <a:lnT w="12700" cap="flat" cmpd="sng" algn="ctr">
                      <a:solidFill>
                        <a:schemeClr val="bg1">
                          <a:lumMod val="65000"/>
                        </a:schemeClr>
                      </a:solidFill>
                      <a:prstDash val="solid"/>
                      <a:round/>
                      <a:headEnd type="none" w="med" len="med"/>
                      <a:tailEnd type="none" w="med" len="med"/>
                    </a:lnT>
                  </a:tcPr>
                </a:tc>
                <a:extLst>
                  <a:ext uri="{0D108BD9-81ED-4DB2-BD59-A6C34878D82A}">
                    <a16:rowId xmlns:a16="http://schemas.microsoft.com/office/drawing/2014/main" val="10009"/>
                  </a:ext>
                </a:extLst>
              </a:tr>
              <a:tr h="394202">
                <a:tc vMerge="1">
                  <a:txBody>
                    <a:bodyPr/>
                    <a:lstStyle/>
                    <a:p>
                      <a:endParaRPr/>
                    </a:p>
                  </a:txBody>
                  <a:tcPr/>
                </a:tc>
                <a:tc>
                  <a:txBody>
                    <a:bodyPr/>
                    <a:lstStyle/>
                    <a:p>
                      <a:pPr algn="ctr"/>
                      <a:r>
                        <a:rPr sz="1200" b="0"/>
                        <a:t>Age</a:t>
                      </a:r>
                    </a:p>
                  </a:txBody>
                  <a:tcPr anchor="ctr"/>
                </a:tc>
                <a:tc>
                  <a:txBody>
                    <a:bodyPr/>
                    <a:lstStyle/>
                    <a:p>
                      <a:pPr algn="ctr"/>
                      <a:r>
                        <a:rPr sz="1200" b="0"/>
                        <a:t>0.776</a:t>
                      </a:r>
                    </a:p>
                  </a:txBody>
                  <a:tcPr anchor="ctr"/>
                </a:tc>
                <a:tc>
                  <a:txBody>
                    <a:bodyPr/>
                    <a:lstStyle/>
                    <a:p>
                      <a:pPr algn="ctr"/>
                      <a:r>
                        <a:rPr sz="1200" b="0"/>
                        <a:t>0.203</a:t>
                      </a:r>
                    </a:p>
                  </a:txBody>
                  <a:tcPr anchor="ctr"/>
                </a:tc>
                <a:tc>
                  <a:txBody>
                    <a:bodyPr/>
                    <a:lstStyle/>
                    <a:p>
                      <a:pPr algn="ctr"/>
                      <a:r>
                        <a:rPr sz="1200" b="0"/>
                        <a:t>2.173</a:t>
                      </a:r>
                    </a:p>
                  </a:txBody>
                  <a:tcPr anchor="ctr"/>
                </a:tc>
                <a:tc>
                  <a:txBody>
                    <a:bodyPr/>
                    <a:lstStyle/>
                    <a:p>
                      <a:pPr algn="ctr"/>
                      <a:r>
                        <a:rPr sz="1200" b="0"/>
                        <a:t>&lt;0.001 *</a:t>
                      </a:r>
                    </a:p>
                  </a:txBody>
                  <a:tcPr anchor="ctr"/>
                </a:tc>
                <a:extLst>
                  <a:ext uri="{0D108BD9-81ED-4DB2-BD59-A6C34878D82A}">
                    <a16:rowId xmlns:a16="http://schemas.microsoft.com/office/drawing/2014/main" val="10010"/>
                  </a:ext>
                </a:extLst>
              </a:tr>
              <a:tr h="394202">
                <a:tc vMerge="1">
                  <a:txBody>
                    <a:bodyPr/>
                    <a:lstStyle/>
                    <a:p>
                      <a:endParaRPr/>
                    </a:p>
                  </a:txBody>
                  <a:tcPr/>
                </a:tc>
                <a:tc>
                  <a:txBody>
                    <a:bodyPr/>
                    <a:lstStyle/>
                    <a:p>
                      <a:pPr algn="ctr"/>
                      <a:r>
                        <a:rPr sz="1200" b="0"/>
                        <a:t>Height</a:t>
                      </a:r>
                    </a:p>
                  </a:txBody>
                  <a:tcPr anchor="ctr"/>
                </a:tc>
                <a:tc>
                  <a:txBody>
                    <a:bodyPr/>
                    <a:lstStyle/>
                    <a:p>
                      <a:pPr algn="ctr"/>
                      <a:r>
                        <a:rPr sz="1200" b="0"/>
                        <a:t>-0.067</a:t>
                      </a:r>
                    </a:p>
                  </a:txBody>
                  <a:tcPr anchor="ctr"/>
                </a:tc>
                <a:tc>
                  <a:txBody>
                    <a:bodyPr/>
                    <a:lstStyle/>
                    <a:p>
                      <a:pPr algn="ctr"/>
                      <a:r>
                        <a:rPr sz="1200" b="0"/>
                        <a:t>0.292</a:t>
                      </a:r>
                    </a:p>
                  </a:txBody>
                  <a:tcPr anchor="ctr"/>
                </a:tc>
                <a:tc>
                  <a:txBody>
                    <a:bodyPr/>
                    <a:lstStyle/>
                    <a:p>
                      <a:pPr algn="ctr"/>
                      <a:r>
                        <a:rPr sz="1200" b="0"/>
                        <a:t>0.935</a:t>
                      </a:r>
                    </a:p>
                  </a:txBody>
                  <a:tcPr anchor="ctr"/>
                </a:tc>
                <a:tc>
                  <a:txBody>
                    <a:bodyPr/>
                    <a:lstStyle/>
                    <a:p>
                      <a:pPr algn="ctr"/>
                      <a:r>
                        <a:rPr sz="1200" b="0"/>
                        <a:t>0.819</a:t>
                      </a:r>
                    </a:p>
                  </a:txBody>
                  <a:tcPr anchor="ctr"/>
                </a:tc>
                <a:extLst>
                  <a:ext uri="{0D108BD9-81ED-4DB2-BD59-A6C34878D82A}">
                    <a16:rowId xmlns:a16="http://schemas.microsoft.com/office/drawing/2014/main" val="10011"/>
                  </a:ext>
                </a:extLst>
              </a:tr>
              <a:tr h="394202">
                <a:tc vMerge="1">
                  <a:txBody>
                    <a:bodyPr/>
                    <a:lstStyle/>
                    <a:p>
                      <a:endParaRPr/>
                    </a:p>
                  </a:txBody>
                  <a:tcPr/>
                </a:tc>
                <a:tc>
                  <a:txBody>
                    <a:bodyPr/>
                    <a:lstStyle/>
                    <a:p>
                      <a:pPr algn="ctr"/>
                      <a:r>
                        <a:rPr sz="1200" b="0"/>
                        <a:t>Weight</a:t>
                      </a:r>
                    </a:p>
                  </a:txBody>
                  <a:tcPr anchor="ctr"/>
                </a:tc>
                <a:tc>
                  <a:txBody>
                    <a:bodyPr/>
                    <a:lstStyle/>
                    <a:p>
                      <a:pPr algn="ctr"/>
                      <a:r>
                        <a:rPr sz="1200" b="0"/>
                        <a:t>0.581</a:t>
                      </a:r>
                    </a:p>
                  </a:txBody>
                  <a:tcPr anchor="ctr"/>
                </a:tc>
                <a:tc>
                  <a:txBody>
                    <a:bodyPr/>
                    <a:lstStyle/>
                    <a:p>
                      <a:pPr algn="ctr"/>
                      <a:r>
                        <a:rPr sz="1200" b="0"/>
                        <a:t>0.244</a:t>
                      </a:r>
                    </a:p>
                  </a:txBody>
                  <a:tcPr anchor="ctr"/>
                </a:tc>
                <a:tc>
                  <a:txBody>
                    <a:bodyPr/>
                    <a:lstStyle/>
                    <a:p>
                      <a:pPr algn="ctr"/>
                      <a:r>
                        <a:rPr sz="1200" b="0"/>
                        <a:t>1.788</a:t>
                      </a:r>
                    </a:p>
                  </a:txBody>
                  <a:tcPr anchor="ctr"/>
                </a:tc>
                <a:tc>
                  <a:txBody>
                    <a:bodyPr/>
                    <a:lstStyle/>
                    <a:p>
                      <a:pPr algn="ctr"/>
                      <a:r>
                        <a:rPr sz="1200" b="0" dirty="0"/>
                        <a:t>0.017 *</a:t>
                      </a:r>
                    </a:p>
                  </a:txBody>
                  <a:tcPr anchor="ct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699639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041C5-D9E0-25D3-C066-D6EBC07EB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4915A-F311-E5F2-7117-A239886E074F}"/>
              </a:ext>
            </a:extLst>
          </p:cNvPr>
          <p:cNvSpPr>
            <a:spLocks noGrp="1"/>
          </p:cNvSpPr>
          <p:nvPr>
            <p:ph type="title"/>
          </p:nvPr>
        </p:nvSpPr>
        <p:spPr/>
        <p:txBody>
          <a:bodyPr>
            <a:normAutofit fontScale="90000"/>
          </a:bodyPr>
          <a:lstStyle/>
          <a:p>
            <a:r>
              <a:rPr lang="en-US" altLang="ko-KR" dirty="0"/>
              <a:t>Table S7. Clinic4 Baseline Variance Inflation Factor (VIF) — Multicollinearity Check</a:t>
            </a:r>
            <a:endParaRPr dirty="0"/>
          </a:p>
        </p:txBody>
      </p:sp>
      <p:sp>
        <p:nvSpPr>
          <p:cNvPr id="6" name="슬라이드 번호 개체 틀 5">
            <a:extLst>
              <a:ext uri="{FF2B5EF4-FFF2-40B4-BE49-F238E27FC236}">
                <a16:creationId xmlns:a16="http://schemas.microsoft.com/office/drawing/2014/main" id="{A1ECAE82-15D4-E727-6D5D-CFFBD151D729}"/>
              </a:ext>
            </a:extLst>
          </p:cNvPr>
          <p:cNvSpPr>
            <a:spLocks noGrp="1"/>
          </p:cNvSpPr>
          <p:nvPr>
            <p:ph type="sldNum" sz="quarter" idx="12"/>
          </p:nvPr>
        </p:nvSpPr>
        <p:spPr/>
        <p:txBody>
          <a:bodyPr/>
          <a:lstStyle/>
          <a:p>
            <a:fld id="{9F4AF89A-28FA-47FA-B28F-9A9C6913CB7A}" type="slidenum">
              <a:rPr lang="ko-KR" altLang="en-US" smtClean="0"/>
              <a:pPr/>
              <a:t>20</a:t>
            </a:fld>
            <a:endParaRPr lang="ko-KR" altLang="en-US" dirty="0"/>
          </a:p>
        </p:txBody>
      </p:sp>
      <p:graphicFrame>
        <p:nvGraphicFramePr>
          <p:cNvPr id="4" name="Table 2">
            <a:extLst>
              <a:ext uri="{FF2B5EF4-FFF2-40B4-BE49-F238E27FC236}">
                <a16:creationId xmlns:a16="http://schemas.microsoft.com/office/drawing/2014/main" id="{138BAC77-54EF-D7D8-DA03-5E8E2972F164}"/>
              </a:ext>
            </a:extLst>
          </p:cNvPr>
          <p:cNvGraphicFramePr>
            <a:graphicFrameLocks noGrp="1"/>
          </p:cNvGraphicFramePr>
          <p:nvPr>
            <p:extLst>
              <p:ext uri="{D42A27DB-BD31-4B8C-83A1-F6EECF244321}">
                <p14:modId xmlns:p14="http://schemas.microsoft.com/office/powerpoint/2010/main" val="4198889474"/>
              </p:ext>
            </p:extLst>
          </p:nvPr>
        </p:nvGraphicFramePr>
        <p:xfrm>
          <a:off x="512064" y="978408"/>
          <a:ext cx="4487320" cy="5124635"/>
        </p:xfrm>
        <a:graphic>
          <a:graphicData uri="http://schemas.openxmlformats.org/drawingml/2006/table">
            <a:tbl>
              <a:tblPr firstRow="1" bandRow="1">
                <a:tableStyleId>{C083E6E3-FA7D-4D7B-A595-EF9225AFEA82}</a:tableStyleId>
              </a:tblPr>
              <a:tblGrid>
                <a:gridCol w="2243660">
                  <a:extLst>
                    <a:ext uri="{9D8B030D-6E8A-4147-A177-3AD203B41FA5}">
                      <a16:colId xmlns:a16="http://schemas.microsoft.com/office/drawing/2014/main" val="20000"/>
                    </a:ext>
                  </a:extLst>
                </a:gridCol>
                <a:gridCol w="2243660">
                  <a:extLst>
                    <a:ext uri="{9D8B030D-6E8A-4147-A177-3AD203B41FA5}">
                      <a16:colId xmlns:a16="http://schemas.microsoft.com/office/drawing/2014/main" val="20001"/>
                    </a:ext>
                  </a:extLst>
                </a:gridCol>
              </a:tblGrid>
              <a:tr h="1024927">
                <a:tc>
                  <a:txBody>
                    <a:bodyPr/>
                    <a:lstStyle/>
                    <a:p>
                      <a:pPr algn="ctr"/>
                      <a:r>
                        <a:rPr sz="1200" b="1" dirty="0"/>
                        <a:t>Term</a:t>
                      </a:r>
                    </a:p>
                  </a:txBody>
                  <a:tcPr anchor="ctr"/>
                </a:tc>
                <a:tc>
                  <a:txBody>
                    <a:bodyPr/>
                    <a:lstStyle/>
                    <a:p>
                      <a:pPr algn="ctr"/>
                      <a:r>
                        <a:rPr sz="1200" b="1"/>
                        <a:t>VIF</a:t>
                      </a:r>
                    </a:p>
                  </a:txBody>
                  <a:tcPr anchor="ctr"/>
                </a:tc>
                <a:extLst>
                  <a:ext uri="{0D108BD9-81ED-4DB2-BD59-A6C34878D82A}">
                    <a16:rowId xmlns:a16="http://schemas.microsoft.com/office/drawing/2014/main" val="10000"/>
                  </a:ext>
                </a:extLst>
              </a:tr>
              <a:tr h="1024927">
                <a:tc>
                  <a:txBody>
                    <a:bodyPr/>
                    <a:lstStyle/>
                    <a:p>
                      <a:pPr algn="ctr"/>
                      <a:r>
                        <a:rPr sz="1200" b="0"/>
                        <a:t>Sex (M)</a:t>
                      </a:r>
                    </a:p>
                  </a:txBody>
                  <a:tcPr anchor="ctr"/>
                </a:tc>
                <a:tc>
                  <a:txBody>
                    <a:bodyPr/>
                    <a:lstStyle/>
                    <a:p>
                      <a:pPr algn="ctr"/>
                      <a:r>
                        <a:rPr sz="1200" b="0"/>
                        <a:t>2.361</a:t>
                      </a:r>
                    </a:p>
                  </a:txBody>
                  <a:tcPr anchor="ctr"/>
                </a:tc>
                <a:extLst>
                  <a:ext uri="{0D108BD9-81ED-4DB2-BD59-A6C34878D82A}">
                    <a16:rowId xmlns:a16="http://schemas.microsoft.com/office/drawing/2014/main" val="10001"/>
                  </a:ext>
                </a:extLst>
              </a:tr>
              <a:tr h="1024927">
                <a:tc>
                  <a:txBody>
                    <a:bodyPr/>
                    <a:lstStyle/>
                    <a:p>
                      <a:pPr algn="ctr"/>
                      <a:r>
                        <a:rPr sz="1200" b="0"/>
                        <a:t>Age</a:t>
                      </a:r>
                    </a:p>
                  </a:txBody>
                  <a:tcPr anchor="ctr"/>
                </a:tc>
                <a:tc>
                  <a:txBody>
                    <a:bodyPr/>
                    <a:lstStyle/>
                    <a:p>
                      <a:pPr algn="ctr"/>
                      <a:r>
                        <a:rPr sz="1200" b="0" dirty="0"/>
                        <a:t>1.232</a:t>
                      </a:r>
                    </a:p>
                  </a:txBody>
                  <a:tcPr anchor="ctr"/>
                </a:tc>
                <a:extLst>
                  <a:ext uri="{0D108BD9-81ED-4DB2-BD59-A6C34878D82A}">
                    <a16:rowId xmlns:a16="http://schemas.microsoft.com/office/drawing/2014/main" val="10002"/>
                  </a:ext>
                </a:extLst>
              </a:tr>
              <a:tr h="1024927">
                <a:tc>
                  <a:txBody>
                    <a:bodyPr/>
                    <a:lstStyle/>
                    <a:p>
                      <a:pPr algn="ctr"/>
                      <a:r>
                        <a:rPr sz="1200" b="0"/>
                        <a:t>Height</a:t>
                      </a:r>
                    </a:p>
                  </a:txBody>
                  <a:tcPr anchor="ctr"/>
                </a:tc>
                <a:tc>
                  <a:txBody>
                    <a:bodyPr/>
                    <a:lstStyle/>
                    <a:p>
                      <a:pPr algn="ctr"/>
                      <a:r>
                        <a:rPr sz="1200" b="0"/>
                        <a:t>2.781</a:t>
                      </a:r>
                    </a:p>
                  </a:txBody>
                  <a:tcPr anchor="ctr"/>
                </a:tc>
                <a:extLst>
                  <a:ext uri="{0D108BD9-81ED-4DB2-BD59-A6C34878D82A}">
                    <a16:rowId xmlns:a16="http://schemas.microsoft.com/office/drawing/2014/main" val="10003"/>
                  </a:ext>
                </a:extLst>
              </a:tr>
              <a:tr h="1024927">
                <a:tc>
                  <a:txBody>
                    <a:bodyPr/>
                    <a:lstStyle/>
                    <a:p>
                      <a:pPr algn="ctr"/>
                      <a:r>
                        <a:rPr sz="1200" b="0"/>
                        <a:t>Weight</a:t>
                      </a:r>
                    </a:p>
                  </a:txBody>
                  <a:tcPr anchor="ctr"/>
                </a:tc>
                <a:tc>
                  <a:txBody>
                    <a:bodyPr/>
                    <a:lstStyle/>
                    <a:p>
                      <a:pPr algn="ctr"/>
                      <a:r>
                        <a:rPr sz="1200" b="0" dirty="0"/>
                        <a:t>1.820</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14842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65126"/>
            <a:ext cx="11176000" cy="532342"/>
          </a:xfrm>
        </p:spPr>
        <p:txBody>
          <a:bodyPr/>
          <a:lstStyle/>
          <a:p>
            <a:r>
              <a:t>Table S8. Internal 5-fold Cross-Validation — Baseline vs +AEC(FPCA), Gangnam (하이퍼파라미터 고정, OOF 평가)</a:t>
            </a:r>
          </a:p>
        </p:txBody>
      </p:sp>
      <p:graphicFrame>
        <p:nvGraphicFramePr>
          <p:cNvPr id="3" name="Table 2"/>
          <p:cNvGraphicFramePr>
            <a:graphicFrameLocks noGrp="1"/>
          </p:cNvGraphicFramePr>
          <p:nvPr/>
        </p:nvGraphicFramePr>
        <p:xfrm>
          <a:off x="512064" y="978408"/>
          <a:ext cx="11173968" cy="5124636"/>
        </p:xfrm>
        <a:graphic>
          <a:graphicData uri="http://schemas.openxmlformats.org/drawingml/2006/table">
            <a:tbl>
              <a:tblPr firstRow="1" bandRow="1">
                <a:tableStyleId>{C083E6E3-FA7D-4D7B-A595-EF9225AFEA82}</a:tableStyleId>
              </a:tblPr>
              <a:tblGrid>
                <a:gridCol w="1396746">
                  <a:extLst>
                    <a:ext uri="{9D8B030D-6E8A-4147-A177-3AD203B41FA5}">
                      <a16:colId xmlns:a16="http://schemas.microsoft.com/office/drawing/2014/main" val="20000"/>
                    </a:ext>
                  </a:extLst>
                </a:gridCol>
                <a:gridCol w="1396746">
                  <a:extLst>
                    <a:ext uri="{9D8B030D-6E8A-4147-A177-3AD203B41FA5}">
                      <a16:colId xmlns:a16="http://schemas.microsoft.com/office/drawing/2014/main" val="20001"/>
                    </a:ext>
                  </a:extLst>
                </a:gridCol>
                <a:gridCol w="1396746">
                  <a:extLst>
                    <a:ext uri="{9D8B030D-6E8A-4147-A177-3AD203B41FA5}">
                      <a16:colId xmlns:a16="http://schemas.microsoft.com/office/drawing/2014/main" val="20002"/>
                    </a:ext>
                  </a:extLst>
                </a:gridCol>
                <a:gridCol w="1396746">
                  <a:extLst>
                    <a:ext uri="{9D8B030D-6E8A-4147-A177-3AD203B41FA5}">
                      <a16:colId xmlns:a16="http://schemas.microsoft.com/office/drawing/2014/main" val="20003"/>
                    </a:ext>
                  </a:extLst>
                </a:gridCol>
                <a:gridCol w="1396746">
                  <a:extLst>
                    <a:ext uri="{9D8B030D-6E8A-4147-A177-3AD203B41FA5}">
                      <a16:colId xmlns:a16="http://schemas.microsoft.com/office/drawing/2014/main" val="20004"/>
                    </a:ext>
                  </a:extLst>
                </a:gridCol>
                <a:gridCol w="1396746">
                  <a:extLst>
                    <a:ext uri="{9D8B030D-6E8A-4147-A177-3AD203B41FA5}">
                      <a16:colId xmlns:a16="http://schemas.microsoft.com/office/drawing/2014/main" val="20005"/>
                    </a:ext>
                  </a:extLst>
                </a:gridCol>
                <a:gridCol w="1396746">
                  <a:extLst>
                    <a:ext uri="{9D8B030D-6E8A-4147-A177-3AD203B41FA5}">
                      <a16:colId xmlns:a16="http://schemas.microsoft.com/office/drawing/2014/main" val="20006"/>
                    </a:ext>
                  </a:extLst>
                </a:gridCol>
                <a:gridCol w="1396746">
                  <a:extLst>
                    <a:ext uri="{9D8B030D-6E8A-4147-A177-3AD203B41FA5}">
                      <a16:colId xmlns:a16="http://schemas.microsoft.com/office/drawing/2014/main" val="20007"/>
                    </a:ext>
                  </a:extLst>
                </a:gridCol>
              </a:tblGrid>
              <a:tr h="1281159">
                <a:tc>
                  <a:txBody>
                    <a:bodyPr/>
                    <a:lstStyle/>
                    <a:p>
                      <a:pPr algn="ctr"/>
                      <a:r>
                        <a:rPr sz="1200" b="1"/>
                        <a:t>Disease</a:t>
                      </a:r>
                    </a:p>
                  </a:txBody>
                  <a:tcPr anchor="ctr"/>
                </a:tc>
                <a:tc>
                  <a:txBody>
                    <a:bodyPr/>
                    <a:lstStyle/>
                    <a:p>
                      <a:pPr algn="ctr"/>
                      <a:r>
                        <a:rPr sz="1200" b="1"/>
                        <a:t>n (pos)</a:t>
                      </a:r>
                    </a:p>
                  </a:txBody>
                  <a:tcPr anchor="ctr"/>
                </a:tc>
                <a:tc>
                  <a:txBody>
                    <a:bodyPr/>
                    <a:lstStyle/>
                    <a:p>
                      <a:pPr algn="ctr"/>
                      <a:r>
                        <a:rPr sz="1200" b="1"/>
                        <a:t>Fold AUC (Baseline)</a:t>
                      </a:r>
                    </a:p>
                  </a:txBody>
                  <a:tcPr anchor="ctr"/>
                </a:tc>
                <a:tc>
                  <a:txBody>
                    <a:bodyPr/>
                    <a:lstStyle/>
                    <a:p>
                      <a:pPr algn="ctr"/>
                      <a:r>
                        <a:rPr sz="1200" b="1"/>
                        <a:t>Fold AUC (+AEC)</a:t>
                      </a:r>
                    </a:p>
                  </a:txBody>
                  <a:tcPr anchor="ctr"/>
                </a:tc>
                <a:tc>
                  <a:txBody>
                    <a:bodyPr/>
                    <a:lstStyle/>
                    <a:p>
                      <a:pPr algn="ctr"/>
                      <a:r>
                        <a:rPr sz="1200" b="1"/>
                        <a:t>OOF AUC (Baseline)</a:t>
                      </a:r>
                    </a:p>
                  </a:txBody>
                  <a:tcPr anchor="ctr"/>
                </a:tc>
                <a:tc>
                  <a:txBody>
                    <a:bodyPr/>
                    <a:lstStyle/>
                    <a:p>
                      <a:pPr algn="ctr"/>
                      <a:r>
                        <a:rPr sz="1200" b="1"/>
                        <a:t>OOF AUC (+AEC)</a:t>
                      </a:r>
                    </a:p>
                  </a:txBody>
                  <a:tcPr anchor="ctr"/>
                </a:tc>
                <a:tc>
                  <a:txBody>
                    <a:bodyPr/>
                    <a:lstStyle/>
                    <a:p>
                      <a:pPr algn="ctr"/>
                      <a:r>
                        <a:rPr sz="1200" b="1"/>
                        <a:t>Δ(OOF AUC)</a:t>
                      </a:r>
                    </a:p>
                  </a:txBody>
                  <a:tcPr anchor="ctr"/>
                </a:tc>
                <a:tc>
                  <a:txBody>
                    <a:bodyPr/>
                    <a:lstStyle/>
                    <a:p>
                      <a:pPr algn="ctr"/>
                      <a:r>
                        <a:rPr sz="1200" b="1"/>
                        <a:t>DeLong p (OOF)</a:t>
                      </a:r>
                    </a:p>
                  </a:txBody>
                  <a:tcPr anchor="ctr"/>
                </a:tc>
                <a:extLst>
                  <a:ext uri="{0D108BD9-81ED-4DB2-BD59-A6C34878D82A}">
                    <a16:rowId xmlns:a16="http://schemas.microsoft.com/office/drawing/2014/main" val="10000"/>
                  </a:ext>
                </a:extLst>
              </a:tr>
              <a:tr h="1281159">
                <a:tc>
                  <a:txBody>
                    <a:bodyPr/>
                    <a:lstStyle/>
                    <a:p>
                      <a:pPr algn="ctr"/>
                      <a:r>
                        <a:rPr sz="1200" b="0"/>
                        <a:t>고혈압(HTN)</a:t>
                      </a:r>
                    </a:p>
                  </a:txBody>
                  <a:tcPr anchor="ctr"/>
                </a:tc>
                <a:tc>
                  <a:txBody>
                    <a:bodyPr/>
                    <a:lstStyle/>
                    <a:p>
                      <a:pPr algn="ctr"/>
                      <a:r>
                        <a:rPr sz="1200" b="0"/>
                        <a:t>386</a:t>
                      </a:r>
                    </a:p>
                  </a:txBody>
                  <a:tcPr anchor="ctr"/>
                </a:tc>
                <a:tc>
                  <a:txBody>
                    <a:bodyPr/>
                    <a:lstStyle/>
                    <a:p>
                      <a:pPr algn="ctr"/>
                      <a:r>
                        <a:rPr sz="1200" b="0"/>
                        <a:t>0.796 ± 0.018</a:t>
                      </a:r>
                    </a:p>
                  </a:txBody>
                  <a:tcPr anchor="ctr"/>
                </a:tc>
                <a:tc>
                  <a:txBody>
                    <a:bodyPr/>
                    <a:lstStyle/>
                    <a:p>
                      <a:pPr algn="ctr"/>
                      <a:r>
                        <a:rPr sz="1200" b="0"/>
                        <a:t>0.805 ± 0.028</a:t>
                      </a:r>
                    </a:p>
                  </a:txBody>
                  <a:tcPr anchor="ctr"/>
                </a:tc>
                <a:tc>
                  <a:txBody>
                    <a:bodyPr/>
                    <a:lstStyle/>
                    <a:p>
                      <a:pPr algn="ctr"/>
                      <a:r>
                        <a:rPr sz="1200" b="0"/>
                        <a:t>0.795</a:t>
                      </a:r>
                    </a:p>
                  </a:txBody>
                  <a:tcPr anchor="ctr"/>
                </a:tc>
                <a:tc>
                  <a:txBody>
                    <a:bodyPr/>
                    <a:lstStyle/>
                    <a:p>
                      <a:pPr algn="ctr"/>
                      <a:r>
                        <a:rPr sz="1200" b="0"/>
                        <a:t>0.804</a:t>
                      </a:r>
                    </a:p>
                  </a:txBody>
                  <a:tcPr anchor="ctr"/>
                </a:tc>
                <a:tc>
                  <a:txBody>
                    <a:bodyPr/>
                    <a:lstStyle/>
                    <a:p>
                      <a:pPr algn="ctr"/>
                      <a:r>
                        <a:rPr sz="1200" b="0"/>
                        <a:t>+0.009</a:t>
                      </a:r>
                    </a:p>
                  </a:txBody>
                  <a:tcPr anchor="ctr"/>
                </a:tc>
                <a:tc>
                  <a:txBody>
                    <a:bodyPr/>
                    <a:lstStyle/>
                    <a:p>
                      <a:pPr algn="ctr"/>
                      <a:r>
                        <a:rPr sz="1200" b="0"/>
                        <a:t>0.050</a:t>
                      </a:r>
                    </a:p>
                  </a:txBody>
                  <a:tcPr anchor="ctr"/>
                </a:tc>
                <a:extLst>
                  <a:ext uri="{0D108BD9-81ED-4DB2-BD59-A6C34878D82A}">
                    <a16:rowId xmlns:a16="http://schemas.microsoft.com/office/drawing/2014/main" val="10001"/>
                  </a:ext>
                </a:extLst>
              </a:tr>
              <a:tr h="1281159">
                <a:tc>
                  <a:txBody>
                    <a:bodyPr/>
                    <a:lstStyle/>
                    <a:p>
                      <a:pPr algn="ctr"/>
                      <a:r>
                        <a:rPr sz="1200" b="0"/>
                        <a:t>당뇨병(DM)</a:t>
                      </a:r>
                    </a:p>
                  </a:txBody>
                  <a:tcPr anchor="ctr"/>
                </a:tc>
                <a:tc>
                  <a:txBody>
                    <a:bodyPr/>
                    <a:lstStyle/>
                    <a:p>
                      <a:pPr algn="ctr"/>
                      <a:r>
                        <a:rPr sz="1200" b="0"/>
                        <a:t>233</a:t>
                      </a:r>
                    </a:p>
                  </a:txBody>
                  <a:tcPr anchor="ctr"/>
                </a:tc>
                <a:tc>
                  <a:txBody>
                    <a:bodyPr/>
                    <a:lstStyle/>
                    <a:p>
                      <a:pPr algn="ctr"/>
                      <a:r>
                        <a:rPr sz="1200" b="0"/>
                        <a:t>0.712 ± 0.049</a:t>
                      </a:r>
                    </a:p>
                  </a:txBody>
                  <a:tcPr anchor="ctr"/>
                </a:tc>
                <a:tc>
                  <a:txBody>
                    <a:bodyPr/>
                    <a:lstStyle/>
                    <a:p>
                      <a:pPr algn="ctr"/>
                      <a:r>
                        <a:rPr sz="1200" b="0"/>
                        <a:t>0.732 ± 0.048</a:t>
                      </a:r>
                    </a:p>
                  </a:txBody>
                  <a:tcPr anchor="ctr"/>
                </a:tc>
                <a:tc>
                  <a:txBody>
                    <a:bodyPr/>
                    <a:lstStyle/>
                    <a:p>
                      <a:pPr algn="ctr"/>
                      <a:r>
                        <a:rPr sz="1200" b="0"/>
                        <a:t>0.714</a:t>
                      </a:r>
                    </a:p>
                  </a:txBody>
                  <a:tcPr anchor="ctr"/>
                </a:tc>
                <a:tc>
                  <a:txBody>
                    <a:bodyPr/>
                    <a:lstStyle/>
                    <a:p>
                      <a:pPr algn="ctr"/>
                      <a:r>
                        <a:rPr sz="1200" b="0"/>
                        <a:t>0.732</a:t>
                      </a:r>
                    </a:p>
                  </a:txBody>
                  <a:tcPr anchor="ctr"/>
                </a:tc>
                <a:tc>
                  <a:txBody>
                    <a:bodyPr/>
                    <a:lstStyle/>
                    <a:p>
                      <a:pPr algn="ctr"/>
                      <a:r>
                        <a:rPr sz="1200" b="0"/>
                        <a:t>+0.018</a:t>
                      </a:r>
                    </a:p>
                  </a:txBody>
                  <a:tcPr anchor="ctr"/>
                </a:tc>
                <a:tc>
                  <a:txBody>
                    <a:bodyPr/>
                    <a:lstStyle/>
                    <a:p>
                      <a:pPr algn="ctr"/>
                      <a:r>
                        <a:rPr sz="1200" b="0"/>
                        <a:t>0.069</a:t>
                      </a:r>
                    </a:p>
                  </a:txBody>
                  <a:tcPr anchor="ctr"/>
                </a:tc>
                <a:extLst>
                  <a:ext uri="{0D108BD9-81ED-4DB2-BD59-A6C34878D82A}">
                    <a16:rowId xmlns:a16="http://schemas.microsoft.com/office/drawing/2014/main" val="10002"/>
                  </a:ext>
                </a:extLst>
              </a:tr>
              <a:tr h="1281159">
                <a:tc>
                  <a:txBody>
                    <a:bodyPr/>
                    <a:lstStyle/>
                    <a:p>
                      <a:pPr algn="ctr"/>
                      <a:r>
                        <a:rPr sz="1200" b="0"/>
                        <a:t>만성신장질환(CKD)</a:t>
                      </a:r>
                    </a:p>
                  </a:txBody>
                  <a:tcPr anchor="ctr"/>
                </a:tc>
                <a:tc>
                  <a:txBody>
                    <a:bodyPr/>
                    <a:lstStyle/>
                    <a:p>
                      <a:pPr algn="ctr"/>
                      <a:r>
                        <a:rPr sz="1200" b="0"/>
                        <a:t>105</a:t>
                      </a:r>
                    </a:p>
                  </a:txBody>
                  <a:tcPr anchor="ctr"/>
                </a:tc>
                <a:tc>
                  <a:txBody>
                    <a:bodyPr/>
                    <a:lstStyle/>
                    <a:p>
                      <a:pPr algn="ctr"/>
                      <a:r>
                        <a:rPr sz="1200" b="0"/>
                        <a:t>0.770 ± 0.034</a:t>
                      </a:r>
                    </a:p>
                  </a:txBody>
                  <a:tcPr anchor="ctr"/>
                </a:tc>
                <a:tc>
                  <a:txBody>
                    <a:bodyPr/>
                    <a:lstStyle/>
                    <a:p>
                      <a:pPr algn="ctr"/>
                      <a:r>
                        <a:rPr sz="1200" b="0"/>
                        <a:t>0.754 ± 0.037</a:t>
                      </a:r>
                    </a:p>
                  </a:txBody>
                  <a:tcPr anchor="ctr"/>
                </a:tc>
                <a:tc>
                  <a:txBody>
                    <a:bodyPr/>
                    <a:lstStyle/>
                    <a:p>
                      <a:pPr algn="ctr"/>
                      <a:r>
                        <a:rPr sz="1200" b="0"/>
                        <a:t>0.769</a:t>
                      </a:r>
                    </a:p>
                  </a:txBody>
                  <a:tcPr anchor="ctr"/>
                </a:tc>
                <a:tc>
                  <a:txBody>
                    <a:bodyPr/>
                    <a:lstStyle/>
                    <a:p>
                      <a:pPr algn="ctr"/>
                      <a:r>
                        <a:rPr sz="1200" b="0"/>
                        <a:t>0.752</a:t>
                      </a:r>
                    </a:p>
                  </a:txBody>
                  <a:tcPr anchor="ctr"/>
                </a:tc>
                <a:tc>
                  <a:txBody>
                    <a:bodyPr/>
                    <a:lstStyle/>
                    <a:p>
                      <a:pPr algn="ctr"/>
                      <a:r>
                        <a:rPr sz="1200" b="0"/>
                        <a:t>-0.017</a:t>
                      </a:r>
                    </a:p>
                  </a:txBody>
                  <a:tcPr anchor="ctr"/>
                </a:tc>
                <a:tc>
                  <a:txBody>
                    <a:bodyPr/>
                    <a:lstStyle/>
                    <a:p>
                      <a:pPr algn="ctr"/>
                      <a:r>
                        <a:rPr sz="1200" b="0"/>
                        <a:t>0.273</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4B9BE-6ABB-4644-A858-A1BE01A7D227}">
  <we:reference id="wa200010725" version="1.0.0.1" store="ko-KR" storeType="OMEX"/>
  <we:alternateReferences>
    <we:reference id="WA200010725" version="1.0.0.1" store="WA200010725" storeType="OMEX"/>
  </we:alternateReferences>
  <we:properties>
    <we:property name="claude.fileId" value="&quot;b67ecc52-606c-4d9b-921c-389ac737e61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7247</TotalTime>
  <Words>3504</Words>
  <Application>Microsoft Office PowerPoint</Application>
  <PresentationFormat>와이드스크린</PresentationFormat>
  <Paragraphs>542</Paragraphs>
  <Slides>21</Slides>
  <Notes>11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21</vt:i4>
      </vt:variant>
    </vt:vector>
  </HeadingPairs>
  <TitlesOfParts>
    <vt:vector size="25" baseType="lpstr">
      <vt:lpstr>KoPub돋움체 Medium</vt:lpstr>
      <vt:lpstr>Arial</vt:lpstr>
      <vt:lpstr>KoPub돋움체 Bold</vt:lpstr>
      <vt:lpstr>Office 테마</vt:lpstr>
      <vt:lpstr>PowerPoint 프레젠테이션</vt:lpstr>
      <vt:lpstr>Background &amp; Objective</vt:lpstr>
      <vt:lpstr>Methods</vt:lpstr>
      <vt:lpstr>Table 1. Baseline Characteristics — Internal (Gangnam) vs External (Sinchon)</vt:lpstr>
      <vt:lpstr>Table 2. Performance — Baseline vs Best (+AEC+체성분), Internal &amp; External</vt:lpstr>
      <vt:lpstr>Figure 1. Clinic4 Baseline Odds Ratio (95% CI, Internal train+valid)</vt:lpstr>
      <vt:lpstr>Figure 2. FPCA Coefficient Inverse Transform — Slice-wise Logit Contribution (Dimension Recovery)</vt:lpstr>
      <vt:lpstr>Figure 3. Calibration Plot — Best (+AEC+체성분)</vt:lpstr>
      <vt:lpstr>Discussion — 체성분은 기여하지만 코호트 간 일관되지 않다</vt:lpstr>
      <vt:lpstr>Conclusion</vt:lpstr>
      <vt:lpstr>PowerPoint 프레젠테이션</vt:lpstr>
      <vt:lpstr>Supplementary</vt:lpstr>
      <vt:lpstr>Figure S1. Baseline 대비 확장모델 ΔAUC (Gangnam / Sinchon, 참고용 그래프)</vt:lpstr>
      <vt:lpstr>Table S1. 전체 확장모델 AUC 비교 (원본 유병률, * paired DeLong p&lt;0.05 vs Baseline)</vt:lpstr>
      <vt:lpstr>Table S2. Undersampling 전후 비교 (AUC는 대체로 유지, Youden cutoff)</vt:lpstr>
      <vt:lpstr>Table S3. AEC 변형 비교 - FPCA+ratio vs FPCA-only vs ratio-only (VIF 다중공선성 확인)</vt:lpstr>
      <vt:lpstr>Table S4. +AEC FPCA-only Coefficient (Internal, * p&lt;0.05, 보정 전)</vt:lpstr>
      <vt:lpstr>Table S5. Baseline 대비 확장모델 AUC (1:1 Balanced, * paired DeLong p&lt;0.05 vs Baseline)</vt:lpstr>
      <vt:lpstr>Table S6. Clinic4 Baseline Coefficients — Detail (Coefficient, SE, Odds Ratio, p-value)</vt:lpstr>
      <vt:lpstr>Table S7. Clinic4 Baseline Variance Inflation Factor (VIF) — Multicollinearity Check</vt:lpstr>
      <vt:lpstr>Table S8. Internal 5-fold Cross-Validation — Baseline vs +AEC(FPCA), Gangnam (하이퍼파라미터 고정, OOF 평가)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710</cp:revision>
  <dcterms:created xsi:type="dcterms:W3CDTF">2026-04-09T07:05:16Z</dcterms:created>
  <dcterms:modified xsi:type="dcterms:W3CDTF">2026-09-29T09:18:31Z</dcterms:modified>
</cp:coreProperties>
</file>