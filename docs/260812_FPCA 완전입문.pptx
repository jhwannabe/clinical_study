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FPCA(함수형 주성분분석) 개론 + 본 연구(AEC-128) 파이프라인 적용 현황 점검. 베이스 자료: FPCA_완전입문_1.html(로컬 학습자료, 16개 섹션 + 본 연구 적용 비교 섹션 포함). 이 pptx는 그 문서의 핵심 내용을 발표용으로 재구성한 것이며, 시각화는 시뮬레이션이 아니라 실제 gangnam(internal) 코호트 AEC-128 데이터로 생성했다.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구성: 이론(1~13) → 연구자가 자주 틀리는 지점 FAQ(14) → 본 연구 실제 구현이 이론과 어디서 같고 다른지 점검(15) → 결론(16). 15번이 이 발표의 핵심 목적이며, 나머지는 그 결론을 이해하기 위한 배경지식이다.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CGM·보행분석·EEG처럼 곡선 데이터의 대표 예시로 AEC-128을 든다. 오른쪽 그림은 실제 gangnam(internal) 코호트에서 무작위 40명의 원본 AEC-128 곡선과 전체 평균 곡선(n=1090)이다. 요약통계 한 개만 보면 '슬라이스 60~120 구간에서 사람마다 얼마나 다른가' 같은 형태 정보가 사라진다. 128개 슬라이스를 128개의 독립 변수로 취급해 회귀하면 (a) 표본 대비 변수가 많아 회귀행렬이 특이(singular)해지거나 (b) 인접 슬라이스 간 상관이 0.9 이상인 다중공선성이 생기고 (c) 슬라이스 순서 정보를 모델이 활용하지 못한다. FPCA는 곡선을 소수의 점수(2~4개)로 압축해 이 문제를 우회한다.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얼굴 사진 1만 장을 PCA하면 '얼굴 길이 성분', '코 크기 성분' 같은 eigenface가 나오듯, AEC 곡선을 FPCA하면 곡선의 eigenface, 즉 eigenfunction이 나온다는 것이 문서 2장의 비유다. 오른쪽은 실제 internal 코호트(n=1090, M=390/F=700)의 PC1·PC2 점수 산점도다. PC1은 84.3%, PC2는 10.5%의 분산을 설명한다(총 코호트 기준). PC2 축에서 여성이 상대적으로 위쪽에 몰려 있는 정성적 경향이 보이지만, 이 자체가 임상적으로 유의한 차이인지는 별도 검정이 필요하며 이 슬라이드만으로 결론 내릴 수 없다.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컴퓨터 안에서는 곡선도 결국 유한한 격자점 값이므로, 계산적으로는 그냥 큰 차원의 벡터 PCA다. 다른 점은 격자 간격 Δt를 곱해 적분을 근사한다는 것뿐이다(등간격이면 이는 상수배라 결과 해석에 영향이 없다 — 15번 슬라이드 참고). 아래 경고 박스는 원문서 3장의 핵심 메시지: FPCA를 쓰는 이유를 설명 못하면 dense PCA와 실질적으로 같다는 사실을 인정하는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기저전개는 x(t) ≈ Σ c_m B_m(t)로 곡선을 소수의 계수 벡터로 표현하는 것. 벌점항 λ∫[x''(t)]²dt가 구불거림을 억제한다. 본 연구는 9.3절의 '모든 사람 동일 격자·촘촘·잡음 작음 → 스무딩 없이도 방법 A 적용 가능' 조건에 해당해 스무딩 단계를 넣지 않는다. 다만 실제 AEC 측정잡음 수준을 정량적으로 확인한 적은 없다는 점은 15번 슬라이드에서 다시 짚는다.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오른쪽은 internal 코호트 전체(n=1090)로 계산한 실제 공분산 곡면 C(s,t) = XcᵀXc/(n-1)이다. 붉은 영역이 짙을수록 두 슬라이스 위치의 값이 함께 크게 움직인다는 뜻이다. 슬라이스 70~115 구간에서 짙은 사각형이 나타나는데, 이는 그 구간의 AEC 값 변동이 서로 강하게 연동되어 있다는 관찰이며 해부학적으로 어느 구조에 대응하는지는 방사선과 확인이 필요한 별개의 질문이다.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그림은 step1_aec_fpca.py가 실제로 생성한 fpca_component_curves_overview.png(총 코호트, best n=8 중 표시상한 4개)이다. 파란선=평균+1·SD·PC방향, 주황선=평균-1·SD·PC방향. PC1은 두 점선이 슬라이스 전 구간에서 위아래로 넓게 벌어져 '전체 수준'이 다른 사람을 구분한다. PC2는 슬라이스 약 60 지점에서 두 선이 교차하는데, 이는 그 지점을 기준으로 반대 방향으로 움직이는 대비(contrast) 패턴을 뜻한다 (9번 슬라이드 perturbation plot 해석표 참고).</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흔한 초보자 실수: φk(t) 곡선 자체를 보고 해석하려는 것. 부호는 수학적으로 임의(±φ 둘 다 동등한 해)이므로 부호 규칙을 명시하지 않으면 방향 해석이 불가능하다. 반드시 perturbation plot으로 '점수가 높은 사람 vs 낮은 사람의 곡선 모양'을 비교해서 읽어야 한다. 표의 마지막 행(위상 변동)은 15번 슬라이드의 registration 미확인 이슈와 직결된다.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점수 계산을 '블랙박스'로 두지 않기 위해 internal 코호트에서 평균곡선과 가장 많이 떨어진 환자 1명(pid 137)을 골라 PC1 점수를 직접 계산하는 과정을 3단계로 시각화했다. 이 환자는 편차가 거의 전 구간에서 양수이고 φ1도 전 구간 양수라, 곱은 항상 양수가 되어 점수가 크게 누적된다(2997.2, PC1 점수 분포에서 상위권 — 4번 슬라이드 산점도 참고). code로는 pca.transform(X)[i,0]과 ((X[i]-mean)*phi1).sum()이 정확히 같음을 직접 확인했다(2997.15 = 2997.15) — 이는 sklearn의 PCA.transform이 문서 9.1절의 '방법 A' 점수 공식과 등가임을 재확인해 준다(Δt=1이므로 9.1의 Δt 스케일링 생략이 무해하다는 15번 슬라이드 주장의 직접적 증거).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그래프는 step1_aec_fpca.py가 산출한 실제 fpca_component_search.png(총 코호트)다. 검은 선은 clinic4+FPCA 모델의 9개 체성분 지표 평균 internal OOF R², 보라 점선은 누적 분산설명비율. K를 6 이상으로 올려도 R²가 거의 오르지 않는 평탄 구간은, 원문서 8장이 경고하는 '검증 성능만으로 K를 고르면 과최적화 위험'과 '곡선이 진짜 복잡한 게 아니라 registration이 안 된 것일 수 있다'는 두 가지 가능성을 모두 열어둔다. 15번 슬라이드에서 본 연구의 K 선택 절차 자체를 다시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코호트에서 평균곡선과 가장 멀리 떨어진 환자 1명(9번-보조 슬라이드와 동일 인물, pid 137)의 실제 곡선을 K=1/2/8 성분으로 각각 복원해 겹쳐 그렸다. K=1(파랑 점선)은 완만한 하강 직선에 가까워 슬라이스 30~110 구간의 굴곡을 전혀 재현하지 못한다. K=2(초록 일점쇄선)는 큰 굴곡은 잡지만 위상이 다소 어긋난다. K=8(주황 점선, 본 연구 best_n)은 실제 곡선과 거의 겹쳐 육안으로 구분이 어렵다. 이 그림은 8장의 '스크리 플롯+복원 결과' 개념을 시뮬레이션이 아닌 실제 환자로 재현한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 A의 계산 순서: 중심화 → 공분산행렬(Xc^T Xc/(n-1)) → 고유분해 → (진짜 FPCA라면) 고유값에 Δt를 곱하고 고유벡터를 1/√Δt로 정규화. AEC-128은 등간격이라 Δt가 상수이므로 이 정규화를 생략해도 explained_variance_ratio_·회귀 R²에는 영향이 없다(15번 슬라이드에서 재확인).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경고는 이번 발표에서 가장 중요한 슬라이드 중 하나다. 본 연구의 select_best_fpca_n()이 한때 정확히 이 패턴(전체 데이터로 FPCA 먼저 fit)을 따르고 있었으나(19번 슬라이드 참고), 2026-08-12에 fold별 재fit으로 수정 완료했다. y(라벨)를 쓰지 않는 비지도 추정이라 supervised leakage보다는 약하고, 재계산 결과 실제 수치 영향도 작았다(19번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8개 함정 중 1번(registration)이 가장 중요하다고 원문서가 명시한다. 나머지는 원문서 11.2절 표를 그대로 축약. 본 연구 관점에서는 1번(registration 미확인)과 6번(2단계 추정 불확실성 — FPCA 점수를 확정값처럼 다운스트림 회귀에 그대로 투입)이 특히 관련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7항목 중 ⑦이 12번 슬라이드의 leakage 경고와 직결된다. select_best_fpca_n()을 fold 내부 재fit으로 수정 완료했으므로(19번 슬라이드 참고), 본 연구 문서에는 이제 '내부 전체 fit' 대신 'fold별 재fit' 방식을 그대로 적으면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원문서 15장(총 10문항) 중 15번 슬라이드(본 연구 적용 현황)와 직결되는 4개만 선별했다. 특히 3번째 질문(leakage)과 1번째 질문(registration)이 다음 슬라이드에서 본 연구 사례로 그대로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베이스 문서(FPCA_완전입문_1.html) 16절 전체 요약. leakage는 2026-08-12에 수정 완료되었고, 다음 두 슬라이드에서 그 수정 내역과 여전히 남은 불일치 지점(K 선택 기준)·미확인 지점(registration)을 각각 다룬다.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지적한 문제는 2026-08-12에 실제로 수정했다. 12번 슬라이드에서 다룬 일반 원칙(전체 데이터로 FPCA 먼저 하고 교차검증하면 leakage)이 본 연구 코드 4개 파일 모두에 동일하게 있었고, PCA fit을 fold의 train 구간으로 옮기는 방식으로 정정했다. 다만 y(라벨)를 쓰지 않는 비지도 추정인 데다 표본이 커서(n=700+) PC 추정이 fold 크기에 덜 민감했던 것으로 보이며, 실제 재계산 결과 internal OOF R²·AUC 대부분이 소수점 3자리 수준에서만 바뀌었다 (SAT 절대값의 외부검증 방향이 −에서 +로 바뀐 것이 가장 큰 실질 변화였다). external 동결검증 수치는 원래부터 leakage와 무관해 영향이 없다.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FPCA_완전입문_1.html 16.4절 + 그림8(실측 예비 점검) 반영. 실제 최댓값 위치 히스토그램에서 절반 이상(약 53%)이 슬라이스 1~20에 몰려 있어 어느 정도 정렬된 경향은 있으나, 나머지는 128 전 구간에 걸쳐 넓게 흩어져 있다(SD 34). 이 흩어짐 자체가 registration 미비의 증거는 아니다 — 환자마다 실제 해부학적 위치가 다양할 수 있기 때문이다. 다만 이 정도로 넓게 퍼진 분포는 완전히 안심할 근거도 못 되므로 '확인 필요' 판정은 유지한다. 진짜 검증은 랜드마크 기반 정렬 여부 확인 등 별도 분석이 필요하며 이번 자료 범위 밖이다.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마무리. leakage 국소 수정은 2026-08-12에 완료해 결과지(results pptx) 수치·이미지까지 재산출·반영했다. 남은 우선순위는 (1) best_n 선택 기준을 R² 단독 argmax에서 CPV·해석 가능성 병기로 보완, (2) registration 확인 여부 조사, 순서로 제안한다.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515600" cy="1188720"/>
          </a:xfrm>
          <a:prstGeom prst="rect">
            <a:avLst/>
          </a:prstGeom>
          <a:noFill/>
        </p:spPr>
        <p:txBody>
          <a:bodyPr wrap="none">
            <a:spAutoFit/>
          </a:bodyPr>
          <a:lstStyle/>
          <a:p>
            <a:r>
              <a:rPr sz="4400" b="1">
                <a:solidFill>
                  <a:srgbClr val="FFFFFF"/>
                </a:solidFill>
                <a:latin typeface="KoPub돋움체 Bold"/>
              </a:rPr>
              <a:t>FPCA 완전입문</a:t>
            </a:r>
          </a:p>
        </p:txBody>
      </p:sp>
      <p:sp>
        <p:nvSpPr>
          <p:cNvPr id="4" name="TextBox 3"/>
          <p:cNvSpPr txBox="1"/>
          <p:nvPr/>
        </p:nvSpPr>
        <p:spPr>
          <a:xfrm>
            <a:off x="640080" y="3063240"/>
            <a:ext cx="10515600" cy="548640"/>
          </a:xfrm>
          <a:prstGeom prst="rect">
            <a:avLst/>
          </a:prstGeom>
          <a:noFill/>
        </p:spPr>
        <p:txBody>
          <a:bodyPr wrap="none">
            <a:spAutoFit/>
          </a:bodyPr>
          <a:lstStyle/>
          <a:p>
            <a:r>
              <a:rPr sz="1800">
                <a:solidFill>
                  <a:srgbClr val="C9D4E6"/>
                </a:solidFill>
                <a:latin typeface="KoPub돋움체 Medium"/>
              </a:rPr>
              <a:t>Functional Principal Component Analysis — AEC-128 곡선 분석 적용</a:t>
            </a:r>
          </a:p>
        </p:txBody>
      </p:sp>
      <p:sp>
        <p:nvSpPr>
          <p:cNvPr id="5" name="TextBox 4"/>
          <p:cNvSpPr txBox="1"/>
          <p:nvPr/>
        </p:nvSpPr>
        <p:spPr>
          <a:xfrm>
            <a:off x="640080" y="3977639"/>
            <a:ext cx="7315200" cy="365760"/>
          </a:xfrm>
          <a:prstGeom prst="rect">
            <a:avLst/>
          </a:prstGeom>
          <a:noFill/>
        </p:spPr>
        <p:txBody>
          <a:bodyPr wrap="none">
            <a:spAutoFit/>
          </a:bodyPr>
          <a:lstStyle/>
          <a:p>
            <a:r>
              <a:rPr sz="1600">
                <a:solidFill>
                  <a:srgbClr val="FFFFFF"/>
                </a:solidFill>
                <a:latin typeface="KoPub돋움체 Medium"/>
              </a:rPr>
              <a:t>2026. 08. 12</a:t>
            </a:r>
          </a:p>
        </p:txBody>
      </p:sp>
      <p:sp>
        <p:nvSpPr>
          <p:cNvPr id="6" name="TextBox 5"/>
          <p:cNvSpPr txBox="1"/>
          <p:nvPr/>
        </p:nvSpPr>
        <p:spPr>
          <a:xfrm>
            <a:off x="640080" y="4343400"/>
            <a:ext cx="7315200" cy="822960"/>
          </a:xfrm>
          <a:prstGeom prst="rect">
            <a:avLst/>
          </a:prstGeom>
          <a:noFill/>
        </p:spPr>
        <p:txBody>
          <a:bodyPr wrap="square">
            <a:spAutoFit/>
          </a:bodyPr>
          <a:lstStyle/>
          <a:p>
            <a:r>
              <a:rPr sz="1400">
                <a:solidFill>
                  <a:srgbClr val="FFFFFF"/>
                </a:solidFill>
                <a:latin typeface="KoPub돋움체 Medium"/>
              </a:rPr>
              <a:t>Department of Medical Device Engineering &amp; Management</a:t>
            </a:r>
          </a:p>
          <a:p>
            <a:r>
              <a:rPr sz="1400">
                <a:solidFill>
                  <a:srgbClr val="FFFFFF"/>
                </a:solidFill>
                <a:latin typeface="KoPub돋움체 Medium"/>
              </a:rPr>
              <a:t>Gangnam Severance Hospital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2</a:t>
            </a:r>
          </a:p>
        </p:txBody>
      </p:sp>
      <p:sp>
        <p:nvSpPr>
          <p:cNvPr id="3" name="TextBox 2"/>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목차</a:t>
            </a:r>
          </a:p>
        </p:txBody>
      </p:sp>
      <p:sp>
        <p:nvSpPr>
          <p:cNvPr id="4" name="Rectangle 3"/>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5486400" cy="5029200"/>
          </a:xfrm>
          <a:prstGeom prst="rect">
            <a:avLst/>
          </a:prstGeom>
          <a:noFill/>
        </p:spPr>
        <p:txBody>
          <a:bodyPr wrap="square">
            <a:spAutoFit/>
          </a:bodyPr>
          <a:lstStyle/>
          <a:p>
            <a:pPr indent="0" marL="0">
              <a:spcAft>
                <a:spcPts val="1000"/>
              </a:spcAft>
            </a:pPr>
            <a:r>
              <a:rPr sz="1800" b="0">
                <a:solidFill>
                  <a:srgbClr val="1A1A1A"/>
                </a:solidFill>
                <a:latin typeface="KoPub돋움체 Medium"/>
              </a:rPr>
              <a:t>▪ 1. 왜 필요한가 — 곡선 데이터라는 문제</a:t>
            </a:r>
          </a:p>
          <a:p>
            <a:pPr indent="0" marL="0">
              <a:spcAft>
                <a:spcPts val="1000"/>
              </a:spcAft>
            </a:pPr>
            <a:r>
              <a:rPr sz="1800" b="0">
                <a:solidFill>
                  <a:srgbClr val="1A1A1A"/>
                </a:solidFill>
                <a:latin typeface="KoPub돋움체 Medium"/>
              </a:rPr>
              <a:t>▪ 2. PCA 3분 복습 + 실제 데이터로 보는 FPCA 점수</a:t>
            </a:r>
          </a:p>
          <a:p>
            <a:pPr indent="0" marL="0">
              <a:spcAft>
                <a:spcPts val="1000"/>
              </a:spcAft>
            </a:pPr>
            <a:r>
              <a:rPr sz="1800" b="0">
                <a:solidFill>
                  <a:srgbClr val="1A1A1A"/>
                </a:solidFill>
                <a:latin typeface="KoPub돋움체 Medium"/>
              </a:rPr>
              <a:t>▪ 3. 벡터에서 함수로 — 딱 3가지만 바뀐다</a:t>
            </a:r>
          </a:p>
          <a:p>
            <a:pPr indent="0" marL="0">
              <a:spcAft>
                <a:spcPts val="1000"/>
              </a:spcAft>
            </a:pPr>
            <a:r>
              <a:rPr sz="1800" b="0">
                <a:solidFill>
                  <a:srgbClr val="1A1A1A"/>
                </a:solidFill>
                <a:latin typeface="KoPub돋움체 Medium"/>
              </a:rPr>
              <a:t>▪ 4. 1단계: 이산 측정값을 함수로 (스무딩)</a:t>
            </a:r>
          </a:p>
          <a:p>
            <a:pPr indent="0" marL="0">
              <a:spcAft>
                <a:spcPts val="1000"/>
              </a:spcAft>
            </a:pPr>
            <a:r>
              <a:rPr sz="1800" b="0">
                <a:solidFill>
                  <a:srgbClr val="1A1A1A"/>
                </a:solidFill>
                <a:latin typeface="KoPub돋움체 Medium"/>
              </a:rPr>
              <a:t>▪ 5. 2단계: 평균함수 · 공분산함수</a:t>
            </a:r>
          </a:p>
          <a:p>
            <a:pPr indent="0" marL="0">
              <a:spcAft>
                <a:spcPts val="1000"/>
              </a:spcAft>
            </a:pPr>
            <a:r>
              <a:rPr sz="1800" b="0">
                <a:solidFill>
                  <a:srgbClr val="1A1A1A"/>
                </a:solidFill>
                <a:latin typeface="KoPub돋움체 Medium"/>
              </a:rPr>
              <a:t>▪ 6. 3단계: 고유함수 · Karhunen–Loève 전개</a:t>
            </a:r>
          </a:p>
          <a:p>
            <a:pPr indent="0" marL="0">
              <a:spcAft>
                <a:spcPts val="1000"/>
              </a:spcAft>
            </a:pPr>
            <a:r>
              <a:rPr sz="1800" b="0">
                <a:solidFill>
                  <a:srgbClr val="1A1A1A"/>
                </a:solidFill>
                <a:latin typeface="KoPub돋움체 Medium"/>
              </a:rPr>
              <a:t>▪ 7. 4단계: 주성분 점수와 해석</a:t>
            </a:r>
          </a:p>
          <a:p>
            <a:pPr indent="0" marL="0">
              <a:spcAft>
                <a:spcPts val="1000"/>
              </a:spcAft>
            </a:pPr>
            <a:r>
              <a:rPr sz="1800" b="0">
                <a:solidFill>
                  <a:srgbClr val="1A1A1A"/>
                </a:solidFill>
                <a:latin typeface="KoPub돋움체 Medium"/>
              </a:rPr>
              <a:t>▪ 8. 성분 개수 K는 어떻게 정하나</a:t>
            </a:r>
          </a:p>
        </p:txBody>
      </p:sp>
      <p:sp>
        <p:nvSpPr>
          <p:cNvPr id="6" name="TextBox 5"/>
          <p:cNvSpPr txBox="1"/>
          <p:nvPr/>
        </p:nvSpPr>
        <p:spPr>
          <a:xfrm>
            <a:off x="6309360" y="1051560"/>
            <a:ext cx="5486400" cy="5029200"/>
          </a:xfrm>
          <a:prstGeom prst="rect">
            <a:avLst/>
          </a:prstGeom>
          <a:noFill/>
        </p:spPr>
        <p:txBody>
          <a:bodyPr wrap="square">
            <a:spAutoFit/>
          </a:bodyPr>
          <a:lstStyle/>
          <a:p>
            <a:pPr indent="0" marL="0">
              <a:spcAft>
                <a:spcPts val="1000"/>
              </a:spcAft>
            </a:pPr>
            <a:r>
              <a:rPr sz="1800" b="0">
                <a:solidFill>
                  <a:srgbClr val="1A1A1A"/>
                </a:solidFill>
                <a:latin typeface="KoPub돋움체 Medium"/>
              </a:rPr>
              <a:t>▪ 9. 계산 알고리즘 3종 (dense / basis / PACE)</a:t>
            </a:r>
          </a:p>
          <a:p>
            <a:pPr indent="0" marL="0">
              <a:spcAft>
                <a:spcPts val="1000"/>
              </a:spcAft>
            </a:pPr>
            <a:r>
              <a:rPr sz="1800" b="0">
                <a:solidFill>
                  <a:srgbClr val="1A1A1A"/>
                </a:solidFill>
                <a:latin typeface="KoPub돋움체 Medium"/>
              </a:rPr>
              <a:t>▪ 10. 파이썬 구현 &amp; data leakage 주의</a:t>
            </a:r>
          </a:p>
          <a:p>
            <a:pPr indent="0" marL="0">
              <a:spcAft>
                <a:spcPts val="1000"/>
              </a:spcAft>
            </a:pPr>
            <a:r>
              <a:rPr sz="1800" b="0">
                <a:solidFill>
                  <a:srgbClr val="1A1A1A"/>
                </a:solidFill>
                <a:latin typeface="KoPub돋움체 Medium"/>
              </a:rPr>
              <a:t>▪ 11. 실전 함정 체크리스트</a:t>
            </a:r>
          </a:p>
          <a:p>
            <a:pPr indent="0" marL="0">
              <a:spcAft>
                <a:spcPts val="1000"/>
              </a:spcAft>
            </a:pPr>
            <a:r>
              <a:rPr sz="1800" b="0">
                <a:solidFill>
                  <a:srgbClr val="1A1A1A"/>
                </a:solidFill>
                <a:latin typeface="KoPub돋움체 Medium"/>
              </a:rPr>
              <a:t>▪ 12–13. 다음 단계 &amp; 논문·발표 보고 항목</a:t>
            </a:r>
          </a:p>
          <a:p>
            <a:pPr indent="0" marL="0">
              <a:spcAft>
                <a:spcPts val="1000"/>
              </a:spcAft>
            </a:pPr>
            <a:r>
              <a:rPr sz="1800" b="0">
                <a:solidFill>
                  <a:srgbClr val="1A1A1A"/>
                </a:solidFill>
                <a:latin typeface="KoPub돋움체 Medium"/>
              </a:rPr>
              <a:t>▪ 14. 자주 묻는 질문 Best 4</a:t>
            </a:r>
          </a:p>
          <a:p>
            <a:pPr indent="0" marL="0">
              <a:spcAft>
                <a:spcPts val="1000"/>
              </a:spcAft>
            </a:pPr>
            <a:r>
              <a:rPr sz="1800" b="0">
                <a:solidFill>
                  <a:srgbClr val="1A1A1A"/>
                </a:solidFill>
                <a:latin typeface="KoPub돋움체 Medium"/>
              </a:rPr>
              <a:t>▪ 15. 본 연구(AEC-128) 적용 현황 점검</a:t>
            </a:r>
          </a:p>
          <a:p>
            <a:pPr indent="0" marL="0">
              <a:spcAft>
                <a:spcPts val="1000"/>
              </a:spcAft>
            </a:pPr>
            <a:r>
              <a:rPr sz="1800" b="0">
                <a:solidFill>
                  <a:srgbClr val="1A1A1A"/>
                </a:solidFill>
                <a:latin typeface="KoPub돋움체 Medium"/>
              </a:rPr>
              <a:t>▪ 16. Take-away 요약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3</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 도입</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왜 필요한가 — 곡선 데이터라는 문제</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5120640" cy="4937760"/>
          </a:xfrm>
          <a:prstGeom prst="rect">
            <a:avLst/>
          </a:prstGeom>
          <a:noFill/>
        </p:spPr>
        <p:txBody>
          <a:bodyPr wrap="square">
            <a:spAutoFit/>
          </a:bodyPr>
          <a:lstStyle/>
          <a:p>
            <a:pPr indent="0" marL="0">
              <a:spcAft>
                <a:spcPts val="1000"/>
              </a:spcAft>
            </a:pPr>
            <a:r>
              <a:rPr sz="1800" b="1">
                <a:solidFill>
                  <a:srgbClr val="1F3864"/>
                </a:solidFill>
                <a:latin typeface="KoPub돋움체 Bold"/>
              </a:rPr>
              <a:t>▪ 관측 단위 1개 = 숫자 몇 개가 아니라 곡선 하나</a:t>
            </a:r>
          </a:p>
          <a:p>
            <a:pPr indent="0" marL="256032">
              <a:spcAft>
                <a:spcPts val="1000"/>
              </a:spcAft>
            </a:pPr>
            <a:r>
              <a:rPr sz="1600" b="0">
                <a:solidFill>
                  <a:srgbClr val="1A1A1A"/>
                </a:solidFill>
                <a:latin typeface="KoPub돋움체 Medium"/>
              </a:rPr>
              <a:t>– 요약통계(평균·AUC)만 보면 형태(shape) 정보가 사라진다</a:t>
            </a:r>
          </a:p>
          <a:p>
            <a:pPr indent="0" marL="0">
              <a:spcAft>
                <a:spcPts val="1000"/>
              </a:spcAft>
            </a:pPr>
            <a:r>
              <a:rPr sz="1800" b="1">
                <a:solidFill>
                  <a:srgbClr val="1F3864"/>
                </a:solidFill>
                <a:latin typeface="KoPub돋움체 Bold"/>
              </a:rPr>
              <a:t>▪ 시점마다 별도 변수로 취급해 분석하면 실패한다</a:t>
            </a:r>
          </a:p>
          <a:p>
            <a:pPr indent="0" marL="256032">
              <a:spcAft>
                <a:spcPts val="1000"/>
              </a:spcAft>
            </a:pPr>
            <a:r>
              <a:rPr sz="1600" b="0">
                <a:solidFill>
                  <a:srgbClr val="1A1A1A"/>
                </a:solidFill>
                <a:latin typeface="KoPub돋움체 Medium"/>
              </a:rPr>
              <a:t>– p ≫ n · 다중공선성 · 시점 순서 정보 무시</a:t>
            </a:r>
          </a:p>
          <a:p>
            <a:pPr indent="0" marL="0">
              <a:spcAft>
                <a:spcPts val="1000"/>
              </a:spcAft>
            </a:pPr>
            <a:r>
              <a:rPr sz="1800" b="1">
                <a:solidFill>
                  <a:srgbClr val="C55A11"/>
                </a:solidFill>
                <a:latin typeface="KoPub돋움체 Bold"/>
              </a:rPr>
              <a:t>▪ AEC-128: 환자 1명 = 128슬라이스 곡선 1개</a:t>
            </a:r>
          </a:p>
        </p:txBody>
      </p:sp>
      <p:pic>
        <p:nvPicPr>
          <p:cNvPr id="7" name="Picture 6" descr="raw_curves_overview.png"/>
          <p:cNvPicPr>
            <a:picLocks noChangeAspect="1"/>
          </p:cNvPicPr>
          <p:nvPr/>
        </p:nvPicPr>
        <p:blipFill>
          <a:blip r:embed="rId2"/>
          <a:stretch>
            <a:fillRect/>
          </a:stretch>
        </p:blipFill>
        <p:spPr>
          <a:xfrm>
            <a:off x="5760720" y="1672296"/>
            <a:ext cx="5943600" cy="369628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4</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2. 기초</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PCA 3분 복습 — 실제 FPCA 점수로 보기</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5120640" cy="4937760"/>
          </a:xfrm>
          <a:prstGeom prst="rect">
            <a:avLst/>
          </a:prstGeom>
          <a:noFill/>
        </p:spPr>
        <p:txBody>
          <a:bodyPr wrap="square">
            <a:spAutoFit/>
          </a:bodyPr>
          <a:lstStyle/>
          <a:p>
            <a:pPr indent="0" marL="0">
              <a:spcAft>
                <a:spcPts val="1000"/>
              </a:spcAft>
            </a:pPr>
            <a:r>
              <a:rPr sz="1800" b="1">
                <a:solidFill>
                  <a:srgbClr val="1F3864"/>
                </a:solidFill>
                <a:latin typeface="KoPub돋움체 Bold"/>
              </a:rPr>
              <a:t>▪ PCA 3단계: 중심화 → 공분산행렬 → 고유분해</a:t>
            </a:r>
          </a:p>
          <a:p>
            <a:pPr indent="0" marL="256032">
              <a:spcAft>
                <a:spcPts val="1000"/>
              </a:spcAft>
            </a:pPr>
            <a:r>
              <a:rPr sz="1600" b="0">
                <a:solidFill>
                  <a:srgbClr val="1A1A1A"/>
                </a:solidFill>
                <a:latin typeface="KoPub돋움체 Medium"/>
              </a:rPr>
              <a:t>– 고유벡터 = 주성분 방향, 고유값 = 그 방향의 분산</a:t>
            </a:r>
          </a:p>
          <a:p>
            <a:pPr indent="0" marL="256032">
              <a:spcAft>
                <a:spcPts val="1000"/>
              </a:spcAft>
            </a:pPr>
            <a:r>
              <a:rPr sz="1600" b="0">
                <a:solidFill>
                  <a:srgbClr val="1A1A1A"/>
                </a:solidFill>
                <a:latin typeface="KoPub돋움체 Medium"/>
              </a:rPr>
              <a:t>– x ≈ x̄ + ξ1v1 + ξ2v2 + …  (ξ = 주성분 점수)</a:t>
            </a:r>
          </a:p>
          <a:p>
            <a:pPr indent="0" marL="0">
              <a:spcAft>
                <a:spcPts val="1000"/>
              </a:spcAft>
            </a:pPr>
            <a:r>
              <a:rPr sz="1800" b="1">
                <a:solidFill>
                  <a:srgbClr val="C55A11"/>
                </a:solidFill>
                <a:latin typeface="KoPub돋움체 Bold"/>
              </a:rPr>
              <a:t>▪ FPCA는 벡터 대신 곡선, 합(Σ) 대신 적분(∫)</a:t>
            </a:r>
          </a:p>
          <a:p>
            <a:pPr indent="0" marL="256032">
              <a:spcAft>
                <a:spcPts val="1000"/>
              </a:spcAft>
            </a:pPr>
            <a:r>
              <a:rPr sz="1600" b="0">
                <a:solidFill>
                  <a:srgbClr val="1A1A1A"/>
                </a:solidFill>
                <a:latin typeface="KoPub돋움체 Medium"/>
              </a:rPr>
              <a:t>– 고유벡터(v) → 고유함수(φ) — 나머지는 동일한 논리</a:t>
            </a:r>
          </a:p>
        </p:txBody>
      </p:sp>
      <p:pic>
        <p:nvPicPr>
          <p:cNvPr id="7" name="Picture 6" descr="fpca_score_scatter.png"/>
          <p:cNvPicPr>
            <a:picLocks noChangeAspect="1"/>
          </p:cNvPicPr>
          <p:nvPr/>
        </p:nvPicPr>
        <p:blipFill>
          <a:blip r:embed="rId2"/>
          <a:stretch>
            <a:fillRect/>
          </a:stretch>
        </p:blipFill>
        <p:spPr>
          <a:xfrm>
            <a:off x="5806608" y="1051560"/>
            <a:ext cx="5851823"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5</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3. 기초</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벡터에서 함수로 — 딱 3가지만 바뀐다</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11480" y="1051560"/>
          <a:ext cx="11338559" cy="2880360"/>
        </p:xfrm>
        <a:graphic>
          <a:graphicData uri="http://schemas.openxmlformats.org/drawingml/2006/table">
            <a:tbl>
              <a:tblPr firstRow="1" bandRow="1">
                <a:tableStyleId>{5C22544A-7EE6-4342-B048-85BDC9FD1C3A}</a:tableStyleId>
              </a:tblPr>
              <a:tblGrid>
                <a:gridCol w="2387065"/>
                <a:gridCol w="4475747"/>
                <a:gridCol w="4475747"/>
              </a:tblGrid>
              <a:tr h="480060">
                <a:tc>
                  <a:txBody>
                    <a:bodyPr/>
                    <a:lstStyle/>
                    <a:p>
                      <a:pPr algn="l"/>
                      <a:r>
                        <a:rPr sz="1500" b="1">
                          <a:solidFill>
                            <a:srgbClr val="FFFFFF"/>
                          </a:solidFill>
                          <a:latin typeface="KoPub돋움체 Bold"/>
                        </a:rPr>
                        <a:t>개념</a:t>
                      </a:r>
                    </a:p>
                  </a:txBody>
                  <a:tcPr anchor="ctr" marT="38100" marB="38100">
                    <a:solidFill>
                      <a:srgbClr val="1F3864"/>
                    </a:solidFill>
                  </a:tcPr>
                </a:tc>
                <a:tc>
                  <a:txBody>
                    <a:bodyPr/>
                    <a:lstStyle/>
                    <a:p>
                      <a:pPr algn="l"/>
                      <a:r>
                        <a:rPr sz="1500" b="1">
                          <a:solidFill>
                            <a:srgbClr val="FFFFFF"/>
                          </a:solidFill>
                          <a:latin typeface="KoPub돋움체 Bold"/>
                        </a:rPr>
                        <a:t>벡터 세계 (p차원)</a:t>
                      </a:r>
                    </a:p>
                  </a:txBody>
                  <a:tcPr anchor="ctr" marT="38100" marB="38100">
                    <a:solidFill>
                      <a:srgbClr val="1F3864"/>
                    </a:solidFill>
                  </a:tcPr>
                </a:tc>
                <a:tc>
                  <a:txBody>
                    <a:bodyPr/>
                    <a:lstStyle/>
                    <a:p>
                      <a:pPr algn="l"/>
                      <a:r>
                        <a:rPr sz="1500" b="1">
                          <a:solidFill>
                            <a:srgbClr val="FFFFFF"/>
                          </a:solidFill>
                          <a:latin typeface="KoPub돋움체 Bold"/>
                        </a:rPr>
                        <a:t>함수 세계 (무한차원)</a:t>
                      </a:r>
                    </a:p>
                  </a:txBody>
                  <a:tcPr anchor="ctr" marT="38100" marB="38100">
                    <a:solidFill>
                      <a:srgbClr val="1F3864"/>
                    </a:solidFill>
                  </a:tcPr>
                </a:tc>
              </a:tr>
              <a:tr h="480060">
                <a:tc>
                  <a:txBody>
                    <a:bodyPr/>
                    <a:lstStyle/>
                    <a:p>
                      <a:r>
                        <a:rPr sz="1500">
                          <a:solidFill>
                            <a:srgbClr val="1A1A1A"/>
                          </a:solidFill>
                          <a:latin typeface="KoPub돋움체 Medium"/>
                        </a:rPr>
                        <a:t>데이터 1개</a:t>
                      </a:r>
                    </a:p>
                  </a:txBody>
                  <a:tcPr anchor="ctr" marT="25400" marB="25400">
                    <a:solidFill>
                      <a:srgbClr val="FFFFFF"/>
                    </a:solidFill>
                  </a:tcPr>
                </a:tc>
                <a:tc>
                  <a:txBody>
                    <a:bodyPr/>
                    <a:lstStyle/>
                    <a:p>
                      <a:r>
                        <a:rPr sz="1500">
                          <a:solidFill>
                            <a:srgbClr val="1A1A1A"/>
                          </a:solidFill>
                          <a:latin typeface="KoPub돋움체 Medium"/>
                        </a:rPr>
                        <a:t>x = (x1, …, xp)</a:t>
                      </a:r>
                    </a:p>
                  </a:txBody>
                  <a:tcPr anchor="ctr" marT="25400" marB="25400">
                    <a:solidFill>
                      <a:srgbClr val="FFFFFF"/>
                    </a:solidFill>
                  </a:tcPr>
                </a:tc>
                <a:tc>
                  <a:txBody>
                    <a:bodyPr/>
                    <a:lstStyle/>
                    <a:p>
                      <a:r>
                        <a:rPr sz="1500">
                          <a:solidFill>
                            <a:srgbClr val="1A1A1A"/>
                          </a:solidFill>
                          <a:latin typeface="KoPub돋움체 Medium"/>
                        </a:rPr>
                        <a:t>x(t),  t ∈ [a,b]</a:t>
                      </a:r>
                    </a:p>
                  </a:txBody>
                  <a:tcPr anchor="ctr" marT="25400" marB="25400">
                    <a:solidFill>
                      <a:srgbClr val="FFFFFF"/>
                    </a:solidFill>
                  </a:tcPr>
                </a:tc>
              </a:tr>
              <a:tr h="480060">
                <a:tc>
                  <a:txBody>
                    <a:bodyPr/>
                    <a:lstStyle/>
                    <a:p>
                      <a:r>
                        <a:rPr sz="1500">
                          <a:solidFill>
                            <a:srgbClr val="1A1A1A"/>
                          </a:solidFill>
                          <a:latin typeface="KoPub돋움체 Medium"/>
                        </a:rPr>
                        <a:t>더하기</a:t>
                      </a:r>
                    </a:p>
                  </a:txBody>
                  <a:tcPr anchor="ctr" marT="25400" marB="25400">
                    <a:solidFill>
                      <a:srgbClr val="FAFBFD"/>
                    </a:solidFill>
                  </a:tcPr>
                </a:tc>
                <a:tc>
                  <a:txBody>
                    <a:bodyPr/>
                    <a:lstStyle/>
                    <a:p>
                      <a:r>
                        <a:rPr sz="1500">
                          <a:solidFill>
                            <a:srgbClr val="1A1A1A"/>
                          </a:solidFill>
                          <a:latin typeface="KoPub돋움체 Medium"/>
                        </a:rPr>
                        <a:t>Σ (j=1..p)</a:t>
                      </a:r>
                    </a:p>
                  </a:txBody>
                  <a:tcPr anchor="ctr" marT="25400" marB="25400">
                    <a:solidFill>
                      <a:srgbClr val="FAFBFD"/>
                    </a:solidFill>
                  </a:tcPr>
                </a:tc>
                <a:tc>
                  <a:txBody>
                    <a:bodyPr/>
                    <a:lstStyle/>
                    <a:p>
                      <a:r>
                        <a:rPr sz="1500">
                          <a:solidFill>
                            <a:srgbClr val="1A1A1A"/>
                          </a:solidFill>
                          <a:latin typeface="KoPub돋움체 Medium"/>
                        </a:rPr>
                        <a:t>∫ (a→b) dt</a:t>
                      </a:r>
                    </a:p>
                  </a:txBody>
                  <a:tcPr anchor="ctr" marT="25400" marB="25400">
                    <a:solidFill>
                      <a:srgbClr val="FAFBFD"/>
                    </a:solidFill>
                  </a:tcPr>
                </a:tc>
              </a:tr>
              <a:tr h="480060">
                <a:tc>
                  <a:txBody>
                    <a:bodyPr/>
                    <a:lstStyle/>
                    <a:p>
                      <a:r>
                        <a:rPr sz="1500">
                          <a:solidFill>
                            <a:srgbClr val="1A1A1A"/>
                          </a:solidFill>
                          <a:latin typeface="KoPub돋움체 Medium"/>
                        </a:rPr>
                        <a:t>내적</a:t>
                      </a:r>
                    </a:p>
                  </a:txBody>
                  <a:tcPr anchor="ctr" marT="25400" marB="25400">
                    <a:solidFill>
                      <a:srgbClr val="FFFFFF"/>
                    </a:solidFill>
                  </a:tcPr>
                </a:tc>
                <a:tc>
                  <a:txBody>
                    <a:bodyPr/>
                    <a:lstStyle/>
                    <a:p>
                      <a:r>
                        <a:rPr sz="1500">
                          <a:solidFill>
                            <a:srgbClr val="1A1A1A"/>
                          </a:solidFill>
                          <a:latin typeface="KoPub돋움체 Medium"/>
                        </a:rPr>
                        <a:t>xᵀy = Σ xj yj</a:t>
                      </a:r>
                    </a:p>
                  </a:txBody>
                  <a:tcPr anchor="ctr" marT="25400" marB="25400">
                    <a:solidFill>
                      <a:srgbClr val="FFFFFF"/>
                    </a:solidFill>
                  </a:tcPr>
                </a:tc>
                <a:tc>
                  <a:txBody>
                    <a:bodyPr/>
                    <a:lstStyle/>
                    <a:p>
                      <a:r>
                        <a:rPr sz="1500">
                          <a:solidFill>
                            <a:srgbClr val="1A1A1A"/>
                          </a:solidFill>
                          <a:latin typeface="KoPub돋움체 Medium"/>
                        </a:rPr>
                        <a:t>⟨x,y⟩ = ∫ x(t)y(t) dt</a:t>
                      </a:r>
                    </a:p>
                  </a:txBody>
                  <a:tcPr anchor="ctr" marT="25400" marB="25400">
                    <a:solidFill>
                      <a:srgbClr val="FFFFFF"/>
                    </a:solidFill>
                  </a:tcPr>
                </a:tc>
              </a:tr>
              <a:tr h="480060">
                <a:tc>
                  <a:txBody>
                    <a:bodyPr/>
                    <a:lstStyle/>
                    <a:p>
                      <a:r>
                        <a:rPr sz="1500">
                          <a:solidFill>
                            <a:srgbClr val="1A1A1A"/>
                          </a:solidFill>
                          <a:latin typeface="KoPub돋움체 Medium"/>
                        </a:rPr>
                        <a:t>공분산</a:t>
                      </a:r>
                    </a:p>
                  </a:txBody>
                  <a:tcPr anchor="ctr" marT="25400" marB="25400">
                    <a:solidFill>
                      <a:srgbClr val="FAFBFD"/>
                    </a:solidFill>
                  </a:tcPr>
                </a:tc>
                <a:tc>
                  <a:txBody>
                    <a:bodyPr/>
                    <a:lstStyle/>
                    <a:p>
                      <a:r>
                        <a:rPr sz="1500">
                          <a:solidFill>
                            <a:srgbClr val="1A1A1A"/>
                          </a:solidFill>
                          <a:latin typeface="KoPub돋움체 Medium"/>
                        </a:rPr>
                        <a:t>p×p 행렬 Cjk</a:t>
                      </a:r>
                    </a:p>
                  </a:txBody>
                  <a:tcPr anchor="ctr" marT="25400" marB="25400">
                    <a:solidFill>
                      <a:srgbClr val="FAFBFD"/>
                    </a:solidFill>
                  </a:tcPr>
                </a:tc>
                <a:tc>
                  <a:txBody>
                    <a:bodyPr/>
                    <a:lstStyle/>
                    <a:p>
                      <a:r>
                        <a:rPr sz="1500">
                          <a:solidFill>
                            <a:srgbClr val="1A1A1A"/>
                          </a:solidFill>
                          <a:latin typeface="KoPub돋움체 Medium"/>
                        </a:rPr>
                        <a:t>2변수 함수(곡면) C(s,t)</a:t>
                      </a:r>
                    </a:p>
                  </a:txBody>
                  <a:tcPr anchor="ctr" marT="25400" marB="25400">
                    <a:solidFill>
                      <a:srgbClr val="FAFBFD"/>
                    </a:solidFill>
                  </a:tcPr>
                </a:tc>
              </a:tr>
              <a:tr h="480060">
                <a:tc>
                  <a:txBody>
                    <a:bodyPr/>
                    <a:lstStyle/>
                    <a:p>
                      <a:r>
                        <a:rPr sz="1500">
                          <a:solidFill>
                            <a:srgbClr val="1A1A1A"/>
                          </a:solidFill>
                          <a:latin typeface="KoPub돋움체 Medium"/>
                        </a:rPr>
                        <a:t>고유벡터</a:t>
                      </a:r>
                    </a:p>
                  </a:txBody>
                  <a:tcPr anchor="ctr" marT="25400" marB="25400">
                    <a:solidFill>
                      <a:srgbClr val="FFFFFF"/>
                    </a:solidFill>
                  </a:tcPr>
                </a:tc>
                <a:tc>
                  <a:txBody>
                    <a:bodyPr/>
                    <a:lstStyle/>
                    <a:p>
                      <a:r>
                        <a:rPr sz="1500">
                          <a:solidFill>
                            <a:srgbClr val="1A1A1A"/>
                          </a:solidFill>
                          <a:latin typeface="KoPub돋움체 Medium"/>
                        </a:rPr>
                        <a:t>v ∈ ℝᵖ</a:t>
                      </a:r>
                    </a:p>
                  </a:txBody>
                  <a:tcPr anchor="ctr" marT="25400" marB="25400">
                    <a:solidFill>
                      <a:srgbClr val="FFFFFF"/>
                    </a:solidFill>
                  </a:tcPr>
                </a:tc>
                <a:tc>
                  <a:txBody>
                    <a:bodyPr/>
                    <a:lstStyle/>
                    <a:p>
                      <a:r>
                        <a:rPr sz="1500">
                          <a:solidFill>
                            <a:srgbClr val="1A1A1A"/>
                          </a:solidFill>
                          <a:latin typeface="KoPub돋움체 Medium"/>
                        </a:rPr>
                        <a:t>고유함수 φ(t)</a:t>
                      </a:r>
                    </a:p>
                  </a:txBody>
                  <a:tcPr anchor="ctr" marT="25400" marB="25400">
                    <a:solidFill>
                      <a:srgbClr val="FFFFFF"/>
                    </a:solidFill>
                  </a:tcPr>
                </a:tc>
              </a:tr>
            </a:tbl>
          </a:graphicData>
        </a:graphic>
      </p:graphicFrame>
      <p:sp>
        <p:nvSpPr>
          <p:cNvPr id="7" name="Rectangle 6"/>
          <p:cNvSpPr/>
          <p:nvPr/>
        </p:nvSpPr>
        <p:spPr>
          <a:xfrm>
            <a:off x="411480" y="4160520"/>
            <a:ext cx="11338560" cy="1691640"/>
          </a:xfrm>
          <a:prstGeom prst="rect">
            <a:avLst/>
          </a:prstGeom>
          <a:solidFill>
            <a:srgbClr val="FFF6F6"/>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4160520"/>
            <a:ext cx="57150" cy="1691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279392"/>
            <a:ext cx="10972800" cy="1463040"/>
          </a:xfrm>
          <a:prstGeom prst="rect">
            <a:avLst/>
          </a:prstGeom>
          <a:noFill/>
        </p:spPr>
        <p:txBody>
          <a:bodyPr wrap="square">
            <a:spAutoFit/>
          </a:bodyPr>
          <a:lstStyle/>
          <a:p>
            <a:pPr indent="0" marL="0">
              <a:spcAft>
                <a:spcPts val="1000"/>
              </a:spcAft>
            </a:pPr>
            <a:r>
              <a:rPr sz="1600" b="1">
                <a:solidFill>
                  <a:srgbClr val="C00000"/>
                </a:solidFill>
                <a:latin typeface="KoPub돋움체 Bold"/>
              </a:rPr>
              <a:t>▪ FPCA 남용 주의: 시점이 모두 같고 촘촘하면 그냥 벡터 PCA와 거의 같다</a:t>
            </a:r>
          </a:p>
          <a:p>
            <a:pPr indent="0" marL="256032">
              <a:spcAft>
                <a:spcPts val="1000"/>
              </a:spcAft>
            </a:pPr>
            <a:r>
              <a:rPr sz="1500" b="0">
                <a:solidFill>
                  <a:srgbClr val="1A1A1A"/>
                </a:solidFill>
                <a:latin typeface="KoPub돋움체 Medium"/>
              </a:rPr>
              <a:t>– FPCA가 진짜 필요한 경우 3가지 — (1) 측정 시점이 사람마다 다르거나 희소, (2) 잡음이 커서 명시적 스무딩 필요, (3) 결과를 곡선·미분으로 해석해야 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6</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4. 1단계</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1단계: 이산 측정값을 함수로 (스무딩)</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11480" y="1051560"/>
          <a:ext cx="11338560" cy="2651760"/>
        </p:xfrm>
        <a:graphic>
          <a:graphicData uri="http://schemas.openxmlformats.org/drawingml/2006/table">
            <a:tbl>
              <a:tblPr firstRow="1" bandRow="1">
                <a:tableStyleId>{5C22544A-7EE6-4342-B048-85BDC9FD1C3A}</a:tableStyleId>
              </a:tblPr>
              <a:tblGrid>
                <a:gridCol w="2377440"/>
                <a:gridCol w="4937760"/>
                <a:gridCol w="4023360"/>
              </a:tblGrid>
              <a:tr h="530352">
                <a:tc>
                  <a:txBody>
                    <a:bodyPr/>
                    <a:lstStyle/>
                    <a:p>
                      <a:pPr algn="l"/>
                      <a:r>
                        <a:rPr sz="1500" b="1">
                          <a:solidFill>
                            <a:srgbClr val="FFFFFF"/>
                          </a:solidFill>
                          <a:latin typeface="KoPub돋움체 Bold"/>
                        </a:rPr>
                        <a:t>기저 종류</a:t>
                      </a:r>
                    </a:p>
                  </a:txBody>
                  <a:tcPr anchor="ctr" marT="38100" marB="38100">
                    <a:solidFill>
                      <a:srgbClr val="1F3864"/>
                    </a:solidFill>
                  </a:tcPr>
                </a:tc>
                <a:tc>
                  <a:txBody>
                    <a:bodyPr/>
                    <a:lstStyle/>
                    <a:p>
                      <a:pPr algn="l"/>
                      <a:r>
                        <a:rPr sz="1500" b="1">
                          <a:solidFill>
                            <a:srgbClr val="FFFFFF"/>
                          </a:solidFill>
                          <a:latin typeface="KoPub돋움체 Bold"/>
                        </a:rPr>
                        <a:t>잘 맞는 데이터</a:t>
                      </a:r>
                    </a:p>
                  </a:txBody>
                  <a:tcPr anchor="ctr" marT="38100" marB="38100">
                    <a:solidFill>
                      <a:srgbClr val="1F3864"/>
                    </a:solidFill>
                  </a:tcPr>
                </a:tc>
                <a:tc>
                  <a:txBody>
                    <a:bodyPr/>
                    <a:lstStyle/>
                    <a:p>
                      <a:pPr algn="l"/>
                      <a:r>
                        <a:rPr sz="1500" b="1">
                          <a:solidFill>
                            <a:srgbClr val="FFFFFF"/>
                          </a:solidFill>
                          <a:latin typeface="KoPub돋움체 Bold"/>
                        </a:rPr>
                        <a:t>주의</a:t>
                      </a:r>
                    </a:p>
                  </a:txBody>
                  <a:tcPr anchor="ctr" marT="38100" marB="38100">
                    <a:solidFill>
                      <a:srgbClr val="1F3864"/>
                    </a:solidFill>
                  </a:tcPr>
                </a:tc>
              </a:tr>
              <a:tr h="530352">
                <a:tc>
                  <a:txBody>
                    <a:bodyPr/>
                    <a:lstStyle/>
                    <a:p>
                      <a:r>
                        <a:rPr sz="1500">
                          <a:solidFill>
                            <a:srgbClr val="1A1A1A"/>
                          </a:solidFill>
                          <a:latin typeface="KoPub돋움체 Medium"/>
                        </a:rPr>
                        <a:t>B-spline</a:t>
                      </a:r>
                    </a:p>
                  </a:txBody>
                  <a:tcPr anchor="ctr" marT="25400" marB="25400">
                    <a:solidFill>
                      <a:srgbClr val="FFFFFF"/>
                    </a:solidFill>
                  </a:tcPr>
                </a:tc>
                <a:tc>
                  <a:txBody>
                    <a:bodyPr/>
                    <a:lstStyle/>
                    <a:p>
                      <a:r>
                        <a:rPr sz="1500">
                          <a:solidFill>
                            <a:srgbClr val="1A1A1A"/>
                          </a:solidFill>
                          <a:latin typeface="KoPub돋움체 Medium"/>
                        </a:rPr>
                        <a:t>대부분의 비주기적 데이터 (기본 선택)</a:t>
                      </a:r>
                    </a:p>
                  </a:txBody>
                  <a:tcPr anchor="ctr" marT="25400" marB="25400">
                    <a:solidFill>
                      <a:srgbClr val="FFFFFF"/>
                    </a:solidFill>
                  </a:tcPr>
                </a:tc>
                <a:tc>
                  <a:txBody>
                    <a:bodyPr/>
                    <a:lstStyle/>
                    <a:p>
                      <a:r>
                        <a:rPr sz="1500">
                          <a:solidFill>
                            <a:srgbClr val="1A1A1A"/>
                          </a:solidFill>
                          <a:latin typeface="KoPub돋움체 Medium"/>
                        </a:rPr>
                        <a:t>매듭(knot) 개수·위치가 유연성 결정</a:t>
                      </a:r>
                    </a:p>
                  </a:txBody>
                  <a:tcPr anchor="ctr" marT="25400" marB="25400">
                    <a:solidFill>
                      <a:srgbClr val="FFFFFF"/>
                    </a:solidFill>
                  </a:tcPr>
                </a:tc>
              </a:tr>
              <a:tr h="530352">
                <a:tc>
                  <a:txBody>
                    <a:bodyPr/>
                    <a:lstStyle/>
                    <a:p>
                      <a:r>
                        <a:rPr sz="1500">
                          <a:solidFill>
                            <a:srgbClr val="1A1A1A"/>
                          </a:solidFill>
                          <a:latin typeface="KoPub돋움체 Medium"/>
                        </a:rPr>
                        <a:t>Fourier</a:t>
                      </a:r>
                    </a:p>
                  </a:txBody>
                  <a:tcPr anchor="ctr" marT="25400" marB="25400">
                    <a:solidFill>
                      <a:srgbClr val="FAFBFD"/>
                    </a:solidFill>
                  </a:tcPr>
                </a:tc>
                <a:tc>
                  <a:txBody>
                    <a:bodyPr/>
                    <a:lstStyle/>
                    <a:p>
                      <a:r>
                        <a:rPr sz="1500">
                          <a:solidFill>
                            <a:srgbClr val="1A1A1A"/>
                          </a:solidFill>
                          <a:latin typeface="KoPub돋움체 Medium"/>
                        </a:rPr>
                        <a:t>주기적 신호(호흡, 보행 주기)</a:t>
                      </a:r>
                    </a:p>
                  </a:txBody>
                  <a:tcPr anchor="ctr" marT="25400" marB="25400">
                    <a:solidFill>
                      <a:srgbClr val="FAFBFD"/>
                    </a:solidFill>
                  </a:tcPr>
                </a:tc>
                <a:tc>
                  <a:txBody>
                    <a:bodyPr/>
                    <a:lstStyle/>
                    <a:p>
                      <a:r>
                        <a:rPr sz="1500">
                          <a:solidFill>
                            <a:srgbClr val="1A1A1A"/>
                          </a:solidFill>
                          <a:latin typeface="KoPub돋움체 Medium"/>
                        </a:rPr>
                        <a:t>비주기 데이터에 쓰면 양끝 왜곡</a:t>
                      </a:r>
                    </a:p>
                  </a:txBody>
                  <a:tcPr anchor="ctr" marT="25400" marB="25400">
                    <a:solidFill>
                      <a:srgbClr val="FAFBFD"/>
                    </a:solidFill>
                  </a:tcPr>
                </a:tc>
              </a:tr>
              <a:tr h="530352">
                <a:tc>
                  <a:txBody>
                    <a:bodyPr/>
                    <a:lstStyle/>
                    <a:p>
                      <a:r>
                        <a:rPr sz="1500">
                          <a:solidFill>
                            <a:srgbClr val="1A1A1A"/>
                          </a:solidFill>
                          <a:latin typeface="KoPub돋움체 Medium"/>
                        </a:rPr>
                        <a:t>Wavelet</a:t>
                      </a:r>
                    </a:p>
                  </a:txBody>
                  <a:tcPr anchor="ctr" marT="25400" marB="25400">
                    <a:solidFill>
                      <a:srgbClr val="FFFFFF"/>
                    </a:solidFill>
                  </a:tcPr>
                </a:tc>
                <a:tc>
                  <a:txBody>
                    <a:bodyPr/>
                    <a:lstStyle/>
                    <a:p>
                      <a:r>
                        <a:rPr sz="1500">
                          <a:solidFill>
                            <a:srgbClr val="1A1A1A"/>
                          </a:solidFill>
                          <a:latin typeface="KoPub돋움체 Medium"/>
                        </a:rPr>
                        <a:t>국소 급변 구간이 있는 신호</a:t>
                      </a:r>
                    </a:p>
                  </a:txBody>
                  <a:tcPr anchor="ctr" marT="25400" marB="25400">
                    <a:solidFill>
                      <a:srgbClr val="FFFFFF"/>
                    </a:solidFill>
                  </a:tcPr>
                </a:tc>
                <a:tc>
                  <a:txBody>
                    <a:bodyPr/>
                    <a:lstStyle/>
                    <a:p>
                      <a:r>
                        <a:rPr sz="1500">
                          <a:solidFill>
                            <a:srgbClr val="1A1A1A"/>
                          </a:solidFill>
                          <a:latin typeface="KoPub돋움체 Medium"/>
                        </a:rPr>
                        <a:t>해석이 어려워짐</a:t>
                      </a:r>
                    </a:p>
                  </a:txBody>
                  <a:tcPr anchor="ctr" marT="25400" marB="25400">
                    <a:solidFill>
                      <a:srgbClr val="FFFFFF"/>
                    </a:solidFill>
                  </a:tcPr>
                </a:tc>
              </a:tr>
              <a:tr h="530352">
                <a:tc>
                  <a:txBody>
                    <a:bodyPr/>
                    <a:lstStyle/>
                    <a:p>
                      <a:r>
                        <a:rPr sz="1500">
                          <a:solidFill>
                            <a:srgbClr val="1A1A1A"/>
                          </a:solidFill>
                          <a:latin typeface="KoPub돋움체 Medium"/>
                        </a:rPr>
                        <a:t>없음(격자값 그대로)</a:t>
                      </a:r>
                    </a:p>
                  </a:txBody>
                  <a:tcPr anchor="ctr" marT="25400" marB="25400">
                    <a:solidFill>
                      <a:srgbClr val="FAFBFD"/>
                    </a:solidFill>
                  </a:tcPr>
                </a:tc>
                <a:tc>
                  <a:txBody>
                    <a:bodyPr/>
                    <a:lstStyle/>
                    <a:p>
                      <a:r>
                        <a:rPr sz="1500">
                          <a:solidFill>
                            <a:srgbClr val="1A1A1A"/>
                          </a:solidFill>
                          <a:latin typeface="KoPub돋움체 Medium"/>
                        </a:rPr>
                        <a:t>측정이 촘촘하고 잡음 작을 때</a:t>
                      </a:r>
                    </a:p>
                  </a:txBody>
                  <a:tcPr anchor="ctr" marT="25400" marB="25400">
                    <a:solidFill>
                      <a:srgbClr val="FAFBFD"/>
                    </a:solidFill>
                  </a:tcPr>
                </a:tc>
                <a:tc>
                  <a:txBody>
                    <a:bodyPr/>
                    <a:lstStyle/>
                    <a:p>
                      <a:r>
                        <a:rPr sz="1500">
                          <a:solidFill>
                            <a:srgbClr val="1A1A1A"/>
                          </a:solidFill>
                          <a:latin typeface="KoPub돋움체 Medium"/>
                        </a:rPr>
                        <a:t>가장 간단, 본 연구가 이 경우</a:t>
                      </a:r>
                    </a:p>
                  </a:txBody>
                  <a:tcPr anchor="ctr" marT="25400" marB="25400">
                    <a:solidFill>
                      <a:srgbClr val="FAFBFD"/>
                    </a:solidFill>
                  </a:tcPr>
                </a:tc>
              </a:tr>
            </a:tbl>
          </a:graphicData>
        </a:graphic>
      </p:graphicFrame>
      <p:sp>
        <p:nvSpPr>
          <p:cNvPr id="7" name="TextBox 6"/>
          <p:cNvSpPr txBox="1"/>
          <p:nvPr/>
        </p:nvSpPr>
        <p:spPr>
          <a:xfrm>
            <a:off x="411480" y="3886200"/>
            <a:ext cx="11338560" cy="2011680"/>
          </a:xfrm>
          <a:prstGeom prst="rect">
            <a:avLst/>
          </a:prstGeom>
          <a:noFill/>
        </p:spPr>
        <p:txBody>
          <a:bodyPr wrap="square">
            <a:spAutoFit/>
          </a:bodyPr>
          <a:lstStyle/>
          <a:p>
            <a:pPr indent="0" marL="0">
              <a:spcAft>
                <a:spcPts val="1000"/>
              </a:spcAft>
            </a:pPr>
            <a:r>
              <a:rPr sz="1600" b="1">
                <a:solidFill>
                  <a:srgbClr val="1A1A1A"/>
                </a:solidFill>
                <a:latin typeface="KoPub돋움체 Bold"/>
              </a:rPr>
              <a:t>▪ 거칠기 벌점(roughness penalty) λ: 과적합 ↔ 과매끈함 트레이드오프, 보통 GCV로 자동 선택</a:t>
            </a:r>
          </a:p>
          <a:p>
            <a:pPr indent="0" marL="0">
              <a:spcAft>
                <a:spcPts val="1000"/>
              </a:spcAft>
            </a:pPr>
            <a:r>
              <a:rPr sz="1600" b="1">
                <a:solidFill>
                  <a:srgbClr val="C55A11"/>
                </a:solidFill>
                <a:latin typeface="KoPub돋움체 Bold"/>
              </a:rPr>
              <a:t>▪ λ를 너무 세게 걸면 개인차까지 지워버릴 수 있다 (누적분산 99%가 K=1에서 나오면 의심할 신호)</a:t>
            </a:r>
          </a:p>
          <a:p>
            <a:pPr indent="0" marL="0">
              <a:spcAft>
                <a:spcPts val="1000"/>
              </a:spcAft>
            </a:pPr>
            <a:r>
              <a:rPr sz="1700" b="1">
                <a:solidFill>
                  <a:srgbClr val="1F3864"/>
                </a:solidFill>
                <a:latin typeface="KoPub돋움체 Bold"/>
              </a:rPr>
              <a:t>▪ 본 연구(AEC-128): 128슬라이스 동일 격자·촘촘 → 스무딩 없이 raw 값 그대로 사용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7</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5. 2단계</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2단계: 평균함수 · 공분산함수 (실제 데이터)</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5120640" cy="4937760"/>
          </a:xfrm>
          <a:prstGeom prst="rect">
            <a:avLst/>
          </a:prstGeom>
          <a:noFill/>
        </p:spPr>
        <p:txBody>
          <a:bodyPr wrap="square">
            <a:spAutoFit/>
          </a:bodyPr>
          <a:lstStyle/>
          <a:p>
            <a:pPr indent="0" marL="0">
              <a:spcAft>
                <a:spcPts val="1000"/>
              </a:spcAft>
            </a:pPr>
            <a:r>
              <a:rPr sz="1800" b="1">
                <a:solidFill>
                  <a:srgbClr val="1F3864"/>
                </a:solidFill>
                <a:latin typeface="KoPub돋움체 Bold"/>
              </a:rPr>
              <a:t>▪ μ(t) = E[X(t)] — 시점별 평균 곡선</a:t>
            </a:r>
          </a:p>
          <a:p>
            <a:pPr indent="0" marL="0">
              <a:spcAft>
                <a:spcPts val="1000"/>
              </a:spcAft>
            </a:pPr>
            <a:r>
              <a:rPr sz="1800" b="1">
                <a:solidFill>
                  <a:srgbClr val="1F3864"/>
                </a:solidFill>
                <a:latin typeface="KoPub돋움체 Bold"/>
              </a:rPr>
              <a:t>▪ C(s,t) = Cov(X(s), X(t)) — 두 시점 값의 공분산 곡면</a:t>
            </a:r>
          </a:p>
          <a:p>
            <a:pPr indent="0" marL="256032">
              <a:spcAft>
                <a:spcPts val="1000"/>
              </a:spcAft>
            </a:pPr>
            <a:r>
              <a:rPr sz="1600" b="0">
                <a:solidFill>
                  <a:srgbClr val="1A1A1A"/>
                </a:solidFill>
                <a:latin typeface="KoPub돋움체 Medium"/>
              </a:rPr>
              <a:t>– 대각선(s=t) = 해당 시점의 분산</a:t>
            </a:r>
          </a:p>
          <a:p>
            <a:pPr indent="0" marL="256032">
              <a:spcAft>
                <a:spcPts val="1000"/>
              </a:spcAft>
            </a:pPr>
            <a:r>
              <a:rPr sz="1600" b="0">
                <a:solidFill>
                  <a:srgbClr val="1A1A1A"/>
                </a:solidFill>
                <a:latin typeface="KoPub돋움체 Medium"/>
              </a:rPr>
              <a:t>– 진한 영역 = 두 시점이 함께 크게/작게 움직임(강한 상관)</a:t>
            </a:r>
          </a:p>
          <a:p>
            <a:pPr indent="0" marL="0">
              <a:spcAft>
                <a:spcPts val="1000"/>
              </a:spcAft>
            </a:pPr>
            <a:r>
              <a:rPr sz="1800" b="1">
                <a:solidFill>
                  <a:srgbClr val="C55A11"/>
                </a:solidFill>
                <a:latin typeface="KoPub돋움체 Bold"/>
              </a:rPr>
              <a:t>▪ AEC-128 실제 곡면: 슬라이스 약 70~115 구간에서 공분산이 가장 큼</a:t>
            </a:r>
          </a:p>
        </p:txBody>
      </p:sp>
      <p:pic>
        <p:nvPicPr>
          <p:cNvPr id="7" name="Picture 6" descr="covariance_surface.png"/>
          <p:cNvPicPr>
            <a:picLocks noChangeAspect="1"/>
          </p:cNvPicPr>
          <p:nvPr/>
        </p:nvPicPr>
        <p:blipFill>
          <a:blip r:embed="rId2"/>
          <a:stretch>
            <a:fillRect/>
          </a:stretch>
        </p:blipFill>
        <p:spPr>
          <a:xfrm>
            <a:off x="5918070" y="1051560"/>
            <a:ext cx="5628900"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8</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6. 3단계</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3단계: 고유함수 · Karhunen–Loève 전개 (실제 PC1~4)</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pca_component_curves_overview.png"/>
          <p:cNvPicPr>
            <a:picLocks noChangeAspect="1"/>
          </p:cNvPicPr>
          <p:nvPr/>
        </p:nvPicPr>
        <p:blipFill>
          <a:blip r:embed="rId2"/>
          <a:stretch>
            <a:fillRect/>
          </a:stretch>
        </p:blipFill>
        <p:spPr>
          <a:xfrm>
            <a:off x="411480" y="1453484"/>
            <a:ext cx="11338559" cy="2487992"/>
          </a:xfrm>
          <a:prstGeom prst="rect">
            <a:avLst/>
          </a:prstGeom>
        </p:spPr>
      </p:pic>
      <p:sp>
        <p:nvSpPr>
          <p:cNvPr id="7" name="TextBox 6"/>
          <p:cNvSpPr txBox="1"/>
          <p:nvPr/>
        </p:nvSpPr>
        <p:spPr>
          <a:xfrm>
            <a:off x="411480" y="4526280"/>
            <a:ext cx="11338560" cy="1645920"/>
          </a:xfrm>
          <a:prstGeom prst="rect">
            <a:avLst/>
          </a:prstGeom>
          <a:noFill/>
        </p:spPr>
        <p:txBody>
          <a:bodyPr wrap="square">
            <a:spAutoFit/>
          </a:bodyPr>
          <a:lstStyle/>
          <a:p>
            <a:pPr indent="0" marL="0">
              <a:spcAft>
                <a:spcPts val="1000"/>
              </a:spcAft>
            </a:pPr>
            <a:r>
              <a:rPr sz="1700" b="1">
                <a:solidFill>
                  <a:srgbClr val="1F3864"/>
                </a:solidFill>
                <a:latin typeface="KoPub돋움체 Bold"/>
              </a:rPr>
              <a:t>▪ X(t) = μ(t) + Σ ξk·φk(t)   (μ=평균곡선, φk=고유함수, ξk=점수)</a:t>
            </a:r>
          </a:p>
          <a:p>
            <a:pPr indent="0" marL="256032">
              <a:spcAft>
                <a:spcPts val="1000"/>
              </a:spcAft>
            </a:pPr>
            <a:r>
              <a:rPr sz="1500" b="0">
                <a:solidFill>
                  <a:srgbClr val="1A1A1A"/>
                </a:solidFill>
                <a:latin typeface="KoPub돋움체 Medium"/>
              </a:rPr>
              <a:t>– φk: 서로 직교(∫φkφl dt=0)·노름 1(∫φk² dt=1)인 변동 패턴</a:t>
            </a:r>
          </a:p>
          <a:p>
            <a:pPr indent="0" marL="256032">
              <a:spcAft>
                <a:spcPts val="1000"/>
              </a:spcAft>
            </a:pPr>
            <a:r>
              <a:rPr sz="1500" b="0">
                <a:solidFill>
                  <a:srgbClr val="1A1A1A"/>
                </a:solidFill>
                <a:latin typeface="KoPub돋움체 Medium"/>
              </a:rPr>
              <a:t>– 실제 데이터: PC1(84.3%)은 슬라이스 60~120대 진폭 차이, PC2(10.5%)는 부호 반전 지점 이동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9</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7. 4단계</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4단계: 주성분 점수와 해석</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11338560" cy="1737360"/>
          </a:xfrm>
          <a:prstGeom prst="rect">
            <a:avLst/>
          </a:prstGeom>
          <a:noFill/>
        </p:spPr>
        <p:txBody>
          <a:bodyPr wrap="square">
            <a:spAutoFit/>
          </a:bodyPr>
          <a:lstStyle/>
          <a:p>
            <a:pPr indent="0" marL="0">
              <a:spcAft>
                <a:spcPts val="1000"/>
              </a:spcAft>
            </a:pPr>
            <a:r>
              <a:rPr sz="1800" b="1">
                <a:solidFill>
                  <a:srgbClr val="1F3864"/>
                </a:solidFill>
                <a:latin typeface="KoPub돋움체 Bold"/>
              </a:rPr>
              <a:t>▪ ξik = ∫ (Xi(t) − μ(t)) φk(t) dt</a:t>
            </a:r>
          </a:p>
          <a:p>
            <a:pPr indent="0" marL="0">
              <a:spcAft>
                <a:spcPts val="1000"/>
              </a:spcAft>
            </a:pPr>
            <a:r>
              <a:rPr sz="1600" b="1">
                <a:solidFill>
                  <a:srgbClr val="1A1A1A"/>
                </a:solidFill>
                <a:latin typeface="KoPub돋움체 Bold"/>
              </a:rPr>
              <a:t>▪ 곡선 1개 → K개짜리 벡터로 축약 → 회귀·분류·군집 등 일반 통계모델에 그대로 투입</a:t>
            </a:r>
          </a:p>
          <a:p>
            <a:pPr indent="0" marL="0">
              <a:spcAft>
                <a:spcPts val="1000"/>
              </a:spcAft>
            </a:pPr>
            <a:r>
              <a:rPr sz="1600" b="1">
                <a:solidFill>
                  <a:srgbClr val="C55A11"/>
                </a:solidFill>
                <a:latin typeface="KoPub돋움체 Bold"/>
              </a:rPr>
              <a:t>▪ 해석 도구 = perturbation plot: μ ± 2√λk·φk 를 그려 비교</a:t>
            </a:r>
          </a:p>
        </p:txBody>
      </p:sp>
      <p:graphicFrame>
        <p:nvGraphicFramePr>
          <p:cNvPr id="7" name="Table 6"/>
          <p:cNvGraphicFramePr>
            <a:graphicFrameLocks noGrp="1"/>
          </p:cNvGraphicFramePr>
          <p:nvPr/>
        </p:nvGraphicFramePr>
        <p:xfrm>
          <a:off x="411480" y="3017520"/>
          <a:ext cx="11338560" cy="2468880"/>
        </p:xfrm>
        <a:graphic>
          <a:graphicData uri="http://schemas.openxmlformats.org/drawingml/2006/table">
            <a:tbl>
              <a:tblPr firstRow="1" bandRow="1">
                <a:tableStyleId>{5C22544A-7EE6-4342-B048-85BDC9FD1C3A}</a:tableStyleId>
              </a:tblPr>
              <a:tblGrid>
                <a:gridCol w="4251960"/>
                <a:gridCol w="7086600"/>
              </a:tblGrid>
              <a:tr h="493776">
                <a:tc>
                  <a:txBody>
                    <a:bodyPr/>
                    <a:lstStyle/>
                    <a:p>
                      <a:pPr algn="l"/>
                      <a:r>
                        <a:rPr sz="1500" b="1">
                          <a:solidFill>
                            <a:srgbClr val="FFFFFF"/>
                          </a:solidFill>
                          <a:latin typeface="KoPub돋움체 Bold"/>
                        </a:rPr>
                        <a:t>패턴 모양</a:t>
                      </a:r>
                    </a:p>
                  </a:txBody>
                  <a:tcPr anchor="ctr" marT="38100" marB="38100">
                    <a:solidFill>
                      <a:srgbClr val="1F3864"/>
                    </a:solidFill>
                  </a:tcPr>
                </a:tc>
                <a:tc>
                  <a:txBody>
                    <a:bodyPr/>
                    <a:lstStyle/>
                    <a:p>
                      <a:pPr algn="l"/>
                      <a:r>
                        <a:rPr sz="1500" b="1">
                          <a:solidFill>
                            <a:srgbClr val="FFFFFF"/>
                          </a:solidFill>
                          <a:latin typeface="KoPub돋움체 Bold"/>
                        </a:rPr>
                        <a:t>해석</a:t>
                      </a:r>
                    </a:p>
                  </a:txBody>
                  <a:tcPr anchor="ctr" marT="38100" marB="38100">
                    <a:solidFill>
                      <a:srgbClr val="1F3864"/>
                    </a:solidFill>
                  </a:tcPr>
                </a:tc>
              </a:tr>
              <a:tr h="493776">
                <a:tc>
                  <a:txBody>
                    <a:bodyPr/>
                    <a:lstStyle/>
                    <a:p>
                      <a:r>
                        <a:rPr sz="1500">
                          <a:solidFill>
                            <a:srgbClr val="1A1A1A"/>
                          </a:solidFill>
                          <a:latin typeface="KoPub돋움체 Medium"/>
                        </a:rPr>
                        <a:t>전 구간에서 부호가 같고 폭넓음</a:t>
                      </a:r>
                    </a:p>
                  </a:txBody>
                  <a:tcPr anchor="ctr" marT="25400" marB="25400">
                    <a:solidFill>
                      <a:srgbClr val="FFFFFF"/>
                    </a:solidFill>
                  </a:tcPr>
                </a:tc>
                <a:tc>
                  <a:txBody>
                    <a:bodyPr/>
                    <a:lstStyle/>
                    <a:p>
                      <a:r>
                        <a:rPr sz="1500">
                          <a:solidFill>
                            <a:srgbClr val="1A1A1A"/>
                          </a:solidFill>
                          <a:latin typeface="KoPub돋움체 Medium"/>
                        </a:rPr>
                        <a:t>수준(level) 성분 — 곡선 전체가 위/아래로 이동</a:t>
                      </a:r>
                    </a:p>
                  </a:txBody>
                  <a:tcPr anchor="ctr" marT="25400" marB="25400">
                    <a:solidFill>
                      <a:srgbClr val="FFFFFF"/>
                    </a:solidFill>
                  </a:tcPr>
                </a:tc>
              </a:tr>
              <a:tr h="493776">
                <a:tc>
                  <a:txBody>
                    <a:bodyPr/>
                    <a:lstStyle/>
                    <a:p>
                      <a:r>
                        <a:rPr sz="1500">
                          <a:solidFill>
                            <a:srgbClr val="1A1A1A"/>
                          </a:solidFill>
                          <a:latin typeface="KoPub돋움체 Medium"/>
                        </a:rPr>
                        <a:t>중간에서 부호가 반대</a:t>
                      </a:r>
                    </a:p>
                  </a:txBody>
                  <a:tcPr anchor="ctr" marT="25400" marB="25400">
                    <a:solidFill>
                      <a:srgbClr val="FAFBFD"/>
                    </a:solidFill>
                  </a:tcPr>
                </a:tc>
                <a:tc>
                  <a:txBody>
                    <a:bodyPr/>
                    <a:lstStyle/>
                    <a:p>
                      <a:r>
                        <a:rPr sz="1500">
                          <a:solidFill>
                            <a:srgbClr val="1A1A1A"/>
                          </a:solidFill>
                          <a:latin typeface="KoPub돋움체 Medium"/>
                        </a:rPr>
                        <a:t>대비(contrast) 성분 — 특정 지점 기준 반대로 움직임</a:t>
                      </a:r>
                    </a:p>
                  </a:txBody>
                  <a:tcPr anchor="ctr" marT="25400" marB="25400">
                    <a:solidFill>
                      <a:srgbClr val="FAFBFD"/>
                    </a:solidFill>
                  </a:tcPr>
                </a:tc>
              </a:tr>
              <a:tr h="493776">
                <a:tc>
                  <a:txBody>
                    <a:bodyPr/>
                    <a:lstStyle/>
                    <a:p>
                      <a:r>
                        <a:rPr sz="1500">
                          <a:solidFill>
                            <a:srgbClr val="1A1A1A"/>
                          </a:solidFill>
                          <a:latin typeface="KoPub돋움체 Medium"/>
                        </a:rPr>
                        <a:t>한 구간에서만 벌어짐</a:t>
                      </a:r>
                    </a:p>
                  </a:txBody>
                  <a:tcPr anchor="ctr" marT="25400" marB="25400">
                    <a:solidFill>
                      <a:srgbClr val="FFFFFF"/>
                    </a:solidFill>
                  </a:tcPr>
                </a:tc>
                <a:tc>
                  <a:txBody>
                    <a:bodyPr/>
                    <a:lstStyle/>
                    <a:p>
                      <a:r>
                        <a:rPr sz="1500">
                          <a:solidFill>
                            <a:srgbClr val="1A1A1A"/>
                          </a:solidFill>
                          <a:latin typeface="KoPub돋움체 Medium"/>
                        </a:rPr>
                        <a:t>국소(local) 성분 — 그 구간에서만 개인차</a:t>
                      </a:r>
                    </a:p>
                  </a:txBody>
                  <a:tcPr anchor="ctr" marT="25400" marB="25400">
                    <a:solidFill>
                      <a:srgbClr val="FFFFFF"/>
                    </a:solidFill>
                  </a:tcPr>
                </a:tc>
              </a:tr>
              <a:tr h="493776">
                <a:tc>
                  <a:txBody>
                    <a:bodyPr/>
                    <a:lstStyle/>
                    <a:p>
                      <a:r>
                        <a:rPr sz="1500">
                          <a:solidFill>
                            <a:srgbClr val="1A1A1A"/>
                          </a:solidFill>
                          <a:latin typeface="KoPub돋움체 Medium"/>
                        </a:rPr>
                        <a:t>평균곡선의 미분과 비슷한 모양</a:t>
                      </a:r>
                    </a:p>
                  </a:txBody>
                  <a:tcPr anchor="ctr" marT="25400" marB="25400">
                    <a:solidFill>
                      <a:srgbClr val="FAFBFD"/>
                    </a:solidFill>
                  </a:tcPr>
                </a:tc>
                <a:tc>
                  <a:txBody>
                    <a:bodyPr/>
                    <a:lstStyle/>
                    <a:p>
                      <a:r>
                        <a:rPr sz="1500">
                          <a:solidFill>
                            <a:srgbClr val="1A1A1A"/>
                          </a:solidFill>
                          <a:latin typeface="KoPub돋움체 Medium"/>
                        </a:rPr>
                        <a:t>위상(phase) 변동 — registration 문제 의심 신호</a:t>
                      </a:r>
                    </a:p>
                  </a:txBody>
                  <a:tcPr anchor="ctr" marT="25400" marB="25400">
                    <a:solidFill>
                      <a:srgbClr val="FAFBFD"/>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10</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7. 4단계 — 실제 계산</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점수(ξ) 는 실제로 어떻게 계산되나 — 환자 1명으로 직접 확인</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ore_calculation_demo.png"/>
          <p:cNvPicPr>
            <a:picLocks noChangeAspect="1"/>
          </p:cNvPicPr>
          <p:nvPr/>
        </p:nvPicPr>
        <p:blipFill>
          <a:blip r:embed="rId2"/>
          <a:stretch>
            <a:fillRect/>
          </a:stretch>
        </p:blipFill>
        <p:spPr>
          <a:xfrm>
            <a:off x="1003630" y="1051560"/>
            <a:ext cx="5856580" cy="5486400"/>
          </a:xfrm>
          <a:prstGeom prst="rect">
            <a:avLst/>
          </a:prstGeom>
        </p:spPr>
      </p:pic>
      <p:sp>
        <p:nvSpPr>
          <p:cNvPr id="7" name="TextBox 6"/>
          <p:cNvSpPr txBox="1"/>
          <p:nvPr/>
        </p:nvSpPr>
        <p:spPr>
          <a:xfrm>
            <a:off x="7360920" y="1051560"/>
            <a:ext cx="4434840" cy="5486400"/>
          </a:xfrm>
          <a:prstGeom prst="rect">
            <a:avLst/>
          </a:prstGeom>
          <a:noFill/>
        </p:spPr>
        <p:txBody>
          <a:bodyPr wrap="square">
            <a:spAutoFit/>
          </a:bodyPr>
          <a:lstStyle/>
          <a:p>
            <a:pPr indent="0" marL="0">
              <a:spcAft>
                <a:spcPts val="1000"/>
              </a:spcAft>
            </a:pPr>
            <a:r>
              <a:rPr sz="1800" b="1">
                <a:solidFill>
                  <a:srgbClr val="1F3864"/>
                </a:solidFill>
                <a:latin typeface="KoPub돋움체 Bold"/>
              </a:rPr>
              <a:t>▪ ξi1 = Σt (Xi(t) − μ(t)) · φ1(t)</a:t>
            </a:r>
          </a:p>
          <a:p>
            <a:pPr indent="0" marL="256032">
              <a:spcAft>
                <a:spcPts val="1000"/>
              </a:spcAft>
            </a:pPr>
            <a:r>
              <a:rPr sz="1400" b="0">
                <a:solidFill>
                  <a:srgbClr val="1A1A1A"/>
                </a:solidFill>
                <a:latin typeface="KoPub돋움체 Medium"/>
              </a:rPr>
              <a:t>– 등간격(Δt=1)이라 적분 대신 그냥 곱해서 더하면 된다</a:t>
            </a:r>
          </a:p>
          <a:p>
            <a:pPr indent="0" marL="0">
              <a:spcAft>
                <a:spcPts val="1000"/>
              </a:spcAft>
            </a:pPr>
            <a:r>
              <a:rPr sz="1500" b="1">
                <a:solidFill>
                  <a:srgbClr val="1A1A1A"/>
                </a:solidFill>
                <a:latin typeface="KoPub돋움체 Bold"/>
              </a:rPr>
              <a:t>▪ ① 편차: 이 환자 곡선은 슬라이스 대부분에서 평균보다 훨씬 높음</a:t>
            </a:r>
          </a:p>
          <a:p>
            <a:pPr indent="0" marL="0">
              <a:spcAft>
                <a:spcPts val="1000"/>
              </a:spcAft>
            </a:pPr>
            <a:r>
              <a:rPr sz="1500" b="1">
                <a:solidFill>
                  <a:srgbClr val="1A1A1A"/>
                </a:solidFill>
                <a:latin typeface="KoPub돋움체 Bold"/>
              </a:rPr>
              <a:t>▪ ② 고유함수 φ1(t): 전 구간에서 부호가 +로 같음(수준 성분)</a:t>
            </a:r>
          </a:p>
          <a:p>
            <a:pPr indent="0" marL="0">
              <a:spcAft>
                <a:spcPts val="1000"/>
              </a:spcAft>
            </a:pPr>
            <a:r>
              <a:rPr sz="1500" b="1">
                <a:solidFill>
                  <a:srgbClr val="1A1A1A"/>
                </a:solidFill>
                <a:latin typeface="KoPub돋움체 Bold"/>
              </a:rPr>
              <a:t>▪ ③ 편차×φ1을 슬라이스별로 곱해 누적합 → 마지막 값이 점수</a:t>
            </a:r>
          </a:p>
          <a:p>
            <a:pPr indent="0" marL="0">
              <a:spcAft>
                <a:spcPts val="1000"/>
              </a:spcAft>
            </a:pPr>
            <a:r>
              <a:rPr sz="1700" b="1">
                <a:solidFill>
                  <a:srgbClr val="C55A11"/>
                </a:solidFill>
                <a:latin typeface="KoPub돋움체 Bold"/>
              </a:rPr>
              <a:t>▪ 실제 계산값: ξ1 = 2997.2</a:t>
            </a:r>
          </a:p>
          <a:p>
            <a:pPr indent="0" marL="256032">
              <a:spcAft>
                <a:spcPts val="1000"/>
              </a:spcAft>
            </a:pPr>
            <a:r>
              <a:rPr sz="1300" b="0">
                <a:solidFill>
                  <a:srgbClr val="2E7D32"/>
                </a:solidFill>
                <a:latin typeface="KoPub돋움체 Medium"/>
              </a:rPr>
              <a:t>– sklearn PCA.transform() 결과와 직접 합산값이 소수점까지 정확히 일치(2997.15=2997.15) — 구현 검증 완료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11</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8. 모델선택</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성분 개수 K는 어떻게 정하나 (실제 데이터)</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pca_component_search.png"/>
          <p:cNvPicPr>
            <a:picLocks noChangeAspect="1"/>
          </p:cNvPicPr>
          <p:nvPr/>
        </p:nvPicPr>
        <p:blipFill>
          <a:blip r:embed="rId2"/>
          <a:stretch>
            <a:fillRect/>
          </a:stretch>
        </p:blipFill>
        <p:spPr>
          <a:xfrm>
            <a:off x="2753505" y="1051560"/>
            <a:ext cx="6654510" cy="3566160"/>
          </a:xfrm>
          <a:prstGeom prst="rect">
            <a:avLst/>
          </a:prstGeom>
        </p:spPr>
      </p:pic>
      <p:sp>
        <p:nvSpPr>
          <p:cNvPr id="7" name="TextBox 6"/>
          <p:cNvSpPr txBox="1"/>
          <p:nvPr/>
        </p:nvSpPr>
        <p:spPr>
          <a:xfrm>
            <a:off x="411480" y="4709160"/>
            <a:ext cx="11338560" cy="1554480"/>
          </a:xfrm>
          <a:prstGeom prst="rect">
            <a:avLst/>
          </a:prstGeom>
          <a:noFill/>
        </p:spPr>
        <p:txBody>
          <a:bodyPr wrap="square">
            <a:spAutoFit/>
          </a:bodyPr>
          <a:lstStyle/>
          <a:p>
            <a:pPr indent="0" marL="0">
              <a:spcAft>
                <a:spcPts val="1000"/>
              </a:spcAft>
            </a:pPr>
            <a:r>
              <a:rPr sz="1600" b="1">
                <a:solidFill>
                  <a:srgbClr val="1F3864"/>
                </a:solidFill>
                <a:latin typeface="KoPub돋움체 Bold"/>
              </a:rPr>
              <a:t>▪ 권장: CPV(누적분산) + 해석 가능성 + 후속 모델 CV 성능, 3가지를 함께 제시</a:t>
            </a:r>
          </a:p>
          <a:p>
            <a:pPr indent="0" marL="0">
              <a:spcAft>
                <a:spcPts val="1000"/>
              </a:spcAft>
            </a:pPr>
            <a:r>
              <a:rPr sz="1500" b="1">
                <a:solidFill>
                  <a:srgbClr val="1A1A1A"/>
                </a:solidFill>
                <a:latin typeface="KoPub돋움체 Bold"/>
              </a:rPr>
              <a:t>▪ 실측(총 코호트): n=8에서 누적분산 99.7%·내부 R² 0.5754로 best_n 선택 (n=2 시점에 이미 누적분산 94.8%, R² 0.5500)</a:t>
            </a:r>
          </a:p>
          <a:p>
            <a:pPr indent="0" marL="0">
              <a:spcAft>
                <a:spcPts val="1000"/>
              </a:spcAft>
            </a:pPr>
            <a:r>
              <a:rPr sz="1500" b="1">
                <a:solidFill>
                  <a:srgbClr val="C55A11"/>
                </a:solidFill>
                <a:latin typeface="KoPub돋움체 Bold"/>
              </a:rPr>
              <a:t>▪ n=2~10 구간 R²가 0.550~0.575로 사실상 평탄 — K 선택의 임의성 존재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12</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8. 모델선택 — 실제 복원</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K가 늘어나면 곡선 복원이 어떻게 달라지나 (실제 환자)</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construction_comparison.png"/>
          <p:cNvPicPr>
            <a:picLocks noChangeAspect="1"/>
          </p:cNvPicPr>
          <p:nvPr/>
        </p:nvPicPr>
        <p:blipFill>
          <a:blip r:embed="rId2"/>
          <a:stretch>
            <a:fillRect/>
          </a:stretch>
        </p:blipFill>
        <p:spPr>
          <a:xfrm>
            <a:off x="411480" y="1551257"/>
            <a:ext cx="7223760" cy="4487005"/>
          </a:xfrm>
          <a:prstGeom prst="rect">
            <a:avLst/>
          </a:prstGeom>
        </p:spPr>
      </p:pic>
      <p:sp>
        <p:nvSpPr>
          <p:cNvPr id="7" name="TextBox 6"/>
          <p:cNvSpPr txBox="1"/>
          <p:nvPr/>
        </p:nvSpPr>
        <p:spPr>
          <a:xfrm>
            <a:off x="7543800" y="1051560"/>
            <a:ext cx="4251960" cy="5486400"/>
          </a:xfrm>
          <a:prstGeom prst="rect">
            <a:avLst/>
          </a:prstGeom>
          <a:noFill/>
        </p:spPr>
        <p:txBody>
          <a:bodyPr wrap="square">
            <a:spAutoFit/>
          </a:bodyPr>
          <a:lstStyle/>
          <a:p>
            <a:pPr indent="0" marL="0">
              <a:spcAft>
                <a:spcPts val="1000"/>
              </a:spcAft>
            </a:pPr>
            <a:r>
              <a:rPr sz="1700" b="1">
                <a:solidFill>
                  <a:srgbClr val="1F3864"/>
                </a:solidFill>
                <a:latin typeface="KoPub돋움체 Bold"/>
              </a:rPr>
              <a:t>▪ X̂i(t) = μ(t) + Σ(k=1..K) ξik·φk(t)</a:t>
            </a:r>
          </a:p>
          <a:p>
            <a:pPr indent="0" marL="0">
              <a:spcAft>
                <a:spcPts val="1000"/>
              </a:spcAft>
            </a:pPr>
            <a:r>
              <a:rPr sz="1500" b="1">
                <a:solidFill>
                  <a:srgbClr val="1A1A1A"/>
                </a:solidFill>
                <a:latin typeface="KoPub돋움체 Bold"/>
              </a:rPr>
              <a:t>▪ K=1: 전체 수준만 맞고 굴곡은 못 따라감</a:t>
            </a:r>
          </a:p>
          <a:p>
            <a:pPr indent="0" marL="0">
              <a:spcAft>
                <a:spcPts val="1000"/>
              </a:spcAft>
            </a:pPr>
            <a:r>
              <a:rPr sz="1500" b="1">
                <a:solidFill>
                  <a:srgbClr val="1A1A1A"/>
                </a:solidFill>
                <a:latin typeface="KoPub돋움체 Bold"/>
              </a:rPr>
              <a:t>▪ K=2: 큰 굴곡은 잡지만 세부 구간은 여전히 틀림</a:t>
            </a:r>
          </a:p>
          <a:p>
            <a:pPr indent="0" marL="0">
              <a:spcAft>
                <a:spcPts val="1000"/>
              </a:spcAft>
            </a:pPr>
            <a:r>
              <a:rPr sz="1500" b="1">
                <a:solidFill>
                  <a:srgbClr val="2E7D32"/>
                </a:solidFill>
                <a:latin typeface="KoPub돋움체 Bold"/>
              </a:rPr>
              <a:t>▪ K=8(본 연구 best_n): 실제 곡선과 거의 겹침</a:t>
            </a:r>
          </a:p>
          <a:p>
            <a:pPr indent="0" marL="256032">
              <a:spcAft>
                <a:spcPts val="1000"/>
              </a:spcAft>
            </a:pPr>
            <a:r>
              <a:rPr sz="1400" b="0">
                <a:solidFill>
                  <a:srgbClr val="1A1A1A"/>
                </a:solidFill>
                <a:latin typeface="KoPub돋움체 Medium"/>
              </a:rPr>
              <a:t>– → K 선택은 '몇 개면 원래 곡선을 충분히 되살리는가'의 직접적인 트레이드오프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13</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9. 계산</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계산 알고리즘 3종 — 언제 무엇을 쓰나</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11480" y="1051560"/>
          <a:ext cx="11338560" cy="2377440"/>
        </p:xfrm>
        <a:graphic>
          <a:graphicData uri="http://schemas.openxmlformats.org/drawingml/2006/table">
            <a:tbl>
              <a:tblPr firstRow="1" bandRow="1">
                <a:tableStyleId>{5C22544A-7EE6-4342-B048-85BDC9FD1C3A}</a:tableStyleId>
              </a:tblPr>
              <a:tblGrid>
                <a:gridCol w="3017520"/>
                <a:gridCol w="4572000"/>
                <a:gridCol w="3749040"/>
              </a:tblGrid>
              <a:tr h="594360">
                <a:tc>
                  <a:txBody>
                    <a:bodyPr/>
                    <a:lstStyle/>
                    <a:p>
                      <a:pPr algn="l"/>
                      <a:r>
                        <a:rPr sz="1500" b="1">
                          <a:solidFill>
                            <a:srgbClr val="FFFFFF"/>
                          </a:solidFill>
                          <a:latin typeface="KoPub돋움체 Bold"/>
                        </a:rPr>
                        <a:t>방법</a:t>
                      </a:r>
                    </a:p>
                  </a:txBody>
                  <a:tcPr anchor="ctr" marT="38100" marB="38100">
                    <a:solidFill>
                      <a:srgbClr val="1F3864"/>
                    </a:solidFill>
                  </a:tcPr>
                </a:tc>
                <a:tc>
                  <a:txBody>
                    <a:bodyPr/>
                    <a:lstStyle/>
                    <a:p>
                      <a:pPr algn="l"/>
                      <a:r>
                        <a:rPr sz="1500" b="1">
                          <a:solidFill>
                            <a:srgbClr val="FFFFFF"/>
                          </a:solidFill>
                          <a:latin typeface="KoPub돋움체 Bold"/>
                        </a:rPr>
                        <a:t>상황</a:t>
                      </a:r>
                    </a:p>
                  </a:txBody>
                  <a:tcPr anchor="ctr" marT="38100" marB="38100">
                    <a:solidFill>
                      <a:srgbClr val="1F3864"/>
                    </a:solidFill>
                  </a:tcPr>
                </a:tc>
                <a:tc>
                  <a:txBody>
                    <a:bodyPr/>
                    <a:lstStyle/>
                    <a:p>
                      <a:pPr algn="l"/>
                      <a:r>
                        <a:rPr sz="1500" b="1">
                          <a:solidFill>
                            <a:srgbClr val="FFFFFF"/>
                          </a:solidFill>
                          <a:latin typeface="KoPub돋움체 Bold"/>
                        </a:rPr>
                        <a:t>요지</a:t>
                      </a:r>
                    </a:p>
                  </a:txBody>
                  <a:tcPr anchor="ctr" marT="38100" marB="38100">
                    <a:solidFill>
                      <a:srgbClr val="1F3864"/>
                    </a:solidFill>
                  </a:tcPr>
                </a:tc>
              </a:tr>
              <a:tr h="594360">
                <a:tc>
                  <a:txBody>
                    <a:bodyPr/>
                    <a:lstStyle/>
                    <a:p>
                      <a:r>
                        <a:rPr sz="1500">
                          <a:solidFill>
                            <a:srgbClr val="1A1A1A"/>
                          </a:solidFill>
                          <a:latin typeface="KoPub돋움체 Medium"/>
                        </a:rPr>
                        <a:t>A. 격자 이산화 (dense)</a:t>
                      </a:r>
                    </a:p>
                  </a:txBody>
                  <a:tcPr anchor="ctr" marT="25400" marB="25400">
                    <a:solidFill>
                      <a:srgbClr val="FFFFFF"/>
                    </a:solidFill>
                  </a:tcPr>
                </a:tc>
                <a:tc>
                  <a:txBody>
                    <a:bodyPr/>
                    <a:lstStyle/>
                    <a:p>
                      <a:r>
                        <a:rPr sz="1500">
                          <a:solidFill>
                            <a:srgbClr val="1A1A1A"/>
                          </a:solidFill>
                          <a:latin typeface="KoPub돋움체 Medium"/>
                        </a:rPr>
                        <a:t>모든 사람 동일 시점, 촘촘 — 실무 90%</a:t>
                      </a:r>
                    </a:p>
                  </a:txBody>
                  <a:tcPr anchor="ctr" marT="25400" marB="25400">
                    <a:solidFill>
                      <a:srgbClr val="FFFFFF"/>
                    </a:solidFill>
                  </a:tcPr>
                </a:tc>
                <a:tc>
                  <a:txBody>
                    <a:bodyPr/>
                    <a:lstStyle/>
                    <a:p>
                      <a:r>
                        <a:rPr sz="1500">
                          <a:solidFill>
                            <a:srgbClr val="1A1A1A"/>
                          </a:solidFill>
                          <a:latin typeface="KoPub돋움체 Medium"/>
                        </a:rPr>
                        <a:t>n×p 행렬 그대로 공분산·고유분해</a:t>
                      </a:r>
                    </a:p>
                  </a:txBody>
                  <a:tcPr anchor="ctr" marT="25400" marB="25400">
                    <a:solidFill>
                      <a:srgbClr val="FFFFFF"/>
                    </a:solidFill>
                  </a:tcPr>
                </a:tc>
              </a:tr>
              <a:tr h="594360">
                <a:tc>
                  <a:txBody>
                    <a:bodyPr/>
                    <a:lstStyle/>
                    <a:p>
                      <a:r>
                        <a:rPr sz="1500">
                          <a:solidFill>
                            <a:srgbClr val="1A1A1A"/>
                          </a:solidFill>
                          <a:latin typeface="KoPub돋움체 Medium"/>
                        </a:rPr>
                        <a:t>B. 기저전개 후 계수 PCA</a:t>
                      </a:r>
                    </a:p>
                  </a:txBody>
                  <a:tcPr anchor="ctr" marT="25400" marB="25400">
                    <a:solidFill>
                      <a:srgbClr val="FAFBFD"/>
                    </a:solidFill>
                  </a:tcPr>
                </a:tc>
                <a:tc>
                  <a:txBody>
                    <a:bodyPr/>
                    <a:lstStyle/>
                    <a:p>
                      <a:r>
                        <a:rPr sz="1500">
                          <a:solidFill>
                            <a:srgbClr val="1A1A1A"/>
                          </a:solidFill>
                          <a:latin typeface="KoPub돋움체 Medium"/>
                        </a:rPr>
                        <a:t>스무딩을 명시적으로 하고 싶을 때</a:t>
                      </a:r>
                    </a:p>
                  </a:txBody>
                  <a:tcPr anchor="ctr" marT="25400" marB="25400">
                    <a:solidFill>
                      <a:srgbClr val="FAFBFD"/>
                    </a:solidFill>
                  </a:tcPr>
                </a:tc>
                <a:tc>
                  <a:txBody>
                    <a:bodyPr/>
                    <a:lstStyle/>
                    <a:p>
                      <a:r>
                        <a:rPr sz="1500">
                          <a:solidFill>
                            <a:srgbClr val="1A1A1A"/>
                          </a:solidFill>
                          <a:latin typeface="KoPub돋움체 Medium"/>
                        </a:rPr>
                        <a:t>R fda::pca.fd 방식</a:t>
                      </a:r>
                    </a:p>
                  </a:txBody>
                  <a:tcPr anchor="ctr" marT="25400" marB="25400">
                    <a:solidFill>
                      <a:srgbClr val="FAFBFD"/>
                    </a:solidFill>
                  </a:tcPr>
                </a:tc>
              </a:tr>
              <a:tr h="594360">
                <a:tc>
                  <a:txBody>
                    <a:bodyPr/>
                    <a:lstStyle/>
                    <a:p>
                      <a:r>
                        <a:rPr sz="1500">
                          <a:solidFill>
                            <a:srgbClr val="1A1A1A"/>
                          </a:solidFill>
                          <a:latin typeface="KoPub돋움체 Medium"/>
                        </a:rPr>
                        <a:t>C. PACE (sparse)</a:t>
                      </a:r>
                    </a:p>
                  </a:txBody>
                  <a:tcPr anchor="ctr" marT="25400" marB="25400">
                    <a:solidFill>
                      <a:srgbClr val="FFFFFF"/>
                    </a:solidFill>
                  </a:tcPr>
                </a:tc>
                <a:tc>
                  <a:txBody>
                    <a:bodyPr/>
                    <a:lstStyle/>
                    <a:p>
                      <a:r>
                        <a:rPr sz="1500">
                          <a:solidFill>
                            <a:srgbClr val="1A1A1A"/>
                          </a:solidFill>
                          <a:latin typeface="KoPub돋움체 Medium"/>
                        </a:rPr>
                        <a:t>사람마다 측정 시점 다르고 3~7개뿐</a:t>
                      </a:r>
                    </a:p>
                  </a:txBody>
                  <a:tcPr anchor="ctr" marT="25400" marB="25400">
                    <a:solidFill>
                      <a:srgbClr val="FFFFFF"/>
                    </a:solidFill>
                  </a:tcPr>
                </a:tc>
                <a:tc>
                  <a:txBody>
                    <a:bodyPr/>
                    <a:lstStyle/>
                    <a:p>
                      <a:r>
                        <a:rPr sz="1500">
                          <a:solidFill>
                            <a:srgbClr val="1A1A1A"/>
                          </a:solidFill>
                          <a:latin typeface="KoPub돋움체 Medium"/>
                        </a:rPr>
                        <a:t>조건부 기대값(BLUP)으로 점수 추정</a:t>
                      </a:r>
                    </a:p>
                  </a:txBody>
                  <a:tcPr anchor="ctr" marT="25400" marB="25400">
                    <a:solidFill>
                      <a:srgbClr val="FFFFFF"/>
                    </a:solidFill>
                  </a:tcPr>
                </a:tc>
              </a:tr>
            </a:tbl>
          </a:graphicData>
        </a:graphic>
      </p:graphicFrame>
      <p:sp>
        <p:nvSpPr>
          <p:cNvPr id="7" name="TextBox 6"/>
          <p:cNvSpPr txBox="1"/>
          <p:nvPr/>
        </p:nvSpPr>
        <p:spPr>
          <a:xfrm>
            <a:off x="411480" y="4617720"/>
            <a:ext cx="11338560" cy="1645920"/>
          </a:xfrm>
          <a:prstGeom prst="rect">
            <a:avLst/>
          </a:prstGeom>
          <a:noFill/>
        </p:spPr>
        <p:txBody>
          <a:bodyPr wrap="square">
            <a:spAutoFit/>
          </a:bodyPr>
          <a:lstStyle/>
          <a:p>
            <a:pPr indent="0" marL="0">
              <a:spcAft>
                <a:spcPts val="1000"/>
              </a:spcAft>
            </a:pPr>
            <a:r>
              <a:rPr sz="1700" b="1">
                <a:solidFill>
                  <a:srgbClr val="1F3864"/>
                </a:solidFill>
                <a:latin typeface="KoPub돋움체 Bold"/>
              </a:rPr>
              <a:t>▪ 본 연구(AEC-128) = 방법 A — 모든 환자 동일 128슬라이스·등간격 → sklearn.decomposition.PCA 직접 사용</a:t>
            </a:r>
          </a:p>
          <a:p>
            <a:pPr indent="0" marL="256032">
              <a:spcAft>
                <a:spcPts val="1000"/>
              </a:spcAft>
            </a:pPr>
            <a:r>
              <a:rPr sz="1500" b="0">
                <a:solidFill>
                  <a:srgbClr val="1A1A1A"/>
                </a:solidFill>
                <a:latin typeface="KoPub돋움체 Medium"/>
              </a:rPr>
              <a:t>– PACE로 얻은 점수는 0쪽으로 축소(shrinkage)된 값 — 그대로 회귀 설명변수로 쓰면 계수가 편향된다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14</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10. 구현</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파이썬 구현 핵심 3단계</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11338560" cy="2286000"/>
          </a:xfrm>
          <a:prstGeom prst="rect">
            <a:avLst/>
          </a:prstGeom>
          <a:noFill/>
        </p:spPr>
        <p:txBody>
          <a:bodyPr wrap="square">
            <a:spAutoFit/>
          </a:bodyPr>
          <a:lstStyle/>
          <a:p>
            <a:pPr indent="0" marL="0">
              <a:spcAft>
                <a:spcPts val="1000"/>
              </a:spcAft>
            </a:pPr>
            <a:r>
              <a:rPr sz="1700" b="1">
                <a:solidFill>
                  <a:srgbClr val="1A1A1A"/>
                </a:solidFill>
                <a:latin typeface="KoPub돋움체 Bold"/>
              </a:rPr>
              <a:t>▪ 1) 중심화: Xc = X − μ̂</a:t>
            </a:r>
          </a:p>
          <a:p>
            <a:pPr indent="0" marL="0">
              <a:spcAft>
                <a:spcPts val="1000"/>
              </a:spcAft>
            </a:pPr>
            <a:r>
              <a:rPr sz="1700" b="1">
                <a:solidFill>
                  <a:srgbClr val="1A1A1A"/>
                </a:solidFill>
                <a:latin typeface="KoPub돋움체 Bold"/>
              </a:rPr>
              <a:t>▪ 2) 공분산행렬 고유분해: C = XcᵀXc/(n−1) → eigh(C)</a:t>
            </a:r>
          </a:p>
          <a:p>
            <a:pPr indent="0" marL="0">
              <a:spcAft>
                <a:spcPts val="1000"/>
              </a:spcAft>
            </a:pPr>
            <a:r>
              <a:rPr sz="1700" b="1">
                <a:solidFill>
                  <a:srgbClr val="1A1A1A"/>
                </a:solidFill>
                <a:latin typeface="KoPub돋움체 Bold"/>
              </a:rPr>
              <a:t>▪ 3) 점수 = 적분(등간격이면 합) : ξik = Σj Xc[i,j]·φk(tj)·Δt</a:t>
            </a:r>
          </a:p>
          <a:p>
            <a:pPr indent="0" marL="256032">
              <a:spcAft>
                <a:spcPts val="1000"/>
              </a:spcAft>
            </a:pPr>
            <a:r>
              <a:rPr sz="1500" b="0">
                <a:solidFill>
                  <a:srgbClr val="1A1A1A"/>
                </a:solidFill>
                <a:latin typeface="KoPub돋움체 Medium"/>
              </a:rPr>
              <a:t>– 라이브러리: scikit-fda(FPCA), sklearn.PCA(dense 근사), R fda/fdapace</a:t>
            </a:r>
          </a:p>
        </p:txBody>
      </p:sp>
      <p:sp>
        <p:nvSpPr>
          <p:cNvPr id="7" name="Rectangle 6"/>
          <p:cNvSpPr/>
          <p:nvPr/>
        </p:nvSpPr>
        <p:spPr>
          <a:xfrm>
            <a:off x="411480" y="3520440"/>
            <a:ext cx="11338560" cy="2423160"/>
          </a:xfrm>
          <a:prstGeom prst="rect">
            <a:avLst/>
          </a:prstGeom>
          <a:solidFill>
            <a:srgbClr val="FFF6F6"/>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3520440"/>
            <a:ext cx="57150" cy="24231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639312"/>
            <a:ext cx="10972800" cy="2194560"/>
          </a:xfrm>
          <a:prstGeom prst="rect">
            <a:avLst/>
          </a:prstGeom>
          <a:noFill/>
        </p:spPr>
        <p:txBody>
          <a:bodyPr wrap="square">
            <a:spAutoFit/>
          </a:bodyPr>
          <a:lstStyle/>
          <a:p>
            <a:pPr indent="0" marL="0">
              <a:spcAft>
                <a:spcPts val="1000"/>
              </a:spcAft>
            </a:pPr>
            <a:r>
              <a:rPr sz="1800" b="1">
                <a:solidFill>
                  <a:srgbClr val="C00000"/>
                </a:solidFill>
                <a:latin typeface="KoPub돋움체 Bold"/>
              </a:rPr>
              <a:t>▪ ⚠ 가장 흔한 방법론적 실수: data leakage</a:t>
            </a:r>
          </a:p>
          <a:p>
            <a:pPr indent="0" marL="256032">
              <a:spcAft>
                <a:spcPts val="1000"/>
              </a:spcAft>
            </a:pPr>
            <a:r>
              <a:rPr sz="1600" b="0">
                <a:solidFill>
                  <a:srgbClr val="1A1A1A"/>
                </a:solidFill>
                <a:latin typeface="KoPub돋움체 Medium"/>
              </a:rPr>
              <a:t>– 전체 데이터로 FPCA(고유함수 추정)를 먼저 하고, 그 점수로 교차검증하면</a:t>
            </a:r>
          </a:p>
          <a:p>
            <a:pPr indent="0" marL="256032">
              <a:spcAft>
                <a:spcPts val="1000"/>
              </a:spcAft>
            </a:pPr>
            <a:r>
              <a:rPr sz="1600" b="0">
                <a:solidFill>
                  <a:srgbClr val="1A1A1A"/>
                </a:solidFill>
                <a:latin typeface="KoPub돋움체 Medium"/>
              </a:rPr>
              <a:t>– 검증 폴드 정보가 이미 고유함수 추정에 들어가 있어 성능이 과대평가된다</a:t>
            </a:r>
          </a:p>
          <a:p>
            <a:pPr indent="0" marL="256032">
              <a:spcAft>
                <a:spcPts val="1000"/>
              </a:spcAft>
            </a:pPr>
            <a:r>
              <a:rPr sz="1600" b="1">
                <a:solidFill>
                  <a:srgbClr val="1A1A1A"/>
                </a:solidFill>
                <a:latin typeface="KoPub돋움체 Bold"/>
              </a:rPr>
              <a:t>– 올바른 방법: FPCA 자체를 파이프라인 안에 넣어 학습 폴드에서만 고유함수 추정, 검증 폴드는 transform만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15</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11. 실전</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실전 함정 체크리스트</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51560"/>
            <a:ext cx="11338560" cy="1234440"/>
          </a:xfrm>
          <a:prstGeom prst="rect">
            <a:avLst/>
          </a:prstGeom>
          <a:solidFill>
            <a:srgbClr val="FFF6F6"/>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051560"/>
            <a:ext cx="57150" cy="1234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170432"/>
            <a:ext cx="10972800" cy="1097280"/>
          </a:xfrm>
          <a:prstGeom prst="rect">
            <a:avLst/>
          </a:prstGeom>
          <a:noFill/>
        </p:spPr>
        <p:txBody>
          <a:bodyPr wrap="square">
            <a:spAutoFit/>
          </a:bodyPr>
          <a:lstStyle/>
          <a:p>
            <a:pPr indent="0" marL="0">
              <a:spcAft>
                <a:spcPts val="1000"/>
              </a:spcAft>
            </a:pPr>
            <a:r>
              <a:rPr sz="1700" b="1">
                <a:solidFill>
                  <a:srgbClr val="C00000"/>
                </a:solidFill>
                <a:latin typeface="KoPub돋움체 Bold"/>
              </a:rPr>
              <a:t>▪ ① [최우선] 위치(phase) 정렬 문제 — 곡선들이 같은 t에서 진짜 비교 가능한 위치인지 확인</a:t>
            </a:r>
          </a:p>
          <a:p>
            <a:pPr indent="0" marL="256032">
              <a:spcAft>
                <a:spcPts val="1000"/>
              </a:spcAft>
            </a:pPr>
            <a:r>
              <a:rPr sz="1500" b="0">
                <a:solidFill>
                  <a:srgbClr val="1A1A1A"/>
                </a:solidFill>
                <a:latin typeface="KoPub돋움체 Medium"/>
              </a:rPr>
              <a:t>– 첫 고유함수가 평균곡선의 미분처럼 보이면 registration 미비를 의심</a:t>
            </a:r>
          </a:p>
        </p:txBody>
      </p:sp>
      <p:graphicFrame>
        <p:nvGraphicFramePr>
          <p:cNvPr id="9" name="Table 8"/>
          <p:cNvGraphicFramePr>
            <a:graphicFrameLocks noGrp="1"/>
          </p:cNvGraphicFramePr>
          <p:nvPr/>
        </p:nvGraphicFramePr>
        <p:xfrm>
          <a:off x="411480" y="2423160"/>
          <a:ext cx="11338559" cy="3566160"/>
        </p:xfrm>
        <a:graphic>
          <a:graphicData uri="http://schemas.openxmlformats.org/drawingml/2006/table">
            <a:tbl>
              <a:tblPr firstRow="1" bandRow="1">
                <a:tableStyleId>{5C22544A-7EE6-4342-B048-85BDC9FD1C3A}</a:tableStyleId>
              </a:tblPr>
              <a:tblGrid>
                <a:gridCol w="581464"/>
                <a:gridCol w="4457895"/>
                <a:gridCol w="6299200"/>
              </a:tblGrid>
              <a:tr h="445770">
                <a:tc>
                  <a:txBody>
                    <a:bodyPr/>
                    <a:lstStyle/>
                    <a:p>
                      <a:pPr algn="l"/>
                      <a:r>
                        <a:rPr sz="1350" b="1">
                          <a:solidFill>
                            <a:srgbClr val="FFFFFF"/>
                          </a:solidFill>
                          <a:latin typeface="KoPub돋움체 Bold"/>
                        </a:rPr>
                        <a:t>#</a:t>
                      </a:r>
                    </a:p>
                  </a:txBody>
                  <a:tcPr anchor="ctr" marT="38100" marB="38100">
                    <a:solidFill>
                      <a:srgbClr val="1F3864"/>
                    </a:solidFill>
                  </a:tcPr>
                </a:tc>
                <a:tc>
                  <a:txBody>
                    <a:bodyPr/>
                    <a:lstStyle/>
                    <a:p>
                      <a:pPr algn="l"/>
                      <a:r>
                        <a:rPr sz="1350" b="1">
                          <a:solidFill>
                            <a:srgbClr val="FFFFFF"/>
                          </a:solidFill>
                          <a:latin typeface="KoPub돋움체 Bold"/>
                        </a:rPr>
                        <a:t>함정</a:t>
                      </a:r>
                    </a:p>
                  </a:txBody>
                  <a:tcPr anchor="ctr" marT="38100" marB="38100">
                    <a:solidFill>
                      <a:srgbClr val="1F3864"/>
                    </a:solidFill>
                  </a:tcPr>
                </a:tc>
                <a:tc>
                  <a:txBody>
                    <a:bodyPr/>
                    <a:lstStyle/>
                    <a:p>
                      <a:pPr algn="l"/>
                      <a:r>
                        <a:rPr sz="1350" b="1">
                          <a:solidFill>
                            <a:srgbClr val="FFFFFF"/>
                          </a:solidFill>
                          <a:latin typeface="KoPub돋움체 Bold"/>
                        </a:rPr>
                        <a:t>대응</a:t>
                      </a:r>
                    </a:p>
                  </a:txBody>
                  <a:tcPr anchor="ctr" marT="38100" marB="38100">
                    <a:solidFill>
                      <a:srgbClr val="1F3864"/>
                    </a:solidFill>
                  </a:tcPr>
                </a:tc>
              </a:tr>
              <a:tr h="445770">
                <a:tc>
                  <a:txBody>
                    <a:bodyPr/>
                    <a:lstStyle/>
                    <a:p>
                      <a:r>
                        <a:rPr sz="1350">
                          <a:solidFill>
                            <a:srgbClr val="1A1A1A"/>
                          </a:solidFill>
                          <a:latin typeface="KoPub돋움체 Medium"/>
                        </a:rPr>
                        <a:t>2</a:t>
                      </a:r>
                    </a:p>
                  </a:txBody>
                  <a:tcPr anchor="ctr" marT="25400" marB="25400">
                    <a:solidFill>
                      <a:srgbClr val="FFFFFF"/>
                    </a:solidFill>
                  </a:tcPr>
                </a:tc>
                <a:tc>
                  <a:txBody>
                    <a:bodyPr/>
                    <a:lstStyle/>
                    <a:p>
                      <a:r>
                        <a:rPr sz="1350">
                          <a:solidFill>
                            <a:srgbClr val="1A1A1A"/>
                          </a:solidFill>
                          <a:latin typeface="KoPub돋움체 Medium"/>
                        </a:rPr>
                        <a:t>표본 크기 부족(n&lt;30)</a:t>
                      </a:r>
                    </a:p>
                  </a:txBody>
                  <a:tcPr anchor="ctr" marT="25400" marB="25400">
                    <a:solidFill>
                      <a:srgbClr val="FFFFFF"/>
                    </a:solidFill>
                  </a:tcPr>
                </a:tc>
                <a:tc>
                  <a:txBody>
                    <a:bodyPr/>
                    <a:lstStyle/>
                    <a:p>
                      <a:r>
                        <a:rPr sz="1350">
                          <a:solidFill>
                            <a:srgbClr val="1A1A1A"/>
                          </a:solidFill>
                          <a:latin typeface="KoPub돋움체 Medium"/>
                        </a:rPr>
                        <a:t>부트스트랩으로 신뢰구간, K를 1~2로 제한</a:t>
                      </a:r>
                    </a:p>
                  </a:txBody>
                  <a:tcPr anchor="ctr" marT="25400" marB="25400">
                    <a:solidFill>
                      <a:srgbClr val="FFFFFF"/>
                    </a:solidFill>
                  </a:tcPr>
                </a:tc>
              </a:tr>
              <a:tr h="445770">
                <a:tc>
                  <a:txBody>
                    <a:bodyPr/>
                    <a:lstStyle/>
                    <a:p>
                      <a:r>
                        <a:rPr sz="1350">
                          <a:solidFill>
                            <a:srgbClr val="1A1A1A"/>
                          </a:solidFill>
                          <a:latin typeface="KoPub돋움체 Medium"/>
                        </a:rPr>
                        <a:t>3</a:t>
                      </a:r>
                    </a:p>
                  </a:txBody>
                  <a:tcPr anchor="ctr" marT="25400" marB="25400">
                    <a:solidFill>
                      <a:srgbClr val="FAFBFD"/>
                    </a:solidFill>
                  </a:tcPr>
                </a:tc>
                <a:tc>
                  <a:txBody>
                    <a:bodyPr/>
                    <a:lstStyle/>
                    <a:p>
                      <a:r>
                        <a:rPr sz="1350">
                          <a:solidFill>
                            <a:srgbClr val="1A1A1A"/>
                          </a:solidFill>
                          <a:latin typeface="KoPub돋움체 Medium"/>
                        </a:rPr>
                        <a:t>측정 길이가 사람마다 다름</a:t>
                      </a:r>
                    </a:p>
                  </a:txBody>
                  <a:tcPr anchor="ctr" marT="25400" marB="25400">
                    <a:solidFill>
                      <a:srgbClr val="FAFBFD"/>
                    </a:solidFill>
                  </a:tcPr>
                </a:tc>
                <a:tc>
                  <a:txBody>
                    <a:bodyPr/>
                    <a:lstStyle/>
                    <a:p>
                      <a:r>
                        <a:rPr sz="1350">
                          <a:solidFill>
                            <a:srgbClr val="1A1A1A"/>
                          </a:solidFill>
                          <a:latin typeface="KoPub돋움체 Medium"/>
                        </a:rPr>
                        <a:t>정렬하거나 공통 구간으로 자름</a:t>
                      </a:r>
                    </a:p>
                  </a:txBody>
                  <a:tcPr anchor="ctr" marT="25400" marB="25400">
                    <a:solidFill>
                      <a:srgbClr val="FAFBFD"/>
                    </a:solidFill>
                  </a:tcPr>
                </a:tc>
              </a:tr>
              <a:tr h="445770">
                <a:tc>
                  <a:txBody>
                    <a:bodyPr/>
                    <a:lstStyle/>
                    <a:p>
                      <a:r>
                        <a:rPr sz="1350">
                          <a:solidFill>
                            <a:srgbClr val="1A1A1A"/>
                          </a:solidFill>
                          <a:latin typeface="KoPub돋움체 Medium"/>
                        </a:rPr>
                        <a:t>4</a:t>
                      </a:r>
                    </a:p>
                  </a:txBody>
                  <a:tcPr anchor="ctr" marT="25400" marB="25400">
                    <a:solidFill>
                      <a:srgbClr val="FFFFFF"/>
                    </a:solidFill>
                  </a:tcPr>
                </a:tc>
                <a:tc>
                  <a:txBody>
                    <a:bodyPr/>
                    <a:lstStyle/>
                    <a:p>
                      <a:r>
                        <a:rPr sz="1350">
                          <a:solidFill>
                            <a:srgbClr val="1A1A1A"/>
                          </a:solidFill>
                          <a:latin typeface="KoPub돋움체 Medium"/>
                        </a:rPr>
                        <a:t>고유값이 근접(λ2≈λ3)</a:t>
                      </a:r>
                    </a:p>
                  </a:txBody>
                  <a:tcPr anchor="ctr" marT="25400" marB="25400">
                    <a:solidFill>
                      <a:srgbClr val="FFFFFF"/>
                    </a:solidFill>
                  </a:tcPr>
                </a:tc>
                <a:tc>
                  <a:txBody>
                    <a:bodyPr/>
                    <a:lstStyle/>
                    <a:p>
                      <a:r>
                        <a:rPr sz="1350">
                          <a:solidFill>
                            <a:srgbClr val="1A1A1A"/>
                          </a:solidFill>
                          <a:latin typeface="KoPub돋움체 Medium"/>
                        </a:rPr>
                        <a:t>개별 해석 대신 부분공간 단위로 해석</a:t>
                      </a:r>
                    </a:p>
                  </a:txBody>
                  <a:tcPr anchor="ctr" marT="25400" marB="25400">
                    <a:solidFill>
                      <a:srgbClr val="FFFFFF"/>
                    </a:solidFill>
                  </a:tcPr>
                </a:tc>
              </a:tr>
              <a:tr h="445770">
                <a:tc>
                  <a:txBody>
                    <a:bodyPr/>
                    <a:lstStyle/>
                    <a:p>
                      <a:r>
                        <a:rPr sz="1350">
                          <a:solidFill>
                            <a:srgbClr val="1A1A1A"/>
                          </a:solidFill>
                          <a:latin typeface="KoPub돋움체 Medium"/>
                        </a:rPr>
                        <a:t>5</a:t>
                      </a:r>
                    </a:p>
                  </a:txBody>
                  <a:tcPr anchor="ctr" marT="25400" marB="25400">
                    <a:solidFill>
                      <a:srgbClr val="FAFBFD"/>
                    </a:solidFill>
                  </a:tcPr>
                </a:tc>
                <a:tc>
                  <a:txBody>
                    <a:bodyPr/>
                    <a:lstStyle/>
                    <a:p>
                      <a:r>
                        <a:rPr sz="1350">
                          <a:solidFill>
                            <a:srgbClr val="1A1A1A"/>
                          </a:solidFill>
                          <a:latin typeface="KoPub돋움체 Medium"/>
                        </a:rPr>
                        <a:t>이상치 곡선</a:t>
                      </a:r>
                    </a:p>
                  </a:txBody>
                  <a:tcPr anchor="ctr" marT="25400" marB="25400">
                    <a:solidFill>
                      <a:srgbClr val="FAFBFD"/>
                    </a:solidFill>
                  </a:tcPr>
                </a:tc>
                <a:tc>
                  <a:txBody>
                    <a:bodyPr/>
                    <a:lstStyle/>
                    <a:p>
                      <a:r>
                        <a:rPr sz="1350">
                          <a:solidFill>
                            <a:srgbClr val="1A1A1A"/>
                          </a:solidFill>
                          <a:latin typeface="KoPub돋움체 Medium"/>
                        </a:rPr>
                        <a:t>functional boxplot으로 사전 탐지</a:t>
                      </a:r>
                    </a:p>
                  </a:txBody>
                  <a:tcPr anchor="ctr" marT="25400" marB="25400">
                    <a:solidFill>
                      <a:srgbClr val="FAFBFD"/>
                    </a:solidFill>
                  </a:tcPr>
                </a:tc>
              </a:tr>
              <a:tr h="445770">
                <a:tc>
                  <a:txBody>
                    <a:bodyPr/>
                    <a:lstStyle/>
                    <a:p>
                      <a:r>
                        <a:rPr sz="1350">
                          <a:solidFill>
                            <a:srgbClr val="1A1A1A"/>
                          </a:solidFill>
                          <a:latin typeface="KoPub돋움체 Medium"/>
                        </a:rPr>
                        <a:t>6</a:t>
                      </a:r>
                    </a:p>
                  </a:txBody>
                  <a:tcPr anchor="ctr" marT="25400" marB="25400">
                    <a:solidFill>
                      <a:srgbClr val="FFFFFF"/>
                    </a:solidFill>
                  </a:tcPr>
                </a:tc>
                <a:tc>
                  <a:txBody>
                    <a:bodyPr/>
                    <a:lstStyle/>
                    <a:p>
                      <a:r>
                        <a:rPr sz="1350">
                          <a:solidFill>
                            <a:srgbClr val="1A1A1A"/>
                          </a:solidFill>
                          <a:latin typeface="KoPub돋움체 Medium"/>
                        </a:rPr>
                        <a:t>2단계 추정 불확실성 무시</a:t>
                      </a:r>
                    </a:p>
                  </a:txBody>
                  <a:tcPr anchor="ctr" marT="25400" marB="25400">
                    <a:solidFill>
                      <a:srgbClr val="FFFFFF"/>
                    </a:solidFill>
                  </a:tcPr>
                </a:tc>
                <a:tc>
                  <a:txBody>
                    <a:bodyPr/>
                    <a:lstStyle/>
                    <a:p>
                      <a:r>
                        <a:rPr sz="1350">
                          <a:solidFill>
                            <a:srgbClr val="1A1A1A"/>
                          </a:solidFill>
                          <a:latin typeface="KoPub돋움체 Medium"/>
                        </a:rPr>
                        <a:t>점수를 확정값처럼 쓰지 말 것</a:t>
                      </a:r>
                    </a:p>
                  </a:txBody>
                  <a:tcPr anchor="ctr" marT="25400" marB="25400">
                    <a:solidFill>
                      <a:srgbClr val="FFFFFF"/>
                    </a:solidFill>
                  </a:tcPr>
                </a:tc>
              </a:tr>
              <a:tr h="445770">
                <a:tc>
                  <a:txBody>
                    <a:bodyPr/>
                    <a:lstStyle/>
                    <a:p>
                      <a:r>
                        <a:rPr sz="1350">
                          <a:solidFill>
                            <a:srgbClr val="1A1A1A"/>
                          </a:solidFill>
                          <a:latin typeface="KoPub돋움체 Medium"/>
                        </a:rPr>
                        <a:t>7</a:t>
                      </a:r>
                    </a:p>
                  </a:txBody>
                  <a:tcPr anchor="ctr" marT="25400" marB="25400">
                    <a:solidFill>
                      <a:srgbClr val="FAFBFD"/>
                    </a:solidFill>
                  </a:tcPr>
                </a:tc>
                <a:tc>
                  <a:txBody>
                    <a:bodyPr/>
                    <a:lstStyle/>
                    <a:p>
                      <a:r>
                        <a:rPr sz="1350">
                          <a:solidFill>
                            <a:srgbClr val="1A1A1A"/>
                          </a:solidFill>
                          <a:latin typeface="KoPub돋움체 Medium"/>
                        </a:rPr>
                        <a:t>PC 점수와 결과변수의 무관성</a:t>
                      </a:r>
                    </a:p>
                  </a:txBody>
                  <a:tcPr anchor="ctr" marT="25400" marB="25400">
                    <a:solidFill>
                      <a:srgbClr val="FAFBFD"/>
                    </a:solidFill>
                  </a:tcPr>
                </a:tc>
                <a:tc>
                  <a:txBody>
                    <a:bodyPr/>
                    <a:lstStyle/>
                    <a:p>
                      <a:r>
                        <a:rPr sz="1350">
                          <a:solidFill>
                            <a:srgbClr val="1A1A1A"/>
                          </a:solidFill>
                          <a:latin typeface="KoPub돋움체 Medium"/>
                        </a:rPr>
                        <a:t>PC1이 아닌 PC3가 유의해도 문제 아님</a:t>
                      </a:r>
                    </a:p>
                  </a:txBody>
                  <a:tcPr anchor="ctr" marT="25400" marB="25400">
                    <a:solidFill>
                      <a:srgbClr val="FAFBFD"/>
                    </a:solidFill>
                  </a:tcPr>
                </a:tc>
              </a:tr>
              <a:tr h="445770">
                <a:tc>
                  <a:txBody>
                    <a:bodyPr/>
                    <a:lstStyle/>
                    <a:p>
                      <a:r>
                        <a:rPr sz="1350">
                          <a:solidFill>
                            <a:srgbClr val="1A1A1A"/>
                          </a:solidFill>
                          <a:latin typeface="KoPub돋움체 Medium"/>
                        </a:rPr>
                        <a:t>8</a:t>
                      </a:r>
                    </a:p>
                  </a:txBody>
                  <a:tcPr anchor="ctr" marT="25400" marB="25400">
                    <a:solidFill>
                      <a:srgbClr val="FFFFFF"/>
                    </a:solidFill>
                  </a:tcPr>
                </a:tc>
                <a:tc>
                  <a:txBody>
                    <a:bodyPr/>
                    <a:lstStyle/>
                    <a:p>
                      <a:r>
                        <a:rPr sz="1350">
                          <a:solidFill>
                            <a:srgbClr val="1A1A1A"/>
                          </a:solidFill>
                          <a:latin typeface="KoPub돋움체 Medium"/>
                        </a:rPr>
                        <a:t>해석 과신</a:t>
                      </a:r>
                    </a:p>
                  </a:txBody>
                  <a:tcPr anchor="ctr" marT="25400" marB="25400">
                    <a:solidFill>
                      <a:srgbClr val="FFFFFF"/>
                    </a:solidFill>
                  </a:tcPr>
                </a:tc>
                <a:tc>
                  <a:txBody>
                    <a:bodyPr/>
                    <a:lstStyle/>
                    <a:p>
                      <a:r>
                        <a:rPr sz="1350">
                          <a:solidFill>
                            <a:srgbClr val="1A1A1A"/>
                          </a:solidFill>
                          <a:latin typeface="KoPub돋움체 Medium"/>
                        </a:rPr>
                        <a:t>고유함수 이름에 생리학적 의미 과대부여 금지</a:t>
                      </a:r>
                    </a:p>
                  </a:txBody>
                  <a:tcPr anchor="ctr" marT="25400" marB="2540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16</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12–13. 확장 · 보고</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FPCA 다음 단계 &amp; 논문 보고 필수 항목</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5486400" cy="4846320"/>
          </a:xfrm>
          <a:prstGeom prst="rect">
            <a:avLst/>
          </a:prstGeom>
          <a:noFill/>
        </p:spPr>
        <p:txBody>
          <a:bodyPr wrap="square">
            <a:spAutoFit/>
          </a:bodyPr>
          <a:lstStyle/>
          <a:p>
            <a:pPr indent="0" marL="0">
              <a:spcAft>
                <a:spcPts val="1000"/>
              </a:spcAft>
            </a:pPr>
            <a:r>
              <a:rPr sz="1800" b="1">
                <a:solidFill>
                  <a:srgbClr val="1F3864"/>
                </a:solidFill>
                <a:latin typeface="KoPub돋움체 Bold"/>
              </a:rPr>
              <a:t>▪ 확장 방향</a:t>
            </a:r>
          </a:p>
          <a:p>
            <a:pPr indent="0" marL="256032">
              <a:spcAft>
                <a:spcPts val="1000"/>
              </a:spcAft>
            </a:pPr>
            <a:r>
              <a:rPr sz="1500" b="0">
                <a:solidFill>
                  <a:srgbClr val="1A1A1A"/>
                </a:solidFill>
                <a:latin typeface="KoPub돋움체 Medium"/>
              </a:rPr>
              <a:t>– 함수형 회귀(FPCR): 곡선으로 스칼라 결과 예측</a:t>
            </a:r>
          </a:p>
          <a:p>
            <a:pPr indent="0" marL="256032">
              <a:spcAft>
                <a:spcPts val="1000"/>
              </a:spcAft>
            </a:pPr>
            <a:r>
              <a:rPr sz="1500" b="0">
                <a:solidFill>
                  <a:srgbClr val="1A1A1A"/>
                </a:solidFill>
                <a:latin typeface="KoPub돋움체 Medium"/>
              </a:rPr>
              <a:t>– 함수형 분류/군집: 점수를 LDA·SVM·k-means에 투입</a:t>
            </a:r>
          </a:p>
          <a:p>
            <a:pPr indent="0" marL="256032">
              <a:spcAft>
                <a:spcPts val="1000"/>
              </a:spcAft>
            </a:pPr>
            <a:r>
              <a:rPr sz="1500" b="0">
                <a:solidFill>
                  <a:srgbClr val="1A1A1A"/>
                </a:solidFill>
                <a:latin typeface="KoPub돋움체 Medium"/>
              </a:rPr>
              <a:t>– 다변량 FPCA(MFPCA): 채널이 여러 개인 곡선 동시 분석</a:t>
            </a:r>
          </a:p>
          <a:p>
            <a:pPr indent="0" marL="256032">
              <a:spcAft>
                <a:spcPts val="1000"/>
              </a:spcAft>
            </a:pPr>
            <a:r>
              <a:rPr sz="1500" b="0">
                <a:solidFill>
                  <a:srgbClr val="1A1A1A"/>
                </a:solidFill>
                <a:latin typeface="KoPub돋움체 Medium"/>
              </a:rPr>
              <a:t>– Longitudinal FPCA: 반복 측정된 곡선(환자×방문×시간)</a:t>
            </a:r>
          </a:p>
        </p:txBody>
      </p:sp>
      <p:sp>
        <p:nvSpPr>
          <p:cNvPr id="7" name="TextBox 6"/>
          <p:cNvSpPr txBox="1"/>
          <p:nvPr/>
        </p:nvSpPr>
        <p:spPr>
          <a:xfrm>
            <a:off x="6309360" y="1051560"/>
            <a:ext cx="5486400" cy="4846320"/>
          </a:xfrm>
          <a:prstGeom prst="rect">
            <a:avLst/>
          </a:prstGeom>
          <a:noFill/>
        </p:spPr>
        <p:txBody>
          <a:bodyPr wrap="square">
            <a:spAutoFit/>
          </a:bodyPr>
          <a:lstStyle/>
          <a:p>
            <a:pPr indent="0" marL="0">
              <a:spcAft>
                <a:spcPts val="1000"/>
              </a:spcAft>
            </a:pPr>
            <a:r>
              <a:rPr sz="1800" b="1">
                <a:solidFill>
                  <a:srgbClr val="1F3864"/>
                </a:solidFill>
                <a:latin typeface="KoPub돋움체 Bold"/>
              </a:rPr>
              <a:t>▪ 보고 시 반드시 넣을 7항목</a:t>
            </a:r>
          </a:p>
          <a:p>
            <a:pPr indent="0" marL="256032">
              <a:spcAft>
                <a:spcPts val="1000"/>
              </a:spcAft>
            </a:pPr>
            <a:r>
              <a:rPr sz="1400" b="0">
                <a:solidFill>
                  <a:srgbClr val="1A1A1A"/>
                </a:solidFill>
                <a:latin typeface="KoPub돋움체 Medium"/>
              </a:rPr>
              <a:t>– ① 측정 설계(n, 격자, 결측률)  ② 전처리(정렬·스무딩·λ 선택)</a:t>
            </a:r>
          </a:p>
          <a:p>
            <a:pPr indent="0" marL="256032">
              <a:spcAft>
                <a:spcPts val="1000"/>
              </a:spcAft>
            </a:pPr>
            <a:r>
              <a:rPr sz="1400" b="0">
                <a:solidFill>
                  <a:srgbClr val="1A1A1A"/>
                </a:solidFill>
                <a:latin typeface="KoPub돋움체 Medium"/>
              </a:rPr>
              <a:t>– ③ 추정 알고리즘·버전  ④ 스크리플롯·분산설명%·K 선택 근거</a:t>
            </a:r>
          </a:p>
          <a:p>
            <a:pPr indent="0" marL="256032">
              <a:spcAft>
                <a:spcPts val="1000"/>
              </a:spcAft>
            </a:pPr>
            <a:r>
              <a:rPr sz="1400" b="0">
                <a:solidFill>
                  <a:srgbClr val="1A1A1A"/>
                </a:solidFill>
                <a:latin typeface="KoPub돋움체 Medium"/>
              </a:rPr>
              <a:t>– ⑤ perturbation plot + 부호 규칙  ⑥ 안정성(부트스트랩/민감도)</a:t>
            </a:r>
          </a:p>
          <a:p>
            <a:pPr indent="0" marL="256032">
              <a:spcAft>
                <a:spcPts val="1000"/>
              </a:spcAft>
            </a:pPr>
            <a:r>
              <a:rPr sz="1400" b="1">
                <a:solidFill>
                  <a:srgbClr val="C00000"/>
                </a:solidFill>
                <a:latin typeface="KoPub돋움체 Bold"/>
              </a:rPr>
              <a:t>– ⑦ data leakage 방지 서술(FPCA를 어느 데이터에서 수행했는지)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17</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14. FAQ</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자주 묻는 질문 Best 4 (본 연구 관련)</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11338560" cy="4937760"/>
          </a:xfrm>
          <a:prstGeom prst="rect">
            <a:avLst/>
          </a:prstGeom>
          <a:noFill/>
        </p:spPr>
        <p:txBody>
          <a:bodyPr wrap="square">
            <a:spAutoFit/>
          </a:bodyPr>
          <a:lstStyle/>
          <a:p>
            <a:pPr indent="0" marL="0">
              <a:spcAft>
                <a:spcPts val="1000"/>
              </a:spcAft>
            </a:pPr>
            <a:r>
              <a:rPr sz="1600" b="1">
                <a:solidFill>
                  <a:srgbClr val="1F3864"/>
                </a:solidFill>
                <a:latin typeface="KoPub돋움체 Bold"/>
              </a:rPr>
              <a:t>▪ Q. 첫 고유함수가 평균곡선의 미분처럼 생겼다. 무엇을 의심하나?</a:t>
            </a:r>
          </a:p>
          <a:p>
            <a:pPr indent="0" marL="256032">
              <a:spcAft>
                <a:spcPts val="1600"/>
              </a:spcAft>
            </a:pPr>
            <a:r>
              <a:rPr sz="1500" b="0">
                <a:solidFill>
                  <a:srgbClr val="1A1A1A"/>
                </a:solidFill>
                <a:latin typeface="KoPub돋움체 Medium"/>
              </a:rPr>
              <a:t>– A. 위치(phase) 정렬 문제. registration을 검토해야 한다.</a:t>
            </a:r>
          </a:p>
          <a:p>
            <a:pPr indent="0" marL="0">
              <a:spcAft>
                <a:spcPts val="1000"/>
              </a:spcAft>
            </a:pPr>
            <a:r>
              <a:rPr sz="1600" b="1">
                <a:solidFill>
                  <a:srgbClr val="1F3864"/>
                </a:solidFill>
                <a:latin typeface="KoPub돋움체 Bold"/>
              </a:rPr>
              <a:t>▪ Q. PC1은 분산 80%를 설명하는데 결과변수와 무관하고 PC3가 유의하다. 문제인가?</a:t>
            </a:r>
          </a:p>
          <a:p>
            <a:pPr indent="0" marL="256032">
              <a:spcAft>
                <a:spcPts val="1600"/>
              </a:spcAft>
            </a:pPr>
            <a:r>
              <a:rPr sz="1500" b="0">
                <a:solidFill>
                  <a:srgbClr val="1A1A1A"/>
                </a:solidFill>
                <a:latin typeface="KoPub돋움체 Medium"/>
              </a:rPr>
              <a:t>– A. 아니다. PCA는 비지도라 '분산이 큰 방향'과 '결과와 관련된 방향'은 다를 수 있다.</a:t>
            </a:r>
          </a:p>
          <a:p>
            <a:pPr indent="0" marL="0">
              <a:spcAft>
                <a:spcPts val="1000"/>
              </a:spcAft>
            </a:pPr>
            <a:r>
              <a:rPr sz="1600" b="1">
                <a:solidFill>
                  <a:srgbClr val="1F3864"/>
                </a:solidFill>
                <a:latin typeface="KoPub돋움체 Bold"/>
              </a:rPr>
              <a:t>▪ Q. FPCA 점수로 5-fold CV를 했더니 성능이 잘 나왔다. 뭘 확인해야 하나?</a:t>
            </a:r>
          </a:p>
          <a:p>
            <a:pPr indent="0" marL="256032">
              <a:spcAft>
                <a:spcPts val="1600"/>
              </a:spcAft>
            </a:pPr>
            <a:r>
              <a:rPr sz="1500" b="0">
                <a:solidFill>
                  <a:srgbClr val="1A1A1A"/>
                </a:solidFill>
                <a:latin typeface="KoPub돋움체 Medium"/>
              </a:rPr>
              <a:t>– A. FPCA를 전체 데이터로 먼저 했는지. 그랬다면 leakage로 과대평가된 것이다.</a:t>
            </a:r>
          </a:p>
          <a:p>
            <a:pPr indent="0" marL="0">
              <a:spcAft>
                <a:spcPts val="1000"/>
              </a:spcAft>
            </a:pPr>
            <a:r>
              <a:rPr sz="1600" b="1">
                <a:solidFill>
                  <a:srgbClr val="1F3864"/>
                </a:solidFill>
                <a:latin typeface="KoPub돋움체 Bold"/>
              </a:rPr>
              <a:t>▪ Q. 심사위원이 '왜 FPCA를, 그냥 PCA와 뭐가 다른가'라고 물으면?</a:t>
            </a:r>
          </a:p>
          <a:p>
            <a:pPr indent="0" marL="256032">
              <a:spcAft>
                <a:spcPts val="1600"/>
              </a:spcAft>
            </a:pPr>
            <a:r>
              <a:rPr sz="1500" b="0">
                <a:solidFill>
                  <a:srgbClr val="1A1A1A"/>
                </a:solidFill>
                <a:latin typeface="KoPub돋움체 Medium"/>
              </a:rPr>
              <a:t>– A. 셋 다 아니면(불규칙 측정/명시적 스무딩 필요/곡선 해석 필요) dense PCA와 실질적으로 같음을 인정.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18</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15. 본 연구 적용</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본 연구(AEC-128) 적용 현황 — 개요</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11338560" cy="4937760"/>
          </a:xfrm>
          <a:prstGeom prst="rect">
            <a:avLst/>
          </a:prstGeom>
          <a:noFill/>
        </p:spPr>
        <p:txBody>
          <a:bodyPr wrap="square">
            <a:spAutoFit/>
          </a:bodyPr>
          <a:lstStyle/>
          <a:p>
            <a:pPr indent="0" marL="0">
              <a:spcAft>
                <a:spcPts val="1000"/>
              </a:spcAft>
            </a:pPr>
            <a:r>
              <a:rPr sz="1800" b="1">
                <a:solidFill>
                  <a:srgbClr val="1F3864"/>
                </a:solidFill>
                <a:latin typeface="KoPub돋움체 Bold"/>
              </a:rPr>
              <a:t>▪ 결론: 계산 알고리즘 큰 틀은 방법 A(격자 이산화)와 일치</a:t>
            </a:r>
          </a:p>
          <a:p>
            <a:pPr indent="0" marL="256032">
              <a:spcAft>
                <a:spcPts val="1000"/>
              </a:spcAft>
            </a:pPr>
            <a:r>
              <a:rPr sz="1500" b="0">
                <a:solidFill>
                  <a:srgbClr val="1A1A1A"/>
                </a:solidFill>
                <a:latin typeface="KoPub돋움체 Medium"/>
              </a:rPr>
              <a:t>– code/step1_aec_fpca.py · code/step2_clinic_aec_ratio.py 모두 sklearn.decomposition.PCA를 raw 128슬라이스에 직접 적용</a:t>
            </a:r>
          </a:p>
          <a:p>
            <a:pPr indent="0" marL="0">
              <a:spcAft>
                <a:spcPts val="1000"/>
              </a:spcAft>
            </a:pPr>
            <a:r>
              <a:rPr sz="1700" b="1">
                <a:solidFill>
                  <a:srgbClr val="2E7D32"/>
                </a:solidFill>
                <a:latin typeface="KoPub돋움체 Bold"/>
              </a:rPr>
              <a:t>▪ 일치: 계산 알고리즘 — 등간격 Δt는 상수라 비율·회귀 R²에 영향 없음</a:t>
            </a:r>
          </a:p>
          <a:p>
            <a:pPr indent="0" marL="0">
              <a:spcAft>
                <a:spcPts val="1000"/>
              </a:spcAft>
            </a:pPr>
            <a:r>
              <a:rPr sz="1700" b="1">
                <a:solidFill>
                  <a:srgbClr val="C55A11"/>
                </a:solidFill>
                <a:latin typeface="KoPub돋움체 Bold"/>
              </a:rPr>
              <a:t>▪ 조건부 허용: 스무딩 생략 — 9.3절 '동일 격자·촘촘·잡음 작음' 조건에 부합, 다만 실제 잡음 수준 정량 확인은 안 됨</a:t>
            </a:r>
          </a:p>
          <a:p>
            <a:pPr indent="0" marL="0">
              <a:spcAft>
                <a:spcPts val="1000"/>
              </a:spcAft>
            </a:pPr>
            <a:r>
              <a:rPr sz="1700" b="1">
                <a:solidFill>
                  <a:srgbClr val="C00000"/>
                </a:solidFill>
                <a:latin typeface="KoPub돋움체 Bold"/>
              </a:rPr>
              <a:t>▪ 남은 불일치(다음 슬라이드): K 선택 기준(R² 단독 argmax, CPV·해석 가능성 미반영) — FPCA 자체의 교차검증 처리 방식(data leakage)은 수정 완료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19</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15. 본 연구 적용 — 가장 중요</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C00000"/>
                </a:solidFill>
                <a:latin typeface="KoPub돋움체 Bold"/>
              </a:rPr>
              <a:t>K 선택과 FPCA data leakage — leakage는 수정 완료(2026-08-12)</a:t>
            </a:r>
          </a:p>
        </p:txBody>
      </p:sp>
      <p:sp>
        <p:nvSpPr>
          <p:cNvPr id="5" name="Rectangle 4"/>
          <p:cNvSpPr/>
          <p:nvPr/>
        </p:nvSpPr>
        <p:spPr>
          <a:xfrm>
            <a:off x="411480" y="886968"/>
            <a:ext cx="11368735" cy="279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51560"/>
            <a:ext cx="11338560" cy="2834640"/>
          </a:xfrm>
          <a:prstGeom prst="rect">
            <a:avLst/>
          </a:prstGeom>
          <a:solidFill>
            <a:srgbClr val="FFF6F6"/>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051560"/>
            <a:ext cx="57150" cy="2834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170432"/>
            <a:ext cx="10972800" cy="2743200"/>
          </a:xfrm>
          <a:prstGeom prst="rect">
            <a:avLst/>
          </a:prstGeom>
          <a:noFill/>
        </p:spPr>
        <p:txBody>
          <a:bodyPr wrap="square">
            <a:spAutoFit/>
          </a:bodyPr>
          <a:lstStyle/>
          <a:p>
            <a:pPr indent="0" marL="0">
              <a:spcAft>
                <a:spcPts val="1000"/>
              </a:spcAft>
            </a:pPr>
            <a:r>
              <a:rPr sz="1500" b="1">
                <a:solidFill>
                  <a:srgbClr val="C00000"/>
                </a:solidFill>
                <a:latin typeface="KoPub돋움체 Bold"/>
              </a:rPr>
              <a:t>▪ code/step1_aec_fpca.py·step2_clinic_aec_ratio.py·step3_clinic_aec_logistic.py·step4_aec_diagnostics.py (select_best_fpca_n 등)</a:t>
            </a:r>
          </a:p>
          <a:p>
            <a:pPr indent="0" marL="256032">
              <a:spcAft>
                <a:spcPts val="1000"/>
              </a:spcAft>
            </a:pPr>
            <a:r>
              <a:rPr sz="1600" b="0">
                <a:solidFill>
                  <a:srgbClr val="1A1A1A"/>
                </a:solidFill>
                <a:latin typeface="KoPub돋움체 Medium"/>
              </a:rPr>
              <a:t>– [수정 전] PCA(...).fit(aec_int_raw)를 internal 코호트 전체에 대해 1회만 fit한 뒤 그 점수로 K-fold 검증</a:t>
            </a:r>
          </a:p>
          <a:p>
            <a:pPr indent="0" marL="256032">
              <a:spcAft>
                <a:spcPts val="1000"/>
              </a:spcAft>
            </a:pPr>
            <a:r>
              <a:rPr sz="1600" b="0">
                <a:solidFill>
                  <a:srgbClr val="1A1A1A"/>
                </a:solidFill>
                <a:latin typeface="KoPub돋움체 Medium"/>
              </a:rPr>
              <a:t>– [수정 후] PCA fit을 K-fold 루프 안(train_idx)으로 옮겨, 검증 fold는 학습된 고유함수에 transform만 하도록 정정</a:t>
            </a:r>
          </a:p>
          <a:p>
            <a:pPr indent="0" marL="256032">
              <a:spcAft>
                <a:spcPts val="1000"/>
              </a:spcAft>
            </a:pPr>
            <a:r>
              <a:rPr sz="1600" b="1">
                <a:solidFill>
                  <a:srgbClr val="1A1A1A"/>
                </a:solidFill>
                <a:latin typeface="KoPub돋움체 Bold"/>
              </a:rPr>
              <a:t>– 실제 재산출 결과: internal OOF R²는 소수점 3자리 수준의 미세한 변화에 그침(n=700+ 대표본이라 낙관편향의 실질 크기는 작았음, best n만 8→12로 이동 — n=6~20 구간이 R²=0.573~0.576으로 사실상 평탄해 큰 의미는 없음)</a:t>
            </a:r>
          </a:p>
          <a:p>
            <a:pPr indent="0" marL="256032">
              <a:spcAft>
                <a:spcPts val="1000"/>
              </a:spcAft>
            </a:pPr>
            <a:r>
              <a:rPr sz="1600" b="0">
                <a:solidFill>
                  <a:srgbClr val="1A1A1A"/>
                </a:solidFill>
                <a:latin typeface="KoPub돋움체 Medium"/>
              </a:rPr>
              <a:t>– (별개 이슈, 미해결) best_n 선택은 여전히 CPV·해석 가능성 없이 R² 최댓값 단독 기준 — 10번 슬라이드 경고와 동일 패턴</a:t>
            </a:r>
          </a:p>
        </p:txBody>
      </p:sp>
      <p:sp>
        <p:nvSpPr>
          <p:cNvPr id="9" name="TextBox 8"/>
          <p:cNvSpPr txBox="1"/>
          <p:nvPr/>
        </p:nvSpPr>
        <p:spPr>
          <a:xfrm>
            <a:off x="411480" y="4251960"/>
            <a:ext cx="11338560" cy="2011680"/>
          </a:xfrm>
          <a:prstGeom prst="rect">
            <a:avLst/>
          </a:prstGeom>
          <a:noFill/>
        </p:spPr>
        <p:txBody>
          <a:bodyPr wrap="square">
            <a:spAutoFit/>
          </a:bodyPr>
          <a:lstStyle/>
          <a:p>
            <a:pPr indent="0" marL="0">
              <a:spcAft>
                <a:spcPts val="1000"/>
              </a:spcAft>
            </a:pPr>
            <a:r>
              <a:rPr sz="1600" b="1">
                <a:solidFill>
                  <a:srgbClr val="2E7D32"/>
                </a:solidFill>
                <a:latin typeface="KoPub돋움체 Bold"/>
              </a:rPr>
              <a:t>▪ 영향 범위: internal OOF R² 절대값과 best_n 선택 결과에 한정</a:t>
            </a:r>
          </a:p>
          <a:p>
            <a:pPr indent="0" marL="256032">
              <a:spcAft>
                <a:spcPts val="1000"/>
              </a:spcAft>
            </a:pPr>
            <a:r>
              <a:rPr sz="1500" b="0">
                <a:solidFill>
                  <a:srgbClr val="1A1A1A"/>
                </a:solidFill>
                <a:latin typeface="KoPub돋움체 Medium"/>
              </a:rPr>
              <a:t>– external은 이미 동결 모델 1회 검증용으로 분리되어 있어 최종 검증 수치는 영향받지 않음</a:t>
            </a:r>
          </a:p>
          <a:p>
            <a:pPr indent="0" marL="256032">
              <a:spcAft>
                <a:spcPts val="1000"/>
              </a:spcAft>
            </a:pPr>
            <a:r>
              <a:rPr sz="1500" b="0">
                <a:solidFill>
                  <a:srgbClr val="1A1A1A"/>
                </a:solidFill>
                <a:latin typeface="KoPub돋움체 Medium"/>
              </a:rPr>
              <a:t>– 정정 완료: step1~4 4개 파일 모두 PCA fit을 KFold train_idx 안으로 이동(2026-08-12), 결과지(pptx) 이미지·수치도 재산출분으로 갱신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20</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15. 본 연구 적용</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Registration 예비 점검 &amp; 최종 비교표</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gistration_check.png"/>
          <p:cNvPicPr>
            <a:picLocks noChangeAspect="1"/>
          </p:cNvPicPr>
          <p:nvPr/>
        </p:nvPicPr>
        <p:blipFill>
          <a:blip r:embed="rId2"/>
          <a:stretch>
            <a:fillRect/>
          </a:stretch>
        </p:blipFill>
        <p:spPr>
          <a:xfrm>
            <a:off x="916098" y="1051560"/>
            <a:ext cx="4980083" cy="2468880"/>
          </a:xfrm>
          <a:prstGeom prst="rect">
            <a:avLst/>
          </a:prstGeom>
        </p:spPr>
      </p:pic>
      <p:sp>
        <p:nvSpPr>
          <p:cNvPr id="7" name="TextBox 6"/>
          <p:cNvSpPr txBox="1"/>
          <p:nvPr/>
        </p:nvSpPr>
        <p:spPr>
          <a:xfrm>
            <a:off x="6537960" y="1051560"/>
            <a:ext cx="5257800" cy="2468880"/>
          </a:xfrm>
          <a:prstGeom prst="rect">
            <a:avLst/>
          </a:prstGeom>
          <a:noFill/>
        </p:spPr>
        <p:txBody>
          <a:bodyPr wrap="square">
            <a:spAutoFit/>
          </a:bodyPr>
          <a:lstStyle/>
          <a:p>
            <a:pPr indent="0" marL="0">
              <a:spcAft>
                <a:spcPts val="1000"/>
              </a:spcAft>
            </a:pPr>
            <a:r>
              <a:rPr sz="1600" b="1">
                <a:solidFill>
                  <a:srgbClr val="C55A11"/>
                </a:solidFill>
                <a:latin typeface="KoPub돋움체 Bold"/>
              </a:rPr>
              <a:t>▪ 실측: 환자별 곡선 최댓값 위치 — 평균 슬라이스 29, SD 34 (n=1090)</a:t>
            </a:r>
          </a:p>
          <a:p>
            <a:pPr indent="0" marL="256032">
              <a:spcAft>
                <a:spcPts val="1000"/>
              </a:spcAft>
            </a:pPr>
            <a:r>
              <a:rPr sz="1400" b="0">
                <a:solidFill>
                  <a:srgbClr val="1A1A1A"/>
                </a:solidFill>
                <a:latin typeface="KoPub돋움체 Medium"/>
              </a:rPr>
              <a:t>– 절반 이상이 슬라이스 1~20에 몰리지만 나머지는 128 전 구간에 넓게 분포</a:t>
            </a:r>
          </a:p>
          <a:p>
            <a:pPr indent="0" marL="256032">
              <a:spcAft>
                <a:spcPts val="1000"/>
              </a:spcAft>
            </a:pPr>
            <a:r>
              <a:rPr sz="1400" b="0">
                <a:solidFill>
                  <a:srgbClr val="1A1A1A"/>
                </a:solidFill>
                <a:latin typeface="KoPub돋움체 Medium"/>
              </a:rPr>
              <a:t>– 이 흩어짐이 registration 미비 때문인지, 환자 간 실제 해부학적 다양성인지는 이 그래프만으로 판단 불가 — 확정 아님</a:t>
            </a:r>
          </a:p>
          <a:p>
            <a:pPr indent="0" marL="256032">
              <a:spcAft>
                <a:spcPts val="1000"/>
              </a:spcAft>
            </a:pPr>
            <a:r>
              <a:rPr sz="1400" b="0">
                <a:solidFill>
                  <a:srgbClr val="C55A11"/>
                </a:solidFill>
                <a:latin typeface="KoPub돋움체 Medium"/>
              </a:rPr>
              <a:t>– 스캔 범위가 환자 신장 등에 따라 달라지면 PC1이 '형태' 대신 '위치 shift'를 잡아낼 위험</a:t>
            </a:r>
          </a:p>
        </p:txBody>
      </p:sp>
      <p:graphicFrame>
        <p:nvGraphicFramePr>
          <p:cNvPr id="8" name="Table 7"/>
          <p:cNvGraphicFramePr>
            <a:graphicFrameLocks noGrp="1"/>
          </p:cNvGraphicFramePr>
          <p:nvPr/>
        </p:nvGraphicFramePr>
        <p:xfrm>
          <a:off x="411480" y="3703320"/>
          <a:ext cx="11338560" cy="2606040"/>
        </p:xfrm>
        <a:graphic>
          <a:graphicData uri="http://schemas.openxmlformats.org/drawingml/2006/table">
            <a:tbl>
              <a:tblPr firstRow="1" bandRow="1">
                <a:tableStyleId>{5C22544A-7EE6-4342-B048-85BDC9FD1C3A}</a:tableStyleId>
              </a:tblPr>
              <a:tblGrid>
                <a:gridCol w="2194560"/>
                <a:gridCol w="3108960"/>
                <a:gridCol w="4114800"/>
                <a:gridCol w="1920240"/>
              </a:tblGrid>
              <a:tr h="434340">
                <a:tc>
                  <a:txBody>
                    <a:bodyPr/>
                    <a:lstStyle/>
                    <a:p>
                      <a:pPr algn="l"/>
                      <a:r>
                        <a:rPr sz="1300" b="1">
                          <a:solidFill>
                            <a:srgbClr val="FFFFFF"/>
                          </a:solidFill>
                          <a:latin typeface="KoPub돋움체 Bold"/>
                        </a:rPr>
                        <a:t>항목</a:t>
                      </a:r>
                    </a:p>
                  </a:txBody>
                  <a:tcPr anchor="ctr" marT="38100" marB="38100">
                    <a:solidFill>
                      <a:srgbClr val="1F3864"/>
                    </a:solidFill>
                  </a:tcPr>
                </a:tc>
                <a:tc>
                  <a:txBody>
                    <a:bodyPr/>
                    <a:lstStyle/>
                    <a:p>
                      <a:pPr algn="l"/>
                      <a:r>
                        <a:rPr sz="1300" b="1">
                          <a:solidFill>
                            <a:srgbClr val="FFFFFF"/>
                          </a:solidFill>
                          <a:latin typeface="KoPub돋움체 Bold"/>
                        </a:rPr>
                        <a:t>일반론(이 자료)</a:t>
                      </a:r>
                    </a:p>
                  </a:txBody>
                  <a:tcPr anchor="ctr" marT="38100" marB="38100">
                    <a:solidFill>
                      <a:srgbClr val="1F3864"/>
                    </a:solidFill>
                  </a:tcPr>
                </a:tc>
                <a:tc>
                  <a:txBody>
                    <a:bodyPr/>
                    <a:lstStyle/>
                    <a:p>
                      <a:pPr algn="l"/>
                      <a:r>
                        <a:rPr sz="1300" b="1">
                          <a:solidFill>
                            <a:srgbClr val="FFFFFF"/>
                          </a:solidFill>
                          <a:latin typeface="KoPub돋움체 Bold"/>
                        </a:rPr>
                        <a:t>본 연구 구현</a:t>
                      </a:r>
                    </a:p>
                  </a:txBody>
                  <a:tcPr anchor="ctr" marT="38100" marB="38100">
                    <a:solidFill>
                      <a:srgbClr val="1F3864"/>
                    </a:solidFill>
                  </a:tcPr>
                </a:tc>
                <a:tc>
                  <a:txBody>
                    <a:bodyPr/>
                    <a:lstStyle/>
                    <a:p>
                      <a:pPr algn="l"/>
                      <a:r>
                        <a:rPr sz="1300" b="1">
                          <a:solidFill>
                            <a:srgbClr val="FFFFFF"/>
                          </a:solidFill>
                          <a:latin typeface="KoPub돋움체 Bold"/>
                        </a:rPr>
                        <a:t>일치 여부</a:t>
                      </a:r>
                    </a:p>
                  </a:txBody>
                  <a:tcPr anchor="ctr" marT="38100" marB="38100">
                    <a:solidFill>
                      <a:srgbClr val="1F3864"/>
                    </a:solidFill>
                  </a:tcPr>
                </a:tc>
              </a:tr>
              <a:tr h="434340">
                <a:tc>
                  <a:txBody>
                    <a:bodyPr/>
                    <a:lstStyle/>
                    <a:p>
                      <a:r>
                        <a:rPr sz="1300">
                          <a:solidFill>
                            <a:srgbClr val="1A1A1A"/>
                          </a:solidFill>
                          <a:latin typeface="KoPub돋움체 Medium"/>
                        </a:rPr>
                        <a:t>계산 알고리즘</a:t>
                      </a:r>
                    </a:p>
                  </a:txBody>
                  <a:tcPr anchor="ctr" marT="25400" marB="25400">
                    <a:solidFill>
                      <a:srgbClr val="FFFFFF"/>
                    </a:solidFill>
                  </a:tcPr>
                </a:tc>
                <a:tc>
                  <a:txBody>
                    <a:bodyPr/>
                    <a:lstStyle/>
                    <a:p>
                      <a:r>
                        <a:rPr sz="1300">
                          <a:solidFill>
                            <a:srgbClr val="1A1A1A"/>
                          </a:solidFill>
                          <a:latin typeface="KoPub돋움체 Medium"/>
                        </a:rPr>
                        <a:t>방법 A(등간격 dense)</a:t>
                      </a:r>
                    </a:p>
                  </a:txBody>
                  <a:tcPr anchor="ctr" marT="25400" marB="25400">
                    <a:solidFill>
                      <a:srgbClr val="FFFFFF"/>
                    </a:solidFill>
                  </a:tcPr>
                </a:tc>
                <a:tc>
                  <a:txBody>
                    <a:bodyPr/>
                    <a:lstStyle/>
                    <a:p>
                      <a:r>
                        <a:rPr sz="1300">
                          <a:solidFill>
                            <a:srgbClr val="1A1A1A"/>
                          </a:solidFill>
                          <a:latin typeface="KoPub돋움체 Medium"/>
                        </a:rPr>
                        <a:t>raw 128슬라이스 sklearn PCA</a:t>
                      </a:r>
                    </a:p>
                  </a:txBody>
                  <a:tcPr anchor="ctr" marT="25400" marB="25400">
                    <a:solidFill>
                      <a:srgbClr val="FFFFFF"/>
                    </a:solidFill>
                  </a:tcPr>
                </a:tc>
                <a:tc>
                  <a:txBody>
                    <a:bodyPr/>
                    <a:lstStyle/>
                    <a:p>
                      <a:r>
                        <a:rPr sz="1300">
                          <a:solidFill>
                            <a:srgbClr val="1A1A1A"/>
                          </a:solidFill>
                          <a:latin typeface="KoPub돋움체 Medium"/>
                        </a:rPr>
                        <a:t>일치</a:t>
                      </a:r>
                    </a:p>
                  </a:txBody>
                  <a:tcPr anchor="ctr" marT="25400" marB="25400">
                    <a:solidFill>
                      <a:srgbClr val="FFFFFF"/>
                    </a:solidFill>
                  </a:tcPr>
                </a:tc>
              </a:tr>
              <a:tr h="434340">
                <a:tc>
                  <a:txBody>
                    <a:bodyPr/>
                    <a:lstStyle/>
                    <a:p>
                      <a:r>
                        <a:rPr sz="1300">
                          <a:solidFill>
                            <a:srgbClr val="1A1A1A"/>
                          </a:solidFill>
                          <a:latin typeface="KoPub돋움체 Medium"/>
                        </a:rPr>
                        <a:t>스무딩</a:t>
                      </a:r>
                    </a:p>
                  </a:txBody>
                  <a:tcPr anchor="ctr" marT="25400" marB="25400">
                    <a:solidFill>
                      <a:srgbClr val="FAFBFD"/>
                    </a:solidFill>
                  </a:tcPr>
                </a:tc>
                <a:tc>
                  <a:txBody>
                    <a:bodyPr/>
                    <a:lstStyle/>
                    <a:p>
                      <a:r>
                        <a:rPr sz="1300">
                          <a:solidFill>
                            <a:srgbClr val="1A1A1A"/>
                          </a:solidFill>
                          <a:latin typeface="KoPub돋움체 Medium"/>
                        </a:rPr>
                        <a:t>basis expansion + GCV λ</a:t>
                      </a:r>
                    </a:p>
                  </a:txBody>
                  <a:tcPr anchor="ctr" marT="25400" marB="25400">
                    <a:solidFill>
                      <a:srgbClr val="FAFBFD"/>
                    </a:solidFill>
                  </a:tcPr>
                </a:tc>
                <a:tc>
                  <a:txBody>
                    <a:bodyPr/>
                    <a:lstStyle/>
                    <a:p>
                      <a:r>
                        <a:rPr sz="1300">
                          <a:solidFill>
                            <a:srgbClr val="1A1A1A"/>
                          </a:solidFill>
                          <a:latin typeface="KoPub돋움체 Medium"/>
                        </a:rPr>
                        <a:t>없음(raw 그대로)</a:t>
                      </a:r>
                    </a:p>
                  </a:txBody>
                  <a:tcPr anchor="ctr" marT="25400" marB="25400">
                    <a:solidFill>
                      <a:srgbClr val="FAFBFD"/>
                    </a:solidFill>
                  </a:tcPr>
                </a:tc>
                <a:tc>
                  <a:txBody>
                    <a:bodyPr/>
                    <a:lstStyle/>
                    <a:p>
                      <a:r>
                        <a:rPr sz="1300">
                          <a:solidFill>
                            <a:srgbClr val="1A1A1A"/>
                          </a:solidFill>
                          <a:latin typeface="KoPub돋움체 Medium"/>
                        </a:rPr>
                        <a:t>조건부 허용</a:t>
                      </a:r>
                    </a:p>
                  </a:txBody>
                  <a:tcPr anchor="ctr" marT="25400" marB="25400">
                    <a:solidFill>
                      <a:srgbClr val="FAFBFD"/>
                    </a:solidFill>
                  </a:tcPr>
                </a:tc>
              </a:tr>
              <a:tr h="434340">
                <a:tc>
                  <a:txBody>
                    <a:bodyPr/>
                    <a:lstStyle/>
                    <a:p>
                      <a:r>
                        <a:rPr sz="1300">
                          <a:solidFill>
                            <a:srgbClr val="1A1A1A"/>
                          </a:solidFill>
                          <a:latin typeface="KoPub돋움체 Medium"/>
                        </a:rPr>
                        <a:t>K 선택 기준</a:t>
                      </a:r>
                    </a:p>
                  </a:txBody>
                  <a:tcPr anchor="ctr" marT="25400" marB="25400">
                    <a:solidFill>
                      <a:srgbClr val="FFFFFF"/>
                    </a:solidFill>
                  </a:tcPr>
                </a:tc>
                <a:tc>
                  <a:txBody>
                    <a:bodyPr/>
                    <a:lstStyle/>
                    <a:p>
                      <a:r>
                        <a:rPr sz="1300">
                          <a:solidFill>
                            <a:srgbClr val="1A1A1A"/>
                          </a:solidFill>
                          <a:latin typeface="KoPub돋움체 Medium"/>
                        </a:rPr>
                        <a:t>CPV+해석+CV성능 결합</a:t>
                      </a:r>
                    </a:p>
                  </a:txBody>
                  <a:tcPr anchor="ctr" marT="25400" marB="25400">
                    <a:solidFill>
                      <a:srgbClr val="FFFFFF"/>
                    </a:solidFill>
                  </a:tcPr>
                </a:tc>
                <a:tc>
                  <a:txBody>
                    <a:bodyPr/>
                    <a:lstStyle/>
                    <a:p>
                      <a:r>
                        <a:rPr sz="1300">
                          <a:solidFill>
                            <a:srgbClr val="1A1A1A"/>
                          </a:solidFill>
                          <a:latin typeface="KoPub돋움체 Medium"/>
                        </a:rPr>
                        <a:t>다운스트림 CV R² 단독</a:t>
                      </a:r>
                    </a:p>
                  </a:txBody>
                  <a:tcPr anchor="ctr" marT="25400" marB="25400">
                    <a:solidFill>
                      <a:srgbClr val="FFFFFF"/>
                    </a:solidFill>
                  </a:tcPr>
                </a:tc>
                <a:tc>
                  <a:txBody>
                    <a:bodyPr/>
                    <a:lstStyle/>
                    <a:p>
                      <a:r>
                        <a:rPr sz="1300">
                          <a:solidFill>
                            <a:srgbClr val="1A1A1A"/>
                          </a:solidFill>
                          <a:latin typeface="KoPub돋움체 Medium"/>
                        </a:rPr>
                        <a:t>불일치</a:t>
                      </a:r>
                    </a:p>
                  </a:txBody>
                  <a:tcPr anchor="ctr" marT="25400" marB="25400">
                    <a:solidFill>
                      <a:srgbClr val="FFFFFF"/>
                    </a:solidFill>
                  </a:tcPr>
                </a:tc>
              </a:tr>
              <a:tr h="434340">
                <a:tc>
                  <a:txBody>
                    <a:bodyPr/>
                    <a:lstStyle/>
                    <a:p>
                      <a:r>
                        <a:rPr sz="1300">
                          <a:solidFill>
                            <a:srgbClr val="1A1A1A"/>
                          </a:solidFill>
                          <a:latin typeface="KoPub돋움체 Medium"/>
                        </a:rPr>
                        <a:t>FPCA의 CV 처리</a:t>
                      </a:r>
                    </a:p>
                  </a:txBody>
                  <a:tcPr anchor="ctr" marT="25400" marB="25400">
                    <a:solidFill>
                      <a:srgbClr val="FAFBFD"/>
                    </a:solidFill>
                  </a:tcPr>
                </a:tc>
                <a:tc>
                  <a:txBody>
                    <a:bodyPr/>
                    <a:lstStyle/>
                    <a:p>
                      <a:r>
                        <a:rPr sz="1300">
                          <a:solidFill>
                            <a:srgbClr val="1A1A1A"/>
                          </a:solidFill>
                          <a:latin typeface="KoPub돋움체 Medium"/>
                        </a:rPr>
                        <a:t>학습 폴드 내부에서만 재fit</a:t>
                      </a:r>
                    </a:p>
                  </a:txBody>
                  <a:tcPr anchor="ctr" marT="25400" marB="25400">
                    <a:solidFill>
                      <a:srgbClr val="FAFBFD"/>
                    </a:solidFill>
                  </a:tcPr>
                </a:tc>
                <a:tc>
                  <a:txBody>
                    <a:bodyPr/>
                    <a:lstStyle/>
                    <a:p>
                      <a:r>
                        <a:rPr sz="1300">
                          <a:solidFill>
                            <a:srgbClr val="1A1A1A"/>
                          </a:solidFill>
                          <a:latin typeface="KoPub돋움체 Medium"/>
                        </a:rPr>
                        <a:t>internal 전체 1회 fit 후 다운스트림만 CV</a:t>
                      </a:r>
                    </a:p>
                  </a:txBody>
                  <a:tcPr anchor="ctr" marT="25400" marB="25400">
                    <a:solidFill>
                      <a:srgbClr val="FAFBFD"/>
                    </a:solidFill>
                  </a:tcPr>
                </a:tc>
                <a:tc>
                  <a:txBody>
                    <a:bodyPr/>
                    <a:lstStyle/>
                    <a:p>
                      <a:r>
                        <a:rPr sz="1300">
                          <a:solidFill>
                            <a:srgbClr val="1A1A1A"/>
                          </a:solidFill>
                          <a:latin typeface="KoPub돋움체 Medium"/>
                        </a:rPr>
                        <a:t>불일치</a:t>
                      </a:r>
                    </a:p>
                  </a:txBody>
                  <a:tcPr anchor="ctr" marT="25400" marB="25400">
                    <a:solidFill>
                      <a:srgbClr val="FAFBFD"/>
                    </a:solidFill>
                  </a:tcPr>
                </a:tc>
              </a:tr>
              <a:tr h="434340">
                <a:tc>
                  <a:txBody>
                    <a:bodyPr/>
                    <a:lstStyle/>
                    <a:p>
                      <a:r>
                        <a:rPr sz="1300">
                          <a:solidFill>
                            <a:srgbClr val="1A1A1A"/>
                          </a:solidFill>
                          <a:latin typeface="KoPub돋움체 Medium"/>
                        </a:rPr>
                        <a:t>Registration 확인</a:t>
                      </a:r>
                    </a:p>
                  </a:txBody>
                  <a:tcPr anchor="ctr" marT="25400" marB="25400">
                    <a:solidFill>
                      <a:srgbClr val="FFFFFF"/>
                    </a:solidFill>
                  </a:tcPr>
                </a:tc>
                <a:tc>
                  <a:txBody>
                    <a:bodyPr/>
                    <a:lstStyle/>
                    <a:p>
                      <a:r>
                        <a:rPr sz="1300">
                          <a:solidFill>
                            <a:srgbClr val="1A1A1A"/>
                          </a:solidFill>
                          <a:latin typeface="KoPub돋움체 Medium"/>
                        </a:rPr>
                        <a:t>최우선 점검 항목</a:t>
                      </a:r>
                    </a:p>
                  </a:txBody>
                  <a:tcPr anchor="ctr" marT="25400" marB="25400">
                    <a:solidFill>
                      <a:srgbClr val="FFFFFF"/>
                    </a:solidFill>
                  </a:tcPr>
                </a:tc>
                <a:tc>
                  <a:txBody>
                    <a:bodyPr/>
                    <a:lstStyle/>
                    <a:p>
                      <a:r>
                        <a:rPr sz="1300">
                          <a:solidFill>
                            <a:srgbClr val="1A1A1A"/>
                          </a:solidFill>
                          <a:latin typeface="KoPub돋움체 Medium"/>
                        </a:rPr>
                        <a:t>예비 점검(확정 아님)</a:t>
                      </a:r>
                    </a:p>
                  </a:txBody>
                  <a:tcPr anchor="ctr" marT="25400" marB="25400">
                    <a:solidFill>
                      <a:srgbClr val="FFFFFF"/>
                    </a:solidFill>
                  </a:tcPr>
                </a:tc>
                <a:tc>
                  <a:txBody>
                    <a:bodyPr/>
                    <a:lstStyle/>
                    <a:p>
                      <a:r>
                        <a:rPr sz="1300">
                          <a:solidFill>
                            <a:srgbClr val="1A1A1A"/>
                          </a:solidFill>
                          <a:latin typeface="KoPub돋움체 Medium"/>
                        </a:rPr>
                        <a:t>확인 필요</a:t>
                      </a:r>
                    </a:p>
                  </a:txBody>
                  <a:tcPr anchor="ctr" marT="25400" marB="25400">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68735" y="6400800"/>
            <a:ext cx="548640" cy="320040"/>
          </a:xfrm>
          <a:prstGeom prst="rect">
            <a:avLst/>
          </a:prstGeom>
          <a:noFill/>
        </p:spPr>
        <p:txBody>
          <a:bodyPr wrap="none">
            <a:spAutoFit/>
          </a:bodyPr>
          <a:lstStyle/>
          <a:p>
            <a:pPr algn="r"/>
            <a:r>
              <a:rPr sz="1200">
                <a:solidFill>
                  <a:srgbClr val="595959"/>
                </a:solidFill>
                <a:latin typeface="KoPub돋움체 Medium"/>
              </a:rPr>
              <a:t>21</a:t>
            </a:r>
          </a:p>
        </p:txBody>
      </p:sp>
      <p:sp>
        <p:nvSpPr>
          <p:cNvPr id="3" name="TextBox 2"/>
          <p:cNvSpPr txBox="1"/>
          <p:nvPr/>
        </p:nvSpPr>
        <p:spPr>
          <a:xfrm>
            <a:off x="411480" y="109728"/>
            <a:ext cx="11368735" cy="274320"/>
          </a:xfrm>
          <a:prstGeom prst="rect">
            <a:avLst/>
          </a:prstGeom>
          <a:noFill/>
        </p:spPr>
        <p:txBody>
          <a:bodyPr wrap="none">
            <a:spAutoFit/>
          </a:bodyPr>
          <a:lstStyle/>
          <a:p>
            <a:r>
              <a:rPr sz="1200" b="1">
                <a:solidFill>
                  <a:srgbClr val="595959"/>
                </a:solidFill>
                <a:latin typeface="KoPub돋움체 Medium"/>
              </a:rPr>
              <a:t>16. 결론</a:t>
            </a:r>
          </a:p>
        </p:txBody>
      </p:sp>
      <p:sp>
        <p:nvSpPr>
          <p:cNvPr id="4" name="TextBox 3"/>
          <p:cNvSpPr txBox="1"/>
          <p:nvPr/>
        </p:nvSpPr>
        <p:spPr>
          <a:xfrm>
            <a:off x="411480" y="320040"/>
            <a:ext cx="11368735" cy="640080"/>
          </a:xfrm>
          <a:prstGeom prst="rect">
            <a:avLst/>
          </a:prstGeom>
          <a:noFill/>
        </p:spPr>
        <p:txBody>
          <a:bodyPr wrap="square">
            <a:spAutoFit/>
          </a:bodyPr>
          <a:lstStyle/>
          <a:p>
            <a:r>
              <a:rPr sz="2700" b="1">
                <a:solidFill>
                  <a:srgbClr val="1F3864"/>
                </a:solidFill>
                <a:latin typeface="KoPub돋움체 Bold"/>
              </a:rPr>
              <a:t>Take-away 요약</a:t>
            </a:r>
          </a:p>
        </p:txBody>
      </p:sp>
      <p:sp>
        <p:nvSpPr>
          <p:cNvPr id="5" name="Rectangle 4"/>
          <p:cNvSpPr/>
          <p:nvPr/>
        </p:nvSpPr>
        <p:spPr>
          <a:xfrm>
            <a:off x="411480" y="886968"/>
            <a:ext cx="11368735" cy="279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11338560" cy="4937760"/>
          </a:xfrm>
          <a:prstGeom prst="rect">
            <a:avLst/>
          </a:prstGeom>
          <a:noFill/>
        </p:spPr>
        <p:txBody>
          <a:bodyPr wrap="square">
            <a:spAutoFit/>
          </a:bodyPr>
          <a:lstStyle/>
          <a:p>
            <a:pPr indent="0" marL="0">
              <a:spcAft>
                <a:spcPts val="1000"/>
              </a:spcAft>
            </a:pPr>
            <a:r>
              <a:rPr sz="1800" b="1">
                <a:solidFill>
                  <a:srgbClr val="1A1A1A"/>
                </a:solidFill>
                <a:latin typeface="KoPub돋움체 Bold"/>
              </a:rPr>
              <a:t>▪ FPCA = 곡선을 소수의 점수로 압축하는 차원축소 — 벡터 PCA와 수학적으로 동일한 논리</a:t>
            </a:r>
          </a:p>
          <a:p>
            <a:pPr indent="0" marL="0">
              <a:spcAft>
                <a:spcPts val="1000"/>
              </a:spcAft>
            </a:pPr>
            <a:r>
              <a:rPr sz="1800" b="1">
                <a:solidFill>
                  <a:srgbClr val="2E7D32"/>
                </a:solidFill>
                <a:latin typeface="KoPub돋움체 Bold"/>
              </a:rPr>
              <a:t>▪ AEC-128 데이터는 등간격·동일격자라 '방법 A(격자 이산화)'가 적절 — 현재 구현과 일치</a:t>
            </a:r>
          </a:p>
          <a:p>
            <a:pPr indent="0" marL="0">
              <a:spcAft>
                <a:spcPts val="1000"/>
              </a:spcAft>
            </a:pPr>
            <a:r>
              <a:rPr sz="1800" b="1">
                <a:solidFill>
                  <a:srgbClr val="C00000"/>
                </a:solidFill>
                <a:latin typeface="KoPub돋움체 Bold"/>
              </a:rPr>
              <a:t>▪ 수정 완료(2026-08-12): FPCA(고유함수 추정)를 K-fold 학습 폴드 내부로 이동 — 실측 영향은 소수점 3자리 수준으로 작았음</a:t>
            </a:r>
          </a:p>
          <a:p>
            <a:pPr indent="0" marL="0">
              <a:spcAft>
                <a:spcPts val="1000"/>
              </a:spcAft>
            </a:pPr>
            <a:r>
              <a:rPr sz="1800" b="1">
                <a:solidFill>
                  <a:srgbClr val="C55A11"/>
                </a:solidFill>
                <a:latin typeface="KoPub돋움체 Bold"/>
              </a:rPr>
              <a:t>▪ 확인이 필요한 것: 128슬라이스 위치의 환자 간 registration 여부</a:t>
            </a:r>
          </a:p>
          <a:p>
            <a:pPr indent="0" marL="0">
              <a:spcAft>
                <a:spcPts val="1000"/>
              </a:spcAft>
            </a:pPr>
            <a:r>
              <a:rPr sz="1800" b="1">
                <a:solidFill>
                  <a:srgbClr val="1A1A1A"/>
                </a:solidFill>
                <a:latin typeface="KoPub돋움체 Bold"/>
              </a:rPr>
              <a:t>▪ external 동결 검증 수치 자체는 이번 이슈들의 영향을 받지 않음 — 기존 결론 유지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