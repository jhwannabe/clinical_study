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20"/>
  </p:notesMasterIdLst>
  <p:sldIdLst>
    <p:sldId id="256" r:id="rId2"/>
    <p:sldId id="257" r:id="rId3"/>
    <p:sldId id="507" r:id="rId4"/>
    <p:sldId id="509" r:id="rId5"/>
    <p:sldId id="488" r:id="rId6"/>
    <p:sldId id="500" r:id="rId7"/>
    <p:sldId id="495" r:id="rId8"/>
    <p:sldId id="497" r:id="rId9"/>
    <p:sldId id="498" r:id="rId10"/>
    <p:sldId id="490" r:id="rId11"/>
    <p:sldId id="492" r:id="rId12"/>
    <p:sldId id="493" r:id="rId13"/>
    <p:sldId id="510" r:id="rId14"/>
    <p:sldId id="502" r:id="rId15"/>
    <p:sldId id="494" r:id="rId16"/>
    <p:sldId id="504" r:id="rId17"/>
    <p:sldId id="505" r:id="rId18"/>
    <p:sldId id="487" r:id="rId19"/>
  </p:sldIdLst>
  <p:sldSz cx="12192000" cy="6858000"/>
  <p:notesSz cx="6858000" cy="9144000"/>
  <p:embeddedFontLst>
    <p:embeddedFont>
      <p:font typeface="KoPub돋움체 Bold" panose="00000800000000000000" pitchFamily="2" charset="-127"/>
      <p:bold r:id="rId21"/>
    </p:embeddedFont>
    <p:embeddedFont>
      <p:font typeface="KoPub돋움체 Medium" panose="00000600000000000000" pitchFamily="2" charset="-127"/>
      <p:regular r:id="rId22"/>
    </p:embeddedFont>
  </p:embeddedFont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097B6DF2-66C3-4074-9053-F9AA00FED5D5}">
          <p14:sldIdLst>
            <p14:sldId id="256"/>
            <p14:sldId id="257"/>
            <p14:sldId id="507"/>
            <p14:sldId id="509"/>
            <p14:sldId id="488"/>
            <p14:sldId id="500"/>
            <p14:sldId id="495"/>
            <p14:sldId id="497"/>
            <p14:sldId id="498"/>
            <p14:sldId id="490"/>
            <p14:sldId id="492"/>
            <p14:sldId id="493"/>
            <p14:sldId id="510"/>
            <p14:sldId id="502"/>
            <p14:sldId id="494"/>
            <p14:sldId id="504"/>
            <p14:sldId id="505"/>
            <p14:sldId id="48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전장훈" initials="전" lastIdx="19" clrIdx="0">
    <p:extLst>
      <p:ext uri="{19B8F6BF-5375-455C-9EA6-DF929625EA0E}">
        <p15:presenceInfo xmlns:p15="http://schemas.microsoft.com/office/powerpoint/2012/main" userId="전장훈"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5597"/>
    <a:srgbClr val="5C7DD0"/>
    <a:srgbClr val="1F346B"/>
    <a:srgbClr val="023670"/>
    <a:srgbClr val="17A5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보통 스타일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87152" autoAdjust="0"/>
  </p:normalViewPr>
  <p:slideViewPr>
    <p:cSldViewPr snapToGrid="0">
      <p:cViewPr varScale="1">
        <p:scale>
          <a:sx n="96" d="100"/>
          <a:sy n="96" d="100"/>
        </p:scale>
        <p:origin x="1092" y="90"/>
      </p:cViewPr>
      <p:guideLst/>
    </p:cSldViewPr>
  </p:slideViewPr>
  <p:notesTextViewPr>
    <p:cViewPr>
      <p:scale>
        <a:sx n="3" d="2"/>
        <a:sy n="3" d="2"/>
      </p:scale>
      <p:origin x="0" y="0"/>
    </p:cViewPr>
  </p:notesTextViewPr>
  <p:notesViewPr>
    <p:cSldViewPr snapToGrid="0">
      <p:cViewPr varScale="1">
        <p:scale>
          <a:sx n="84" d="100"/>
          <a:sy n="84" d="100"/>
        </p:scale>
        <p:origin x="3912"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commentAuthors" Target="commentAuthors.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ghoon jun" userId="056a5883350c2f5e" providerId="LiveId" clId="{6DA654A6-03B0-40F7-A259-B276216985A6}"/>
    <pc:docChg chg="undo redo custSel addSld delSld modSld sldOrd modSection">
      <pc:chgData name="janghoon jun" userId="056a5883350c2f5e" providerId="LiveId" clId="{6DA654A6-03B0-40F7-A259-B276216985A6}" dt="2026-09-03T02:59:19.528" v="3807" actId="14100"/>
      <pc:docMkLst>
        <pc:docMk/>
      </pc:docMkLst>
      <pc:sldChg chg="modSp mod modNotes modNotesTx">
        <pc:chgData name="janghoon jun" userId="056a5883350c2f5e" providerId="LiveId" clId="{6DA654A6-03B0-40F7-A259-B276216985A6}" dt="2026-09-02T02:35:51.383" v="3706" actId="20577"/>
        <pc:sldMkLst>
          <pc:docMk/>
          <pc:sldMk cId="0" sldId="256"/>
        </pc:sldMkLst>
        <pc:spChg chg="mod">
          <ac:chgData name="janghoon jun" userId="056a5883350c2f5e" providerId="LiveId" clId="{6DA654A6-03B0-40F7-A259-B276216985A6}" dt="2026-09-02T02:35:44.400" v="3696" actId="20577"/>
          <ac:spMkLst>
            <pc:docMk/>
            <pc:sldMk cId="0" sldId="256"/>
            <ac:spMk id="2" creationId="{00000000-0000-0000-0000-000000000000}"/>
          </ac:spMkLst>
        </pc:spChg>
        <pc:spChg chg="mod">
          <ac:chgData name="janghoon jun" userId="056a5883350c2f5e" providerId="LiveId" clId="{6DA654A6-03B0-40F7-A259-B276216985A6}" dt="2026-09-02T02:35:51.383" v="3706" actId="20577"/>
          <ac:spMkLst>
            <pc:docMk/>
            <pc:sldMk cId="0" sldId="256"/>
            <ac:spMk id="3" creationId="{00000000-0000-0000-0000-000000000000}"/>
          </ac:spMkLst>
        </pc:spChg>
      </pc:sldChg>
      <pc:sldChg chg="addSp delSp modSp mod chgLayout modNotes modNotesTx">
        <pc:chgData name="janghoon jun" userId="056a5883350c2f5e" providerId="LiveId" clId="{6DA654A6-03B0-40F7-A259-B276216985A6}" dt="2026-09-03T02:56:12.726" v="3747" actId="6549"/>
        <pc:sldMkLst>
          <pc:docMk/>
          <pc:sldMk cId="0" sldId="257"/>
        </pc:sldMkLst>
        <pc:spChg chg="mod ord">
          <ac:chgData name="janghoon jun" userId="056a5883350c2f5e" providerId="LiveId" clId="{6DA654A6-03B0-40F7-A259-B276216985A6}" dt="2026-09-02T02:37:45.894" v="3728" actId="6549"/>
          <ac:spMkLst>
            <pc:docMk/>
            <pc:sldMk cId="0" sldId="257"/>
            <ac:spMk id="2" creationId="{00000000-0000-0000-0000-000000000000}"/>
          </ac:spMkLst>
        </pc:spChg>
        <pc:spChg chg="add mod ord">
          <ac:chgData name="janghoon jun" userId="056a5883350c2f5e" providerId="LiveId" clId="{6DA654A6-03B0-40F7-A259-B276216985A6}" dt="2026-09-03T02:56:12.726" v="3747" actId="6549"/>
          <ac:spMkLst>
            <pc:docMk/>
            <pc:sldMk cId="0" sldId="257"/>
            <ac:spMk id="12" creationId="{FB6B5539-CC2D-F932-DAA3-12E2A40E7236}"/>
          </ac:spMkLst>
        </pc:spChg>
        <pc:grpChg chg="add del mod">
          <ac:chgData name="janghoon jun" userId="056a5883350c2f5e" providerId="LiveId" clId="{6DA654A6-03B0-40F7-A259-B276216985A6}" dt="2026-09-02T02:37:40.171" v="3725" actId="478"/>
          <ac:grpSpMkLst>
            <pc:docMk/>
            <pc:sldMk cId="0" sldId="257"/>
            <ac:grpSpMk id="11" creationId="{1FA019A3-0AB6-2C56-8302-ED956B7043E1}"/>
          </ac:grpSpMkLst>
        </pc:grpChg>
        <pc:picChg chg="add del mod modCrop">
          <ac:chgData name="janghoon jun" userId="056a5883350c2f5e" providerId="LiveId" clId="{6DA654A6-03B0-40F7-A259-B276216985A6}" dt="2026-09-02T02:37:41.017" v="3726" actId="478"/>
          <ac:picMkLst>
            <pc:docMk/>
            <pc:sldMk cId="0" sldId="257"/>
            <ac:picMk id="3" creationId="{23CAF732-A9F9-BCFC-439A-A342776582FF}"/>
          </ac:picMkLst>
        </pc:picChg>
      </pc:sldChg>
      <pc:sldChg chg="add del modNotes">
        <pc:chgData name="janghoon jun" userId="056a5883350c2f5e" providerId="LiveId" clId="{6DA654A6-03B0-40F7-A259-B276216985A6}" dt="2026-09-02T02:37:52.972" v="3735" actId="47"/>
        <pc:sldMkLst>
          <pc:docMk/>
          <pc:sldMk cId="1147349972" sldId="262"/>
        </pc:sldMkLst>
      </pc:sldChg>
      <pc:sldChg chg="modSp add del mod modNotes">
        <pc:chgData name="janghoon jun" userId="056a5883350c2f5e" providerId="LiveId" clId="{6DA654A6-03B0-40F7-A259-B276216985A6}" dt="2026-09-02T02:37:51.142" v="3732" actId="47"/>
        <pc:sldMkLst>
          <pc:docMk/>
          <pc:sldMk cId="845412182" sldId="263"/>
        </pc:sldMkLst>
      </pc:sldChg>
      <pc:sldChg chg="add modNotes">
        <pc:chgData name="janghoon jun" userId="056a5883350c2f5e" providerId="LiveId" clId="{6DA654A6-03B0-40F7-A259-B276216985A6}" dt="2026-09-02T02:37:32.227" v="3724" actId="368"/>
        <pc:sldMkLst>
          <pc:docMk/>
          <pc:sldMk cId="0" sldId="487"/>
        </pc:sldMkLst>
      </pc:sldChg>
      <pc:sldChg chg="modSp del mod ord modNotes">
        <pc:chgData name="janghoon jun" userId="056a5883350c2f5e" providerId="LiveId" clId="{6DA654A6-03B0-40F7-A259-B276216985A6}" dt="2026-09-02T02:37:50.760" v="3731" actId="47"/>
        <pc:sldMkLst>
          <pc:docMk/>
          <pc:sldMk cId="0" sldId="488"/>
        </pc:sldMkLst>
        <pc:spChg chg="mod">
          <ac:chgData name="janghoon jun" userId="056a5883350c2f5e" providerId="LiveId" clId="{6DA654A6-03B0-40F7-A259-B276216985A6}" dt="2026-08-18T04:37:48.938" v="3494" actId="5793"/>
          <ac:spMkLst>
            <pc:docMk/>
            <pc:sldMk cId="0" sldId="488"/>
            <ac:spMk id="3" creationId="{00000000-0000-0000-0000-000000000000}"/>
          </ac:spMkLst>
        </pc:spChg>
      </pc:sldChg>
      <pc:sldChg chg="del modNotes">
        <pc:chgData name="janghoon jun" userId="056a5883350c2f5e" providerId="LiveId" clId="{6DA654A6-03B0-40F7-A259-B276216985A6}" dt="2026-09-02T02:37:51.527" v="3733" actId="47"/>
        <pc:sldMkLst>
          <pc:docMk/>
          <pc:sldMk cId="0" sldId="490"/>
        </pc:sldMkLst>
      </pc:sldChg>
      <pc:sldChg chg="addSp delSp modSp del mod modNotes modNotesTx">
        <pc:chgData name="janghoon jun" userId="056a5883350c2f5e" providerId="LiveId" clId="{6DA654A6-03B0-40F7-A259-B276216985A6}" dt="2026-09-02T02:37:51.903" v="3734" actId="47"/>
        <pc:sldMkLst>
          <pc:docMk/>
          <pc:sldMk cId="0" sldId="492"/>
        </pc:sldMkLst>
      </pc:sldChg>
      <pc:sldChg chg="addSp delSp modSp add del mod modNotes modNotesTx">
        <pc:chgData name="janghoon jun" userId="056a5883350c2f5e" providerId="LiveId" clId="{6DA654A6-03B0-40F7-A259-B276216985A6}" dt="2026-09-02T02:37:49.796" v="3729" actId="47"/>
        <pc:sldMkLst>
          <pc:docMk/>
          <pc:sldMk cId="1069001619" sldId="493"/>
        </pc:sldMkLst>
      </pc:sldChg>
      <pc:sldChg chg="modSp del mod modNotes">
        <pc:chgData name="janghoon jun" userId="056a5883350c2f5e" providerId="LiveId" clId="{6DA654A6-03B0-40F7-A259-B276216985A6}" dt="2026-09-02T02:37:50.337" v="3730" actId="47"/>
        <pc:sldMkLst>
          <pc:docMk/>
          <pc:sldMk cId="0" sldId="494"/>
        </pc:sldMkLst>
        <pc:spChg chg="mod">
          <ac:chgData name="janghoon jun" userId="056a5883350c2f5e" providerId="LiveId" clId="{6DA654A6-03B0-40F7-A259-B276216985A6}" dt="2026-08-18T05:47:04.510" v="3625" actId="20577"/>
          <ac:spMkLst>
            <pc:docMk/>
            <pc:sldMk cId="0" sldId="494"/>
            <ac:spMk id="3" creationId="{00000000-0000-0000-0000-000000000000}"/>
          </ac:spMkLst>
        </pc:spChg>
      </pc:sldChg>
      <pc:sldChg chg="modSp mod">
        <pc:chgData name="janghoon jun" userId="056a5883350c2f5e" providerId="LiveId" clId="{6DA654A6-03B0-40F7-A259-B276216985A6}" dt="2026-09-03T02:58:08.817" v="3799" actId="1076"/>
        <pc:sldMkLst>
          <pc:docMk/>
          <pc:sldMk cId="0" sldId="495"/>
        </pc:sldMkLst>
        <pc:picChg chg="mod modCrop">
          <ac:chgData name="janghoon jun" userId="056a5883350c2f5e" providerId="LiveId" clId="{6DA654A6-03B0-40F7-A259-B276216985A6}" dt="2026-09-03T02:58:08.817" v="3799" actId="1076"/>
          <ac:picMkLst>
            <pc:docMk/>
            <pc:sldMk cId="0" sldId="495"/>
            <ac:picMk id="5" creationId="{00000000-0000-0000-0000-000000000000}"/>
          </ac:picMkLst>
        </pc:picChg>
      </pc:sldChg>
      <pc:sldChg chg="modSp mod">
        <pc:chgData name="janghoon jun" userId="056a5883350c2f5e" providerId="LiveId" clId="{6DA654A6-03B0-40F7-A259-B276216985A6}" dt="2026-09-03T02:58:56.247" v="3805" actId="1076"/>
        <pc:sldMkLst>
          <pc:docMk/>
          <pc:sldMk cId="0" sldId="497"/>
        </pc:sldMkLst>
        <pc:picChg chg="mod modCrop">
          <ac:chgData name="janghoon jun" userId="056a5883350c2f5e" providerId="LiveId" clId="{6DA654A6-03B0-40F7-A259-B276216985A6}" dt="2026-09-03T02:58:56.247" v="3805" actId="1076"/>
          <ac:picMkLst>
            <pc:docMk/>
            <pc:sldMk cId="0" sldId="497"/>
            <ac:picMk id="3" creationId="{00000000-0000-0000-0000-000000000000}"/>
          </ac:picMkLst>
        </pc:picChg>
      </pc:sldChg>
      <pc:sldChg chg="modSp mod">
        <pc:chgData name="janghoon jun" userId="056a5883350c2f5e" providerId="LiveId" clId="{6DA654A6-03B0-40F7-A259-B276216985A6}" dt="2026-09-03T02:59:19.528" v="3807" actId="14100"/>
        <pc:sldMkLst>
          <pc:docMk/>
          <pc:sldMk cId="0" sldId="498"/>
        </pc:sldMkLst>
        <pc:picChg chg="mod">
          <ac:chgData name="janghoon jun" userId="056a5883350c2f5e" providerId="LiveId" clId="{6DA654A6-03B0-40F7-A259-B276216985A6}" dt="2026-09-03T02:59:19.528" v="3807" actId="14100"/>
          <ac:picMkLst>
            <pc:docMk/>
            <pc:sldMk cId="0" sldId="498"/>
            <ac:picMk id="5" creationId="{00000000-0000-0000-0000-000000000000}"/>
          </ac:picMkLst>
        </pc:picChg>
      </pc:sldChg>
      <pc:sldChg chg="modSp mod">
        <pc:chgData name="janghoon jun" userId="056a5883350c2f5e" providerId="LiveId" clId="{6DA654A6-03B0-40F7-A259-B276216985A6}" dt="2026-09-03T02:56:31.556" v="3751" actId="1076"/>
        <pc:sldMkLst>
          <pc:docMk/>
          <pc:sldMk cId="0" sldId="507"/>
        </pc:sldMkLst>
        <pc:picChg chg="mod">
          <ac:chgData name="janghoon jun" userId="056a5883350c2f5e" providerId="LiveId" clId="{6DA654A6-03B0-40F7-A259-B276216985A6}" dt="2026-09-03T02:56:31.556" v="3751" actId="1076"/>
          <ac:picMkLst>
            <pc:docMk/>
            <pc:sldMk cId="0" sldId="507"/>
            <ac:picMk id="4" creationId="{00000000-0000-0000-0000-000000000000}"/>
          </ac:picMkLst>
        </pc:picChg>
      </pc:sldChg>
      <pc:sldChg chg="modSp mod">
        <pc:chgData name="janghoon jun" userId="056a5883350c2f5e" providerId="LiveId" clId="{6DA654A6-03B0-40F7-A259-B276216985A6}" dt="2026-09-03T02:57:12.364" v="3795" actId="403"/>
        <pc:sldMkLst>
          <pc:docMk/>
          <pc:sldMk cId="0" sldId="509"/>
        </pc:sldMkLst>
        <pc:spChg chg="mod">
          <ac:chgData name="janghoon jun" userId="056a5883350c2f5e" providerId="LiveId" clId="{6DA654A6-03B0-40F7-A259-B276216985A6}" dt="2026-09-03T02:57:12.364" v="3795" actId="403"/>
          <ac:spMkLst>
            <pc:docMk/>
            <pc:sldMk cId="0" sldId="50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KoPub돋움체 Medium" panose="00000600000000000000" pitchFamily="2" charset="-127"/>
                <a:ea typeface="KoPub돋움체 Medium" panose="00000600000000000000" pitchFamily="2" charset="-127"/>
              </a:defRPr>
            </a:lvl1pPr>
          </a:lstStyle>
          <a:p>
            <a:fld id="{33074436-1BEA-4F09-AD5C-9DF87C96BF5A}" type="datetimeFigureOut">
              <a:rPr lang="ko-KR" altLang="en-US" smtClean="0"/>
              <a:pPr/>
              <a:t>2026-09-03</a:t>
            </a:fld>
            <a:endParaRPr lang="ko-KR" altLang="en-US" dirty="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KoPub돋움체 Medium" panose="00000600000000000000" pitchFamily="2" charset="-127"/>
                <a:ea typeface="KoPub돋움체 Medium" panose="00000600000000000000" pitchFamily="2" charset="-127"/>
              </a:defRPr>
            </a:lvl1pPr>
          </a:lstStyle>
          <a:p>
            <a:fld id="{433C9518-700F-4811-95BB-24DAF3FA92F2}" type="slidenum">
              <a:rPr lang="ko-KR" altLang="en-US" smtClean="0"/>
              <a:pPr/>
              <a:t>‹#›</a:t>
            </a:fld>
            <a:endParaRPr lang="ko-KR" altLang="en-US" dirty="0"/>
          </a:p>
        </p:txBody>
      </p:sp>
    </p:spTree>
    <p:extLst>
      <p:ext uri="{BB962C8B-B14F-4D97-AF65-F5344CB8AC3E}">
        <p14:creationId xmlns:p14="http://schemas.microsoft.com/office/powerpoint/2010/main" val="257764944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KoPub돋움체 Medium" panose="00000600000000000000" pitchFamily="2" charset="-127"/>
        <a:ea typeface="KoPub돋움체 Medium" panose="00000600000000000000" pitchFamily="2" charset="-127"/>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오늘 자료는 네 파트로 구성됩니다. 먼저 전체 연구를 한 장으로 요약해서 보여드리고, 이 연구에 사용된 참고문헌을 정리한 뒤, FPCA·CNN 아키텍처·비교실험·통계결과를 포함한 상세 내용을 다루겠습니다. 마지막으로 다음 주에 진행할 구체적인 작업 계획을 말씀드리겠습니다.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연구는 CT 검사할 때 자동 기록되는 AEC(자동노출제어) 곡선이 나이·성별·키·몸무게·내장지방·피하지방(clinic4+VAT+SAT)만으로는 못 잡아내는 정보를 추가로 담고 있는지 확인하는 것이 목표였습니다. FPCA 요약부터 10가지 딥러닝 아키텍처, 4가지 결합 방식, 이미지 변환까지 총 22개 방법론으로 105번의 통계 비교를 했습니다. 다중비교를 감안한 보정을 통과한 경우가 2건 있었지만, 둘 다 내부검증에서는 전혀 재현되지 않는 외부 코호트 단독 결과라 실제 발견으로 인정하지 않습니다. 결론적으로 현재 저희가 가진 데이터 규모에서는 AEC-128 곡선이 안정적인 추가 정보를 주지 못합니다. 이제 이 결론에 이르기까지의 상세한 과정을 말씀드리겠습니다.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연구에서 실제로 방법론 설계에 반영한 5편의 논문입니다. Beretta 등의 FPCA 논문은 전력수요 곡선에 functional PCA를 적용한 사례로, 저희가 AEC-128 곡선을 3개 주성분 점수로 압축하는 방법론의 직접적인 근거가 됐습니다. DeepSpiro는 폐활량 곡선과 인구학적 변수를 각각 인코더로 읽고 나중에 합치는 구조로, 저희 1D CNN concat/cross-attention fusion 아키텍처의 설계 선례입니다. Jeon 등의 COPD 논문은 2개 병원에서 임상변수만 쓰는 모델과 곡선을 더한 모델을 DeLong test로 비교하는 구조로, 저희 강남·신촌 2기관 internal/external 검증 설계의 템플릿이 됐습니다. Scout-Dose-TCM 논문은 저희와 똑같은 물리량인 tube current modulation 프로파일을 다른 목적(선량 추정)으로 활용한 선례입니다. 마지막으로 Bartholomeus 등의 논문은 CT 선량이 바뀌면 radiomics 특징의 90%가 불안정해진다는 것을 보여줘서, AEC-근육량 관계가 병원마다 다르게 나타나는 이유를 기전적으로 설명하는 근거로 활용했습니다.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FPCA는 지난 시간에 자세히 설명드린 내용이라 오늘은 결과 비교를 위해 핵심만 다시 짚겠습니다. 환자 128명 각각의 AEC 곡선에서 전체 평균 모양을 빼고 남은 '개인차'만 모아, 그 개인차들 사이에 공통적으로 나타나는 대표 변동 패턴 3가지(PC1, PC2, PC3)를 뽑아냅니다. 그러면 128개였던 숫자가 환자 한 명당 딱 3개의 점수로 압축됩니다. 이 3개 점수를 나이·성별·키·몸무게·내장지방·피하지방과 함께 로지스틱 회귀 모델에 넣는 것이 FPCA 기반 모델입니다. 외부 병원(신촌) 데이터에는 강남에서 만든 대표 패턴을 그대로 투영만 하고 다시 학습하지 않습니다.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FPCA 기반 모델을 CNN과 비교하기 전에, 먼저 이 FPCA 모델 자체가 기본 모델(clinic4)보다 실제로 나은지를 짚어야 합니다. clinic4에 관전류 평균값(meanmAs)이나 내장지방·피하지방(VAT/SAT)을 먼저 추가하고, 그 다음 단계에서 AEC 곡선을 FPCA로 요약한 3개 점수를 추가하는 식으로 단계별로 비교했습니다. AEC를 추가하는 단계만 놓고 보면 12번의 비교 중 11번은 AUC가 오르는 방향이었고, 그중 3번은 통계적으로 유의했습니다. 하지만 이번 발표 전체를 관통하는 원칙대로, 24번을 한꺼번에 비교했다는 사실을 반영해 다중비교 보정을 적용하면 어느 것도 유의성 기준을 통과하지 못합니다. 즉 '대체로 좋아지는 방향'이라는 관찰과 '통계적으로 확실하다고는 말할 수 없다'는 결론이 동시에 성립하는, 전형적으로 애매한 상황입니다. 이 애매함이 바로 오늘 CNN이나 이미지화 같은 더 강력한 모델을 시도해본 이유입니다.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그림은 방금 말씀드린 1D CNN 구조를 그림으로 정리한 것입니다. 왼쪽 파란 줄기는 AEC 곡선을 읽는 부분으로, 128개 숫자로 이루어진 곡선이 3층의 합성곱 신경망을 거치면서 점점 더 요약된 형태로 바뀌고, 마지막에는 16개의 숫자(임베딩)로 압축됩니다. 오른쪽 회색 부분은 나이·성별·키·몸무게·내장지방·피하지방 6개 숫자를 마찬가지로 16개 숫자로 바꿔주는 훨씬 단순한 부분입니다. 이렇게 나온 두 개의 16개짜리 요약값을 맨 아래에서 하나로 이어붙인 뒤(32개), 주황색으로 표시된 부분에서 최종적으로 질병이 있을 확률 하나로 계산합니다.</a:t>
            </a:r>
          </a:p>
          <a:p>
            <a:endParaRPr/>
          </a:p>
          <a:p>
            <a:r>
              <a:t>참고로 이런 식으로 곡선을 읽는 부분과 숫자 정보를 읽는 부분을 따로 둔 뒤 나중에 합치는 구조는 DeepSpiro라는 폐 기능 검사(스파이로미트리) 논문의 구조와 문제 형태가 같습니다. 그 논문도 폐활량 곡선을 읽는 부분과 나이 등 인구학적 정보를 읽는 부분을 따로 두고 나중에 합쳐서 예측합니다. 다만 그 논문은 합치는 방식이 단순히 이어붙이는 것(concat)이 아니라 어느 부분이 더 중요한지를 모델이 스스로 판단해서 가중치를 주는 attention이라는 더 정교한 방식을 씁니다. 저희는 이번에는 가장 단순한 이어붙이기 방식으로 시도했습니다.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그림에서 보라색으로 표시된 부분이 cross-attention입니다. 왼쪽 위에서 내려온 곡선 임베딩(c)과 왼쪽 아래에서 온 임상 임베딩(t)이 서로 교차해서 두 개의 attention 박스에 함께 입력되는 것을 화살표로 표현했습니다. 위쪽 박스는 '곡선 입장에서 임상 정보를 참고해 다시 계산한 값(c_att)'을 만들고, 아래쪽 박스는 '임상 입장에서 곡선 정보를 참고해 다시 계산한 값(t_att)'을 만듭니다. 이 두 결과를 마지막에 이어붙여서 최종 예측을 합니다.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그러면 '더 정교한 cross-attention을 놔두고 왜 굳이 단순한 concat을 썼는가'라는 질문이 자연스럽게 나옵니다. 답은 '더 정교한 방법을 써도 실제로는 더 나아지지 않았기 때문'입니다. 저희가 작년 9월 초에 concat, gated, attention pooling, cross-attention 이렇게 네 가지 결합 방식을 전부 만들어서 고혈압, 당뇨, 만성신장질환 세 가지 질병에 똑같이 시험해봤습니다. 통계적으로 우연이 아니라고 확실히 말할 수 있는 기준(다중비교 보정)을 적용하면, 24번의 비교 중 단 한 번도 기본 모델보다 뚜렷하게 낫다고 할 수 있는 경우가 없었습니다. Cross-attention은 당뇨병 외부 검증에서 살짝 더 나은 결과를 보이긴 했지만, 만성신장질환 내부 검증에서는 네 가지 방법 중 가장 나쁜 결과를 보이는 등 결과가 오락가락했습니다. 이런 상황에서는 굳이 복잡하고 학습이 불안정한 방법을 고집할 이유가 없기 때문에, 가장 단순하고 이해하기 쉬운 concat 방식을 이번 비교의 대표 모델로 선택했습니다.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비교는 세 가지 모델(clinic4 / clinic4+VAT+SAT+AEC(FPCA) / clinic4+VAT+SAT+AEC(1D CNN))을 고혈압·당뇨·만성신장질환 세 질환 각각에 대해 강남(내부)·신촌(외부) 데이터로 평가하는 방식입니다. 내부 병원 데이터는 5-fold 교차검증으로 모델을 선택하고, 매 fold마다 서로 다른 시드로 3번 학습한 결과를 평균 내 우연에 의한 변동을 줄입니다. 외부 병원 데이터는 모델 선택에 전혀 관여시키지 않고, 내부 데이터로만 학습을 마친 모델을 가지고 단 한 번만 평가합니다. 이렇게 해야 외부 데이터를 보고 모델을 유리하게 고르는 편향을 막을 수 있습니다. clinic4나 FPCA 모델과 비교할 때도 같은 환자, 같은 그룹 나누기를 재현해 patient_id 기준으로 정렬한 뒤 DeLong test로 짝지어 비교합니다. 손실함수는 클래스 불균형을 보정하는 BCEWithLogitsLoss(pos_weight)를 쓰고, 학습 배치마다 곡선에 작은 가우시안 노이즈를 더해 데이터 증강을 하며, validation AUC 기준 patience=15로 조기종료합니다.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모델의 AUC를 내부(강남)와 외부(신촌) 데이터로 나눠 그래프로 비교했습니다. 회색이 clinic4, 주황색이 FPCA, 파란색이 1D CNN입니다. 세 막대의 높이가 거의 비슷하고, 특히 외부 데이터에서는 오차 막대(신뢰구간)가 서로 크게 겹쳐 있는 것을 볼 수 있습니다. 즉 육안으로 봐도 1D CNN이 FPCA보다 뚜렷하게 나은 지점이 보이지 않습니다.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표는 FPCA 모델과 1D CNN 모델의 AUC를 질병별·코호트별로 직접 비교한 통계 검정 결과입니다. 차이(Δ)가 음수라는 것은 1D CNN이 FPCA보다 오히려 성능이 낮았다는 뜻입니다. 여섯 개 조합 중 다섯 개는 두 모델의 차이가 통계적으로 유의하지 않았고(우연히 있을 수 있는 차이), 당뇨 외부 검증 한 곳에서만 1D CNN이 FPCA보다 유의하게(p=0.0011, 빨간색 표시) 더 나빴습니다. 즉 1D CNN이 FPCA를 이긴 경우는 한 곳도 없었고, 오히려 한 곳에서는 통계적으로 더 나쁜 결과를 보였습니다.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지금까지 시도한 22가지 방법을 하나의 그림으로 모았습니다. clinic4를 기준으로 각 방법론이 AUC를 얼마나 바꿨는지(ΔAUC)를 방법론군별로 점으로 찍었습니다. 회색은 유의하지 않은 경우, 주황색은 명목상 유의(p&lt;0.05)한 경우, 빨간색은 그 방법론군 전체의 비교 개수를 감안한 다중비교 보정까지 통과한 경우입니다. 105개 비교 중 대부분이 0 근처에 몰려 있고, 다중비교 보정을 통과한 경우는 딱 2건(아키텍처 로테이션의 TCN, 라인플롯 이미지화)뿐입니다. 이 2건이 왜 실제 발견이 아닌지는 바로 다음 슬라이드에서 반박하겠습니다. FPCA가 clinic4보다 나은지, CNN이 FPCA보다 나은지는 이미 앞에서 별도 슬라이드로 다뤘기 때문에 이 그림에는 포함하지 않았습니다.</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지금까지 시도한 방법들 중 통계적으로 가장 유의해 보였던 두 사례를 자세히 들여다보면 왜 저희가 이것들을 실제 발견으로 인정하지 않는지 알 수 있습니다. TCN 구조의 고혈압 외부검증과 오늘 시도한 라인플롯 이미지화의 고혈압 외부검증 모두, 60개(혹은 6개) 비교를 감안한 엄격한 보정 기준까지 통과했습니다. 하지만 두 경우 모두 같은 모델의 내부 5-fold 교차검증에서는 개선이 전혀 없었습니다(p=0.85, p=0.58로 완전 무신호). 모델 선택 단계에서 전혀 두각을 보이지 않은 모델이 외부 검증에서만 갑자기 좋아진 것은, 실제 일반화 가능한 신호라기보다 외부 코호트 특유의 우연한 변동으로 보는 것이 합리적입니다. 왜 애초에 신호가 없는지는 AEC 곡선의 물리적 의미로 설명됩니다. CT는 환자 몸통이 두꺼운 부위에서 관전류를 자동으로 올리므로, 이 곡선은 근본적으로 몸통 두께·구성의 요약본입니다. 그런데 clinic4+VAT+SAT에는 이미 키·몸무게·내장지방·피하지방이라는 핵심 체형 정보가 들어있어 상당 부분 중복됩니다. 이 해석의 직접적 증거가 바로 곡선을 통째로 0으로 지워도 예측 성능이 똑같다는 zero-ablation 실험입니다 — 모델이 곡선의 '모양' 자체를 실질적으로 쓰고 있지 않다는 뜻입니다.</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오늘 발표를 한 문장으로 요약하면, 나이·성별·키·몸무게에 내장지방·피하지방까지 더한 기본 모델에 AEC 곡선을 어떤 방식으로 더해도 — 사람이 설계한 FPCA 요약이든, 다섯 계열 10가지 딥러닝 아키텍처든, 오늘 새로 시도한 이미지 변환이든 — 다중비교를 감안했을 때 통계적으로 확실히 좋아졌다고 말할 수 있는 경우가 단 한 건도 없었다는 것입니다. FPCA 자체도 예외가 아니어서, AEC를 추가하는 단계만 보면 방향은 대체로 좋아지는 쪽이었지만 전체 비교를 보정하면 유의성이 사라졌습니다. 오히려 딥러닝(CNN)을 썼을 때 FPCA보다 나은 경우는 하나도 없었고 당뇨병 외부 검증에서는 통계적으로 더 나빴습니다. 다중비교 보정을 통과한 것처럼 보였던 세 건도 자세히 들여다보면 내부검증에서 재현되지 않거나, 대조군 모델의 학습 불안정 때문이거나, 오히려 CNN이 FPCA보다 나쁘다는 것을 보여준 사례였습니다. 결론적으로, 현재 저희가 가진 데이터 규모와 변수 조합에서는 AEC-128 곡선이 기본 임상 변수와 체지방 정보를 넘어서는 안정적인 추가 정보를 주지 못한다고 판단합니다.</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오늘 결론을 받아들이기 전에 몇 가지 한계를 짚어야 합니다. 첫째, 만성신장질환처럼 양성 환자가 적은 질환은 애초에 통계적 검정력이 낮아서 외부 검증 신뢰구간이 넓게 나옵니다. 둘째, 강남·신촌 두 기관 한 시점의 CT만 봤기 때문에 시간에 따른 변화나 세 번째 기관에서도 똑같을지는 확인하지 못했습니다. 셋째, 지금 쓰는 데이터셋에는 실제 혈압 측정치나 당화혈색소, 신장 기능 검사, 흡연력, 가족력처럼 이 질병들과 직접 연관된 임상 변수가 전혀 없습니다. 그러니 저희가 비교한 기준선 자체가 이론적으로 얼마나 좋아질 수 있는지 상한선도 아직 모릅니다. 넷째, 두 기관의 CT 장비 제조사나 관전압 설정이 다르다는 것을 이전 분석에서 확인했는데, 이게 AEC 곡선을 기관 간에 직접 비교하는 데 교란요인이 될 수 있습니다. 마지막으로 가장 중요한 통계적 한계인데, 지금까지 못 찾았다는 것이 진짜로 없다는 것과 완전히 같은 말은 아닙니다. 아주 작은 신호라면 지금 코호트 규모로는 검출하지 못했을 수도 있어서, 이 결론은 훨씬 더 큰 코호트에서 재확인이 필요한 잠정적 결론입니다.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다음 주 계획은 크게 두 가지입니다. 첫째는 FPCA+VAT+SAT 모델로 논문을 마무리하는 것입니다. Results/Discussion 초안은 이미 작성이 끝난 상태라, 남은 것은 IRB 승인 상태 확인과 저자 정보 정리 같은 행정적인 항목들입니다. 둘째는 AEC 딥러닝 탐색을 공식적으로 종료하는 보고서를 작성하는 것입니다. 22개 방법론을 체계적으로 시도하고 다중비교 보정과 내부-외부 검증 분리를 철저히 지킨 이번 과정 자체를, 오늘 자료를 바탕으로 별도 문서로 정리해 방법론적 기록으로 남기겠습니다.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pic>
        <p:nvPicPr>
          <p:cNvPr id="7" name="object 2">
            <a:extLst>
              <a:ext uri="{FF2B5EF4-FFF2-40B4-BE49-F238E27FC236}">
                <a16:creationId xmlns:a16="http://schemas.microsoft.com/office/drawing/2014/main" id="{D279837B-A00B-4327-9AB8-97044CBDABA7}"/>
              </a:ext>
            </a:extLst>
          </p:cNvPr>
          <p:cNvPicPr/>
          <p:nvPr userDrawn="1"/>
        </p:nvPicPr>
        <p:blipFill rotWithShape="1">
          <a:blip r:embed="rId2"/>
          <a:stretch>
            <a:fillRect/>
          </a:stretch>
        </p:blipFill>
        <p:spPr>
          <a:xfrm>
            <a:off x="0" y="228731"/>
            <a:ext cx="12192000" cy="6400538"/>
          </a:xfrm>
          <a:prstGeom prst="rect">
            <a:avLst/>
          </a:prstGeom>
        </p:spPr>
      </p:pic>
      <p:pic>
        <p:nvPicPr>
          <p:cNvPr id="3" name="그림 2">
            <a:extLst>
              <a:ext uri="{FF2B5EF4-FFF2-40B4-BE49-F238E27FC236}">
                <a16:creationId xmlns:a16="http://schemas.microsoft.com/office/drawing/2014/main" id="{4B17CE84-3562-483D-8448-6A30899AF09E}"/>
              </a:ext>
            </a:extLst>
          </p:cNvPr>
          <p:cNvPicPr>
            <a:picLocks noChangeAspect="1"/>
          </p:cNvPicPr>
          <p:nvPr userDrawn="1"/>
        </p:nvPicPr>
        <p:blipFill rotWithShape="1">
          <a:blip r:embed="rId3">
            <a:clrChange>
              <a:clrFrom>
                <a:srgbClr val="FFFFFF"/>
              </a:clrFrom>
              <a:clrTo>
                <a:srgbClr val="FFFFFF">
                  <a:alpha val="0"/>
                </a:srgbClr>
              </a:clrTo>
            </a:clrChange>
          </a:blip>
          <a:srcRect t="19699" b="22132"/>
          <a:stretch/>
        </p:blipFill>
        <p:spPr>
          <a:xfrm>
            <a:off x="3461866" y="5273477"/>
            <a:ext cx="4168803" cy="982769"/>
          </a:xfrm>
          <a:prstGeom prst="rect">
            <a:avLst/>
          </a:prstGeom>
        </p:spPr>
      </p:pic>
      <p:pic>
        <p:nvPicPr>
          <p:cNvPr id="8" name="object 4">
            <a:extLst>
              <a:ext uri="{FF2B5EF4-FFF2-40B4-BE49-F238E27FC236}">
                <a16:creationId xmlns:a16="http://schemas.microsoft.com/office/drawing/2014/main" id="{8EF8DD5B-0316-4193-BCC7-D6CFCAE8969D}"/>
              </a:ext>
            </a:extLst>
          </p:cNvPr>
          <p:cNvPicPr/>
          <p:nvPr userDrawn="1"/>
        </p:nvPicPr>
        <p:blipFill rotWithShape="1">
          <a:blip r:embed="rId4"/>
          <a:stretch>
            <a:fillRect/>
          </a:stretch>
        </p:blipFill>
        <p:spPr>
          <a:xfrm>
            <a:off x="-277376" y="5274173"/>
            <a:ext cx="4550839" cy="992767"/>
          </a:xfrm>
          <a:prstGeom prst="rect">
            <a:avLst/>
          </a:prstGeom>
        </p:spPr>
      </p:pic>
    </p:spTree>
    <p:extLst>
      <p:ext uri="{BB962C8B-B14F-4D97-AF65-F5344CB8AC3E}">
        <p14:creationId xmlns:p14="http://schemas.microsoft.com/office/powerpoint/2010/main" val="33685786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grpSp>
        <p:nvGrpSpPr>
          <p:cNvPr id="24" name="그룹 23">
            <a:extLst>
              <a:ext uri="{FF2B5EF4-FFF2-40B4-BE49-F238E27FC236}">
                <a16:creationId xmlns:a16="http://schemas.microsoft.com/office/drawing/2014/main" id="{5EC22856-02EF-4559-9B66-BD5C863FF254}"/>
              </a:ext>
            </a:extLst>
          </p:cNvPr>
          <p:cNvGrpSpPr/>
          <p:nvPr userDrawn="1"/>
        </p:nvGrpSpPr>
        <p:grpSpPr>
          <a:xfrm>
            <a:off x="-8467" y="6463089"/>
            <a:ext cx="12200467" cy="403574"/>
            <a:chOff x="-8467" y="6470661"/>
            <a:chExt cx="12200467" cy="390527"/>
          </a:xfrm>
        </p:grpSpPr>
        <p:sp>
          <p:nvSpPr>
            <p:cNvPr id="9" name="직사각형 8">
              <a:extLst>
                <a:ext uri="{FF2B5EF4-FFF2-40B4-BE49-F238E27FC236}">
                  <a16:creationId xmlns:a16="http://schemas.microsoft.com/office/drawing/2014/main" id="{0DFE1C4B-A7EE-47E1-8AAE-3EF4E43D16F6}"/>
                </a:ext>
              </a:extLst>
            </p:cNvPr>
            <p:cNvSpPr/>
            <p:nvPr userDrawn="1"/>
          </p:nvSpPr>
          <p:spPr>
            <a:xfrm>
              <a:off x="0" y="6496062"/>
              <a:ext cx="12192000" cy="365126"/>
            </a:xfrm>
            <a:prstGeom prst="rect">
              <a:avLst/>
            </a:prstGeom>
            <a:solidFill>
              <a:srgbClr val="1F346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KoPub돋움체 Medium" panose="00000600000000000000" pitchFamily="2" charset="-127"/>
                <a:ea typeface="KoPub돋움체 Medium" panose="00000600000000000000" pitchFamily="2" charset="-127"/>
              </a:endParaRPr>
            </a:p>
          </p:txBody>
        </p:sp>
        <p:cxnSp>
          <p:nvCxnSpPr>
            <p:cNvPr id="15" name="직선 연결선 14">
              <a:extLst>
                <a:ext uri="{FF2B5EF4-FFF2-40B4-BE49-F238E27FC236}">
                  <a16:creationId xmlns:a16="http://schemas.microsoft.com/office/drawing/2014/main" id="{28C131E4-1CD9-49D8-B343-8379436586CB}"/>
                </a:ext>
              </a:extLst>
            </p:cNvPr>
            <p:cNvCxnSpPr>
              <a:cxnSpLocks/>
            </p:cNvCxnSpPr>
            <p:nvPr userDrawn="1"/>
          </p:nvCxnSpPr>
          <p:spPr>
            <a:xfrm>
              <a:off x="-8467" y="6470661"/>
              <a:ext cx="12200467" cy="0"/>
            </a:xfrm>
            <a:prstGeom prst="line">
              <a:avLst/>
            </a:pr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sp>
        <p:nvSpPr>
          <p:cNvPr id="2" name="제목 1">
            <a:extLst>
              <a:ext uri="{FF2B5EF4-FFF2-40B4-BE49-F238E27FC236}">
                <a16:creationId xmlns:a16="http://schemas.microsoft.com/office/drawing/2014/main" id="{FE4F955D-C3E9-4033-8442-9095377B0662}"/>
              </a:ext>
            </a:extLst>
          </p:cNvPr>
          <p:cNvSpPr>
            <a:spLocks noGrp="1"/>
          </p:cNvSpPr>
          <p:nvPr>
            <p:ph type="title" hasCustomPrompt="1"/>
          </p:nvPr>
        </p:nvSpPr>
        <p:spPr>
          <a:xfrm>
            <a:off x="508000" y="365126"/>
            <a:ext cx="11176000" cy="532342"/>
          </a:xfrm>
        </p:spPr>
        <p:txBody>
          <a:bodyPr>
            <a:normAutofit/>
          </a:bodyPr>
          <a:lstStyle>
            <a:lvl1pPr>
              <a:defRPr sz="2400" b="1">
                <a:solidFill>
                  <a:srgbClr val="023670"/>
                </a:solidFill>
                <a:latin typeface="KoPub돋움체 Bold" panose="02020603020101020101" pitchFamily="18" charset="-127"/>
                <a:ea typeface="KoPub돋움체 Bold" panose="02020603020101020101" pitchFamily="18" charset="-127"/>
                <a:cs typeface="Arial" panose="020B0604020202020204" pitchFamily="34" charset="0"/>
              </a:defRPr>
            </a:lvl1pPr>
          </a:lstStyle>
          <a:p>
            <a:r>
              <a:rPr lang="ko-KR" altLang="en-US" dirty="0"/>
              <a:t>마스터 제목 스타일 편집</a:t>
            </a:r>
          </a:p>
        </p:txBody>
      </p:sp>
      <p:sp>
        <p:nvSpPr>
          <p:cNvPr id="3" name="내용 개체 틀 2">
            <a:extLst>
              <a:ext uri="{FF2B5EF4-FFF2-40B4-BE49-F238E27FC236}">
                <a16:creationId xmlns:a16="http://schemas.microsoft.com/office/drawing/2014/main" id="{9CA482F1-FC12-443E-892A-B48F9C50AA53}"/>
              </a:ext>
            </a:extLst>
          </p:cNvPr>
          <p:cNvSpPr>
            <a:spLocks noGrp="1"/>
          </p:cNvSpPr>
          <p:nvPr>
            <p:ph idx="1" hasCustomPrompt="1"/>
          </p:nvPr>
        </p:nvSpPr>
        <p:spPr>
          <a:xfrm>
            <a:off x="508000" y="897468"/>
            <a:ext cx="11176000" cy="5063066"/>
          </a:xfrm>
        </p:spPr>
        <p:txBody>
          <a:bodyPr/>
          <a:lstStyle>
            <a:lvl1pPr>
              <a:lnSpc>
                <a:spcPct val="200000"/>
              </a:lnSpc>
              <a:defRPr sz="2000" b="0">
                <a:latin typeface="KoPub돋움체 Bold" panose="02020603020101020101" pitchFamily="18" charset="-127"/>
                <a:ea typeface="KoPub돋움체 Bold" panose="02020603020101020101" pitchFamily="18" charset="-127"/>
              </a:defRPr>
            </a:lvl1pPr>
            <a:lvl2pPr>
              <a:lnSpc>
                <a:spcPct val="150000"/>
              </a:lnSpc>
              <a:defRPr sz="1800">
                <a:latin typeface="KoPub돋움체 Medium" panose="02020603020101020101" pitchFamily="18" charset="-127"/>
                <a:ea typeface="KoPub돋움체 Medium" panose="02020603020101020101" pitchFamily="18" charset="-127"/>
              </a:defRPr>
            </a:lvl2pPr>
            <a:lvl3pPr>
              <a:lnSpc>
                <a:spcPct val="150000"/>
              </a:lnSpc>
              <a:defRPr sz="1600">
                <a:latin typeface="KoPub돋움체 Medium" panose="02020603020101020101" pitchFamily="18" charset="-127"/>
                <a:ea typeface="KoPub돋움체 Medium" panose="02020603020101020101" pitchFamily="18" charset="-127"/>
              </a:defRPr>
            </a:lvl3pPr>
            <a:lvl4pPr>
              <a:lnSpc>
                <a:spcPct val="150000"/>
              </a:lnSpc>
              <a:defRPr sz="1600">
                <a:latin typeface="KoPub돋움체 Medium" panose="02020603020101020101" pitchFamily="18" charset="-127"/>
                <a:ea typeface="KoPub돋움체 Medium" panose="02020603020101020101" pitchFamily="18" charset="-127"/>
              </a:defRPr>
            </a:lvl4pPr>
            <a:lvl5pPr>
              <a:lnSpc>
                <a:spcPct val="150000"/>
              </a:lnSpc>
              <a:defRPr sz="1600">
                <a:latin typeface="KoPub돋움체 Medium" panose="02020603020101020101" pitchFamily="18" charset="-127"/>
                <a:ea typeface="KoPub돋움체 Medium" panose="02020603020101020101" pitchFamily="18" charset="-127"/>
              </a:defRPr>
            </a:lvl5p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pic>
        <p:nvPicPr>
          <p:cNvPr id="11" name="그림 10">
            <a:extLst>
              <a:ext uri="{FF2B5EF4-FFF2-40B4-BE49-F238E27FC236}">
                <a16:creationId xmlns:a16="http://schemas.microsoft.com/office/drawing/2014/main" id="{95A1225D-0BD8-42FD-A091-144615FF0733}"/>
              </a:ext>
            </a:extLst>
          </p:cNvPr>
          <p:cNvPicPr>
            <a:picLocks noChangeAspect="1"/>
          </p:cNvPicPr>
          <p:nvPr userDrawn="1"/>
        </p:nvPicPr>
        <p:blipFill rotWithShape="1">
          <a:blip r:embed="rId2"/>
          <a:srcRect t="-583" b="3459"/>
          <a:stretch/>
        </p:blipFill>
        <p:spPr>
          <a:xfrm>
            <a:off x="5452198" y="6510701"/>
            <a:ext cx="1279135" cy="347299"/>
          </a:xfrm>
          <a:prstGeom prst="rect">
            <a:avLst/>
          </a:prstGeom>
          <a:solidFill>
            <a:srgbClr val="1F346B"/>
          </a:solidFill>
        </p:spPr>
      </p:pic>
      <p:sp>
        <p:nvSpPr>
          <p:cNvPr id="6" name="슬라이드 번호 개체 틀 5">
            <a:extLst>
              <a:ext uri="{FF2B5EF4-FFF2-40B4-BE49-F238E27FC236}">
                <a16:creationId xmlns:a16="http://schemas.microsoft.com/office/drawing/2014/main" id="{831EFF5A-1B85-42B1-95F5-C4213C5AD98D}"/>
              </a:ext>
            </a:extLst>
          </p:cNvPr>
          <p:cNvSpPr>
            <a:spLocks noGrp="1"/>
          </p:cNvSpPr>
          <p:nvPr>
            <p:ph type="sldNum" sz="quarter" idx="12"/>
          </p:nvPr>
        </p:nvSpPr>
        <p:spPr>
          <a:xfrm>
            <a:off x="11404600" y="6517302"/>
            <a:ext cx="558800" cy="321398"/>
          </a:xfrm>
        </p:spPr>
        <p:txBody>
          <a:bodyPr/>
          <a:lstStyle>
            <a:lvl1pPr>
              <a:defRPr>
                <a:solidFill>
                  <a:schemeClr val="bg1"/>
                </a:solidFill>
              </a:defRPr>
            </a:lvl1pPr>
          </a:lstStyle>
          <a:p>
            <a:fld id="{9F4AF89A-28FA-47FA-B28F-9A9C6913CB7A}" type="slidenum">
              <a:rPr lang="ko-KR" altLang="en-US" smtClean="0"/>
              <a:pPr/>
              <a:t>‹#›</a:t>
            </a:fld>
            <a:endParaRPr lang="ko-KR" altLang="en-US" dirty="0"/>
          </a:p>
        </p:txBody>
      </p:sp>
      <p:pic>
        <p:nvPicPr>
          <p:cNvPr id="13" name="그림 12">
            <a:extLst>
              <a:ext uri="{FF2B5EF4-FFF2-40B4-BE49-F238E27FC236}">
                <a16:creationId xmlns:a16="http://schemas.microsoft.com/office/drawing/2014/main" id="{DAEAB581-7B9E-4552-9BEC-BDB2FB36C0F9}"/>
              </a:ext>
            </a:extLst>
          </p:cNvPr>
          <p:cNvPicPr>
            <a:picLocks noChangeAspect="1"/>
          </p:cNvPicPr>
          <p:nvPr userDrawn="1"/>
        </p:nvPicPr>
        <p:blipFill rotWithShape="1">
          <a:blip r:embed="rId3">
            <a:extLst>
              <a:ext uri="{BEBA8EAE-BF5A-486C-A8C5-ECC9F3942E4B}">
                <a14:imgProps xmlns:a14="http://schemas.microsoft.com/office/drawing/2010/main">
                  <a14:imgLayer r:embed="rId4">
                    <a14:imgEffect>
                      <a14:backgroundRemoval t="66482" b="96122" l="16219" r="85171">
                        <a14:foregroundMark x1="20111" y1="81440" x2="20111" y2="81440"/>
                        <a14:foregroundMark x1="16404" y1="81440" x2="16404" y2="81440"/>
                        <a14:foregroundMark x1="25950" y1="81717" x2="25950" y2="81717"/>
                        <a14:foregroundMark x1="35959" y1="86704" x2="35959" y2="86704"/>
                        <a14:foregroundMark x1="44300" y1="83657" x2="44300" y2="83657"/>
                        <a14:foregroundMark x1="53197" y1="73961" x2="53197" y2="73961"/>
                        <a14:foregroundMark x1="82947" y1="81717" x2="82947" y2="81717"/>
                        <a14:foregroundMark x1="85171" y1="87812" x2="85171" y2="87812"/>
                      </a14:backgroundRemoval>
                    </a14:imgEffect>
                  </a14:imgLayer>
                </a14:imgProps>
              </a:ext>
              <a:ext uri="{28A0092B-C50C-407E-A947-70E740481C1C}">
                <a14:useLocalDpi xmlns:a14="http://schemas.microsoft.com/office/drawing/2010/main" val="0"/>
              </a:ext>
            </a:extLst>
          </a:blip>
          <a:srcRect l="12517" t="63297" r="13176"/>
          <a:stretch/>
        </p:blipFill>
        <p:spPr>
          <a:xfrm>
            <a:off x="112017" y="6545265"/>
            <a:ext cx="1744133" cy="288231"/>
          </a:xfrm>
          <a:prstGeom prst="rect">
            <a:avLst/>
          </a:prstGeom>
        </p:spPr>
      </p:pic>
      <p:sp>
        <p:nvSpPr>
          <p:cNvPr id="16" name="날짜 개체 틀 3">
            <a:extLst>
              <a:ext uri="{FF2B5EF4-FFF2-40B4-BE49-F238E27FC236}">
                <a16:creationId xmlns:a16="http://schemas.microsoft.com/office/drawing/2014/main" id="{3920A115-BF94-4DB0-B759-905F580E6ABC}"/>
              </a:ext>
            </a:extLst>
          </p:cNvPr>
          <p:cNvSpPr>
            <a:spLocks noGrp="1"/>
          </p:cNvSpPr>
          <p:nvPr>
            <p:ph type="dt" sz="half" idx="10"/>
          </p:nvPr>
        </p:nvSpPr>
        <p:spPr>
          <a:xfrm>
            <a:off x="9698025" y="6495439"/>
            <a:ext cx="1258711" cy="365125"/>
          </a:xfrm>
        </p:spPr>
        <p:txBody>
          <a:bodyPr/>
          <a:lstStyle>
            <a:lvl1pPr>
              <a:defRPr>
                <a:solidFill>
                  <a:schemeClr val="bg1"/>
                </a:solidFill>
              </a:defRPr>
            </a:lvl1pPr>
          </a:lstStyle>
          <a:p>
            <a:endParaRPr lang="ko-KR" altLang="en-US" dirty="0"/>
          </a:p>
        </p:txBody>
      </p:sp>
      <p:sp>
        <p:nvSpPr>
          <p:cNvPr id="17" name="바닥글 개체 틀 4">
            <a:extLst>
              <a:ext uri="{FF2B5EF4-FFF2-40B4-BE49-F238E27FC236}">
                <a16:creationId xmlns:a16="http://schemas.microsoft.com/office/drawing/2014/main" id="{CB761E04-ABC5-4F9B-B7F4-0370F3F02EDD}"/>
              </a:ext>
            </a:extLst>
          </p:cNvPr>
          <p:cNvSpPr>
            <a:spLocks noGrp="1"/>
          </p:cNvSpPr>
          <p:nvPr>
            <p:ph type="ftr" sz="quarter" idx="11"/>
          </p:nvPr>
        </p:nvSpPr>
        <p:spPr>
          <a:xfrm>
            <a:off x="7308348" y="6495439"/>
            <a:ext cx="1888067" cy="365125"/>
          </a:xfrm>
        </p:spPr>
        <p:txBody>
          <a:bodyPr/>
          <a:lstStyle>
            <a:lvl1pPr>
              <a:defRPr>
                <a:solidFill>
                  <a:schemeClr val="bg1"/>
                </a:solidFill>
              </a:defRPr>
            </a:lvl1pPr>
          </a:lstStyle>
          <a:p>
            <a:endParaRPr lang="ko-KR" altLang="en-US" dirty="0"/>
          </a:p>
        </p:txBody>
      </p:sp>
    </p:spTree>
    <p:extLst>
      <p:ext uri="{BB962C8B-B14F-4D97-AF65-F5344CB8AC3E}">
        <p14:creationId xmlns:p14="http://schemas.microsoft.com/office/powerpoint/2010/main" val="3176484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7D0B4DC-8072-4B8E-A822-FE3A08C0D639}"/>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BD927B99-20C3-4D37-8275-EA6400E5C16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C7C6CE84-6AD8-453A-AD6E-FEAF6049C1C5}"/>
              </a:ext>
            </a:extLst>
          </p:cNvPr>
          <p:cNvSpPr>
            <a:spLocks noGrp="1"/>
          </p:cNvSpPr>
          <p:nvPr>
            <p:ph type="dt" sz="half" idx="10"/>
          </p:nvPr>
        </p:nvSpPr>
        <p:spPr>
          <a:xfrm>
            <a:off x="838200" y="6044141"/>
            <a:ext cx="2743200" cy="365125"/>
          </a:xfrm>
        </p:spPr>
        <p:txBody>
          <a:bodyPr/>
          <a:lstStyle/>
          <a:p>
            <a:endParaRPr lang="ko-KR" altLang="en-US"/>
          </a:p>
        </p:txBody>
      </p:sp>
      <p:sp>
        <p:nvSpPr>
          <p:cNvPr id="5" name="바닥글 개체 틀 4">
            <a:extLst>
              <a:ext uri="{FF2B5EF4-FFF2-40B4-BE49-F238E27FC236}">
                <a16:creationId xmlns:a16="http://schemas.microsoft.com/office/drawing/2014/main" id="{549EF105-0337-4580-9111-FD2F527F97D8}"/>
              </a:ext>
            </a:extLst>
          </p:cNvPr>
          <p:cNvSpPr>
            <a:spLocks noGrp="1"/>
          </p:cNvSpPr>
          <p:nvPr>
            <p:ph type="ftr" sz="quarter" idx="11"/>
          </p:nvPr>
        </p:nvSpPr>
        <p:spPr>
          <a:xfrm>
            <a:off x="4038600" y="6044141"/>
            <a:ext cx="4114800" cy="365125"/>
          </a:xfrm>
        </p:spPr>
        <p:txBody>
          <a:bodyPr/>
          <a:lstStyle/>
          <a:p>
            <a:endParaRPr lang="ko-KR" altLang="en-US"/>
          </a:p>
        </p:txBody>
      </p:sp>
      <p:sp>
        <p:nvSpPr>
          <p:cNvPr id="7" name="슬라이드 번호 개체 틀 5">
            <a:extLst>
              <a:ext uri="{FF2B5EF4-FFF2-40B4-BE49-F238E27FC236}">
                <a16:creationId xmlns:a16="http://schemas.microsoft.com/office/drawing/2014/main" id="{AB31AF83-2C46-4BF6-B48E-DD76F99A3E2F}"/>
              </a:ext>
            </a:extLst>
          </p:cNvPr>
          <p:cNvSpPr>
            <a:spLocks noGrp="1"/>
          </p:cNvSpPr>
          <p:nvPr>
            <p:ph type="sldNum" sz="quarter" idx="12"/>
          </p:nvPr>
        </p:nvSpPr>
        <p:spPr>
          <a:xfrm>
            <a:off x="8940800" y="6044141"/>
            <a:ext cx="2743200" cy="365125"/>
          </a:xfrm>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4517793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88C8B6C-1DEF-4332-8A14-F6B6981FD999}"/>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78B35E-5C7A-4650-863C-461C8592BBB6}"/>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FA0FC85E-DA01-4C94-8312-2EAB20EAB35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6ADE796-457C-4E05-BBB8-BC7FD1390133}"/>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765A564A-D398-41C0-BEF2-5D2A53F3709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BD0DB09-1DC7-4816-820B-2EDD19BADB20}"/>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21298322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073845-DA08-4E02-89E5-279477CDC15E}"/>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FA0F8E2-8F9C-4936-8D92-FA7FE497028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59C35784-8D42-4310-8640-07C1BEB330BD}"/>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1B31B950-6CB7-42DB-A303-B407EF83D2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0F35007-CA56-4CB7-8C5F-CF3E2924C586}"/>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290CD9AE-54AB-44CB-8910-A70F24EB3AAA}"/>
              </a:ext>
            </a:extLst>
          </p:cNvPr>
          <p:cNvSpPr>
            <a:spLocks noGrp="1"/>
          </p:cNvSpPr>
          <p:nvPr>
            <p:ph type="dt" sz="half" idx="10"/>
          </p:nvPr>
        </p:nvSpPr>
        <p:spPr/>
        <p:txBody>
          <a:bodyPr/>
          <a:lstStyle/>
          <a:p>
            <a:endParaRPr lang="ko-KR" altLang="en-US"/>
          </a:p>
        </p:txBody>
      </p:sp>
      <p:sp>
        <p:nvSpPr>
          <p:cNvPr id="8" name="바닥글 개체 틀 7">
            <a:extLst>
              <a:ext uri="{FF2B5EF4-FFF2-40B4-BE49-F238E27FC236}">
                <a16:creationId xmlns:a16="http://schemas.microsoft.com/office/drawing/2014/main" id="{42AFA608-2F47-4FBC-8A45-AC037C64C08E}"/>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FEA635AC-BD3D-4D4A-AB07-EAABF5013766}"/>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307660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D27486-42F6-4B67-8DF8-769971D09AF4}"/>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9BBFFFA3-6C08-4D2B-B714-F2729D0D945F}"/>
              </a:ext>
            </a:extLst>
          </p:cNvPr>
          <p:cNvSpPr>
            <a:spLocks noGrp="1"/>
          </p:cNvSpPr>
          <p:nvPr>
            <p:ph type="dt" sz="half" idx="10"/>
          </p:nvPr>
        </p:nvSpPr>
        <p:spPr/>
        <p:txBody>
          <a:bodyPr/>
          <a:lstStyle/>
          <a:p>
            <a:endParaRPr lang="ko-KR" altLang="en-US"/>
          </a:p>
        </p:txBody>
      </p:sp>
      <p:sp>
        <p:nvSpPr>
          <p:cNvPr id="4" name="바닥글 개체 틀 3">
            <a:extLst>
              <a:ext uri="{FF2B5EF4-FFF2-40B4-BE49-F238E27FC236}">
                <a16:creationId xmlns:a16="http://schemas.microsoft.com/office/drawing/2014/main" id="{001B550E-4A2E-4405-8F29-A9633B7A9251}"/>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840B985F-0B0F-472E-A18E-72C776E3022C}"/>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969097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5995497-1A46-4FDE-B4B1-CA2510A4E863}"/>
              </a:ext>
            </a:extLst>
          </p:cNvPr>
          <p:cNvSpPr>
            <a:spLocks noGrp="1"/>
          </p:cNvSpPr>
          <p:nvPr>
            <p:ph type="dt" sz="half" idx="10"/>
          </p:nvPr>
        </p:nvSpPr>
        <p:spPr/>
        <p:txBody>
          <a:bodyPr/>
          <a:lstStyle/>
          <a:p>
            <a:endParaRPr lang="ko-KR" altLang="en-US"/>
          </a:p>
        </p:txBody>
      </p:sp>
      <p:sp>
        <p:nvSpPr>
          <p:cNvPr id="3" name="바닥글 개체 틀 2">
            <a:extLst>
              <a:ext uri="{FF2B5EF4-FFF2-40B4-BE49-F238E27FC236}">
                <a16:creationId xmlns:a16="http://schemas.microsoft.com/office/drawing/2014/main" id="{66BDDD35-FFDF-4936-8645-AC2A1F2AB0E2}"/>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5A31037F-312F-4D9B-9119-F134F49B2903}"/>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159211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8062E35-F23E-4CDC-9C00-11DCB7E970EA}"/>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D765F35A-C1B0-4F2A-8536-7C9C4EF9C0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86B6DFEF-5929-42A1-B17A-6AD3F1AC5E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9B8A33CA-A779-4AE7-8BB3-0DF9C81A742A}"/>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71539BD6-447C-4ABC-97CC-BCC453A3890D}"/>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6A96239-5406-4F31-95AA-C4BD1AB5053A}"/>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4780733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FCC7A7-4C8B-434F-9C38-C6E5AC9E37D8}"/>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97AD0D2C-AE0D-4BDF-B9E8-D91CD7556C1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A9F58740-6BDA-46A2-A629-765E7E175B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F92C1AD5-7F55-4125-8A2F-BC07A86DA481}"/>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CAB58409-227F-4B89-B306-5E32E6E4F5AE}"/>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7C64012-3A7B-4999-BA77-06258A04A4F4}"/>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1430372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154230E-387F-465D-9111-5F8ACFE1D2C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CC53B19F-7C90-4073-858B-0BD87654EFB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96123FE-787A-4904-AA9D-8ACC7B307BBE}"/>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1F1EAC67-5F52-452E-9E50-F587C648176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50EEB5A-4207-4ADB-95D4-B87AA305BAB0}"/>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90071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4DACCBB6-C18F-485C-A53E-8683CFFE9091}"/>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112DC10F-92E5-436B-9D63-2A68B11CB04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CB5DDDF8-BB20-4C9B-9571-A39BA7D6E91F}"/>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7354DDF5-9EDE-406E-BFC5-8359CD70849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B989F03-47B6-4B39-B0CA-2A216789CA94}"/>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9777190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DA31B03D-0C42-48E6-948A-722C5EE3FD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dirty="0"/>
              <a:t>마스터 제목 스타일 편집</a:t>
            </a:r>
          </a:p>
        </p:txBody>
      </p:sp>
      <p:sp>
        <p:nvSpPr>
          <p:cNvPr id="3" name="텍스트 개체 틀 2">
            <a:extLst>
              <a:ext uri="{FF2B5EF4-FFF2-40B4-BE49-F238E27FC236}">
                <a16:creationId xmlns:a16="http://schemas.microsoft.com/office/drawing/2014/main" id="{495A6E46-0B48-4B44-9DA0-C7C1E05C33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B20D4B93-E437-4DCC-9E09-16EA88BBC5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5" name="바닥글 개체 틀 4">
            <a:extLst>
              <a:ext uri="{FF2B5EF4-FFF2-40B4-BE49-F238E27FC236}">
                <a16:creationId xmlns:a16="http://schemas.microsoft.com/office/drawing/2014/main" id="{84A7A77E-05D0-4203-B655-9A2A21B58D0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6" name="슬라이드 번호 개체 틀 5">
            <a:extLst>
              <a:ext uri="{FF2B5EF4-FFF2-40B4-BE49-F238E27FC236}">
                <a16:creationId xmlns:a16="http://schemas.microsoft.com/office/drawing/2014/main" id="{4C09CEAC-52D1-4D7C-99C4-13222A951ED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fld id="{9F4AF89A-28FA-47FA-B28F-9A9C6913CB7A}" type="slidenum">
              <a:rPr lang="ko-KR" altLang="en-US" smtClean="0"/>
              <a:pPr/>
              <a:t>‹#›</a:t>
            </a:fld>
            <a:endParaRPr lang="ko-KR" altLang="en-US" dirty="0"/>
          </a:p>
        </p:txBody>
      </p:sp>
    </p:spTree>
    <p:extLst>
      <p:ext uri="{BB962C8B-B14F-4D97-AF65-F5344CB8AC3E}">
        <p14:creationId xmlns:p14="http://schemas.microsoft.com/office/powerpoint/2010/main" val="27554859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KoPub돋움체 Medium" panose="00000600000000000000" pitchFamily="2" charset="-127"/>
          <a:ea typeface="KoPub돋움체 Medium" panose="00000600000000000000" pitchFamily="2" charset="-127"/>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KoPub돋움체 Medium" panose="00000600000000000000" pitchFamily="2" charset="-127"/>
          <a:ea typeface="KoPub돋움체 Medium" panose="00000600000000000000" pitchFamily="2"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KoPub돋움체 Medium" panose="00000600000000000000" pitchFamily="2" charset="-127"/>
          <a:ea typeface="KoPub돋움체 Medium" panose="00000600000000000000" pitchFamily="2" charset="-127"/>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KoPub돋움체 Medium" panose="00000600000000000000" pitchFamily="2" charset="-127"/>
          <a:ea typeface="KoPub돋움체 Medium" panose="00000600000000000000" pitchFamily="2" charset="-127"/>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KoPub돋움체 Medium" panose="00000600000000000000" pitchFamily="2" charset="-127"/>
          <a:ea typeface="KoPub돋움체 Medium" panose="00000600000000000000" pitchFamily="2" charset="-127"/>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KoPub돋움체 Medium" panose="00000600000000000000" pitchFamily="2" charset="-127"/>
          <a:ea typeface="KoPub돋움체 Medium" panose="00000600000000000000" pitchFamily="2" charset="-127"/>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7068" y="2062806"/>
            <a:ext cx="11387837" cy="461665"/>
          </a:xfrm>
          <a:prstGeom prst="rect">
            <a:avLst/>
          </a:prstGeom>
          <a:noFill/>
        </p:spPr>
        <p:txBody>
          <a:bodyPr wrap="square">
            <a:spAutoFit/>
          </a:bodyPr>
          <a:lstStyle/>
          <a:p>
            <a:r>
              <a:rPr lang="en-US" sz="2400" b="1" dirty="0">
                <a:solidFill>
                  <a:schemeClr val="bg1"/>
                </a:solidFill>
                <a:latin typeface="KoPub돋움체 Bold" panose="00000800000000000000" pitchFamily="2" charset="-127"/>
                <a:ea typeface="KoPub돋움체 Bold" panose="00000800000000000000" pitchFamily="2" charset="-127"/>
              </a:rPr>
              <a:t>AEC FPCA </a:t>
            </a:r>
            <a:r>
              <a:rPr lang="ko-KR" altLang="en-US" sz="2400" b="1" dirty="0">
                <a:solidFill>
                  <a:schemeClr val="bg1"/>
                </a:solidFill>
                <a:latin typeface="KoPub돋움체 Bold" panose="00000800000000000000" pitchFamily="2" charset="-127"/>
                <a:ea typeface="KoPub돋움체 Bold" panose="00000800000000000000" pitchFamily="2" charset="-127"/>
              </a:rPr>
              <a:t>및 </a:t>
            </a:r>
            <a:r>
              <a:rPr lang="en-US" altLang="ko-KR" sz="2400" b="1" dirty="0">
                <a:solidFill>
                  <a:schemeClr val="bg1"/>
                </a:solidFill>
                <a:latin typeface="KoPub돋움체 Bold" panose="00000800000000000000" pitchFamily="2" charset="-127"/>
                <a:ea typeface="KoPub돋움체 Bold" panose="00000800000000000000" pitchFamily="2" charset="-127"/>
              </a:rPr>
              <a:t>1D CNN </a:t>
            </a:r>
            <a:r>
              <a:rPr lang="ko-KR" altLang="en-US" sz="2400" b="1" dirty="0">
                <a:solidFill>
                  <a:schemeClr val="bg1"/>
                </a:solidFill>
                <a:latin typeface="KoPub돋움체 Bold" panose="00000800000000000000" pitchFamily="2" charset="-127"/>
                <a:ea typeface="KoPub돋움체 Bold" panose="00000800000000000000" pitchFamily="2" charset="-127"/>
              </a:rPr>
              <a:t>결과 비교</a:t>
            </a:r>
            <a:endParaRPr sz="2400" b="1" dirty="0">
              <a:solidFill>
                <a:schemeClr val="bg1"/>
              </a:solidFill>
              <a:latin typeface="KoPub돋움체 Bold" panose="00000800000000000000" pitchFamily="2" charset="-127"/>
              <a:ea typeface="KoPub돋움체 Bold" panose="00000800000000000000" pitchFamily="2" charset="-127"/>
            </a:endParaRPr>
          </a:p>
        </p:txBody>
      </p:sp>
      <p:sp>
        <p:nvSpPr>
          <p:cNvPr id="3" name="TextBox 2"/>
          <p:cNvSpPr txBox="1"/>
          <p:nvPr/>
        </p:nvSpPr>
        <p:spPr>
          <a:xfrm>
            <a:off x="417068" y="3139177"/>
            <a:ext cx="7139940" cy="338554"/>
          </a:xfrm>
          <a:prstGeom prst="rect">
            <a:avLst/>
          </a:prstGeom>
          <a:noFill/>
        </p:spPr>
        <p:txBody>
          <a:bodyPr wrap="square">
            <a:spAutoFit/>
          </a:bodyPr>
          <a:lstStyle/>
          <a:p>
            <a:r>
              <a:rPr sz="1600" dirty="0">
                <a:solidFill>
                  <a:schemeClr val="bg1"/>
                </a:solidFill>
                <a:latin typeface="KoPub돋움체 Medium"/>
              </a:rPr>
              <a:t>2026. 0</a:t>
            </a:r>
            <a:r>
              <a:rPr lang="en-US" sz="1600" dirty="0">
                <a:solidFill>
                  <a:schemeClr val="bg1"/>
                </a:solidFill>
                <a:latin typeface="KoPub돋움체 Medium"/>
              </a:rPr>
              <a:t>9. 04</a:t>
            </a:r>
            <a:endParaRPr sz="1600" dirty="0">
              <a:solidFill>
                <a:schemeClr val="bg1"/>
              </a:solidFill>
              <a:latin typeface="KoPub돋움체 Medium"/>
            </a:endParaRPr>
          </a:p>
        </p:txBody>
      </p:sp>
      <p:sp>
        <p:nvSpPr>
          <p:cNvPr id="4" name="TextBox 3"/>
          <p:cNvSpPr txBox="1"/>
          <p:nvPr/>
        </p:nvSpPr>
        <p:spPr>
          <a:xfrm>
            <a:off x="417068" y="3564777"/>
            <a:ext cx="7139940" cy="289823"/>
          </a:xfrm>
          <a:prstGeom prst="rect">
            <a:avLst/>
          </a:prstGeom>
          <a:noFill/>
        </p:spPr>
        <p:txBody>
          <a:bodyPr wrap="square">
            <a:spAutoFit/>
          </a:bodyPr>
          <a:lstStyle/>
          <a:p>
            <a:r>
              <a:rPr sz="1800" b="1">
                <a:solidFill>
                  <a:srgbClr val="FFFFFF"/>
                </a:solidFill>
                <a:latin typeface="KoPub돋움체 Medium"/>
              </a:rPr>
              <a:t>JangHoon Chun</a:t>
            </a:r>
          </a:p>
        </p:txBody>
      </p:sp>
      <p:sp>
        <p:nvSpPr>
          <p:cNvPr id="5" name="TextBox 4"/>
          <p:cNvSpPr txBox="1"/>
          <p:nvPr/>
        </p:nvSpPr>
        <p:spPr>
          <a:xfrm>
            <a:off x="417068" y="3978214"/>
            <a:ext cx="7139940" cy="1213153"/>
          </a:xfrm>
          <a:prstGeom prst="rect">
            <a:avLst/>
          </a:prstGeom>
          <a:noFill/>
        </p:spPr>
        <p:txBody>
          <a:bodyPr wrap="square">
            <a:spAutoFit/>
          </a:bodyPr>
          <a:lstStyle/>
          <a:p>
            <a:r>
              <a:rPr sz="1600">
                <a:solidFill>
                  <a:srgbClr val="FFFFFF"/>
                </a:solidFill>
                <a:latin typeface="KoPub돋움체 Medium"/>
              </a:rPr>
              <a:t>Department of, Medical Device Engineering &amp; Management</a:t>
            </a:r>
          </a:p>
          <a:p>
            <a:r>
              <a:rPr sz="1600">
                <a:solidFill>
                  <a:srgbClr val="FFFFFF"/>
                </a:solidFill>
                <a:latin typeface="KoPub돋움체 Medium"/>
              </a:rPr>
              <a:t>Gangnam Severance Hospital,</a:t>
            </a:r>
          </a:p>
          <a:p>
            <a:r>
              <a:rPr sz="1600">
                <a:solidFill>
                  <a:srgbClr val="FFFFFF"/>
                </a:solidFill>
                <a:latin typeface="KoPub돋움체 Medium"/>
              </a:rPr>
              <a:t>Yonsei University College of Medicine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목차</a:t>
            </a:r>
          </a:p>
        </p:txBody>
      </p:sp>
      <p:sp>
        <p:nvSpPr>
          <p:cNvPr id="12" name="내용 개체 틀 11">
            <a:extLst>
              <a:ext uri="{FF2B5EF4-FFF2-40B4-BE49-F238E27FC236}">
                <a16:creationId xmlns:a16="http://schemas.microsoft.com/office/drawing/2014/main" id="{FB6B5539-CC2D-F932-DAA3-12E2A40E7236}"/>
              </a:ext>
            </a:extLst>
          </p:cNvPr>
          <p:cNvSpPr>
            <a:spLocks noGrp="1"/>
          </p:cNvSpPr>
          <p:nvPr>
            <p:ph idx="1"/>
          </p:nvPr>
        </p:nvSpPr>
        <p:spPr/>
        <p:txBody>
          <a:bodyPr wrap="square"/>
          <a:lstStyle/>
          <a:p>
            <a:r>
              <a:rPr dirty="0" err="1"/>
              <a:t>연구</a:t>
            </a:r>
            <a:r>
              <a:rPr dirty="0"/>
              <a:t> Summary</a:t>
            </a:r>
            <a:endParaRPr lang="ko-KR" altLang="en-US" b="1" dirty="0">
              <a:solidFill>
                <a:srgbClr val="1F1F1F"/>
              </a:solidFill>
            </a:endParaRPr>
          </a:p>
          <a:p>
            <a:r>
              <a:rPr dirty="0"/>
              <a:t>Reference</a:t>
            </a:r>
          </a:p>
          <a:p>
            <a:r>
              <a:rPr dirty="0" err="1"/>
              <a:t>연구</a:t>
            </a:r>
            <a:r>
              <a:rPr dirty="0"/>
              <a:t> </a:t>
            </a:r>
            <a:r>
              <a:rPr dirty="0" err="1"/>
              <a:t>상세</a:t>
            </a:r>
            <a:r>
              <a:rPr dirty="0"/>
              <a:t> </a:t>
            </a:r>
            <a:r>
              <a:rPr dirty="0" err="1"/>
              <a:t>내용</a:t>
            </a:r>
            <a:endParaRPr dirty="0"/>
          </a:p>
          <a:p>
            <a:r>
              <a:rPr dirty="0" err="1"/>
              <a:t>다음주</a:t>
            </a:r>
            <a:r>
              <a:rPr dirty="0"/>
              <a:t> Plan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연구 Summary</a:t>
            </a:r>
          </a:p>
        </p:txBody>
      </p:sp>
      <p:sp>
        <p:nvSpPr>
          <p:cNvPr id="3" name="Content Placeholder 2"/>
          <p:cNvSpPr>
            <a:spLocks noGrp="1"/>
          </p:cNvSpPr>
          <p:nvPr>
            <p:ph idx="1"/>
          </p:nvPr>
        </p:nvSpPr>
        <p:spPr/>
        <p:txBody>
          <a:bodyPr/>
          <a:lstStyle/>
          <a:p>
            <a:r>
              <a:t>clinic4+VAT+SAT 대비 AEC-128 추가 -&gt; 22개 방법론 x 105개 DeLong 비교</a:t>
            </a:r>
          </a:p>
          <a:p>
            <a:r>
              <a:t>family-wise 보정 통과 2건도 internal 무재현 -&gt; 반박됨</a:t>
            </a:r>
          </a:p>
          <a:p>
            <a:r>
              <a:t>결론 -&gt; 현재 데이터 규모에서 재현 가능한 추가 신호 없음</a:t>
            </a:r>
          </a:p>
        </p:txBody>
      </p:sp>
      <p:pic>
        <p:nvPicPr>
          <p:cNvPr id="4" name="Picture 3" descr="pipeline_overview.png"/>
          <p:cNvPicPr>
            <a:picLocks noChangeAspect="1"/>
          </p:cNvPicPr>
          <p:nvPr/>
        </p:nvPicPr>
        <p:blipFill>
          <a:blip r:embed="rId3"/>
          <a:stretch>
            <a:fillRect/>
          </a:stretch>
        </p:blipFill>
        <p:spPr>
          <a:xfrm>
            <a:off x="596000" y="3210339"/>
            <a:ext cx="11000000" cy="32004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Reference</a:t>
            </a:r>
          </a:p>
        </p:txBody>
      </p:sp>
      <p:sp>
        <p:nvSpPr>
          <p:cNvPr id="3" name="Content Placeholder 2"/>
          <p:cNvSpPr>
            <a:spLocks noGrp="1"/>
          </p:cNvSpPr>
          <p:nvPr>
            <p:ph idx="1"/>
          </p:nvPr>
        </p:nvSpPr>
        <p:spPr/>
        <p:txBody>
          <a:bodyPr>
            <a:normAutofit fontScale="92500" lnSpcReduction="10000"/>
          </a:bodyPr>
          <a:lstStyle/>
          <a:p>
            <a:r>
              <a:rPr sz="1800" dirty="0"/>
              <a:t>Beretta et al., "Functional PCA...Electric Consumption Patterns," arXiv:1909.05237(2020)</a:t>
            </a:r>
            <a:endParaRPr lang="en-US" sz="1800" dirty="0"/>
          </a:p>
          <a:p>
            <a:pPr lvl="1"/>
            <a:r>
              <a:rPr sz="1600" dirty="0"/>
              <a:t>FPCA </a:t>
            </a:r>
            <a:r>
              <a:rPr sz="1600" dirty="0" err="1"/>
              <a:t>방법론</a:t>
            </a:r>
            <a:r>
              <a:rPr sz="1600" dirty="0"/>
              <a:t> </a:t>
            </a:r>
            <a:r>
              <a:rPr sz="1600" dirty="0" err="1"/>
              <a:t>채택</a:t>
            </a:r>
            <a:r>
              <a:rPr sz="1600" dirty="0"/>
              <a:t> </a:t>
            </a:r>
            <a:r>
              <a:rPr sz="1600" dirty="0" err="1"/>
              <a:t>근거</a:t>
            </a:r>
            <a:endParaRPr sz="1600" dirty="0"/>
          </a:p>
          <a:p>
            <a:r>
              <a:rPr sz="1800" dirty="0"/>
              <a:t>Mei et al., "</a:t>
            </a:r>
            <a:r>
              <a:rPr sz="1800" dirty="0" err="1"/>
              <a:t>DeepSpiro</a:t>
            </a:r>
            <a:r>
              <a:rPr sz="1800" dirty="0"/>
              <a:t>," arXiv:2405.03239(2024)</a:t>
            </a:r>
            <a:endParaRPr lang="en-US" sz="1800" dirty="0"/>
          </a:p>
          <a:p>
            <a:pPr lvl="1"/>
            <a:r>
              <a:rPr sz="1600" dirty="0" err="1"/>
              <a:t>curve+임상변수</a:t>
            </a:r>
            <a:r>
              <a:rPr sz="1600" dirty="0"/>
              <a:t> fusion </a:t>
            </a:r>
            <a:r>
              <a:rPr sz="1600" dirty="0" err="1"/>
              <a:t>아키텍처</a:t>
            </a:r>
            <a:r>
              <a:rPr sz="1600" dirty="0"/>
              <a:t> </a:t>
            </a:r>
            <a:r>
              <a:rPr sz="1600" dirty="0" err="1"/>
              <a:t>선례</a:t>
            </a:r>
            <a:endParaRPr sz="1600" dirty="0"/>
          </a:p>
          <a:p>
            <a:r>
              <a:rPr sz="1800" dirty="0"/>
              <a:t>Jeon et al., "Deep Learning-Based COPD Exacerbation Prediction...," JMIR 2025;27:e69785</a:t>
            </a:r>
            <a:endParaRPr lang="en-US" sz="1800" dirty="0"/>
          </a:p>
          <a:p>
            <a:pPr lvl="1"/>
            <a:r>
              <a:rPr sz="1600" dirty="0"/>
              <a:t>2병원 Dataset/Method </a:t>
            </a:r>
            <a:r>
              <a:rPr sz="1600" dirty="0" err="1"/>
              <a:t>템플릿</a:t>
            </a:r>
            <a:endParaRPr sz="1600" dirty="0"/>
          </a:p>
          <a:p>
            <a:r>
              <a:rPr sz="1800" dirty="0"/>
              <a:t>Medrano et al., "Scout-Dose-TCM," SPIE(2025)</a:t>
            </a:r>
            <a:endParaRPr lang="en-US" sz="1800" dirty="0"/>
          </a:p>
          <a:p>
            <a:pPr lvl="1"/>
            <a:r>
              <a:rPr sz="1600" dirty="0"/>
              <a:t>tube current modulation </a:t>
            </a:r>
            <a:r>
              <a:rPr sz="1600" dirty="0" err="1"/>
              <a:t>곡선</a:t>
            </a:r>
            <a:r>
              <a:rPr sz="1600" dirty="0"/>
              <a:t> </a:t>
            </a:r>
            <a:r>
              <a:rPr sz="1600" dirty="0" err="1"/>
              <a:t>활용</a:t>
            </a:r>
            <a:r>
              <a:rPr sz="1600" dirty="0"/>
              <a:t> </a:t>
            </a:r>
            <a:r>
              <a:rPr sz="1600" dirty="0" err="1"/>
              <a:t>선례</a:t>
            </a:r>
            <a:endParaRPr sz="1600" dirty="0"/>
          </a:p>
          <a:p>
            <a:r>
              <a:rPr sz="1800" dirty="0"/>
              <a:t>Bartholomeus et al., "Robustness of pulmonary nodule radiomic features...," </a:t>
            </a:r>
            <a:r>
              <a:rPr sz="1800" dirty="0" err="1"/>
              <a:t>Eur</a:t>
            </a:r>
            <a:r>
              <a:rPr sz="1800" dirty="0"/>
              <a:t> </a:t>
            </a:r>
            <a:r>
              <a:rPr sz="1800" dirty="0" err="1"/>
              <a:t>Radiol</a:t>
            </a:r>
            <a:r>
              <a:rPr sz="1800" dirty="0"/>
              <a:t> 33:7044-7055(2023)</a:t>
            </a:r>
            <a:endParaRPr lang="en-US" sz="1800" dirty="0"/>
          </a:p>
          <a:p>
            <a:pPr lvl="1"/>
            <a:r>
              <a:rPr sz="1600" dirty="0" err="1"/>
              <a:t>스캐너·선량</a:t>
            </a:r>
            <a:r>
              <a:rPr sz="1600" dirty="0"/>
              <a:t> </a:t>
            </a:r>
            <a:r>
              <a:rPr sz="1600" dirty="0" err="1"/>
              <a:t>의존성의</a:t>
            </a:r>
            <a:r>
              <a:rPr sz="1600" dirty="0"/>
              <a:t> </a:t>
            </a:r>
            <a:r>
              <a:rPr sz="1600" dirty="0" err="1"/>
              <a:t>기전적</a:t>
            </a:r>
            <a:r>
              <a:rPr sz="1600" dirty="0"/>
              <a:t> </a:t>
            </a:r>
            <a:r>
              <a:rPr sz="1600" dirty="0" err="1"/>
              <a:t>근거</a:t>
            </a:r>
            <a:endParaRPr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FPCA 알고리즘 요약 — clinic4+VAT+SAT+AEC(FPCA)</a:t>
            </a:r>
          </a:p>
        </p:txBody>
      </p:sp>
      <p:sp>
        <p:nvSpPr>
          <p:cNvPr id="3" name="Content Placeholder 2"/>
          <p:cNvSpPr>
            <a:spLocks noGrp="1"/>
          </p:cNvSpPr>
          <p:nvPr>
            <p:ph idx="1"/>
          </p:nvPr>
        </p:nvSpPr>
        <p:spPr/>
        <p:txBody>
          <a:bodyPr wrap="square"/>
          <a:lstStyle/>
          <a:p>
            <a:r>
              <a:rPr dirty="0" err="1"/>
              <a:t>입력</a:t>
            </a:r>
            <a:r>
              <a:rPr dirty="0"/>
              <a:t> — AEC-128 raw </a:t>
            </a:r>
            <a:r>
              <a:rPr dirty="0" err="1"/>
              <a:t>곡선</a:t>
            </a:r>
            <a:r>
              <a:rPr dirty="0"/>
              <a:t>(128 </a:t>
            </a:r>
            <a:r>
              <a:rPr dirty="0" err="1"/>
              <a:t>슬라이스</a:t>
            </a:r>
            <a:r>
              <a:rPr dirty="0"/>
              <a:t> mA)</a:t>
            </a:r>
          </a:p>
          <a:p>
            <a:r>
              <a:rPr dirty="0"/>
              <a:t>① </a:t>
            </a:r>
            <a:r>
              <a:rPr dirty="0" err="1"/>
              <a:t>평균곡선</a:t>
            </a:r>
            <a:r>
              <a:rPr dirty="0"/>
              <a:t> μ(z) </a:t>
            </a:r>
            <a:r>
              <a:rPr dirty="0" err="1"/>
              <a:t>산출</a:t>
            </a:r>
            <a:r>
              <a:rPr dirty="0"/>
              <a:t>(</a:t>
            </a:r>
            <a:r>
              <a:rPr dirty="0" err="1"/>
              <a:t>강남</a:t>
            </a:r>
            <a:r>
              <a:rPr dirty="0"/>
              <a:t> </a:t>
            </a:r>
            <a:r>
              <a:rPr dirty="0" err="1"/>
              <a:t>코호트</a:t>
            </a:r>
            <a:r>
              <a:rPr dirty="0"/>
              <a:t>)</a:t>
            </a:r>
          </a:p>
          <a:p>
            <a:r>
              <a:rPr dirty="0"/>
              <a:t>② </a:t>
            </a:r>
            <a:r>
              <a:rPr dirty="0" err="1"/>
              <a:t>공분산행렬</a:t>
            </a:r>
            <a:r>
              <a:rPr dirty="0"/>
              <a:t> </a:t>
            </a:r>
            <a:r>
              <a:rPr dirty="0" err="1"/>
              <a:t>고유분해</a:t>
            </a:r>
            <a:r>
              <a:rPr dirty="0"/>
              <a:t> -&gt; PC(φₖ)+</a:t>
            </a:r>
            <a:r>
              <a:rPr dirty="0" err="1"/>
              <a:t>고유값</a:t>
            </a:r>
            <a:r>
              <a:rPr dirty="0"/>
              <a:t>(λₖ)</a:t>
            </a:r>
          </a:p>
          <a:p>
            <a:r>
              <a:rPr dirty="0"/>
              <a:t>③ elbow </a:t>
            </a:r>
            <a:r>
              <a:rPr dirty="0" err="1"/>
              <a:t>기준</a:t>
            </a:r>
            <a:r>
              <a:rPr dirty="0"/>
              <a:t> n=3 </a:t>
            </a:r>
            <a:r>
              <a:rPr dirty="0" err="1"/>
              <a:t>성분</a:t>
            </a:r>
            <a:r>
              <a:rPr dirty="0"/>
              <a:t> </a:t>
            </a:r>
            <a:r>
              <a:rPr dirty="0" err="1"/>
              <a:t>고정</a:t>
            </a:r>
            <a:endParaRPr dirty="0"/>
          </a:p>
          <a:p>
            <a:r>
              <a:rPr dirty="0"/>
              <a:t>④ </a:t>
            </a:r>
            <a:r>
              <a:rPr dirty="0" err="1"/>
              <a:t>편차곡선</a:t>
            </a:r>
            <a:r>
              <a:rPr dirty="0"/>
              <a:t> </a:t>
            </a:r>
            <a:r>
              <a:rPr dirty="0" err="1"/>
              <a:t>투영</a:t>
            </a:r>
            <a:r>
              <a:rPr dirty="0"/>
              <a:t> -&gt; score1-3</a:t>
            </a:r>
          </a:p>
          <a:p>
            <a:r>
              <a:rPr dirty="0" err="1"/>
              <a:t>외부</a:t>
            </a:r>
            <a:r>
              <a:rPr dirty="0"/>
              <a:t>(</a:t>
            </a:r>
            <a:r>
              <a:rPr dirty="0" err="1"/>
              <a:t>신촌</a:t>
            </a:r>
            <a:r>
              <a:rPr dirty="0"/>
              <a:t>) — </a:t>
            </a:r>
            <a:r>
              <a:rPr dirty="0" err="1"/>
              <a:t>재학습</a:t>
            </a:r>
            <a:r>
              <a:rPr dirty="0"/>
              <a:t> </a:t>
            </a:r>
            <a:r>
              <a:rPr dirty="0" err="1"/>
              <a:t>없이</a:t>
            </a:r>
            <a:r>
              <a:rPr dirty="0"/>
              <a:t> </a:t>
            </a:r>
            <a:r>
              <a:rPr dirty="0" err="1"/>
              <a:t>투영만</a:t>
            </a:r>
            <a:r>
              <a:rPr dirty="0"/>
              <a:t>(frozen)</a:t>
            </a:r>
          </a:p>
          <a:p>
            <a:r>
              <a:rPr dirty="0" err="1"/>
              <a:t>최종</a:t>
            </a:r>
            <a:r>
              <a:rPr dirty="0"/>
              <a:t> </a:t>
            </a:r>
            <a:r>
              <a:rPr dirty="0" err="1"/>
              <a:t>입력</a:t>
            </a:r>
            <a:r>
              <a:rPr dirty="0"/>
              <a:t> — clinic4+VAT+SAT+PC1-3 -&gt; logistic regression</a:t>
            </a:r>
          </a:p>
        </p:txBody>
      </p:sp>
      <p:sp>
        <p:nvSpPr>
          <p:cNvPr id="4" name="슬라이드 번호 개체 틀"/>
          <p:cNvSpPr>
            <a:spLocks noGrp="1"/>
          </p:cNvSpPr>
          <p:nvPr>
            <p:ph type="sldNum" sz="quarter" idx="12"/>
          </p:nvPr>
        </p:nvSpPr>
        <p:spPr/>
        <p:txBody>
          <a:bodyPr/>
          <a:lstStyle/>
          <a:p>
            <a:fld id="{9F4AF89A-28FA-47FA-B28F-9A9C69130004}" type="slidenum">
              <a:rPr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FPCA 기반 모델, clinic4 대비 실제로 개선되는가</a:t>
            </a:r>
          </a:p>
        </p:txBody>
      </p:sp>
      <p:sp>
        <p:nvSpPr>
          <p:cNvPr id="3" name="Content Placeholder 2"/>
          <p:cNvSpPr>
            <a:spLocks noGrp="1"/>
          </p:cNvSpPr>
          <p:nvPr>
            <p:ph idx="1"/>
          </p:nvPr>
        </p:nvSpPr>
        <p:spPr/>
        <p:txBody>
          <a:bodyPr/>
          <a:lstStyle/>
          <a:p>
            <a:r>
              <a:t>clinic4 -&gt; (+meanmAs/VATSAT) -&gt; (+AEC FPCA PC1-3), 24개 DeLong 비교(Family A)</a:t>
            </a:r>
          </a:p>
          <a:p>
            <a:r>
              <a:t>AEC 추가 12개 중 11개 방향개선, 명목유의 3건</a:t>
            </a:r>
          </a:p>
          <a:p>
            <a:r>
              <a:t>Bonferroni(0.05/24) 기준 0/24 통과</a:t>
            </a:r>
          </a:p>
          <a:p>
            <a:r>
              <a:t>해석 — 방향은 개선, 보정 후 유의성 없음 -&gt; 우연과 구분 불가</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1D CNN 아키텍처 도식 — Concat Fusion</a:t>
            </a:r>
          </a:p>
        </p:txBody>
      </p:sp>
      <p:sp>
        <p:nvSpPr>
          <p:cNvPr id="4" name="슬라이드 번호 개체 틀"/>
          <p:cNvSpPr>
            <a:spLocks noGrp="1"/>
          </p:cNvSpPr>
          <p:nvPr>
            <p:ph type="sldNum" sz="quarter" idx="12"/>
          </p:nvPr>
        </p:nvSpPr>
        <p:spPr/>
        <p:txBody>
          <a:bodyPr/>
          <a:lstStyle/>
          <a:p>
            <a:fld id="{9F4AF89A-28FA-47FA-B28F-9A9C69130004}" type="slidenum">
              <a:rPr lang="ko-KR" altLang="en-US"/>
              <a:t>7</a:t>
            </a:fld>
            <a:endParaRPr lang="ko-KR" altLang="en-US"/>
          </a:p>
        </p:txBody>
      </p:sp>
      <p:pic>
        <p:nvPicPr>
          <p:cNvPr id="5" name="Picture 4" descr="cnn_architecture.png"/>
          <p:cNvPicPr>
            <a:picLocks noChangeAspect="1"/>
          </p:cNvPicPr>
          <p:nvPr/>
        </p:nvPicPr>
        <p:blipFill>
          <a:blip r:embed="rId3"/>
          <a:srcRect l="3571" r="4940"/>
          <a:stretch>
            <a:fillRect/>
          </a:stretch>
        </p:blipFill>
        <p:spPr>
          <a:xfrm>
            <a:off x="162567" y="1713248"/>
            <a:ext cx="11866865" cy="39123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Cross-Attention 아키텍처 도식</a:t>
            </a:r>
          </a:p>
        </p:txBody>
      </p:sp>
      <p:pic>
        <p:nvPicPr>
          <p:cNvPr id="3" name="Picture 2" descr="crossattn_architecture.png"/>
          <p:cNvPicPr>
            <a:picLocks noChangeAspect="1"/>
          </p:cNvPicPr>
          <p:nvPr/>
        </p:nvPicPr>
        <p:blipFill>
          <a:blip r:embed="rId3"/>
          <a:srcRect l="2819" r="3572"/>
          <a:stretch>
            <a:fillRect/>
          </a:stretch>
        </p:blipFill>
        <p:spPr>
          <a:xfrm>
            <a:off x="77856" y="1896885"/>
            <a:ext cx="12036287" cy="3316048"/>
          </a:xfrm>
          <a:prstGeom prst="rect">
            <a:avLst/>
          </a:prstGeom>
        </p:spPr>
      </p:pic>
      <p:sp>
        <p:nvSpPr>
          <p:cNvPr id="4" name="슬라이드 번호 개체 틀"/>
          <p:cNvSpPr>
            <a:spLocks noGrp="1"/>
          </p:cNvSpPr>
          <p:nvPr>
            <p:ph type="sldNum" sz="quarter" idx="12"/>
          </p:nvPr>
        </p:nvSpPr>
        <p:spPr/>
        <p:txBody>
          <a:bodyPr/>
          <a:lstStyle/>
          <a:p>
            <a:fld id="{9F4AF89A-28FA-47FA-B28F-9A9C69130004}" type="slidenum">
              <a:rPr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Fusion 방식 비교 — 왜 Concat을 썼는가</a:t>
            </a:r>
          </a:p>
        </p:txBody>
      </p:sp>
      <p:sp>
        <p:nvSpPr>
          <p:cNvPr id="3" name="Content Placeholder 2"/>
          <p:cNvSpPr>
            <a:spLocks noGrp="1"/>
          </p:cNvSpPr>
          <p:nvPr>
            <p:ph idx="1"/>
          </p:nvPr>
        </p:nvSpPr>
        <p:spPr/>
        <p:txBody>
          <a:bodyPr wrap="square"/>
          <a:lstStyle/>
          <a:p>
            <a:r>
              <a:t>concat/gated/attnpool/crossattn 4종, 24개 DeLong 비교</a:t>
            </a:r>
          </a:p>
          <a:p>
            <a:r>
              <a:t>명목유의 2건, Bonferroni(0.05/24) 0/24</a:t>
            </a:r>
          </a:p>
          <a:p>
            <a:r>
              <a:t>attnpool이 가장 일관된 양의 방향(그래도 보정 후 n.s.)</a:t>
            </a:r>
          </a:p>
          <a:p>
            <a:r>
              <a:t>결론 -&gt; 가장 단순한 concat 채택</a:t>
            </a:r>
          </a:p>
        </p:txBody>
      </p:sp>
      <p:sp>
        <p:nvSpPr>
          <p:cNvPr id="4" name="슬라이드 번호 개체 틀"/>
          <p:cNvSpPr>
            <a:spLocks noGrp="1"/>
          </p:cNvSpPr>
          <p:nvPr>
            <p:ph type="sldNum" sz="quarter" idx="12"/>
          </p:nvPr>
        </p:nvSpPr>
        <p:spPr/>
        <p:txBody>
          <a:bodyPr/>
          <a:lstStyle/>
          <a:p>
            <a:fld id="{9F4AF89A-28FA-47FA-B28F-9A9C69130004}" type="slidenum">
              <a:rPr lang="ko-KR" altLang="en-US"/>
              <a:t>9</a:t>
            </a:fld>
            <a:endParaRPr lang="ko-KR" altLang="en-US"/>
          </a:p>
        </p:txBody>
      </p:sp>
      <p:pic>
        <p:nvPicPr>
          <p:cNvPr id="5" name="Picture 4" descr="fusion_comparison_auc.png"/>
          <p:cNvPicPr>
            <a:picLocks noChangeAspect="1"/>
          </p:cNvPicPr>
          <p:nvPr/>
        </p:nvPicPr>
        <p:blipFill>
          <a:blip r:embed="rId3"/>
          <a:stretch>
            <a:fillRect/>
          </a:stretch>
        </p:blipFill>
        <p:spPr>
          <a:xfrm>
            <a:off x="696000" y="2687886"/>
            <a:ext cx="7831774" cy="36330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실험 설계 및 학습·평가 절차</a:t>
            </a:r>
          </a:p>
        </p:txBody>
      </p:sp>
      <p:sp>
        <p:nvSpPr>
          <p:cNvPr id="3" name="Content Placeholder 2"/>
          <p:cNvSpPr>
            <a:spLocks noGrp="1"/>
          </p:cNvSpPr>
          <p:nvPr>
            <p:ph idx="1"/>
          </p:nvPr>
        </p:nvSpPr>
        <p:spPr/>
        <p:txBody>
          <a:bodyPr wrap="square"/>
          <a:lstStyle/>
          <a:p>
            <a:r>
              <a:t>대상 — clinic4 / +VATSAT+AEC(FPCA) / +VATSAT+AEC(1D CNN), HTN·DM·CKD</a:t>
            </a:r>
          </a:p>
          <a:p>
            <a:r>
              <a:t>Internal(강남 n=1259) — 5-fold CV, fold별 3-seed 앙상블</a:t>
            </a:r>
          </a:p>
          <a:p>
            <a:r>
              <a:t>External(신촌 n=1123) — 1회만 동결평가(선택 단계 미참조)</a:t>
            </a:r>
          </a:p>
          <a:p>
            <a:r>
              <a:t>patient_id 정렬 후 DeLong test로 쌍대비교</a:t>
            </a:r>
          </a:p>
        </p:txBody>
      </p:sp>
      <p:sp>
        <p:nvSpPr>
          <p:cNvPr id="4" name="슬라이드 번호 개체 틀"/>
          <p:cNvSpPr>
            <a:spLocks noGrp="1"/>
          </p:cNvSpPr>
          <p:nvPr>
            <p:ph type="sldNum" sz="quarter" idx="12"/>
          </p:nvPr>
        </p:nvSpPr>
        <p:spPr/>
        <p:txBody>
          <a:bodyPr/>
          <a:lstStyle/>
          <a:p>
            <a:fld id="{9F4AF89A-28FA-47FA-B28F-9A9C69130004}" type="slidenum">
              <a:rPr lang="ko-KR" altLang="en-US"/>
              <a:t>10</a:t>
            </a:fld>
            <a:endParaRPr lang="ko-KR" altLang="en-US"/>
          </a:p>
        </p:txBody>
      </p:sp>
      <p:pic>
        <p:nvPicPr>
          <p:cNvPr id="5" name="Picture 4" descr="experiment_pipeline.png"/>
          <p:cNvPicPr>
            <a:picLocks noChangeAspect="1"/>
          </p:cNvPicPr>
          <p:nvPr/>
        </p:nvPicPr>
        <p:blipFill>
          <a:blip r:embed="rId3"/>
          <a:stretch>
            <a:fillRect/>
          </a:stretch>
        </p:blipFill>
        <p:spPr>
          <a:xfrm>
            <a:off x="1296000" y="3050000"/>
            <a:ext cx="9600000" cy="338539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성능 비교 결과 — clinic4 vs FPCA vs 1D CNN</a:t>
            </a:r>
          </a:p>
        </p:txBody>
      </p:sp>
      <p:pic>
        <p:nvPicPr>
          <p:cNvPr id="3" name="Picture 2" descr="auc_comparison_3way.png"/>
          <p:cNvPicPr>
            <a:picLocks noChangeAspect="1"/>
          </p:cNvPicPr>
          <p:nvPr/>
        </p:nvPicPr>
        <p:blipFill>
          <a:blip r:embed="rId3"/>
          <a:stretch>
            <a:fillRect/>
          </a:stretch>
        </p:blipFill>
        <p:spPr>
          <a:xfrm>
            <a:off x="78132" y="1040112"/>
            <a:ext cx="12035736" cy="4777775"/>
          </a:xfrm>
          <a:prstGeom prst="rect">
            <a:avLst/>
          </a:prstGeom>
        </p:spPr>
      </p:pic>
      <p:sp>
        <p:nvSpPr>
          <p:cNvPr id="4" name="슬라이드 번호 개체 틀"/>
          <p:cNvSpPr>
            <a:spLocks noGrp="1"/>
          </p:cNvSpPr>
          <p:nvPr>
            <p:ph type="sldNum" sz="quarter" idx="12"/>
          </p:nvPr>
        </p:nvSpPr>
        <p:spPr/>
        <p:txBody>
          <a:bodyPr/>
          <a:lstStyle/>
          <a:p>
            <a:fld id="{9F4AF89A-28FA-47FA-B28F-9A9C69130004}" type="slidenum">
              <a:rPr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통계적 유의성 — FPCA vs 1D CNN (DeLong test)</a:t>
            </a:r>
          </a:p>
        </p:txBody>
      </p:sp>
      <p:graphicFrame>
        <p:nvGraphicFramePr>
          <p:cNvPr id="3" name="Table 2"/>
          <p:cNvGraphicFramePr>
            <a:graphicFrameLocks noGrp="1"/>
          </p:cNvGraphicFramePr>
          <p:nvPr/>
        </p:nvGraphicFramePr>
        <p:xfrm>
          <a:off x="508000" y="1300000"/>
          <a:ext cx="11176000" cy="4200000"/>
        </p:xfrm>
        <a:graphic>
          <a:graphicData uri="http://schemas.openxmlformats.org/drawingml/2006/table">
            <a:tbl>
              <a:tblPr firstRow="1" bandRow="1">
                <a:tableStyleId>{5C22544A-7EE6-4342-B048-85BDC9FD1C3A}</a:tableStyleId>
              </a:tblPr>
              <a:tblGrid>
                <a:gridCol w="1400000">
                  <a:extLst>
                    <a:ext uri="{9D8B030D-6E8A-4147-A177-3AD203B41FA5}">
                      <a16:colId xmlns:a16="http://schemas.microsoft.com/office/drawing/2014/main" val="20000"/>
                    </a:ext>
                  </a:extLst>
                </a:gridCol>
                <a:gridCol w="1700000">
                  <a:extLst>
                    <a:ext uri="{9D8B030D-6E8A-4147-A177-3AD203B41FA5}">
                      <a16:colId xmlns:a16="http://schemas.microsoft.com/office/drawing/2014/main" val="20001"/>
                    </a:ext>
                  </a:extLst>
                </a:gridCol>
                <a:gridCol w="2000000">
                  <a:extLst>
                    <a:ext uri="{9D8B030D-6E8A-4147-A177-3AD203B41FA5}">
                      <a16:colId xmlns:a16="http://schemas.microsoft.com/office/drawing/2014/main" val="20002"/>
                    </a:ext>
                  </a:extLst>
                </a:gridCol>
                <a:gridCol w="2100000">
                  <a:extLst>
                    <a:ext uri="{9D8B030D-6E8A-4147-A177-3AD203B41FA5}">
                      <a16:colId xmlns:a16="http://schemas.microsoft.com/office/drawing/2014/main" val="20003"/>
                    </a:ext>
                  </a:extLst>
                </a:gridCol>
                <a:gridCol w="2100000">
                  <a:extLst>
                    <a:ext uri="{9D8B030D-6E8A-4147-A177-3AD203B41FA5}">
                      <a16:colId xmlns:a16="http://schemas.microsoft.com/office/drawing/2014/main" val="20004"/>
                    </a:ext>
                  </a:extLst>
                </a:gridCol>
                <a:gridCol w="1876000">
                  <a:extLst>
                    <a:ext uri="{9D8B030D-6E8A-4147-A177-3AD203B41FA5}">
                      <a16:colId xmlns:a16="http://schemas.microsoft.com/office/drawing/2014/main" val="20005"/>
                    </a:ext>
                  </a:extLst>
                </a:gridCol>
              </a:tblGrid>
              <a:tr h="600000">
                <a:tc>
                  <a:txBody>
                    <a:bodyPr/>
                    <a:lstStyle/>
                    <a:p>
                      <a:pPr algn="ctr"/>
                      <a:r>
                        <a:rPr sz="1600" b="1">
                          <a:solidFill>
                            <a:srgbClr val="FFFFFF"/>
                          </a:solidFill>
                        </a:rPr>
                        <a:t>질환</a:t>
                      </a:r>
                    </a:p>
                  </a:txBody>
                  <a:tcPr anchor="ctr">
                    <a:solidFill>
                      <a:srgbClr val="1B3A5C"/>
                    </a:solidFill>
                  </a:tcPr>
                </a:tc>
                <a:tc>
                  <a:txBody>
                    <a:bodyPr/>
                    <a:lstStyle/>
                    <a:p>
                      <a:pPr algn="ctr"/>
                      <a:r>
                        <a:rPr sz="1600" b="1">
                          <a:solidFill>
                            <a:srgbClr val="FFFFFF"/>
                          </a:solidFill>
                        </a:rPr>
                        <a:t>코호트</a:t>
                      </a:r>
                    </a:p>
                  </a:txBody>
                  <a:tcPr anchor="ctr">
                    <a:solidFill>
                      <a:srgbClr val="1B3A5C"/>
                    </a:solidFill>
                  </a:tcPr>
                </a:tc>
                <a:tc>
                  <a:txBody>
                    <a:bodyPr/>
                    <a:lstStyle/>
                    <a:p>
                      <a:pPr algn="ctr"/>
                      <a:r>
                        <a:rPr sz="1600" b="1">
                          <a:solidFill>
                            <a:srgbClr val="FFFFFF"/>
                          </a:solidFill>
                        </a:rPr>
                        <a:t>FPCA AUC</a:t>
                      </a:r>
                    </a:p>
                  </a:txBody>
                  <a:tcPr anchor="ctr">
                    <a:solidFill>
                      <a:srgbClr val="1B3A5C"/>
                    </a:solidFill>
                  </a:tcPr>
                </a:tc>
                <a:tc>
                  <a:txBody>
                    <a:bodyPr/>
                    <a:lstStyle/>
                    <a:p>
                      <a:pPr algn="ctr"/>
                      <a:r>
                        <a:rPr sz="1600" b="1">
                          <a:solidFill>
                            <a:srgbClr val="FFFFFF"/>
                          </a:solidFill>
                        </a:rPr>
                        <a:t>1D CNN AUC</a:t>
                      </a:r>
                    </a:p>
                  </a:txBody>
                  <a:tcPr anchor="ctr">
                    <a:solidFill>
                      <a:srgbClr val="1B3A5C"/>
                    </a:solidFill>
                  </a:tcPr>
                </a:tc>
                <a:tc>
                  <a:txBody>
                    <a:bodyPr/>
                    <a:lstStyle/>
                    <a:p>
                      <a:pPr algn="ctr"/>
                      <a:r>
                        <a:rPr sz="1600" b="1">
                          <a:solidFill>
                            <a:srgbClr val="FFFFFF"/>
                          </a:solidFill>
                        </a:rPr>
                        <a:t>Δ(CNN-FPCA)</a:t>
                      </a:r>
                    </a:p>
                  </a:txBody>
                  <a:tcPr anchor="ctr">
                    <a:solidFill>
                      <a:srgbClr val="1B3A5C"/>
                    </a:solidFill>
                  </a:tcPr>
                </a:tc>
                <a:tc>
                  <a:txBody>
                    <a:bodyPr/>
                    <a:lstStyle/>
                    <a:p>
                      <a:pPr algn="ctr"/>
                      <a:r>
                        <a:rPr sz="1600" b="1">
                          <a:solidFill>
                            <a:srgbClr val="FFFFFF"/>
                          </a:solidFill>
                        </a:rPr>
                        <a:t>DeLong p</a:t>
                      </a:r>
                    </a:p>
                  </a:txBody>
                  <a:tcPr anchor="ctr">
                    <a:solidFill>
                      <a:srgbClr val="1B3A5C"/>
                    </a:solidFill>
                  </a:tcPr>
                </a:tc>
                <a:extLst>
                  <a:ext uri="{0D108BD9-81ED-4DB2-BD59-A6C34878D82A}">
                    <a16:rowId xmlns:a16="http://schemas.microsoft.com/office/drawing/2014/main" val="10000"/>
                  </a:ext>
                </a:extLst>
              </a:tr>
              <a:tr h="600000">
                <a:tc>
                  <a:txBody>
                    <a:bodyPr/>
                    <a:lstStyle/>
                    <a:p>
                      <a:pPr algn="ctr"/>
                      <a:r>
                        <a:rPr sz="1500" b="0">
                          <a:solidFill>
                            <a:srgbClr val="161616"/>
                          </a:solidFill>
                        </a:rPr>
                        <a:t>HTN</a:t>
                      </a:r>
                    </a:p>
                  </a:txBody>
                  <a:tcPr anchor="ctr">
                    <a:solidFill>
                      <a:srgbClr val="FFFFFF"/>
                    </a:solidFill>
                  </a:tcPr>
                </a:tc>
                <a:tc>
                  <a:txBody>
                    <a:bodyPr/>
                    <a:lstStyle/>
                    <a:p>
                      <a:pPr algn="ctr"/>
                      <a:r>
                        <a:rPr sz="1500" b="0">
                          <a:solidFill>
                            <a:srgbClr val="161616"/>
                          </a:solidFill>
                        </a:rPr>
                        <a:t>internal</a:t>
                      </a:r>
                    </a:p>
                  </a:txBody>
                  <a:tcPr anchor="ctr">
                    <a:solidFill>
                      <a:srgbClr val="FFFFFF"/>
                    </a:solidFill>
                  </a:tcPr>
                </a:tc>
                <a:tc>
                  <a:txBody>
                    <a:bodyPr/>
                    <a:lstStyle/>
                    <a:p>
                      <a:pPr algn="ctr"/>
                      <a:r>
                        <a:rPr sz="1500" b="0">
                          <a:solidFill>
                            <a:srgbClr val="161616"/>
                          </a:solidFill>
                        </a:rPr>
                        <a:t>0.8103</a:t>
                      </a:r>
                    </a:p>
                  </a:txBody>
                  <a:tcPr anchor="ctr">
                    <a:solidFill>
                      <a:srgbClr val="FFFFFF"/>
                    </a:solidFill>
                  </a:tcPr>
                </a:tc>
                <a:tc>
                  <a:txBody>
                    <a:bodyPr/>
                    <a:lstStyle/>
                    <a:p>
                      <a:pPr algn="ctr"/>
                      <a:r>
                        <a:rPr sz="1500" b="0">
                          <a:solidFill>
                            <a:srgbClr val="161616"/>
                          </a:solidFill>
                        </a:rPr>
                        <a:t>0.8014</a:t>
                      </a:r>
                    </a:p>
                  </a:txBody>
                  <a:tcPr anchor="ctr">
                    <a:solidFill>
                      <a:srgbClr val="FFFFFF"/>
                    </a:solidFill>
                  </a:tcPr>
                </a:tc>
                <a:tc>
                  <a:txBody>
                    <a:bodyPr/>
                    <a:lstStyle/>
                    <a:p>
                      <a:pPr algn="ctr"/>
                      <a:r>
                        <a:rPr sz="1500" b="0">
                          <a:solidFill>
                            <a:srgbClr val="161616"/>
                          </a:solidFill>
                        </a:rPr>
                        <a:t>-0.0090</a:t>
                      </a:r>
                    </a:p>
                  </a:txBody>
                  <a:tcPr anchor="ctr">
                    <a:solidFill>
                      <a:srgbClr val="FFFFFF"/>
                    </a:solidFill>
                  </a:tcPr>
                </a:tc>
                <a:tc>
                  <a:txBody>
                    <a:bodyPr/>
                    <a:lstStyle/>
                    <a:p>
                      <a:pPr algn="ctr"/>
                      <a:r>
                        <a:rPr sz="1500" b="0">
                          <a:solidFill>
                            <a:srgbClr val="161616"/>
                          </a:solidFill>
                        </a:rPr>
                        <a:t>0.053</a:t>
                      </a:r>
                    </a:p>
                  </a:txBody>
                  <a:tcPr anchor="ctr">
                    <a:solidFill>
                      <a:srgbClr val="FFFFFF"/>
                    </a:solidFill>
                  </a:tcPr>
                </a:tc>
                <a:extLst>
                  <a:ext uri="{0D108BD9-81ED-4DB2-BD59-A6C34878D82A}">
                    <a16:rowId xmlns:a16="http://schemas.microsoft.com/office/drawing/2014/main" val="10001"/>
                  </a:ext>
                </a:extLst>
              </a:tr>
              <a:tr h="600000">
                <a:tc>
                  <a:txBody>
                    <a:bodyPr/>
                    <a:lstStyle/>
                    <a:p>
                      <a:pPr algn="ctr"/>
                      <a:r>
                        <a:rPr sz="1500" b="0">
                          <a:solidFill>
                            <a:srgbClr val="161616"/>
                          </a:solidFill>
                        </a:rPr>
                        <a:t>HTN</a:t>
                      </a:r>
                    </a:p>
                  </a:txBody>
                  <a:tcPr anchor="ctr">
                    <a:solidFill>
                      <a:srgbClr val="F2F2F2"/>
                    </a:solidFill>
                  </a:tcPr>
                </a:tc>
                <a:tc>
                  <a:txBody>
                    <a:bodyPr/>
                    <a:lstStyle/>
                    <a:p>
                      <a:pPr algn="ctr"/>
                      <a:r>
                        <a:rPr sz="1500" b="0">
                          <a:solidFill>
                            <a:srgbClr val="161616"/>
                          </a:solidFill>
                        </a:rPr>
                        <a:t>external</a:t>
                      </a:r>
                    </a:p>
                  </a:txBody>
                  <a:tcPr anchor="ctr">
                    <a:solidFill>
                      <a:srgbClr val="F2F2F2"/>
                    </a:solidFill>
                  </a:tcPr>
                </a:tc>
                <a:tc>
                  <a:txBody>
                    <a:bodyPr/>
                    <a:lstStyle/>
                    <a:p>
                      <a:pPr algn="ctr"/>
                      <a:r>
                        <a:rPr sz="1500" b="0">
                          <a:solidFill>
                            <a:srgbClr val="161616"/>
                          </a:solidFill>
                        </a:rPr>
                        <a:t>0.7334</a:t>
                      </a:r>
                    </a:p>
                  </a:txBody>
                  <a:tcPr anchor="ctr">
                    <a:solidFill>
                      <a:srgbClr val="F2F2F2"/>
                    </a:solidFill>
                  </a:tcPr>
                </a:tc>
                <a:tc>
                  <a:txBody>
                    <a:bodyPr/>
                    <a:lstStyle/>
                    <a:p>
                      <a:pPr algn="ctr"/>
                      <a:r>
                        <a:rPr sz="1500" b="0">
                          <a:solidFill>
                            <a:srgbClr val="161616"/>
                          </a:solidFill>
                        </a:rPr>
                        <a:t>0.7330</a:t>
                      </a:r>
                    </a:p>
                  </a:txBody>
                  <a:tcPr anchor="ctr">
                    <a:solidFill>
                      <a:srgbClr val="F2F2F2"/>
                    </a:solidFill>
                  </a:tcPr>
                </a:tc>
                <a:tc>
                  <a:txBody>
                    <a:bodyPr/>
                    <a:lstStyle/>
                    <a:p>
                      <a:pPr algn="ctr"/>
                      <a:r>
                        <a:rPr sz="1500" b="0">
                          <a:solidFill>
                            <a:srgbClr val="161616"/>
                          </a:solidFill>
                        </a:rPr>
                        <a:t>-0.0004</a:t>
                      </a:r>
                    </a:p>
                  </a:txBody>
                  <a:tcPr anchor="ctr">
                    <a:solidFill>
                      <a:srgbClr val="F2F2F2"/>
                    </a:solidFill>
                  </a:tcPr>
                </a:tc>
                <a:tc>
                  <a:txBody>
                    <a:bodyPr/>
                    <a:lstStyle/>
                    <a:p>
                      <a:pPr algn="ctr"/>
                      <a:r>
                        <a:rPr sz="1500" b="0">
                          <a:solidFill>
                            <a:srgbClr val="161616"/>
                          </a:solidFill>
                        </a:rPr>
                        <a:t>0.926</a:t>
                      </a:r>
                    </a:p>
                  </a:txBody>
                  <a:tcPr anchor="ctr">
                    <a:solidFill>
                      <a:srgbClr val="F2F2F2"/>
                    </a:solidFill>
                  </a:tcPr>
                </a:tc>
                <a:extLst>
                  <a:ext uri="{0D108BD9-81ED-4DB2-BD59-A6C34878D82A}">
                    <a16:rowId xmlns:a16="http://schemas.microsoft.com/office/drawing/2014/main" val="10002"/>
                  </a:ext>
                </a:extLst>
              </a:tr>
              <a:tr h="600000">
                <a:tc>
                  <a:txBody>
                    <a:bodyPr/>
                    <a:lstStyle/>
                    <a:p>
                      <a:pPr algn="ctr"/>
                      <a:r>
                        <a:rPr sz="1500" b="0">
                          <a:solidFill>
                            <a:srgbClr val="161616"/>
                          </a:solidFill>
                        </a:rPr>
                        <a:t>DM</a:t>
                      </a:r>
                    </a:p>
                  </a:txBody>
                  <a:tcPr anchor="ctr">
                    <a:solidFill>
                      <a:srgbClr val="FFFFFF"/>
                    </a:solidFill>
                  </a:tcPr>
                </a:tc>
                <a:tc>
                  <a:txBody>
                    <a:bodyPr/>
                    <a:lstStyle/>
                    <a:p>
                      <a:pPr algn="ctr"/>
                      <a:r>
                        <a:rPr sz="1500" b="0">
                          <a:solidFill>
                            <a:srgbClr val="161616"/>
                          </a:solidFill>
                        </a:rPr>
                        <a:t>internal</a:t>
                      </a:r>
                    </a:p>
                  </a:txBody>
                  <a:tcPr anchor="ctr">
                    <a:solidFill>
                      <a:srgbClr val="FFFFFF"/>
                    </a:solidFill>
                  </a:tcPr>
                </a:tc>
                <a:tc>
                  <a:txBody>
                    <a:bodyPr/>
                    <a:lstStyle/>
                    <a:p>
                      <a:pPr algn="ctr"/>
                      <a:r>
                        <a:rPr sz="1500" b="0">
                          <a:solidFill>
                            <a:srgbClr val="161616"/>
                          </a:solidFill>
                        </a:rPr>
                        <a:t>0.7348</a:t>
                      </a:r>
                    </a:p>
                  </a:txBody>
                  <a:tcPr anchor="ctr">
                    <a:solidFill>
                      <a:srgbClr val="FFFFFF"/>
                    </a:solidFill>
                  </a:tcPr>
                </a:tc>
                <a:tc>
                  <a:txBody>
                    <a:bodyPr/>
                    <a:lstStyle/>
                    <a:p>
                      <a:pPr algn="ctr"/>
                      <a:r>
                        <a:rPr sz="1500" b="0">
                          <a:solidFill>
                            <a:srgbClr val="161616"/>
                          </a:solidFill>
                        </a:rPr>
                        <a:t>0.7292</a:t>
                      </a:r>
                    </a:p>
                  </a:txBody>
                  <a:tcPr anchor="ctr">
                    <a:solidFill>
                      <a:srgbClr val="FFFFFF"/>
                    </a:solidFill>
                  </a:tcPr>
                </a:tc>
                <a:tc>
                  <a:txBody>
                    <a:bodyPr/>
                    <a:lstStyle/>
                    <a:p>
                      <a:pPr algn="ctr"/>
                      <a:r>
                        <a:rPr sz="1500" b="0">
                          <a:solidFill>
                            <a:srgbClr val="161616"/>
                          </a:solidFill>
                        </a:rPr>
                        <a:t>-0.0056</a:t>
                      </a:r>
                    </a:p>
                  </a:txBody>
                  <a:tcPr anchor="ctr">
                    <a:solidFill>
                      <a:srgbClr val="FFFFFF"/>
                    </a:solidFill>
                  </a:tcPr>
                </a:tc>
                <a:tc>
                  <a:txBody>
                    <a:bodyPr/>
                    <a:lstStyle/>
                    <a:p>
                      <a:pPr algn="ctr"/>
                      <a:r>
                        <a:rPr sz="1500" b="0">
                          <a:solidFill>
                            <a:srgbClr val="161616"/>
                          </a:solidFill>
                        </a:rPr>
                        <a:t>0.506</a:t>
                      </a:r>
                    </a:p>
                  </a:txBody>
                  <a:tcPr anchor="ctr">
                    <a:solidFill>
                      <a:srgbClr val="FFFFFF"/>
                    </a:solidFill>
                  </a:tcPr>
                </a:tc>
                <a:extLst>
                  <a:ext uri="{0D108BD9-81ED-4DB2-BD59-A6C34878D82A}">
                    <a16:rowId xmlns:a16="http://schemas.microsoft.com/office/drawing/2014/main" val="10003"/>
                  </a:ext>
                </a:extLst>
              </a:tr>
              <a:tr h="600000">
                <a:tc>
                  <a:txBody>
                    <a:bodyPr/>
                    <a:lstStyle/>
                    <a:p>
                      <a:pPr algn="ctr"/>
                      <a:r>
                        <a:rPr sz="1500" b="0">
                          <a:solidFill>
                            <a:srgbClr val="161616"/>
                          </a:solidFill>
                        </a:rPr>
                        <a:t>DM</a:t>
                      </a:r>
                    </a:p>
                  </a:txBody>
                  <a:tcPr anchor="ctr">
                    <a:solidFill>
                      <a:srgbClr val="F2F2F2"/>
                    </a:solidFill>
                  </a:tcPr>
                </a:tc>
                <a:tc>
                  <a:txBody>
                    <a:bodyPr/>
                    <a:lstStyle/>
                    <a:p>
                      <a:pPr algn="ctr"/>
                      <a:r>
                        <a:rPr sz="1500" b="0">
                          <a:solidFill>
                            <a:srgbClr val="161616"/>
                          </a:solidFill>
                        </a:rPr>
                        <a:t>external</a:t>
                      </a:r>
                    </a:p>
                  </a:txBody>
                  <a:tcPr anchor="ctr">
                    <a:solidFill>
                      <a:srgbClr val="F2F2F2"/>
                    </a:solidFill>
                  </a:tcPr>
                </a:tc>
                <a:tc>
                  <a:txBody>
                    <a:bodyPr/>
                    <a:lstStyle/>
                    <a:p>
                      <a:pPr algn="ctr"/>
                      <a:r>
                        <a:rPr sz="1500" b="0">
                          <a:solidFill>
                            <a:srgbClr val="161616"/>
                          </a:solidFill>
                        </a:rPr>
                        <a:t>0.6856</a:t>
                      </a:r>
                    </a:p>
                  </a:txBody>
                  <a:tcPr anchor="ctr">
                    <a:solidFill>
                      <a:srgbClr val="F2F2F2"/>
                    </a:solidFill>
                  </a:tcPr>
                </a:tc>
                <a:tc>
                  <a:txBody>
                    <a:bodyPr/>
                    <a:lstStyle/>
                    <a:p>
                      <a:pPr algn="ctr"/>
                      <a:r>
                        <a:rPr sz="1500" b="0">
                          <a:solidFill>
                            <a:srgbClr val="161616"/>
                          </a:solidFill>
                        </a:rPr>
                        <a:t>0.6542</a:t>
                      </a:r>
                    </a:p>
                  </a:txBody>
                  <a:tcPr anchor="ctr">
                    <a:solidFill>
                      <a:srgbClr val="F2F2F2"/>
                    </a:solidFill>
                  </a:tcPr>
                </a:tc>
                <a:tc>
                  <a:txBody>
                    <a:bodyPr/>
                    <a:lstStyle/>
                    <a:p>
                      <a:pPr algn="ctr"/>
                      <a:r>
                        <a:rPr sz="1500" b="1">
                          <a:solidFill>
                            <a:srgbClr val="C00000"/>
                          </a:solidFill>
                        </a:rPr>
                        <a:t>-0.0314</a:t>
                      </a:r>
                    </a:p>
                  </a:txBody>
                  <a:tcPr anchor="ctr">
                    <a:solidFill>
                      <a:srgbClr val="F2F2F2"/>
                    </a:solidFill>
                  </a:tcPr>
                </a:tc>
                <a:tc>
                  <a:txBody>
                    <a:bodyPr/>
                    <a:lstStyle/>
                    <a:p>
                      <a:pPr algn="ctr"/>
                      <a:r>
                        <a:rPr sz="1500" b="1">
                          <a:solidFill>
                            <a:srgbClr val="C00000"/>
                          </a:solidFill>
                        </a:rPr>
                        <a:t>0.0011</a:t>
                      </a:r>
                    </a:p>
                  </a:txBody>
                  <a:tcPr anchor="ctr">
                    <a:solidFill>
                      <a:srgbClr val="F2F2F2"/>
                    </a:solidFill>
                  </a:tcPr>
                </a:tc>
                <a:extLst>
                  <a:ext uri="{0D108BD9-81ED-4DB2-BD59-A6C34878D82A}">
                    <a16:rowId xmlns:a16="http://schemas.microsoft.com/office/drawing/2014/main" val="10004"/>
                  </a:ext>
                </a:extLst>
              </a:tr>
              <a:tr h="600000">
                <a:tc>
                  <a:txBody>
                    <a:bodyPr/>
                    <a:lstStyle/>
                    <a:p>
                      <a:pPr algn="ctr"/>
                      <a:r>
                        <a:rPr sz="1500" b="0">
                          <a:solidFill>
                            <a:srgbClr val="161616"/>
                          </a:solidFill>
                        </a:rPr>
                        <a:t>CKD</a:t>
                      </a:r>
                    </a:p>
                  </a:txBody>
                  <a:tcPr anchor="ctr">
                    <a:solidFill>
                      <a:srgbClr val="FFFFFF"/>
                    </a:solidFill>
                  </a:tcPr>
                </a:tc>
                <a:tc>
                  <a:txBody>
                    <a:bodyPr/>
                    <a:lstStyle/>
                    <a:p>
                      <a:pPr algn="ctr"/>
                      <a:r>
                        <a:rPr sz="1500" b="0">
                          <a:solidFill>
                            <a:srgbClr val="161616"/>
                          </a:solidFill>
                        </a:rPr>
                        <a:t>internal</a:t>
                      </a:r>
                    </a:p>
                  </a:txBody>
                  <a:tcPr anchor="ctr">
                    <a:solidFill>
                      <a:srgbClr val="FFFFFF"/>
                    </a:solidFill>
                  </a:tcPr>
                </a:tc>
                <a:tc>
                  <a:txBody>
                    <a:bodyPr/>
                    <a:lstStyle/>
                    <a:p>
                      <a:pPr algn="ctr"/>
                      <a:r>
                        <a:rPr sz="1500" b="0">
                          <a:solidFill>
                            <a:srgbClr val="161616"/>
                          </a:solidFill>
                        </a:rPr>
                        <a:t>0.7728</a:t>
                      </a:r>
                    </a:p>
                  </a:txBody>
                  <a:tcPr anchor="ctr">
                    <a:solidFill>
                      <a:srgbClr val="FFFFFF"/>
                    </a:solidFill>
                  </a:tcPr>
                </a:tc>
                <a:tc>
                  <a:txBody>
                    <a:bodyPr/>
                    <a:lstStyle/>
                    <a:p>
                      <a:pPr algn="ctr"/>
                      <a:r>
                        <a:rPr sz="1500" b="0">
                          <a:solidFill>
                            <a:srgbClr val="161616"/>
                          </a:solidFill>
                        </a:rPr>
                        <a:t>0.7498</a:t>
                      </a:r>
                    </a:p>
                  </a:txBody>
                  <a:tcPr anchor="ctr">
                    <a:solidFill>
                      <a:srgbClr val="FFFFFF"/>
                    </a:solidFill>
                  </a:tcPr>
                </a:tc>
                <a:tc>
                  <a:txBody>
                    <a:bodyPr/>
                    <a:lstStyle/>
                    <a:p>
                      <a:pPr algn="ctr"/>
                      <a:r>
                        <a:rPr sz="1500" b="0">
                          <a:solidFill>
                            <a:srgbClr val="161616"/>
                          </a:solidFill>
                        </a:rPr>
                        <a:t>-0.0230</a:t>
                      </a:r>
                    </a:p>
                  </a:txBody>
                  <a:tcPr anchor="ctr">
                    <a:solidFill>
                      <a:srgbClr val="FFFFFF"/>
                    </a:solidFill>
                  </a:tcPr>
                </a:tc>
                <a:tc>
                  <a:txBody>
                    <a:bodyPr/>
                    <a:lstStyle/>
                    <a:p>
                      <a:pPr algn="ctr"/>
                      <a:r>
                        <a:rPr sz="1500" b="0">
                          <a:solidFill>
                            <a:srgbClr val="161616"/>
                          </a:solidFill>
                        </a:rPr>
                        <a:t>0.075</a:t>
                      </a:r>
                    </a:p>
                  </a:txBody>
                  <a:tcPr anchor="ctr">
                    <a:solidFill>
                      <a:srgbClr val="FFFFFF"/>
                    </a:solidFill>
                  </a:tcPr>
                </a:tc>
                <a:extLst>
                  <a:ext uri="{0D108BD9-81ED-4DB2-BD59-A6C34878D82A}">
                    <a16:rowId xmlns:a16="http://schemas.microsoft.com/office/drawing/2014/main" val="10005"/>
                  </a:ext>
                </a:extLst>
              </a:tr>
              <a:tr h="600000">
                <a:tc>
                  <a:txBody>
                    <a:bodyPr/>
                    <a:lstStyle/>
                    <a:p>
                      <a:pPr algn="ctr"/>
                      <a:r>
                        <a:rPr sz="1500" b="0">
                          <a:solidFill>
                            <a:srgbClr val="161616"/>
                          </a:solidFill>
                        </a:rPr>
                        <a:t>CKD</a:t>
                      </a:r>
                    </a:p>
                  </a:txBody>
                  <a:tcPr anchor="ctr">
                    <a:solidFill>
                      <a:srgbClr val="F2F2F2"/>
                    </a:solidFill>
                  </a:tcPr>
                </a:tc>
                <a:tc>
                  <a:txBody>
                    <a:bodyPr/>
                    <a:lstStyle/>
                    <a:p>
                      <a:pPr algn="ctr"/>
                      <a:r>
                        <a:rPr sz="1500" b="0">
                          <a:solidFill>
                            <a:srgbClr val="161616"/>
                          </a:solidFill>
                        </a:rPr>
                        <a:t>external</a:t>
                      </a:r>
                    </a:p>
                  </a:txBody>
                  <a:tcPr anchor="ctr">
                    <a:solidFill>
                      <a:srgbClr val="F2F2F2"/>
                    </a:solidFill>
                  </a:tcPr>
                </a:tc>
                <a:tc>
                  <a:txBody>
                    <a:bodyPr/>
                    <a:lstStyle/>
                    <a:p>
                      <a:pPr algn="ctr"/>
                      <a:r>
                        <a:rPr sz="1500" b="0">
                          <a:solidFill>
                            <a:srgbClr val="161616"/>
                          </a:solidFill>
                        </a:rPr>
                        <a:t>0.6265</a:t>
                      </a:r>
                    </a:p>
                  </a:txBody>
                  <a:tcPr anchor="ctr">
                    <a:solidFill>
                      <a:srgbClr val="F2F2F2"/>
                    </a:solidFill>
                  </a:tcPr>
                </a:tc>
                <a:tc>
                  <a:txBody>
                    <a:bodyPr/>
                    <a:lstStyle/>
                    <a:p>
                      <a:pPr algn="ctr"/>
                      <a:r>
                        <a:rPr sz="1500" b="0">
                          <a:solidFill>
                            <a:srgbClr val="161616"/>
                          </a:solidFill>
                        </a:rPr>
                        <a:t>0.6204</a:t>
                      </a:r>
                    </a:p>
                  </a:txBody>
                  <a:tcPr anchor="ctr">
                    <a:solidFill>
                      <a:srgbClr val="F2F2F2"/>
                    </a:solidFill>
                  </a:tcPr>
                </a:tc>
                <a:tc>
                  <a:txBody>
                    <a:bodyPr/>
                    <a:lstStyle/>
                    <a:p>
                      <a:pPr algn="ctr"/>
                      <a:r>
                        <a:rPr sz="1500" b="0">
                          <a:solidFill>
                            <a:srgbClr val="161616"/>
                          </a:solidFill>
                        </a:rPr>
                        <a:t>-0.0061</a:t>
                      </a:r>
                    </a:p>
                  </a:txBody>
                  <a:tcPr anchor="ctr">
                    <a:solidFill>
                      <a:srgbClr val="F2F2F2"/>
                    </a:solidFill>
                  </a:tcPr>
                </a:tc>
                <a:tc>
                  <a:txBody>
                    <a:bodyPr/>
                    <a:lstStyle/>
                    <a:p>
                      <a:pPr algn="ctr"/>
                      <a:r>
                        <a:rPr sz="1500" b="0">
                          <a:solidFill>
                            <a:srgbClr val="161616"/>
                          </a:solidFill>
                        </a:rPr>
                        <a:t>0.611</a:t>
                      </a:r>
                    </a:p>
                  </a:txBody>
                  <a:tcPr anchor="ctr">
                    <a:solidFill>
                      <a:srgbClr val="F2F2F2"/>
                    </a:solidFill>
                  </a:tcPr>
                </a:tc>
                <a:extLst>
                  <a:ext uri="{0D108BD9-81ED-4DB2-BD59-A6C34878D82A}">
                    <a16:rowId xmlns:a16="http://schemas.microsoft.com/office/drawing/2014/main" val="10006"/>
                  </a:ext>
                </a:extLst>
              </a:tr>
            </a:tbl>
          </a:graphicData>
        </a:graphic>
      </p:graphicFrame>
      <p:sp>
        <p:nvSpPr>
          <p:cNvPr id="4" name="슬라이드 번호 개체 틀"/>
          <p:cNvSpPr>
            <a:spLocks noGrp="1"/>
          </p:cNvSpPr>
          <p:nvPr>
            <p:ph type="sldNum" sz="quarter" idx="12"/>
          </p:nvPr>
        </p:nvSpPr>
        <p:spPr/>
        <p:txBody>
          <a:bodyPr/>
          <a:lstStyle/>
          <a:p>
            <a:fld id="{9F4AF89A-28FA-47FA-B28F-9A9C69130004}" type="slidenum">
              <a:rPr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22개 방법론 종합 — 다중비교 보정 결과</a:t>
            </a:r>
          </a:p>
        </p:txBody>
      </p:sp>
      <p:sp>
        <p:nvSpPr>
          <p:cNvPr id="3" name="Content Placeholder 2"/>
          <p:cNvSpPr>
            <a:spLocks noGrp="1"/>
          </p:cNvSpPr>
          <p:nvPr>
            <p:ph idx="1"/>
          </p:nvPr>
        </p:nvSpPr>
        <p:spPr/>
        <p:txBody>
          <a:bodyPr/>
          <a:lstStyle/>
          <a:p>
            <a:r>
              <a:t>105개 DeLong 비교(vs clinic4), 명목유의 11건</a:t>
            </a:r>
          </a:p>
          <a:p>
            <a:r>
              <a:t>family Bonferroni 통과 2건 -&gt; 둘 다 다음 슬라이드에서 반박</a:t>
            </a:r>
          </a:p>
          <a:p>
            <a:r>
              <a:t>FPCA(Family A)·CNN vs FPCA 비교는 별도 슬라이드(앞서 확인)</a:t>
            </a:r>
          </a:p>
        </p:txBody>
      </p:sp>
      <p:pic>
        <p:nvPicPr>
          <p:cNvPr id="4" name="Picture 3" descr="meta_stripplot.png"/>
          <p:cNvPicPr>
            <a:picLocks noChangeAspect="1"/>
          </p:cNvPicPr>
          <p:nvPr/>
        </p:nvPicPr>
        <p:blipFill>
          <a:blip r:embed="rId3"/>
          <a:stretch>
            <a:fillRect/>
          </a:stretch>
        </p:blipFill>
        <p:spPr>
          <a:xfrm>
            <a:off x="1746000" y="1800000"/>
            <a:ext cx="8700000" cy="499937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가장 근접했던 통계적 유의 사례 — 왜 신뢰하지 않는가</a:t>
            </a:r>
          </a:p>
        </p:txBody>
      </p:sp>
      <p:sp>
        <p:nvSpPr>
          <p:cNvPr id="3" name="Content Placeholder 2"/>
          <p:cNvSpPr>
            <a:spLocks noGrp="1"/>
          </p:cNvSpPr>
          <p:nvPr>
            <p:ph idx="1"/>
          </p:nvPr>
        </p:nvSpPr>
        <p:spPr/>
        <p:txBody>
          <a:bodyPr/>
          <a:lstStyle/>
          <a:p>
            <a:r>
              <a:t>사례1 TCN, HTN external — p=0.00057(60개 중 유일 Bonferroni 통과), 그러나 internal p=0.85(무신호)</a:t>
            </a:r>
          </a:p>
          <a:p>
            <a:r>
              <a:t>사례2 라인플롯 이미지화, HTN external — p=0.0003(가장 강한 명목유의), 그러나 internal p=0.58(무신호)</a:t>
            </a:r>
          </a:p>
          <a:p>
            <a:r>
              <a:t>공통점 — 둘 다 external에서만 나온 재현 불가 신호</a:t>
            </a:r>
          </a:p>
          <a:p>
            <a:r>
              <a:t>메커니즘 — AEC=체형 요약 신호, clinic4+VAT+SAT와 이미 중복(zero-ablation이 직접 증거)</a:t>
            </a:r>
          </a:p>
        </p:txBody>
      </p:sp>
      <p:pic>
        <p:nvPicPr>
          <p:cNvPr id="4" name="Picture 3" descr="mechanism_diagram.png"/>
          <p:cNvPicPr>
            <a:picLocks noChangeAspect="1"/>
          </p:cNvPicPr>
          <p:nvPr/>
        </p:nvPicPr>
        <p:blipFill>
          <a:blip r:embed="rId3"/>
          <a:stretch>
            <a:fillRect/>
          </a:stretch>
        </p:blipFill>
        <p:spPr>
          <a:xfrm>
            <a:off x="1196000" y="4350000"/>
            <a:ext cx="9800000" cy="247318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결론</a:t>
            </a:r>
          </a:p>
        </p:txBody>
      </p:sp>
      <p:sp>
        <p:nvSpPr>
          <p:cNvPr id="3" name="Content Placeholder 2"/>
          <p:cNvSpPr>
            <a:spLocks noGrp="1"/>
          </p:cNvSpPr>
          <p:nvPr>
            <p:ph idx="1"/>
          </p:nvPr>
        </p:nvSpPr>
        <p:spPr/>
        <p:txBody>
          <a:bodyPr wrap="square"/>
          <a:lstStyle/>
          <a:p>
            <a:r>
              <a:t>핵심 결론 — clinic4+VAT+SAT에 AEC-128을 추가해도 22개 방법론 어디서도 재현 가능한 개선 없음</a:t>
            </a:r>
          </a:p>
          <a:p>
            <a:r>
              <a:t>FPCA도 예외 아님 — AEC 추가 12개 중 11개 방향개선이나 Bonferroni(24) 기준 유의 0건</a:t>
            </a:r>
          </a:p>
          <a:p>
            <a:r>
              <a:t>CNN이 FPCA를 이긴 경우 — 6개 조합 중 0건, DM external은 오히려 유의하게 더 나쁨(p=0.0011)</a:t>
            </a:r>
          </a:p>
          <a:p>
            <a:r>
              <a:t>family-corrected 생존 2건(TCN·라인플롯) — 둘 다 internal 무재현으로 반박됨</a:t>
            </a:r>
          </a:p>
          <a:p>
            <a:r>
              <a:t>종합 판단 — 현재 코호트(n=1259/1123) 규모에서 AEC-128은 안정적 추가 정보를 주지 못함</a:t>
            </a:r>
          </a:p>
        </p:txBody>
      </p:sp>
      <p:sp>
        <p:nvSpPr>
          <p:cNvPr id="4" name="슬라이드 번호 개체 틀"/>
          <p:cNvSpPr>
            <a:spLocks noGrp="1"/>
          </p:cNvSpPr>
          <p:nvPr>
            <p:ph type="sldNum" sz="quarter" idx="12"/>
          </p:nvPr>
        </p:nvSpPr>
        <p:spPr/>
        <p:txBody>
          <a:bodyPr/>
          <a:lstStyle/>
          <a:p>
            <a:fld id="{9F4AF89A-28FA-47FA-B28F-9A9C69130004}" type="slidenum">
              <a:rPr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제한점</a:t>
            </a:r>
          </a:p>
        </p:txBody>
      </p:sp>
      <p:sp>
        <p:nvSpPr>
          <p:cNvPr id="3" name="Content Placeholder 2"/>
          <p:cNvSpPr>
            <a:spLocks noGrp="1"/>
          </p:cNvSpPr>
          <p:nvPr>
            <p:ph idx="1"/>
          </p:nvPr>
        </p:nvSpPr>
        <p:spPr/>
        <p:txBody>
          <a:bodyPr/>
          <a:lstStyle/>
          <a:p>
            <a:r>
              <a:t>CKD 저유병률(8.3%/16.7%) -&gt; 외부 신뢰구간 넓음</a:t>
            </a:r>
          </a:p>
          <a:p>
            <a:r>
              <a:t>2개 기관·단면 데이터 -&gt; 종단·제3기관 재현성 미확인</a:t>
            </a:r>
          </a:p>
          <a:p>
            <a:r>
              <a:t>진짜 lab 변수 부재 -&gt; 기준모델 성능 상한선 미검증</a:t>
            </a:r>
          </a:p>
          <a:p>
            <a:r>
              <a:t>스캐너·프로토콜 이질성 -&gt; 잠재적 교란 가능성</a:t>
            </a:r>
          </a:p>
          <a:p>
            <a:r>
              <a:t>부정 결과의 한계 — "신호 없음"과 "작아서 못 찾음"은 통계적으로 구분 불가</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다음주 Plan</a:t>
            </a:r>
          </a:p>
        </p:txBody>
      </p:sp>
      <p:sp>
        <p:nvSpPr>
          <p:cNvPr id="3" name="Content Placeholder 2"/>
          <p:cNvSpPr>
            <a:spLocks noGrp="1"/>
          </p:cNvSpPr>
          <p:nvPr>
            <p:ph idx="1"/>
          </p:nvPr>
        </p:nvSpPr>
        <p:spPr/>
        <p:txBody>
          <a:bodyPr/>
          <a:lstStyle/>
          <a:p>
            <a:r>
              <a:t>FPCA+VAT+SAT 논문 마무리 — Results/Discussion 완료, IRB·저자정보 등 남은 항목 정리</a:t>
            </a:r>
          </a:p>
          <a:p>
            <a:r>
              <a:t>AEC 딥러닝 탐색 공식 종료 보고 — 22개 방법론 음성결과를 오늘 자료 기반으로 별도 정리</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cratch_image18.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A4B9BE-6ABB-4644-A858-A1BE01A7D227}">
  <we:reference id="wa200010725" version="1.0.0.1" store="ko-KR" storeType="OMEX"/>
  <we:alternateReferences>
    <we:reference id="WA200010725" version="1.0.0.1" store="WA200010725" storeType="OMEX"/>
  </we:alternateReferences>
  <we:properties>
    <we:property name="claude.fileId" value="&quot;b67ecc52-606c-4d9b-921c-389ac737e61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7106</TotalTime>
  <Words>2846</Words>
  <Application>Microsoft Office PowerPoint</Application>
  <PresentationFormat>와이드스크린</PresentationFormat>
  <Paragraphs>145</Paragraphs>
  <Slides>18</Slides>
  <Notes>18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18</vt:i4>
      </vt:variant>
    </vt:vector>
  </HeadingPairs>
  <TitlesOfParts>
    <vt:vector size="22" baseType="lpstr">
      <vt:lpstr>KoPub돋움체 Medium</vt:lpstr>
      <vt:lpstr>KoPub돋움체 Bold</vt:lpstr>
      <vt:lpstr>Arial</vt:lpstr>
      <vt:lpstr>Office 테마</vt:lpstr>
      <vt:lpstr>PowerPoint 프레젠테이션</vt:lpstr>
      <vt:lpstr>목차</vt:lpstr>
      <vt:lpstr>연구 Summary</vt:lpstr>
      <vt:lpstr>Reference</vt:lpstr>
      <vt:lpstr>FPCA 알고리즘 요약 — clinic4+VAT+SAT+AEC(FPCA)</vt:lpstr>
      <vt:lpstr>FPCA 기반 모델, clinic4 대비 실제로 개선되는가</vt:lpstr>
      <vt:lpstr>1D CNN 아키텍처 도식 — Concat Fusion</vt:lpstr>
      <vt:lpstr>Cross-Attention 아키텍처 도식</vt:lpstr>
      <vt:lpstr>Fusion 방식 비교 — 왜 Concat을 썼는가</vt:lpstr>
      <vt:lpstr>실험 설계 및 학습·평가 절차</vt:lpstr>
      <vt:lpstr>성능 비교 결과 — clinic4 vs FPCA vs 1D CNN</vt:lpstr>
      <vt:lpstr>통계적 유의성 — FPCA vs 1D CNN (DeLong test)</vt:lpstr>
      <vt:lpstr>22개 방법론 종합 — 다중비교 보정 결과</vt:lpstr>
      <vt:lpstr>가장 근접했던 통계적 유의 사례 — 왜 신뢰하지 않는가</vt:lpstr>
      <vt:lpstr>결론</vt:lpstr>
      <vt:lpstr>제한점</vt:lpstr>
      <vt:lpstr>다음주 Plan</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전장훈</dc:creator>
  <cp:lastModifiedBy>전장훈</cp:lastModifiedBy>
  <cp:revision>686</cp:revision>
  <dcterms:created xsi:type="dcterms:W3CDTF">2026-04-09T07:05:16Z</dcterms:created>
  <dcterms:modified xsi:type="dcterms:W3CDTF">2026-09-03T02:59:30Z</dcterms:modified>
</cp:coreProperties>
</file>