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495" r:id="rId3"/>
    <p:sldId id="507" r:id="rId4"/>
    <p:sldId id="481" r:id="rId5"/>
    <p:sldId id="514" r:id="rId6"/>
    <p:sldId id="519" r:id="rId7"/>
    <p:sldId id="534" r:id="rId8"/>
    <p:sldId id="535" r:id="rId9"/>
    <p:sldId id="479" r:id="rId10"/>
  </p:sldIdLst>
  <p:sldSz cx="12192000" cy="6858000"/>
  <p:notesSz cx="6858000" cy="9144000"/>
  <p:embeddedFontLst>
    <p:embeddedFont>
      <p:font typeface="KoPub돋움체 Bold" panose="00000800000000000000" pitchFamily="2" charset="-127"/>
      <p:bold r:id="rId12"/>
    </p:embeddedFont>
    <p:embeddedFont>
      <p:font typeface="KoPub돋움체 Medium" panose="00000600000000000000" pitchFamily="2" charset="-127"/>
      <p:regular r:id="rId1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495"/>
            <p14:sldId id="507"/>
            <p14:sldId id="481"/>
            <p14:sldId id="514"/>
            <p14:sldId id="519"/>
            <p14:sldId id="534"/>
            <p14:sldId id="535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273" autoAdjust="0"/>
  </p:normalViewPr>
  <p:slideViewPr>
    <p:cSldViewPr snapToGrid="0">
      <p:cViewPr varScale="1">
        <p:scale>
          <a:sx n="105" d="100"/>
          <a:sy n="105" d="100"/>
        </p:scale>
        <p:origin x="77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 err="1"/>
              <a:t>표지</a:t>
            </a:r>
            <a:r>
              <a:rPr dirty="0"/>
              <a:t>. </a:t>
            </a:r>
            <a:r>
              <a:rPr dirty="0" err="1"/>
              <a:t>발표자</a:t>
            </a:r>
            <a:r>
              <a:rPr dirty="0"/>
              <a:t>: 전장훈(</a:t>
            </a:r>
            <a:r>
              <a:rPr dirty="0" err="1"/>
              <a:t>JangHoon</a:t>
            </a:r>
            <a:r>
              <a:rPr dirty="0"/>
              <a:t> Chun), </a:t>
            </a:r>
            <a:r>
              <a:rPr dirty="0" err="1"/>
              <a:t>강남세브란스병원</a:t>
            </a:r>
            <a:r>
              <a:rPr dirty="0"/>
              <a:t> </a:t>
            </a:r>
            <a:r>
              <a:rPr dirty="0" err="1"/>
              <a:t>의료기기산업학과</a:t>
            </a:r>
            <a:r>
              <a:rPr dirty="0"/>
              <a:t>. </a:t>
            </a:r>
            <a:r>
              <a:rPr lang="en-US" altLang="ko-KR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Stage-2 AEC-Clinical Fusion: </a:t>
            </a:r>
            <a:r>
              <a:rPr lang="ko-KR" altLang="en-US" sz="1200" b="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재분류</a:t>
            </a:r>
            <a:r>
              <a:rPr lang="ko-KR" altLang="en-US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성능 및 </a:t>
            </a:r>
            <a:r>
              <a:rPr lang="en-US" altLang="ko-KR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Confound </a:t>
            </a:r>
            <a:r>
              <a:rPr lang="ko-KR" altLang="en-US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검증</a:t>
            </a:r>
            <a:r>
              <a:rPr b="0"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발표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Low-</a:t>
            </a:r>
            <a:r>
              <a:rPr dirty="0" err="1"/>
              <a:t>SMI는</a:t>
            </a:r>
            <a:r>
              <a:rPr dirty="0"/>
              <a:t> </a:t>
            </a:r>
            <a:r>
              <a:rPr dirty="0" err="1"/>
              <a:t>노쇠·수술</a:t>
            </a:r>
            <a:r>
              <a:rPr dirty="0"/>
              <a:t> 후 </a:t>
            </a:r>
            <a:r>
              <a:rPr dirty="0" err="1"/>
              <a:t>합병증·사망률과</a:t>
            </a:r>
            <a:r>
              <a:rPr dirty="0"/>
              <a:t> </a:t>
            </a:r>
            <a:r>
              <a:rPr dirty="0" err="1"/>
              <a:t>연관</a:t>
            </a:r>
            <a:r>
              <a:rPr dirty="0"/>
              <a:t>(Prado 2008; Martin 2013). Stage-1 LR(</a:t>
            </a:r>
            <a:r>
              <a:rPr dirty="0" err="1"/>
              <a:t>성별·나이·키·체중</a:t>
            </a:r>
            <a:r>
              <a:rPr dirty="0"/>
              <a:t>) AUC internal 0.828 / external 0.835 -- Hosmer-Lemeshow </a:t>
            </a:r>
            <a:r>
              <a:rPr dirty="0" err="1"/>
              <a:t>기준</a:t>
            </a:r>
            <a:r>
              <a:rPr dirty="0"/>
              <a:t> acceptable(0.7-0.8)~excellent(0.8-0.9) </a:t>
            </a:r>
            <a:r>
              <a:rPr dirty="0" err="1"/>
              <a:t>경계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왜 Sens 90%인가:</a:t>
            </a:r>
          </a:p>
          <a:p>
            <a:r>
              <a:rPr dirty="0"/>
              <a:t>- 100% </a:t>
            </a:r>
            <a:r>
              <a:rPr dirty="0" err="1"/>
              <a:t>cutoff는</a:t>
            </a:r>
            <a:r>
              <a:rPr dirty="0"/>
              <a:t> </a:t>
            </a:r>
            <a:r>
              <a:rPr dirty="0" err="1"/>
              <a:t>양성</a:t>
            </a:r>
            <a:r>
              <a:rPr dirty="0"/>
              <a:t> n=129 order </a:t>
            </a:r>
            <a:r>
              <a:rPr dirty="0" err="1"/>
              <a:t>statistic이라</a:t>
            </a:r>
            <a:r>
              <a:rPr dirty="0"/>
              <a:t> </a:t>
            </a:r>
            <a:r>
              <a:rPr dirty="0" err="1"/>
              <a:t>분산</a:t>
            </a:r>
            <a:r>
              <a:rPr dirty="0"/>
              <a:t> </a:t>
            </a:r>
            <a:r>
              <a:rPr dirty="0" err="1"/>
              <a:t>추정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r>
              <a:rPr dirty="0"/>
              <a:t>- Sens 90→95%p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Sp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85→90%p </a:t>
            </a:r>
            <a:r>
              <a:rPr dirty="0" err="1"/>
              <a:t>대비</a:t>
            </a:r>
            <a:r>
              <a:rPr dirty="0"/>
              <a:t> internal 1.17배/external 1.66배로 </a:t>
            </a:r>
            <a:r>
              <a:rPr dirty="0" err="1"/>
              <a:t>급증</a:t>
            </a:r>
            <a:endParaRPr dirty="0"/>
          </a:p>
          <a:p>
            <a:r>
              <a:rPr dirty="0"/>
              <a:t>- FN(</a:t>
            </a:r>
            <a:r>
              <a:rPr dirty="0" err="1"/>
              <a:t>누락</a:t>
            </a:r>
            <a:r>
              <a:rPr dirty="0"/>
              <a:t>) </a:t>
            </a:r>
            <a:r>
              <a:rPr dirty="0" err="1"/>
              <a:t>비용이</a:t>
            </a:r>
            <a:r>
              <a:rPr dirty="0"/>
              <a:t> FP보다 </a:t>
            </a:r>
            <a:r>
              <a:rPr dirty="0" err="1"/>
              <a:t>크다고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 → </a:t>
            </a:r>
            <a:r>
              <a:rPr dirty="0" err="1"/>
              <a:t>한계비용</a:t>
            </a:r>
            <a:r>
              <a:rPr dirty="0"/>
              <a:t> </a:t>
            </a:r>
            <a:r>
              <a:rPr dirty="0" err="1"/>
              <a:t>급증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90%p까지 </a:t>
            </a:r>
            <a:r>
              <a:rPr dirty="0" err="1"/>
              <a:t>확보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FN 1</a:t>
            </a:r>
            <a:r>
              <a:rPr lang="ko-KR" altLang="en-US" sz="1200" dirty="0"/>
              <a:t>명당 드는 </a:t>
            </a:r>
            <a:r>
              <a:rPr lang="en-US" altLang="ko-KR" sz="1200" dirty="0"/>
              <a:t>FP </a:t>
            </a:r>
            <a:r>
              <a:rPr lang="ko-KR" altLang="en-US" sz="1200" dirty="0"/>
              <a:t>비용은 </a:t>
            </a:r>
            <a:r>
              <a:rPr lang="en-US" altLang="ko-KR" sz="1200" dirty="0"/>
              <a:t>85→90%p </a:t>
            </a:r>
            <a:r>
              <a:rPr lang="ko-KR" altLang="en-US" sz="1200" dirty="0"/>
              <a:t>구간보다 </a:t>
            </a:r>
            <a:r>
              <a:rPr lang="en-US" altLang="ko-KR" sz="1200" dirty="0"/>
              <a:t>90→95%p </a:t>
            </a:r>
            <a:r>
              <a:rPr lang="ko-KR" altLang="en-US" sz="1200" dirty="0"/>
              <a:t>구간에서 </a:t>
            </a:r>
            <a:r>
              <a:rPr lang="en-US" altLang="ko-KR" sz="1200" dirty="0"/>
              <a:t>1.6~3</a:t>
            </a:r>
            <a:r>
              <a:rPr lang="ko-KR" altLang="en-US" sz="1200" dirty="0"/>
              <a:t>배 증가</a:t>
            </a:r>
          </a:p>
          <a:p>
            <a:pPr>
              <a:lnSpc>
                <a:spcPct val="150000"/>
              </a:lnSpc>
            </a:pPr>
            <a:r>
              <a:rPr lang="ko-KR" altLang="en-US" sz="1200" b="1" dirty="0"/>
              <a:t>→ </a:t>
            </a:r>
            <a:r>
              <a:rPr lang="en-US" altLang="ko-KR" sz="1200" b="1" dirty="0" err="1"/>
              <a:t>Sp</a:t>
            </a:r>
            <a:r>
              <a:rPr lang="ko-KR" altLang="en-US" sz="1200" b="1" dirty="0"/>
              <a:t> 손실이 급격히 커지기 직전인 </a:t>
            </a:r>
            <a:r>
              <a:rPr lang="en-US" altLang="ko-KR" sz="1200" b="1" dirty="0"/>
              <a:t>90%p</a:t>
            </a:r>
            <a:r>
              <a:rPr lang="ko-KR" altLang="en-US" sz="1200" b="1" dirty="0"/>
              <a:t>가 비용 대비 효율적인 </a:t>
            </a:r>
            <a:r>
              <a:rPr lang="en-US" altLang="ko-KR" sz="1200" b="1" dirty="0"/>
              <a:t>cutoff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91926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/>
              <a:t>S90 confusion matrix </a:t>
            </a:r>
            <a:r>
              <a:rPr lang="ko-KR" altLang="en-US" dirty="0"/>
              <a:t>확인 후 </a:t>
            </a:r>
            <a:r>
              <a:rPr lang="en-US" altLang="ko-KR" dirty="0"/>
              <a:t>Predicted Positive</a:t>
            </a:r>
            <a:r>
              <a:rPr lang="ko-KR" altLang="en-US" dirty="0"/>
              <a:t>만 </a:t>
            </a:r>
            <a:r>
              <a:rPr lang="en-US" altLang="ko-KR" dirty="0"/>
              <a:t>Stage-2</a:t>
            </a:r>
            <a:r>
              <a:rPr lang="ko-KR" altLang="en-US" dirty="0"/>
              <a:t>로 사용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 err="1"/>
              <a:t>Neg:Pos</a:t>
            </a:r>
            <a:r>
              <a:rPr lang="en-US" altLang="ko-KR" dirty="0"/>
              <a:t>=961:129(internal)/785:141(external) </a:t>
            </a:r>
            <a:r>
              <a:rPr lang="ko-KR" altLang="en-US" dirty="0"/>
              <a:t>불균형 </a:t>
            </a:r>
            <a:r>
              <a:rPr lang="en-US" altLang="ko-KR" dirty="0"/>
              <a:t>+ Sens90 cutoff → </a:t>
            </a:r>
            <a:r>
              <a:rPr lang="ko-KR" altLang="en-US" dirty="0"/>
              <a:t>구조적으로 </a:t>
            </a:r>
            <a:r>
              <a:rPr lang="en-US" altLang="ko-KR" dirty="0"/>
              <a:t>FP≫FN(</a:t>
            </a:r>
            <a:r>
              <a:rPr lang="ko-KR" altLang="en-US" dirty="0"/>
              <a:t>설계상 예상된 결과</a:t>
            </a:r>
            <a:r>
              <a:rPr lang="en-US" altLang="ko-KR" dirty="0"/>
              <a:t>).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Predicted Negative</a:t>
            </a:r>
            <a:r>
              <a:rPr lang="ko-KR" altLang="en-US" dirty="0"/>
              <a:t>는 </a:t>
            </a:r>
            <a:r>
              <a:rPr lang="en-US" altLang="ko-KR" dirty="0"/>
              <a:t>NPV 97.7%/97.5%</a:t>
            </a:r>
            <a:r>
              <a:rPr lang="ko-KR" altLang="en-US" dirty="0"/>
              <a:t>로 이미 충분히 신뢰 가능해 제외</a:t>
            </a:r>
            <a:r>
              <a:rPr lang="en-US" altLang="ko-KR" dirty="0"/>
              <a:t>.</a:t>
            </a:r>
            <a:endParaRPr lang="ko-KR" altLang="en-US" dirty="0"/>
          </a:p>
          <a:p>
            <a:r>
              <a:rPr lang="en-US" altLang="ko-KR" dirty="0"/>
              <a:t>Predicted Positive</a:t>
            </a:r>
            <a:r>
              <a:rPr lang="ko-KR" altLang="en-US" dirty="0"/>
              <a:t>는 </a:t>
            </a:r>
            <a:r>
              <a:rPr lang="en-US" altLang="ko-KR" dirty="0"/>
              <a:t>PPV 20.7%/24.8%</a:t>
            </a:r>
            <a:r>
              <a:rPr lang="ko-KR" altLang="en-US" dirty="0"/>
              <a:t>로 낮아 이 군에만 </a:t>
            </a:r>
            <a:r>
              <a:rPr lang="en-US" altLang="ko-KR" dirty="0"/>
              <a:t>Stage-2</a:t>
            </a:r>
            <a:r>
              <a:rPr lang="ko-KR" altLang="en-US" dirty="0"/>
              <a:t>를 적용해 </a:t>
            </a:r>
            <a:r>
              <a:rPr lang="en-US" altLang="ko-KR" dirty="0"/>
              <a:t>PPV </a:t>
            </a:r>
            <a:r>
              <a:rPr lang="ko-KR" altLang="en-US" dirty="0"/>
              <a:t>개선</a:t>
            </a:r>
            <a:r>
              <a:rPr lang="en-US" altLang="ko-KR" dirty="0"/>
              <a:t>/FP </a:t>
            </a:r>
            <a:r>
              <a:rPr lang="ko-KR" altLang="en-US" dirty="0"/>
              <a:t>감소를 목표로 함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Stage-1 AUC</a:t>
            </a:r>
            <a:r>
              <a:rPr lang="ko-KR" altLang="en-US" dirty="0"/>
              <a:t>를 높이면 이 트레이드오프 자체가 완화됨 </a:t>
            </a:r>
            <a:r>
              <a:rPr lang="en-US" altLang="ko-KR" dirty="0"/>
              <a:t>-- Stage-2</a:t>
            </a:r>
            <a:r>
              <a:rPr lang="ko-KR" altLang="en-US" dirty="0"/>
              <a:t>가 필요한 </a:t>
            </a:r>
            <a:r>
              <a:rPr lang="en-US" altLang="ko-KR" dirty="0"/>
              <a:t>1</a:t>
            </a:r>
            <a:r>
              <a:rPr lang="ko-KR" altLang="en-US" dirty="0"/>
              <a:t>차 근거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8A4A-BF4E-A68A-5F1E-D49EEEC9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F0313-5111-4925-AA40-28B406CA5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319D1-9A0E-DBAD-CCE8-E1B5256FF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9B80-65F7-EA25-0B41-27D54360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50486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82605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83C6F-81C2-4881-265B-DC90DB117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360F5-78A5-F8F2-3AF1-E6B8A31113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BFA01-DC83-FA69-1A52-247DA37A5A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0E2E4-AEC5-C29D-5657-714969E154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085646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344B-725A-F24C-70BD-475446F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AC708-998B-CF8A-8C87-3767BF180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1B52-3F75-4EE0-B52D-7E29EE64D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0675F-AB5A-2AC6-A453-932F57D742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9262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364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Comparison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of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AECs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between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groups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after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low-smi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classification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with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clinic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data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901700"/>
            <a:ext cx="11176000" cy="190500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Clinic 4</a:t>
            </a:r>
            <a:r>
              <a:rPr lang="ko-KR" altLang="en-US" dirty="0"/>
              <a:t>개 변수</a:t>
            </a:r>
            <a:r>
              <a:rPr lang="en-US" altLang="ko-KR" dirty="0"/>
              <a:t>(Sex, Age, Height, Weight)</a:t>
            </a:r>
            <a:r>
              <a:rPr lang="ko-KR" altLang="en-US" dirty="0"/>
              <a:t>로 성별별 </a:t>
            </a:r>
            <a:r>
              <a:rPr lang="en-US" altLang="ko-KR" dirty="0"/>
              <a:t>low-SMI </a:t>
            </a:r>
            <a:r>
              <a:rPr lang="ko-KR" altLang="en-US" dirty="0"/>
              <a:t>분류 </a:t>
            </a:r>
            <a:r>
              <a:rPr lang="en-US" altLang="ko-KR" dirty="0"/>
              <a:t>(M: </a:t>
            </a:r>
            <a:r>
              <a:rPr lang="en-US" altLang="ko-KR" dirty="0" err="1"/>
              <a:t>smi</a:t>
            </a:r>
            <a:r>
              <a:rPr lang="en-US" altLang="ko-KR" dirty="0"/>
              <a:t> &lt; 45.4, F: </a:t>
            </a:r>
            <a:r>
              <a:rPr lang="en-US" altLang="ko-KR" dirty="0" err="1"/>
              <a:t>smi</a:t>
            </a:r>
            <a:r>
              <a:rPr lang="en-US" altLang="ko-KR" dirty="0"/>
              <a:t> &lt; 34.4)</a:t>
            </a:r>
          </a:p>
          <a:p>
            <a:r>
              <a:rPr lang="en-US" altLang="ko-KR" dirty="0"/>
              <a:t>AUC internal 0.828 / external 0.835</a:t>
            </a:r>
          </a:p>
          <a:p>
            <a:r>
              <a:rPr lang="en-US" altLang="ko-KR" dirty="0"/>
              <a:t>Sensitivity 90%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컷오프로 </a:t>
            </a:r>
            <a:r>
              <a:rPr lang="en-US" altLang="ko-KR" dirty="0"/>
              <a:t>Confusion Matrix </a:t>
            </a:r>
            <a:r>
              <a:rPr lang="ko-KR" altLang="en-US" dirty="0"/>
              <a:t>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298" y="2857500"/>
            <a:ext cx="7109401" cy="341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/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/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08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A45-53DB-1D03-067B-82EF4C5C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A5240-5DFE-FDF5-63B9-272153AD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787508"/>
              </p:ext>
            </p:extLst>
          </p:nvPr>
        </p:nvGraphicFramePr>
        <p:xfrm>
          <a:off x="954628" y="2289797"/>
          <a:ext cx="3053533" cy="1431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1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</a:t>
                      </a:r>
                      <a:r>
                        <a:rPr lang="en-US" sz="1300" dirty="0"/>
                        <a:t>m</a:t>
                      </a:r>
                    </a:p>
                    <a:p>
                      <a:pPr algn="ctr"/>
                      <a:r>
                        <a:rPr sz="1300" dirty="0"/>
                        <a:t>(internal)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0.0325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0.002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Sinchon</a:t>
                      </a:r>
                      <a:endParaRPr lang="en-US" sz="1300" dirty="0"/>
                    </a:p>
                    <a:p>
                      <a:pPr algn="ctr"/>
                      <a:r>
                        <a:rPr sz="1300" dirty="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B4C709C8-B4D6-D3DA-ED41-F356D9CE1067}"/>
              </a:ext>
            </a:extLst>
          </p:cNvPr>
          <p:cNvGrpSpPr/>
          <p:nvPr/>
        </p:nvGrpSpPr>
        <p:grpSpPr>
          <a:xfrm>
            <a:off x="4673601" y="1919627"/>
            <a:ext cx="6070600" cy="2171700"/>
            <a:chOff x="4627854" y="3428999"/>
            <a:chExt cx="6632024" cy="2318707"/>
          </a:xfrm>
        </p:grpSpPr>
        <p:pic>
          <p:nvPicPr>
            <p:cNvPr id="6" name="Picture 5" descr="18_aec_curve_tp_vs_t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9"/>
              <a:ext cx="3394567" cy="2318707"/>
            </a:xfrm>
            <a:prstGeom prst="rect">
              <a:avLst/>
            </a:prstGeom>
          </p:spPr>
        </p:pic>
        <p:pic>
          <p:nvPicPr>
            <p:cNvPr id="7" name="Picture 6" descr="18_aec_curve_tp_vs_t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5311" y="3428999"/>
              <a:ext cx="3394567" cy="2318707"/>
            </a:xfrm>
            <a:prstGeom prst="rect">
              <a:avLst/>
            </a:prstGeom>
          </p:spPr>
        </p:pic>
      </p:grp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BF4D3371-029E-CBE3-E038-FE8F04EF5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674307"/>
              </p:ext>
            </p:extLst>
          </p:nvPr>
        </p:nvGraphicFramePr>
        <p:xfrm>
          <a:off x="940230" y="4615547"/>
          <a:ext cx="3067931" cy="1432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5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Gangnam
(internal)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0.0005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Sinchon
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642C770-CC23-8B19-F687-EDD106359F7B}"/>
              </a:ext>
            </a:extLst>
          </p:cNvPr>
          <p:cNvGrpSpPr>
            <a:grpSpLocks noChangeAspect="1"/>
          </p:cNvGrpSpPr>
          <p:nvPr/>
        </p:nvGrpSpPr>
        <p:grpSpPr>
          <a:xfrm>
            <a:off x="4578599" y="4296777"/>
            <a:ext cx="6061219" cy="2070100"/>
            <a:chOff x="5185763" y="3550000"/>
            <a:chExt cx="6788238" cy="2318400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D8AEA2E2-E549-45E9-54B7-897ADFD59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5763" y="3550000"/>
              <a:ext cx="3394119" cy="2318400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A067D7BC-8B07-4215-580C-7B547CD1E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79882" y="3550000"/>
              <a:ext cx="3394119" cy="2318400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E3CE72B-5F74-4979-D0F9-4FC1DCECCB27}"/>
              </a:ext>
            </a:extLst>
          </p:cNvPr>
          <p:cNvSpPr txBox="1"/>
          <p:nvPr/>
        </p:nvSpPr>
        <p:spPr>
          <a:xfrm>
            <a:off x="1814288" y="18669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TP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E32C4F-DDD1-2E8C-02C2-6F317C240BC8}"/>
              </a:ext>
            </a:extLst>
          </p:cNvPr>
          <p:cNvSpPr txBox="1"/>
          <p:nvPr/>
        </p:nvSpPr>
        <p:spPr>
          <a:xfrm>
            <a:off x="1807089" y="41275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213DA017-BC77-8FC8-CC9F-A5957B4DA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AEC-128 </a:t>
            </a:r>
            <a:r>
              <a:rPr lang="ko-KR" altLang="en-US" b="1" dirty="0"/>
              <a:t>곡선 비교 </a:t>
            </a:r>
            <a:r>
              <a:rPr lang="en-US" altLang="ko-KR" b="1" dirty="0"/>
              <a:t>: TP/FP vs TN </a:t>
            </a:r>
            <a:r>
              <a:rPr lang="ko-KR" altLang="en-US" b="1" dirty="0"/>
              <a:t>모두 유의 </a:t>
            </a:r>
            <a:r>
              <a:rPr lang="en-US" altLang="ko-KR" b="1" dirty="0"/>
              <a:t>(p&lt;0.01) → BMI confound </a:t>
            </a:r>
            <a:r>
              <a:rPr lang="ko-KR" altLang="en-US" b="1" dirty="0"/>
              <a:t>가능성 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736506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TP vs FP AEC-128 </a:t>
            </a:r>
            <a:r>
              <a:rPr lang="ko-KR" altLang="en-US" b="1" dirty="0"/>
              <a:t>비교 </a:t>
            </a:r>
            <a:r>
              <a:rPr lang="en-US" altLang="ko-KR" b="1" dirty="0"/>
              <a:t>(Propensity-matched)</a:t>
            </a:r>
          </a:p>
          <a:p>
            <a:pPr>
              <a:lnSpc>
                <a:spcPct val="150000"/>
              </a:lnSpc>
            </a:pPr>
            <a:endParaRPr b="1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3387739"/>
              </p:ext>
            </p:extLst>
          </p:nvPr>
        </p:nvGraphicFramePr>
        <p:xfrm>
          <a:off x="3764159" y="1821709"/>
          <a:ext cx="4679923" cy="1341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12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87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4361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Matched 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Gangnam</a:t>
                      </a:r>
                    </a:p>
                    <a:p>
                      <a:pPr algn="ctr"/>
                      <a:r>
                        <a:rPr sz="1400" dirty="0"/>
                        <a:t>(internal)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0.0057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0.983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97 pairs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Sinchon</a:t>
                      </a:r>
                    </a:p>
                    <a:p>
                      <a:pPr algn="ctr"/>
                      <a:r>
                        <a:rPr sz="140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0.0422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0.0165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94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2" name="그룹 11">
            <a:extLst>
              <a:ext uri="{FF2B5EF4-FFF2-40B4-BE49-F238E27FC236}">
                <a16:creationId xmlns:a16="http://schemas.microsoft.com/office/drawing/2014/main" id="{7C38C2DF-B7CD-0288-0279-A7016A6CEFDB}"/>
              </a:ext>
            </a:extLst>
          </p:cNvPr>
          <p:cNvGrpSpPr/>
          <p:nvPr/>
        </p:nvGrpSpPr>
        <p:grpSpPr>
          <a:xfrm>
            <a:off x="1878741" y="3429000"/>
            <a:ext cx="8434517" cy="2875111"/>
            <a:chOff x="1424174" y="3429000"/>
            <a:chExt cx="8434517" cy="2875111"/>
          </a:xfrm>
        </p:grpSpPr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4174" y="3429001"/>
              <a:ext cx="4209137" cy="2875110"/>
            </a:xfrm>
            <a:prstGeom prst="rect">
              <a:avLst/>
            </a:prstGeom>
          </p:spPr>
        </p:pic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49554" y="3429000"/>
              <a:ext cx="4209137" cy="2875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00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235E1-990A-B61D-C2FB-0E5F237E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5B1E2-F9E7-3B5D-A7E2-C46DA9E96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672E8-387A-B761-2D48-323AA293B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그룹 간 </a:t>
            </a:r>
            <a:r>
              <a:rPr lang="en-US" altLang="ko-KR" b="1" dirty="0"/>
              <a:t>p / </a:t>
            </a:r>
            <a:r>
              <a:rPr lang="en-US" altLang="ko-KR" b="1" dirty="0" err="1"/>
              <a:t>dp</a:t>
            </a:r>
            <a:r>
              <a:rPr lang="ko-KR" altLang="en-US" b="1" dirty="0"/>
              <a:t> </a:t>
            </a:r>
            <a:r>
              <a:rPr lang="en-US" altLang="ko-KR" b="1" dirty="0"/>
              <a:t>/ d2p </a:t>
            </a:r>
            <a:r>
              <a:rPr lang="ko-KR" altLang="en-US" b="1" dirty="0"/>
              <a:t>곡선 비교</a:t>
            </a:r>
            <a:endParaRPr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EA819FF-824A-52D4-3A7F-A3DF216AF6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254965"/>
              </p:ext>
            </p:extLst>
          </p:nvPr>
        </p:nvGraphicFramePr>
        <p:xfrm>
          <a:off x="1312092" y="1574800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91954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강남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RMSD=0.0021,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RMSD=0.0325,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=0.002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RMSD=0.0026,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RMSD=0.0155,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=0.227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=0.155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=0.199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RMSD=0.0057,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=0.983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=0.982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=0.478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93DC214-F213-AB61-FBB1-2D265A00B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349279"/>
              </p:ext>
            </p:extLst>
          </p:nvPr>
        </p:nvGraphicFramePr>
        <p:xfrm>
          <a:off x="1312092" y="3767667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85989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409849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신촌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RMSD=0.0226,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=0.0045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RMSD=0.0017,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=0.093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=0.0135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=0.084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</a:t>
                      </a:r>
                      <a:r>
                        <a:rPr lang="en-US" alt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ko-KR" sz="1200" b="0" i="0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RMSD=0.0274,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=0.0175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=0.425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RMSD=0.0422,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=0.0165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=0.0095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=0.417 (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n.s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.)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5379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26F4-B148-DB82-FA51-148222F2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46A9-C734-6449-1C3E-8E16175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Next Plans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D2408-F981-AD7F-0BC2-B4589BD31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TP/FP </a:t>
            </a:r>
            <a:r>
              <a:rPr lang="ko-KR" altLang="en-US" b="1" dirty="0"/>
              <a:t>간의 차이가 유의한 </a:t>
            </a:r>
            <a:r>
              <a:rPr lang="en-US" altLang="ko-KR" b="1" dirty="0"/>
              <a:t>Feature</a:t>
            </a:r>
            <a:r>
              <a:rPr lang="ko-KR" altLang="en-US" b="1" dirty="0"/>
              <a:t> 찾기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Clinic Data</a:t>
            </a:r>
            <a:r>
              <a:rPr lang="ko-KR" altLang="en-US" b="1" dirty="0"/>
              <a:t>와 </a:t>
            </a:r>
            <a:r>
              <a:rPr lang="en-US" altLang="ko-KR" b="1" dirty="0"/>
              <a:t>AEC Feature</a:t>
            </a:r>
            <a:r>
              <a:rPr lang="ko-KR" altLang="en-US" b="1" dirty="0"/>
              <a:t>의 </a:t>
            </a:r>
            <a:r>
              <a:rPr lang="en-US" altLang="ko-KR" b="1" dirty="0"/>
              <a:t>Multimodal Architecture </a:t>
            </a:r>
            <a:r>
              <a:rPr lang="ko-KR" altLang="en-US" b="1" dirty="0"/>
              <a:t>설계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AUC </a:t>
            </a:r>
            <a:r>
              <a:rPr lang="ko-KR" altLang="en-US" b="1" dirty="0"/>
              <a:t>개선 확인 </a:t>
            </a:r>
            <a:r>
              <a:rPr lang="en-US" altLang="ko-KR" b="1" dirty="0"/>
              <a:t>(</a:t>
            </a:r>
            <a:r>
              <a:rPr lang="ko-KR" altLang="en-US" b="1" dirty="0"/>
              <a:t>강남</a:t>
            </a:r>
            <a:r>
              <a:rPr lang="en-US" altLang="ko-KR" b="1" dirty="0"/>
              <a:t>: 0.828, </a:t>
            </a:r>
            <a:r>
              <a:rPr lang="ko-KR" altLang="en-US" b="1" dirty="0"/>
              <a:t>신촌</a:t>
            </a:r>
            <a:r>
              <a:rPr lang="en-US" altLang="ko-KR" b="1"/>
              <a:t>: 0.835)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022533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9866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5330</TotalTime>
  <Words>880</Words>
  <Application>Microsoft Office PowerPoint</Application>
  <PresentationFormat>와이드스크린</PresentationFormat>
  <Paragraphs>156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KoPub돋움체 Bold</vt:lpstr>
      <vt:lpstr>Arial</vt:lpstr>
      <vt:lpstr>KoPub돋움체 Medium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482</cp:revision>
  <dcterms:created xsi:type="dcterms:W3CDTF">2026-04-09T07:05:16Z</dcterms:created>
  <dcterms:modified xsi:type="dcterms:W3CDTF">2026-07-23T08:25:36Z</dcterms:modified>
</cp:coreProperties>
</file>