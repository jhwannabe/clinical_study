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495" r:id="rId3"/>
    <p:sldId id="507" r:id="rId4"/>
    <p:sldId id="481" r:id="rId5"/>
    <p:sldId id="534" r:id="rId6"/>
    <p:sldId id="519" r:id="rId7"/>
    <p:sldId id="536" r:id="rId8"/>
    <p:sldId id="546" r:id="rId9"/>
    <p:sldId id="547" r:id="rId10"/>
    <p:sldId id="545" r:id="rId11"/>
    <p:sldId id="535" r:id="rId12"/>
    <p:sldId id="479" r:id="rId13"/>
    <p:sldId id="544" r:id="rId14"/>
    <p:sldId id="538" r:id="rId15"/>
    <p:sldId id="539" r:id="rId16"/>
    <p:sldId id="540" r:id="rId17"/>
    <p:sldId id="541" r:id="rId18"/>
    <p:sldId id="542" r:id="rId19"/>
    <p:sldId id="543" r:id="rId20"/>
    <p:sldId id="537" r:id="rId21"/>
  </p:sldIdLst>
  <p:sldSz cx="12192000" cy="6858000"/>
  <p:notesSz cx="6858000" cy="9144000"/>
  <p:embeddedFontLst>
    <p:embeddedFont>
      <p:font typeface="KoPub돋움체 Bold" panose="020B0600000101010101" charset="-127"/>
      <p:bold r:id="rId23"/>
    </p:embeddedFont>
    <p:embeddedFont>
      <p:font typeface="KoPub돋움체 Medium" panose="020B0600000101010101" charset="-127"/>
      <p:regular r:id="rId2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97B6DF2-66C3-4074-9053-F9AA00FED5D5}">
          <p14:sldIdLst>
            <p14:sldId id="256"/>
            <p14:sldId id="495"/>
            <p14:sldId id="507"/>
            <p14:sldId id="481"/>
            <p14:sldId id="534"/>
            <p14:sldId id="519"/>
            <p14:sldId id="536"/>
            <p14:sldId id="546"/>
            <p14:sldId id="547"/>
            <p14:sldId id="545"/>
            <p14:sldId id="535"/>
            <p14:sldId id="479"/>
            <p14:sldId id="544"/>
            <p14:sldId id="538"/>
            <p14:sldId id="539"/>
            <p14:sldId id="540"/>
            <p14:sldId id="541"/>
            <p14:sldId id="542"/>
            <p14:sldId id="543"/>
            <p14:sldId id="53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전장훈" initials="전" lastIdx="19" clrIdx="0">
    <p:extLst>
      <p:ext uri="{19B8F6BF-5375-455C-9EA6-DF929625EA0E}">
        <p15:presenceInfo xmlns:p15="http://schemas.microsoft.com/office/powerpoint/2012/main" userId="전장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7DD0"/>
    <a:srgbClr val="1F346B"/>
    <a:srgbClr val="023670"/>
    <a:srgbClr val="17A5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7394" autoAdjust="0"/>
  </p:normalViewPr>
  <p:slideViewPr>
    <p:cSldViewPr snapToGrid="0">
      <p:cViewPr varScale="1">
        <p:scale>
          <a:sx n="83" d="100"/>
          <a:sy n="83" d="100"/>
        </p:scale>
        <p:origin x="643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33074436-1BEA-4F09-AD5C-9DF87C96BF5A}" type="datetimeFigureOut">
              <a:rPr lang="ko-KR" altLang="en-US" smtClean="0"/>
              <a:pPr/>
              <a:t>2026-07-24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433C9518-700F-4811-95BB-24DAF3FA92F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6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발표는 CT 촬영 시 자동으로 조절되는 X선량 정보(AEC)를 활용해서, 저근감소증(근육량이 적은 상태) 위험군을 더 정확하게 가려낼 수 있는지, 그리고 그 결과가 체형 차이 같은 다른 요인 때문에 생긴 착시는 아닌지 검증한 내용입니다. 발표자: 전장훈(JangHoon Chun), 강남세브란스병원 의료기기산업학과.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CCF4F-F5BA-0BAA-6BD8-0A6D4A798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0F49AB-9E40-1106-AC27-BF1890BFA2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6E6316-0BEA-18C3-CCE3-8220627C38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슬라이드는 1단계(Stage-1) 모델을 소개합니다. 저근감소증(low-SMI, 근육량이 적은 상태)은 나이가 들수록 낙상·수술 후 합병증·사망 위험을 높이는 것으로 알려져 있습니다(Prado 2008, Martin 2013). CT를 찍지 않고도 병원에 이미 있는 간단한 정보 4가지(성별/나이/키/체중)만으로 저근감소증일 확률을 예측하는 간단한 통계 모델(로지스틱 회귀)을 만들었습니다.</a:t>
            </a:r>
          </a:p>
          <a:p>
            <a:endParaRPr/>
          </a:p>
          <a:p>
            <a:r>
              <a:t>이 모델이 환자를 얼마나 잘 구별하는지 나타내는 점수(AUC -- 0.5면 동전 던지기 수준, 1.0이면 완벽 구별)가 내부 병원 데이터에서 0.828, 외부(신촌) 병원 데이터에서 0.835로 나왔습니다. 둘 다 '꽤 쓸만한 수준(0.8 이상)'이고, 모델이 실제 데이터에 잘 들어맞는지 보는 별도 검정(Hosmer-Lemeshow)도 양호~우수 경계로 통과했습니다.</a:t>
            </a:r>
          </a:p>
          <a:p>
            <a:endParaRPr/>
          </a:p>
          <a:p>
            <a:r>
              <a:t>이 모델을 쓰려면 몇 점 이상을 Positive(위험군)로 볼지 기준선(cutoff)을 정해야 합니다. 저희는 Sensitivity(민감도, 실제 위험군 환자 중 모델이 Positive로 잡아내는 비율) 90%를 기준으로 골랐습니다. Sensitivity 100%는 표본이 너무 작아 통계적으로 믿을 수 없고, Sensitivity를 90%에서 95%로 더 올리면 반대로 Specificity(특이도, 실제 정상인 사람을 Negative로 잘 구별하는 비율)가 급격히 나빠지기 시작하는 지점이라 90%에서 멈췄습니다. FN(놓친 위험군 환자)의 비용이 FP(잘못 Positive로 분류된 정상인)보다 크다고 가정했습니다.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174E54-7793-89A2-29A5-75B20A9DF8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228718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BAA71-9C51-7B50-8C8A-DAFDE161C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28AD18-7EB6-96D8-9EF9-9C3A236609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B0C6DB-F202-3437-68DB-C8872416B1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이 </a:t>
            </a:r>
            <a:r>
              <a:rPr dirty="0" err="1"/>
              <a:t>표는</a:t>
            </a:r>
            <a:r>
              <a:rPr dirty="0"/>
              <a:t> </a:t>
            </a:r>
            <a:r>
              <a:rPr dirty="0" err="1"/>
              <a:t>기준선</a:t>
            </a:r>
            <a:r>
              <a:rPr dirty="0"/>
              <a:t>(cutoff)을 85%→90%→95%로 </a:t>
            </a:r>
            <a:r>
              <a:rPr dirty="0" err="1"/>
              <a:t>올릴</a:t>
            </a:r>
            <a:r>
              <a:rPr dirty="0"/>
              <a:t> 때 </a:t>
            </a:r>
            <a:r>
              <a:rPr dirty="0" err="1"/>
              <a:t>무엇을</a:t>
            </a:r>
            <a:r>
              <a:rPr dirty="0"/>
              <a:t> </a:t>
            </a:r>
            <a:r>
              <a:rPr dirty="0" err="1"/>
              <a:t>얻고</a:t>
            </a:r>
            <a:r>
              <a:rPr dirty="0"/>
              <a:t> </a:t>
            </a:r>
            <a:r>
              <a:rPr dirty="0" err="1"/>
              <a:t>무엇을</a:t>
            </a:r>
            <a:r>
              <a:rPr dirty="0"/>
              <a:t> </a:t>
            </a:r>
            <a:r>
              <a:rPr dirty="0" err="1"/>
              <a:t>잃는지</a:t>
            </a:r>
            <a:r>
              <a:rPr dirty="0"/>
              <a:t> </a:t>
            </a:r>
            <a:r>
              <a:rPr dirty="0" err="1"/>
              <a:t>보여줍니다</a:t>
            </a:r>
            <a:r>
              <a:rPr dirty="0"/>
              <a:t>. </a:t>
            </a:r>
            <a:r>
              <a:rPr dirty="0" err="1"/>
              <a:t>기준선을</a:t>
            </a:r>
            <a:r>
              <a:rPr dirty="0"/>
              <a:t> </a:t>
            </a:r>
            <a:r>
              <a:rPr dirty="0" err="1"/>
              <a:t>높일수록</a:t>
            </a:r>
            <a:r>
              <a:rPr dirty="0"/>
              <a:t> '</a:t>
            </a:r>
            <a:r>
              <a:rPr dirty="0" err="1"/>
              <a:t>놓치는</a:t>
            </a:r>
            <a:r>
              <a:rPr dirty="0"/>
              <a:t> </a:t>
            </a:r>
            <a:r>
              <a:rPr dirty="0" err="1"/>
              <a:t>위험군</a:t>
            </a:r>
            <a:r>
              <a:rPr dirty="0"/>
              <a:t> </a:t>
            </a:r>
            <a:r>
              <a:rPr dirty="0" err="1"/>
              <a:t>환자</a:t>
            </a:r>
            <a:r>
              <a:rPr dirty="0"/>
              <a:t>(FN)'는 </a:t>
            </a:r>
            <a:r>
              <a:rPr dirty="0" err="1"/>
              <a:t>줄어들지만</a:t>
            </a:r>
            <a:r>
              <a:rPr dirty="0"/>
              <a:t>, 그 </a:t>
            </a:r>
            <a:r>
              <a:rPr dirty="0" err="1"/>
              <a:t>대신</a:t>
            </a:r>
            <a:r>
              <a:rPr dirty="0"/>
              <a:t> '</a:t>
            </a:r>
            <a:r>
              <a:rPr dirty="0" err="1"/>
              <a:t>정상인데</a:t>
            </a:r>
            <a:r>
              <a:rPr dirty="0"/>
              <a:t> </a:t>
            </a:r>
            <a:r>
              <a:rPr dirty="0" err="1"/>
              <a:t>위험군으로</a:t>
            </a:r>
            <a:r>
              <a:rPr dirty="0"/>
              <a:t> </a:t>
            </a:r>
            <a:r>
              <a:rPr dirty="0" err="1"/>
              <a:t>잘못</a:t>
            </a:r>
            <a:r>
              <a:rPr dirty="0"/>
              <a:t> </a:t>
            </a:r>
            <a:r>
              <a:rPr dirty="0" err="1"/>
              <a:t>분류되는</a:t>
            </a:r>
            <a:r>
              <a:rPr dirty="0"/>
              <a:t> </a:t>
            </a:r>
            <a:r>
              <a:rPr dirty="0" err="1"/>
              <a:t>사람</a:t>
            </a:r>
            <a:r>
              <a:rPr dirty="0"/>
              <a:t>(FP)'이 </a:t>
            </a:r>
            <a:r>
              <a:rPr dirty="0" err="1"/>
              <a:t>훨씬</a:t>
            </a:r>
            <a:r>
              <a:rPr dirty="0"/>
              <a:t> </a:t>
            </a:r>
            <a:r>
              <a:rPr dirty="0" err="1"/>
              <a:t>많이</a:t>
            </a:r>
            <a:r>
              <a:rPr dirty="0"/>
              <a:t> </a:t>
            </a:r>
            <a:r>
              <a:rPr dirty="0" err="1"/>
              <a:t>늘어납니다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예를</a:t>
            </a:r>
            <a:r>
              <a:rPr dirty="0"/>
              <a:t> </a:t>
            </a:r>
            <a:r>
              <a:rPr dirty="0" err="1"/>
              <a:t>들어</a:t>
            </a:r>
            <a:r>
              <a:rPr dirty="0"/>
              <a:t> </a:t>
            </a:r>
            <a:r>
              <a:rPr dirty="0" err="1"/>
              <a:t>내부</a:t>
            </a:r>
            <a:r>
              <a:rPr dirty="0"/>
              <a:t> </a:t>
            </a:r>
            <a:r>
              <a:rPr dirty="0" err="1"/>
              <a:t>데이터에서</a:t>
            </a:r>
            <a:r>
              <a:rPr dirty="0"/>
              <a:t> 85%→90%로 </a:t>
            </a:r>
            <a:r>
              <a:rPr dirty="0" err="1"/>
              <a:t>올리면</a:t>
            </a:r>
            <a:r>
              <a:rPr dirty="0"/>
              <a:t> </a:t>
            </a:r>
            <a:r>
              <a:rPr dirty="0" err="1"/>
              <a:t>놓치는</a:t>
            </a:r>
            <a:r>
              <a:rPr dirty="0"/>
              <a:t> </a:t>
            </a:r>
            <a:r>
              <a:rPr dirty="0" err="1"/>
              <a:t>환자는</a:t>
            </a:r>
            <a:r>
              <a:rPr dirty="0"/>
              <a:t> 7명 </a:t>
            </a:r>
            <a:r>
              <a:rPr dirty="0" err="1"/>
              <a:t>줄지만</a:t>
            </a:r>
            <a:r>
              <a:rPr dirty="0"/>
              <a:t> </a:t>
            </a:r>
            <a:r>
              <a:rPr dirty="0" err="1"/>
              <a:t>잘못</a:t>
            </a:r>
            <a:r>
              <a:rPr dirty="0"/>
              <a:t> </a:t>
            </a:r>
            <a:r>
              <a:rPr dirty="0" err="1"/>
              <a:t>분류되는</a:t>
            </a:r>
            <a:r>
              <a:rPr dirty="0"/>
              <a:t> </a:t>
            </a:r>
            <a:r>
              <a:rPr dirty="0" err="1"/>
              <a:t>사람은</a:t>
            </a:r>
            <a:r>
              <a:rPr dirty="0"/>
              <a:t> 97명 </a:t>
            </a:r>
            <a:r>
              <a:rPr dirty="0" err="1"/>
              <a:t>늘어나서</a:t>
            </a:r>
            <a:r>
              <a:rPr dirty="0"/>
              <a:t>, </a:t>
            </a:r>
            <a:r>
              <a:rPr dirty="0" err="1"/>
              <a:t>환자</a:t>
            </a:r>
            <a:r>
              <a:rPr dirty="0"/>
              <a:t> 1명을 덜 </a:t>
            </a:r>
            <a:r>
              <a:rPr dirty="0" err="1"/>
              <a:t>놓치려고</a:t>
            </a:r>
            <a:r>
              <a:rPr dirty="0"/>
              <a:t> 13.9명을 더 </a:t>
            </a:r>
            <a:r>
              <a:rPr dirty="0" err="1"/>
              <a:t>검사해야</a:t>
            </a:r>
            <a:r>
              <a:rPr dirty="0"/>
              <a:t> </a:t>
            </a:r>
            <a:r>
              <a:rPr dirty="0" err="1"/>
              <a:t>하는</a:t>
            </a:r>
            <a:r>
              <a:rPr dirty="0"/>
              <a:t> </a:t>
            </a:r>
            <a:r>
              <a:rPr dirty="0" err="1"/>
              <a:t>셈입니다</a:t>
            </a:r>
            <a:r>
              <a:rPr dirty="0"/>
              <a:t>. 90%→95%로 한 번 더 </a:t>
            </a:r>
            <a:r>
              <a:rPr dirty="0" err="1"/>
              <a:t>올리면</a:t>
            </a:r>
            <a:r>
              <a:rPr dirty="0"/>
              <a:t> 이 '</a:t>
            </a:r>
            <a:r>
              <a:rPr dirty="0" err="1"/>
              <a:t>대가'가</a:t>
            </a:r>
            <a:r>
              <a:rPr dirty="0"/>
              <a:t> 22.5명으로 더 </a:t>
            </a:r>
            <a:r>
              <a:rPr dirty="0" err="1"/>
              <a:t>커집니다</a:t>
            </a:r>
            <a:r>
              <a:rPr dirty="0"/>
              <a:t>. 즉 </a:t>
            </a:r>
            <a:r>
              <a:rPr dirty="0" err="1"/>
              <a:t>기준선을</a:t>
            </a:r>
            <a:r>
              <a:rPr dirty="0"/>
              <a:t> </a:t>
            </a:r>
            <a:r>
              <a:rPr dirty="0" err="1"/>
              <a:t>높일수록</a:t>
            </a:r>
            <a:r>
              <a:rPr dirty="0"/>
              <a:t> </a:t>
            </a:r>
            <a:r>
              <a:rPr dirty="0" err="1"/>
              <a:t>효율이</a:t>
            </a:r>
            <a:r>
              <a:rPr dirty="0"/>
              <a:t> </a:t>
            </a:r>
            <a:r>
              <a:rPr dirty="0" err="1"/>
              <a:t>나빠지는</a:t>
            </a:r>
            <a:r>
              <a:rPr dirty="0"/>
              <a:t> </a:t>
            </a:r>
            <a:r>
              <a:rPr dirty="0" err="1"/>
              <a:t>속도가</a:t>
            </a:r>
            <a:r>
              <a:rPr dirty="0"/>
              <a:t> 더 </a:t>
            </a:r>
            <a:r>
              <a:rPr dirty="0" err="1"/>
              <a:t>빨라집니다</a:t>
            </a:r>
            <a:r>
              <a:rPr dirty="0"/>
              <a:t>. </a:t>
            </a:r>
            <a:r>
              <a:rPr dirty="0" err="1"/>
              <a:t>그래서</a:t>
            </a:r>
            <a:r>
              <a:rPr dirty="0"/>
              <a:t> </a:t>
            </a:r>
            <a:r>
              <a:rPr dirty="0" err="1"/>
              <a:t>손해가</a:t>
            </a:r>
            <a:r>
              <a:rPr dirty="0"/>
              <a:t> </a:t>
            </a:r>
            <a:r>
              <a:rPr dirty="0" err="1"/>
              <a:t>급격히</a:t>
            </a:r>
            <a:r>
              <a:rPr dirty="0"/>
              <a:t> </a:t>
            </a:r>
            <a:r>
              <a:rPr dirty="0" err="1"/>
              <a:t>커지기</a:t>
            </a:r>
            <a:r>
              <a:rPr dirty="0"/>
              <a:t> </a:t>
            </a:r>
            <a:r>
              <a:rPr dirty="0" err="1"/>
              <a:t>직전인</a:t>
            </a:r>
            <a:r>
              <a:rPr dirty="0"/>
              <a:t> 90%에서 </a:t>
            </a:r>
            <a:r>
              <a:rPr dirty="0" err="1"/>
              <a:t>멈추는</a:t>
            </a:r>
            <a:r>
              <a:rPr dirty="0"/>
              <a:t> </a:t>
            </a:r>
            <a:r>
              <a:rPr dirty="0" err="1"/>
              <a:t>것이</a:t>
            </a:r>
            <a:r>
              <a:rPr dirty="0"/>
              <a:t> </a:t>
            </a:r>
            <a:r>
              <a:rPr dirty="0" err="1"/>
              <a:t>합리적입니다</a:t>
            </a:r>
            <a:r>
              <a:rPr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5C813B-11BA-4EE2-3BF1-E7986A587F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919266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127EA-DB53-0301-0ACD-39763E95F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3F611E-21FB-8AA8-ECB2-7F8B703049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5DE818-1386-6F94-27FF-C5AEAB6771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Sensitivity(</a:t>
            </a:r>
            <a:r>
              <a:rPr dirty="0" err="1"/>
              <a:t>민감도</a:t>
            </a:r>
            <a:r>
              <a:rPr dirty="0"/>
              <a:t>) 90% </a:t>
            </a:r>
            <a:r>
              <a:rPr dirty="0" err="1"/>
              <a:t>기준선으로</a:t>
            </a:r>
            <a:r>
              <a:rPr dirty="0"/>
              <a:t> </a:t>
            </a:r>
            <a:r>
              <a:rPr dirty="0" err="1"/>
              <a:t>환자를</a:t>
            </a:r>
            <a:r>
              <a:rPr dirty="0"/>
              <a:t> Positive(</a:t>
            </a:r>
            <a:r>
              <a:rPr dirty="0" err="1"/>
              <a:t>위험군</a:t>
            </a:r>
            <a:r>
              <a:rPr dirty="0"/>
              <a:t>)와 Negative(</a:t>
            </a:r>
            <a:r>
              <a:rPr dirty="0" err="1"/>
              <a:t>정상군</a:t>
            </a:r>
            <a:r>
              <a:rPr dirty="0"/>
              <a:t>)로 </a:t>
            </a:r>
            <a:r>
              <a:rPr dirty="0" err="1"/>
              <a:t>나눈</a:t>
            </a:r>
            <a:r>
              <a:rPr dirty="0"/>
              <a:t> </a:t>
            </a:r>
            <a:r>
              <a:rPr dirty="0" err="1"/>
              <a:t>결과표</a:t>
            </a:r>
            <a:r>
              <a:rPr dirty="0"/>
              <a:t>, confusion </a:t>
            </a:r>
            <a:r>
              <a:rPr dirty="0" err="1"/>
              <a:t>matrix입니다</a:t>
            </a:r>
            <a:r>
              <a:rPr dirty="0"/>
              <a:t>. </a:t>
            </a:r>
            <a:r>
              <a:rPr lang="ko-KR" altLang="en-US" dirty="0"/>
              <a:t>이상태에서의 </a:t>
            </a:r>
            <a:r>
              <a:rPr dirty="0" err="1"/>
              <a:t>NPV가</a:t>
            </a:r>
            <a:r>
              <a:rPr dirty="0"/>
              <a:t> </a:t>
            </a:r>
            <a:r>
              <a:rPr dirty="0" err="1"/>
              <a:t>내부</a:t>
            </a:r>
            <a:r>
              <a:rPr dirty="0"/>
              <a:t> 97.7%, </a:t>
            </a:r>
            <a:r>
              <a:rPr dirty="0" err="1"/>
              <a:t>외부</a:t>
            </a:r>
            <a:r>
              <a:rPr dirty="0"/>
              <a:t> 97.5%로 </a:t>
            </a:r>
            <a:r>
              <a:rPr dirty="0" err="1"/>
              <a:t>이미</a:t>
            </a:r>
            <a:r>
              <a:rPr dirty="0"/>
              <a:t> </a:t>
            </a:r>
            <a:r>
              <a:rPr dirty="0" err="1"/>
              <a:t>충분히</a:t>
            </a:r>
            <a:r>
              <a:rPr dirty="0"/>
              <a:t> </a:t>
            </a:r>
            <a:r>
              <a:rPr dirty="0" err="1"/>
              <a:t>높아</a:t>
            </a:r>
            <a:r>
              <a:rPr dirty="0"/>
              <a:t> 이 </a:t>
            </a:r>
            <a:r>
              <a:rPr dirty="0" err="1"/>
              <a:t>그룹은</a:t>
            </a:r>
            <a:r>
              <a:rPr dirty="0"/>
              <a:t> 더 </a:t>
            </a:r>
            <a:r>
              <a:rPr dirty="0" err="1"/>
              <a:t>손댈</a:t>
            </a:r>
            <a:r>
              <a:rPr dirty="0"/>
              <a:t> </a:t>
            </a:r>
            <a:r>
              <a:rPr dirty="0" err="1"/>
              <a:t>필요가</a:t>
            </a:r>
            <a:r>
              <a:rPr dirty="0"/>
              <a:t> </a:t>
            </a:r>
            <a:r>
              <a:rPr dirty="0" err="1"/>
              <a:t>없습니다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문제는</a:t>
            </a:r>
            <a:r>
              <a:rPr dirty="0"/>
              <a:t> </a:t>
            </a:r>
            <a:r>
              <a:rPr dirty="0" err="1"/>
              <a:t>Positive로</a:t>
            </a:r>
            <a:r>
              <a:rPr dirty="0"/>
              <a:t> </a:t>
            </a:r>
            <a:r>
              <a:rPr dirty="0" err="1"/>
              <a:t>분류된</a:t>
            </a:r>
            <a:r>
              <a:rPr dirty="0"/>
              <a:t> </a:t>
            </a:r>
            <a:r>
              <a:rPr dirty="0" err="1"/>
              <a:t>쪽입니다</a:t>
            </a:r>
            <a:r>
              <a:rPr dirty="0"/>
              <a:t>. 이 중 </a:t>
            </a:r>
            <a:r>
              <a:rPr dirty="0" err="1"/>
              <a:t>실제로</a:t>
            </a:r>
            <a:r>
              <a:rPr dirty="0"/>
              <a:t> </a:t>
            </a:r>
            <a:r>
              <a:rPr dirty="0" err="1"/>
              <a:t>위험군</a:t>
            </a:r>
            <a:r>
              <a:rPr dirty="0"/>
              <a:t>(TP)인 </a:t>
            </a:r>
            <a:r>
              <a:rPr dirty="0" err="1"/>
              <a:t>사람의</a:t>
            </a:r>
            <a:r>
              <a:rPr dirty="0"/>
              <a:t> </a:t>
            </a:r>
            <a:r>
              <a:rPr dirty="0" err="1"/>
              <a:t>비율</a:t>
            </a:r>
            <a:r>
              <a:rPr dirty="0"/>
              <a:t>, PPV(Positive Predictive Value)가 </a:t>
            </a:r>
            <a:r>
              <a:rPr dirty="0" err="1"/>
              <a:t>내부</a:t>
            </a:r>
            <a:r>
              <a:rPr dirty="0"/>
              <a:t> 20.7%, </a:t>
            </a:r>
            <a:r>
              <a:rPr dirty="0" err="1"/>
              <a:t>외부</a:t>
            </a:r>
            <a:r>
              <a:rPr dirty="0"/>
              <a:t> 24.8%밖에 안 </a:t>
            </a:r>
            <a:r>
              <a:rPr dirty="0" err="1"/>
              <a:t>됩니다</a:t>
            </a:r>
            <a:r>
              <a:rPr dirty="0"/>
              <a:t>. </a:t>
            </a:r>
            <a:r>
              <a:rPr dirty="0" err="1"/>
              <a:t>그래서</a:t>
            </a:r>
            <a:r>
              <a:rPr dirty="0"/>
              <a:t> </a:t>
            </a:r>
            <a:r>
              <a:rPr dirty="0" err="1"/>
              <a:t>이후</a:t>
            </a:r>
            <a:r>
              <a:rPr dirty="0"/>
              <a:t> </a:t>
            </a:r>
            <a:r>
              <a:rPr dirty="0" err="1"/>
              <a:t>분석</a:t>
            </a:r>
            <a:r>
              <a:rPr dirty="0"/>
              <a:t>(Stage-2)은 </a:t>
            </a:r>
            <a:r>
              <a:rPr dirty="0" err="1"/>
              <a:t>Positive로</a:t>
            </a:r>
            <a:r>
              <a:rPr dirty="0"/>
              <a:t> </a:t>
            </a:r>
            <a:r>
              <a:rPr dirty="0" err="1"/>
              <a:t>분류된</a:t>
            </a:r>
            <a:r>
              <a:rPr dirty="0"/>
              <a:t> </a:t>
            </a:r>
            <a:r>
              <a:rPr dirty="0" err="1"/>
              <a:t>사람들만</a:t>
            </a:r>
            <a:r>
              <a:rPr dirty="0"/>
              <a:t> </a:t>
            </a:r>
            <a:r>
              <a:rPr dirty="0" err="1"/>
              <a:t>대상으로</a:t>
            </a:r>
            <a:r>
              <a:rPr dirty="0"/>
              <a:t>, 그 </a:t>
            </a:r>
            <a:r>
              <a:rPr dirty="0" err="1"/>
              <a:t>안에서</a:t>
            </a:r>
            <a:r>
              <a:rPr dirty="0"/>
              <a:t> </a:t>
            </a:r>
            <a:r>
              <a:rPr dirty="0" err="1"/>
              <a:t>TP와</a:t>
            </a:r>
            <a:r>
              <a:rPr dirty="0"/>
              <a:t> </a:t>
            </a:r>
            <a:r>
              <a:rPr dirty="0" err="1"/>
              <a:t>FP를</a:t>
            </a:r>
            <a:r>
              <a:rPr dirty="0"/>
              <a:t> 더 </a:t>
            </a:r>
            <a:r>
              <a:rPr dirty="0" err="1"/>
              <a:t>정확히</a:t>
            </a:r>
            <a:r>
              <a:rPr dirty="0"/>
              <a:t> </a:t>
            </a:r>
            <a:r>
              <a:rPr dirty="0" err="1"/>
              <a:t>가려내는</a:t>
            </a:r>
            <a:r>
              <a:rPr dirty="0"/>
              <a:t> </a:t>
            </a:r>
            <a:r>
              <a:rPr dirty="0" err="1"/>
              <a:t>것을</a:t>
            </a:r>
            <a:r>
              <a:rPr dirty="0"/>
              <a:t> </a:t>
            </a:r>
            <a:r>
              <a:rPr dirty="0" err="1"/>
              <a:t>목표로</a:t>
            </a:r>
            <a:r>
              <a:rPr dirty="0"/>
              <a:t> </a:t>
            </a:r>
            <a:r>
              <a:rPr dirty="0" err="1"/>
              <a:t>합니다</a:t>
            </a:r>
            <a:r>
              <a:rPr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2AE8E6-DCA5-B91C-154B-33F9AEF139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993858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83C6F-81C2-4881-265B-DC90DB117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4360F5-78A5-F8F2-3AF1-E6B8A31113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EBFA01-DC83-FA69-1A52-247DA37A5A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이 </a:t>
            </a:r>
            <a:r>
              <a:rPr dirty="0" err="1"/>
              <a:t>표는</a:t>
            </a:r>
            <a:r>
              <a:rPr dirty="0"/>
              <a:t> TP·FP·TN </a:t>
            </a:r>
            <a:r>
              <a:rPr dirty="0" err="1"/>
              <a:t>그룹</a:t>
            </a:r>
            <a:r>
              <a:rPr dirty="0"/>
              <a:t> </a:t>
            </a:r>
            <a:r>
              <a:rPr dirty="0" err="1"/>
              <a:t>간에</a:t>
            </a:r>
            <a:r>
              <a:rPr dirty="0"/>
              <a:t> AEC </a:t>
            </a:r>
            <a:r>
              <a:rPr dirty="0" err="1"/>
              <a:t>곡선의</a:t>
            </a:r>
            <a:r>
              <a:rPr dirty="0"/>
              <a:t> </a:t>
            </a:r>
            <a:r>
              <a:rPr dirty="0" err="1"/>
              <a:t>모양이</a:t>
            </a:r>
            <a:r>
              <a:rPr dirty="0"/>
              <a:t> </a:t>
            </a:r>
            <a:r>
              <a:rPr dirty="0" err="1"/>
              <a:t>통계적으로</a:t>
            </a:r>
            <a:r>
              <a:rPr dirty="0"/>
              <a:t> </a:t>
            </a:r>
            <a:r>
              <a:rPr dirty="0" err="1"/>
              <a:t>다른지</a:t>
            </a:r>
            <a:r>
              <a:rPr dirty="0"/>
              <a:t> </a:t>
            </a:r>
            <a:r>
              <a:rPr dirty="0" err="1"/>
              <a:t>검정한</a:t>
            </a:r>
            <a:r>
              <a:rPr dirty="0"/>
              <a:t> </a:t>
            </a:r>
            <a:r>
              <a:rPr dirty="0" err="1"/>
              <a:t>결과입니다</a:t>
            </a:r>
            <a:r>
              <a:rPr dirty="0"/>
              <a:t>. p=</a:t>
            </a:r>
            <a:r>
              <a:rPr dirty="0" err="1"/>
              <a:t>원곡선</a:t>
            </a:r>
            <a:r>
              <a:rPr dirty="0"/>
              <a:t> </a:t>
            </a:r>
            <a:r>
              <a:rPr dirty="0" err="1"/>
              <a:t>그대로</a:t>
            </a:r>
            <a:r>
              <a:rPr dirty="0"/>
              <a:t> </a:t>
            </a:r>
            <a:r>
              <a:rPr dirty="0" err="1"/>
              <a:t>비교</a:t>
            </a:r>
            <a:r>
              <a:rPr dirty="0"/>
              <a:t>, </a:t>
            </a:r>
            <a:r>
              <a:rPr dirty="0" err="1"/>
              <a:t>dp</a:t>
            </a:r>
            <a:r>
              <a:rPr dirty="0"/>
              <a:t>=</a:t>
            </a:r>
            <a:r>
              <a:rPr dirty="0" err="1"/>
              <a:t>곡선의</a:t>
            </a:r>
            <a:r>
              <a:rPr dirty="0"/>
              <a:t> </a:t>
            </a:r>
            <a:r>
              <a:rPr dirty="0" err="1"/>
              <a:t>기울기</a:t>
            </a:r>
            <a:r>
              <a:rPr dirty="0"/>
              <a:t>(</a:t>
            </a:r>
            <a:r>
              <a:rPr dirty="0" err="1"/>
              <a:t>변화율</a:t>
            </a:r>
            <a:r>
              <a:rPr dirty="0"/>
              <a:t>) </a:t>
            </a:r>
            <a:r>
              <a:rPr dirty="0" err="1"/>
              <a:t>비교</a:t>
            </a:r>
            <a:r>
              <a:rPr dirty="0"/>
              <a:t>, d2p=</a:t>
            </a:r>
            <a:r>
              <a:rPr dirty="0" err="1"/>
              <a:t>기울기의</a:t>
            </a:r>
            <a:r>
              <a:rPr dirty="0"/>
              <a:t> </a:t>
            </a:r>
            <a:r>
              <a:rPr dirty="0" err="1"/>
              <a:t>변화</a:t>
            </a:r>
            <a:r>
              <a:rPr dirty="0"/>
              <a:t>(</a:t>
            </a:r>
            <a:r>
              <a:rPr dirty="0" err="1"/>
              <a:t>곡률</a:t>
            </a:r>
            <a:r>
              <a:rPr dirty="0"/>
              <a:t>) </a:t>
            </a:r>
            <a:r>
              <a:rPr dirty="0" err="1"/>
              <a:t>비교</a:t>
            </a:r>
            <a:r>
              <a:rPr dirty="0"/>
              <a:t>. </a:t>
            </a:r>
            <a:r>
              <a:rPr dirty="0" err="1"/>
              <a:t>RMSD는</a:t>
            </a:r>
            <a:r>
              <a:rPr dirty="0"/>
              <a:t> 두 </a:t>
            </a:r>
            <a:r>
              <a:rPr dirty="0" err="1"/>
              <a:t>그룹</a:t>
            </a:r>
            <a:r>
              <a:rPr dirty="0"/>
              <a:t> </a:t>
            </a:r>
            <a:r>
              <a:rPr dirty="0" err="1"/>
              <a:t>평균</a:t>
            </a:r>
            <a:r>
              <a:rPr dirty="0"/>
              <a:t> </a:t>
            </a:r>
            <a:r>
              <a:rPr dirty="0" err="1"/>
              <a:t>곡선이</a:t>
            </a:r>
            <a:r>
              <a:rPr dirty="0"/>
              <a:t> </a:t>
            </a:r>
            <a:r>
              <a:rPr dirty="0" err="1"/>
              <a:t>얼마나</a:t>
            </a:r>
            <a:r>
              <a:rPr dirty="0"/>
              <a:t> </a:t>
            </a:r>
            <a:r>
              <a:rPr dirty="0" err="1"/>
              <a:t>차이</a:t>
            </a:r>
            <a:r>
              <a:rPr dirty="0"/>
              <a:t> </a:t>
            </a:r>
            <a:r>
              <a:rPr dirty="0" err="1"/>
              <a:t>나는지를</a:t>
            </a:r>
            <a:r>
              <a:rPr dirty="0"/>
              <a:t> </a:t>
            </a:r>
            <a:r>
              <a:rPr dirty="0" err="1"/>
              <a:t>나타내는</a:t>
            </a:r>
            <a:r>
              <a:rPr dirty="0"/>
              <a:t> </a:t>
            </a:r>
            <a:r>
              <a:rPr dirty="0" err="1"/>
              <a:t>숫자</a:t>
            </a:r>
            <a:r>
              <a:rPr dirty="0"/>
              <a:t>(</a:t>
            </a:r>
            <a:r>
              <a:rPr dirty="0" err="1"/>
              <a:t>클수록</a:t>
            </a:r>
            <a:r>
              <a:rPr dirty="0"/>
              <a:t> </a:t>
            </a:r>
            <a:r>
              <a:rPr dirty="0" err="1"/>
              <a:t>다름</a:t>
            </a:r>
            <a:r>
              <a:rPr dirty="0"/>
              <a:t>)</a:t>
            </a:r>
            <a:r>
              <a:rPr dirty="0" err="1"/>
              <a:t>이고</a:t>
            </a:r>
            <a:r>
              <a:rPr dirty="0"/>
              <a:t>, p-</a:t>
            </a:r>
            <a:r>
              <a:rPr dirty="0" err="1"/>
              <a:t>value는</a:t>
            </a:r>
            <a:r>
              <a:rPr dirty="0"/>
              <a:t> '이 </a:t>
            </a:r>
            <a:r>
              <a:rPr dirty="0" err="1"/>
              <a:t>정도</a:t>
            </a:r>
            <a:r>
              <a:rPr dirty="0"/>
              <a:t> </a:t>
            </a:r>
            <a:r>
              <a:rPr dirty="0" err="1"/>
              <a:t>차이가</a:t>
            </a:r>
            <a:r>
              <a:rPr dirty="0"/>
              <a:t> </a:t>
            </a:r>
            <a:r>
              <a:rPr dirty="0" err="1"/>
              <a:t>우연히</a:t>
            </a:r>
            <a:r>
              <a:rPr dirty="0"/>
              <a:t> </a:t>
            </a:r>
            <a:r>
              <a:rPr dirty="0" err="1"/>
              <a:t>나올</a:t>
            </a:r>
            <a:r>
              <a:rPr dirty="0"/>
              <a:t> </a:t>
            </a:r>
            <a:r>
              <a:rPr dirty="0" err="1"/>
              <a:t>확률'입니다</a:t>
            </a:r>
            <a:r>
              <a:rPr dirty="0"/>
              <a:t>(0.05보다 </a:t>
            </a:r>
            <a:r>
              <a:rPr dirty="0" err="1"/>
              <a:t>작으면</a:t>
            </a:r>
            <a:r>
              <a:rPr dirty="0"/>
              <a:t> </a:t>
            </a:r>
            <a:r>
              <a:rPr dirty="0" err="1"/>
              <a:t>우연이</a:t>
            </a:r>
            <a:r>
              <a:rPr dirty="0"/>
              <a:t> </a:t>
            </a:r>
            <a:r>
              <a:rPr dirty="0" err="1"/>
              <a:t>아니라고</a:t>
            </a:r>
            <a:r>
              <a:rPr dirty="0"/>
              <a:t> </a:t>
            </a:r>
            <a:r>
              <a:rPr dirty="0" err="1"/>
              <a:t>보고</a:t>
            </a:r>
            <a:r>
              <a:rPr dirty="0"/>
              <a:t> '</a:t>
            </a:r>
            <a:r>
              <a:rPr dirty="0" err="1"/>
              <a:t>유의'하다고</a:t>
            </a:r>
            <a:r>
              <a:rPr dirty="0"/>
              <a:t> </a:t>
            </a:r>
            <a:r>
              <a:rPr dirty="0" err="1"/>
              <a:t>부릅니다</a:t>
            </a:r>
            <a:r>
              <a:rPr dirty="0"/>
              <a:t>).</a:t>
            </a:r>
          </a:p>
          <a:p>
            <a:endParaRPr dirty="0"/>
          </a:p>
          <a:p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결과</a:t>
            </a:r>
            <a:r>
              <a:rPr dirty="0"/>
              <a:t>: </a:t>
            </a:r>
            <a:r>
              <a:rPr dirty="0" err="1"/>
              <a:t>위험군</a:t>
            </a:r>
            <a:r>
              <a:rPr dirty="0"/>
              <a:t>(TP·FP)을 </a:t>
            </a:r>
            <a:r>
              <a:rPr dirty="0" err="1"/>
              <a:t>각각</a:t>
            </a:r>
            <a:r>
              <a:rPr dirty="0"/>
              <a:t> </a:t>
            </a:r>
            <a:r>
              <a:rPr dirty="0" err="1"/>
              <a:t>정상군</a:t>
            </a:r>
            <a:r>
              <a:rPr dirty="0"/>
              <a:t>(TN)과 </a:t>
            </a:r>
            <a:r>
              <a:rPr dirty="0" err="1"/>
              <a:t>비교하면</a:t>
            </a:r>
            <a:r>
              <a:rPr dirty="0"/>
              <a:t> </a:t>
            </a:r>
            <a:r>
              <a:rPr dirty="0" err="1"/>
              <a:t>뚜렷하게</a:t>
            </a:r>
            <a:r>
              <a:rPr dirty="0"/>
              <a:t> </a:t>
            </a:r>
            <a:r>
              <a:rPr dirty="0" err="1"/>
              <a:t>다릅니다</a:t>
            </a:r>
            <a:r>
              <a:rPr dirty="0"/>
              <a:t>(p&lt;0.01, 각 표 첫 두 줄). </a:t>
            </a:r>
            <a:r>
              <a:rPr dirty="0" err="1"/>
              <a:t>그런데</a:t>
            </a:r>
            <a:r>
              <a:rPr dirty="0"/>
              <a:t> </a:t>
            </a:r>
            <a:r>
              <a:rPr dirty="0" err="1"/>
              <a:t>정작</a:t>
            </a:r>
            <a:r>
              <a:rPr dirty="0"/>
              <a:t> </a:t>
            </a:r>
            <a:r>
              <a:rPr dirty="0" err="1"/>
              <a:t>구별하고</a:t>
            </a:r>
            <a:r>
              <a:rPr dirty="0"/>
              <a:t> </a:t>
            </a:r>
            <a:r>
              <a:rPr dirty="0" err="1"/>
              <a:t>싶은</a:t>
            </a:r>
            <a:r>
              <a:rPr dirty="0"/>
              <a:t> 'TP vs FP'(</a:t>
            </a:r>
            <a:r>
              <a:rPr dirty="0" err="1"/>
              <a:t>진짜</a:t>
            </a:r>
            <a:r>
              <a:rPr dirty="0"/>
              <a:t> </a:t>
            </a:r>
            <a:r>
              <a:rPr dirty="0" err="1"/>
              <a:t>위험군</a:t>
            </a:r>
            <a:r>
              <a:rPr dirty="0"/>
              <a:t> vs </a:t>
            </a:r>
            <a:r>
              <a:rPr dirty="0" err="1"/>
              <a:t>가짜</a:t>
            </a:r>
            <a:r>
              <a:rPr dirty="0"/>
              <a:t> </a:t>
            </a:r>
            <a:r>
              <a:rPr dirty="0" err="1"/>
              <a:t>위험군</a:t>
            </a:r>
            <a:r>
              <a:rPr dirty="0"/>
              <a:t>)는 </a:t>
            </a:r>
            <a:r>
              <a:rPr dirty="0" err="1"/>
              <a:t>강남에서는</a:t>
            </a:r>
            <a:r>
              <a:rPr dirty="0"/>
              <a:t> </a:t>
            </a:r>
            <a:r>
              <a:rPr dirty="0" err="1"/>
              <a:t>원곡선</a:t>
            </a:r>
            <a:r>
              <a:rPr dirty="0"/>
              <a:t>/</a:t>
            </a:r>
            <a:r>
              <a:rPr dirty="0" err="1"/>
              <a:t>기울기</a:t>
            </a:r>
            <a:r>
              <a:rPr dirty="0"/>
              <a:t>/</a:t>
            </a:r>
            <a:r>
              <a:rPr dirty="0" err="1"/>
              <a:t>곡률</a:t>
            </a:r>
            <a:r>
              <a:rPr dirty="0"/>
              <a:t> 셋 다 </a:t>
            </a:r>
            <a:r>
              <a:rPr dirty="0" err="1"/>
              <a:t>유의하지</a:t>
            </a:r>
            <a:r>
              <a:rPr dirty="0"/>
              <a:t> </a:t>
            </a:r>
            <a:r>
              <a:rPr dirty="0" err="1"/>
              <a:t>않고</a:t>
            </a:r>
            <a:r>
              <a:rPr dirty="0"/>
              <a:t>(p=0.227/0.155/0.199), </a:t>
            </a:r>
            <a:r>
              <a:rPr dirty="0" err="1"/>
              <a:t>신촌에서는</a:t>
            </a:r>
            <a:r>
              <a:rPr dirty="0"/>
              <a:t> </a:t>
            </a:r>
            <a:r>
              <a:rPr dirty="0" err="1"/>
              <a:t>원곡선과</a:t>
            </a:r>
            <a:r>
              <a:rPr dirty="0"/>
              <a:t> </a:t>
            </a:r>
            <a:r>
              <a:rPr dirty="0" err="1"/>
              <a:t>기울기만</a:t>
            </a:r>
            <a:r>
              <a:rPr dirty="0"/>
              <a:t> </a:t>
            </a:r>
            <a:r>
              <a:rPr dirty="0" err="1"/>
              <a:t>약하게</a:t>
            </a:r>
            <a:r>
              <a:rPr dirty="0"/>
              <a:t> </a:t>
            </a:r>
            <a:r>
              <a:rPr dirty="0" err="1"/>
              <a:t>유의합니다</a:t>
            </a:r>
            <a:r>
              <a:rPr dirty="0"/>
              <a:t>(p=0.0175/0.005). '(</a:t>
            </a:r>
            <a:r>
              <a:rPr dirty="0" err="1"/>
              <a:t>psm</a:t>
            </a:r>
            <a:r>
              <a:rPr dirty="0"/>
              <a:t>)' </a:t>
            </a:r>
            <a:r>
              <a:rPr dirty="0" err="1"/>
              <a:t>표시는</a:t>
            </a:r>
            <a:r>
              <a:rPr dirty="0"/>
              <a:t> </a:t>
            </a:r>
            <a:r>
              <a:rPr dirty="0" err="1"/>
              <a:t>성별·나이·키·체중이</a:t>
            </a:r>
            <a:r>
              <a:rPr dirty="0"/>
              <a:t> </a:t>
            </a:r>
            <a:r>
              <a:rPr dirty="0" err="1"/>
              <a:t>비슷한</a:t>
            </a:r>
            <a:r>
              <a:rPr dirty="0"/>
              <a:t> </a:t>
            </a:r>
            <a:r>
              <a:rPr dirty="0" err="1"/>
              <a:t>환자끼리</a:t>
            </a:r>
            <a:r>
              <a:rPr dirty="0"/>
              <a:t> </a:t>
            </a:r>
            <a:r>
              <a:rPr dirty="0" err="1"/>
              <a:t>미리</a:t>
            </a:r>
            <a:r>
              <a:rPr dirty="0"/>
              <a:t> </a:t>
            </a:r>
            <a:r>
              <a:rPr dirty="0" err="1"/>
              <a:t>짝지어</a:t>
            </a:r>
            <a:r>
              <a:rPr dirty="0"/>
              <a:t>(propensity matching) </a:t>
            </a:r>
            <a:r>
              <a:rPr dirty="0" err="1"/>
              <a:t>비교한</a:t>
            </a:r>
            <a:r>
              <a:rPr dirty="0"/>
              <a:t> </a:t>
            </a:r>
            <a:r>
              <a:rPr dirty="0" err="1"/>
              <a:t>결과인데</a:t>
            </a:r>
            <a:r>
              <a:rPr dirty="0"/>
              <a:t>, </a:t>
            </a:r>
            <a:r>
              <a:rPr dirty="0" err="1"/>
              <a:t>짝지은</a:t>
            </a:r>
            <a:r>
              <a:rPr dirty="0"/>
              <a:t> </a:t>
            </a:r>
            <a:r>
              <a:rPr dirty="0" err="1"/>
              <a:t>뒤에도</a:t>
            </a:r>
            <a:r>
              <a:rPr dirty="0"/>
              <a:t> </a:t>
            </a:r>
            <a:r>
              <a:rPr dirty="0" err="1"/>
              <a:t>신촌은</a:t>
            </a:r>
            <a:r>
              <a:rPr dirty="0"/>
              <a:t> </a:t>
            </a:r>
            <a:r>
              <a:rPr dirty="0" err="1"/>
              <a:t>여전히</a:t>
            </a:r>
            <a:r>
              <a:rPr dirty="0"/>
              <a:t> </a:t>
            </a:r>
            <a:r>
              <a:rPr dirty="0" err="1"/>
              <a:t>유의하게</a:t>
            </a:r>
            <a:r>
              <a:rPr dirty="0"/>
              <a:t> </a:t>
            </a:r>
            <a:r>
              <a:rPr dirty="0" err="1"/>
              <a:t>남아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(슬라이드8에서 더 </a:t>
            </a:r>
            <a:r>
              <a:rPr dirty="0" err="1"/>
              <a:t>자세히</a:t>
            </a:r>
            <a:r>
              <a:rPr dirty="0"/>
              <a:t> </a:t>
            </a:r>
            <a:r>
              <a:rPr dirty="0" err="1"/>
              <a:t>다룸</a:t>
            </a:r>
            <a:r>
              <a:rPr dirty="0"/>
              <a:t>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70E2E4-AEC5-C29D-5657-714969E154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085646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TP(True Positive)와 FP(False Positive)의 AEC 곡선을 원본 그대로(매칭 없이) 겹쳐 그린 그림입니다. 슬라이드5에서 본 것처럼 두 곡선이 육안으로도 비슷해 보이고 통계적으로도 뚜렷한 차이가 없습니다(강남 p=0.227, 신촌 p=0.0175로 신촌만 약하게 유의). 즉 AEC 곡선 하나만 봐서는 TP인지 FP인지 구별하기 어렵다는 것을 보여주는 그림입니다.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082605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위 슬라이드와 같은 TP vs FP 비교인데, 이번에는 '성별·나이·키·체중이 비슷한 환자끼리' 미리 짝을 지은 뒤(propensity matching -- 쌍둥이처럼 비슷한 사람끼리 골라 비교하는 방법) 곡선을 비교했습니다. 혹시 '체형 차이' 때문에 곡선이 달라 보이는 착시가 있었던 건 아닌지 확인하기 위해서입니다. 짝을 지은 뒤에도 강남은 여전히 차이가 없고(p=0.983), 신촌은 여전히 약한 차이가 남아 있습니다(p=0.0165) -- 체형 차이 때문에 생긴 착시는 아니라는 뜻입니다.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A2420-E723-6665-DCCB-E52911A66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713888-BF43-2450-5FED-16EC9B8C32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A6067E-181E-C473-6C54-2EAEDDBC14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894A4-9428-5570-9E01-97013C86E6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418464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B4B38-7BBE-384B-08E0-EC5CCA129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35EAA2-E56D-CF65-27FB-3C5E293D22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566CBE-F434-B15D-0319-075DA3B112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80F1B5-225B-F102-5CE0-B452385B02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069605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F0381-810E-464D-B1EB-A43C8D9D8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4CFA89-1768-738F-4715-92372F639C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68C8B6-A6CC-A6D5-3BFA-E49282170C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위 슬라이드와 같은 TP vs FP 비교인데, 이번에는 '성별·나이·키·체중이 비슷한 환자끼리' 미리 짝을 지은 뒤(propensity matching -- 쌍둥이처럼 비슷한 사람끼리 골라 비교하는 방법) 곡선을 비교했습니다. 혹시 '체형 차이' 때문에 곡선이 달라 보이는 착시가 있었던 건 아닌지 확인하기 위해서입니다. 짝을 지은 뒤에도 강남은 여전히 차이가 없고(p=0.983), 신촌은 여전히 약한 차이가 남아 있습니다(p=0.0165) -- 체형 차이 때문에 생긴 착시는 아니라는 뜻입니다.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16025-4491-8FCC-B5D8-9E45A96A3D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764499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0344B-725A-F24C-70BD-475446FDC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BAC708-998B-CF8A-8C87-3767BF1809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8D1B52-3F75-4EE0-B52D-7E29EE64D0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지금까지의 결과를 정리하면, AEC 곡선 하나만으로는(원곡선이든, 요약 지표든, 주성분이든) TP와 FP를 뚜렷하게 구별하기 어렵습니다. 다만 강남과 신촌 결과가 완전히 같지는 않아서(신촌에 미세한 흔적이 남음) 좀 더 정교한 접근이 필요합니다. 다음 단계로는 임상 정보(성별/나이/키/체중)와 AEC 곡선 정보를 딥러닝 모델(멀티모달 구조)로 함께 학습시켜서 사람이 놓칠 수 있는 복합적인 패턴을 잡아낼 수 있는지 시도하고, Stage-1 모델 자체의 성능(AUC)을 높이는 방법도 함께 연구할 계획입니다.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E0675F-AB5A-2AC6-A453-932F57D742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392628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d412ffb079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40188" y="857250"/>
            <a:ext cx="4113212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3d412ffb079_0_6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4" name="Google Shape;1174;g3d412ffb079_0_61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636419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20728-737C-849C-4D31-0A16EA20C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C5E37B-DDAC-A92A-C7AB-4B71527EE1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4277A6-CE1F-CE0F-CFC0-DBC9953C1C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TP vs TN(왼쪽 위 표, TP=진짜 위험군 vs TN=정상)과 FP vs TN(오른쪽 아래 표, FP=가짜 위험군 vs TN=정상)의 AEC 곡선을 그림으로 겹쳐 비교한 것입니다. 두 그림 모두 곡선이 눈에 띄게 다르고, 통계 검정도 강남·신촌 둘 다 유의합니다(강남 TP-TN p=0.002, FP-TN p=0.0005 / 신촌 TP-TN p=0.0135, FP-TN p=0.0045). 즉 Positive(TP·FP 모두)와 Negative(TN)는 CT 촬영 조건(AEC)부터가 서로 다르다는 뜻입니다 -- 체형이나 촬영 조건이 근육량과 관련 있기 때문으로 보입니다.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9BC6B4-E78A-8CBB-05A9-8C3AEE73D0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707762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AEC </a:t>
            </a:r>
            <a:r>
              <a:rPr dirty="0" err="1"/>
              <a:t>곡선</a:t>
            </a:r>
            <a:r>
              <a:rPr dirty="0"/>
              <a:t> 128개 </a:t>
            </a:r>
            <a:r>
              <a:rPr dirty="0" err="1"/>
              <a:t>지점을</a:t>
            </a:r>
            <a:r>
              <a:rPr dirty="0"/>
              <a:t> </a:t>
            </a:r>
            <a:r>
              <a:rPr dirty="0" err="1"/>
              <a:t>통째로</a:t>
            </a:r>
            <a:r>
              <a:rPr dirty="0"/>
              <a:t> </a:t>
            </a:r>
            <a:r>
              <a:rPr dirty="0" err="1"/>
              <a:t>비교하는</a:t>
            </a:r>
            <a:r>
              <a:rPr dirty="0"/>
              <a:t> </a:t>
            </a:r>
            <a:r>
              <a:rPr dirty="0" err="1"/>
              <a:t>대신</a:t>
            </a:r>
            <a:r>
              <a:rPr dirty="0"/>
              <a:t>, '</a:t>
            </a:r>
            <a:r>
              <a:rPr dirty="0" err="1"/>
              <a:t>곡선의</a:t>
            </a:r>
            <a:r>
              <a:rPr dirty="0"/>
              <a:t> </a:t>
            </a:r>
            <a:r>
              <a:rPr dirty="0" err="1"/>
              <a:t>생김새'를</a:t>
            </a:r>
            <a:r>
              <a:rPr dirty="0"/>
              <a:t> </a:t>
            </a:r>
            <a:r>
              <a:rPr dirty="0" err="1"/>
              <a:t>요약하는</a:t>
            </a:r>
            <a:r>
              <a:rPr dirty="0"/>
              <a:t> 14가지 </a:t>
            </a:r>
            <a:r>
              <a:rPr dirty="0" err="1"/>
              <a:t>숫자</a:t>
            </a:r>
            <a:r>
              <a:rPr dirty="0"/>
              <a:t>(예: </a:t>
            </a:r>
            <a:r>
              <a:rPr dirty="0" err="1"/>
              <a:t>곡선이</a:t>
            </a:r>
            <a:r>
              <a:rPr dirty="0"/>
              <a:t> </a:t>
            </a:r>
            <a:r>
              <a:rPr dirty="0" err="1"/>
              <a:t>얼마나</a:t>
            </a:r>
            <a:r>
              <a:rPr dirty="0"/>
              <a:t> </a:t>
            </a:r>
            <a:r>
              <a:rPr dirty="0" err="1"/>
              <a:t>들쭉날쭉한지</a:t>
            </a:r>
            <a:r>
              <a:rPr dirty="0"/>
              <a:t>, </a:t>
            </a:r>
            <a:r>
              <a:rPr dirty="0" err="1"/>
              <a:t>어디서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높고</a:t>
            </a:r>
            <a:r>
              <a:rPr dirty="0"/>
              <a:t> </a:t>
            </a:r>
            <a:r>
              <a:rPr dirty="0" err="1"/>
              <a:t>낮은지</a:t>
            </a:r>
            <a:r>
              <a:rPr dirty="0"/>
              <a:t>, </a:t>
            </a:r>
            <a:r>
              <a:rPr dirty="0" err="1"/>
              <a:t>앞부분과</a:t>
            </a:r>
            <a:r>
              <a:rPr dirty="0"/>
              <a:t> </a:t>
            </a:r>
            <a:r>
              <a:rPr dirty="0" err="1"/>
              <a:t>뒷부분</a:t>
            </a:r>
            <a:r>
              <a:rPr dirty="0"/>
              <a:t> </a:t>
            </a:r>
            <a:r>
              <a:rPr dirty="0" err="1"/>
              <a:t>기울기가</a:t>
            </a:r>
            <a:r>
              <a:rPr dirty="0"/>
              <a:t> </a:t>
            </a:r>
            <a:r>
              <a:rPr dirty="0" err="1"/>
              <a:t>얼마나</a:t>
            </a:r>
            <a:r>
              <a:rPr dirty="0"/>
              <a:t> </a:t>
            </a:r>
            <a:r>
              <a:rPr dirty="0" err="1"/>
              <a:t>다른지</a:t>
            </a:r>
            <a:r>
              <a:rPr dirty="0"/>
              <a:t> 등)를 </a:t>
            </a:r>
            <a:r>
              <a:rPr dirty="0" err="1"/>
              <a:t>각각</a:t>
            </a:r>
            <a:r>
              <a:rPr dirty="0"/>
              <a:t> </a:t>
            </a:r>
            <a:r>
              <a:rPr dirty="0" err="1"/>
              <a:t>따로</a:t>
            </a:r>
            <a:r>
              <a:rPr dirty="0"/>
              <a:t> </a:t>
            </a:r>
            <a:r>
              <a:rPr dirty="0" err="1"/>
              <a:t>뽑아서</a:t>
            </a:r>
            <a:r>
              <a:rPr dirty="0"/>
              <a:t> </a:t>
            </a:r>
            <a:r>
              <a:rPr dirty="0" err="1"/>
              <a:t>TP와</a:t>
            </a:r>
            <a:r>
              <a:rPr dirty="0"/>
              <a:t> FP </a:t>
            </a:r>
            <a:r>
              <a:rPr dirty="0" err="1"/>
              <a:t>사이에</a:t>
            </a:r>
            <a:r>
              <a:rPr dirty="0"/>
              <a:t> </a:t>
            </a:r>
            <a:r>
              <a:rPr dirty="0" err="1"/>
              <a:t>차이가</a:t>
            </a:r>
            <a:r>
              <a:rPr dirty="0"/>
              <a:t> </a:t>
            </a:r>
            <a:r>
              <a:rPr dirty="0" err="1"/>
              <a:t>있는지</a:t>
            </a:r>
            <a:r>
              <a:rPr dirty="0"/>
              <a:t> </a:t>
            </a:r>
            <a:r>
              <a:rPr dirty="0" err="1"/>
              <a:t>하나하나</a:t>
            </a:r>
            <a:r>
              <a:rPr dirty="0"/>
              <a:t> </a:t>
            </a:r>
            <a:r>
              <a:rPr dirty="0" err="1"/>
              <a:t>검정했습니다</a:t>
            </a:r>
            <a:r>
              <a:rPr dirty="0"/>
              <a:t>. </a:t>
            </a:r>
            <a:r>
              <a:rPr dirty="0" err="1"/>
              <a:t>사람</a:t>
            </a:r>
            <a:r>
              <a:rPr dirty="0"/>
              <a:t> </a:t>
            </a:r>
            <a:r>
              <a:rPr dirty="0" err="1"/>
              <a:t>눈에는</a:t>
            </a:r>
            <a:r>
              <a:rPr dirty="0"/>
              <a:t> 안 </a:t>
            </a:r>
            <a:r>
              <a:rPr dirty="0" err="1"/>
              <a:t>보이는</a:t>
            </a:r>
            <a:r>
              <a:rPr dirty="0"/>
              <a:t> </a:t>
            </a:r>
            <a:r>
              <a:rPr dirty="0" err="1"/>
              <a:t>미세한</a:t>
            </a:r>
            <a:r>
              <a:rPr dirty="0"/>
              <a:t> </a:t>
            </a:r>
            <a:r>
              <a:rPr dirty="0" err="1"/>
              <a:t>형태</a:t>
            </a:r>
            <a:r>
              <a:rPr dirty="0"/>
              <a:t> </a:t>
            </a:r>
            <a:r>
              <a:rPr dirty="0" err="1"/>
              <a:t>차이를</a:t>
            </a:r>
            <a:r>
              <a:rPr dirty="0"/>
              <a:t> </a:t>
            </a:r>
            <a:r>
              <a:rPr dirty="0" err="1"/>
              <a:t>잡아낼</a:t>
            </a:r>
            <a:r>
              <a:rPr dirty="0"/>
              <a:t> </a:t>
            </a:r>
            <a:r>
              <a:rPr dirty="0" err="1"/>
              <a:t>수도</a:t>
            </a:r>
            <a:r>
              <a:rPr dirty="0"/>
              <a:t> </a:t>
            </a:r>
            <a:r>
              <a:rPr dirty="0" err="1"/>
              <a:t>있다는</a:t>
            </a:r>
            <a:r>
              <a:rPr dirty="0"/>
              <a:t> </a:t>
            </a:r>
            <a:r>
              <a:rPr dirty="0" err="1"/>
              <a:t>생각에서입니다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주의할</a:t>
            </a:r>
            <a:r>
              <a:rPr dirty="0"/>
              <a:t> 점: </a:t>
            </a:r>
            <a:r>
              <a:rPr dirty="0" err="1"/>
              <a:t>검정을</a:t>
            </a:r>
            <a:r>
              <a:rPr dirty="0"/>
              <a:t> 한 </a:t>
            </a:r>
            <a:r>
              <a:rPr dirty="0" err="1"/>
              <a:t>번만</a:t>
            </a:r>
            <a:r>
              <a:rPr dirty="0"/>
              <a:t> </a:t>
            </a:r>
            <a:r>
              <a:rPr dirty="0" err="1"/>
              <a:t>하면</a:t>
            </a:r>
            <a:r>
              <a:rPr dirty="0"/>
              <a:t> </a:t>
            </a:r>
            <a:r>
              <a:rPr dirty="0" err="1"/>
              <a:t>우연히</a:t>
            </a:r>
            <a:r>
              <a:rPr dirty="0"/>
              <a:t> </a:t>
            </a:r>
            <a:r>
              <a:rPr dirty="0" err="1"/>
              <a:t>유의하게</a:t>
            </a:r>
            <a:r>
              <a:rPr dirty="0"/>
              <a:t> </a:t>
            </a:r>
            <a:r>
              <a:rPr dirty="0" err="1"/>
              <a:t>나올</a:t>
            </a:r>
            <a:r>
              <a:rPr dirty="0"/>
              <a:t> </a:t>
            </a:r>
            <a:r>
              <a:rPr dirty="0" err="1"/>
              <a:t>확률이</a:t>
            </a:r>
            <a:r>
              <a:rPr dirty="0"/>
              <a:t> 5%지만, </a:t>
            </a:r>
            <a:r>
              <a:rPr dirty="0" err="1"/>
              <a:t>여기서는</a:t>
            </a:r>
            <a:r>
              <a:rPr dirty="0"/>
              <a:t> 14개(+</a:t>
            </a:r>
            <a:r>
              <a:rPr dirty="0" err="1"/>
              <a:t>비교용</a:t>
            </a:r>
            <a:r>
              <a:rPr dirty="0"/>
              <a:t> clinic </a:t>
            </a:r>
            <a:r>
              <a:rPr dirty="0" err="1"/>
              <a:t>변수</a:t>
            </a:r>
            <a:r>
              <a:rPr dirty="0"/>
              <a:t> 4개=18개)를 </a:t>
            </a:r>
            <a:r>
              <a:rPr dirty="0" err="1"/>
              <a:t>한꺼번에</a:t>
            </a:r>
            <a:r>
              <a:rPr dirty="0"/>
              <a:t> </a:t>
            </a:r>
            <a:r>
              <a:rPr dirty="0" err="1"/>
              <a:t>검정하기</a:t>
            </a:r>
            <a:r>
              <a:rPr dirty="0"/>
              <a:t> </a:t>
            </a:r>
            <a:r>
              <a:rPr dirty="0" err="1"/>
              <a:t>때문에</a:t>
            </a:r>
            <a:r>
              <a:rPr dirty="0"/>
              <a:t>, </a:t>
            </a:r>
            <a:r>
              <a:rPr dirty="0" err="1"/>
              <a:t>개별</a:t>
            </a:r>
            <a:r>
              <a:rPr dirty="0"/>
              <a:t> p&lt;0.05만 </a:t>
            </a:r>
            <a:r>
              <a:rPr dirty="0" err="1"/>
              <a:t>보면</a:t>
            </a:r>
            <a:r>
              <a:rPr dirty="0"/>
              <a:t> </a:t>
            </a:r>
            <a:r>
              <a:rPr dirty="0" err="1"/>
              <a:t>우연히</a:t>
            </a:r>
            <a:r>
              <a:rPr dirty="0"/>
              <a:t> 몇 </a:t>
            </a:r>
            <a:r>
              <a:rPr dirty="0" err="1"/>
              <a:t>개는</a:t>
            </a:r>
            <a:r>
              <a:rPr dirty="0"/>
              <a:t> '</a:t>
            </a:r>
            <a:r>
              <a:rPr dirty="0" err="1"/>
              <a:t>유의'하게</a:t>
            </a:r>
            <a:r>
              <a:rPr dirty="0"/>
              <a:t> </a:t>
            </a:r>
            <a:r>
              <a:rPr dirty="0" err="1"/>
              <a:t>나올</a:t>
            </a:r>
            <a:r>
              <a:rPr dirty="0"/>
              <a:t> </a:t>
            </a:r>
            <a:r>
              <a:rPr dirty="0" err="1"/>
              <a:t>수밖에</a:t>
            </a:r>
            <a:r>
              <a:rPr dirty="0"/>
              <a:t> </a:t>
            </a:r>
            <a:r>
              <a:rPr dirty="0" err="1"/>
              <a:t>없습니다</a:t>
            </a:r>
            <a:r>
              <a:rPr dirty="0"/>
              <a:t>(</a:t>
            </a:r>
            <a:r>
              <a:rPr dirty="0" err="1"/>
              <a:t>로또를</a:t>
            </a:r>
            <a:r>
              <a:rPr dirty="0"/>
              <a:t> 18번 </a:t>
            </a:r>
            <a:r>
              <a:rPr dirty="0" err="1"/>
              <a:t>사면</a:t>
            </a:r>
            <a:r>
              <a:rPr dirty="0"/>
              <a:t> </a:t>
            </a:r>
            <a:r>
              <a:rPr dirty="0" err="1"/>
              <a:t>그럴듯한</a:t>
            </a:r>
            <a:r>
              <a:rPr dirty="0"/>
              <a:t> 게 </a:t>
            </a:r>
            <a:r>
              <a:rPr dirty="0" err="1"/>
              <a:t>하나쯤은</a:t>
            </a:r>
            <a:r>
              <a:rPr dirty="0"/>
              <a:t> </a:t>
            </a:r>
            <a:r>
              <a:rPr dirty="0" err="1"/>
              <a:t>나오는</a:t>
            </a:r>
            <a:r>
              <a:rPr dirty="0"/>
              <a:t> </a:t>
            </a:r>
            <a:r>
              <a:rPr dirty="0" err="1"/>
              <a:t>것과</a:t>
            </a:r>
            <a:r>
              <a:rPr dirty="0"/>
              <a:t> </a:t>
            </a:r>
            <a:r>
              <a:rPr dirty="0" err="1"/>
              <a:t>비슷한</a:t>
            </a:r>
            <a:r>
              <a:rPr dirty="0"/>
              <a:t> </a:t>
            </a:r>
            <a:r>
              <a:rPr dirty="0" err="1"/>
              <a:t>이치</a:t>
            </a:r>
            <a:r>
              <a:rPr dirty="0"/>
              <a:t>). 이 '</a:t>
            </a:r>
            <a:r>
              <a:rPr dirty="0" err="1"/>
              <a:t>우연히</a:t>
            </a:r>
            <a:r>
              <a:rPr dirty="0"/>
              <a:t> </a:t>
            </a:r>
            <a:r>
              <a:rPr dirty="0" err="1"/>
              <a:t>유의해</a:t>
            </a:r>
            <a:r>
              <a:rPr dirty="0"/>
              <a:t> </a:t>
            </a:r>
            <a:r>
              <a:rPr dirty="0" err="1"/>
              <a:t>보이는</a:t>
            </a:r>
            <a:r>
              <a:rPr dirty="0"/>
              <a:t> </a:t>
            </a:r>
            <a:r>
              <a:rPr dirty="0" err="1"/>
              <a:t>것'을</a:t>
            </a:r>
            <a:r>
              <a:rPr dirty="0"/>
              <a:t> </a:t>
            </a:r>
            <a:r>
              <a:rPr dirty="0" err="1"/>
              <a:t>걸러내는</a:t>
            </a:r>
            <a:r>
              <a:rPr dirty="0"/>
              <a:t> </a:t>
            </a:r>
            <a:r>
              <a:rPr dirty="0" err="1"/>
              <a:t>보정된</a:t>
            </a:r>
            <a:r>
              <a:rPr dirty="0"/>
              <a:t> </a:t>
            </a:r>
            <a:r>
              <a:rPr dirty="0" err="1"/>
              <a:t>기준이</a:t>
            </a:r>
            <a:r>
              <a:rPr dirty="0"/>
              <a:t> q-</a:t>
            </a:r>
            <a:r>
              <a:rPr dirty="0" err="1"/>
              <a:t>value입니다</a:t>
            </a:r>
            <a:r>
              <a:rPr dirty="0"/>
              <a:t>. q&lt;0.05는 '이 </a:t>
            </a:r>
            <a:r>
              <a:rPr dirty="0" err="1"/>
              <a:t>안에서</a:t>
            </a:r>
            <a:r>
              <a:rPr dirty="0"/>
              <a:t> </a:t>
            </a:r>
            <a:r>
              <a:rPr dirty="0" err="1"/>
              <a:t>유의하다고</a:t>
            </a:r>
            <a:r>
              <a:rPr dirty="0"/>
              <a:t> </a:t>
            </a:r>
            <a:r>
              <a:rPr dirty="0" err="1"/>
              <a:t>뽑은</a:t>
            </a:r>
            <a:r>
              <a:rPr dirty="0"/>
              <a:t> </a:t>
            </a:r>
            <a:r>
              <a:rPr dirty="0" err="1"/>
              <a:t>것들</a:t>
            </a:r>
            <a:r>
              <a:rPr dirty="0"/>
              <a:t> 중 </a:t>
            </a:r>
            <a:r>
              <a:rPr dirty="0" err="1"/>
              <a:t>실제로</a:t>
            </a:r>
            <a:r>
              <a:rPr dirty="0"/>
              <a:t> </a:t>
            </a:r>
            <a:r>
              <a:rPr dirty="0" err="1"/>
              <a:t>우연이</a:t>
            </a:r>
            <a:r>
              <a:rPr dirty="0"/>
              <a:t> </a:t>
            </a:r>
            <a:r>
              <a:rPr dirty="0" err="1"/>
              <a:t>섞여</a:t>
            </a:r>
            <a:r>
              <a:rPr dirty="0"/>
              <a:t> </a:t>
            </a:r>
            <a:r>
              <a:rPr dirty="0" err="1"/>
              <a:t>있을</a:t>
            </a:r>
            <a:r>
              <a:rPr dirty="0"/>
              <a:t> </a:t>
            </a:r>
            <a:r>
              <a:rPr dirty="0" err="1"/>
              <a:t>비율이</a:t>
            </a:r>
            <a:r>
              <a:rPr dirty="0"/>
              <a:t> 5% </a:t>
            </a:r>
            <a:r>
              <a:rPr dirty="0" err="1"/>
              <a:t>이하로</a:t>
            </a:r>
            <a:r>
              <a:rPr dirty="0"/>
              <a:t> </a:t>
            </a:r>
            <a:r>
              <a:rPr dirty="0" err="1"/>
              <a:t>통제된</a:t>
            </a:r>
            <a:r>
              <a:rPr dirty="0"/>
              <a:t> </a:t>
            </a:r>
            <a:r>
              <a:rPr dirty="0" err="1"/>
              <a:t>상태'라는</a:t>
            </a:r>
            <a:r>
              <a:rPr dirty="0"/>
              <a:t> </a:t>
            </a:r>
            <a:r>
              <a:rPr dirty="0" err="1"/>
              <a:t>뜻으로</a:t>
            </a:r>
            <a:r>
              <a:rPr dirty="0"/>
              <a:t>, </a:t>
            </a:r>
            <a:r>
              <a:rPr dirty="0" err="1"/>
              <a:t>개별</a:t>
            </a:r>
            <a:r>
              <a:rPr dirty="0"/>
              <a:t> p-</a:t>
            </a:r>
            <a:r>
              <a:rPr dirty="0" err="1"/>
              <a:t>value보다</a:t>
            </a:r>
            <a:r>
              <a:rPr dirty="0"/>
              <a:t> 더 </a:t>
            </a:r>
            <a:r>
              <a:rPr dirty="0" err="1"/>
              <a:t>엄격하고</a:t>
            </a:r>
            <a:r>
              <a:rPr dirty="0"/>
              <a:t> </a:t>
            </a:r>
            <a:r>
              <a:rPr dirty="0" err="1"/>
              <a:t>믿을</a:t>
            </a:r>
            <a:r>
              <a:rPr dirty="0"/>
              <a:t> </a:t>
            </a:r>
            <a:r>
              <a:rPr dirty="0" err="1"/>
              <a:t>만한</a:t>
            </a:r>
            <a:r>
              <a:rPr dirty="0"/>
              <a:t> </a:t>
            </a:r>
            <a:r>
              <a:rPr dirty="0" err="1"/>
              <a:t>기준입니다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결과</a:t>
            </a:r>
            <a:r>
              <a:rPr dirty="0"/>
              <a:t>: raw(</a:t>
            </a:r>
            <a:r>
              <a:rPr dirty="0" err="1"/>
              <a:t>원표본</a:t>
            </a:r>
            <a:r>
              <a:rPr dirty="0"/>
              <a:t>) / matched(</a:t>
            </a:r>
            <a:r>
              <a:rPr dirty="0" err="1"/>
              <a:t>비슷한</a:t>
            </a:r>
            <a:r>
              <a:rPr dirty="0"/>
              <a:t> </a:t>
            </a:r>
            <a:r>
              <a:rPr dirty="0" err="1"/>
              <a:t>환자끼리</a:t>
            </a:r>
            <a:r>
              <a:rPr dirty="0"/>
              <a:t> </a:t>
            </a:r>
            <a:r>
              <a:rPr dirty="0" err="1"/>
              <a:t>매칭</a:t>
            </a:r>
            <a:r>
              <a:rPr dirty="0"/>
              <a:t>) / </a:t>
            </a:r>
            <a:r>
              <a:rPr dirty="0" err="1"/>
              <a:t>residualized</a:t>
            </a:r>
            <a:r>
              <a:rPr dirty="0"/>
              <a:t>(</a:t>
            </a:r>
            <a:r>
              <a:rPr dirty="0" err="1"/>
              <a:t>체형</a:t>
            </a:r>
            <a:r>
              <a:rPr dirty="0"/>
              <a:t> </a:t>
            </a:r>
            <a:r>
              <a:rPr dirty="0" err="1"/>
              <a:t>영향을</a:t>
            </a:r>
            <a:r>
              <a:rPr dirty="0"/>
              <a:t> </a:t>
            </a:r>
            <a:r>
              <a:rPr dirty="0" err="1"/>
              <a:t>통계적으로</a:t>
            </a:r>
            <a:r>
              <a:rPr dirty="0"/>
              <a:t> </a:t>
            </a:r>
            <a:r>
              <a:rPr dirty="0" err="1"/>
              <a:t>미리</a:t>
            </a:r>
            <a:r>
              <a:rPr dirty="0"/>
              <a:t> </a:t>
            </a:r>
            <a:r>
              <a:rPr dirty="0" err="1"/>
              <a:t>빼고</a:t>
            </a:r>
            <a:r>
              <a:rPr dirty="0"/>
              <a:t> </a:t>
            </a:r>
            <a:r>
              <a:rPr dirty="0" err="1"/>
              <a:t>비교</a:t>
            </a:r>
            <a:r>
              <a:rPr dirty="0"/>
              <a:t>) 세 </a:t>
            </a:r>
            <a:r>
              <a:rPr dirty="0" err="1"/>
              <a:t>가지</a:t>
            </a:r>
            <a:r>
              <a:rPr dirty="0"/>
              <a:t> </a:t>
            </a:r>
            <a:r>
              <a:rPr dirty="0" err="1"/>
              <a:t>방법</a:t>
            </a:r>
            <a:r>
              <a:rPr dirty="0"/>
              <a:t>, </a:t>
            </a:r>
            <a:r>
              <a:rPr dirty="0" err="1"/>
              <a:t>강남·신촌</a:t>
            </a:r>
            <a:r>
              <a:rPr dirty="0"/>
              <a:t> 두 </a:t>
            </a:r>
            <a:r>
              <a:rPr dirty="0" err="1"/>
              <a:t>코호트</a:t>
            </a:r>
            <a:r>
              <a:rPr dirty="0"/>
              <a:t>, 84번의 </a:t>
            </a:r>
            <a:r>
              <a:rPr dirty="0" err="1"/>
              <a:t>검정</a:t>
            </a:r>
            <a:r>
              <a:rPr dirty="0"/>
              <a:t>(14개 feature x 3방법 x 2코호트) </a:t>
            </a:r>
            <a:r>
              <a:rPr dirty="0" err="1"/>
              <a:t>전부</a:t>
            </a:r>
            <a:r>
              <a:rPr dirty="0"/>
              <a:t> q-value </a:t>
            </a:r>
            <a:r>
              <a:rPr dirty="0" err="1"/>
              <a:t>기준으로는</a:t>
            </a:r>
            <a:r>
              <a:rPr dirty="0"/>
              <a:t> </a:t>
            </a:r>
            <a:r>
              <a:rPr dirty="0" err="1"/>
              <a:t>유의한</a:t>
            </a:r>
            <a:r>
              <a:rPr dirty="0"/>
              <a:t> </a:t>
            </a:r>
            <a:r>
              <a:rPr dirty="0" err="1"/>
              <a:t>것이</a:t>
            </a:r>
            <a:r>
              <a:rPr dirty="0"/>
              <a:t> </a:t>
            </a:r>
            <a:r>
              <a:rPr dirty="0" err="1"/>
              <a:t>하나도</a:t>
            </a:r>
            <a:r>
              <a:rPr dirty="0"/>
              <a:t> </a:t>
            </a:r>
            <a:r>
              <a:rPr dirty="0" err="1"/>
              <a:t>없었습니다</a:t>
            </a:r>
            <a:r>
              <a:rPr dirty="0"/>
              <a:t>(0/84). </a:t>
            </a:r>
            <a:r>
              <a:rPr dirty="0" err="1"/>
              <a:t>보정</a:t>
            </a:r>
            <a:r>
              <a:rPr dirty="0"/>
              <a:t> 전 p&lt;0.05만 </a:t>
            </a:r>
            <a:r>
              <a:rPr dirty="0" err="1"/>
              <a:t>보면</a:t>
            </a:r>
            <a:r>
              <a:rPr dirty="0"/>
              <a:t> </a:t>
            </a:r>
            <a:r>
              <a:rPr dirty="0" err="1"/>
              <a:t>조합마다</a:t>
            </a:r>
            <a:r>
              <a:rPr dirty="0"/>
              <a:t> 0~3개씩 </a:t>
            </a:r>
            <a:r>
              <a:rPr dirty="0" err="1"/>
              <a:t>나오지만</a:t>
            </a:r>
            <a:r>
              <a:rPr dirty="0"/>
              <a:t>, </a:t>
            </a:r>
            <a:r>
              <a:rPr dirty="0" err="1"/>
              <a:t>매번</a:t>
            </a:r>
            <a:r>
              <a:rPr dirty="0"/>
              <a:t> </a:t>
            </a:r>
            <a:r>
              <a:rPr dirty="0" err="1"/>
              <a:t>다른</a:t>
            </a:r>
            <a:r>
              <a:rPr dirty="0"/>
              <a:t> </a:t>
            </a:r>
            <a:r>
              <a:rPr dirty="0" err="1"/>
              <a:t>지표가</a:t>
            </a:r>
            <a:r>
              <a:rPr dirty="0"/>
              <a:t> </a:t>
            </a:r>
            <a:r>
              <a:rPr dirty="0" err="1"/>
              <a:t>걸리고</a:t>
            </a:r>
            <a:r>
              <a:rPr dirty="0"/>
              <a:t> </a:t>
            </a:r>
            <a:r>
              <a:rPr dirty="0" err="1"/>
              <a:t>보정하면</a:t>
            </a:r>
            <a:r>
              <a:rPr dirty="0"/>
              <a:t> </a:t>
            </a:r>
            <a:r>
              <a:rPr dirty="0" err="1"/>
              <a:t>사라지므로</a:t>
            </a:r>
            <a:r>
              <a:rPr dirty="0"/>
              <a:t> '</a:t>
            </a:r>
            <a:r>
              <a:rPr dirty="0" err="1"/>
              <a:t>진짜</a:t>
            </a:r>
            <a:r>
              <a:rPr dirty="0"/>
              <a:t> </a:t>
            </a:r>
            <a:r>
              <a:rPr dirty="0" err="1"/>
              <a:t>신호'가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'</a:t>
            </a:r>
            <a:r>
              <a:rPr dirty="0" err="1"/>
              <a:t>우연'으로</a:t>
            </a:r>
            <a:r>
              <a:rPr dirty="0"/>
              <a:t> </a:t>
            </a:r>
            <a:r>
              <a:rPr dirty="0" err="1"/>
              <a:t>판단합니다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508424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강남 데이터에서 14개 곡선-형태 지표 각각의 p-value를 막대그래프로 그린 그림입니다(왼쪽부터 원표본/매칭/체형보정 3가지 방법). 막대가 길수록(오른쪽으로 갈수록) '우연이 아닐 가능성'이 높다는 뜻이고, 점선(p=0.05 위치)을 넘어야 최소한의 기준을 만족합니다. 강남은 3가지 방법 모두에서 진짜로 믿을 만한 차이(q&lt;0.05)가 하나도 없었습니다.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759947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신촌 데이터의 같은 그림입니다. 강남과 마찬가지로 14개 지표 중 진짜로 믿을 만한 차이(q&lt;0.05)는 없습니다. 다만 슬라이드5에서 봤던 '신촌은 원곡선 전체로 보면 약하게 차이가 남아있다'는 결과와는 대비됩니다 -- 곡선을 14개 요약 지표로 압축해서 보면 그 미세한 차이가 사라진다는 뜻으로, 특정한 하나의 형태 특징으로 설명되는 게 아니라 곡선 전체에 아주 옅게 퍼져 있는 잡음에 가깝다는 뜻일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756713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사람이 직접 정의한 14개 지표 말고, 이번에는 컴퓨터가 데이터를 보고 스스로 '가장 차이가 많이 나는 방향'을 찾아내는 방법(PCA, 주성분분석)으로도 같은 질문(TP와 FP 곡선이 다른가)을 확인했습니다. 128개 구간짜리 곡선을 5개의 숫자(주성분 1~5)로 압축했는데, 이 5개만으로도 원래 곡선 정보의 대부분(원곡선 기준 96.8%, 체형보정 곡선 기준 94.7%)을 담고 있습니다.</a:t>
            </a:r>
          </a:p>
          <a:p>
            <a:endParaRPr/>
          </a:p>
          <a:p>
            <a:r>
              <a:t>결과: 강남은 이번에도 15번의 검정(주성분 5개 x 3가지 방법) 전부 믿을 만한 차이가 없었습니다. 신촌은 원표본과 매칭 방법에서는 역시 차이가 없었지만, '체형 영향을 미리 뺀' 방법에서만 주성분 1번 하나가 아슬아슬하게 기준을 넘었습니다(q=0.045, 기준 0.05보다 살짝 낮음). 다만 이 차이의 크기 자체는 작고(효과크기 작음), 신촌 표본이 커서(TP 131명, FP 398명) 작은 차이도 통계적으로 잡힌 것으로 보입니다. 즉 강남은 어떤 방법으로 봐도 깨끗하게 차이가 없고, 신촌은 아주 미세하고 일관되지 않은 흔적만 남아있는 정도입니다.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207283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강남의 주성분별 p-value 그림입니다. 5개 주성분 x 3가지 방법 모두에서 믿을 만한 차이가 없었습니다.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560537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신촌의 같은 그림입니다. 원표본과 매칭 방법에서는 주성분 1번이 점선(p=0.05)을 살짝 넘지만 보정 후에는 유의하지 않고, '체형 영향을 미리 뺀' 방법에서만 주성분 1번이 보정 후에도 살짝 유의합니다(그림에서 'q&lt;0.05' 표시가 붙은 유일한 막대).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660724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슬라이드는 AEC 정보를 딥러닝(CNN)에 넣어 만든 Stage-2 모델의 실제 성능을 보여줍니다. 비교 대상(대조군)은 AEC 없이 그냥 기준선만 재조정한 경우(threshold-shift only)입니다 -- AEC가 정말 도움이 되는지, 아니면 기준선만 바꿔도 비슷한 효과가 나는지 확인하기 위해서입니다.</a:t>
            </a:r>
          </a:p>
          <a:p>
            <a:endParaRPr/>
          </a:p>
          <a:p>
            <a:r>
              <a:t>Net NRI(순재분류개선지수)는 기존보다 올바르게 재분류된 사람 수 - 잘못 재분류된 사람 수로, 클수록 좋습니다. spec p-value는 Specificity(특이도) 개선이 우연이 아닌지 검정한 값(전부 매우 작아 확실히 유의). n_deesc는 Positive(위험군)에서 Negative(정상군)로 재분류된(de-escalate, 불필요한 정밀검사를 피한) 사람 수입니다.</a:t>
            </a:r>
          </a:p>
          <a:p>
            <a:endParaRPr/>
          </a:p>
          <a:p>
            <a:r>
              <a:t>자체 학습 결과(위 표): 신촌에서는 AEC-CNN(+86명 개선)이 기준선 조정만 한 경우(+63명)보다 확실히 낫지만, 강남에서는 오히려 기준선 조정(+77명)이 AEC-CNN(+70명)보다 낫습니다 -- 코호트마다 결과가 반대로 나옵니다. 두 코호트 모두 전체 모델 구별력(AUC)은 Stage-1보다 유의하게 좋아지지 않았습니다(오히려 아주 조금 떨어졌지만 통계적으로는 차이 없음, DeLong 검정).</a:t>
            </a:r>
          </a:p>
          <a:p>
            <a:endParaRPr/>
          </a:p>
          <a:p>
            <a:r>
              <a:t>다른 병원에 그대로 적용한 결과(아래 표, external transfer): 신촌에서 학습해 강남에 적용하면 개선 폭(+95명)은 가장 크지만, Sensitivity(민감도, 위험군을 잡아내는 능력)가 너무 떨어져서 '기존보다 나쁘지 않다'는 안전성 검정(NI test)을 통과하지 못했습니다(FAIL) -- 숫자만 보면 좋아 보이지만 실제로는 위험한 결과입니다. AUC도 유의하게 떨어졌습니다(p=0.010). 반대로 강남에서 학습해 신촌에 적용한 경우는 안전성 검정을 통과했습니다(PASS).</a:t>
            </a:r>
          </a:p>
          <a:p>
            <a:endParaRPr/>
          </a:p>
          <a:p>
            <a:r>
              <a:t>강남 데이터에서 AEC-CNN 자체의 구별력(자체 검증 AUC)이 0.52로 거의 '동전 던지기' 수준이었는데, 이는 슬라이드7에서 봤던 '강남은 원곡선 자체에서 TP-FP 차이가 유의하지 않았다(p=0.227)'는 결과와 일치합니다 -- 애초에 강남 AEC 곡선에는 구별할 신호 자체가 거의 없었다는 뜻입니다.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279837B-A00B-4327-9AB8-97044CBDABA7}"/>
              </a:ext>
            </a:extLst>
          </p:cNvPr>
          <p:cNvPicPr/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228731"/>
            <a:ext cx="12192000" cy="64005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B17CE84-3562-483D-8448-6A30899AF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699" b="22132"/>
          <a:stretch/>
        </p:blipFill>
        <p:spPr>
          <a:xfrm>
            <a:off x="3461866" y="5273477"/>
            <a:ext cx="4168803" cy="982769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8EF8DD5B-0316-4193-BCC7-D6CFCAE8969D}"/>
              </a:ext>
            </a:extLst>
          </p:cNvPr>
          <p:cNvPicPr/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-277376" y="5274173"/>
            <a:ext cx="4550839" cy="9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7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C22856-02EF-4559-9B66-BD5C863FF254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DFE1C4B-A7EE-47E1-8AAE-3EF4E43D16F6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8C131E4-1CD9-49D8-B343-8379436586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E4F955D-C3E9-4033-8442-9095377B0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365126"/>
            <a:ext cx="11176000" cy="53234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367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482F1-FC12-443E-892A-B48F9C50A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897468"/>
            <a:ext cx="11176000" cy="5063066"/>
          </a:xfrm>
        </p:spPr>
        <p:txBody>
          <a:bodyPr/>
          <a:lstStyle>
            <a:lvl1pPr>
              <a:lnSpc>
                <a:spcPct val="200000"/>
              </a:lnSpc>
              <a:defRPr sz="2000" b="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lnSpc>
                <a:spcPct val="150000"/>
              </a:lnSpc>
              <a:defRPr sz="1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A1225D-0BD8-42FD-A091-144615FF07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55962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EFF5A-1B85-42B1-95F5-C4213C5A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AEAB581-7B9E-4552-9BEC-BDB2FB36C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6" name="날짜 개체 틀 3">
            <a:extLst>
              <a:ext uri="{FF2B5EF4-FFF2-40B4-BE49-F238E27FC236}">
                <a16:creationId xmlns:a16="http://schemas.microsoft.com/office/drawing/2014/main" id="{3920A115-BF94-4DB0-B759-905F580E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CB761E04-ABC5-4F9B-B7F4-0370F3F0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4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0B4DC-8072-4B8E-A822-FE3A08C0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27B99-20C3-4D37-8275-EA6400E5C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6CE84-6AD8-453A-AD6E-FEAF604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44141"/>
            <a:ext cx="27432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EF105-0337-4580-9111-FD2F527F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44141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B31AF83-2C46-4BF6-B48E-DD76F99A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0800" y="6044141"/>
            <a:ext cx="2743200" cy="365125"/>
          </a:xfrm>
        </p:spPr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77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C8B6C-1DEF-4332-8A14-F6B6981F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8B35E-5C7A-4650-863C-461C8592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0FC85E-DA01-4C94-8312-2EAB20EAB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DE796-457C-4E05-BBB8-BC7FD139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A564A-D398-41C0-BEF2-5D2A53F3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0DB09-1DC7-4816-820B-2EDD19BA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8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73845-DA08-4E02-89E5-279477CD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0F8E2-8F9C-4936-8D92-FA7FE4970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C35784-8D42-4310-8640-07C1BEB3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31B950-6CB7-42DB-A303-B407EF83D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F35007-CA56-4CB7-8C5F-CF3E2924C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CD9AE-54AB-44CB-8910-A70F24EB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AFA608-2F47-4FBC-8A45-AC037C64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A635AC-BD3D-4D4A-AB07-EAABF501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6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27486-42F6-4B67-8DF8-769971D0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BFFFA3-6C08-4D2B-B714-F2729D0D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1B550E-4A2E-4405-8F29-A9633B7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0B985F-0B0F-472E-A18E-72C776E3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95497-1A46-4FDE-B4B1-CA2510A4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DDD35-FFDF-4936-8645-AC2A1F2A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1037F-312F-4D9B-9119-F134F49B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2E35-F23E-4CDC-9C00-11DCB7E9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5F35A-C1B0-4F2A-8536-7C9C4EF9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6DFEF-5929-42A1-B17A-6AD3F1AC5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A33CA-A779-4AE7-8BB3-0DF9C81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539BD6-447C-4ABC-97CC-BCC453A3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96239-5406-4F31-95AA-C4BD1AB5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07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C7A7-4C8B-434F-9C38-C6E5AC9E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AD0D2C-AE0D-4BDF-B9E8-D91CD7556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F58740-6BDA-46A2-A629-765E7E17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C1AD5-7F55-4125-8A2F-BC07A86D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58409-227F-4B89-B306-5E32E6E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64012-3A7B-4999-BA77-06258A04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0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4230E-387F-465D-9111-5F8ACFE1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3B19F-7C90-4073-858B-0BD87654E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123FE-787A-4904-AA9D-8ACC7B30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EAC67-5F52-452E-9E50-F587C648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EEB5A-4207-4ADB-95D4-B87AA30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ACCBB6-C18F-485C-A53E-8683CFFE9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DC10F-92E5-436B-9D63-2A68B11CB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DDDF8-BB20-4C9B-9571-A39BA7D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4DDF5-9EDE-406E-BFC5-8359CD70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89F03-47B6-4B39-B0CA-2A216789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719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31B03D-0C42-48E6-948A-722C5EE3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A6E46-0B48-4B44-9DA0-C7C1E05C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D4B93-E437-4DCC-9E09-16EA88BB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7A77E-05D0-4203-B655-9A2A21B58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9CEAC-52D1-4D7C-99C4-13222A951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548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7068" y="2062806"/>
            <a:ext cx="113878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2400" dirty="0" err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Comparison</a:t>
            </a:r>
            <a:r>
              <a:rPr lang="ko-KR" altLang="ko-KR" sz="24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of </a:t>
            </a:r>
            <a:r>
              <a:rPr lang="ko-KR" altLang="ko-KR" sz="2400" dirty="0" err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AECs</a:t>
            </a:r>
            <a:r>
              <a:rPr lang="ko-KR" altLang="ko-KR" sz="24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ko-KR" sz="2400" dirty="0" err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between</a:t>
            </a:r>
            <a:r>
              <a:rPr lang="ko-KR" altLang="ko-KR" sz="24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ko-KR" sz="2400" dirty="0" err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groups</a:t>
            </a:r>
            <a:r>
              <a:rPr lang="ko-KR" altLang="ko-KR" sz="24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ko-KR" sz="2400" dirty="0" err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after</a:t>
            </a:r>
            <a:r>
              <a:rPr lang="ko-KR" altLang="ko-KR" sz="24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ko-KR" sz="2400" dirty="0" err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low-smi</a:t>
            </a:r>
            <a:r>
              <a:rPr lang="ko-KR" altLang="ko-KR" sz="24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ko-KR" sz="2400" dirty="0" err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classification</a:t>
            </a:r>
            <a:r>
              <a:rPr lang="ko-KR" altLang="ko-KR" sz="24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ko-KR" sz="2400" dirty="0" err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with</a:t>
            </a:r>
            <a:r>
              <a:rPr lang="ko-KR" altLang="ko-KR" sz="24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ko-KR" sz="2400" dirty="0" err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clinic</a:t>
            </a:r>
            <a:r>
              <a:rPr lang="ko-KR" altLang="ko-KR" sz="24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ko-KR" sz="2400" dirty="0" err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data</a:t>
            </a:r>
            <a:endParaRPr sz="2400" b="1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7068" y="3139177"/>
            <a:ext cx="71399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chemeClr val="bg1"/>
                </a:solidFill>
                <a:latin typeface="KoPub돋움체 Medium"/>
              </a:rPr>
              <a:t>2026. 07. </a:t>
            </a:r>
            <a:r>
              <a:rPr lang="en-US" sz="1600" dirty="0">
                <a:solidFill>
                  <a:schemeClr val="bg1"/>
                </a:solidFill>
                <a:latin typeface="KoPub돋움체 Medium"/>
              </a:rPr>
              <a:t>24</a:t>
            </a:r>
            <a:endParaRPr sz="1600" dirty="0">
              <a:solidFill>
                <a:schemeClr val="bg1"/>
              </a:solidFill>
              <a:latin typeface="KoPub돋움체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7068" y="3564777"/>
            <a:ext cx="7139940" cy="289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KoPub돋움체 Medium"/>
              </a:rPr>
              <a:t>JangHoon Chun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7068" y="3978214"/>
            <a:ext cx="7139940" cy="121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KoPub돋움체 Medium"/>
              </a:rPr>
              <a:t>Department of, Medical Device Engineering &amp; Management</a:t>
            </a:r>
          </a:p>
          <a:p>
            <a:r>
              <a:rPr sz="1600">
                <a:solidFill>
                  <a:srgbClr val="FFFFFF"/>
                </a:solidFill>
                <a:latin typeface="KoPub돋움체 Medium"/>
              </a:rPr>
              <a:t>Gangnam Severance Hospital,</a:t>
            </a:r>
          </a:p>
          <a:p>
            <a:r>
              <a:rPr sz="1600">
                <a:solidFill>
                  <a:srgbClr val="FFFFFF"/>
                </a:solidFill>
                <a:latin typeface="KoPub돋움체 Medium"/>
              </a:rPr>
              <a:t>Yonsei University College of Medicine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226C0-E69E-C194-4D15-4398B9723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B3FC9-B52B-FBE4-B31A-9F4816FDE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  <a:endParaRPr dirty="0"/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1B16767E-149D-831B-AF7B-A6F405D5B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999" y="901700"/>
            <a:ext cx="11176000" cy="1905000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dirty="0"/>
              <a:t>Clinic 4</a:t>
            </a:r>
            <a:r>
              <a:rPr lang="ko-KR" altLang="en-US" dirty="0"/>
              <a:t>개 변수</a:t>
            </a:r>
            <a:r>
              <a:rPr lang="en-US" altLang="ko-KR" dirty="0"/>
              <a:t>(Sex, Age, Height, Weight)</a:t>
            </a:r>
            <a:r>
              <a:rPr lang="ko-KR" altLang="en-US" dirty="0"/>
              <a:t>로 성별별 </a:t>
            </a:r>
            <a:r>
              <a:rPr lang="en-US" altLang="ko-KR" dirty="0"/>
              <a:t>low-SMI </a:t>
            </a:r>
            <a:r>
              <a:rPr lang="ko-KR" altLang="en-US" dirty="0"/>
              <a:t>분류 </a:t>
            </a:r>
            <a:r>
              <a:rPr lang="en-US" altLang="ko-KR" dirty="0"/>
              <a:t>(M: </a:t>
            </a:r>
            <a:r>
              <a:rPr lang="en-US" altLang="ko-KR" dirty="0" err="1"/>
              <a:t>smi</a:t>
            </a:r>
            <a:r>
              <a:rPr lang="en-US" altLang="ko-KR" dirty="0"/>
              <a:t> &lt; 45.4, F: </a:t>
            </a:r>
            <a:r>
              <a:rPr lang="en-US" altLang="ko-KR" dirty="0" err="1"/>
              <a:t>smi</a:t>
            </a:r>
            <a:r>
              <a:rPr lang="en-US" altLang="ko-KR" dirty="0"/>
              <a:t> &lt; 34.4)</a:t>
            </a:r>
          </a:p>
          <a:p>
            <a:r>
              <a:rPr lang="en-US" altLang="ko-KR" dirty="0"/>
              <a:t>AUC internal 0.828 / external 0.835</a:t>
            </a:r>
          </a:p>
          <a:p>
            <a:r>
              <a:rPr lang="en-US" altLang="ko-KR" dirty="0"/>
              <a:t>Sensitivity 90%</a:t>
            </a:r>
            <a:r>
              <a:rPr lang="ko-KR" altLang="en-US" dirty="0"/>
              <a:t>인</a:t>
            </a:r>
            <a:r>
              <a:rPr lang="en-US" altLang="ko-KR" dirty="0"/>
              <a:t> </a:t>
            </a:r>
            <a:r>
              <a:rPr lang="ko-KR" altLang="en-US" dirty="0"/>
              <a:t>컷오프로 </a:t>
            </a:r>
            <a:r>
              <a:rPr lang="en-US" altLang="ko-KR" dirty="0"/>
              <a:t>Confusion Matrix </a:t>
            </a:r>
            <a:r>
              <a:rPr lang="ko-KR" altLang="en-US" dirty="0"/>
              <a:t>확인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BC264B1-4288-3E34-F029-AF4C93DB48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1298" y="2857500"/>
            <a:ext cx="7109401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15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9D39F-82A4-2062-A90D-98DE675FC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CC404-E574-98DE-4895-973685A1D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  <a:endParaRPr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C3B1D46-CDA6-7CAD-8EE8-C21EE46A3916}"/>
              </a:ext>
            </a:extLst>
          </p:cNvPr>
          <p:cNvGraphicFramePr>
            <a:graphicFrameLocks noGrp="1"/>
          </p:cNvGraphicFramePr>
          <p:nvPr/>
        </p:nvGraphicFramePr>
        <p:xfrm>
          <a:off x="2391145" y="1421554"/>
          <a:ext cx="7409710" cy="14833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481942">
                  <a:extLst>
                    <a:ext uri="{9D8B030D-6E8A-4147-A177-3AD203B41FA5}">
                      <a16:colId xmlns:a16="http://schemas.microsoft.com/office/drawing/2014/main" val="246698847"/>
                    </a:ext>
                  </a:extLst>
                </a:gridCol>
                <a:gridCol w="1481942">
                  <a:extLst>
                    <a:ext uri="{9D8B030D-6E8A-4147-A177-3AD203B41FA5}">
                      <a16:colId xmlns:a16="http://schemas.microsoft.com/office/drawing/2014/main" val="2251027616"/>
                    </a:ext>
                  </a:extLst>
                </a:gridCol>
                <a:gridCol w="1481942">
                  <a:extLst>
                    <a:ext uri="{9D8B030D-6E8A-4147-A177-3AD203B41FA5}">
                      <a16:colId xmlns:a16="http://schemas.microsoft.com/office/drawing/2014/main" val="1217842442"/>
                    </a:ext>
                  </a:extLst>
                </a:gridCol>
                <a:gridCol w="1481942">
                  <a:extLst>
                    <a:ext uri="{9D8B030D-6E8A-4147-A177-3AD203B41FA5}">
                      <a16:colId xmlns:a16="http://schemas.microsoft.com/office/drawing/2014/main" val="448035793"/>
                    </a:ext>
                  </a:extLst>
                </a:gridCol>
                <a:gridCol w="1481942">
                  <a:extLst>
                    <a:ext uri="{9D8B030D-6E8A-4147-A177-3AD203B41FA5}">
                      <a16:colId xmlns:a16="http://schemas.microsoft.com/office/drawing/2014/main" val="11947598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구간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Internal FN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Internal FP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External FN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External FP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397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Sens 85%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19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350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337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6709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Sens 90%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447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398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3564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Sens 95%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6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582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529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1635650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C178735-E09B-D874-3F88-A1E9C45D0F9E}"/>
              </a:ext>
            </a:extLst>
          </p:cNvPr>
          <p:cNvGraphicFramePr>
            <a:graphicFrameLocks noGrp="1"/>
          </p:cNvGraphicFramePr>
          <p:nvPr/>
        </p:nvGraphicFramePr>
        <p:xfrm>
          <a:off x="1191369" y="3312042"/>
          <a:ext cx="9809262" cy="1854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992558">
                  <a:extLst>
                    <a:ext uri="{9D8B030D-6E8A-4147-A177-3AD203B41FA5}">
                      <a16:colId xmlns:a16="http://schemas.microsoft.com/office/drawing/2014/main" val="246698847"/>
                    </a:ext>
                  </a:extLst>
                </a:gridCol>
                <a:gridCol w="2340936">
                  <a:extLst>
                    <a:ext uri="{9D8B030D-6E8A-4147-A177-3AD203B41FA5}">
                      <a16:colId xmlns:a16="http://schemas.microsoft.com/office/drawing/2014/main" val="2251027616"/>
                    </a:ext>
                  </a:extLst>
                </a:gridCol>
                <a:gridCol w="2711303">
                  <a:extLst>
                    <a:ext uri="{9D8B030D-6E8A-4147-A177-3AD203B41FA5}">
                      <a16:colId xmlns:a16="http://schemas.microsoft.com/office/drawing/2014/main" val="1217842442"/>
                    </a:ext>
                  </a:extLst>
                </a:gridCol>
                <a:gridCol w="2764465">
                  <a:extLst>
                    <a:ext uri="{9D8B030D-6E8A-4147-A177-3AD203B41FA5}">
                      <a16:colId xmlns:a16="http://schemas.microsoft.com/office/drawing/2014/main" val="11947598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구간 이동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ΔFN (</a:t>
                      </a:r>
                      <a:r>
                        <a:rPr lang="ko-KR" altLang="en-US" sz="1400" dirty="0"/>
                        <a:t>놓치는 환자 감소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ΔFP (</a:t>
                      </a:r>
                      <a:r>
                        <a:rPr lang="ko-KR" altLang="en-US" sz="1400" dirty="0"/>
                        <a:t>불필요 정밀검사 증가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FN 1</a:t>
                      </a:r>
                      <a:r>
                        <a:rPr lang="ko-KR" altLang="en-US" sz="1400" dirty="0"/>
                        <a:t>명 줄이는데 드는 </a:t>
                      </a:r>
                      <a:r>
                        <a:rPr lang="en-US" altLang="ko-KR" sz="1400" dirty="0"/>
                        <a:t>FP </a:t>
                      </a:r>
                      <a:r>
                        <a:rPr lang="ko-KR" altLang="en-US" sz="1400" dirty="0"/>
                        <a:t>비용</a:t>
                      </a:r>
                    </a:p>
                  </a:txBody>
                  <a:tcPr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397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85%</a:t>
                      </a:r>
                      <a:r>
                        <a:rPr lang="ko-KR" altLang="en-US" sz="1400" dirty="0"/>
                        <a:t>→</a:t>
                      </a:r>
                      <a:r>
                        <a:rPr lang="en-US" altLang="ko-KR" sz="1400" dirty="0"/>
                        <a:t>90% (internal)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+97</a:t>
                      </a:r>
                      <a:endParaRPr lang="ko-KR" altLang="en-US" sz="1400" dirty="0"/>
                    </a:p>
                  </a:txBody>
                  <a:tcPr anchor="ctr"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13.9</a:t>
                      </a:r>
                      <a:r>
                        <a:rPr lang="ko-KR" altLang="en-US" sz="1400" dirty="0"/>
                        <a:t>건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26709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85%</a:t>
                      </a:r>
                      <a:r>
                        <a:rPr lang="ko-KR" altLang="en-US" sz="1400" dirty="0"/>
                        <a:t>→</a:t>
                      </a:r>
                      <a:r>
                        <a:rPr lang="en-US" altLang="ko-KR" sz="1400" dirty="0"/>
                        <a:t>90% (external)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+61</a:t>
                      </a:r>
                      <a:endParaRPr lang="ko-KR" altLang="en-US" sz="1400" dirty="0"/>
                    </a:p>
                  </a:txBody>
                  <a:tcPr anchor="ctr"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8.7</a:t>
                      </a:r>
                      <a:r>
                        <a:rPr lang="ko-KR" altLang="en-US" sz="1400" dirty="0"/>
                        <a:t>건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3564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90%</a:t>
                      </a:r>
                      <a:r>
                        <a:rPr lang="ko-KR" altLang="en-US" sz="1400" dirty="0"/>
                        <a:t>→</a:t>
                      </a:r>
                      <a:r>
                        <a:rPr lang="en-US" altLang="ko-KR" sz="1400" dirty="0"/>
                        <a:t>95% (internal)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-6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+135</a:t>
                      </a:r>
                      <a:endParaRPr lang="ko-KR" altLang="en-US" sz="1400" dirty="0"/>
                    </a:p>
                  </a:txBody>
                  <a:tcPr anchor="ctr"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22.5</a:t>
                      </a:r>
                      <a:r>
                        <a:rPr lang="ko-KR" altLang="en-US" sz="1400" dirty="0"/>
                        <a:t>건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56631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90%</a:t>
                      </a:r>
                      <a:r>
                        <a:rPr lang="ko-KR" altLang="en-US" sz="1400" dirty="0"/>
                        <a:t>→</a:t>
                      </a:r>
                      <a:r>
                        <a:rPr lang="en-US" altLang="ko-KR" sz="1400" dirty="0"/>
                        <a:t>95% (external)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-5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+131</a:t>
                      </a:r>
                      <a:endParaRPr lang="ko-KR" altLang="en-US" sz="1400" dirty="0"/>
                    </a:p>
                  </a:txBody>
                  <a:tcPr anchor="ctr"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26.2</a:t>
                      </a:r>
                      <a:r>
                        <a:rPr lang="ko-KR" altLang="en-US" sz="1400" dirty="0"/>
                        <a:t>건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1635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0087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CB61D-7E64-8CF1-E551-B99C0CF23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B451F-E3AA-9A58-2DD0-035C12DCB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  <a:endParaRPr dirty="0"/>
          </a:p>
        </p:txBody>
      </p:sp>
      <p:pic>
        <p:nvPicPr>
          <p:cNvPr id="12" name="Picture 11" descr="clinical_only_confusion_matrix_sens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564" y="992773"/>
            <a:ext cx="10432872" cy="5216436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A628EAB-B760-F1BF-B989-BB10B23CA891}"/>
              </a:ext>
            </a:extLst>
          </p:cNvPr>
          <p:cNvSpPr/>
          <p:nvPr/>
        </p:nvSpPr>
        <p:spPr>
          <a:xfrm>
            <a:off x="2116183" y="1985560"/>
            <a:ext cx="2011680" cy="394497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466C5FC-2E65-1CFE-A413-1C916FE5DEE4}"/>
              </a:ext>
            </a:extLst>
          </p:cNvPr>
          <p:cNvSpPr/>
          <p:nvPr/>
        </p:nvSpPr>
        <p:spPr>
          <a:xfrm>
            <a:off x="7271657" y="1985560"/>
            <a:ext cx="2011680" cy="394497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176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235E1-990A-B61D-C2FB-0E5F237EC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5B1E2-F9E7-3B5D-A7E2-C46DA9E96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672E8-387A-B761-2D48-323AA293B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그룹 간 </a:t>
            </a:r>
            <a:r>
              <a:rPr lang="en-US" altLang="ko-KR" b="1" dirty="0"/>
              <a:t>p / </a:t>
            </a:r>
            <a:r>
              <a:rPr lang="en-US" altLang="ko-KR" b="1" dirty="0" err="1"/>
              <a:t>dp</a:t>
            </a:r>
            <a:r>
              <a:rPr lang="ko-KR" altLang="en-US" b="1" dirty="0"/>
              <a:t> </a:t>
            </a:r>
            <a:r>
              <a:rPr lang="en-US" altLang="ko-KR" b="1" dirty="0"/>
              <a:t>/ d2p </a:t>
            </a:r>
            <a:r>
              <a:rPr lang="ko-KR" altLang="en-US" b="1" dirty="0"/>
              <a:t>곡선 비교</a:t>
            </a:r>
            <a:endParaRPr b="1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EA819FF-824A-52D4-3A7F-A3DF216AF6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2271731"/>
              </p:ext>
            </p:extLst>
          </p:nvPr>
        </p:nvGraphicFramePr>
        <p:xfrm>
          <a:off x="1312092" y="1574800"/>
          <a:ext cx="9567816" cy="1854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391954">
                  <a:extLst>
                    <a:ext uri="{9D8B030D-6E8A-4147-A177-3AD203B41FA5}">
                      <a16:colId xmlns:a16="http://schemas.microsoft.com/office/drawing/2014/main" val="380248596"/>
                    </a:ext>
                  </a:extLst>
                </a:gridCol>
                <a:gridCol w="2391954">
                  <a:extLst>
                    <a:ext uri="{9D8B030D-6E8A-4147-A177-3AD203B41FA5}">
                      <a16:colId xmlns:a16="http://schemas.microsoft.com/office/drawing/2014/main" val="2374354257"/>
                    </a:ext>
                  </a:extLst>
                </a:gridCol>
                <a:gridCol w="2391954">
                  <a:extLst>
                    <a:ext uri="{9D8B030D-6E8A-4147-A177-3AD203B41FA5}">
                      <a16:colId xmlns:a16="http://schemas.microsoft.com/office/drawing/2014/main" val="983427934"/>
                    </a:ext>
                  </a:extLst>
                </a:gridCol>
                <a:gridCol w="2391954">
                  <a:extLst>
                    <a:ext uri="{9D8B030D-6E8A-4147-A177-3AD203B41FA5}">
                      <a16:colId xmlns:a16="http://schemas.microsoft.com/office/drawing/2014/main" val="138883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비교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강남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p (raw)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dp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 (1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차미분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d2p (2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차미분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2821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FP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vs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TN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RMSD=0.0287, </a:t>
                      </a:r>
                      <a:r>
                        <a:rPr lang="ko-KR" sz="1200" b="0" i="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</a:t>
                      </a: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=0.0005</a:t>
                      </a:r>
                    </a:p>
                  </a:txBody>
                  <a:tcPr marL="19050" marR="19050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RMSD=0.0021, p=0.0005</a:t>
                      </a:r>
                    </a:p>
                  </a:txBody>
                  <a:tcPr marL="19050" marR="19050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RMSD=0.0004, </a:t>
                      </a:r>
                      <a:r>
                        <a:rPr lang="ko-KR" sz="1200" b="0" i="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</a:t>
                      </a: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=0.0005</a:t>
                      </a:r>
                    </a:p>
                  </a:txBody>
                  <a:tcPr marL="19050" marR="19050" marT="19050" marB="190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363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TP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vs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TN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RMSD=0.0325, </a:t>
                      </a:r>
                      <a:r>
                        <a:rPr lang="ko-KR" sz="1200" b="0" i="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</a:t>
                      </a: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=0.002</a:t>
                      </a:r>
                    </a:p>
                  </a:txBody>
                  <a:tcPr marL="19050" marR="19050" marT="19050" marB="19050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RMSD=0.0026, p=0.0005</a:t>
                      </a:r>
                    </a:p>
                  </a:txBody>
                  <a:tcPr marL="19050" marR="19050" marT="19050" marB="19050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RMSD=0.0006, </a:t>
                      </a:r>
                      <a:r>
                        <a:rPr lang="ko-KR" sz="1200" b="0" i="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</a:t>
                      </a: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=0.0005</a:t>
                      </a:r>
                    </a:p>
                  </a:txBody>
                  <a:tcPr marL="19050" marR="19050" marT="19050" marB="19050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124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TP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vs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FP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RMSD=0.0155, </a:t>
                      </a:r>
                      <a:r>
                        <a:rPr lang="ko-KR" sz="1200" b="0" i="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</a:t>
                      </a: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=0.227</a:t>
                      </a:r>
                    </a:p>
                  </a:txBody>
                  <a:tcPr marL="19050" marR="19050" marT="19050" marB="19050"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RMSD=0.0012, </a:t>
                      </a:r>
                      <a:r>
                        <a:rPr lang="ko-KR" sz="1200" b="0" i="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</a:t>
                      </a: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=0.155</a:t>
                      </a:r>
                    </a:p>
                  </a:txBody>
                  <a:tcPr marL="19050" marR="19050" marT="19050" marB="19050"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RMSD=0.0005, </a:t>
                      </a:r>
                      <a:r>
                        <a:rPr lang="ko-KR" sz="1200" b="0" i="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</a:t>
                      </a: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=0.199</a:t>
                      </a:r>
                    </a:p>
                  </a:txBody>
                  <a:tcPr marL="19050" marR="19050" marT="19050" marB="19050" anchor="ctr"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725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TP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vs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FP (</a:t>
                      </a:r>
                      <a:r>
                        <a:rPr lang="en-US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psm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RMSD=0.0057, </a:t>
                      </a:r>
                      <a:r>
                        <a:rPr lang="ko-KR" sz="1200" b="0" i="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</a:t>
                      </a: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=0.983</a:t>
                      </a:r>
                    </a:p>
                  </a:txBody>
                  <a:tcPr marL="19050" marR="19050" marT="19050" marB="19050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RMSD=0.0009, </a:t>
                      </a:r>
                      <a:r>
                        <a:rPr lang="ko-KR" sz="1200" b="0" i="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</a:t>
                      </a: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=0.982</a:t>
                      </a:r>
                    </a:p>
                  </a:txBody>
                  <a:tcPr marL="19050" marR="19050" marT="19050" marB="19050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RMSD=0.0006, </a:t>
                      </a:r>
                      <a:r>
                        <a:rPr lang="ko-KR" sz="1200" b="0" i="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</a:t>
                      </a: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=0.478</a:t>
                      </a:r>
                    </a:p>
                  </a:txBody>
                  <a:tcPr marL="19050" marR="19050" marT="19050" marB="19050" anchor="ctr"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4828031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93DC214-F213-AB61-FBB1-2D265A00B6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5125605"/>
              </p:ext>
            </p:extLst>
          </p:nvPr>
        </p:nvGraphicFramePr>
        <p:xfrm>
          <a:off x="1312092" y="3767667"/>
          <a:ext cx="9567816" cy="1854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385989">
                  <a:extLst>
                    <a:ext uri="{9D8B030D-6E8A-4147-A177-3AD203B41FA5}">
                      <a16:colId xmlns:a16="http://schemas.microsoft.com/office/drawing/2014/main" val="380248596"/>
                    </a:ext>
                  </a:extLst>
                </a:gridCol>
                <a:gridCol w="2385989">
                  <a:extLst>
                    <a:ext uri="{9D8B030D-6E8A-4147-A177-3AD203B41FA5}">
                      <a16:colId xmlns:a16="http://schemas.microsoft.com/office/drawing/2014/main" val="2374354257"/>
                    </a:ext>
                  </a:extLst>
                </a:gridCol>
                <a:gridCol w="2385989">
                  <a:extLst>
                    <a:ext uri="{9D8B030D-6E8A-4147-A177-3AD203B41FA5}">
                      <a16:colId xmlns:a16="http://schemas.microsoft.com/office/drawing/2014/main" val="983427934"/>
                    </a:ext>
                  </a:extLst>
                </a:gridCol>
                <a:gridCol w="2409849">
                  <a:extLst>
                    <a:ext uri="{9D8B030D-6E8A-4147-A177-3AD203B41FA5}">
                      <a16:colId xmlns:a16="http://schemas.microsoft.com/office/drawing/2014/main" val="138883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비교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신촌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p (raw)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dp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 (1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차미분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d2p (2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차미분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2821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FP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vs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TN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RMSD=0.0226, </a:t>
                      </a:r>
                      <a:r>
                        <a:rPr lang="ko-KR" sz="1200" b="0" i="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</a:t>
                      </a: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=0.0045</a:t>
                      </a:r>
                    </a:p>
                  </a:txBody>
                  <a:tcPr marL="19050" marR="19050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RMSD=0.0017, p=0.0005</a:t>
                      </a:r>
                    </a:p>
                  </a:txBody>
                  <a:tcPr marL="19050" marR="19050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RMSD=0.0004, </a:t>
                      </a:r>
                      <a:r>
                        <a:rPr lang="ko-KR" sz="1200" b="0" i="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</a:t>
                      </a: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=0.093</a:t>
                      </a:r>
                    </a:p>
                  </a:txBody>
                  <a:tcPr marL="19050" marR="19050" marT="19050" marB="190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363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TP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vs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TN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RMSD=0.0289, </a:t>
                      </a:r>
                      <a:r>
                        <a:rPr lang="ko-KR" sz="1200" b="0" i="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</a:t>
                      </a: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=0.0135</a:t>
                      </a:r>
                    </a:p>
                  </a:txBody>
                  <a:tcPr marL="19050" marR="19050" marT="19050" marB="19050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RMSD=0.0023, p=0.0005</a:t>
                      </a:r>
                    </a:p>
                  </a:txBody>
                  <a:tcPr marL="19050" marR="19050" marT="19050" marB="19050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RMSD=0.0006, </a:t>
                      </a:r>
                      <a:r>
                        <a:rPr lang="ko-KR" sz="1200" b="0" i="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</a:t>
                      </a: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=0.084</a:t>
                      </a:r>
                    </a:p>
                  </a:txBody>
                  <a:tcPr marL="19050" marR="19050" marT="19050" marB="19050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124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TP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vs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FP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RMSD=0.0274, </a:t>
                      </a:r>
                      <a:r>
                        <a:rPr lang="ko-KR" sz="1200" b="0" i="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</a:t>
                      </a: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=0.0175</a:t>
                      </a:r>
                    </a:p>
                  </a:txBody>
                  <a:tcPr marL="19050" marR="19050" marT="19050" marB="19050"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RMSD=0.0016, </a:t>
                      </a:r>
                      <a:r>
                        <a:rPr lang="ko-KR" sz="1200" b="0" i="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</a:t>
                      </a: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=0.005</a:t>
                      </a:r>
                    </a:p>
                  </a:txBody>
                  <a:tcPr marL="19050" marR="19050" marT="19050" marB="19050" anchor="ctr"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RMSD=0.0005, </a:t>
                      </a:r>
                      <a:r>
                        <a:rPr lang="ko-KR" sz="1200" b="0" i="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</a:t>
                      </a: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=0.425</a:t>
                      </a:r>
                    </a:p>
                  </a:txBody>
                  <a:tcPr marL="19050" marR="19050" marT="19050" marB="19050" anchor="ctr"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725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TP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vs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FP (</a:t>
                      </a:r>
                      <a:r>
                        <a:rPr lang="en-US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psm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RMSD=0.0422, </a:t>
                      </a:r>
                      <a:r>
                        <a:rPr lang="ko-KR" sz="1200" b="0" i="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</a:t>
                      </a: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=0.0165</a:t>
                      </a:r>
                    </a:p>
                  </a:txBody>
                  <a:tcPr marL="19050" marR="19050" marT="19050" marB="19050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RMSD=0.0023, </a:t>
                      </a:r>
                      <a:r>
                        <a:rPr lang="ko-KR" sz="1200" b="0" i="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</a:t>
                      </a: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=0.0095</a:t>
                      </a:r>
                    </a:p>
                  </a:txBody>
                  <a:tcPr marL="19050" marR="19050" marT="19050" marB="19050"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RMSD=0.0006, </a:t>
                      </a:r>
                      <a:r>
                        <a:rPr lang="ko-KR" sz="1200" b="0" i="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</a:t>
                      </a:r>
                      <a:r>
                        <a:rPr lang="ko-KR" sz="1200" b="0" i="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=0.417</a:t>
                      </a:r>
                    </a:p>
                  </a:txBody>
                  <a:tcPr marL="19050" marR="19050" marT="19050" marB="19050" anchor="ctr"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4828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5379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Stage-1 TP vs FP AEC-128 비교 </a:t>
            </a:r>
            <a:r>
              <a:rPr lang="ko-KR" altLang="en-US" b="1" dirty="0"/>
              <a:t>(raw)</a:t>
            </a:r>
            <a:endParaRPr b="1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1F2985AC-77DB-112C-BA4D-4D96C3A39B78}"/>
              </a:ext>
            </a:extLst>
          </p:cNvPr>
          <p:cNvGrpSpPr/>
          <p:nvPr/>
        </p:nvGrpSpPr>
        <p:grpSpPr>
          <a:xfrm>
            <a:off x="334871" y="1773882"/>
            <a:ext cx="11522257" cy="3934449"/>
            <a:chOff x="750631" y="1907809"/>
            <a:chExt cx="10838615" cy="3701009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208045E6-AB4B-8191-87F4-9D786FB05D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0631" y="1907809"/>
              <a:ext cx="5418246" cy="3701009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F6BCAC1A-71D7-F33B-BBC4-F66D657889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71000" y="1907809"/>
              <a:ext cx="5418246" cy="37010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40032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E9C18E90-97D7-840F-3BCE-0411187CB0E9}"/>
              </a:ext>
            </a:extLst>
          </p:cNvPr>
          <p:cNvGrpSpPr/>
          <p:nvPr/>
        </p:nvGrpSpPr>
        <p:grpSpPr>
          <a:xfrm>
            <a:off x="334870" y="1773882"/>
            <a:ext cx="11520001" cy="3934449"/>
            <a:chOff x="681471" y="1550000"/>
            <a:chExt cx="10979056" cy="3749699"/>
          </a:xfrm>
        </p:grpSpPr>
        <p:pic>
          <p:nvPicPr>
            <p:cNvPr id="5" name="Picture 4" descr="19_aec_curve_tp_vs_fp_match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1471" y="1550000"/>
              <a:ext cx="5489528" cy="3749699"/>
            </a:xfrm>
            <a:prstGeom prst="rect">
              <a:avLst/>
            </a:prstGeom>
          </p:spPr>
        </p:pic>
        <p:pic>
          <p:nvPicPr>
            <p:cNvPr id="6" name="Picture 5" descr="19_aec_curve_tp_vs_fp_match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70999" y="1550000"/>
              <a:ext cx="5489528" cy="3749699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b="1" dirty="0"/>
              <a:t>Stage-1 TP vs FP AEC-128 </a:t>
            </a:r>
            <a:r>
              <a:rPr b="1" dirty="0" err="1"/>
              <a:t>비교</a:t>
            </a:r>
            <a:r>
              <a:rPr b="1" dirty="0"/>
              <a:t> (Propensity-matched)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B1490-7C63-959D-C44A-B14C61625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35B60-929D-E7CF-E3FC-A08935602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6BDB9-CAAF-31F7-C32C-365F7025B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b="1" dirty="0"/>
              <a:t>Stage-1 TP vs FP AEC-128 </a:t>
            </a:r>
            <a:r>
              <a:rPr b="1" dirty="0" err="1"/>
              <a:t>비교</a:t>
            </a:r>
            <a:r>
              <a:rPr b="1" dirty="0"/>
              <a:t> (</a:t>
            </a:r>
            <a:r>
              <a:rPr lang="en-US" b="1" dirty="0"/>
              <a:t>global z-score</a:t>
            </a:r>
            <a:r>
              <a:rPr b="1" dirty="0"/>
              <a:t>)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27668FA3-423A-1F57-A470-58B0D524D4EE}"/>
              </a:ext>
            </a:extLst>
          </p:cNvPr>
          <p:cNvGrpSpPr>
            <a:grpSpLocks noChangeAspect="1"/>
          </p:cNvGrpSpPr>
          <p:nvPr/>
        </p:nvGrpSpPr>
        <p:grpSpPr>
          <a:xfrm>
            <a:off x="336000" y="1987971"/>
            <a:ext cx="11520000" cy="3934449"/>
            <a:chOff x="686689" y="1987971"/>
            <a:chExt cx="11125871" cy="3799841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2BED3638-25D5-1F57-0586-718E7ED4C5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6689" y="1987972"/>
              <a:ext cx="5562935" cy="3799840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803C9B5E-D40F-7083-0B70-D0E571DD21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49624" y="1987971"/>
              <a:ext cx="5562936" cy="37998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53742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393F4-49FC-B75A-45E9-F19D9A32A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DC96B-5545-A303-9023-0E01929E4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3AD8E-0315-0F34-20E0-786C52B70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b="1" dirty="0"/>
              <a:t>Stage-1 TP vs FP AEC-128 </a:t>
            </a:r>
            <a:r>
              <a:rPr b="1" dirty="0" err="1"/>
              <a:t>비교</a:t>
            </a:r>
            <a:r>
              <a:rPr b="1" dirty="0"/>
              <a:t> (</a:t>
            </a:r>
            <a:r>
              <a:rPr lang="en-US" b="1" dirty="0"/>
              <a:t>global z-score, </a:t>
            </a:r>
            <a:r>
              <a:rPr lang="en-US" b="1" dirty="0" err="1"/>
              <a:t>psm</a:t>
            </a:r>
            <a:r>
              <a:rPr b="1" dirty="0"/>
              <a:t>)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3DF6E0B-3AA1-6E4A-461A-ECC74C6A28E9}"/>
              </a:ext>
            </a:extLst>
          </p:cNvPr>
          <p:cNvGrpSpPr>
            <a:grpSpLocks noChangeAspect="1"/>
          </p:cNvGrpSpPr>
          <p:nvPr/>
        </p:nvGrpSpPr>
        <p:grpSpPr>
          <a:xfrm>
            <a:off x="336000" y="1987972"/>
            <a:ext cx="11520000" cy="3934449"/>
            <a:chOff x="686685" y="1987972"/>
            <a:chExt cx="11125876" cy="3799843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E1CCC0D5-B5F6-9E5B-752B-6715AB14A0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9624" y="1987972"/>
              <a:ext cx="5562937" cy="3799842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B8A97B46-6AC7-EC5A-5D76-394A336851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6685" y="1987972"/>
              <a:ext cx="5562939" cy="37998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86946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3EEA3-8169-4982-51FC-817A931E7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C8E35FC-00AC-E988-B8A6-6855EB330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 wrap="square"/>
          <a:lstStyle/>
          <a:p>
            <a:r>
              <a:rPr lang="en-US" b="1" dirty="0"/>
              <a:t>BMI</a:t>
            </a:r>
            <a:r>
              <a:rPr lang="ko-KR" altLang="en-US" b="1" dirty="0"/>
              <a:t> </a:t>
            </a:r>
            <a:r>
              <a:rPr lang="en-US" altLang="ko-KR" b="1" dirty="0"/>
              <a:t>4</a:t>
            </a:r>
            <a:r>
              <a:rPr lang="ko-KR" altLang="en-US" b="1" dirty="0"/>
              <a:t>구간 내에서 </a:t>
            </a:r>
            <a:r>
              <a:rPr lang="en-US" altLang="ko-KR" b="1" dirty="0"/>
              <a:t>Low-SMI </a:t>
            </a:r>
            <a:r>
              <a:rPr lang="ko-KR" altLang="en-US" b="1" dirty="0"/>
              <a:t>그룹 </a:t>
            </a:r>
            <a:r>
              <a:rPr lang="en-US" altLang="ko-KR" b="1" dirty="0"/>
              <a:t>AEC </a:t>
            </a:r>
            <a:r>
              <a:rPr lang="ko-KR" altLang="en-US" b="1" dirty="0"/>
              <a:t>비교</a:t>
            </a:r>
            <a:endParaRPr lang="en-US" altLang="ko-KR" b="1" dirty="0"/>
          </a:p>
          <a:p>
            <a:pPr lvl="1"/>
            <a:r>
              <a:rPr lang="en-US" dirty="0"/>
              <a:t>Underweight, Obese </a:t>
            </a:r>
            <a:r>
              <a:rPr lang="ko-KR" altLang="en-US" dirty="0"/>
              <a:t>그룹은 </a:t>
            </a:r>
            <a:r>
              <a:rPr lang="en-US" altLang="ko-KR" dirty="0"/>
              <a:t>p&gt;0.05, Normal, Overweight </a:t>
            </a:r>
            <a:r>
              <a:rPr lang="ko-KR" altLang="en-US" dirty="0"/>
              <a:t>그룹은 </a:t>
            </a:r>
            <a:r>
              <a:rPr lang="en-US" altLang="ko-KR" dirty="0"/>
              <a:t>p&lt;0.05</a:t>
            </a:r>
            <a:endParaRPr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165D3D-CCFD-DA8C-3606-FB29A37CB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 anchor="ctr">
            <a:normAutofit/>
          </a:bodyPr>
          <a:lstStyle/>
          <a:p>
            <a:r>
              <a:t>Detailed progress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9BCF46B7-9577-61C2-E953-33198623F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/>
          <a:p>
            <a:pPr>
              <a:spcAft>
                <a:spcPts val="600"/>
              </a:spcAft>
            </a:pPr>
            <a:fld id="{9F4AF89A-28FA-47FA-B28F-9A9C6913CB7A}" type="slidenum">
              <a:rPr lang="ko-KR" altLang="en-US" smtClean="0"/>
              <a:pPr>
                <a:spcAft>
                  <a:spcPts val="600"/>
                </a:spcAft>
              </a:pPr>
              <a:t>10</a:t>
            </a:fld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CB22C96-967F-85DB-4C68-C0B6A72FF574}"/>
              </a:ext>
            </a:extLst>
          </p:cNvPr>
          <p:cNvGrpSpPr/>
          <p:nvPr/>
        </p:nvGrpSpPr>
        <p:grpSpPr>
          <a:xfrm>
            <a:off x="126844" y="3289790"/>
            <a:ext cx="11743642" cy="2093225"/>
            <a:chOff x="126844" y="2632064"/>
            <a:chExt cx="11743642" cy="2093225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60589E0E-074B-5150-58EB-15A657E28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6512" b="46753"/>
            <a:stretch>
              <a:fillRect/>
            </a:stretch>
          </p:blipFill>
          <p:spPr>
            <a:xfrm>
              <a:off x="126844" y="2632064"/>
              <a:ext cx="5871821" cy="2092436"/>
            </a:xfrm>
            <a:prstGeom prst="rect">
              <a:avLst/>
            </a:prstGeom>
            <a:noFill/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EA7113A2-EB7D-C978-C58B-A91E9B63BA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53248"/>
            <a:stretch>
              <a:fillRect/>
            </a:stretch>
          </p:blipFill>
          <p:spPr>
            <a:xfrm>
              <a:off x="5998665" y="2632064"/>
              <a:ext cx="5871821" cy="2093225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2675931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226F4-B148-DB82-FA51-148222F26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E46A9-C734-6449-1C3E-8E16175EB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Next Plans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D2408-F981-AD7F-0BC2-B4589BD31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AEC-128 raw curve만으로는 TP/FP 구분 불가 (코호트 간 결과 불일치) → 새로운 접근 필요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en-US" b="1" dirty="0"/>
              <a:t>Clinic Data</a:t>
            </a:r>
            <a:r>
              <a:rPr lang="ko-KR" altLang="en-US" b="1" dirty="0"/>
              <a:t>와 </a:t>
            </a:r>
            <a:r>
              <a:rPr lang="en-US" altLang="ko-KR" b="1" dirty="0"/>
              <a:t>AEC Feature</a:t>
            </a:r>
            <a:r>
              <a:rPr lang="ko-KR" altLang="en-US" b="1" dirty="0"/>
              <a:t>의 </a:t>
            </a:r>
            <a:r>
              <a:rPr lang="en-US" altLang="ko-KR" b="1" dirty="0"/>
              <a:t>Multimodal Architecture </a:t>
            </a:r>
            <a:r>
              <a:rPr lang="ko-KR" altLang="en-US" b="1" dirty="0"/>
              <a:t>설계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en-US" b="1" dirty="0"/>
              <a:t>AUC </a:t>
            </a:r>
            <a:r>
              <a:rPr lang="ko-KR" altLang="en-US" b="1" dirty="0"/>
              <a:t>개선 방안 연구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022533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6" name="Google Shape;1176;g3d412ffb079_0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79866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12059-9B33-147B-1677-BDD8E142B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32DBA-7ACB-349D-035C-185AE1578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  <a:endParaRPr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402A4FB-6A63-7B41-1C02-E547118B1112}"/>
              </a:ext>
            </a:extLst>
          </p:cNvPr>
          <p:cNvGrpSpPr/>
          <p:nvPr/>
        </p:nvGrpSpPr>
        <p:grpSpPr>
          <a:xfrm>
            <a:off x="2596460" y="1429810"/>
            <a:ext cx="7164232" cy="2516126"/>
            <a:chOff x="4627854" y="3428998"/>
            <a:chExt cx="6823199" cy="2341976"/>
          </a:xfrm>
        </p:grpSpPr>
        <p:pic>
          <p:nvPicPr>
            <p:cNvPr id="6" name="Picture 5" descr="18_aec_curve_tp_vs_tn.png">
              <a:extLst>
                <a:ext uri="{FF2B5EF4-FFF2-40B4-BE49-F238E27FC236}">
                  <a16:creationId xmlns:a16="http://schemas.microsoft.com/office/drawing/2014/main" id="{219595BA-40AA-C995-BF1C-BAF002B99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27854" y="3428998"/>
              <a:ext cx="3428632" cy="2341976"/>
            </a:xfrm>
            <a:prstGeom prst="rect">
              <a:avLst/>
            </a:prstGeom>
          </p:spPr>
        </p:pic>
        <p:pic>
          <p:nvPicPr>
            <p:cNvPr id="7" name="Picture 6" descr="18_aec_curve_tp_vs_tn.png">
              <a:extLst>
                <a:ext uri="{FF2B5EF4-FFF2-40B4-BE49-F238E27FC236}">
                  <a16:creationId xmlns:a16="http://schemas.microsoft.com/office/drawing/2014/main" id="{76CBEDA8-7B81-5940-E62B-12A548078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22421" y="3428998"/>
              <a:ext cx="3428632" cy="2341976"/>
            </a:xfrm>
            <a:prstGeom prst="rect">
              <a:avLst/>
            </a:prstGeom>
          </p:spPr>
        </p:pic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8F4725D-1246-2F07-135D-C5618C58541A}"/>
              </a:ext>
            </a:extLst>
          </p:cNvPr>
          <p:cNvGrpSpPr>
            <a:grpSpLocks noChangeAspect="1"/>
          </p:cNvGrpSpPr>
          <p:nvPr/>
        </p:nvGrpSpPr>
        <p:grpSpPr>
          <a:xfrm>
            <a:off x="2616985" y="3945936"/>
            <a:ext cx="7161590" cy="2459030"/>
            <a:chOff x="5225965" y="3550000"/>
            <a:chExt cx="6981342" cy="2397139"/>
          </a:xfrm>
        </p:grpSpPr>
        <p:pic>
          <p:nvPicPr>
            <p:cNvPr id="12" name="Picture 5" descr="17_aec_curve_fp_vs_tn.png">
              <a:extLst>
                <a:ext uri="{FF2B5EF4-FFF2-40B4-BE49-F238E27FC236}">
                  <a16:creationId xmlns:a16="http://schemas.microsoft.com/office/drawing/2014/main" id="{1CBD24E7-F6C5-A104-78A0-5AD44C0EB43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25965" y="3550000"/>
              <a:ext cx="3509392" cy="2397139"/>
            </a:xfrm>
            <a:prstGeom prst="rect">
              <a:avLst/>
            </a:prstGeom>
          </p:spPr>
        </p:pic>
        <p:pic>
          <p:nvPicPr>
            <p:cNvPr id="13" name="Picture 6" descr="17_aec_curve_fp_vs_tn.png">
              <a:extLst>
                <a:ext uri="{FF2B5EF4-FFF2-40B4-BE49-F238E27FC236}">
                  <a16:creationId xmlns:a16="http://schemas.microsoft.com/office/drawing/2014/main" id="{7E4EA72D-82B2-332D-9E61-042D95CD6E4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97915" y="3550000"/>
              <a:ext cx="3509392" cy="2397139"/>
            </a:xfrm>
            <a:prstGeom prst="rect">
              <a:avLst/>
            </a:prstGeom>
          </p:spPr>
        </p:pic>
      </p:grpSp>
      <p:sp>
        <p:nvSpPr>
          <p:cNvPr id="17" name="내용 개체 틀 3">
            <a:extLst>
              <a:ext uri="{FF2B5EF4-FFF2-40B4-BE49-F238E27FC236}">
                <a16:creationId xmlns:a16="http://schemas.microsoft.com/office/drawing/2014/main" id="{E46FAD5E-DB3B-0FA4-33D2-0D3E295B9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Stage-1 AEC-128 </a:t>
            </a:r>
            <a:r>
              <a:rPr lang="ko-KR" altLang="en-US" b="1" dirty="0"/>
              <a:t>곡선 비교 </a:t>
            </a:r>
            <a:r>
              <a:rPr lang="en-US" altLang="ko-KR" b="1" dirty="0"/>
              <a:t>: TP/FP vs TN </a:t>
            </a:r>
            <a:r>
              <a:rPr lang="ko-KR" altLang="en-US" b="1" dirty="0"/>
              <a:t>모두 유의 </a:t>
            </a:r>
            <a:r>
              <a:rPr lang="en-US" altLang="ko-KR" b="1" dirty="0"/>
              <a:t>(p&lt;</a:t>
            </a:r>
            <a:r>
              <a:rPr lang="en-US" altLang="ko-KR" b="1"/>
              <a:t>0.01)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13297375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b="1" dirty="0"/>
              <a:t>일반적인 곡선 </a:t>
            </a:r>
            <a:r>
              <a:rPr lang="en-US" altLang="ko-KR" b="1" dirty="0"/>
              <a:t>Feature(14</a:t>
            </a:r>
            <a:r>
              <a:rPr lang="ko-KR" altLang="en-US" b="1" dirty="0"/>
              <a:t>개</a:t>
            </a:r>
            <a:r>
              <a:rPr lang="en-US" altLang="ko-KR" b="1" dirty="0"/>
              <a:t>) </a:t>
            </a:r>
            <a:r>
              <a:rPr lang="ko-KR" altLang="en-US" b="1" dirty="0"/>
              <a:t>추출하여 비교</a:t>
            </a:r>
            <a:endParaRPr lang="en-US" b="1" dirty="0"/>
          </a:p>
          <a:p>
            <a:pPr lvl="1"/>
            <a:r>
              <a:rPr lang="en-US" dirty="0" err="1"/>
              <a:t>분포</a:t>
            </a:r>
            <a:r>
              <a:rPr lang="en-US" dirty="0"/>
              <a:t>: std, skew, kurtosis</a:t>
            </a:r>
          </a:p>
          <a:p>
            <a:pPr lvl="1"/>
            <a:r>
              <a:rPr lang="en-US" dirty="0"/>
              <a:t>피크·트로프: peak_pos, peak_val, trough_pos, trough_val, range</a:t>
            </a:r>
          </a:p>
          <a:p>
            <a:pPr lvl="1"/>
            <a:r>
              <a:rPr lang="en-US" dirty="0"/>
              <a:t>형태·기울기: centroid, early_late_diff, slope_early, slope_late</a:t>
            </a:r>
          </a:p>
          <a:p>
            <a:pPr lvl="1"/>
            <a:r>
              <a:rPr lang="en-US" dirty="0"/>
              <a:t>편차: total_abs_dev, frac_above_center</a:t>
            </a:r>
          </a:p>
          <a:p>
            <a:pPr>
              <a:lnSpc>
                <a:spcPct val="150000"/>
              </a:lnSpc>
            </a:pPr>
            <a:r>
              <a:rPr lang="en-US" b="1" dirty="0"/>
              <a:t>FDR-q: 다중검정(84개) 보정 후 오탐 기대비율 — 유의 0/14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12092" y="4070991"/>
          <a:ext cx="9567816" cy="14000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391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1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1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1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66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KoPub돋움체 Bold"/>
                        </a:rPr>
                        <a:t>코호트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KoPub돋움체 Bold"/>
                        </a:rPr>
                        <a:t>raw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KoPub돋움체 Bold"/>
                        </a:rPr>
                        <a:t>propensity-matched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KoPub돋움체 Bold"/>
                        </a:rPr>
                        <a:t>clinic-residualized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6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KoPub돋움체 Medium"/>
                        </a:rPr>
                        <a:t>강남 (internal)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KoPub돋움체 Medium"/>
                        </a:rPr>
                        <a:t>0/14 (p&lt;.05: 2)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KoPub돋움체 Medium"/>
                        </a:rPr>
                        <a:t>0/14 (p&lt;.05: 0)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KoPub돋움체 Medium"/>
                        </a:rPr>
                        <a:t>0/14 (p&lt;.05: 2)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6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KoPub돋움체 Medium"/>
                        </a:rPr>
                        <a:t>신촌 (external)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KoPub돋움체 Medium"/>
                        </a:rPr>
                        <a:t>0/14 (p&lt;.05: 2)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KoPub돋움체 Medium"/>
                        </a:rPr>
                        <a:t>0/14 (p&lt;.05: 2)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KoPub돋움체 Medium"/>
                        </a:rPr>
                        <a:t>0/14 (p&lt;.05: 3)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32064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/>
              <a:t>강남(internal): raw/matched/residualized 전부 14개 feature 유의 없음 (q&lt;0.05 0/14)</a:t>
            </a:r>
          </a:p>
          <a:p>
            <a:pPr>
              <a:lnSpc>
                <a:spcPct val="150000"/>
              </a:lnSpc>
            </a:pPr>
            <a:r>
              <a:rPr lang="en-US" b="1" dirty="0"/>
              <a:t>가로축 -log10(p) — 점선(p=0.05) 오른쪽으로 넘어가야 유의, 왼쪽은 비유의</a:t>
            </a:r>
          </a:p>
        </p:txBody>
      </p:sp>
      <p:pic>
        <p:nvPicPr>
          <p:cNvPr id="4" name="Picture 3" descr="20_feature_pvalu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450000"/>
            <a:ext cx="10058400" cy="3088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6258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/>
              <a:t>신촌(external): raw/matched/residualized 전부 14개 feature 유의 없음 (q&lt;0.05 0/14)</a:t>
            </a:r>
          </a:p>
          <a:p>
            <a:pPr>
              <a:lnSpc>
                <a:spcPct val="150000"/>
              </a:lnSpc>
            </a:pPr>
            <a:r>
              <a:rPr lang="en-US" b="1" dirty="0"/>
              <a:t>가로축 -log10(p) — 점선(p=0.05) 오른쪽으로 넘어가야 유의, 왼쪽은 비유의</a:t>
            </a:r>
          </a:p>
        </p:txBody>
      </p:sp>
      <p:pic>
        <p:nvPicPr>
          <p:cNvPr id="4" name="Picture 3" descr="20_feature_pvalu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450000"/>
            <a:ext cx="10058400" cy="3088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399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/>
              <a:t>AEC-128 곡선 PCA: PC1-PC5 (raw 누적분산 96.8%, residualized 94.7%)</a:t>
            </a:r>
          </a:p>
          <a:p>
            <a:pPr>
              <a:lnSpc>
                <a:spcPct val="150000"/>
              </a:lnSpc>
            </a:pPr>
            <a:r>
              <a:rPr lang="en-US" b="1" dirty="0"/>
              <a:t>internal(n=1090) 적합, external frozen — 잔차화 회귀와 동일 관례</a:t>
            </a:r>
          </a:p>
          <a:p>
            <a:pPr>
              <a:lnSpc>
                <a:spcPct val="150000"/>
              </a:lnSpc>
            </a:pPr>
            <a:r>
              <a:rPr lang="en-US" b="1" dirty="0"/>
              <a:t>raw / propensity-matched / clinic-residualized 3방법 × 강남·신촌 × PC1-5</a:t>
            </a:r>
          </a:p>
          <a:p>
            <a:pPr>
              <a:lnSpc>
                <a:spcPct val="150000"/>
              </a:lnSpc>
            </a:pPr>
            <a:r>
              <a:rPr lang="en-US" b="1" dirty="0"/>
              <a:t>강남: 15개 PC-검정 전부 비유의 (q&lt;0.05 0/15)</a:t>
            </a:r>
          </a:p>
          <a:p>
            <a:pPr>
              <a:lnSpc>
                <a:spcPct val="150000"/>
              </a:lnSpc>
            </a:pPr>
            <a:r>
              <a:rPr lang="en-US" b="1" dirty="0"/>
              <a:t>신촌: raw/matched 비유의, residualized PC1만 경계선 유의 (q=0.045)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12092" y="4113487"/>
          <a:ext cx="9567816" cy="14000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391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1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1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1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66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KoPub돋움체 Bold"/>
                        </a:rPr>
                        <a:t>코호트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KoPub돋움체 Bold"/>
                        </a:rPr>
                        <a:t>raw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KoPub돋움체 Bold"/>
                        </a:rPr>
                        <a:t>propensity-matched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KoPub돋움체 Bold"/>
                        </a:rPr>
                        <a:t>clinic-residualized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6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KoPub돋움체 Medium"/>
                        </a:rPr>
                        <a:t>강남 (internal)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KoPub돋움체 Medium"/>
                        </a:rPr>
                        <a:t>0/5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KoPub돋움체 Medium"/>
                        </a:rPr>
                        <a:t>0/5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KoPub돋움체 Medium"/>
                        </a:rPr>
                        <a:t>0/5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6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KoPub돋움체 Medium"/>
                        </a:rPr>
                        <a:t>신촌 (external)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KoPub돋움체 Medium"/>
                        </a:rPr>
                        <a:t>0/5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KoPub돋움체 Medium"/>
                        </a:rPr>
                        <a:t>0/5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KoPub돋움체 Medium"/>
                        </a:rPr>
                        <a:t>1/5 (PC1, q=.045)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78841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/>
              <a:t>강남(internal): PC1-5 raw/matched/residualized 전부 유의 없음 (q&lt;0.05 0/15)</a:t>
            </a:r>
          </a:p>
          <a:p>
            <a:pPr>
              <a:lnSpc>
                <a:spcPct val="150000"/>
              </a:lnSpc>
            </a:pPr>
            <a:r>
              <a:rPr lang="en-US" b="1" dirty="0"/>
              <a:t>가로축 -log10(p) — 점선(p=0.05) 오른쪽으로 넘어가야 유의, 왼쪽은 비유의</a:t>
            </a:r>
          </a:p>
        </p:txBody>
      </p:sp>
      <p:pic>
        <p:nvPicPr>
          <p:cNvPr id="4" name="Picture 3" descr="23_pca_pvalu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450000"/>
            <a:ext cx="10058400" cy="3088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1995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/>
              <a:t>신촌(external): raw/matched 유의 없음, residualized PC1만 경계선 유의 (q=0.045)</a:t>
            </a:r>
          </a:p>
          <a:p>
            <a:pPr>
              <a:lnSpc>
                <a:spcPct val="150000"/>
              </a:lnSpc>
            </a:pPr>
            <a:r>
              <a:rPr lang="en-US" b="1" dirty="0"/>
              <a:t>가로축 -log10(p) — 점선(p=0.05) 오른쪽으로 넘어가야 유의, 왼쪽은 비유의</a:t>
            </a:r>
          </a:p>
        </p:txBody>
      </p:sp>
      <p:pic>
        <p:nvPicPr>
          <p:cNvPr id="4" name="Picture 3" descr="23_pca_pvalu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450000"/>
            <a:ext cx="10058400" cy="3088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2107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b="1" dirty="0"/>
              <a:t>Stage-2: </a:t>
            </a:r>
            <a:r>
              <a:rPr b="1" dirty="0" err="1"/>
              <a:t>자체</a:t>
            </a:r>
            <a:r>
              <a:rPr b="1" dirty="0"/>
              <a:t> </a:t>
            </a:r>
            <a:r>
              <a:rPr b="1" dirty="0" err="1"/>
              <a:t>학습</a:t>
            </a:r>
            <a:r>
              <a:rPr b="1" dirty="0"/>
              <a:t>(5-fold OOF) — Threshold-shift-only </a:t>
            </a:r>
            <a:r>
              <a:rPr b="1" dirty="0" err="1"/>
              <a:t>대비</a:t>
            </a:r>
            <a:r>
              <a:rPr b="1" dirty="0"/>
              <a:t> AEC </a:t>
            </a:r>
            <a:r>
              <a:rPr b="1" dirty="0" err="1"/>
              <a:t>효과는</a:t>
            </a:r>
            <a:r>
              <a:rPr b="1" dirty="0"/>
              <a:t> </a:t>
            </a:r>
            <a:r>
              <a:rPr b="1" dirty="0" err="1"/>
              <a:t>코호트마다</a:t>
            </a:r>
            <a:r>
              <a:rPr b="1" dirty="0"/>
              <a:t> </a:t>
            </a:r>
            <a:r>
              <a:rPr b="1" dirty="0" err="1"/>
              <a:t>다름</a:t>
            </a:r>
            <a:endParaRPr lang="en-US" b="1" dirty="0"/>
          </a:p>
          <a:p>
            <a:pPr lvl="1"/>
            <a:r>
              <a:rPr lang="ko-KR" altLang="en-US" sz="1400" b="1" dirty="0"/>
              <a:t>자체 학습</a:t>
            </a:r>
            <a:r>
              <a:rPr lang="en-US" altLang="ko-KR" sz="1400" b="1" dirty="0"/>
              <a:t>(self-trained): Threshold-shift-only vs. AEC-CNN — </a:t>
            </a:r>
            <a:r>
              <a:rPr lang="ko-KR" altLang="en-US" sz="1400" b="1" dirty="0"/>
              <a:t>동일 </a:t>
            </a:r>
            <a:r>
              <a:rPr lang="en-US" altLang="ko-KR" sz="1400" b="1" dirty="0"/>
              <a:t>sensitivity</a:t>
            </a:r>
            <a:r>
              <a:rPr lang="ko-KR" altLang="en-US" sz="1400" b="1" dirty="0"/>
              <a:t>에서 </a:t>
            </a:r>
            <a:r>
              <a:rPr lang="en-US" altLang="ko-KR" sz="1400" b="1" dirty="0"/>
              <a:t>specificity </a:t>
            </a:r>
            <a:r>
              <a:rPr lang="ko-KR" altLang="en-US" sz="1400" b="1" dirty="0"/>
              <a:t>비교</a:t>
            </a:r>
            <a:endParaRPr lang="en-US" altLang="ko-KR" sz="1400" b="1" dirty="0"/>
          </a:p>
          <a:p>
            <a:pPr lvl="1"/>
            <a:endParaRPr lang="en-US" altLang="ko-KR" sz="1400" b="1" dirty="0"/>
          </a:p>
          <a:p>
            <a:pPr lvl="1"/>
            <a:endParaRPr lang="en-US" altLang="ko-KR" sz="1400" b="1" dirty="0"/>
          </a:p>
          <a:p>
            <a:pPr lvl="1"/>
            <a:endParaRPr lang="en-US" altLang="ko-KR" sz="1400" b="1" dirty="0"/>
          </a:p>
          <a:p>
            <a:pPr lvl="1"/>
            <a:endParaRPr lang="en-US" altLang="ko-KR" sz="1400" b="1" dirty="0"/>
          </a:p>
          <a:p>
            <a:pPr lvl="1"/>
            <a:endParaRPr lang="en-US" altLang="ko-KR" sz="1400" b="1" dirty="0"/>
          </a:p>
          <a:p>
            <a:pPr lvl="1"/>
            <a:r>
              <a:rPr lang="en-US" altLang="ko-KR" sz="1400" b="1" dirty="0"/>
              <a:t>External transfer: </a:t>
            </a:r>
            <a:r>
              <a:rPr lang="ko-KR" altLang="en-US" sz="1400" b="1" dirty="0"/>
              <a:t>자체 학습된 모델을 다른 코호트에 그대로 적용</a:t>
            </a:r>
          </a:p>
          <a:p>
            <a:pPr lvl="1"/>
            <a:endParaRPr b="1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94578" y="2025000"/>
          <a:ext cx="8642985" cy="13500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926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9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9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83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98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792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r>
                        <a:rPr sz="1050" b="1"/>
                        <a:t>Cohort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/>
                        <a:t>Stage-2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/>
                        <a:t>spec p-value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/>
                        <a:t>Net NRI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/>
                        <a:t>n_deesc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/>
                        <a:t>Full-pipeline AUC (Δ vs Stage-1, DeLong 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sz="1100" b="0" dirty="0"/>
                        <a:t>Sinchon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/>
                        <a:t>Threshold-shift only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/>
                        <a:t>3.4e-21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+63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75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sz="1100" b="1"/>
                        <a:t>Sinchon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/>
                        <a:t>AEC-CNN (self-trained)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4.0e-28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/>
                        <a:t>+86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98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/>
                        <a:t>0.829 (Δ-0.003, p=0.256)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sz="1100" b="0"/>
                        <a:t>Gangnam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Threshold-shift only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4.1e-25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+77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87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/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r>
                        <a:rPr sz="1100" b="1"/>
                        <a:t>Gangnam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 dirty="0"/>
                        <a:t>AEC-CNN (self-trained)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5.3e-23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+70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 dirty="0"/>
                        <a:t>0.827 (Δ-0.002, p=0.632)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594578" y="3357939"/>
            <a:ext cx="864298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 dirty="0">
                <a:solidFill>
                  <a:srgbClr val="606060"/>
                </a:solidFill>
              </a:rPr>
              <a:t>→ Sinchon: AEC-CNN(+86)이 threshold-shift(+63)를 </a:t>
            </a:r>
            <a:r>
              <a:rPr sz="1100" b="0" i="1" dirty="0" err="1">
                <a:solidFill>
                  <a:srgbClr val="606060"/>
                </a:solidFill>
              </a:rPr>
              <a:t>유의하게</a:t>
            </a:r>
            <a:r>
              <a:rPr sz="1100" b="0" i="1" dirty="0">
                <a:solidFill>
                  <a:srgbClr val="606060"/>
                </a:solidFill>
              </a:rPr>
              <a:t> </a:t>
            </a:r>
            <a:r>
              <a:rPr sz="1100" b="0" i="1" dirty="0" err="1">
                <a:solidFill>
                  <a:srgbClr val="606060"/>
                </a:solidFill>
              </a:rPr>
              <a:t>초과</a:t>
            </a:r>
            <a:r>
              <a:rPr sz="1100" b="0" i="1" dirty="0">
                <a:solidFill>
                  <a:srgbClr val="606060"/>
                </a:solidFill>
              </a:rPr>
              <a:t> / Gangnam: threshold-shift(+77)가 </a:t>
            </a:r>
            <a:r>
              <a:rPr sz="1100" b="0" i="1" dirty="0" err="1">
                <a:solidFill>
                  <a:srgbClr val="606060"/>
                </a:solidFill>
              </a:rPr>
              <a:t>오히려</a:t>
            </a:r>
            <a:r>
              <a:rPr sz="1100" b="0" i="1" dirty="0">
                <a:solidFill>
                  <a:srgbClr val="606060"/>
                </a:solidFill>
              </a:rPr>
              <a:t> AEC-CNN(+70)</a:t>
            </a:r>
            <a:r>
              <a:rPr sz="1100" b="0" i="1" dirty="0" err="1">
                <a:solidFill>
                  <a:srgbClr val="606060"/>
                </a:solidFill>
              </a:rPr>
              <a:t>보다</a:t>
            </a:r>
            <a:r>
              <a:rPr sz="1100" b="0" i="1" dirty="0">
                <a:solidFill>
                  <a:srgbClr val="606060"/>
                </a:solidFill>
              </a:rPr>
              <a:t> </a:t>
            </a:r>
            <a:r>
              <a:rPr sz="1100" b="0" i="1" dirty="0" err="1">
                <a:solidFill>
                  <a:srgbClr val="606060"/>
                </a:solidFill>
              </a:rPr>
              <a:t>높음</a:t>
            </a:r>
            <a:r>
              <a:rPr sz="1100" b="0" i="1" dirty="0">
                <a:solidFill>
                  <a:srgbClr val="606060"/>
                </a:solidFill>
              </a:rPr>
              <a:t> — AEC </a:t>
            </a:r>
            <a:r>
              <a:rPr sz="1100" b="0" i="1" dirty="0" err="1">
                <a:solidFill>
                  <a:srgbClr val="606060"/>
                </a:solidFill>
              </a:rPr>
              <a:t>효과가</a:t>
            </a:r>
            <a:r>
              <a:rPr sz="1100" b="0" i="1" dirty="0">
                <a:solidFill>
                  <a:srgbClr val="606060"/>
                </a:solidFill>
              </a:rPr>
              <a:t> </a:t>
            </a:r>
            <a:r>
              <a:rPr sz="1100" b="0" i="1" dirty="0" err="1">
                <a:solidFill>
                  <a:srgbClr val="606060"/>
                </a:solidFill>
              </a:rPr>
              <a:t>코호트</a:t>
            </a:r>
            <a:r>
              <a:rPr sz="1100" b="0" i="1" dirty="0">
                <a:solidFill>
                  <a:srgbClr val="606060"/>
                </a:solidFill>
              </a:rPr>
              <a:t> 간 </a:t>
            </a:r>
            <a:r>
              <a:rPr sz="1100" b="0" i="1" dirty="0" err="1">
                <a:solidFill>
                  <a:srgbClr val="606060"/>
                </a:solidFill>
              </a:rPr>
              <a:t>반대</a:t>
            </a:r>
            <a:r>
              <a:rPr sz="1100" b="0" i="1" dirty="0">
                <a:solidFill>
                  <a:srgbClr val="606060"/>
                </a:solidFill>
              </a:rPr>
              <a:t>. </a:t>
            </a:r>
            <a:r>
              <a:rPr sz="1100" b="0" i="1" dirty="0" err="1">
                <a:solidFill>
                  <a:srgbClr val="606060"/>
                </a:solidFill>
              </a:rPr>
              <a:t>AUC는</a:t>
            </a:r>
            <a:r>
              <a:rPr sz="1100" b="0" i="1" dirty="0">
                <a:solidFill>
                  <a:srgbClr val="606060"/>
                </a:solidFill>
              </a:rPr>
              <a:t> 둘 다 baseline </a:t>
            </a:r>
            <a:r>
              <a:rPr sz="1100" b="0" i="1" dirty="0" err="1">
                <a:solidFill>
                  <a:srgbClr val="606060"/>
                </a:solidFill>
              </a:rPr>
              <a:t>대비</a:t>
            </a:r>
            <a:r>
              <a:rPr sz="1100" b="0" i="1" dirty="0">
                <a:solidFill>
                  <a:srgbClr val="606060"/>
                </a:solidFill>
              </a:rPr>
              <a:t> </a:t>
            </a:r>
            <a:r>
              <a:rPr sz="1100" b="0" i="1" dirty="0" err="1">
                <a:solidFill>
                  <a:srgbClr val="606060"/>
                </a:solidFill>
              </a:rPr>
              <a:t>유의한</a:t>
            </a:r>
            <a:r>
              <a:rPr sz="1100" b="0" i="1" dirty="0">
                <a:solidFill>
                  <a:srgbClr val="606060"/>
                </a:solidFill>
              </a:rPr>
              <a:t> </a:t>
            </a:r>
            <a:r>
              <a:rPr sz="1100" b="0" i="1" dirty="0" err="1">
                <a:solidFill>
                  <a:srgbClr val="606060"/>
                </a:solidFill>
              </a:rPr>
              <a:t>상승</a:t>
            </a:r>
            <a:r>
              <a:rPr sz="1100" b="0" i="1" dirty="0">
                <a:solidFill>
                  <a:srgbClr val="606060"/>
                </a:solidFill>
              </a:rPr>
              <a:t> </a:t>
            </a:r>
            <a:r>
              <a:rPr sz="1100" b="0" i="1" dirty="0" err="1">
                <a:solidFill>
                  <a:srgbClr val="606060"/>
                </a:solidFill>
              </a:rPr>
              <a:t>없음</a:t>
            </a:r>
            <a:r>
              <a:rPr sz="1100" b="0" i="1" dirty="0">
                <a:solidFill>
                  <a:srgbClr val="606060"/>
                </a:solidFill>
              </a:rPr>
              <a:t>(</a:t>
            </a:r>
            <a:r>
              <a:rPr sz="1100" b="0" i="1" dirty="0" err="1">
                <a:solidFill>
                  <a:srgbClr val="606060"/>
                </a:solidFill>
              </a:rPr>
              <a:t>오히려</a:t>
            </a:r>
            <a:r>
              <a:rPr sz="1100" b="0" i="1" dirty="0">
                <a:solidFill>
                  <a:srgbClr val="606060"/>
                </a:solidFill>
              </a:rPr>
              <a:t> </a:t>
            </a:r>
            <a:r>
              <a:rPr sz="1100" b="0" i="1" dirty="0" err="1">
                <a:solidFill>
                  <a:srgbClr val="606060"/>
                </a:solidFill>
              </a:rPr>
              <a:t>소폭</a:t>
            </a:r>
            <a:r>
              <a:rPr sz="1100" b="0" i="1" dirty="0">
                <a:solidFill>
                  <a:srgbClr val="606060"/>
                </a:solidFill>
              </a:rPr>
              <a:t> </a:t>
            </a:r>
            <a:r>
              <a:rPr sz="1100" b="0" i="1" dirty="0" err="1">
                <a:solidFill>
                  <a:srgbClr val="606060"/>
                </a:solidFill>
              </a:rPr>
              <a:t>하락</a:t>
            </a:r>
            <a:r>
              <a:rPr sz="1100" b="0" i="1" dirty="0">
                <a:solidFill>
                  <a:srgbClr val="606060"/>
                </a:solidFill>
              </a:rPr>
              <a:t>, </a:t>
            </a:r>
            <a:r>
              <a:rPr sz="1100" b="0" i="1" dirty="0" err="1">
                <a:solidFill>
                  <a:srgbClr val="606060"/>
                </a:solidFill>
              </a:rPr>
              <a:t>비유의</a:t>
            </a:r>
            <a:r>
              <a:rPr sz="1100" b="0" i="1" dirty="0">
                <a:solidFill>
                  <a:srgbClr val="606060"/>
                </a:solidFill>
              </a:rPr>
              <a:t>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94578" y="4266501"/>
          <a:ext cx="8642986" cy="9500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919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7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69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32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58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23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975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6666">
                <a:tc>
                  <a:txBody>
                    <a:bodyPr/>
                    <a:lstStyle/>
                    <a:p>
                      <a:r>
                        <a:rPr sz="1050" b="1"/>
                        <a:t>Trained 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/>
                        <a:t>Tested 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/>
                        <a:t>spec p-value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/>
                        <a:t>Net NRI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/>
                        <a:t>n_deesc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/>
                        <a:t>NI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 dirty="0"/>
                        <a:t>Full-pipeline AUC (Δ vs Stage-1, DeLong 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666">
                <a:tc>
                  <a:txBody>
                    <a:bodyPr/>
                    <a:lstStyle/>
                    <a:p>
                      <a:r>
                        <a:rPr sz="1100" b="0" dirty="0"/>
                        <a:t>Sinchon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/>
                        <a:t>Gangnam (external)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/>
                        <a:t>3.1e-33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/>
                        <a:t>+95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/>
                        <a:t>123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/>
                        <a:t>FAIL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/>
                        <a:t>0.827 (Δ-0.005, p=0.010)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668">
                <a:tc>
                  <a:txBody>
                    <a:bodyPr/>
                    <a:lstStyle/>
                    <a:p>
                      <a:r>
                        <a:rPr sz="1100" b="0"/>
                        <a:t>Gangnam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Sinchon (external)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2.7e-20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+61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dirty="0"/>
                        <a:t>0.829 (Δ-0.006, p=0.053)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594578" y="5300000"/>
            <a:ext cx="86429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 dirty="0">
                <a:solidFill>
                  <a:srgbClr val="606060"/>
                </a:solidFill>
              </a:rPr>
              <a:t>→ </a:t>
            </a:r>
            <a:r>
              <a:rPr sz="1100" b="0" i="1" dirty="0" err="1">
                <a:solidFill>
                  <a:srgbClr val="606060"/>
                </a:solidFill>
              </a:rPr>
              <a:t>Sinchon→Gangnam은</a:t>
            </a:r>
            <a:r>
              <a:rPr sz="1100" b="0" i="1" dirty="0">
                <a:solidFill>
                  <a:srgbClr val="606060"/>
                </a:solidFill>
              </a:rPr>
              <a:t> </a:t>
            </a:r>
            <a:r>
              <a:rPr sz="1100" b="0" i="1" dirty="0" err="1">
                <a:solidFill>
                  <a:srgbClr val="606060"/>
                </a:solidFill>
              </a:rPr>
              <a:t>NRI가</a:t>
            </a:r>
            <a:r>
              <a:rPr sz="1100" b="0" i="1" dirty="0">
                <a:solidFill>
                  <a:srgbClr val="606060"/>
                </a:solidFill>
              </a:rPr>
              <a:t> </a:t>
            </a:r>
            <a:r>
              <a:rPr sz="1100" b="0" i="1" dirty="0" err="1">
                <a:solidFill>
                  <a:srgbClr val="606060"/>
                </a:solidFill>
              </a:rPr>
              <a:t>가장</a:t>
            </a:r>
            <a:r>
              <a:rPr sz="1100" b="0" i="1" dirty="0">
                <a:solidFill>
                  <a:srgbClr val="606060"/>
                </a:solidFill>
              </a:rPr>
              <a:t> </a:t>
            </a:r>
            <a:r>
              <a:rPr sz="1100" b="0" i="1" dirty="0" err="1">
                <a:solidFill>
                  <a:srgbClr val="606060"/>
                </a:solidFill>
              </a:rPr>
              <a:t>크지만</a:t>
            </a:r>
            <a:r>
              <a:rPr sz="1100" b="0" i="1" dirty="0">
                <a:solidFill>
                  <a:srgbClr val="606060"/>
                </a:solidFill>
              </a:rPr>
              <a:t>(+95) </a:t>
            </a:r>
            <a:r>
              <a:rPr sz="1100" b="0" i="1" dirty="0" err="1">
                <a:solidFill>
                  <a:srgbClr val="606060"/>
                </a:solidFill>
              </a:rPr>
              <a:t>sensitivity가</a:t>
            </a:r>
            <a:r>
              <a:rPr sz="1100" b="0" i="1" dirty="0">
                <a:solidFill>
                  <a:srgbClr val="606060"/>
                </a:solidFill>
              </a:rPr>
              <a:t> </a:t>
            </a:r>
            <a:r>
              <a:rPr sz="1100" b="0" i="1" dirty="0" err="1">
                <a:solidFill>
                  <a:srgbClr val="606060"/>
                </a:solidFill>
              </a:rPr>
              <a:t>과도하게</a:t>
            </a:r>
            <a:r>
              <a:rPr sz="1100" b="0" i="1" dirty="0">
                <a:solidFill>
                  <a:srgbClr val="606060"/>
                </a:solidFill>
              </a:rPr>
              <a:t> </a:t>
            </a:r>
            <a:r>
              <a:rPr sz="1100" b="0" i="1" dirty="0" err="1">
                <a:solidFill>
                  <a:srgbClr val="606060"/>
                </a:solidFill>
              </a:rPr>
              <a:t>떨어져</a:t>
            </a:r>
            <a:r>
              <a:rPr sz="1100" b="0" i="1" dirty="0">
                <a:solidFill>
                  <a:srgbClr val="606060"/>
                </a:solidFill>
              </a:rPr>
              <a:t> NI test FAIL — </a:t>
            </a:r>
            <a:r>
              <a:rPr sz="1100" b="0" i="1" dirty="0" err="1">
                <a:solidFill>
                  <a:srgbClr val="606060"/>
                </a:solidFill>
              </a:rPr>
              <a:t>AUC도</a:t>
            </a:r>
            <a:r>
              <a:rPr sz="1100" b="0" i="1" dirty="0">
                <a:solidFill>
                  <a:srgbClr val="606060"/>
                </a:solidFill>
              </a:rPr>
              <a:t> </a:t>
            </a:r>
            <a:r>
              <a:rPr sz="1100" b="0" i="1" dirty="0" err="1">
                <a:solidFill>
                  <a:srgbClr val="606060"/>
                </a:solidFill>
              </a:rPr>
              <a:t>baseline보다</a:t>
            </a:r>
            <a:r>
              <a:rPr sz="1100" b="0" i="1" dirty="0">
                <a:solidFill>
                  <a:srgbClr val="606060"/>
                </a:solidFill>
              </a:rPr>
              <a:t> </a:t>
            </a:r>
            <a:r>
              <a:rPr sz="1100" b="0" i="1" dirty="0" err="1">
                <a:solidFill>
                  <a:srgbClr val="606060"/>
                </a:solidFill>
              </a:rPr>
              <a:t>유의하게</a:t>
            </a:r>
            <a:r>
              <a:rPr sz="1100" b="0" i="1" dirty="0">
                <a:solidFill>
                  <a:srgbClr val="606060"/>
                </a:solidFill>
              </a:rPr>
              <a:t> </a:t>
            </a:r>
            <a:r>
              <a:rPr sz="1100" b="0" i="1" dirty="0" err="1">
                <a:solidFill>
                  <a:srgbClr val="606060"/>
                </a:solidFill>
              </a:rPr>
              <a:t>하락</a:t>
            </a:r>
            <a:r>
              <a:rPr sz="1100" b="0" i="1" dirty="0">
                <a:solidFill>
                  <a:srgbClr val="606060"/>
                </a:solidFill>
              </a:rPr>
              <a:t>(p=0.010), </a:t>
            </a:r>
            <a:r>
              <a:rPr sz="1100" b="0" i="1" dirty="0" err="1">
                <a:solidFill>
                  <a:srgbClr val="606060"/>
                </a:solidFill>
              </a:rPr>
              <a:t>숫자만</a:t>
            </a:r>
            <a:r>
              <a:rPr sz="1100" b="0" i="1" dirty="0">
                <a:solidFill>
                  <a:srgbClr val="606060"/>
                </a:solidFill>
              </a:rPr>
              <a:t> </a:t>
            </a:r>
            <a:r>
              <a:rPr sz="1100" b="0" i="1" dirty="0" err="1">
                <a:solidFill>
                  <a:srgbClr val="606060"/>
                </a:solidFill>
              </a:rPr>
              <a:t>좋아</a:t>
            </a:r>
            <a:r>
              <a:rPr sz="1100" b="0" i="1" dirty="0">
                <a:solidFill>
                  <a:srgbClr val="606060"/>
                </a:solidFill>
              </a:rPr>
              <a:t> </a:t>
            </a:r>
            <a:r>
              <a:rPr sz="1100" b="0" i="1" dirty="0" err="1">
                <a:solidFill>
                  <a:srgbClr val="606060"/>
                </a:solidFill>
              </a:rPr>
              <a:t>보이는</a:t>
            </a:r>
            <a:r>
              <a:rPr sz="1100" b="0" i="1" dirty="0">
                <a:solidFill>
                  <a:srgbClr val="606060"/>
                </a:solidFill>
              </a:rPr>
              <a:t> </a:t>
            </a:r>
            <a:r>
              <a:rPr sz="1100" b="0" i="1" dirty="0" err="1">
                <a:solidFill>
                  <a:srgbClr val="606060"/>
                </a:solidFill>
              </a:rPr>
              <a:t>함정</a:t>
            </a:r>
            <a:r>
              <a:rPr sz="1100" b="0" i="1" dirty="0">
                <a:solidFill>
                  <a:srgbClr val="606060"/>
                </a:solidFill>
              </a:rPr>
              <a:t>. </a:t>
            </a:r>
            <a:r>
              <a:rPr sz="1100" b="0" i="1" dirty="0" err="1">
                <a:solidFill>
                  <a:srgbClr val="606060"/>
                </a:solidFill>
              </a:rPr>
              <a:t>Gangnam→Sinchon</a:t>
            </a:r>
            <a:r>
              <a:rPr sz="1100" b="0" i="1" dirty="0">
                <a:solidFill>
                  <a:srgbClr val="606060"/>
                </a:solidFill>
              </a:rPr>
              <a:t>(+61)은 NI PASS, AUC </a:t>
            </a:r>
            <a:r>
              <a:rPr sz="1100" b="0" i="1" dirty="0" err="1">
                <a:solidFill>
                  <a:srgbClr val="606060"/>
                </a:solidFill>
              </a:rPr>
              <a:t>하락은</a:t>
            </a:r>
            <a:r>
              <a:rPr sz="1100" b="0" i="1" dirty="0">
                <a:solidFill>
                  <a:srgbClr val="606060"/>
                </a:solidFill>
              </a:rPr>
              <a:t> </a:t>
            </a:r>
            <a:r>
              <a:rPr sz="1100" b="0" i="1" dirty="0" err="1">
                <a:solidFill>
                  <a:srgbClr val="606060"/>
                </a:solidFill>
              </a:rPr>
              <a:t>경계선</a:t>
            </a:r>
            <a:r>
              <a:rPr sz="1100" b="0" i="1" dirty="0">
                <a:solidFill>
                  <a:srgbClr val="606060"/>
                </a:solidFill>
              </a:rPr>
              <a:t> </a:t>
            </a:r>
            <a:r>
              <a:rPr sz="1100" b="0" i="1" dirty="0" err="1">
                <a:solidFill>
                  <a:srgbClr val="606060"/>
                </a:solidFill>
              </a:rPr>
              <a:t>수준</a:t>
            </a:r>
            <a:r>
              <a:rPr sz="1100" b="0" i="1" dirty="0">
                <a:solidFill>
                  <a:srgbClr val="606060"/>
                </a:solidFill>
              </a:rPr>
              <a:t>(p=0.053)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9996" y="5900000"/>
            <a:ext cx="95596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 dirty="0">
                <a:solidFill>
                  <a:srgbClr val="606060"/>
                </a:solidFill>
              </a:rPr>
              <a:t>→ Gangnam AEC-CNN </a:t>
            </a:r>
            <a:r>
              <a:rPr sz="1100" i="1" dirty="0" err="1">
                <a:solidFill>
                  <a:srgbClr val="606060"/>
                </a:solidFill>
              </a:rPr>
              <a:t>자체</a:t>
            </a:r>
            <a:r>
              <a:rPr sz="1100" i="1" dirty="0">
                <a:solidFill>
                  <a:srgbClr val="606060"/>
                </a:solidFill>
              </a:rPr>
              <a:t> OOF AUC=0.52(</a:t>
            </a:r>
            <a:r>
              <a:rPr sz="1100" i="1" dirty="0" err="1">
                <a:solidFill>
                  <a:srgbClr val="606060"/>
                </a:solidFill>
              </a:rPr>
              <a:t>노이즈</a:t>
            </a:r>
            <a:r>
              <a:rPr sz="1100" i="1" dirty="0">
                <a:solidFill>
                  <a:srgbClr val="606060"/>
                </a:solidFill>
              </a:rPr>
              <a:t> </a:t>
            </a:r>
            <a:r>
              <a:rPr sz="1100" i="1" dirty="0" err="1">
                <a:solidFill>
                  <a:srgbClr val="606060"/>
                </a:solidFill>
              </a:rPr>
              <a:t>수준</a:t>
            </a:r>
            <a:r>
              <a:rPr sz="1100" i="1" dirty="0">
                <a:solidFill>
                  <a:srgbClr val="606060"/>
                </a:solidFill>
              </a:rPr>
              <a:t>) — Gangnam raw curve TP-vs-FP </a:t>
            </a:r>
            <a:r>
              <a:rPr sz="1100" i="1" dirty="0" err="1">
                <a:solidFill>
                  <a:srgbClr val="606060"/>
                </a:solidFill>
              </a:rPr>
              <a:t>비유의</a:t>
            </a:r>
            <a:r>
              <a:rPr sz="1100" i="1" dirty="0">
                <a:solidFill>
                  <a:srgbClr val="606060"/>
                </a:solidFill>
              </a:rPr>
              <a:t>(p=0.227)와 </a:t>
            </a:r>
            <a:r>
              <a:rPr sz="1100" i="1" dirty="0" err="1">
                <a:solidFill>
                  <a:srgbClr val="606060"/>
                </a:solidFill>
              </a:rPr>
              <a:t>일치</a:t>
            </a:r>
            <a:r>
              <a:rPr sz="1100" i="1" dirty="0">
                <a:solidFill>
                  <a:srgbClr val="606060"/>
                </a:solidFill>
              </a:rPr>
              <a:t>, </a:t>
            </a:r>
            <a:r>
              <a:rPr sz="1100" i="1" dirty="0" err="1">
                <a:solidFill>
                  <a:srgbClr val="606060"/>
                </a:solidFill>
              </a:rPr>
              <a:t>AEC가</a:t>
            </a:r>
            <a:r>
              <a:rPr sz="1100" i="1" dirty="0">
                <a:solidFill>
                  <a:srgbClr val="606060"/>
                </a:solidFill>
              </a:rPr>
              <a:t> </a:t>
            </a:r>
            <a:r>
              <a:rPr sz="1100" i="1" dirty="0" err="1">
                <a:solidFill>
                  <a:srgbClr val="606060"/>
                </a:solidFill>
              </a:rPr>
              <a:t>Gangnam에서는</a:t>
            </a:r>
            <a:r>
              <a:rPr sz="1100" i="1" dirty="0">
                <a:solidFill>
                  <a:srgbClr val="606060"/>
                </a:solidFill>
              </a:rPr>
              <a:t> </a:t>
            </a:r>
            <a:r>
              <a:rPr sz="1100" i="1" dirty="0" err="1">
                <a:solidFill>
                  <a:srgbClr val="606060"/>
                </a:solidFill>
              </a:rPr>
              <a:t>애초에</a:t>
            </a:r>
            <a:r>
              <a:rPr sz="1100" i="1" dirty="0">
                <a:solidFill>
                  <a:srgbClr val="606060"/>
                </a:solidFill>
              </a:rPr>
              <a:t> </a:t>
            </a:r>
            <a:r>
              <a:rPr sz="1100" i="1" dirty="0" err="1">
                <a:solidFill>
                  <a:srgbClr val="606060"/>
                </a:solidFill>
              </a:rPr>
              <a:t>분리</a:t>
            </a:r>
            <a:r>
              <a:rPr sz="1100" i="1" dirty="0">
                <a:solidFill>
                  <a:srgbClr val="606060"/>
                </a:solidFill>
              </a:rPr>
              <a:t> </a:t>
            </a:r>
            <a:r>
              <a:rPr sz="1100" i="1" dirty="0" err="1">
                <a:solidFill>
                  <a:srgbClr val="606060"/>
                </a:solidFill>
              </a:rPr>
              <a:t>신호를</a:t>
            </a:r>
            <a:r>
              <a:rPr sz="1100" i="1" dirty="0">
                <a:solidFill>
                  <a:srgbClr val="606060"/>
                </a:solidFill>
              </a:rPr>
              <a:t> </a:t>
            </a:r>
            <a:r>
              <a:rPr sz="1100" i="1" dirty="0" err="1">
                <a:solidFill>
                  <a:srgbClr val="606060"/>
                </a:solidFill>
              </a:rPr>
              <a:t>담고</a:t>
            </a:r>
            <a:r>
              <a:rPr sz="1100" i="1" dirty="0">
                <a:solidFill>
                  <a:srgbClr val="606060"/>
                </a:solidFill>
              </a:rPr>
              <a:t> </a:t>
            </a:r>
            <a:r>
              <a:rPr sz="1100" i="1" dirty="0" err="1">
                <a:solidFill>
                  <a:srgbClr val="606060"/>
                </a:solidFill>
              </a:rPr>
              <a:t>있지</a:t>
            </a:r>
            <a:r>
              <a:rPr sz="1100" i="1" dirty="0">
                <a:solidFill>
                  <a:srgbClr val="606060"/>
                </a:solidFill>
              </a:rPr>
              <a:t> </a:t>
            </a:r>
            <a:r>
              <a:rPr sz="1100" i="1" dirty="0" err="1">
                <a:solidFill>
                  <a:srgbClr val="606060"/>
                </a:solidFill>
              </a:rPr>
              <a:t>않음</a:t>
            </a:r>
            <a:endParaRPr sz="1100" i="1" dirty="0">
              <a:solidFill>
                <a:srgbClr val="606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2494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5478</TotalTime>
  <Words>3439</Words>
  <Application>Microsoft Office PowerPoint</Application>
  <PresentationFormat>와이드스크린</PresentationFormat>
  <Paragraphs>266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4" baseType="lpstr">
      <vt:lpstr>Arial</vt:lpstr>
      <vt:lpstr>KoPub돋움체 Medium</vt:lpstr>
      <vt:lpstr>KoPub돋움체 Bold</vt:lpstr>
      <vt:lpstr>Office 테마</vt:lpstr>
      <vt:lpstr>PowerPoint 프레젠테이션</vt:lpstr>
      <vt:lpstr>Detailed progress</vt:lpstr>
      <vt:lpstr>Detailed progress</vt:lpstr>
      <vt:lpstr>Detailed progress</vt:lpstr>
      <vt:lpstr>Detailed progress</vt:lpstr>
      <vt:lpstr>Detailed progress</vt:lpstr>
      <vt:lpstr>Detailed progress</vt:lpstr>
      <vt:lpstr>Detailed progress</vt:lpstr>
      <vt:lpstr>Detailed progress</vt:lpstr>
      <vt:lpstr>Detailed progress</vt:lpstr>
      <vt:lpstr>Next Plans</vt:lpstr>
      <vt:lpstr>PowerPoint 프레젠테이션</vt:lpstr>
      <vt:lpstr>Detailed progress</vt:lpstr>
      <vt:lpstr>Detailed progress</vt:lpstr>
      <vt:lpstr>Detailed progress</vt:lpstr>
      <vt:lpstr>Detailed progress</vt:lpstr>
      <vt:lpstr>Detailed progress</vt:lpstr>
      <vt:lpstr>Detailed progress</vt:lpstr>
      <vt:lpstr>Detailed progress</vt:lpstr>
      <vt:lpstr>Detailed progress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전장훈</dc:creator>
  <cp:lastModifiedBy>전장훈</cp:lastModifiedBy>
  <cp:revision>503</cp:revision>
  <dcterms:created xsi:type="dcterms:W3CDTF">2026-04-09T07:05:16Z</dcterms:created>
  <dcterms:modified xsi:type="dcterms:W3CDTF">2026-07-24T03:27:01Z</dcterms:modified>
</cp:coreProperties>
</file>