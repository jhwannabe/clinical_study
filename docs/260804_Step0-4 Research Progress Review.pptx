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9" r:id="rId4"/>
    <p:sldId id="260" r:id="rId5"/>
    <p:sldId id="261" r:id="rId6"/>
    <p:sldId id="262" r:id="rId7"/>
    <p:sldId id="263" r:id="rId8"/>
    <p:sldId id="264" r:id="rId9"/>
    <p:sldId id="265" r:id="rId10"/>
    <p:sldId id="266" r:id="rId11"/>
    <p:sldId id="277" r:id="rId12"/>
    <p:sldId id="267" r:id="rId13"/>
    <p:sldId id="268" r:id="rId14"/>
    <p:sldId id="269" r:id="rId15"/>
    <p:sldId id="270" r:id="rId16"/>
    <p:sldId id="271" r:id="rId17"/>
    <p:sldId id="278" r:id="rId18"/>
    <p:sldId id="274" r:id="rId19"/>
    <p:sldId id="275" r:id="rId20"/>
    <p:sldId id="272" r:id="rId21"/>
    <p:sldId id="273" r:id="rId22"/>
    <p:sldId id="27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00" autoAdjust="0"/>
  </p:normalViewPr>
  <p:slideViewPr>
    <p:cSldViewPr snapToGrid="0" snapToObjects="1">
      <p:cViewPr varScale="1">
        <p:scale>
          <a:sx n="102" d="100"/>
          <a:sy n="102" d="100"/>
        </p:scale>
        <p:origin x="91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56F051-BC60-44AF-AC53-FDEAE25DFCCE}" type="datetimeFigureOut">
              <a:rPr lang="ko-KR" altLang="en-US" smtClean="0"/>
              <a:t>2026-08-05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483C92-362C-4702-86AC-1EA22DAC6691}" type="slidenum">
              <a:rPr lang="ko-KR" altLang="en-US" smtClean="0"/>
              <a:t>‹#›</a:t>
            </a:fld>
            <a:endParaRPr lang="ko-KR" altLang="en-US"/>
          </a:p>
        </p:txBody>
      </p:sp>
    </p:spTree>
    <p:extLst>
      <p:ext uri="{BB962C8B-B14F-4D97-AF65-F5344CB8AC3E}">
        <p14:creationId xmlns:p14="http://schemas.microsoft.com/office/powerpoint/2010/main" val="325326871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AEC-128 신호 자체의 정체와 전처리 방식에 대한 문헌 근거입니다. AEC-128은 CT 스캐너의 Automatic Exposure Control이 z축을 따라 조절한 관전류(mA) 변조 곡선이며, DICOM 메타데이터로 확인된 사실입니다. Li 2017은 raw mA 곡선 형태가 실제 선량분포와 다름을 보여 raw 단독 사용의 한계를 시사하고, Bostani 2015는 patient-wise(위치별) 정규화가 middle-slice·global보다 통계적으로 우수함을 실증했습니다. Keogh 2001의 PAA는 곡선을 N개 구간으로 나눠 평균으로 압축하는 표준 차원축소 기법으로 Step1~3의 공통 이론적 근거입니다. 상세 목록은 docs/aec_preprocessing_related_research.md 참고.</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연구의 핵심 결론입니다. Clinic4 baseline은 TAMA에서 external R²=0.711로 가장 높습니다. AEC-128을 추가하는 4개 실험(Step1 구간평균, Step2 top-k, Step2 앞뒤50%, Step3 형태feature) 모두 paired bootstrap으로 확증검정했고, VAT가 Step2 top-k(8구간 전체)에서 ΔR²=+0.090으로 가장 크게 개선됩니다. 반대로 NAMA는 Step1의 극단압축(N=1, 곡선 전체를 숫자 1개로) 조건에서 ΔR²=-0.193으로 가장 크게 악화됩니다. IMATA·SAT는 4개 실험 전부에서 유의한 효과가 확인되지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연구 설계와 검증 프로토콜입니다. Internal(강남, n=1090)에서는 5-fold cross-validation으로 out-of-fold R²를 산출하고, External(신촌, n=926)에는 학습을 마친 모델을 재학습 없이 그대로(frozen) 적용합니다(TRIPOD geographic external validation). 여러 config를 external과 비교해 제일 좋은 것을 고르면 external을 튜닝에 쓰는 것이라 원칙 위반이므로, internal 성능만으로 feature별 최적 config를 먼저 1개 확정한 뒤 그 config 하나만 external에서 단 한 번 paired bootstrap(5,000회)으로 검증합니다. Predictor는 clinic4(Step0)+AEC-128 파생 feature(Step1~3), outcome은 CT 체성분 7종(IMATA·NAMA·LAMA·TAMA·VAT·SAT·Total Fat)입니다. 원칙은 docs/internal_external_validation_protocol.md에 문서화되어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Step0~3에 들어가기 전 predictor(clinic4·AEC)와 outcome(체성분 7종) 간 단순 상관관계입니다. Weight가 TAMA와 가장 강한 상관(r≈0.76~0.77)을 보이고 Height는 근육계열에서만 강합니다. AEC-128 구간평균은 근육계열에서는 전 구간 |r|&lt;0.25로 약하고, 지방계열(특히 VAT)은 곡선 중후반부(50~75% 구간)에서 r=0.60~0.63까지 올라갑니다. 이 패턴이 Step1~3에서 근육계열은 항상 악화, 지방계열은 조건부 개선으로 갈리는 근거가 됩니다.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Step0 baseline 결과입니다(outputs/step0/clinical_only_linear_regression_summary.csv). TAMA가 internal 0.646, external 0.711로 가장 높고 external에서 오히려 상승하는 유일한 feature입니다. LAMA만 external R²가 음수(-0.035)로 붕괴하는데, 원인은 강남(평균 4192)과 신촌(평균 5521) 코호트 간 평균차(+31.7%)로 인한 동결모델의 상수편향(bias=-1206, bias²가 external MSE의 32%)입니다. 전 feature에서 잔차 정규성 위배(Shapiro p&lt;0.05)와 이분산성이 확인됩니다.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Step1 결과입니다(docs/clinic4_aec_mean_segment_analysis.md). 7개 feature 중 VAT만 진짜로 검증을 통과합니다 — internal 최적 모델(mean16)이 external에서도 유의하게 상회(+0.062). LAMA도 통계적으로는 유의하지만 clinic4 baseline external R²가 -0.035로 무신호라 액면 그대로 해석하면 안 됩니다. NAMA·TAMA는 internal에서는 소폭 개선되어 보였지만 external에서 각각 -0.178, -0.031로 하락하는 전형적 과적합 패턴입니다. IMATA·SAT·Total Fat은 n.s.입니다. 참고로 극단압축(N=1)만 고정하면 7개 feature 전부 external이 유의하게 악화됩니다.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Step2 top-k 결과입니다(docs/step1_2_3_rigorous_significance_analysis.md). 지방계열(VAT·Total Fat)은 k=8(8구간 전부 사용) 조건에서만 external이 유의하게 개선됩니다(VAT +0.090). 일부 구간만 골라 쓰면(k&lt;8) 정보가 부족해 오히려 손해입니다. 근육계열(NAMA·TAMA)은 k와 무관하게 항상 baseline보다 나쁩니다. IMATA·SAT는 어떤 k에서도 n.s.입니다. LAMA의 '유의'는 baseline이 무신호라 실질적 의미는 낮습니다.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Step2 앞/뒤 50% 결과입니다. 7개 feature 전부 external에서 통계적으로 유의하게 악화됩니다 — 지방계열도 예외가 없습니다. top-k(전체 구간 활용 시에만 개선)와 대조적으로, 곡선을 반으로 쪼개 한쪽 절반만 단독으로 쓰는 방식은 정보 손실이 너무 커서 항상 해롭습니다. Step1의 mean2(앞/뒤를 별도 feature 2개로 '결합')만 VAT external을 개선시켰다는 점과 대비하면, 절반을 버리는 게 아니라 결합해야 이득이 나는 구조입니다.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Step3 형태feature 결과입니다. VAT·Total Fat은 shape_all(SD+Skewness+Upper/Lower Ratio 결합)에서만 유의하게 개선됩니다 — Step2 top-k(전체 구간 결합)와 동일한 패턴입니다. NAMA·TAMA는 형태feature로도 구제되지 않고 여전히 유의 악화입니다. IMATA·SAT는 n.s.입니다. LAMA는 uplow_ratio에서 통계적으로 유의하지만 baseline이 무신호라 실질적 의미는 제한적입니다.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Step1(구간평균)·Step2(top-k)·Step2(앞/뒤50%)·Step3(형태feature) 4개 실험의 external ΔR²(paired bootstrap 확증)를 feature 하나의 행에 모은 종합표입니다. VAT·Total Fat은 정보를 충분히 보존한 표현(mean16/32, top8, shape_all)에서만 개선이고, 정보를 과압축한 앞/뒤50%에서는 똑같이 악화입니다. NAMA·TAMA는 4개 실험 전부 악화로 예외가 없습니다. 이 표가 이번 발표의 핵심 결과 슬라이드입니다.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Slide12 종합표에서 관찰된 패턴을 상관관계 근거로 설명합니다. 근육계열이 항상 악화되는 것은 애초에 AEC와의 상관이 약하기 때문이고(NAMA 전 구간 |r|&lt;0.25), 지방계열이 조건부로만 개선되는 것은 상관 자체는 강하지만(VAT 후반부 r≈0.6) 그 정보를 압축 없이 충분히 보존해야만 회귀 모델이 신호를 실제로 활용할 수 있기 때문입니다. IMATA·SAT는 상관은 존재해도 회귀 성능 개선으로 전이되지 않아, 기존의 "지방계열은 대체로 개선된다"는 서술은 재검토가 필요합니다.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결과의 최종 결론입니다. AEC-128을 clinic4 회귀에 추가해 external까지 견고하게 이득을 보는 feature는 VAT와 Total Fat 두 개뿐이며, 그마저도 정보를 충분히 보존한 표현에서만 성립하는 조건부 결론입니다. NAMA·TAMA는 4개 실험 전부에서 예외 없이 악화되어 AEC 추가를 권장하지 않습니다. IMATA·SAT는 근거가 부족해 추가 여부를 결정할 수 없습니다. Step4(로지스틱 회귀 기반 이진분류)는 cutoff 산출 방법론이 아직 검증되지 않아 이번 발표 범위에서는 제외하고 appendix에만 미리보기로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code/step4_clinic_aec_logistic.py의 미리보기입니다. TAMA는 Low-SMI(TAMA/Height²) 정의가 문헌적으로 확립되어 있지만, 나머지 6개 feature는 확립된 국제 cutoff이 없어 WHO Asian BMI 정상체중군을 reference로 삼아 mean±2SD를 잠정 cutoff으로 썼습니다. LAMA_SUM은 근육 영역 내 저감쇠(지방침윤) 성분이라 지방계열과 같은 mean+2SD 방향을 적용했습니다(Slide17 참고). clinic4 vs clinic4+AEC 모델의 AUC 차이를 paired DeLong test로 비교한 결과 7개 feature 전부 external에서 유의하지 않습니다(p=0.122~0.940).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LAMA_SUM(근육 내 저감쇠 성분, myosteatosis 지표)은 처음엔 다른 근육계열(TAMA·NAMA)과 같은 mean-2SD(낮으면 이상) 방향을 적용했는데, LAMA는 0 근처에 몰리고 오른쪽으로 긴 꼬리를 가진 지방형 분포라 mean-2SD가 음수에 가깝게 내려가 실제 데이터 최솟값보다도 낮아졌습니다. 그 결과 internal(0/1090)·external(0/926) 모두 '이상' 판정을 받는 환자가 0명이 되어 분류 자체가 불가능했습니다. LAMA는 해부학적으로는 근육 영역 안에 있지만(TAMA=NAMA+LAMA), 감쇠값이 낮다는 것 자체가 근육 속에 지방이 낀 것(지방침윤)을 의미하므로, '낮을수록 이상'이 아니라 '높을수록 이상'입니다. 방향을 지방계열과 같은 mean+2SD로 바꾸자 internal 49명, external 117명이 이상으로 분류되어 정상적으로 AUC=0.796(internal)/0.759(external)의 분류 성능이 나왔습니다(Slide16 표에 반영).</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Step0 clinic4 baseline을 전체(sex 포함)/남성만/여성만 3가지로 나눠 다시 돌린 결과입니다(outputs/step0/{male,female}/clinical_only_linear_regression_summary.csv, internal 강남 남390/여700명, external 신촌 남428/여498명). 전체(combined) 모델에는 성별(sex_M) 변수가 들어가 있어서, 남녀 간 근육량 차이 자체가 '설명력'으로 잡힙니다. 그래서 TAMA(허벅지 근육량) R²가 combined 0.711에서 남성만 0.478, 여성만 0.388로 크게 떨어지고, NAMA(정상감쇠 근육량)는 combined 0.568이 여성만 보면 0.018로 사실상 예측이 안 됩니다 — 이는 원래 높았던 R²의 상당 부분이 '나이/키/몸무게로 근육량을 맞춘 것'이 아니라 '성별을 맞춘 것'이었다는 뜻입니다. 반면 VAT·SAT·Total Fat·IMATA(지방 계열)는 남녀로 나눠도 R²가 크게 변하지 않아, 이 feature들은 성별과 무관하게 나이/키/몸무게로 안정적으로 예측됩니다. LAMA는 원래도 외부검증에서 불안정한 feature라 성별을 나누면 표본이 더 작아져(외부 남428/여498) 해석에 주의가 필요합니다.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Step0 clinic4 baseline의 잔차진단(Q-Q plot, Shapiro-Wilk, Scale-Location, Residuals vs Fitted) 예시로 TAMA를 제시합니다. TAMA는 7개 feature 중 R²가 가장 높습니다. 나머지 6개 feature도 동일한 4분할 진단 플롯이 outputs/step0/{imata,nama,lama,vat,sat,total_fat}/ 폴더에 저장되어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본 연구가 사용한 방법론 요소(A~K, docs/code_files_reference_papers.md 기준)를 코드 파일 및 대표 레퍼런스와 함께 정리한 표입니다. 전체 상세 인용은 docs/code_files_reference_papers.md와 docs/aec_preprocessing_related_research.md를 참고하십시오.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Step4 로지스틱 회귀의 이분류 cutoff을 mean±2SD에서 mean±1SD로 바꾼 근거를, 이번엔 라벨(TAMA_SUM, raw)을 양쪽에 동일하게 고정해 SD 배수 자체의 효과만 분리해서 봅니다(여성 코호트, internal n=700/external n=498). SD=2일 때 cutoff=10,911.56, external 양성 환자는 2명(0.4%)뿐이라 AUC=0.971[0.956, 0.984]로 여전히 소표본에 좌우되는 값입니다(외부 표본 2명만으로 결정되는 추정치라 신뢰하기 어려움 — 원래 SMI 기준으로도 우연히 같은 2명(0.4%)이 나와 AUC가 1.000까지 붕괴했던 것과 같은 계열의 문제). SD=1로 바꾸면(cutoff=14,113.98) 양성 환자가 60명(12.0%)까지 늘고 AUC=0.877[0.835, 0.913]로 안정된 추정치가 됩니다 — 즉 원래 이 문제를 해결한 두 변화(라벨 SMI→raw 전환 + SD 2→1 전환) 중, 라벨을 통제해도 재현되는 이 결과를 보면 SD 배수 전환 자체가 소표본 문제 해소의 주된 요인이었고, 라벨을 SMI에서 raw로 바꾼 것은 SMI의 우편향분포(skewness=0.49)가 mean-2SD로 정규분포 이론치(2.28%)의 절반도 못 포획하는 문제를 보완하는 별도의 개선이었습니다(둘 다 함께 적용한 것이 원래 프로젝트의 실제 결정, docs/code_files_reference_papers.md H-보충2 참고). mean±1SD를 cutoff으로 쓰는 것은 근거 없는 완화가 아니라, Baumgartner et al.(Epidemiology of Sarcopenia among the Elderly in New Mexico, Am J Epidemiol 1998;147(8):755-763)의 sarcopenia 분류가 이미 -1SD~-2SD를 'Class I(경도)', &lt;-2SD를 'Class II(중증)'로 구분한 선례를 따른 것이고, WHO 골밀도 T-score 기준(WHO Technical Report Series 843, 1994)도 -1SD를 '정상 범위 이탈(osteopenia, 저위험군)', -2.5SD를 확진 기준(osteoporosis)으로 나눕니다. 다만 EWGSOP 등 현재 sarcopenia 진단 표준은 여전히 -2SD를 쓰므로, 본 연구의 mean±1SD는 '진단'이 아니라 '스크리닝/위험군 분류' 성격임을 명시해야 합니다. `260807_Results of multiple Features.pptx`의 slide15는 이번(2026-08-05) 세션에서 WHO Asian BMI 정상체중 서브그룹이 아니라 전체 코호트 자체의 mean±2SD로 수정됐습니다(docs/code_files_reference_papers.md H-보충 참고) — 이 파일(260804)의 slide16/17과의 정합성은 여전히 별도 재검토가 필요합니다.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pubmed.ncbi.nlm.nih.gov/15286306/" TargetMode="External"/><Relationship Id="rId4" Type="http://schemas.openxmlformats.org/officeDocument/2006/relationships/hyperlink" Target="https://link.springer.com/book/10.1007/b98888" TargetMode="External"/><Relationship Id="rId5" Type="http://schemas.openxmlformats.org/officeDocument/2006/relationships/hyperlink" Target="https://www.cs.ucr.edu/~eamonn/kais_2000.pdf" TargetMode="External"/><Relationship Id="rId6" Type="http://schemas.openxmlformats.org/officeDocument/2006/relationships/hyperlink" Target="https://pmc.ncbi.nlm.nih.gov/articles/PMC9249379/" TargetMode="External"/><Relationship Id="rId7" Type="http://schemas.openxmlformats.org/officeDocument/2006/relationships/hyperlink" Target="https://www.ijcai.org/Proceedings/95-2/Papers/016.pdf" TargetMode="External"/><Relationship Id="rId8" Type="http://schemas.openxmlformats.org/officeDocument/2006/relationships/hyperlink" Target="https://www.jstor.org/stable/2288636" TargetMode="External"/><Relationship Id="rId9" Type="http://schemas.openxmlformats.org/officeDocument/2006/relationships/hyperlink" Target="https://doi.org/10.1201/9780429246593" TargetMode="External"/><Relationship Id="rId10" Type="http://schemas.openxmlformats.org/officeDocument/2006/relationships/hyperlink" Target="https://link.springer.com/book/10.1007/978-3-030-16399-0" TargetMode="External"/><Relationship Id="rId11" Type="http://schemas.openxmlformats.org/officeDocument/2006/relationships/hyperlink" Target="https://pmc.ncbi.nlm.nih.gov/articles/PMC10772854/" TargetMode="External"/><Relationship Id="rId12" Type="http://schemas.openxmlformats.org/officeDocument/2006/relationships/hyperlink" Target="https://hastie.su.domains/ElemStatLearn/" TargetMode="External"/><Relationship Id="rId13" Type="http://schemas.openxmlformats.org/officeDocument/2006/relationships/hyperlink" Target="https://www.sciencedirect.com/science/article/pii/S235271102030001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331720"/>
            <a:ext cx="12191695" cy="17373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514600"/>
            <a:ext cx="10515600" cy="548640"/>
          </a:xfrm>
          <a:prstGeom prst="rect">
            <a:avLst/>
          </a:prstGeom>
          <a:noFill/>
        </p:spPr>
        <p:txBody>
          <a:bodyPr wrap="square">
            <a:spAutoFit/>
          </a:bodyPr>
          <a:lstStyle/>
          <a:p>
            <a:pPr algn="l">
              <a:lnSpc>
                <a:spcPct val="115000"/>
              </a:lnSpc>
            </a:pPr>
            <a:r>
              <a:rPr sz="2600" b="1" i="0">
                <a:solidFill>
                  <a:srgbClr val="FFFFFF"/>
                </a:solidFill>
                <a:latin typeface="맑은 고딕"/>
              </a:rPr>
              <a:t>AEC-128 Curve Feature Engineering for CT-based Body Composition Prediction</a:t>
            </a:r>
          </a:p>
        </p:txBody>
      </p:sp>
      <p:sp>
        <p:nvSpPr>
          <p:cNvPr id="4" name="TextBox 3"/>
          <p:cNvSpPr txBox="1"/>
          <p:nvPr/>
        </p:nvSpPr>
        <p:spPr>
          <a:xfrm>
            <a:off x="822960" y="3539375"/>
            <a:ext cx="10515600" cy="548640"/>
          </a:xfrm>
          <a:prstGeom prst="rect">
            <a:avLst/>
          </a:prstGeom>
          <a:noFill/>
        </p:spPr>
        <p:txBody>
          <a:bodyPr wrap="square">
            <a:spAutoFit/>
          </a:bodyPr>
          <a:lstStyle/>
          <a:p>
            <a:pPr algn="l">
              <a:lnSpc>
                <a:spcPct val="115000"/>
              </a:lnSpc>
            </a:pPr>
            <a:r>
              <a:rPr sz="1800" b="0" i="0" dirty="0">
                <a:solidFill>
                  <a:srgbClr val="CFDDEC"/>
                </a:solidFill>
                <a:latin typeface="맑은 고딕"/>
              </a:rPr>
              <a:t>Step 0 ~ Step 4 Research Progress Review</a:t>
            </a:r>
          </a:p>
        </p:txBody>
      </p:sp>
      <p:sp>
        <p:nvSpPr>
          <p:cNvPr id="5" name="TextBox 4"/>
          <p:cNvSpPr txBox="1"/>
          <p:nvPr/>
        </p:nvSpPr>
        <p:spPr>
          <a:xfrm>
            <a:off x="822960" y="4343400"/>
            <a:ext cx="5486400" cy="365760"/>
          </a:xfrm>
          <a:prstGeom prst="rect">
            <a:avLst/>
          </a:prstGeom>
          <a:noFill/>
        </p:spPr>
        <p:txBody>
          <a:bodyPr wrap="square">
            <a:spAutoFit/>
          </a:bodyPr>
          <a:lstStyle/>
          <a:p>
            <a:pPr algn="l">
              <a:lnSpc>
                <a:spcPct val="115000"/>
              </a:lnSpc>
            </a:pPr>
            <a:r>
              <a:rPr sz="1400" b="0" i="0">
                <a:solidFill>
                  <a:srgbClr val="3A3A3A"/>
                </a:solidFill>
                <a:latin typeface="맑은 고딕"/>
              </a:rPr>
              <a:t>2026. 08. 04</a:t>
            </a:r>
          </a:p>
        </p:txBody>
      </p:sp>
      <p:sp>
        <p:nvSpPr>
          <p:cNvPr id="6" name="TextBox 5"/>
          <p:cNvSpPr txBox="1"/>
          <p:nvPr/>
        </p:nvSpPr>
        <p:spPr>
          <a:xfrm>
            <a:off x="822960" y="4709160"/>
            <a:ext cx="7315200" cy="365760"/>
          </a:xfrm>
          <a:prstGeom prst="rect">
            <a:avLst/>
          </a:prstGeom>
          <a:noFill/>
        </p:spPr>
        <p:txBody>
          <a:bodyPr wrap="square">
            <a:spAutoFit/>
          </a:bodyPr>
          <a:lstStyle/>
          <a:p>
            <a:pPr algn="l">
              <a:lnSpc>
                <a:spcPct val="115000"/>
              </a:lnSpc>
            </a:pPr>
            <a:r>
              <a:rPr sz="1400" b="1" i="0">
                <a:solidFill>
                  <a:srgbClr val="1B2A4A"/>
                </a:solidFill>
                <a:latin typeface="맑은 고딕"/>
              </a:rPr>
              <a:t>JangHoon Chun</a:t>
            </a:r>
          </a:p>
        </p:txBody>
      </p:sp>
      <p:sp>
        <p:nvSpPr>
          <p:cNvPr id="7" name="TextBox 6"/>
          <p:cNvSpPr txBox="1"/>
          <p:nvPr/>
        </p:nvSpPr>
        <p:spPr>
          <a:xfrm>
            <a:off x="822960" y="5074920"/>
            <a:ext cx="9601200" cy="731520"/>
          </a:xfrm>
          <a:prstGeom prst="rect">
            <a:avLst/>
          </a:prstGeom>
          <a:noFill/>
        </p:spPr>
        <p:txBody>
          <a:bodyPr wrap="square">
            <a:spAutoFit/>
          </a:bodyPr>
          <a:lstStyle/>
          <a:p>
            <a:pPr algn="l">
              <a:lnSpc>
                <a:spcPct val="115000"/>
              </a:lnSpc>
            </a:pPr>
            <a:r>
              <a:rPr sz="1200" b="0" i="0">
                <a:solidFill>
                  <a:srgbClr val="8A8A8A"/>
                </a:solidFill>
                <a:latin typeface="맑은 고딕"/>
              </a:rPr>
              <a:t>Department of Medical Device Engineering &amp; Management, Gangnam Severance Hospital,
Yonsei University College of Medicine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REFERENCE PAPERS</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AEC-128 신호 정의 &amp; 연구 설계 핵심 근거</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AEC-128은 CT 관전류(mA) 변조곡선이며, raw 값·PAA 구간압축·clinic4 baseline·곡선 형태 feature가 이 연구 설계의 문헌적 근거다 (회귀·검증 방법론 상세는 Appendix — 방법론 요소 × 코드 파일 매핑 참고)</a:t>
            </a:r>
          </a:p>
        </p:txBody>
      </p:sp>
      <p:sp>
        <p:nvSpPr>
          <p:cNvPr id="7" name="Rectangle 6"/>
          <p:cNvSpPr/>
          <p:nvPr/>
        </p:nvSpPr>
        <p:spPr>
          <a:xfrm>
            <a:off x="502920" y="1938528"/>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a:t>
            </a:r>
          </a:p>
        </p:txBody>
      </p:sp>
      <p:sp>
        <p:nvSpPr>
          <p:cNvPr id="9" name="TextBox 8"/>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0" name="Table 9"/>
          <p:cNvGraphicFramePr>
            <a:graphicFrameLocks noGrp="1"/>
          </p:cNvGraphicFramePr>
          <p:nvPr/>
        </p:nvGraphicFramePr>
        <p:xfrm>
          <a:off x="502920" y="2103120"/>
          <a:ext cx="11155680" cy="420624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701040">
                <a:tc>
                  <a:txBody>
                    <a:bodyPr/>
                    <a:lstStyle/>
                    <a:p>
                      <a:pPr algn="ctr"/>
                      <a:r>
                        <a:rPr sz="1100" b="1">
                          <a:solidFill>
                            <a:srgbClr val="FFFFFF"/>
                          </a:solidFill>
                          <a:latin typeface="맑은 고딕"/>
                        </a:rPr>
                        <a:t>Reference</a:t>
                      </a:r>
                    </a:p>
                  </a:txBody>
                  <a:tcPr marL="50800" marR="50800" marT="25400" marB="25400" anchor="ctr">
                    <a:solidFill>
                      <a:srgbClr val="1B2A4A"/>
                    </a:solidFill>
                  </a:tcPr>
                </a:tc>
                <a:tc>
                  <a:txBody>
                    <a:bodyPr/>
                    <a:lstStyle/>
                    <a:p>
                      <a:pPr algn="ctr"/>
                      <a:r>
                        <a:rPr sz="1100" b="1">
                          <a:solidFill>
                            <a:srgbClr val="FFFFFF"/>
                          </a:solidFill>
                          <a:latin typeface="맑은 고딕"/>
                        </a:rPr>
                        <a:t>Key Point</a:t>
                      </a:r>
                    </a:p>
                  </a:txBody>
                  <a:tcPr marL="50800" marR="50800" marT="25400" marB="25400" anchor="ctr">
                    <a:solidFill>
                      <a:srgbClr val="1B2A4A"/>
                    </a:solidFill>
                  </a:tcPr>
                </a:tc>
                <a:extLst>
                  <a:ext uri="{0D108BD9-81ED-4DB2-BD59-A6C34878D82A}">
                    <a16:rowId xmlns:a16="http://schemas.microsoft.com/office/drawing/2014/main" val="10000"/>
                  </a:ext>
                </a:extLst>
              </a:tr>
              <a:tr h="701040">
                <a:tc>
                  <a:txBody>
                    <a:bodyPr/>
                    <a:lstStyle/>
                    <a:p>
                      <a:pPr algn="ctr"/>
                      <a:r>
                        <a:rPr sz="1100" b="0">
                          <a:solidFill>
                            <a:srgbClr val="3A3A3A"/>
                          </a:solidFill>
                          <a:latin typeface="맑은 고딕"/>
                          <a:hlinkClick r:id="rId3"/>
                        </a:rPr>
                        <a:t>Kalra 2004</a:t>
                      </a:r>
                    </a:p>
                  </a:txBody>
                  <a:tcPr marL="50800" marR="50800" marT="25400" marB="25400" anchor="ctr">
                    <a:solidFill>
                      <a:srgbClr val="FFFFFF"/>
                    </a:solidFill>
                  </a:tcPr>
                </a:tc>
                <a:tc>
                  <a:txBody>
                    <a:bodyPr/>
                    <a:lstStyle/>
                    <a:p>
                      <a:pPr algn="ctr"/>
                      <a:r>
                        <a:rPr sz="1100" b="0">
                          <a:solidFill>
                            <a:srgbClr val="3A3A3A"/>
                          </a:solidFill>
                          <a:latin typeface="맑은 고딕"/>
                        </a:rPr>
                        <a:t>z축 AEC/TCM 원리 및 임상 검증 (Radiology)</a:t>
                      </a:r>
                    </a:p>
                  </a:txBody>
                  <a:tcPr marL="50800" marR="50800" marT="25400" marB="25400" anchor="ctr">
                    <a:solidFill>
                      <a:srgbClr val="FFFFFF"/>
                    </a:solidFill>
                  </a:tcPr>
                </a:tc>
                <a:extLst>
                  <a:ext uri="{0D108BD9-81ED-4DB2-BD59-A6C34878D82A}">
                    <a16:rowId xmlns:a16="http://schemas.microsoft.com/office/drawing/2014/main" val="10001"/>
                  </a:ext>
                </a:extLst>
              </a:tr>
              <a:tr h="701040">
                <a:tc>
                  <a:txBody>
                    <a:bodyPr/>
                    <a:lstStyle/>
                    <a:p>
                      <a:pPr algn="ctr"/>
                      <a:r>
                        <a:rPr sz="1100" b="0" dirty="0">
                          <a:solidFill>
                            <a:srgbClr val="3A3A3A"/>
                          </a:solidFill>
                          <a:latin typeface="맑은 고딕"/>
                          <a:hlinkClick r:id="rId4"/>
                        </a:rPr>
                        <a:t>Ramsay &amp; Silverman 2005 (FDA)</a:t>
                      </a:r>
                    </a:p>
                  </a:txBody>
                  <a:tcPr marL="50800" marR="50800" marT="25400" marB="25400" anchor="ctr">
                    <a:solidFill>
                      <a:srgbClr val="EFF1F4"/>
                    </a:solidFill>
                  </a:tcPr>
                </a:tc>
                <a:tc>
                  <a:txBody>
                    <a:bodyPr/>
                    <a:lstStyle/>
                    <a:p>
                      <a:pPr algn="ctr"/>
                      <a:r>
                        <a:rPr sz="1100" b="0">
                          <a:solidFill>
                            <a:srgbClr val="3A3A3A"/>
                          </a:solidFill>
                          <a:latin typeface="맑은 고딕"/>
                        </a:rPr>
                        <a:t>곡선을 point-wise 아닌 functional 단위로 다루는 통계 프레임워크</a:t>
                      </a:r>
                    </a:p>
                  </a:txBody>
                  <a:tcPr marL="50800" marR="50800" marT="25400" marB="25400" anchor="ctr">
                    <a:solidFill>
                      <a:srgbClr val="EFF1F4"/>
                    </a:solidFill>
                  </a:tcPr>
                </a:tc>
                <a:extLst>
                  <a:ext uri="{0D108BD9-81ED-4DB2-BD59-A6C34878D82A}">
                    <a16:rowId xmlns:a16="http://schemas.microsoft.com/office/drawing/2014/main" val="10004"/>
                  </a:ext>
                </a:extLst>
              </a:tr>
              <a:tr h="701040">
                <a:tc>
                  <a:txBody>
                    <a:bodyPr/>
                    <a:lstStyle/>
                    <a:p>
                      <a:pPr algn="ctr"/>
                      <a:r>
                        <a:rPr sz="1100" b="0">
                          <a:solidFill>
                            <a:srgbClr val="3A3A3A"/>
                          </a:solidFill>
                          <a:latin typeface="맑은 고딕"/>
                          <a:hlinkClick r:id="rId5"/>
                        </a:rPr>
                        <a:t>Keogh, Chakrabarti, Pazzani, Mehrotra 2001</a:t>
                      </a:r>
                    </a:p>
                  </a:txBody>
                  <a:tcPr marL="50800" marR="50800" marT="25400" marB="25400" anchor="ctr">
                    <a:solidFill>
                      <a:srgbClr val="FFFFFF"/>
                    </a:solidFill>
                  </a:tcPr>
                </a:tc>
                <a:tc>
                  <a:txBody>
                    <a:bodyPr/>
                    <a:lstStyle/>
                    <a:p>
                      <a:pPr algn="ctr"/>
                      <a:r>
                        <a:rPr sz="1100" b="0" dirty="0">
                          <a:solidFill>
                            <a:srgbClr val="3A3A3A"/>
                          </a:solidFill>
                          <a:latin typeface="맑은 고딕"/>
                        </a:rPr>
                        <a:t>PAA(</a:t>
                      </a:r>
                      <a:r>
                        <a:rPr sz="1100" b="0" dirty="0" err="1">
                          <a:solidFill>
                            <a:srgbClr val="3A3A3A"/>
                          </a:solidFill>
                          <a:latin typeface="맑은 고딕"/>
                        </a:rPr>
                        <a:t>구간평균</a:t>
                      </a:r>
                      <a:r>
                        <a:rPr sz="1100" b="0" dirty="0">
                          <a:solidFill>
                            <a:srgbClr val="3A3A3A"/>
                          </a:solidFill>
                          <a:latin typeface="맑은 고딕"/>
                        </a:rPr>
                        <a:t>) 원 </a:t>
                      </a:r>
                      <a:r>
                        <a:rPr sz="1100" b="0" dirty="0" err="1">
                          <a:solidFill>
                            <a:srgbClr val="3A3A3A"/>
                          </a:solidFill>
                          <a:latin typeface="맑은 고딕"/>
                        </a:rPr>
                        <a:t>논문</a:t>
                      </a:r>
                      <a:r>
                        <a:rPr sz="1100" b="0" dirty="0">
                          <a:solidFill>
                            <a:srgbClr val="3A3A3A"/>
                          </a:solidFill>
                          <a:latin typeface="맑은 고딕"/>
                        </a:rPr>
                        <a:t> — Step1~3 </a:t>
                      </a:r>
                      <a:r>
                        <a:rPr sz="1100" b="0" dirty="0" err="1">
                          <a:solidFill>
                            <a:srgbClr val="3A3A3A"/>
                          </a:solidFill>
                          <a:latin typeface="맑은 고딕"/>
                        </a:rPr>
                        <a:t>구간압축의</a:t>
                      </a:r>
                      <a:r>
                        <a:rPr sz="1100" b="0" dirty="0">
                          <a:solidFill>
                            <a:srgbClr val="3A3A3A"/>
                          </a:solidFill>
                          <a:latin typeface="맑은 고딕"/>
                        </a:rPr>
                        <a:t> </a:t>
                      </a:r>
                      <a:r>
                        <a:rPr sz="1100" b="0" dirty="0" err="1">
                          <a:solidFill>
                            <a:srgbClr val="3A3A3A"/>
                          </a:solidFill>
                          <a:latin typeface="맑은 고딕"/>
                        </a:rPr>
                        <a:t>이론적</a:t>
                      </a:r>
                      <a:r>
                        <a:rPr sz="1100" b="0" dirty="0">
                          <a:solidFill>
                            <a:srgbClr val="3A3A3A"/>
                          </a:solidFill>
                          <a:latin typeface="맑은 고딕"/>
                        </a:rPr>
                        <a:t> </a:t>
                      </a:r>
                      <a:r>
                        <a:rPr sz="1100" b="0" dirty="0" err="1">
                          <a:solidFill>
                            <a:srgbClr val="3A3A3A"/>
                          </a:solidFill>
                          <a:latin typeface="맑은 고딕"/>
                        </a:rPr>
                        <a:t>근거</a:t>
                      </a:r>
                      <a:endParaRPr sz="1100" b="0" dirty="0">
                        <a:solidFill>
                          <a:srgbClr val="3A3A3A"/>
                        </a:solidFill>
                        <a:latin typeface="맑은 고딕"/>
                      </a:endParaRPr>
                    </a:p>
                  </a:txBody>
                  <a:tcPr marL="50800" marR="50800" marT="25400" marB="25400" anchor="ctr">
                    <a:solidFill>
                      <a:srgbClr val="FFFFFF"/>
                    </a:solidFill>
                  </a:tcPr>
                </a:tc>
                <a:extLst>
                  <a:ext uri="{0D108BD9-81ED-4DB2-BD59-A6C34878D82A}">
                    <a16:rowId xmlns:a16="http://schemas.microsoft.com/office/drawing/2014/main" val="10005"/>
                  </a:ext>
                </a:extLst>
              </a:tr>
              <a:tr h="701040">
                <a:tc>
                  <a:txBody>
                    <a:bodyPr/>
                    <a:lstStyle/>
                    <a:p>
                      <a:pPr algn="ctr"/>
                      <a:r>
                        <a:rPr sz="1100" b="0" dirty="0">
                          <a:solidFill>
                            <a:srgbClr val="3A3A3A"/>
                          </a:solidFill>
                          <a:latin typeface="맑은 고딕"/>
                          <a:hlinkClick r:id="rId6"/>
                        </a:rPr>
                        <a:t>Cao et al. 2022 (Front </a:t>
                      </a:r>
                      <a:r>
                        <a:rPr sz="1100" b="0" dirty="0" err="1">
                          <a:solidFill>
                            <a:srgbClr val="3A3A3A"/>
                          </a:solidFill>
                          <a:latin typeface="맑은 고딕"/>
                          <a:hlinkClick r:id="rId6"/>
                        </a:rPr>
                        <a:t>Nutr</a:t>
                      </a:r>
                      <a:r>
                        <a:rPr sz="1100" b="0" dirty="0">
                          <a:solidFill>
                            <a:srgbClr val="3A3A3A"/>
                          </a:solidFill>
                          <a:latin typeface="맑은 고딕"/>
                          <a:hlinkClick r:id="rId6"/>
                        </a:rPr>
                        <a:t>)</a:t>
                      </a:r>
                    </a:p>
                  </a:txBody>
                  <a:tcPr marL="50800" marR="50800" marT="25400" marB="25400" anchor="ctr">
                    <a:solidFill>
                      <a:srgbClr val="FFFFFF"/>
                    </a:solidFill>
                  </a:tcPr>
                </a:tc>
                <a:tc>
                  <a:txBody>
                    <a:bodyPr/>
                    <a:lstStyle/>
                    <a:p>
                      <a:pPr algn="ctr"/>
                      <a:r>
                        <a:rPr sz="1100" b="0">
                          <a:solidFill>
                            <a:srgbClr val="3A3A3A"/>
                          </a:solidFill>
                          <a:latin typeface="맑은 고딕"/>
                        </a:rPr>
                        <a:t>clinic4만으로 L3 SMI·VFA 예측(adj R² 0.58~0.60) — baseline 설계 선례</a:t>
                      </a:r>
                    </a:p>
                  </a:txBody>
                  <a:tcPr marL="50800" marR="50800" marT="25400" marB="25400" anchor="ctr">
                    <a:solidFill>
                      <a:srgbClr val="FFFFFF"/>
                    </a:solidFill>
                  </a:tcPr>
                </a:tc>
                <a:extLst>
                  <a:ext uri="{0D108BD9-81ED-4DB2-BD59-A6C34878D82A}">
                    <a16:rowId xmlns:a16="http://schemas.microsoft.com/office/drawing/2014/main" val="10006"/>
                  </a:ext>
                </a:extLst>
              </a:tr>
              <a:tr h="701040">
                <a:tc>
                  <a:txBody>
                    <a:bodyPr/>
                    <a:lstStyle/>
                    <a:p>
                      <a:pPr algn="ctr"/>
                      <a:r>
                        <a:rPr sz="1100" b="0">
                          <a:solidFill>
                            <a:srgbClr val="3A3A3A"/>
                          </a:solidFill>
                          <a:latin typeface="맑은 고딕"/>
                          <a:hlinkClick r:id="rId13"/>
                        </a:rPr>
                        <a:t>Barandas et al. 2020 (TSFEL)</a:t>
                      </a:r>
                    </a:p>
                  </a:txBody>
                  <a:tcPr marL="50800" marR="50800" marT="25400" marB="25400" anchor="ctr">
                    <a:solidFill>
                      <a:srgbClr val="FFFFFF"/>
                    </a:solidFill>
                  </a:tcPr>
                </a:tc>
                <a:tc>
                  <a:txBody>
                    <a:bodyPr/>
                    <a:lstStyle/>
                    <a:p>
                      <a:pPr algn="ctr"/>
                      <a:r>
                        <a:rPr sz="1100" b="0" dirty="0" err="1">
                          <a:solidFill>
                            <a:srgbClr val="3A3A3A"/>
                          </a:solidFill>
                          <a:latin typeface="맑은 고딕"/>
                        </a:rPr>
                        <a:t>SD·Skewness</a:t>
                      </a:r>
                      <a:r>
                        <a:rPr sz="1100" b="0" dirty="0">
                          <a:solidFill>
                            <a:srgbClr val="3A3A3A"/>
                          </a:solidFill>
                          <a:latin typeface="맑은 고딕"/>
                        </a:rPr>
                        <a:t> 등 </a:t>
                      </a:r>
                      <a:r>
                        <a:rPr sz="1100" b="0" dirty="0" err="1">
                          <a:solidFill>
                            <a:srgbClr val="3A3A3A"/>
                          </a:solidFill>
                          <a:latin typeface="맑은 고딕"/>
                        </a:rPr>
                        <a:t>곡선형태</a:t>
                      </a:r>
                      <a:r>
                        <a:rPr sz="1100" b="0" dirty="0">
                          <a:solidFill>
                            <a:srgbClr val="3A3A3A"/>
                          </a:solidFill>
                          <a:latin typeface="맑은 고딕"/>
                        </a:rPr>
                        <a:t> </a:t>
                      </a:r>
                      <a:r>
                        <a:rPr sz="1100" b="0" dirty="0" err="1">
                          <a:solidFill>
                            <a:srgbClr val="3A3A3A"/>
                          </a:solidFill>
                          <a:latin typeface="맑은 고딕"/>
                        </a:rPr>
                        <a:t>모멘트의</a:t>
                      </a:r>
                      <a:r>
                        <a:rPr sz="1100" b="0" dirty="0">
                          <a:solidFill>
                            <a:srgbClr val="3A3A3A"/>
                          </a:solidFill>
                          <a:latin typeface="맑은 고딕"/>
                        </a:rPr>
                        <a:t> </a:t>
                      </a:r>
                      <a:r>
                        <a:rPr sz="1100" b="0" dirty="0" err="1">
                          <a:solidFill>
                            <a:srgbClr val="3A3A3A"/>
                          </a:solidFill>
                          <a:latin typeface="맑은 고딕"/>
                        </a:rPr>
                        <a:t>표준</a:t>
                      </a:r>
                      <a:r>
                        <a:rPr sz="1100" b="0" dirty="0">
                          <a:solidFill>
                            <a:srgbClr val="3A3A3A"/>
                          </a:solidFill>
                          <a:latin typeface="맑은 고딕"/>
                        </a:rPr>
                        <a:t> </a:t>
                      </a:r>
                      <a:r>
                        <a:rPr sz="1100" b="0" dirty="0" err="1">
                          <a:solidFill>
                            <a:srgbClr val="3A3A3A"/>
                          </a:solidFill>
                          <a:latin typeface="맑은 고딕"/>
                        </a:rPr>
                        <a:t>시계열</a:t>
                      </a:r>
                      <a:r>
                        <a:rPr sz="1100" b="0" dirty="0">
                          <a:solidFill>
                            <a:srgbClr val="3A3A3A"/>
                          </a:solidFill>
                          <a:latin typeface="맑은 고딕"/>
                        </a:rPr>
                        <a:t> feature</a:t>
                      </a:r>
                    </a:p>
                  </a:txBody>
                  <a:tcPr marL="50800" marR="50800" marT="25400" marB="25400" anchor="ct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EXECUTIVE SUMMARY</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연구 핵심 결론</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AEC-128 추가는 VAT·Total Fat만 조건부 개선, 근육계열(NAMA·TAMA)은 4개 실험 전부 유의 악화</a:t>
            </a:r>
          </a:p>
        </p:txBody>
      </p:sp>
      <p:sp>
        <p:nvSpPr>
          <p:cNvPr id="7" name="Rectangle 6"/>
          <p:cNvSpPr/>
          <p:nvPr/>
        </p:nvSpPr>
        <p:spPr>
          <a:xfrm>
            <a:off x="502920" y="1938528"/>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2</a:t>
            </a:r>
          </a:p>
        </p:txBody>
      </p:sp>
      <p:sp>
        <p:nvSpPr>
          <p:cNvPr id="9" name="TextBox 8"/>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sp>
        <p:nvSpPr>
          <p:cNvPr id="10" name="Rounded Rectangle 9"/>
          <p:cNvSpPr/>
          <p:nvPr/>
        </p:nvSpPr>
        <p:spPr>
          <a:xfrm>
            <a:off x="502920" y="2926080"/>
            <a:ext cx="2617470" cy="1828800"/>
          </a:xfrm>
          <a:prstGeom prst="roundRect">
            <a:avLst>
              <a:gd name="adj" fmla="val 6000"/>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926080"/>
            <a:ext cx="261747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 y="3108960"/>
            <a:ext cx="2398014" cy="548640"/>
          </a:xfrm>
          <a:prstGeom prst="rect">
            <a:avLst/>
          </a:prstGeom>
          <a:noFill/>
        </p:spPr>
        <p:txBody>
          <a:bodyPr wrap="square">
            <a:spAutoFit/>
          </a:bodyPr>
          <a:lstStyle/>
          <a:p>
            <a:pPr algn="ctr">
              <a:lnSpc>
                <a:spcPct val="115000"/>
              </a:lnSpc>
            </a:pPr>
            <a:r>
              <a:rPr sz="2500" b="1" i="0">
                <a:solidFill>
                  <a:srgbClr val="1B2A4A"/>
                </a:solidFill>
                <a:latin typeface="맑은 고딕"/>
              </a:rPr>
              <a:t>R² 0.711</a:t>
            </a:r>
          </a:p>
        </p:txBody>
      </p:sp>
      <p:sp>
        <p:nvSpPr>
          <p:cNvPr id="13" name="TextBox 12"/>
          <p:cNvSpPr txBox="1"/>
          <p:nvPr/>
        </p:nvSpPr>
        <p:spPr>
          <a:xfrm>
            <a:off x="612648" y="3703320"/>
            <a:ext cx="2398014" cy="320040"/>
          </a:xfrm>
          <a:prstGeom prst="rect">
            <a:avLst/>
          </a:prstGeom>
          <a:noFill/>
        </p:spPr>
        <p:txBody>
          <a:bodyPr wrap="square">
            <a:spAutoFit/>
          </a:bodyPr>
          <a:lstStyle/>
          <a:p>
            <a:pPr algn="ctr">
              <a:lnSpc>
                <a:spcPct val="115000"/>
              </a:lnSpc>
            </a:pPr>
            <a:r>
              <a:rPr sz="1300" b="1" i="0">
                <a:solidFill>
                  <a:srgbClr val="2E86AB"/>
                </a:solidFill>
                <a:latin typeface="맑은 고딕"/>
              </a:rPr>
              <a:t>TAMA (최고 baseline)</a:t>
            </a:r>
          </a:p>
        </p:txBody>
      </p:sp>
      <p:sp>
        <p:nvSpPr>
          <p:cNvPr id="14" name="TextBox 13"/>
          <p:cNvSpPr txBox="1"/>
          <p:nvPr/>
        </p:nvSpPr>
        <p:spPr>
          <a:xfrm>
            <a:off x="612648" y="4023360"/>
            <a:ext cx="2398014" cy="548640"/>
          </a:xfrm>
          <a:prstGeom prst="rect">
            <a:avLst/>
          </a:prstGeom>
          <a:noFill/>
        </p:spPr>
        <p:txBody>
          <a:bodyPr wrap="square">
            <a:spAutoFit/>
          </a:bodyPr>
          <a:lstStyle/>
          <a:p>
            <a:pPr algn="ctr">
              <a:lnSpc>
                <a:spcPct val="110000"/>
              </a:lnSpc>
            </a:pPr>
            <a:r>
              <a:rPr sz="1050" b="0" i="0">
                <a:solidFill>
                  <a:srgbClr val="8A8A8A"/>
                </a:solidFill>
                <a:latin typeface="맑은 고딕"/>
              </a:rPr>
              <a:t>clinic4만으로 external 최고 성능</a:t>
            </a:r>
          </a:p>
        </p:txBody>
      </p:sp>
      <p:sp>
        <p:nvSpPr>
          <p:cNvPr id="15" name="Rounded Rectangle 14"/>
          <p:cNvSpPr/>
          <p:nvPr/>
        </p:nvSpPr>
        <p:spPr>
          <a:xfrm>
            <a:off x="3348990" y="2926080"/>
            <a:ext cx="2617470" cy="1828800"/>
          </a:xfrm>
          <a:prstGeom prst="roundRect">
            <a:avLst>
              <a:gd name="adj" fmla="val 6000"/>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48990" y="2926080"/>
            <a:ext cx="261747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58718" y="3108960"/>
            <a:ext cx="2398014" cy="548640"/>
          </a:xfrm>
          <a:prstGeom prst="rect">
            <a:avLst/>
          </a:prstGeom>
          <a:noFill/>
        </p:spPr>
        <p:txBody>
          <a:bodyPr wrap="square">
            <a:spAutoFit/>
          </a:bodyPr>
          <a:lstStyle/>
          <a:p>
            <a:pPr algn="ctr">
              <a:lnSpc>
                <a:spcPct val="115000"/>
              </a:lnSpc>
            </a:pPr>
            <a:r>
              <a:rPr sz="2500" b="1" i="0">
                <a:solidFill>
                  <a:srgbClr val="1B2A4A"/>
                </a:solidFill>
                <a:latin typeface="맑은 고딕"/>
              </a:rPr>
              <a:t>ΔR² +0.090</a:t>
            </a:r>
          </a:p>
        </p:txBody>
      </p:sp>
      <p:sp>
        <p:nvSpPr>
          <p:cNvPr id="18" name="TextBox 17"/>
          <p:cNvSpPr txBox="1"/>
          <p:nvPr/>
        </p:nvSpPr>
        <p:spPr>
          <a:xfrm>
            <a:off x="3458718" y="3703320"/>
            <a:ext cx="2398014" cy="320040"/>
          </a:xfrm>
          <a:prstGeom prst="rect">
            <a:avLst/>
          </a:prstGeom>
          <a:noFill/>
        </p:spPr>
        <p:txBody>
          <a:bodyPr wrap="square">
            <a:spAutoFit/>
          </a:bodyPr>
          <a:lstStyle/>
          <a:p>
            <a:pPr algn="ctr">
              <a:lnSpc>
                <a:spcPct val="115000"/>
              </a:lnSpc>
            </a:pPr>
            <a:r>
              <a:rPr sz="1300" b="1" i="0">
                <a:solidFill>
                  <a:srgbClr val="2E86AB"/>
                </a:solidFill>
                <a:latin typeface="맑은 고딕"/>
              </a:rPr>
              <a:t>VAT (최대 개선)</a:t>
            </a:r>
          </a:p>
        </p:txBody>
      </p:sp>
      <p:sp>
        <p:nvSpPr>
          <p:cNvPr id="19" name="TextBox 18"/>
          <p:cNvSpPr txBox="1"/>
          <p:nvPr/>
        </p:nvSpPr>
        <p:spPr>
          <a:xfrm>
            <a:off x="3458718" y="4023360"/>
            <a:ext cx="2398014" cy="548640"/>
          </a:xfrm>
          <a:prstGeom prst="rect">
            <a:avLst/>
          </a:prstGeom>
          <a:noFill/>
        </p:spPr>
        <p:txBody>
          <a:bodyPr wrap="square">
            <a:spAutoFit/>
          </a:bodyPr>
          <a:lstStyle/>
          <a:p>
            <a:pPr algn="ctr">
              <a:lnSpc>
                <a:spcPct val="110000"/>
              </a:lnSpc>
            </a:pPr>
            <a:r>
              <a:rPr sz="1050" b="0" i="0">
                <a:solidFill>
                  <a:srgbClr val="8A8A8A"/>
                </a:solidFill>
                <a:latin typeface="맑은 고딕"/>
              </a:rPr>
              <a:t>Step2 top-k, 8구간 전체 사용 시</a:t>
            </a:r>
          </a:p>
        </p:txBody>
      </p:sp>
      <p:sp>
        <p:nvSpPr>
          <p:cNvPr id="20" name="Rounded Rectangle 19"/>
          <p:cNvSpPr/>
          <p:nvPr/>
        </p:nvSpPr>
        <p:spPr>
          <a:xfrm>
            <a:off x="6195060" y="2926080"/>
            <a:ext cx="2617470" cy="1828800"/>
          </a:xfrm>
          <a:prstGeom prst="roundRect">
            <a:avLst>
              <a:gd name="adj" fmla="val 6000"/>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95060" y="2926080"/>
            <a:ext cx="261747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4788" y="3108960"/>
            <a:ext cx="2398014" cy="548640"/>
          </a:xfrm>
          <a:prstGeom prst="rect">
            <a:avLst/>
          </a:prstGeom>
          <a:noFill/>
        </p:spPr>
        <p:txBody>
          <a:bodyPr wrap="square">
            <a:spAutoFit/>
          </a:bodyPr>
          <a:lstStyle/>
          <a:p>
            <a:pPr algn="ctr">
              <a:lnSpc>
                <a:spcPct val="115000"/>
              </a:lnSpc>
            </a:pPr>
            <a:r>
              <a:rPr sz="2500" b="1" i="0">
                <a:solidFill>
                  <a:srgbClr val="1B2A4A"/>
                </a:solidFill>
                <a:latin typeface="맑은 고딕"/>
              </a:rPr>
              <a:t>ΔR² -0.193</a:t>
            </a:r>
          </a:p>
        </p:txBody>
      </p:sp>
      <p:sp>
        <p:nvSpPr>
          <p:cNvPr id="23" name="TextBox 22"/>
          <p:cNvSpPr txBox="1"/>
          <p:nvPr/>
        </p:nvSpPr>
        <p:spPr>
          <a:xfrm>
            <a:off x="6304788" y="3703320"/>
            <a:ext cx="2398014" cy="320040"/>
          </a:xfrm>
          <a:prstGeom prst="rect">
            <a:avLst/>
          </a:prstGeom>
          <a:noFill/>
        </p:spPr>
        <p:txBody>
          <a:bodyPr wrap="square">
            <a:spAutoFit/>
          </a:bodyPr>
          <a:lstStyle/>
          <a:p>
            <a:pPr algn="ctr">
              <a:lnSpc>
                <a:spcPct val="115000"/>
              </a:lnSpc>
            </a:pPr>
            <a:r>
              <a:rPr sz="1300" b="1" i="0">
                <a:solidFill>
                  <a:srgbClr val="2E86AB"/>
                </a:solidFill>
                <a:latin typeface="맑은 고딕"/>
              </a:rPr>
              <a:t>NAMA (최대 악화)</a:t>
            </a:r>
          </a:p>
        </p:txBody>
      </p:sp>
      <p:sp>
        <p:nvSpPr>
          <p:cNvPr id="24" name="TextBox 23"/>
          <p:cNvSpPr txBox="1"/>
          <p:nvPr/>
        </p:nvSpPr>
        <p:spPr>
          <a:xfrm>
            <a:off x="6304788" y="4023360"/>
            <a:ext cx="2398014" cy="548640"/>
          </a:xfrm>
          <a:prstGeom prst="rect">
            <a:avLst/>
          </a:prstGeom>
          <a:noFill/>
        </p:spPr>
        <p:txBody>
          <a:bodyPr wrap="square">
            <a:spAutoFit/>
          </a:bodyPr>
          <a:lstStyle/>
          <a:p>
            <a:pPr algn="ctr">
              <a:lnSpc>
                <a:spcPct val="110000"/>
              </a:lnSpc>
            </a:pPr>
            <a:r>
              <a:rPr sz="1050" b="0" i="0">
                <a:solidFill>
                  <a:srgbClr val="8A8A8A"/>
                </a:solidFill>
                <a:latin typeface="맑은 고딕"/>
              </a:rPr>
              <a:t>Step1 극단압축(N=1, 전체평균)</a:t>
            </a:r>
          </a:p>
        </p:txBody>
      </p:sp>
      <p:sp>
        <p:nvSpPr>
          <p:cNvPr id="25" name="Rounded Rectangle 24"/>
          <p:cNvSpPr/>
          <p:nvPr/>
        </p:nvSpPr>
        <p:spPr>
          <a:xfrm>
            <a:off x="9041130" y="2926080"/>
            <a:ext cx="2617470" cy="1828800"/>
          </a:xfrm>
          <a:prstGeom prst="roundRect">
            <a:avLst>
              <a:gd name="adj" fmla="val 6000"/>
            </a:avLst>
          </a:prstGeom>
          <a:solidFill>
            <a:srgbClr val="F5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41130" y="2926080"/>
            <a:ext cx="261747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50858" y="3108960"/>
            <a:ext cx="2398014" cy="548640"/>
          </a:xfrm>
          <a:prstGeom prst="rect">
            <a:avLst/>
          </a:prstGeom>
          <a:noFill/>
        </p:spPr>
        <p:txBody>
          <a:bodyPr wrap="square">
            <a:spAutoFit/>
          </a:bodyPr>
          <a:lstStyle/>
          <a:p>
            <a:pPr algn="ctr">
              <a:lnSpc>
                <a:spcPct val="115000"/>
              </a:lnSpc>
            </a:pPr>
            <a:r>
              <a:rPr sz="2500" b="1" i="0">
                <a:solidFill>
                  <a:srgbClr val="1B2A4A"/>
                </a:solidFill>
                <a:latin typeface="맑은 고딕"/>
              </a:rPr>
              <a:t>n.s.</a:t>
            </a:r>
          </a:p>
        </p:txBody>
      </p:sp>
      <p:sp>
        <p:nvSpPr>
          <p:cNvPr id="28" name="TextBox 27"/>
          <p:cNvSpPr txBox="1"/>
          <p:nvPr/>
        </p:nvSpPr>
        <p:spPr>
          <a:xfrm>
            <a:off x="9150858" y="3703320"/>
            <a:ext cx="2398014" cy="320040"/>
          </a:xfrm>
          <a:prstGeom prst="rect">
            <a:avLst/>
          </a:prstGeom>
          <a:noFill/>
        </p:spPr>
        <p:txBody>
          <a:bodyPr wrap="square">
            <a:spAutoFit/>
          </a:bodyPr>
          <a:lstStyle/>
          <a:p>
            <a:pPr algn="ctr">
              <a:lnSpc>
                <a:spcPct val="115000"/>
              </a:lnSpc>
            </a:pPr>
            <a:r>
              <a:rPr sz="1300" b="1" i="0">
                <a:solidFill>
                  <a:srgbClr val="2E86AB"/>
                </a:solidFill>
                <a:latin typeface="맑은 고딕"/>
              </a:rPr>
              <a:t>IMATA · SAT</a:t>
            </a:r>
          </a:p>
        </p:txBody>
      </p:sp>
      <p:sp>
        <p:nvSpPr>
          <p:cNvPr id="29" name="TextBox 28"/>
          <p:cNvSpPr txBox="1"/>
          <p:nvPr/>
        </p:nvSpPr>
        <p:spPr>
          <a:xfrm>
            <a:off x="9150858" y="4023360"/>
            <a:ext cx="2398014" cy="548640"/>
          </a:xfrm>
          <a:prstGeom prst="rect">
            <a:avLst/>
          </a:prstGeom>
          <a:noFill/>
        </p:spPr>
        <p:txBody>
          <a:bodyPr wrap="square">
            <a:spAutoFit/>
          </a:bodyPr>
          <a:lstStyle/>
          <a:p>
            <a:pPr algn="ctr">
              <a:lnSpc>
                <a:spcPct val="110000"/>
              </a:lnSpc>
            </a:pPr>
            <a:r>
              <a:rPr sz="1050" b="0" i="0">
                <a:solidFill>
                  <a:srgbClr val="8A8A8A"/>
                </a:solidFill>
                <a:latin typeface="맑은 고딕"/>
              </a:rPr>
              <a:t>4개 중 3개 n.s., 앞/뒤50%분할만 유의 악화</a:t>
            </a:r>
          </a:p>
        </p:txBody>
      </p:sp>
      <p:sp>
        <p:nvSpPr>
          <p:cNvPr id="30" name="TextBox 29"/>
          <p:cNvSpPr txBox="1"/>
          <p:nvPr/>
        </p:nvSpPr>
        <p:spPr>
          <a:xfrm>
            <a:off x="502920" y="4892040"/>
            <a:ext cx="11155680" cy="1188720"/>
          </a:xfrm>
          <a:prstGeom prst="rect">
            <a:avLst/>
          </a:prstGeom>
          <a:noFill/>
        </p:spPr>
        <p:txBody>
          <a:bodyPr wrap="square">
            <a:spAutoFit/>
          </a:bodyPr>
          <a:lstStyle/>
          <a:p>
            <a:pPr algn="l">
              <a:lnSpc>
                <a:spcPct val="115000"/>
              </a:lnSpc>
            </a:pPr>
            <a:r>
              <a:rPr sz="1350" b="0" i="0">
                <a:solidFill>
                  <a:srgbClr val="3A3A3A"/>
                </a:solidFill>
                <a:latin typeface="맑은 고딕"/>
              </a:rPr>
              <a:t>근육계열(NAMA·TAMA)은 압축·선택 방식과 무관하게 항상 악화 — clinic4 baseline이 이미 최선</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RESEARCH OVERVIEW  ·  1 / 2</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연구 설계 &amp; 검증 프로토콜</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Internal(강남, n=1,090)에서 config를 확정하고 External(신촌, n=926)에는 동결 적용해 단 1회만 검증한다</a:t>
            </a:r>
          </a:p>
        </p:txBody>
      </p:sp>
      <p:sp>
        <p:nvSpPr>
          <p:cNvPr id="7" name="Rectangle 6"/>
          <p:cNvSpPr/>
          <p:nvPr/>
        </p:nvSpPr>
        <p:spPr>
          <a:xfrm>
            <a:off x="502920" y="1938528"/>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3</a:t>
            </a:r>
          </a:p>
        </p:txBody>
      </p:sp>
      <p:sp>
        <p:nvSpPr>
          <p:cNvPr id="9" name="TextBox 8"/>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sp>
        <p:nvSpPr>
          <p:cNvPr id="10" name="Rounded Rectangle 9"/>
          <p:cNvSpPr/>
          <p:nvPr/>
        </p:nvSpPr>
        <p:spPr>
          <a:xfrm>
            <a:off x="640080" y="3017520"/>
            <a:ext cx="2411730" cy="1371600"/>
          </a:xfrm>
          <a:prstGeom prst="roundRect">
            <a:avLst>
              <a:gd name="adj" fmla="val 8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101600" rIns="101600" rtlCol="0" anchor="ctr"/>
          <a:lstStyle/>
          <a:p>
            <a:pPr algn="ctr">
              <a:lnSpc>
                <a:spcPct val="110000"/>
              </a:lnSpc>
            </a:pPr>
            <a:r>
              <a:rPr sz="1350" b="1">
                <a:solidFill>
                  <a:srgbClr val="FFFFFF"/>
                </a:solidFill>
                <a:latin typeface="맑은 고딕"/>
              </a:rPr>
              <a:t>Clinic4 + AEC</a:t>
            </a:r>
          </a:p>
          <a:p>
            <a:pPr algn="ctr">
              <a:lnSpc>
                <a:spcPct val="110000"/>
              </a:lnSpc>
            </a:pPr>
            <a:r>
              <a:rPr sz="1100" b="0">
                <a:solidFill>
                  <a:srgbClr val="FFFFFF"/>
                </a:solidFill>
                <a:latin typeface="맑은 고딕"/>
              </a:rPr>
              <a:t>(Internal, n=1,090)</a:t>
            </a:r>
          </a:p>
        </p:txBody>
      </p:sp>
      <p:sp>
        <p:nvSpPr>
          <p:cNvPr id="11" name="Oval 10"/>
          <p:cNvSpPr/>
          <p:nvPr/>
        </p:nvSpPr>
        <p:spPr>
          <a:xfrm>
            <a:off x="621792" y="2816352"/>
            <a:ext cx="365760" cy="365760"/>
          </a:xfrm>
          <a:prstGeom prst="ellipse">
            <a:avLst/>
          </a:prstGeom>
          <a:solidFill>
            <a:srgbClr val="FFFFFF"/>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A4A"/>
                </a:solidFill>
                <a:latin typeface="맑은 고딕"/>
              </a:rPr>
              <a:t>1</a:t>
            </a:r>
          </a:p>
        </p:txBody>
      </p:sp>
      <p:sp>
        <p:nvSpPr>
          <p:cNvPr id="12" name="TextBox 11"/>
          <p:cNvSpPr txBox="1"/>
          <p:nvPr/>
        </p:nvSpPr>
        <p:spPr>
          <a:xfrm>
            <a:off x="3051810" y="3520440"/>
            <a:ext cx="411480" cy="365760"/>
          </a:xfrm>
          <a:prstGeom prst="rect">
            <a:avLst/>
          </a:prstGeom>
          <a:noFill/>
        </p:spPr>
        <p:txBody>
          <a:bodyPr wrap="square">
            <a:spAutoFit/>
          </a:bodyPr>
          <a:lstStyle/>
          <a:p>
            <a:pPr algn="ctr">
              <a:lnSpc>
                <a:spcPct val="115000"/>
              </a:lnSpc>
            </a:pPr>
            <a:r>
              <a:rPr sz="2200" b="1" i="0">
                <a:solidFill>
                  <a:srgbClr val="2E86AB"/>
                </a:solidFill>
                <a:latin typeface="맑은 고딕"/>
              </a:rPr>
              <a:t>→</a:t>
            </a:r>
          </a:p>
        </p:txBody>
      </p:sp>
      <p:sp>
        <p:nvSpPr>
          <p:cNvPr id="13" name="Rounded Rectangle 12"/>
          <p:cNvSpPr/>
          <p:nvPr/>
        </p:nvSpPr>
        <p:spPr>
          <a:xfrm>
            <a:off x="3463290" y="3017520"/>
            <a:ext cx="2411730" cy="1371600"/>
          </a:xfrm>
          <a:prstGeom prst="roundRect">
            <a:avLst>
              <a:gd name="adj" fmla="val 8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wrap="square" lIns="101600" rIns="101600" rtlCol="0" anchor="ctr"/>
          <a:lstStyle/>
          <a:p>
            <a:pPr algn="ctr">
              <a:lnSpc>
                <a:spcPct val="110000"/>
              </a:lnSpc>
            </a:pPr>
            <a:r>
              <a:rPr sz="1350" b="1">
                <a:solidFill>
                  <a:srgbClr val="FFFFFF"/>
                </a:solidFill>
                <a:latin typeface="맑은 고딕"/>
              </a:rPr>
              <a:t>5-fold OOF CV</a:t>
            </a:r>
          </a:p>
          <a:p>
            <a:pPr algn="ctr">
              <a:lnSpc>
                <a:spcPct val="110000"/>
              </a:lnSpc>
            </a:pPr>
            <a:r>
              <a:rPr sz="1100" b="0">
                <a:solidFill>
                  <a:srgbClr val="FFFFFF"/>
                </a:solidFill>
                <a:latin typeface="맑은 고딕"/>
              </a:rPr>
              <a:t>feature별 최적 config 확정</a:t>
            </a:r>
          </a:p>
        </p:txBody>
      </p:sp>
      <p:sp>
        <p:nvSpPr>
          <p:cNvPr id="14" name="Oval 13"/>
          <p:cNvSpPr/>
          <p:nvPr/>
        </p:nvSpPr>
        <p:spPr>
          <a:xfrm>
            <a:off x="3445002" y="2816352"/>
            <a:ext cx="365760" cy="365760"/>
          </a:xfrm>
          <a:prstGeom prst="ellipse">
            <a:avLst/>
          </a:prstGeom>
          <a:solidFill>
            <a:srgbClr val="FFFFFF"/>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A4A"/>
                </a:solidFill>
                <a:latin typeface="맑은 고딕"/>
              </a:rPr>
              <a:t>2</a:t>
            </a:r>
          </a:p>
        </p:txBody>
      </p:sp>
      <p:sp>
        <p:nvSpPr>
          <p:cNvPr id="15" name="TextBox 14"/>
          <p:cNvSpPr txBox="1"/>
          <p:nvPr/>
        </p:nvSpPr>
        <p:spPr>
          <a:xfrm>
            <a:off x="5875020" y="3520440"/>
            <a:ext cx="411480" cy="365760"/>
          </a:xfrm>
          <a:prstGeom prst="rect">
            <a:avLst/>
          </a:prstGeom>
          <a:noFill/>
        </p:spPr>
        <p:txBody>
          <a:bodyPr wrap="square">
            <a:spAutoFit/>
          </a:bodyPr>
          <a:lstStyle/>
          <a:p>
            <a:pPr algn="ctr">
              <a:lnSpc>
                <a:spcPct val="115000"/>
              </a:lnSpc>
            </a:pPr>
            <a:r>
              <a:rPr sz="2200" b="1" i="0">
                <a:solidFill>
                  <a:srgbClr val="2E86AB"/>
                </a:solidFill>
                <a:latin typeface="맑은 고딕"/>
              </a:rPr>
              <a:t>→</a:t>
            </a:r>
          </a:p>
        </p:txBody>
      </p:sp>
      <p:sp>
        <p:nvSpPr>
          <p:cNvPr id="16" name="Rounded Rectangle 15"/>
          <p:cNvSpPr/>
          <p:nvPr/>
        </p:nvSpPr>
        <p:spPr>
          <a:xfrm>
            <a:off x="6286500" y="3017520"/>
            <a:ext cx="2411730" cy="1371600"/>
          </a:xfrm>
          <a:prstGeom prst="roundRect">
            <a:avLst>
              <a:gd name="adj" fmla="val 8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wrap="square" lIns="101600" rIns="101600" rtlCol="0" anchor="ctr"/>
          <a:lstStyle/>
          <a:p>
            <a:pPr algn="ctr">
              <a:lnSpc>
                <a:spcPct val="110000"/>
              </a:lnSpc>
            </a:pPr>
            <a:r>
              <a:rPr sz="1350" b="1">
                <a:solidFill>
                  <a:srgbClr val="FFFFFF"/>
                </a:solidFill>
                <a:latin typeface="맑은 고딕"/>
              </a:rPr>
              <a:t>External 동결 적용</a:t>
            </a:r>
          </a:p>
          <a:p>
            <a:pPr algn="ctr">
              <a:lnSpc>
                <a:spcPct val="110000"/>
              </a:lnSpc>
            </a:pPr>
            <a:r>
              <a:rPr sz="1100" b="0">
                <a:solidFill>
                  <a:srgbClr val="FFFFFF"/>
                </a:solidFill>
                <a:latin typeface="맑은 고딕"/>
              </a:rPr>
              <a:t>(신촌, n=926, 재학습 없음)</a:t>
            </a:r>
          </a:p>
        </p:txBody>
      </p:sp>
      <p:sp>
        <p:nvSpPr>
          <p:cNvPr id="17" name="Oval 16"/>
          <p:cNvSpPr/>
          <p:nvPr/>
        </p:nvSpPr>
        <p:spPr>
          <a:xfrm>
            <a:off x="6268212" y="2816352"/>
            <a:ext cx="365760" cy="365760"/>
          </a:xfrm>
          <a:prstGeom prst="ellipse">
            <a:avLst/>
          </a:prstGeom>
          <a:solidFill>
            <a:srgbClr val="FFFFFF"/>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A4A"/>
                </a:solidFill>
                <a:latin typeface="맑은 고딕"/>
              </a:rPr>
              <a:t>3</a:t>
            </a:r>
          </a:p>
        </p:txBody>
      </p:sp>
      <p:sp>
        <p:nvSpPr>
          <p:cNvPr id="18" name="TextBox 17"/>
          <p:cNvSpPr txBox="1"/>
          <p:nvPr/>
        </p:nvSpPr>
        <p:spPr>
          <a:xfrm>
            <a:off x="8698230" y="3520440"/>
            <a:ext cx="411480" cy="365760"/>
          </a:xfrm>
          <a:prstGeom prst="rect">
            <a:avLst/>
          </a:prstGeom>
          <a:noFill/>
        </p:spPr>
        <p:txBody>
          <a:bodyPr wrap="square">
            <a:spAutoFit/>
          </a:bodyPr>
          <a:lstStyle/>
          <a:p>
            <a:pPr algn="ctr">
              <a:lnSpc>
                <a:spcPct val="115000"/>
              </a:lnSpc>
            </a:pPr>
            <a:r>
              <a:rPr sz="2200" b="1" i="0">
                <a:solidFill>
                  <a:srgbClr val="2E86AB"/>
                </a:solidFill>
                <a:latin typeface="맑은 고딕"/>
              </a:rPr>
              <a:t>→</a:t>
            </a:r>
          </a:p>
        </p:txBody>
      </p:sp>
      <p:sp>
        <p:nvSpPr>
          <p:cNvPr id="19" name="Rounded Rectangle 18"/>
          <p:cNvSpPr/>
          <p:nvPr/>
        </p:nvSpPr>
        <p:spPr>
          <a:xfrm>
            <a:off x="9109710" y="3017520"/>
            <a:ext cx="2411730" cy="1371600"/>
          </a:xfrm>
          <a:prstGeom prst="roundRect">
            <a:avLst>
              <a:gd name="adj" fmla="val 8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101600" rIns="101600" rtlCol="0" anchor="ctr"/>
          <a:lstStyle/>
          <a:p>
            <a:pPr algn="ctr">
              <a:lnSpc>
                <a:spcPct val="110000"/>
              </a:lnSpc>
            </a:pPr>
            <a:r>
              <a:rPr sz="1350" b="1">
                <a:solidFill>
                  <a:srgbClr val="FFFFFF"/>
                </a:solidFill>
                <a:latin typeface="맑은 고딕"/>
              </a:rPr>
              <a:t>Paired Bootstrap</a:t>
            </a:r>
          </a:p>
          <a:p>
            <a:pPr algn="ctr">
              <a:lnSpc>
                <a:spcPct val="110000"/>
              </a:lnSpc>
            </a:pPr>
            <a:r>
              <a:rPr sz="1100" b="0">
                <a:solidFill>
                  <a:srgbClr val="FFFFFF"/>
                </a:solidFill>
                <a:latin typeface="맑은 고딕"/>
              </a:rPr>
              <a:t>(5,000회) ΔR² 95% CI</a:t>
            </a:r>
          </a:p>
        </p:txBody>
      </p:sp>
      <p:sp>
        <p:nvSpPr>
          <p:cNvPr id="20" name="Oval 19"/>
          <p:cNvSpPr/>
          <p:nvPr/>
        </p:nvSpPr>
        <p:spPr>
          <a:xfrm>
            <a:off x="9091422" y="2816352"/>
            <a:ext cx="365760" cy="365760"/>
          </a:xfrm>
          <a:prstGeom prst="ellipse">
            <a:avLst/>
          </a:prstGeom>
          <a:solidFill>
            <a:srgbClr val="FFFFFF"/>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A4A"/>
                </a:solidFill>
                <a:latin typeface="맑은 고딕"/>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RESEARCH OVERVIEW  ·  2 / 2</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Predictor–Outcome 상관 지형</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Weight·Height는 근육계열과, AEC 후반부(50~75%)는 지방계열과 가장 강하게 연관된다(r 최대 0.6~0.77)</a:t>
            </a:r>
          </a:p>
        </p:txBody>
      </p:sp>
      <p:sp>
        <p:nvSpPr>
          <p:cNvPr id="7" name="Rectangle 6"/>
          <p:cNvSpPr/>
          <p:nvPr/>
        </p:nvSpPr>
        <p:spPr>
          <a:xfrm>
            <a:off x="502920" y="1938528"/>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4</a:t>
            </a:r>
          </a:p>
        </p:txBody>
      </p:sp>
      <p:sp>
        <p:nvSpPr>
          <p:cNvPr id="9" name="TextBox 8"/>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pic>
        <p:nvPicPr>
          <p:cNvPr id="10" name="Picture 9" descr="clinical_only_feature_clinic4_correlation_heatmap.png"/>
          <p:cNvPicPr>
            <a:picLocks noChangeAspect="1"/>
          </p:cNvPicPr>
          <p:nvPr/>
        </p:nvPicPr>
        <p:blipFill>
          <a:blip r:embed="rId3"/>
          <a:stretch>
            <a:fillRect/>
          </a:stretch>
        </p:blipFill>
        <p:spPr>
          <a:xfrm>
            <a:off x="376237" y="2514600"/>
            <a:ext cx="5967326" cy="3405315"/>
          </a:xfrm>
          <a:prstGeom prst="rect">
            <a:avLst/>
          </a:prstGeom>
        </p:spPr>
      </p:pic>
      <p:grpSp>
        <p:nvGrpSpPr>
          <p:cNvPr id="17" name="그룹 16">
            <a:extLst>
              <a:ext uri="{FF2B5EF4-FFF2-40B4-BE49-F238E27FC236}">
                <a16:creationId xmlns:a16="http://schemas.microsoft.com/office/drawing/2014/main" id="{C8A076FF-D20A-BF0B-8181-5D9FFA1FBBCC}"/>
              </a:ext>
            </a:extLst>
          </p:cNvPr>
          <p:cNvGrpSpPr/>
          <p:nvPr/>
        </p:nvGrpSpPr>
        <p:grpSpPr>
          <a:xfrm>
            <a:off x="6343563" y="2449830"/>
            <a:ext cx="5708038" cy="3482707"/>
            <a:chOff x="7266514" y="3373098"/>
            <a:chExt cx="4163486" cy="2540312"/>
          </a:xfrm>
        </p:grpSpPr>
        <p:pic>
          <p:nvPicPr>
            <p:cNvPr id="14" name="그림 13">
              <a:extLst>
                <a:ext uri="{FF2B5EF4-FFF2-40B4-BE49-F238E27FC236}">
                  <a16:creationId xmlns:a16="http://schemas.microsoft.com/office/drawing/2014/main" id="{A4C4FA9F-3E9A-1CC3-9BE3-B2151851E86B}"/>
                </a:ext>
              </a:extLst>
            </p:cNvPr>
            <p:cNvPicPr>
              <a:picLocks noChangeAspect="1"/>
            </p:cNvPicPr>
            <p:nvPr/>
          </p:nvPicPr>
          <p:blipFill>
            <a:blip r:embed="rId4"/>
            <a:srcRect t="10266" r="7327" b="55876"/>
            <a:stretch>
              <a:fillRect/>
            </a:stretch>
          </p:blipFill>
          <p:spPr>
            <a:xfrm>
              <a:off x="7266514" y="3591435"/>
              <a:ext cx="4163486" cy="2321975"/>
            </a:xfrm>
            <a:prstGeom prst="rect">
              <a:avLst/>
            </a:prstGeom>
          </p:spPr>
        </p:pic>
        <p:pic>
          <p:nvPicPr>
            <p:cNvPr id="16" name="그림 15">
              <a:extLst>
                <a:ext uri="{FF2B5EF4-FFF2-40B4-BE49-F238E27FC236}">
                  <a16:creationId xmlns:a16="http://schemas.microsoft.com/office/drawing/2014/main" id="{44D9A177-F626-A0A5-DA0B-CDEDDAA0160F}"/>
                </a:ext>
              </a:extLst>
            </p:cNvPr>
            <p:cNvPicPr>
              <a:picLocks noChangeAspect="1"/>
            </p:cNvPicPr>
            <p:nvPr/>
          </p:nvPicPr>
          <p:blipFill>
            <a:blip r:embed="rId4"/>
            <a:srcRect l="14344" t="-26" r="15140" b="96947"/>
            <a:stretch>
              <a:fillRect/>
            </a:stretch>
          </p:blipFill>
          <p:spPr>
            <a:xfrm>
              <a:off x="7764221" y="3373098"/>
              <a:ext cx="3168073" cy="21112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STEP 0  ·  CLINIC-ONLY BASELINE</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Clinic4 Baseline</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Clinic4 4변수만으로 TAMA는 R² 0.71까지 예측되지만, LAMA는 external에서 무너진다(R²=-0.035)</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LinearRegression, 5-fold OOF + bootstrap 95% CI, external 동결검증(재학습 없음)</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6</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1" name="Table 10"/>
          <p:cNvGraphicFramePr>
            <a:graphicFrameLocks noGrp="1"/>
          </p:cNvGraphicFramePr>
          <p:nvPr/>
        </p:nvGraphicFramePr>
        <p:xfrm>
          <a:off x="914400" y="2414016"/>
          <a:ext cx="10332718" cy="3291840"/>
        </p:xfrm>
        <a:graphic>
          <a:graphicData uri="http://schemas.openxmlformats.org/drawingml/2006/table">
            <a:tbl>
              <a:tblPr firstRow="1" bandRow="1">
                <a:tableStyleId>{5C22544A-7EE6-4342-B048-85BDC9FD1C3A}</a:tableStyleId>
              </a:tblPr>
              <a:tblGrid>
                <a:gridCol w="1640114">
                  <a:extLst>
                    <a:ext uri="{9D8B030D-6E8A-4147-A177-3AD203B41FA5}">
                      <a16:colId xmlns:a16="http://schemas.microsoft.com/office/drawing/2014/main" val="20000"/>
                    </a:ext>
                  </a:extLst>
                </a:gridCol>
                <a:gridCol w="3280228">
                  <a:extLst>
                    <a:ext uri="{9D8B030D-6E8A-4147-A177-3AD203B41FA5}">
                      <a16:colId xmlns:a16="http://schemas.microsoft.com/office/drawing/2014/main" val="20001"/>
                    </a:ext>
                  </a:extLst>
                </a:gridCol>
                <a:gridCol w="3280228">
                  <a:extLst>
                    <a:ext uri="{9D8B030D-6E8A-4147-A177-3AD203B41FA5}">
                      <a16:colId xmlns:a16="http://schemas.microsoft.com/office/drawing/2014/main" val="20002"/>
                    </a:ext>
                  </a:extLst>
                </a:gridCol>
                <a:gridCol w="2132148">
                  <a:extLst>
                    <a:ext uri="{9D8B030D-6E8A-4147-A177-3AD203B41FA5}">
                      <a16:colId xmlns:a16="http://schemas.microsoft.com/office/drawing/2014/main" val="20003"/>
                    </a:ext>
                  </a:extLst>
                </a:gridCol>
              </a:tblGrid>
              <a:tr h="411480">
                <a:tc>
                  <a:txBody>
                    <a:bodyPr/>
                    <a:lstStyle/>
                    <a:p>
                      <a:pPr algn="ctr"/>
                      <a:r>
                        <a:rPr sz="1100" b="1">
                          <a:solidFill>
                            <a:srgbClr val="FFFFFF"/>
                          </a:solidFill>
                          <a:latin typeface="맑은 고딕"/>
                        </a:rPr>
                        <a:t>Feature</a:t>
                      </a:r>
                    </a:p>
                  </a:txBody>
                  <a:tcPr marL="50800" marR="50800" marT="25400" marB="25400" anchor="ctr">
                    <a:solidFill>
                      <a:srgbClr val="1B2A4A"/>
                    </a:solidFill>
                  </a:tcPr>
                </a:tc>
                <a:tc>
                  <a:txBody>
                    <a:bodyPr/>
                    <a:lstStyle/>
                    <a:p>
                      <a:pPr algn="ctr"/>
                      <a:r>
                        <a:rPr sz="1100" b="1">
                          <a:solidFill>
                            <a:srgbClr val="FFFFFF"/>
                          </a:solidFill>
                          <a:latin typeface="맑은 고딕"/>
                        </a:rPr>
                        <a:t>Internal R² [95% CI]</a:t>
                      </a:r>
                    </a:p>
                  </a:txBody>
                  <a:tcPr marL="50800" marR="50800" marT="25400" marB="25400" anchor="ctr">
                    <a:solidFill>
                      <a:srgbClr val="1B2A4A"/>
                    </a:solidFill>
                  </a:tcPr>
                </a:tc>
                <a:tc>
                  <a:txBody>
                    <a:bodyPr/>
                    <a:lstStyle/>
                    <a:p>
                      <a:pPr algn="ctr"/>
                      <a:r>
                        <a:rPr sz="1100" b="1">
                          <a:solidFill>
                            <a:srgbClr val="FFFFFF"/>
                          </a:solidFill>
                          <a:latin typeface="맑은 고딕"/>
                        </a:rPr>
                        <a:t>External R² [95% CI]</a:t>
                      </a:r>
                    </a:p>
                  </a:txBody>
                  <a:tcPr marL="50800" marR="50800" marT="25400" marB="25400" anchor="ctr">
                    <a:solidFill>
                      <a:srgbClr val="1B2A4A"/>
                    </a:solidFill>
                  </a:tcPr>
                </a:tc>
                <a:tc>
                  <a:txBody>
                    <a:bodyPr/>
                    <a:lstStyle/>
                    <a:p>
                      <a:pPr algn="ctr"/>
                      <a:r>
                        <a:rPr sz="1100" b="1">
                          <a:solidFill>
                            <a:srgbClr val="FFFFFF"/>
                          </a:solidFill>
                          <a:latin typeface="맑은 고딕"/>
                        </a:rPr>
                        <a:t>External Pearson r</a:t>
                      </a:r>
                    </a:p>
                  </a:txBody>
                  <a:tcPr marL="50800" marR="50800" marT="25400" marB="25400" anchor="ctr">
                    <a:solidFill>
                      <a:srgbClr val="1B2A4A"/>
                    </a:solidFill>
                  </a:tcPr>
                </a:tc>
                <a:extLst>
                  <a:ext uri="{0D108BD9-81ED-4DB2-BD59-A6C34878D82A}">
                    <a16:rowId xmlns:a16="http://schemas.microsoft.com/office/drawing/2014/main" val="10000"/>
                  </a:ext>
                </a:extLst>
              </a:tr>
              <a:tr h="411480">
                <a:tc>
                  <a:txBody>
                    <a:bodyPr/>
                    <a:lstStyle/>
                    <a:p>
                      <a:pPr algn="ctr"/>
                      <a:r>
                        <a:rPr sz="1100" b="0">
                          <a:solidFill>
                            <a:srgbClr val="3A3A3A"/>
                          </a:solidFill>
                          <a:latin typeface="맑은 고딕"/>
                        </a:rPr>
                        <a:t>IMATA</a:t>
                      </a:r>
                    </a:p>
                  </a:txBody>
                  <a:tcPr marL="50800" marR="50800" marT="25400" marB="25400" anchor="ctr">
                    <a:solidFill>
                      <a:srgbClr val="FFFFFF"/>
                    </a:solidFill>
                  </a:tcPr>
                </a:tc>
                <a:tc>
                  <a:txBody>
                    <a:bodyPr/>
                    <a:lstStyle/>
                    <a:p>
                      <a:pPr algn="ctr"/>
                      <a:r>
                        <a:rPr sz="1100" b="0">
                          <a:solidFill>
                            <a:srgbClr val="3A3A3A"/>
                          </a:solidFill>
                          <a:latin typeface="맑은 고딕"/>
                        </a:rPr>
                        <a:t>0.333 [0.284, 0.382]</a:t>
                      </a:r>
                    </a:p>
                  </a:txBody>
                  <a:tcPr marL="50800" marR="50800" marT="25400" marB="25400" anchor="ctr">
                    <a:solidFill>
                      <a:srgbClr val="FFFFFF"/>
                    </a:solidFill>
                  </a:tcPr>
                </a:tc>
                <a:tc>
                  <a:txBody>
                    <a:bodyPr/>
                    <a:lstStyle/>
                    <a:p>
                      <a:pPr algn="ctr"/>
                      <a:r>
                        <a:rPr sz="1100" b="0">
                          <a:solidFill>
                            <a:srgbClr val="3A3A3A"/>
                          </a:solidFill>
                          <a:latin typeface="맑은 고딕"/>
                        </a:rPr>
                        <a:t>0.282 [0.212, 0.344]</a:t>
                      </a:r>
                    </a:p>
                  </a:txBody>
                  <a:tcPr marL="50800" marR="50800" marT="25400" marB="25400" anchor="ctr">
                    <a:solidFill>
                      <a:srgbClr val="FFFFFF"/>
                    </a:solidFill>
                  </a:tcPr>
                </a:tc>
                <a:tc>
                  <a:txBody>
                    <a:bodyPr/>
                    <a:lstStyle/>
                    <a:p>
                      <a:pPr algn="ctr"/>
                      <a:r>
                        <a:rPr sz="1100" b="0">
                          <a:solidFill>
                            <a:srgbClr val="3A3A3A"/>
                          </a:solidFill>
                          <a:latin typeface="맑은 고딕"/>
                        </a:rPr>
                        <a:t>0.566</a:t>
                      </a:r>
                    </a:p>
                  </a:txBody>
                  <a:tcPr marL="50800" marR="50800" marT="25400" marB="25400" anchor="ctr">
                    <a:solidFill>
                      <a:srgbClr val="FFFFFF"/>
                    </a:solidFill>
                  </a:tcPr>
                </a:tc>
                <a:extLst>
                  <a:ext uri="{0D108BD9-81ED-4DB2-BD59-A6C34878D82A}">
                    <a16:rowId xmlns:a16="http://schemas.microsoft.com/office/drawing/2014/main" val="10001"/>
                  </a:ext>
                </a:extLst>
              </a:tr>
              <a:tr h="411480">
                <a:tc>
                  <a:txBody>
                    <a:bodyPr/>
                    <a:lstStyle/>
                    <a:p>
                      <a:pPr algn="ctr"/>
                      <a:r>
                        <a:rPr sz="1100" b="0">
                          <a:solidFill>
                            <a:srgbClr val="3A3A3A"/>
                          </a:solidFill>
                          <a:latin typeface="맑은 고딕"/>
                        </a:rPr>
                        <a:t>NAMA</a:t>
                      </a:r>
                    </a:p>
                  </a:txBody>
                  <a:tcPr marL="50800" marR="50800" marT="25400" marB="25400" anchor="ctr">
                    <a:solidFill>
                      <a:srgbClr val="EFF1F4"/>
                    </a:solidFill>
                  </a:tcPr>
                </a:tc>
                <a:tc>
                  <a:txBody>
                    <a:bodyPr/>
                    <a:lstStyle/>
                    <a:p>
                      <a:pPr algn="ctr"/>
                      <a:r>
                        <a:rPr sz="1100" b="0">
                          <a:solidFill>
                            <a:srgbClr val="3A3A3A"/>
                          </a:solidFill>
                          <a:latin typeface="맑은 고딕"/>
                        </a:rPr>
                        <a:t>0.591 [0.535, 0.636]</a:t>
                      </a:r>
                    </a:p>
                  </a:txBody>
                  <a:tcPr marL="50800" marR="50800" marT="25400" marB="25400" anchor="ctr">
                    <a:solidFill>
                      <a:srgbClr val="EFF1F4"/>
                    </a:solidFill>
                  </a:tcPr>
                </a:tc>
                <a:tc>
                  <a:txBody>
                    <a:bodyPr/>
                    <a:lstStyle/>
                    <a:p>
                      <a:pPr algn="ctr"/>
                      <a:r>
                        <a:rPr sz="1100" b="0">
                          <a:solidFill>
                            <a:srgbClr val="3A3A3A"/>
                          </a:solidFill>
                          <a:latin typeface="맑은 고딕"/>
                        </a:rPr>
                        <a:t>0.568 [0.511, 0.614]</a:t>
                      </a:r>
                    </a:p>
                  </a:txBody>
                  <a:tcPr marL="50800" marR="50800" marT="25400" marB="25400" anchor="ctr">
                    <a:solidFill>
                      <a:srgbClr val="EFF1F4"/>
                    </a:solidFill>
                  </a:tcPr>
                </a:tc>
                <a:tc>
                  <a:txBody>
                    <a:bodyPr/>
                    <a:lstStyle/>
                    <a:p>
                      <a:pPr algn="ctr"/>
                      <a:r>
                        <a:rPr sz="1100" b="0">
                          <a:solidFill>
                            <a:srgbClr val="3A3A3A"/>
                          </a:solidFill>
                          <a:latin typeface="맑은 고딕"/>
                        </a:rPr>
                        <a:t>0.790</a:t>
                      </a:r>
                    </a:p>
                  </a:txBody>
                  <a:tcPr marL="50800" marR="50800" marT="25400" marB="25400" anchor="ctr">
                    <a:solidFill>
                      <a:srgbClr val="EFF1F4"/>
                    </a:solidFill>
                  </a:tcPr>
                </a:tc>
                <a:extLst>
                  <a:ext uri="{0D108BD9-81ED-4DB2-BD59-A6C34878D82A}">
                    <a16:rowId xmlns:a16="http://schemas.microsoft.com/office/drawing/2014/main" val="10002"/>
                  </a:ext>
                </a:extLst>
              </a:tr>
              <a:tr h="411480">
                <a:tc>
                  <a:txBody>
                    <a:bodyPr/>
                    <a:lstStyle/>
                    <a:p>
                      <a:pPr algn="ctr"/>
                      <a:r>
                        <a:rPr sz="1100" b="0">
                          <a:solidFill>
                            <a:srgbClr val="3A3A3A"/>
                          </a:solidFill>
                          <a:latin typeface="맑은 고딕"/>
                        </a:rPr>
                        <a:t>LAMA</a:t>
                      </a:r>
                    </a:p>
                  </a:txBody>
                  <a:tcPr marL="50800" marR="50800" marT="25400" marB="25400" anchor="ctr">
                    <a:solidFill>
                      <a:srgbClr val="FFFFFF"/>
                    </a:solidFill>
                  </a:tcPr>
                </a:tc>
                <a:tc>
                  <a:txBody>
                    <a:bodyPr/>
                    <a:lstStyle/>
                    <a:p>
                      <a:pPr algn="ctr"/>
                      <a:r>
                        <a:rPr sz="1100" b="0">
                          <a:solidFill>
                            <a:srgbClr val="3A3A3A"/>
                          </a:solidFill>
                          <a:latin typeface="맑은 고딕"/>
                        </a:rPr>
                        <a:t>0.419 [0.373, 0.468]</a:t>
                      </a:r>
                    </a:p>
                  </a:txBody>
                  <a:tcPr marL="50800" marR="50800" marT="25400" marB="25400" anchor="ctr">
                    <a:solidFill>
                      <a:srgbClr val="FFFFFF"/>
                    </a:solidFill>
                  </a:tcPr>
                </a:tc>
                <a:tc>
                  <a:txBody>
                    <a:bodyPr/>
                    <a:lstStyle/>
                    <a:p>
                      <a:pPr algn="ctr"/>
                      <a:r>
                        <a:rPr sz="1100" b="0">
                          <a:solidFill>
                            <a:srgbClr val="3A3A3A"/>
                          </a:solidFill>
                          <a:latin typeface="맑은 고딕"/>
                        </a:rPr>
                        <a:t>-0.035 [-0.130, 0.045]</a:t>
                      </a:r>
                    </a:p>
                  </a:txBody>
                  <a:tcPr marL="50800" marR="50800" marT="25400" marB="25400" anchor="ctr">
                    <a:solidFill>
                      <a:srgbClr val="FFFFFF"/>
                    </a:solidFill>
                  </a:tcPr>
                </a:tc>
                <a:tc>
                  <a:txBody>
                    <a:bodyPr/>
                    <a:lstStyle/>
                    <a:p>
                      <a:pPr algn="ctr"/>
                      <a:r>
                        <a:rPr sz="1100" b="0">
                          <a:solidFill>
                            <a:srgbClr val="3A3A3A"/>
                          </a:solidFill>
                          <a:latin typeface="맑은 고딕"/>
                        </a:rPr>
                        <a:t>0.558</a:t>
                      </a:r>
                    </a:p>
                  </a:txBody>
                  <a:tcPr marL="50800" marR="50800" marT="25400" marB="25400" anchor="ctr">
                    <a:solidFill>
                      <a:srgbClr val="FFFFFF"/>
                    </a:solidFill>
                  </a:tcPr>
                </a:tc>
                <a:extLst>
                  <a:ext uri="{0D108BD9-81ED-4DB2-BD59-A6C34878D82A}">
                    <a16:rowId xmlns:a16="http://schemas.microsoft.com/office/drawing/2014/main" val="10003"/>
                  </a:ext>
                </a:extLst>
              </a:tr>
              <a:tr h="411480">
                <a:tc>
                  <a:txBody>
                    <a:bodyPr/>
                    <a:lstStyle/>
                    <a:p>
                      <a:pPr algn="ctr"/>
                      <a:r>
                        <a:rPr sz="1100" b="0">
                          <a:solidFill>
                            <a:srgbClr val="3A3A3A"/>
                          </a:solidFill>
                          <a:latin typeface="맑은 고딕"/>
                        </a:rPr>
                        <a:t>TAMA</a:t>
                      </a:r>
                    </a:p>
                  </a:txBody>
                  <a:tcPr marL="50800" marR="50800" marT="25400" marB="25400" anchor="ctr">
                    <a:solidFill>
                      <a:srgbClr val="EFF1F4"/>
                    </a:solidFill>
                  </a:tcPr>
                </a:tc>
                <a:tc>
                  <a:txBody>
                    <a:bodyPr/>
                    <a:lstStyle/>
                    <a:p>
                      <a:pPr algn="ctr"/>
                      <a:r>
                        <a:rPr sz="1100" b="0">
                          <a:solidFill>
                            <a:srgbClr val="3A3A3A"/>
                          </a:solidFill>
                          <a:latin typeface="맑은 고딕"/>
                        </a:rPr>
                        <a:t>0.646 [0.605, 0.683]</a:t>
                      </a:r>
                    </a:p>
                  </a:txBody>
                  <a:tcPr marL="50800" marR="50800" marT="25400" marB="25400" anchor="ctr">
                    <a:solidFill>
                      <a:srgbClr val="EFF1F4"/>
                    </a:solidFill>
                  </a:tcPr>
                </a:tc>
                <a:tc>
                  <a:txBody>
                    <a:bodyPr/>
                    <a:lstStyle/>
                    <a:p>
                      <a:pPr algn="ctr"/>
                      <a:r>
                        <a:rPr sz="1100" b="0">
                          <a:solidFill>
                            <a:srgbClr val="3A3A3A"/>
                          </a:solidFill>
                          <a:latin typeface="맑은 고딕"/>
                        </a:rPr>
                        <a:t>0.711 [0.673, 0.743]</a:t>
                      </a:r>
                    </a:p>
                  </a:txBody>
                  <a:tcPr marL="50800" marR="50800" marT="25400" marB="25400" anchor="ctr">
                    <a:solidFill>
                      <a:srgbClr val="EFF1F4"/>
                    </a:solidFill>
                  </a:tcPr>
                </a:tc>
                <a:tc>
                  <a:txBody>
                    <a:bodyPr/>
                    <a:lstStyle/>
                    <a:p>
                      <a:pPr algn="ctr"/>
                      <a:r>
                        <a:rPr sz="1100" b="0">
                          <a:solidFill>
                            <a:srgbClr val="3A3A3A"/>
                          </a:solidFill>
                          <a:latin typeface="맑은 고딕"/>
                        </a:rPr>
                        <a:t>0.848</a:t>
                      </a:r>
                    </a:p>
                  </a:txBody>
                  <a:tcPr marL="50800" marR="50800" marT="25400" marB="25400" anchor="ctr">
                    <a:solidFill>
                      <a:srgbClr val="EFF1F4"/>
                    </a:solidFill>
                  </a:tcPr>
                </a:tc>
                <a:extLst>
                  <a:ext uri="{0D108BD9-81ED-4DB2-BD59-A6C34878D82A}">
                    <a16:rowId xmlns:a16="http://schemas.microsoft.com/office/drawing/2014/main" val="10004"/>
                  </a:ext>
                </a:extLst>
              </a:tr>
              <a:tr h="411480">
                <a:tc>
                  <a:txBody>
                    <a:bodyPr/>
                    <a:lstStyle/>
                    <a:p>
                      <a:pPr algn="ctr"/>
                      <a:r>
                        <a:rPr sz="1100" b="0">
                          <a:solidFill>
                            <a:srgbClr val="3A3A3A"/>
                          </a:solidFill>
                          <a:latin typeface="맑은 고딕"/>
                        </a:rPr>
                        <a:t>VAT</a:t>
                      </a:r>
                    </a:p>
                  </a:txBody>
                  <a:tcPr marL="50800" marR="50800" marT="25400" marB="25400" anchor="ctr">
                    <a:solidFill>
                      <a:srgbClr val="FFFFFF"/>
                    </a:solidFill>
                  </a:tcPr>
                </a:tc>
                <a:tc>
                  <a:txBody>
                    <a:bodyPr/>
                    <a:lstStyle/>
                    <a:p>
                      <a:pPr algn="ctr"/>
                      <a:r>
                        <a:rPr sz="1100" b="0">
                          <a:solidFill>
                            <a:srgbClr val="3A3A3A"/>
                          </a:solidFill>
                          <a:latin typeface="맑은 고딕"/>
                        </a:rPr>
                        <a:t>0.523 [0.483, 0.562]</a:t>
                      </a:r>
                    </a:p>
                  </a:txBody>
                  <a:tcPr marL="50800" marR="50800" marT="25400" marB="25400" anchor="ctr">
                    <a:solidFill>
                      <a:srgbClr val="FFFFFF"/>
                    </a:solidFill>
                  </a:tcPr>
                </a:tc>
                <a:tc>
                  <a:txBody>
                    <a:bodyPr/>
                    <a:lstStyle/>
                    <a:p>
                      <a:pPr algn="ctr"/>
                      <a:r>
                        <a:rPr sz="1100" b="0">
                          <a:solidFill>
                            <a:srgbClr val="3A3A3A"/>
                          </a:solidFill>
                          <a:latin typeface="맑은 고딕"/>
                        </a:rPr>
                        <a:t>0.418 [0.359, 0.471]</a:t>
                      </a:r>
                    </a:p>
                  </a:txBody>
                  <a:tcPr marL="50800" marR="50800" marT="25400" marB="25400" anchor="ctr">
                    <a:solidFill>
                      <a:srgbClr val="FFFFFF"/>
                    </a:solidFill>
                  </a:tcPr>
                </a:tc>
                <a:tc>
                  <a:txBody>
                    <a:bodyPr/>
                    <a:lstStyle/>
                    <a:p>
                      <a:pPr algn="ctr"/>
                      <a:r>
                        <a:rPr sz="1100" b="0">
                          <a:solidFill>
                            <a:srgbClr val="3A3A3A"/>
                          </a:solidFill>
                          <a:latin typeface="맑은 고딕"/>
                        </a:rPr>
                        <a:t>0.664</a:t>
                      </a:r>
                    </a:p>
                  </a:txBody>
                  <a:tcPr marL="50800" marR="50800" marT="25400" marB="25400" anchor="ctr">
                    <a:solidFill>
                      <a:srgbClr val="FFFFFF"/>
                    </a:solidFill>
                  </a:tcPr>
                </a:tc>
                <a:extLst>
                  <a:ext uri="{0D108BD9-81ED-4DB2-BD59-A6C34878D82A}">
                    <a16:rowId xmlns:a16="http://schemas.microsoft.com/office/drawing/2014/main" val="10005"/>
                  </a:ext>
                </a:extLst>
              </a:tr>
              <a:tr h="411480">
                <a:tc>
                  <a:txBody>
                    <a:bodyPr/>
                    <a:lstStyle/>
                    <a:p>
                      <a:pPr algn="ctr"/>
                      <a:r>
                        <a:rPr sz="1100" b="0">
                          <a:solidFill>
                            <a:srgbClr val="3A3A3A"/>
                          </a:solidFill>
                          <a:latin typeface="맑은 고딕"/>
                        </a:rPr>
                        <a:t>SAT</a:t>
                      </a:r>
                    </a:p>
                  </a:txBody>
                  <a:tcPr marL="50800" marR="50800" marT="25400" marB="25400" anchor="ctr">
                    <a:solidFill>
                      <a:srgbClr val="EFF1F4"/>
                    </a:solidFill>
                  </a:tcPr>
                </a:tc>
                <a:tc>
                  <a:txBody>
                    <a:bodyPr/>
                    <a:lstStyle/>
                    <a:p>
                      <a:pPr algn="ctr"/>
                      <a:r>
                        <a:rPr sz="1100" b="0">
                          <a:solidFill>
                            <a:srgbClr val="3A3A3A"/>
                          </a:solidFill>
                          <a:latin typeface="맑은 고딕"/>
                        </a:rPr>
                        <a:t>0.528 [0.478, 0.573]</a:t>
                      </a:r>
                    </a:p>
                  </a:txBody>
                  <a:tcPr marL="50800" marR="50800" marT="25400" marB="25400" anchor="ctr">
                    <a:solidFill>
                      <a:srgbClr val="EFF1F4"/>
                    </a:solidFill>
                  </a:tcPr>
                </a:tc>
                <a:tc>
                  <a:txBody>
                    <a:bodyPr/>
                    <a:lstStyle/>
                    <a:p>
                      <a:pPr algn="ctr"/>
                      <a:r>
                        <a:rPr sz="1100" b="0">
                          <a:solidFill>
                            <a:srgbClr val="3A3A3A"/>
                          </a:solidFill>
                          <a:latin typeface="맑은 고딕"/>
                        </a:rPr>
                        <a:t>0.565 [0.511, 0.613]</a:t>
                      </a:r>
                    </a:p>
                  </a:txBody>
                  <a:tcPr marL="50800" marR="50800" marT="25400" marB="25400" anchor="ctr">
                    <a:solidFill>
                      <a:srgbClr val="EFF1F4"/>
                    </a:solidFill>
                  </a:tcPr>
                </a:tc>
                <a:tc>
                  <a:txBody>
                    <a:bodyPr/>
                    <a:lstStyle/>
                    <a:p>
                      <a:pPr algn="ctr"/>
                      <a:r>
                        <a:rPr sz="1100" b="0">
                          <a:solidFill>
                            <a:srgbClr val="3A3A3A"/>
                          </a:solidFill>
                          <a:latin typeface="맑은 고딕"/>
                        </a:rPr>
                        <a:t>0.759</a:t>
                      </a:r>
                    </a:p>
                  </a:txBody>
                  <a:tcPr marL="50800" marR="50800" marT="25400" marB="25400" anchor="ctr">
                    <a:solidFill>
                      <a:srgbClr val="EFF1F4"/>
                    </a:solidFill>
                  </a:tcPr>
                </a:tc>
                <a:extLst>
                  <a:ext uri="{0D108BD9-81ED-4DB2-BD59-A6C34878D82A}">
                    <a16:rowId xmlns:a16="http://schemas.microsoft.com/office/drawing/2014/main" val="10006"/>
                  </a:ext>
                </a:extLst>
              </a:tr>
              <a:tr h="411480">
                <a:tc>
                  <a:txBody>
                    <a:bodyPr/>
                    <a:lstStyle/>
                    <a:p>
                      <a:pPr algn="ctr"/>
                      <a:r>
                        <a:rPr sz="1100" b="0">
                          <a:solidFill>
                            <a:srgbClr val="3A3A3A"/>
                          </a:solidFill>
                          <a:latin typeface="맑은 고딕"/>
                        </a:rPr>
                        <a:t>Total Fat</a:t>
                      </a:r>
                    </a:p>
                  </a:txBody>
                  <a:tcPr marL="50800" marR="50800" marT="25400" marB="25400" anchor="ctr">
                    <a:solidFill>
                      <a:srgbClr val="FFFFFF"/>
                    </a:solidFill>
                  </a:tcPr>
                </a:tc>
                <a:tc>
                  <a:txBody>
                    <a:bodyPr/>
                    <a:lstStyle/>
                    <a:p>
                      <a:pPr algn="ctr"/>
                      <a:r>
                        <a:rPr sz="1100" b="0">
                          <a:solidFill>
                            <a:srgbClr val="3A3A3A"/>
                          </a:solidFill>
                          <a:latin typeface="맑은 고딕"/>
                        </a:rPr>
                        <a:t>0.502 [0.452, 0.548]</a:t>
                      </a:r>
                    </a:p>
                  </a:txBody>
                  <a:tcPr marL="50800" marR="50800" marT="25400" marB="25400" anchor="ctr">
                    <a:solidFill>
                      <a:srgbClr val="FFFFFF"/>
                    </a:solidFill>
                  </a:tcPr>
                </a:tc>
                <a:tc>
                  <a:txBody>
                    <a:bodyPr/>
                    <a:lstStyle/>
                    <a:p>
                      <a:pPr algn="ctr"/>
                      <a:r>
                        <a:rPr sz="1100" b="0">
                          <a:solidFill>
                            <a:srgbClr val="3A3A3A"/>
                          </a:solidFill>
                          <a:latin typeface="맑은 고딕"/>
                        </a:rPr>
                        <a:t>0.492 [0.428, 0.550]</a:t>
                      </a:r>
                    </a:p>
                  </a:txBody>
                  <a:tcPr marL="50800" marR="50800" marT="25400" marB="25400" anchor="ctr">
                    <a:solidFill>
                      <a:srgbClr val="FFFFFF"/>
                    </a:solidFill>
                  </a:tcPr>
                </a:tc>
                <a:tc>
                  <a:txBody>
                    <a:bodyPr/>
                    <a:lstStyle/>
                    <a:p>
                      <a:pPr algn="ctr"/>
                      <a:r>
                        <a:rPr sz="1100" b="0">
                          <a:solidFill>
                            <a:srgbClr val="3A3A3A"/>
                          </a:solidFill>
                          <a:latin typeface="맑은 고딕"/>
                        </a:rPr>
                        <a:t>0.714</a:t>
                      </a:r>
                    </a:p>
                  </a:txBody>
                  <a:tcPr marL="50800" marR="50800" marT="25400" marB="25400"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STEP 1  ·  AEC 구간평균(PAA)</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구간평균 추가</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구간평균 추가로 external까지 검증되는 feature는 VAT(mean16) 하나뿐, ΔR²=+0.062</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AEC를 N=1~128 구간평균으로 압축해 추가, internal-best 확정 후 external paired bootstrap 단일검증</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7</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1" name="Table 10"/>
          <p:cNvGraphicFramePr>
            <a:graphicFrameLocks noGrp="1"/>
          </p:cNvGraphicFramePr>
          <p:nvPr/>
        </p:nvGraphicFramePr>
        <p:xfrm>
          <a:off x="365760" y="2414016"/>
          <a:ext cx="11429996" cy="2834640"/>
        </p:xfrm>
        <a:graphic>
          <a:graphicData uri="http://schemas.openxmlformats.org/drawingml/2006/table">
            <a:tbl>
              <a:tblPr firstRow="1" bandRow="1">
                <a:tableStyleId>{5C22544A-7EE6-4342-B048-85BDC9FD1C3A}</a:tableStyleId>
              </a:tblPr>
              <a:tblGrid>
                <a:gridCol w="1390135">
                  <a:extLst>
                    <a:ext uri="{9D8B030D-6E8A-4147-A177-3AD203B41FA5}">
                      <a16:colId xmlns:a16="http://schemas.microsoft.com/office/drawing/2014/main" val="20000"/>
                    </a:ext>
                  </a:extLst>
                </a:gridCol>
                <a:gridCol w="1544594">
                  <a:extLst>
                    <a:ext uri="{9D8B030D-6E8A-4147-A177-3AD203B41FA5}">
                      <a16:colId xmlns:a16="http://schemas.microsoft.com/office/drawing/2014/main" val="20001"/>
                    </a:ext>
                  </a:extLst>
                </a:gridCol>
                <a:gridCol w="2316891">
                  <a:extLst>
                    <a:ext uri="{9D8B030D-6E8A-4147-A177-3AD203B41FA5}">
                      <a16:colId xmlns:a16="http://schemas.microsoft.com/office/drawing/2014/main" val="20002"/>
                    </a:ext>
                  </a:extLst>
                </a:gridCol>
                <a:gridCol w="2316891">
                  <a:extLst>
                    <a:ext uri="{9D8B030D-6E8A-4147-A177-3AD203B41FA5}">
                      <a16:colId xmlns:a16="http://schemas.microsoft.com/office/drawing/2014/main" val="20003"/>
                    </a:ext>
                  </a:extLst>
                </a:gridCol>
                <a:gridCol w="2316891">
                  <a:extLst>
                    <a:ext uri="{9D8B030D-6E8A-4147-A177-3AD203B41FA5}">
                      <a16:colId xmlns:a16="http://schemas.microsoft.com/office/drawing/2014/main" val="20004"/>
                    </a:ext>
                  </a:extLst>
                </a:gridCol>
                <a:gridCol w="1544594">
                  <a:extLst>
                    <a:ext uri="{9D8B030D-6E8A-4147-A177-3AD203B41FA5}">
                      <a16:colId xmlns:a16="http://schemas.microsoft.com/office/drawing/2014/main" val="20005"/>
                    </a:ext>
                  </a:extLst>
                </a:gridCol>
              </a:tblGrid>
              <a:tr h="354330">
                <a:tc>
                  <a:txBody>
                    <a:bodyPr/>
                    <a:lstStyle/>
                    <a:p>
                      <a:pPr algn="ctr"/>
                      <a:r>
                        <a:rPr sz="1100" b="1">
                          <a:solidFill>
                            <a:srgbClr val="FFFFFF"/>
                          </a:solidFill>
                          <a:latin typeface="맑은 고딕"/>
                        </a:rPr>
                        <a:t>Feature</a:t>
                      </a:r>
                    </a:p>
                  </a:txBody>
                  <a:tcPr marL="50800" marR="50800" marT="25400" marB="25400" anchor="ctr">
                    <a:solidFill>
                      <a:srgbClr val="1B2A4A"/>
                    </a:solidFill>
                  </a:tcPr>
                </a:tc>
                <a:tc>
                  <a:txBody>
                    <a:bodyPr/>
                    <a:lstStyle/>
                    <a:p>
                      <a:pPr algn="ctr"/>
                      <a:r>
                        <a:rPr sz="1100" b="1">
                          <a:solidFill>
                            <a:srgbClr val="FFFFFF"/>
                          </a:solidFill>
                          <a:latin typeface="맑은 고딕"/>
                        </a:rPr>
                        <a:t>Internal 최적 N</a:t>
                      </a:r>
                    </a:p>
                  </a:txBody>
                  <a:tcPr marL="50800" marR="50800" marT="25400" marB="25400" anchor="ctr">
                    <a:solidFill>
                      <a:srgbClr val="1B2A4A"/>
                    </a:solidFill>
                  </a:tcPr>
                </a:tc>
                <a:tc>
                  <a:txBody>
                    <a:bodyPr/>
                    <a:lstStyle/>
                    <a:p>
                      <a:pPr algn="ctr"/>
                      <a:r>
                        <a:rPr sz="1100" b="1">
                          <a:solidFill>
                            <a:srgbClr val="FFFFFF"/>
                          </a:solidFill>
                          <a:latin typeface="맑은 고딕"/>
                        </a:rPr>
                        <a:t>Internal R²(base→+AEC)</a:t>
                      </a:r>
                    </a:p>
                  </a:txBody>
                  <a:tcPr marL="50800" marR="50800" marT="25400" marB="25400" anchor="ctr">
                    <a:solidFill>
                      <a:srgbClr val="1B2A4A"/>
                    </a:solidFill>
                  </a:tcPr>
                </a:tc>
                <a:tc>
                  <a:txBody>
                    <a:bodyPr/>
                    <a:lstStyle/>
                    <a:p>
                      <a:pPr algn="ctr"/>
                      <a:r>
                        <a:rPr sz="1100" b="1">
                          <a:solidFill>
                            <a:srgbClr val="FFFFFF"/>
                          </a:solidFill>
                          <a:latin typeface="맑은 고딕"/>
                        </a:rPr>
                        <a:t>External R²(base→+AEC)</a:t>
                      </a:r>
                    </a:p>
                  </a:txBody>
                  <a:tcPr marL="50800" marR="50800" marT="25400" marB="25400" anchor="ctr">
                    <a:solidFill>
                      <a:srgbClr val="1B2A4A"/>
                    </a:solidFill>
                  </a:tcPr>
                </a:tc>
                <a:tc>
                  <a:txBody>
                    <a:bodyPr/>
                    <a:lstStyle/>
                    <a:p>
                      <a:pPr algn="ctr"/>
                      <a:r>
                        <a:rPr sz="1100" b="1">
                          <a:solidFill>
                            <a:srgbClr val="FFFFFF"/>
                          </a:solidFill>
                          <a:latin typeface="맑은 고딕"/>
                        </a:rPr>
                        <a:t>ΔR² external [95% CI]</a:t>
                      </a:r>
                    </a:p>
                  </a:txBody>
                  <a:tcPr marL="50800" marR="50800" marT="25400" marB="25400" anchor="ctr">
                    <a:solidFill>
                      <a:srgbClr val="1B2A4A"/>
                    </a:solidFill>
                  </a:tcPr>
                </a:tc>
                <a:tc>
                  <a:txBody>
                    <a:bodyPr/>
                    <a:lstStyle/>
                    <a:p>
                      <a:pPr algn="ctr"/>
                      <a:r>
                        <a:rPr sz="1100" b="1">
                          <a:solidFill>
                            <a:srgbClr val="FFFFFF"/>
                          </a:solidFill>
                          <a:latin typeface="맑은 고딕"/>
                        </a:rPr>
                        <a:t>판정</a:t>
                      </a:r>
                    </a:p>
                  </a:txBody>
                  <a:tcPr marL="50800" marR="50800" marT="25400" marB="25400" anchor="ctr">
                    <a:solidFill>
                      <a:srgbClr val="1B2A4A"/>
                    </a:solidFill>
                  </a:tcPr>
                </a:tc>
                <a:extLst>
                  <a:ext uri="{0D108BD9-81ED-4DB2-BD59-A6C34878D82A}">
                    <a16:rowId xmlns:a16="http://schemas.microsoft.com/office/drawing/2014/main" val="10000"/>
                  </a:ext>
                </a:extLst>
              </a:tr>
              <a:tr h="354330">
                <a:tc>
                  <a:txBody>
                    <a:bodyPr/>
                    <a:lstStyle/>
                    <a:p>
                      <a:pPr algn="ctr"/>
                      <a:r>
                        <a:rPr sz="1100" b="0">
                          <a:solidFill>
                            <a:srgbClr val="3A3A3A"/>
                          </a:solidFill>
                          <a:latin typeface="맑은 고딕"/>
                        </a:rPr>
                        <a:t>VAT</a:t>
                      </a:r>
                    </a:p>
                  </a:txBody>
                  <a:tcPr marL="50800" marR="50800" marT="25400" marB="25400" anchor="ctr">
                    <a:solidFill>
                      <a:srgbClr val="FFFFFF"/>
                    </a:solidFill>
                  </a:tcPr>
                </a:tc>
                <a:tc>
                  <a:txBody>
                    <a:bodyPr/>
                    <a:lstStyle/>
                    <a:p>
                      <a:pPr algn="ctr"/>
                      <a:r>
                        <a:rPr sz="1100" b="0">
                          <a:solidFill>
                            <a:srgbClr val="3A3A3A"/>
                          </a:solidFill>
                          <a:latin typeface="맑은 고딕"/>
                        </a:rPr>
                        <a:t>mean16</a:t>
                      </a:r>
                    </a:p>
                  </a:txBody>
                  <a:tcPr marL="50800" marR="50800" marT="25400" marB="25400" anchor="ctr">
                    <a:solidFill>
                      <a:srgbClr val="FFFFFF"/>
                    </a:solidFill>
                  </a:tcPr>
                </a:tc>
                <a:tc>
                  <a:txBody>
                    <a:bodyPr/>
                    <a:lstStyle/>
                    <a:p>
                      <a:pPr algn="ctr"/>
                      <a:r>
                        <a:rPr sz="1100" b="0">
                          <a:solidFill>
                            <a:srgbClr val="3A3A3A"/>
                          </a:solidFill>
                          <a:latin typeface="맑은 고딕"/>
                        </a:rPr>
                        <a:t>0.523 → 0.623</a:t>
                      </a:r>
                    </a:p>
                  </a:txBody>
                  <a:tcPr marL="50800" marR="50800" marT="25400" marB="25400" anchor="ctr">
                    <a:solidFill>
                      <a:srgbClr val="FFFFFF"/>
                    </a:solidFill>
                  </a:tcPr>
                </a:tc>
                <a:tc>
                  <a:txBody>
                    <a:bodyPr/>
                    <a:lstStyle/>
                    <a:p>
                      <a:pPr algn="ctr"/>
                      <a:r>
                        <a:rPr sz="1100" b="0">
                          <a:solidFill>
                            <a:srgbClr val="3A3A3A"/>
                          </a:solidFill>
                          <a:latin typeface="맑은 고딕"/>
                        </a:rPr>
                        <a:t>0.418 → 0.480</a:t>
                      </a:r>
                    </a:p>
                  </a:txBody>
                  <a:tcPr marL="50800" marR="50800" marT="25400" marB="25400" anchor="ctr">
                    <a:solidFill>
                      <a:srgbClr val="FFFFFF"/>
                    </a:solidFill>
                  </a:tcPr>
                </a:tc>
                <a:tc>
                  <a:txBody>
                    <a:bodyPr/>
                    <a:lstStyle/>
                    <a:p>
                      <a:pPr algn="ctr"/>
                      <a:r>
                        <a:rPr sz="1100" b="0">
                          <a:solidFill>
                            <a:srgbClr val="3A3A3A"/>
                          </a:solidFill>
                          <a:latin typeface="맑은 고딕"/>
                        </a:rPr>
                        <a:t>+0.062 [0.024, 0.101]</a:t>
                      </a:r>
                    </a:p>
                  </a:txBody>
                  <a:tcPr marL="50800" marR="50800" marT="25400" marB="25400" anchor="ctr">
                    <a:solidFill>
                      <a:srgbClr val="FFFFFF"/>
                    </a:solidFill>
                  </a:tcPr>
                </a:tc>
                <a:tc>
                  <a:txBody>
                    <a:bodyPr/>
                    <a:lstStyle/>
                    <a:p>
                      <a:pPr algn="ctr"/>
                      <a:r>
                        <a:rPr sz="1100" b="1">
                          <a:solidFill>
                            <a:srgbClr val="1E7A3C"/>
                          </a:solidFill>
                          <a:latin typeface="맑은 고딕"/>
                        </a:rPr>
                        <a:t>유의(개선)</a:t>
                      </a:r>
                    </a:p>
                  </a:txBody>
                  <a:tcPr marL="50800" marR="50800" marT="25400" marB="25400" anchor="ctr">
                    <a:solidFill>
                      <a:srgbClr val="FFFFFF"/>
                    </a:solidFill>
                  </a:tcPr>
                </a:tc>
                <a:extLst>
                  <a:ext uri="{0D108BD9-81ED-4DB2-BD59-A6C34878D82A}">
                    <a16:rowId xmlns:a16="http://schemas.microsoft.com/office/drawing/2014/main" val="10001"/>
                  </a:ext>
                </a:extLst>
              </a:tr>
              <a:tr h="354330">
                <a:tc>
                  <a:txBody>
                    <a:bodyPr/>
                    <a:lstStyle/>
                    <a:p>
                      <a:pPr algn="ctr"/>
                      <a:r>
                        <a:rPr sz="1100" b="0">
                          <a:solidFill>
                            <a:srgbClr val="3A3A3A"/>
                          </a:solidFill>
                          <a:latin typeface="맑은 고딕"/>
                        </a:rPr>
                        <a:t>LAMA</a:t>
                      </a:r>
                    </a:p>
                  </a:txBody>
                  <a:tcPr marL="50800" marR="50800" marT="25400" marB="25400" anchor="ctr">
                    <a:solidFill>
                      <a:srgbClr val="EFF1F4"/>
                    </a:solidFill>
                  </a:tcPr>
                </a:tc>
                <a:tc>
                  <a:txBody>
                    <a:bodyPr/>
                    <a:lstStyle/>
                    <a:p>
                      <a:pPr algn="ctr"/>
                      <a:r>
                        <a:rPr sz="1100" b="0">
                          <a:solidFill>
                            <a:srgbClr val="3A3A3A"/>
                          </a:solidFill>
                          <a:latin typeface="맑은 고딕"/>
                        </a:rPr>
                        <a:t>mean16</a:t>
                      </a:r>
                    </a:p>
                  </a:txBody>
                  <a:tcPr marL="50800" marR="50800" marT="25400" marB="25400" anchor="ctr">
                    <a:solidFill>
                      <a:srgbClr val="EFF1F4"/>
                    </a:solidFill>
                  </a:tcPr>
                </a:tc>
                <a:tc>
                  <a:txBody>
                    <a:bodyPr/>
                    <a:lstStyle/>
                    <a:p>
                      <a:pPr algn="ctr"/>
                      <a:r>
                        <a:rPr sz="1100" b="0">
                          <a:solidFill>
                            <a:srgbClr val="3A3A3A"/>
                          </a:solidFill>
                          <a:latin typeface="맑은 고딕"/>
                        </a:rPr>
                        <a:t>0.419 → 0.473</a:t>
                      </a:r>
                    </a:p>
                  </a:txBody>
                  <a:tcPr marL="50800" marR="50800" marT="25400" marB="25400" anchor="ctr">
                    <a:solidFill>
                      <a:srgbClr val="EFF1F4"/>
                    </a:solidFill>
                  </a:tcPr>
                </a:tc>
                <a:tc>
                  <a:txBody>
                    <a:bodyPr/>
                    <a:lstStyle/>
                    <a:p>
                      <a:pPr algn="ctr"/>
                      <a:r>
                        <a:rPr sz="1100" b="0">
                          <a:solidFill>
                            <a:srgbClr val="3A3A3A"/>
                          </a:solidFill>
                          <a:latin typeface="맑은 고딕"/>
                        </a:rPr>
                        <a:t>-0.035 → 0.002</a:t>
                      </a:r>
                    </a:p>
                  </a:txBody>
                  <a:tcPr marL="50800" marR="50800" marT="25400" marB="25400" anchor="ctr">
                    <a:solidFill>
                      <a:srgbClr val="EFF1F4"/>
                    </a:solidFill>
                  </a:tcPr>
                </a:tc>
                <a:tc>
                  <a:txBody>
                    <a:bodyPr/>
                    <a:lstStyle/>
                    <a:p>
                      <a:pPr algn="ctr"/>
                      <a:r>
                        <a:rPr sz="1100" b="0">
                          <a:solidFill>
                            <a:srgbClr val="3A3A3A"/>
                          </a:solidFill>
                          <a:latin typeface="맑은 고딕"/>
                        </a:rPr>
                        <a:t>+0.037 [0.002, 0.075]</a:t>
                      </a:r>
                    </a:p>
                  </a:txBody>
                  <a:tcPr marL="50800" marR="50800" marT="25400" marB="25400" anchor="ctr">
                    <a:solidFill>
                      <a:srgbClr val="EFF1F4"/>
                    </a:solidFill>
                  </a:tcPr>
                </a:tc>
                <a:tc>
                  <a:txBody>
                    <a:bodyPr/>
                    <a:lstStyle/>
                    <a:p>
                      <a:pPr algn="ctr"/>
                      <a:r>
                        <a:rPr sz="1100" b="1">
                          <a:solidFill>
                            <a:srgbClr val="1E7A3C"/>
                          </a:solidFill>
                          <a:latin typeface="맑은 고딕"/>
                        </a:rPr>
                        <a:t>유의(개선)*</a:t>
                      </a:r>
                    </a:p>
                  </a:txBody>
                  <a:tcPr marL="50800" marR="50800" marT="25400" marB="25400" anchor="ctr">
                    <a:solidFill>
                      <a:srgbClr val="EFF1F4"/>
                    </a:solidFill>
                  </a:tcPr>
                </a:tc>
                <a:extLst>
                  <a:ext uri="{0D108BD9-81ED-4DB2-BD59-A6C34878D82A}">
                    <a16:rowId xmlns:a16="http://schemas.microsoft.com/office/drawing/2014/main" val="10002"/>
                  </a:ext>
                </a:extLst>
              </a:tr>
              <a:tr h="354330">
                <a:tc>
                  <a:txBody>
                    <a:bodyPr/>
                    <a:lstStyle/>
                    <a:p>
                      <a:pPr algn="ctr"/>
                      <a:r>
                        <a:rPr sz="1100" b="0">
                          <a:solidFill>
                            <a:srgbClr val="3A3A3A"/>
                          </a:solidFill>
                          <a:latin typeface="맑은 고딕"/>
                        </a:rPr>
                        <a:t>NAMA</a:t>
                      </a:r>
                    </a:p>
                  </a:txBody>
                  <a:tcPr marL="50800" marR="50800" marT="25400" marB="25400" anchor="ctr">
                    <a:solidFill>
                      <a:srgbClr val="FFFFFF"/>
                    </a:solidFill>
                  </a:tcPr>
                </a:tc>
                <a:tc>
                  <a:txBody>
                    <a:bodyPr/>
                    <a:lstStyle/>
                    <a:p>
                      <a:pPr algn="ctr"/>
                      <a:r>
                        <a:rPr sz="1100" b="0">
                          <a:solidFill>
                            <a:srgbClr val="3A3A3A"/>
                          </a:solidFill>
                          <a:latin typeface="맑은 고딕"/>
                        </a:rPr>
                        <a:t>mean2</a:t>
                      </a:r>
                    </a:p>
                  </a:txBody>
                  <a:tcPr marL="50800" marR="50800" marT="25400" marB="25400" anchor="ctr">
                    <a:solidFill>
                      <a:srgbClr val="FFFFFF"/>
                    </a:solidFill>
                  </a:tcPr>
                </a:tc>
                <a:tc>
                  <a:txBody>
                    <a:bodyPr/>
                    <a:lstStyle/>
                    <a:p>
                      <a:pPr algn="ctr"/>
                      <a:r>
                        <a:rPr sz="1100" b="0">
                          <a:solidFill>
                            <a:srgbClr val="3A3A3A"/>
                          </a:solidFill>
                          <a:latin typeface="맑은 고딕"/>
                        </a:rPr>
                        <a:t>0.591 → 0.612</a:t>
                      </a:r>
                    </a:p>
                  </a:txBody>
                  <a:tcPr marL="50800" marR="50800" marT="25400" marB="25400" anchor="ctr">
                    <a:solidFill>
                      <a:srgbClr val="FFFFFF"/>
                    </a:solidFill>
                  </a:tcPr>
                </a:tc>
                <a:tc>
                  <a:txBody>
                    <a:bodyPr/>
                    <a:lstStyle/>
                    <a:p>
                      <a:pPr algn="ctr"/>
                      <a:r>
                        <a:rPr sz="1100" b="0">
                          <a:solidFill>
                            <a:srgbClr val="3A3A3A"/>
                          </a:solidFill>
                          <a:latin typeface="맑은 고딕"/>
                        </a:rPr>
                        <a:t>0.568 → 0.390</a:t>
                      </a:r>
                    </a:p>
                  </a:txBody>
                  <a:tcPr marL="50800" marR="50800" marT="25400" marB="25400" anchor="ctr">
                    <a:solidFill>
                      <a:srgbClr val="FFFFFF"/>
                    </a:solidFill>
                  </a:tcPr>
                </a:tc>
                <a:tc>
                  <a:txBody>
                    <a:bodyPr/>
                    <a:lstStyle/>
                    <a:p>
                      <a:pPr algn="ctr"/>
                      <a:r>
                        <a:rPr sz="1100" b="0">
                          <a:solidFill>
                            <a:srgbClr val="3A3A3A"/>
                          </a:solidFill>
                          <a:latin typeface="맑은 고딕"/>
                        </a:rPr>
                        <a:t>-0.178 [-0.211, -0.149]</a:t>
                      </a:r>
                    </a:p>
                  </a:txBody>
                  <a:tcPr marL="50800" marR="50800" marT="25400" marB="25400" anchor="ctr">
                    <a:solidFill>
                      <a:srgbClr val="FFFFFF"/>
                    </a:solidFill>
                  </a:tcPr>
                </a:tc>
                <a:tc>
                  <a:txBody>
                    <a:bodyPr/>
                    <a:lstStyle/>
                    <a:p>
                      <a:pPr algn="ctr"/>
                      <a:r>
                        <a:rPr sz="1100" b="1">
                          <a:solidFill>
                            <a:srgbClr val="B32A2A"/>
                          </a:solidFill>
                          <a:latin typeface="맑은 고딕"/>
                        </a:rPr>
                        <a:t>유의(악화)</a:t>
                      </a:r>
                    </a:p>
                  </a:txBody>
                  <a:tcPr marL="50800" marR="50800" marT="25400" marB="25400" anchor="ctr">
                    <a:solidFill>
                      <a:srgbClr val="FFFFFF"/>
                    </a:solidFill>
                  </a:tcPr>
                </a:tc>
                <a:extLst>
                  <a:ext uri="{0D108BD9-81ED-4DB2-BD59-A6C34878D82A}">
                    <a16:rowId xmlns:a16="http://schemas.microsoft.com/office/drawing/2014/main" val="10003"/>
                  </a:ext>
                </a:extLst>
              </a:tr>
              <a:tr h="354330">
                <a:tc>
                  <a:txBody>
                    <a:bodyPr/>
                    <a:lstStyle/>
                    <a:p>
                      <a:pPr algn="ctr"/>
                      <a:r>
                        <a:rPr sz="1100" b="0">
                          <a:solidFill>
                            <a:srgbClr val="3A3A3A"/>
                          </a:solidFill>
                          <a:latin typeface="맑은 고딕"/>
                        </a:rPr>
                        <a:t>TAMA</a:t>
                      </a:r>
                    </a:p>
                  </a:txBody>
                  <a:tcPr marL="50800" marR="50800" marT="25400" marB="25400" anchor="ctr">
                    <a:solidFill>
                      <a:srgbClr val="EFF1F4"/>
                    </a:solidFill>
                  </a:tcPr>
                </a:tc>
                <a:tc>
                  <a:txBody>
                    <a:bodyPr/>
                    <a:lstStyle/>
                    <a:p>
                      <a:pPr algn="ctr"/>
                      <a:r>
                        <a:rPr sz="1100" b="0">
                          <a:solidFill>
                            <a:srgbClr val="3A3A3A"/>
                          </a:solidFill>
                          <a:latin typeface="맑은 고딕"/>
                        </a:rPr>
                        <a:t>mean4</a:t>
                      </a:r>
                    </a:p>
                  </a:txBody>
                  <a:tcPr marL="50800" marR="50800" marT="25400" marB="25400" anchor="ctr">
                    <a:solidFill>
                      <a:srgbClr val="EFF1F4"/>
                    </a:solidFill>
                  </a:tcPr>
                </a:tc>
                <a:tc>
                  <a:txBody>
                    <a:bodyPr/>
                    <a:lstStyle/>
                    <a:p>
                      <a:pPr algn="ctr"/>
                      <a:r>
                        <a:rPr sz="1100" b="0">
                          <a:solidFill>
                            <a:srgbClr val="3A3A3A"/>
                          </a:solidFill>
                          <a:latin typeface="맑은 고딕"/>
                        </a:rPr>
                        <a:t>0.646 → 0.652</a:t>
                      </a:r>
                    </a:p>
                  </a:txBody>
                  <a:tcPr marL="50800" marR="50800" marT="25400" marB="25400" anchor="ctr">
                    <a:solidFill>
                      <a:srgbClr val="EFF1F4"/>
                    </a:solidFill>
                  </a:tcPr>
                </a:tc>
                <a:tc>
                  <a:txBody>
                    <a:bodyPr/>
                    <a:lstStyle/>
                    <a:p>
                      <a:pPr algn="ctr"/>
                      <a:r>
                        <a:rPr sz="1100" b="0">
                          <a:solidFill>
                            <a:srgbClr val="3A3A3A"/>
                          </a:solidFill>
                          <a:latin typeface="맑은 고딕"/>
                        </a:rPr>
                        <a:t>0.711 → 0.680</a:t>
                      </a:r>
                    </a:p>
                  </a:txBody>
                  <a:tcPr marL="50800" marR="50800" marT="25400" marB="25400" anchor="ctr">
                    <a:solidFill>
                      <a:srgbClr val="EFF1F4"/>
                    </a:solidFill>
                  </a:tcPr>
                </a:tc>
                <a:tc>
                  <a:txBody>
                    <a:bodyPr/>
                    <a:lstStyle/>
                    <a:p>
                      <a:pPr algn="ctr"/>
                      <a:r>
                        <a:rPr sz="1100" b="0">
                          <a:solidFill>
                            <a:srgbClr val="3A3A3A"/>
                          </a:solidFill>
                          <a:latin typeface="맑은 고딕"/>
                        </a:rPr>
                        <a:t>-0.031 [-0.043, -0.020]</a:t>
                      </a:r>
                    </a:p>
                  </a:txBody>
                  <a:tcPr marL="50800" marR="50800" marT="25400" marB="25400" anchor="ctr">
                    <a:solidFill>
                      <a:srgbClr val="EFF1F4"/>
                    </a:solidFill>
                  </a:tcPr>
                </a:tc>
                <a:tc>
                  <a:txBody>
                    <a:bodyPr/>
                    <a:lstStyle/>
                    <a:p>
                      <a:pPr algn="ctr"/>
                      <a:r>
                        <a:rPr sz="1100" b="1">
                          <a:solidFill>
                            <a:srgbClr val="B32A2A"/>
                          </a:solidFill>
                          <a:latin typeface="맑은 고딕"/>
                        </a:rPr>
                        <a:t>유의(악화)</a:t>
                      </a:r>
                    </a:p>
                  </a:txBody>
                  <a:tcPr marL="50800" marR="50800" marT="25400" marB="25400" anchor="ctr">
                    <a:solidFill>
                      <a:srgbClr val="EFF1F4"/>
                    </a:solidFill>
                  </a:tcPr>
                </a:tc>
                <a:extLst>
                  <a:ext uri="{0D108BD9-81ED-4DB2-BD59-A6C34878D82A}">
                    <a16:rowId xmlns:a16="http://schemas.microsoft.com/office/drawing/2014/main" val="10004"/>
                  </a:ext>
                </a:extLst>
              </a:tr>
              <a:tr h="354330">
                <a:tc>
                  <a:txBody>
                    <a:bodyPr/>
                    <a:lstStyle/>
                    <a:p>
                      <a:pPr algn="ctr"/>
                      <a:r>
                        <a:rPr sz="1100" b="0">
                          <a:solidFill>
                            <a:srgbClr val="3A3A3A"/>
                          </a:solidFill>
                          <a:latin typeface="맑은 고딕"/>
                        </a:rPr>
                        <a:t>IMATA</a:t>
                      </a:r>
                    </a:p>
                  </a:txBody>
                  <a:tcPr marL="50800" marR="50800" marT="25400" marB="25400" anchor="ctr">
                    <a:solidFill>
                      <a:srgbClr val="FFFFFF"/>
                    </a:solidFill>
                  </a:tcPr>
                </a:tc>
                <a:tc>
                  <a:txBody>
                    <a:bodyPr/>
                    <a:lstStyle/>
                    <a:p>
                      <a:pPr algn="ctr"/>
                      <a:r>
                        <a:rPr sz="1100" b="0">
                          <a:solidFill>
                            <a:srgbClr val="3A3A3A"/>
                          </a:solidFill>
                          <a:latin typeface="맑은 고딕"/>
                        </a:rPr>
                        <a:t>mean8</a:t>
                      </a:r>
                    </a:p>
                  </a:txBody>
                  <a:tcPr marL="50800" marR="50800" marT="25400" marB="25400" anchor="ctr">
                    <a:solidFill>
                      <a:srgbClr val="FFFFFF"/>
                    </a:solidFill>
                  </a:tcPr>
                </a:tc>
                <a:tc>
                  <a:txBody>
                    <a:bodyPr/>
                    <a:lstStyle/>
                    <a:p>
                      <a:pPr algn="ctr"/>
                      <a:r>
                        <a:rPr sz="1100" b="0">
                          <a:solidFill>
                            <a:srgbClr val="3A3A3A"/>
                          </a:solidFill>
                          <a:latin typeface="맑은 고딕"/>
                        </a:rPr>
                        <a:t>0.333 → 0.390</a:t>
                      </a:r>
                    </a:p>
                  </a:txBody>
                  <a:tcPr marL="50800" marR="50800" marT="25400" marB="25400" anchor="ctr">
                    <a:solidFill>
                      <a:srgbClr val="FFFFFF"/>
                    </a:solidFill>
                  </a:tcPr>
                </a:tc>
                <a:tc>
                  <a:txBody>
                    <a:bodyPr/>
                    <a:lstStyle/>
                    <a:p>
                      <a:pPr algn="ctr"/>
                      <a:r>
                        <a:rPr sz="1100" b="0">
                          <a:solidFill>
                            <a:srgbClr val="3A3A3A"/>
                          </a:solidFill>
                          <a:latin typeface="맑은 고딕"/>
                        </a:rPr>
                        <a:t>0.283 → 0.291</a:t>
                      </a:r>
                    </a:p>
                  </a:txBody>
                  <a:tcPr marL="50800" marR="50800" marT="25400" marB="25400" anchor="ctr">
                    <a:solidFill>
                      <a:srgbClr val="FFFFFF"/>
                    </a:solidFill>
                  </a:tcPr>
                </a:tc>
                <a:tc>
                  <a:txBody>
                    <a:bodyPr/>
                    <a:lstStyle/>
                    <a:p>
                      <a:pPr algn="ctr"/>
                      <a:r>
                        <a:rPr sz="1100" b="0">
                          <a:solidFill>
                            <a:srgbClr val="3A3A3A"/>
                          </a:solidFill>
                          <a:latin typeface="맑은 고딕"/>
                        </a:rPr>
                        <a:t>+0.009 [-0.027, 0.045]</a:t>
                      </a:r>
                    </a:p>
                  </a:txBody>
                  <a:tcPr marL="50800" marR="50800" marT="25400" marB="25400" anchor="ctr">
                    <a:solidFill>
                      <a:srgbClr val="FFFFFF"/>
                    </a:solidFill>
                  </a:tcPr>
                </a:tc>
                <a:tc>
                  <a:txBody>
                    <a:bodyPr/>
                    <a:lstStyle/>
                    <a:p>
                      <a:pPr algn="ctr"/>
                      <a:r>
                        <a:rPr sz="1100" b="1">
                          <a:solidFill>
                            <a:srgbClr val="8A8A8A"/>
                          </a:solidFill>
                          <a:latin typeface="맑은 고딕"/>
                        </a:rPr>
                        <a:t>n.s.</a:t>
                      </a:r>
                    </a:p>
                  </a:txBody>
                  <a:tcPr marL="50800" marR="50800" marT="25400" marB="25400" anchor="ctr">
                    <a:solidFill>
                      <a:srgbClr val="FFFFFF"/>
                    </a:solidFill>
                  </a:tcPr>
                </a:tc>
                <a:extLst>
                  <a:ext uri="{0D108BD9-81ED-4DB2-BD59-A6C34878D82A}">
                    <a16:rowId xmlns:a16="http://schemas.microsoft.com/office/drawing/2014/main" val="10005"/>
                  </a:ext>
                </a:extLst>
              </a:tr>
              <a:tr h="354330">
                <a:tc>
                  <a:txBody>
                    <a:bodyPr/>
                    <a:lstStyle/>
                    <a:p>
                      <a:pPr algn="ctr"/>
                      <a:r>
                        <a:rPr sz="1100" b="0">
                          <a:solidFill>
                            <a:srgbClr val="3A3A3A"/>
                          </a:solidFill>
                          <a:latin typeface="맑은 고딕"/>
                        </a:rPr>
                        <a:t>SAT</a:t>
                      </a:r>
                    </a:p>
                  </a:txBody>
                  <a:tcPr marL="50800" marR="50800" marT="25400" marB="25400" anchor="ctr">
                    <a:solidFill>
                      <a:srgbClr val="EFF1F4"/>
                    </a:solidFill>
                  </a:tcPr>
                </a:tc>
                <a:tc>
                  <a:txBody>
                    <a:bodyPr/>
                    <a:lstStyle/>
                    <a:p>
                      <a:pPr algn="ctr"/>
                      <a:r>
                        <a:rPr sz="1100" b="0">
                          <a:solidFill>
                            <a:srgbClr val="3A3A3A"/>
                          </a:solidFill>
                          <a:latin typeface="맑은 고딕"/>
                        </a:rPr>
                        <a:t>mean32</a:t>
                      </a:r>
                    </a:p>
                  </a:txBody>
                  <a:tcPr marL="50800" marR="50800" marT="25400" marB="25400" anchor="ctr">
                    <a:solidFill>
                      <a:srgbClr val="EFF1F4"/>
                    </a:solidFill>
                  </a:tcPr>
                </a:tc>
                <a:tc>
                  <a:txBody>
                    <a:bodyPr/>
                    <a:lstStyle/>
                    <a:p>
                      <a:pPr algn="ctr"/>
                      <a:r>
                        <a:rPr sz="1100" b="0">
                          <a:solidFill>
                            <a:srgbClr val="3A3A3A"/>
                          </a:solidFill>
                          <a:latin typeface="맑은 고딕"/>
                        </a:rPr>
                        <a:t>0.528 → 0.582</a:t>
                      </a:r>
                    </a:p>
                  </a:txBody>
                  <a:tcPr marL="50800" marR="50800" marT="25400" marB="25400" anchor="ctr">
                    <a:solidFill>
                      <a:srgbClr val="EFF1F4"/>
                    </a:solidFill>
                  </a:tcPr>
                </a:tc>
                <a:tc>
                  <a:txBody>
                    <a:bodyPr/>
                    <a:lstStyle/>
                    <a:p>
                      <a:pPr algn="ctr"/>
                      <a:r>
                        <a:rPr sz="1100" b="0">
                          <a:solidFill>
                            <a:srgbClr val="3A3A3A"/>
                          </a:solidFill>
                          <a:latin typeface="맑은 고딕"/>
                        </a:rPr>
                        <a:t>0.565 → 0.560</a:t>
                      </a:r>
                    </a:p>
                  </a:txBody>
                  <a:tcPr marL="50800" marR="50800" marT="25400" marB="25400" anchor="ctr">
                    <a:solidFill>
                      <a:srgbClr val="EFF1F4"/>
                    </a:solidFill>
                  </a:tcPr>
                </a:tc>
                <a:tc>
                  <a:txBody>
                    <a:bodyPr/>
                    <a:lstStyle/>
                    <a:p>
                      <a:pPr algn="ctr"/>
                      <a:r>
                        <a:rPr sz="1100" b="0">
                          <a:solidFill>
                            <a:srgbClr val="3A3A3A"/>
                          </a:solidFill>
                          <a:latin typeface="맑은 고딕"/>
                        </a:rPr>
                        <a:t>-0.005 [-0.031, 0.021]</a:t>
                      </a:r>
                    </a:p>
                  </a:txBody>
                  <a:tcPr marL="50800" marR="50800" marT="25400" marB="25400" anchor="ctr">
                    <a:solidFill>
                      <a:srgbClr val="EFF1F4"/>
                    </a:solidFill>
                  </a:tcPr>
                </a:tc>
                <a:tc>
                  <a:txBody>
                    <a:bodyPr/>
                    <a:lstStyle/>
                    <a:p>
                      <a:pPr algn="ctr"/>
                      <a:r>
                        <a:rPr sz="1100" b="1">
                          <a:solidFill>
                            <a:srgbClr val="8A8A8A"/>
                          </a:solidFill>
                          <a:latin typeface="맑은 고딕"/>
                        </a:rPr>
                        <a:t>n.s.</a:t>
                      </a:r>
                    </a:p>
                  </a:txBody>
                  <a:tcPr marL="50800" marR="50800" marT="25400" marB="25400" anchor="ctr">
                    <a:solidFill>
                      <a:srgbClr val="EFF1F4"/>
                    </a:solidFill>
                  </a:tcPr>
                </a:tc>
                <a:extLst>
                  <a:ext uri="{0D108BD9-81ED-4DB2-BD59-A6C34878D82A}">
                    <a16:rowId xmlns:a16="http://schemas.microsoft.com/office/drawing/2014/main" val="10006"/>
                  </a:ext>
                </a:extLst>
              </a:tr>
              <a:tr h="354330">
                <a:tc>
                  <a:txBody>
                    <a:bodyPr/>
                    <a:lstStyle/>
                    <a:p>
                      <a:pPr algn="ctr"/>
                      <a:r>
                        <a:rPr sz="1100" b="0">
                          <a:solidFill>
                            <a:srgbClr val="3A3A3A"/>
                          </a:solidFill>
                          <a:latin typeface="맑은 고딕"/>
                        </a:rPr>
                        <a:t>Total Fat</a:t>
                      </a:r>
                    </a:p>
                  </a:txBody>
                  <a:tcPr marL="50800" marR="50800" marT="25400" marB="25400" anchor="ctr">
                    <a:solidFill>
                      <a:srgbClr val="FFFFFF"/>
                    </a:solidFill>
                  </a:tcPr>
                </a:tc>
                <a:tc>
                  <a:txBody>
                    <a:bodyPr/>
                    <a:lstStyle/>
                    <a:p>
                      <a:pPr algn="ctr"/>
                      <a:r>
                        <a:rPr sz="1100" b="0">
                          <a:solidFill>
                            <a:srgbClr val="3A3A3A"/>
                          </a:solidFill>
                          <a:latin typeface="맑은 고딕"/>
                        </a:rPr>
                        <a:t>mean32</a:t>
                      </a:r>
                    </a:p>
                  </a:txBody>
                  <a:tcPr marL="50800" marR="50800" marT="25400" marB="25400" anchor="ctr">
                    <a:solidFill>
                      <a:srgbClr val="FFFFFF"/>
                    </a:solidFill>
                  </a:tcPr>
                </a:tc>
                <a:tc>
                  <a:txBody>
                    <a:bodyPr/>
                    <a:lstStyle/>
                    <a:p>
                      <a:pPr algn="ctr"/>
                      <a:r>
                        <a:rPr sz="1100" b="0">
                          <a:solidFill>
                            <a:srgbClr val="3A3A3A"/>
                          </a:solidFill>
                          <a:latin typeface="맑은 고딕"/>
                        </a:rPr>
                        <a:t>0.502 → 0.590</a:t>
                      </a:r>
                    </a:p>
                  </a:txBody>
                  <a:tcPr marL="50800" marR="50800" marT="25400" marB="25400" anchor="ctr">
                    <a:solidFill>
                      <a:srgbClr val="FFFFFF"/>
                    </a:solidFill>
                  </a:tcPr>
                </a:tc>
                <a:tc>
                  <a:txBody>
                    <a:bodyPr/>
                    <a:lstStyle/>
                    <a:p>
                      <a:pPr algn="ctr"/>
                      <a:r>
                        <a:rPr sz="1100" b="0">
                          <a:solidFill>
                            <a:srgbClr val="3A3A3A"/>
                          </a:solidFill>
                          <a:latin typeface="맑은 고딕"/>
                        </a:rPr>
                        <a:t>0.492 → 0.506</a:t>
                      </a:r>
                    </a:p>
                  </a:txBody>
                  <a:tcPr marL="50800" marR="50800" marT="25400" marB="25400" anchor="ctr">
                    <a:solidFill>
                      <a:srgbClr val="FFFFFF"/>
                    </a:solidFill>
                  </a:tcPr>
                </a:tc>
                <a:tc>
                  <a:txBody>
                    <a:bodyPr/>
                    <a:lstStyle/>
                    <a:p>
                      <a:pPr algn="ctr"/>
                      <a:r>
                        <a:rPr sz="1100" b="0">
                          <a:solidFill>
                            <a:srgbClr val="3A3A3A"/>
                          </a:solidFill>
                          <a:latin typeface="맑은 고딕"/>
                        </a:rPr>
                        <a:t>+0.014 [-0.021, 0.050]</a:t>
                      </a:r>
                    </a:p>
                  </a:txBody>
                  <a:tcPr marL="50800" marR="50800" marT="25400" marB="25400" anchor="ctr">
                    <a:solidFill>
                      <a:srgbClr val="FFFFFF"/>
                    </a:solidFill>
                  </a:tcPr>
                </a:tc>
                <a:tc>
                  <a:txBody>
                    <a:bodyPr/>
                    <a:lstStyle/>
                    <a:p>
                      <a:pPr algn="ctr"/>
                      <a:r>
                        <a:rPr sz="1100" b="1">
                          <a:solidFill>
                            <a:srgbClr val="8A8A8A"/>
                          </a:solidFill>
                          <a:latin typeface="맑은 고딕"/>
                        </a:rPr>
                        <a:t>n.s.</a:t>
                      </a:r>
                    </a:p>
                  </a:txBody>
                  <a:tcPr marL="50800" marR="50800" marT="25400" marB="25400"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STEP 2  ·  구간 선택 (TOP-K)</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Top-k 구간 선택</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지방계열은 8구간을 전부 써야만 개선된다 — 일부만 고르면 오히려 손해</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8구간 SelectKBest(f_regression), CV fold 내부에서만 재선택(leakage 방지)</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8</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pic>
        <p:nvPicPr>
          <p:cNvPr id="11" name="Picture 10" descr="clinic4_aec_segment_select_k_trend.png"/>
          <p:cNvPicPr>
            <a:picLocks noChangeAspect="1"/>
          </p:cNvPicPr>
          <p:nvPr/>
        </p:nvPicPr>
        <p:blipFill>
          <a:blip r:embed="rId3"/>
          <a:stretch>
            <a:fillRect/>
          </a:stretch>
        </p:blipFill>
        <p:spPr>
          <a:xfrm>
            <a:off x="457200" y="3086226"/>
            <a:ext cx="5394960" cy="2404619"/>
          </a:xfrm>
          <a:prstGeom prst="rect">
            <a:avLst/>
          </a:prstGeom>
        </p:spPr>
      </p:pic>
      <p:graphicFrame>
        <p:nvGraphicFramePr>
          <p:cNvPr id="12" name="Table 11"/>
          <p:cNvGraphicFramePr>
            <a:graphicFrameLocks noGrp="1"/>
          </p:cNvGraphicFramePr>
          <p:nvPr/>
        </p:nvGraphicFramePr>
        <p:xfrm>
          <a:off x="6126480" y="2414016"/>
          <a:ext cx="5623558" cy="3026410"/>
        </p:xfrm>
        <a:graphic>
          <a:graphicData uri="http://schemas.openxmlformats.org/drawingml/2006/table">
            <a:tbl>
              <a:tblPr firstRow="1" bandRow="1">
                <a:tableStyleId>{5C22544A-7EE6-4342-B048-85BDC9FD1C3A}</a:tableStyleId>
              </a:tblPr>
              <a:tblGrid>
                <a:gridCol w="920218">
                  <a:extLst>
                    <a:ext uri="{9D8B030D-6E8A-4147-A177-3AD203B41FA5}">
                      <a16:colId xmlns:a16="http://schemas.microsoft.com/office/drawing/2014/main" val="20000"/>
                    </a:ext>
                  </a:extLst>
                </a:gridCol>
                <a:gridCol w="1022465">
                  <a:extLst>
                    <a:ext uri="{9D8B030D-6E8A-4147-A177-3AD203B41FA5}">
                      <a16:colId xmlns:a16="http://schemas.microsoft.com/office/drawing/2014/main" val="20001"/>
                    </a:ext>
                  </a:extLst>
                </a:gridCol>
                <a:gridCol w="1124712">
                  <a:extLst>
                    <a:ext uri="{9D8B030D-6E8A-4147-A177-3AD203B41FA5}">
                      <a16:colId xmlns:a16="http://schemas.microsoft.com/office/drawing/2014/main" val="20002"/>
                    </a:ext>
                  </a:extLst>
                </a:gridCol>
                <a:gridCol w="1533698">
                  <a:extLst>
                    <a:ext uri="{9D8B030D-6E8A-4147-A177-3AD203B41FA5}">
                      <a16:colId xmlns:a16="http://schemas.microsoft.com/office/drawing/2014/main" val="20003"/>
                    </a:ext>
                  </a:extLst>
                </a:gridCol>
                <a:gridCol w="1022465">
                  <a:extLst>
                    <a:ext uri="{9D8B030D-6E8A-4147-A177-3AD203B41FA5}">
                      <a16:colId xmlns:a16="http://schemas.microsoft.com/office/drawing/2014/main" val="20004"/>
                    </a:ext>
                  </a:extLst>
                </a:gridCol>
              </a:tblGrid>
              <a:tr h="377190">
                <a:tc>
                  <a:txBody>
                    <a:bodyPr/>
                    <a:lstStyle/>
                    <a:p>
                      <a:pPr algn="ctr"/>
                      <a:r>
                        <a:rPr sz="1100" b="1">
                          <a:solidFill>
                            <a:srgbClr val="FFFFFF"/>
                          </a:solidFill>
                          <a:latin typeface="맑은 고딕"/>
                        </a:rPr>
                        <a:t>Feature</a:t>
                      </a:r>
                    </a:p>
                  </a:txBody>
                  <a:tcPr marL="50800" marR="50800" marT="25400" marB="25400" anchor="ctr">
                    <a:solidFill>
                      <a:srgbClr val="1B2A4A"/>
                    </a:solidFill>
                  </a:tcPr>
                </a:tc>
                <a:tc>
                  <a:txBody>
                    <a:bodyPr/>
                    <a:lstStyle/>
                    <a:p>
                      <a:pPr algn="ctr"/>
                      <a:r>
                        <a:rPr sz="1100" b="1">
                          <a:solidFill>
                            <a:srgbClr val="FFFFFF"/>
                          </a:solidFill>
                          <a:latin typeface="맑은 고딕"/>
                        </a:rPr>
                        <a:t>Internal 최적 k</a:t>
                      </a:r>
                    </a:p>
                  </a:txBody>
                  <a:tcPr marL="50800" marR="50800" marT="25400" marB="25400" anchor="ctr">
                    <a:solidFill>
                      <a:srgbClr val="1B2A4A"/>
                    </a:solidFill>
                  </a:tcPr>
                </a:tc>
                <a:tc>
                  <a:txBody>
                    <a:bodyPr/>
                    <a:lstStyle/>
                    <a:p>
                      <a:pPr algn="ctr"/>
                      <a:r>
                        <a:rPr sz="1100" b="1">
                          <a:solidFill>
                            <a:srgbClr val="FFFFFF"/>
                          </a:solidFill>
                          <a:latin typeface="맑은 고딕"/>
                        </a:rPr>
                        <a:t>External R²(신모델)</a:t>
                      </a:r>
                    </a:p>
                  </a:txBody>
                  <a:tcPr marL="50800" marR="50800" marT="25400" marB="25400" anchor="ctr">
                    <a:solidFill>
                      <a:srgbClr val="1B2A4A"/>
                    </a:solidFill>
                  </a:tcPr>
                </a:tc>
                <a:tc>
                  <a:txBody>
                    <a:bodyPr/>
                    <a:lstStyle/>
                    <a:p>
                      <a:pPr algn="ctr"/>
                      <a:r>
                        <a:rPr sz="1100" b="1">
                          <a:solidFill>
                            <a:srgbClr val="FFFFFF"/>
                          </a:solidFill>
                          <a:latin typeface="맑은 고딕"/>
                        </a:rPr>
                        <a:t>ΔR² external [95% CI]</a:t>
                      </a:r>
                    </a:p>
                  </a:txBody>
                  <a:tcPr marL="50800" marR="50800" marT="25400" marB="25400" anchor="ctr">
                    <a:solidFill>
                      <a:srgbClr val="1B2A4A"/>
                    </a:solidFill>
                  </a:tcPr>
                </a:tc>
                <a:tc>
                  <a:txBody>
                    <a:bodyPr/>
                    <a:lstStyle/>
                    <a:p>
                      <a:pPr algn="ctr"/>
                      <a:r>
                        <a:rPr sz="1100" b="1">
                          <a:solidFill>
                            <a:srgbClr val="FFFFFF"/>
                          </a:solidFill>
                          <a:latin typeface="맑은 고딕"/>
                        </a:rPr>
                        <a:t>판정</a:t>
                      </a:r>
                    </a:p>
                  </a:txBody>
                  <a:tcPr marL="50800" marR="50800" marT="25400" marB="25400" anchor="ctr">
                    <a:solidFill>
                      <a:srgbClr val="1B2A4A"/>
                    </a:solidFill>
                  </a:tcPr>
                </a:tc>
                <a:extLst>
                  <a:ext uri="{0D108BD9-81ED-4DB2-BD59-A6C34878D82A}">
                    <a16:rowId xmlns:a16="http://schemas.microsoft.com/office/drawing/2014/main" val="10000"/>
                  </a:ext>
                </a:extLst>
              </a:tr>
              <a:tr h="377190">
                <a:tc>
                  <a:txBody>
                    <a:bodyPr/>
                    <a:lstStyle/>
                    <a:p>
                      <a:pPr algn="ctr"/>
                      <a:r>
                        <a:rPr sz="1100" b="0">
                          <a:solidFill>
                            <a:srgbClr val="3A3A3A"/>
                          </a:solidFill>
                          <a:latin typeface="맑은 고딕"/>
                        </a:rPr>
                        <a:t>VAT</a:t>
                      </a:r>
                    </a:p>
                  </a:txBody>
                  <a:tcPr marL="50800" marR="50800" marT="25400" marB="25400" anchor="ctr">
                    <a:solidFill>
                      <a:srgbClr val="FFFFFF"/>
                    </a:solidFill>
                  </a:tcPr>
                </a:tc>
                <a:tc>
                  <a:txBody>
                    <a:bodyPr/>
                    <a:lstStyle/>
                    <a:p>
                      <a:pPr algn="ctr"/>
                      <a:r>
                        <a:rPr sz="1100" b="0">
                          <a:solidFill>
                            <a:srgbClr val="3A3A3A"/>
                          </a:solidFill>
                          <a:latin typeface="맑은 고딕"/>
                        </a:rPr>
                        <a:t>top8(전체)</a:t>
                      </a:r>
                    </a:p>
                  </a:txBody>
                  <a:tcPr marL="50800" marR="50800" marT="25400" marB="25400" anchor="ctr">
                    <a:solidFill>
                      <a:srgbClr val="FFFFFF"/>
                    </a:solidFill>
                  </a:tcPr>
                </a:tc>
                <a:tc>
                  <a:txBody>
                    <a:bodyPr/>
                    <a:lstStyle/>
                    <a:p>
                      <a:pPr algn="ctr"/>
                      <a:r>
                        <a:rPr sz="1100" b="0">
                          <a:solidFill>
                            <a:srgbClr val="3A3A3A"/>
                          </a:solidFill>
                          <a:latin typeface="맑은 고딕"/>
                        </a:rPr>
                        <a:t>0.509</a:t>
                      </a:r>
                    </a:p>
                  </a:txBody>
                  <a:tcPr marL="50800" marR="50800" marT="25400" marB="25400" anchor="ctr">
                    <a:solidFill>
                      <a:srgbClr val="FFFFFF"/>
                    </a:solidFill>
                  </a:tcPr>
                </a:tc>
                <a:tc>
                  <a:txBody>
                    <a:bodyPr/>
                    <a:lstStyle/>
                    <a:p>
                      <a:pPr algn="ctr"/>
                      <a:r>
                        <a:rPr sz="1100" b="0">
                          <a:solidFill>
                            <a:srgbClr val="3A3A3A"/>
                          </a:solidFill>
                          <a:latin typeface="맑은 고딕"/>
                        </a:rPr>
                        <a:t>+0.090 [0.058, 0.125]</a:t>
                      </a:r>
                    </a:p>
                  </a:txBody>
                  <a:tcPr marL="50800" marR="50800" marT="25400" marB="25400" anchor="ctr">
                    <a:solidFill>
                      <a:srgbClr val="FFFFFF"/>
                    </a:solidFill>
                  </a:tcPr>
                </a:tc>
                <a:tc>
                  <a:txBody>
                    <a:bodyPr/>
                    <a:lstStyle/>
                    <a:p>
                      <a:pPr algn="ctr"/>
                      <a:r>
                        <a:rPr sz="1100" b="1">
                          <a:solidFill>
                            <a:srgbClr val="1E7A3C"/>
                          </a:solidFill>
                          <a:latin typeface="맑은 고딕"/>
                        </a:rPr>
                        <a:t>유의(개선)</a:t>
                      </a:r>
                    </a:p>
                  </a:txBody>
                  <a:tcPr marL="50800" marR="50800" marT="25400" marB="25400" anchor="ctr">
                    <a:solidFill>
                      <a:srgbClr val="FFFFFF"/>
                    </a:solidFill>
                  </a:tcPr>
                </a:tc>
                <a:extLst>
                  <a:ext uri="{0D108BD9-81ED-4DB2-BD59-A6C34878D82A}">
                    <a16:rowId xmlns:a16="http://schemas.microsoft.com/office/drawing/2014/main" val="10001"/>
                  </a:ext>
                </a:extLst>
              </a:tr>
              <a:tr h="377190">
                <a:tc>
                  <a:txBody>
                    <a:bodyPr/>
                    <a:lstStyle/>
                    <a:p>
                      <a:pPr algn="ctr"/>
                      <a:r>
                        <a:rPr sz="1100" b="0">
                          <a:solidFill>
                            <a:srgbClr val="3A3A3A"/>
                          </a:solidFill>
                          <a:latin typeface="맑은 고딕"/>
                        </a:rPr>
                        <a:t>Total Fat</a:t>
                      </a:r>
                    </a:p>
                  </a:txBody>
                  <a:tcPr marL="50800" marR="50800" marT="25400" marB="25400" anchor="ctr">
                    <a:solidFill>
                      <a:srgbClr val="EFF1F4"/>
                    </a:solidFill>
                  </a:tcPr>
                </a:tc>
                <a:tc>
                  <a:txBody>
                    <a:bodyPr/>
                    <a:lstStyle/>
                    <a:p>
                      <a:pPr algn="ctr"/>
                      <a:r>
                        <a:rPr sz="1100" b="0">
                          <a:solidFill>
                            <a:srgbClr val="3A3A3A"/>
                          </a:solidFill>
                          <a:latin typeface="맑은 고딕"/>
                        </a:rPr>
                        <a:t>top8(전체)</a:t>
                      </a:r>
                    </a:p>
                  </a:txBody>
                  <a:tcPr marL="50800" marR="50800" marT="25400" marB="25400" anchor="ctr">
                    <a:solidFill>
                      <a:srgbClr val="EFF1F4"/>
                    </a:solidFill>
                  </a:tcPr>
                </a:tc>
                <a:tc>
                  <a:txBody>
                    <a:bodyPr/>
                    <a:lstStyle/>
                    <a:p>
                      <a:pPr algn="ctr"/>
                      <a:r>
                        <a:rPr sz="1100" b="0">
                          <a:solidFill>
                            <a:srgbClr val="3A3A3A"/>
                          </a:solidFill>
                          <a:latin typeface="맑은 고딕"/>
                        </a:rPr>
                        <a:t>0.524</a:t>
                      </a:r>
                    </a:p>
                  </a:txBody>
                  <a:tcPr marL="50800" marR="50800" marT="25400" marB="25400" anchor="ctr">
                    <a:solidFill>
                      <a:srgbClr val="EFF1F4"/>
                    </a:solidFill>
                  </a:tcPr>
                </a:tc>
                <a:tc>
                  <a:txBody>
                    <a:bodyPr/>
                    <a:lstStyle/>
                    <a:p>
                      <a:pPr algn="ctr"/>
                      <a:r>
                        <a:rPr sz="1100" b="0">
                          <a:solidFill>
                            <a:srgbClr val="3A3A3A"/>
                          </a:solidFill>
                          <a:latin typeface="맑은 고딕"/>
                        </a:rPr>
                        <a:t>+0.032 [0.004, 0.062]</a:t>
                      </a:r>
                    </a:p>
                  </a:txBody>
                  <a:tcPr marL="50800" marR="50800" marT="25400" marB="25400" anchor="ctr">
                    <a:solidFill>
                      <a:srgbClr val="EFF1F4"/>
                    </a:solidFill>
                  </a:tcPr>
                </a:tc>
                <a:tc>
                  <a:txBody>
                    <a:bodyPr/>
                    <a:lstStyle/>
                    <a:p>
                      <a:pPr algn="ctr"/>
                      <a:r>
                        <a:rPr sz="1100" b="1">
                          <a:solidFill>
                            <a:srgbClr val="1E7A3C"/>
                          </a:solidFill>
                          <a:latin typeface="맑은 고딕"/>
                        </a:rPr>
                        <a:t>유의(개선)</a:t>
                      </a:r>
                    </a:p>
                  </a:txBody>
                  <a:tcPr marL="50800" marR="50800" marT="25400" marB="25400" anchor="ctr">
                    <a:solidFill>
                      <a:srgbClr val="EFF1F4"/>
                    </a:solidFill>
                  </a:tcPr>
                </a:tc>
                <a:extLst>
                  <a:ext uri="{0D108BD9-81ED-4DB2-BD59-A6C34878D82A}">
                    <a16:rowId xmlns:a16="http://schemas.microsoft.com/office/drawing/2014/main" val="10002"/>
                  </a:ext>
                </a:extLst>
              </a:tr>
              <a:tr h="377190">
                <a:tc>
                  <a:txBody>
                    <a:bodyPr/>
                    <a:lstStyle/>
                    <a:p>
                      <a:pPr algn="ctr"/>
                      <a:r>
                        <a:rPr sz="1100" b="0">
                          <a:solidFill>
                            <a:srgbClr val="3A3A3A"/>
                          </a:solidFill>
                          <a:latin typeface="맑은 고딕"/>
                        </a:rPr>
                        <a:t>LAMA</a:t>
                      </a:r>
                    </a:p>
                  </a:txBody>
                  <a:tcPr marL="50800" marR="50800" marT="25400" marB="25400" anchor="ctr">
                    <a:solidFill>
                      <a:srgbClr val="FFFFFF"/>
                    </a:solidFill>
                  </a:tcPr>
                </a:tc>
                <a:tc>
                  <a:txBody>
                    <a:bodyPr/>
                    <a:lstStyle/>
                    <a:p>
                      <a:pPr algn="ctr"/>
                      <a:r>
                        <a:rPr sz="1100" b="0">
                          <a:solidFill>
                            <a:srgbClr val="3A3A3A"/>
                          </a:solidFill>
                          <a:latin typeface="맑은 고딕"/>
                        </a:rPr>
                        <a:t>top8(전체)</a:t>
                      </a:r>
                    </a:p>
                  </a:txBody>
                  <a:tcPr marL="50800" marR="50800" marT="25400" marB="25400" anchor="ctr">
                    <a:solidFill>
                      <a:srgbClr val="FFFFFF"/>
                    </a:solidFill>
                  </a:tcPr>
                </a:tc>
                <a:tc>
                  <a:txBody>
                    <a:bodyPr/>
                    <a:lstStyle/>
                    <a:p>
                      <a:pPr algn="ctr"/>
                      <a:r>
                        <a:rPr sz="1100" b="0">
                          <a:solidFill>
                            <a:srgbClr val="3A3A3A"/>
                          </a:solidFill>
                          <a:latin typeface="맑은 고딕"/>
                        </a:rPr>
                        <a:t>0.004</a:t>
                      </a:r>
                    </a:p>
                  </a:txBody>
                  <a:tcPr marL="50800" marR="50800" marT="25400" marB="25400" anchor="ctr">
                    <a:solidFill>
                      <a:srgbClr val="FFFFFF"/>
                    </a:solidFill>
                  </a:tcPr>
                </a:tc>
                <a:tc>
                  <a:txBody>
                    <a:bodyPr/>
                    <a:lstStyle/>
                    <a:p>
                      <a:pPr algn="ctr"/>
                      <a:r>
                        <a:rPr sz="1100" b="0">
                          <a:solidFill>
                            <a:srgbClr val="3A3A3A"/>
                          </a:solidFill>
                          <a:latin typeface="맑은 고딕"/>
                        </a:rPr>
                        <a:t>+0.039 [0.004, 0.076]</a:t>
                      </a:r>
                    </a:p>
                  </a:txBody>
                  <a:tcPr marL="50800" marR="50800" marT="25400" marB="25400" anchor="ctr">
                    <a:solidFill>
                      <a:srgbClr val="FFFFFF"/>
                    </a:solidFill>
                  </a:tcPr>
                </a:tc>
                <a:tc>
                  <a:txBody>
                    <a:bodyPr/>
                    <a:lstStyle/>
                    <a:p>
                      <a:pPr algn="ctr"/>
                      <a:r>
                        <a:rPr sz="1100" b="1">
                          <a:solidFill>
                            <a:srgbClr val="1E7A3C"/>
                          </a:solidFill>
                          <a:latin typeface="맑은 고딕"/>
                        </a:rPr>
                        <a:t>유의(개선)*</a:t>
                      </a:r>
                    </a:p>
                  </a:txBody>
                  <a:tcPr marL="50800" marR="50800" marT="25400" marB="25400" anchor="ctr">
                    <a:solidFill>
                      <a:srgbClr val="FFFFFF"/>
                    </a:solidFill>
                  </a:tcPr>
                </a:tc>
                <a:extLst>
                  <a:ext uri="{0D108BD9-81ED-4DB2-BD59-A6C34878D82A}">
                    <a16:rowId xmlns:a16="http://schemas.microsoft.com/office/drawing/2014/main" val="10003"/>
                  </a:ext>
                </a:extLst>
              </a:tr>
              <a:tr h="377190">
                <a:tc>
                  <a:txBody>
                    <a:bodyPr/>
                    <a:lstStyle/>
                    <a:p>
                      <a:pPr algn="ctr"/>
                      <a:r>
                        <a:rPr sz="1100" b="0">
                          <a:solidFill>
                            <a:srgbClr val="3A3A3A"/>
                          </a:solidFill>
                          <a:latin typeface="맑은 고딕"/>
                        </a:rPr>
                        <a:t>IMATA</a:t>
                      </a:r>
                    </a:p>
                  </a:txBody>
                  <a:tcPr marL="50800" marR="50800" marT="25400" marB="25400" anchor="ctr">
                    <a:solidFill>
                      <a:srgbClr val="EFF1F4"/>
                    </a:solidFill>
                  </a:tcPr>
                </a:tc>
                <a:tc>
                  <a:txBody>
                    <a:bodyPr/>
                    <a:lstStyle/>
                    <a:p>
                      <a:pPr algn="ctr"/>
                      <a:r>
                        <a:rPr sz="1100" b="0">
                          <a:solidFill>
                            <a:srgbClr val="3A3A3A"/>
                          </a:solidFill>
                          <a:latin typeface="맑은 고딕"/>
                        </a:rPr>
                        <a:t>top8(전체)</a:t>
                      </a:r>
                    </a:p>
                  </a:txBody>
                  <a:tcPr marL="50800" marR="50800" marT="25400" marB="25400" anchor="ctr">
                    <a:solidFill>
                      <a:srgbClr val="EFF1F4"/>
                    </a:solidFill>
                  </a:tcPr>
                </a:tc>
                <a:tc>
                  <a:txBody>
                    <a:bodyPr/>
                    <a:lstStyle/>
                    <a:p>
                      <a:pPr algn="ctr"/>
                      <a:r>
                        <a:rPr sz="1100" b="0">
                          <a:solidFill>
                            <a:srgbClr val="3A3A3A"/>
                          </a:solidFill>
                          <a:latin typeface="맑은 고딕"/>
                        </a:rPr>
                        <a:t>0.291</a:t>
                      </a:r>
                    </a:p>
                  </a:txBody>
                  <a:tcPr marL="50800" marR="50800" marT="25400" marB="25400" anchor="ctr">
                    <a:solidFill>
                      <a:srgbClr val="EFF1F4"/>
                    </a:solidFill>
                  </a:tcPr>
                </a:tc>
                <a:tc>
                  <a:txBody>
                    <a:bodyPr/>
                    <a:lstStyle/>
                    <a:p>
                      <a:pPr algn="ctr"/>
                      <a:r>
                        <a:rPr sz="1100" b="0">
                          <a:solidFill>
                            <a:srgbClr val="3A3A3A"/>
                          </a:solidFill>
                          <a:latin typeface="맑은 고딕"/>
                        </a:rPr>
                        <a:t>+0.009 [-0.026, 0.046]</a:t>
                      </a:r>
                    </a:p>
                  </a:txBody>
                  <a:tcPr marL="50800" marR="50800" marT="25400" marB="25400" anchor="ctr">
                    <a:solidFill>
                      <a:srgbClr val="EFF1F4"/>
                    </a:solidFill>
                  </a:tcPr>
                </a:tc>
                <a:tc>
                  <a:txBody>
                    <a:bodyPr/>
                    <a:lstStyle/>
                    <a:p>
                      <a:pPr algn="ctr"/>
                      <a:r>
                        <a:rPr sz="1100" b="1">
                          <a:solidFill>
                            <a:srgbClr val="8A8A8A"/>
                          </a:solidFill>
                          <a:latin typeface="맑은 고딕"/>
                        </a:rPr>
                        <a:t>n.s.</a:t>
                      </a:r>
                    </a:p>
                  </a:txBody>
                  <a:tcPr marL="50800" marR="50800" marT="25400" marB="25400" anchor="ctr">
                    <a:solidFill>
                      <a:srgbClr val="EFF1F4"/>
                    </a:solidFill>
                  </a:tcPr>
                </a:tc>
                <a:extLst>
                  <a:ext uri="{0D108BD9-81ED-4DB2-BD59-A6C34878D82A}">
                    <a16:rowId xmlns:a16="http://schemas.microsoft.com/office/drawing/2014/main" val="10004"/>
                  </a:ext>
                </a:extLst>
              </a:tr>
              <a:tr h="377190">
                <a:tc>
                  <a:txBody>
                    <a:bodyPr/>
                    <a:lstStyle/>
                    <a:p>
                      <a:pPr algn="ctr"/>
                      <a:r>
                        <a:rPr sz="1100" b="0">
                          <a:solidFill>
                            <a:srgbClr val="3A3A3A"/>
                          </a:solidFill>
                          <a:latin typeface="맑은 고딕"/>
                        </a:rPr>
                        <a:t>SAT</a:t>
                      </a:r>
                    </a:p>
                  </a:txBody>
                  <a:tcPr marL="50800" marR="50800" marT="25400" marB="25400" anchor="ctr">
                    <a:solidFill>
                      <a:srgbClr val="FFFFFF"/>
                    </a:solidFill>
                  </a:tcPr>
                </a:tc>
                <a:tc>
                  <a:txBody>
                    <a:bodyPr/>
                    <a:lstStyle/>
                    <a:p>
                      <a:pPr algn="ctr"/>
                      <a:r>
                        <a:rPr sz="1100" b="0">
                          <a:solidFill>
                            <a:srgbClr val="3A3A3A"/>
                          </a:solidFill>
                          <a:latin typeface="맑은 고딕"/>
                        </a:rPr>
                        <a:t>top7</a:t>
                      </a:r>
                    </a:p>
                  </a:txBody>
                  <a:tcPr marL="50800" marR="50800" marT="25400" marB="25400" anchor="ctr">
                    <a:solidFill>
                      <a:srgbClr val="FFFFFF"/>
                    </a:solidFill>
                  </a:tcPr>
                </a:tc>
                <a:tc>
                  <a:txBody>
                    <a:bodyPr/>
                    <a:lstStyle/>
                    <a:p>
                      <a:pPr algn="ctr"/>
                      <a:r>
                        <a:rPr sz="1100" b="0">
                          <a:solidFill>
                            <a:srgbClr val="3A3A3A"/>
                          </a:solidFill>
                          <a:latin typeface="맑은 고딕"/>
                        </a:rPr>
                        <a:t>0.557</a:t>
                      </a:r>
                    </a:p>
                  </a:txBody>
                  <a:tcPr marL="50800" marR="50800" marT="25400" marB="25400" anchor="ctr">
                    <a:solidFill>
                      <a:srgbClr val="FFFFFF"/>
                    </a:solidFill>
                  </a:tcPr>
                </a:tc>
                <a:tc>
                  <a:txBody>
                    <a:bodyPr/>
                    <a:lstStyle/>
                    <a:p>
                      <a:pPr algn="ctr"/>
                      <a:r>
                        <a:rPr sz="1100" b="0">
                          <a:solidFill>
                            <a:srgbClr val="3A3A3A"/>
                          </a:solidFill>
                          <a:latin typeface="맑은 고딕"/>
                        </a:rPr>
                        <a:t>-0.008 [-0.029, 0.014]</a:t>
                      </a:r>
                    </a:p>
                  </a:txBody>
                  <a:tcPr marL="50800" marR="50800" marT="25400" marB="25400" anchor="ctr">
                    <a:solidFill>
                      <a:srgbClr val="FFFFFF"/>
                    </a:solidFill>
                  </a:tcPr>
                </a:tc>
                <a:tc>
                  <a:txBody>
                    <a:bodyPr/>
                    <a:lstStyle/>
                    <a:p>
                      <a:pPr algn="ctr"/>
                      <a:r>
                        <a:rPr sz="1100" b="1">
                          <a:solidFill>
                            <a:srgbClr val="8A8A8A"/>
                          </a:solidFill>
                          <a:latin typeface="맑은 고딕"/>
                        </a:rPr>
                        <a:t>n.s.</a:t>
                      </a:r>
                    </a:p>
                  </a:txBody>
                  <a:tcPr marL="50800" marR="50800" marT="25400" marB="25400" anchor="ctr">
                    <a:solidFill>
                      <a:srgbClr val="FFFFFF"/>
                    </a:solidFill>
                  </a:tcPr>
                </a:tc>
                <a:extLst>
                  <a:ext uri="{0D108BD9-81ED-4DB2-BD59-A6C34878D82A}">
                    <a16:rowId xmlns:a16="http://schemas.microsoft.com/office/drawing/2014/main" val="10005"/>
                  </a:ext>
                </a:extLst>
              </a:tr>
              <a:tr h="377190">
                <a:tc>
                  <a:txBody>
                    <a:bodyPr/>
                    <a:lstStyle/>
                    <a:p>
                      <a:pPr algn="ctr"/>
                      <a:r>
                        <a:rPr sz="1100" b="0">
                          <a:solidFill>
                            <a:srgbClr val="3A3A3A"/>
                          </a:solidFill>
                          <a:latin typeface="맑은 고딕"/>
                        </a:rPr>
                        <a:t>NAMA</a:t>
                      </a:r>
                    </a:p>
                  </a:txBody>
                  <a:tcPr marL="50800" marR="50800" marT="25400" marB="25400" anchor="ctr">
                    <a:solidFill>
                      <a:srgbClr val="EFF1F4"/>
                    </a:solidFill>
                  </a:tcPr>
                </a:tc>
                <a:tc>
                  <a:txBody>
                    <a:bodyPr/>
                    <a:lstStyle/>
                    <a:p>
                      <a:pPr algn="ctr"/>
                      <a:r>
                        <a:rPr sz="1100" b="0">
                          <a:solidFill>
                            <a:srgbClr val="3A3A3A"/>
                          </a:solidFill>
                          <a:latin typeface="맑은 고딕"/>
                        </a:rPr>
                        <a:t>top3</a:t>
                      </a:r>
                    </a:p>
                  </a:txBody>
                  <a:tcPr marL="50800" marR="50800" marT="25400" marB="25400" anchor="ctr">
                    <a:solidFill>
                      <a:srgbClr val="EFF1F4"/>
                    </a:solidFill>
                  </a:tcPr>
                </a:tc>
                <a:tc>
                  <a:txBody>
                    <a:bodyPr/>
                    <a:lstStyle/>
                    <a:p>
                      <a:pPr algn="ctr"/>
                      <a:r>
                        <a:rPr sz="1100" b="0">
                          <a:solidFill>
                            <a:srgbClr val="3A3A3A"/>
                          </a:solidFill>
                          <a:latin typeface="맑은 고딕"/>
                        </a:rPr>
                        <a:t>0.436</a:t>
                      </a:r>
                    </a:p>
                  </a:txBody>
                  <a:tcPr marL="50800" marR="50800" marT="25400" marB="25400" anchor="ctr">
                    <a:solidFill>
                      <a:srgbClr val="EFF1F4"/>
                    </a:solidFill>
                  </a:tcPr>
                </a:tc>
                <a:tc>
                  <a:txBody>
                    <a:bodyPr/>
                    <a:lstStyle/>
                    <a:p>
                      <a:pPr algn="ctr"/>
                      <a:r>
                        <a:rPr sz="1100" b="0">
                          <a:solidFill>
                            <a:srgbClr val="3A3A3A"/>
                          </a:solidFill>
                          <a:latin typeface="맑은 고딕"/>
                        </a:rPr>
                        <a:t>-0.132 [-0.158, -0.109]</a:t>
                      </a:r>
                    </a:p>
                  </a:txBody>
                  <a:tcPr marL="50800" marR="50800" marT="25400" marB="25400" anchor="ctr">
                    <a:solidFill>
                      <a:srgbClr val="EFF1F4"/>
                    </a:solidFill>
                  </a:tcPr>
                </a:tc>
                <a:tc>
                  <a:txBody>
                    <a:bodyPr/>
                    <a:lstStyle/>
                    <a:p>
                      <a:pPr algn="ctr"/>
                      <a:r>
                        <a:rPr sz="1100" b="1">
                          <a:solidFill>
                            <a:srgbClr val="B32A2A"/>
                          </a:solidFill>
                          <a:latin typeface="맑은 고딕"/>
                        </a:rPr>
                        <a:t>유의(악화)</a:t>
                      </a:r>
                    </a:p>
                  </a:txBody>
                  <a:tcPr marL="50800" marR="50800" marT="25400" marB="25400" anchor="ctr">
                    <a:solidFill>
                      <a:srgbClr val="EFF1F4"/>
                    </a:solidFill>
                  </a:tcPr>
                </a:tc>
                <a:extLst>
                  <a:ext uri="{0D108BD9-81ED-4DB2-BD59-A6C34878D82A}">
                    <a16:rowId xmlns:a16="http://schemas.microsoft.com/office/drawing/2014/main" val="10006"/>
                  </a:ext>
                </a:extLst>
              </a:tr>
              <a:tr h="377190">
                <a:tc>
                  <a:txBody>
                    <a:bodyPr/>
                    <a:lstStyle/>
                    <a:p>
                      <a:pPr algn="ctr"/>
                      <a:r>
                        <a:rPr sz="1100" b="0">
                          <a:solidFill>
                            <a:srgbClr val="3A3A3A"/>
                          </a:solidFill>
                          <a:latin typeface="맑은 고딕"/>
                        </a:rPr>
                        <a:t>TAMA</a:t>
                      </a:r>
                    </a:p>
                  </a:txBody>
                  <a:tcPr marL="50800" marR="50800" marT="25400" marB="25400" anchor="ctr">
                    <a:solidFill>
                      <a:srgbClr val="FFFFFF"/>
                    </a:solidFill>
                  </a:tcPr>
                </a:tc>
                <a:tc>
                  <a:txBody>
                    <a:bodyPr/>
                    <a:lstStyle/>
                    <a:p>
                      <a:pPr algn="ctr"/>
                      <a:r>
                        <a:rPr sz="1100" b="0">
                          <a:solidFill>
                            <a:srgbClr val="3A3A3A"/>
                          </a:solidFill>
                          <a:latin typeface="맑은 고딕"/>
                        </a:rPr>
                        <a:t>top6</a:t>
                      </a:r>
                    </a:p>
                  </a:txBody>
                  <a:tcPr marL="50800" marR="50800" marT="25400" marB="25400" anchor="ctr">
                    <a:solidFill>
                      <a:srgbClr val="FFFFFF"/>
                    </a:solidFill>
                  </a:tcPr>
                </a:tc>
                <a:tc>
                  <a:txBody>
                    <a:bodyPr/>
                    <a:lstStyle/>
                    <a:p>
                      <a:pPr algn="ctr"/>
                      <a:r>
                        <a:rPr sz="1100" b="0">
                          <a:solidFill>
                            <a:srgbClr val="3A3A3A"/>
                          </a:solidFill>
                          <a:latin typeface="맑은 고딕"/>
                        </a:rPr>
                        <a:t>0.676</a:t>
                      </a:r>
                    </a:p>
                  </a:txBody>
                  <a:tcPr marL="50800" marR="50800" marT="25400" marB="25400" anchor="ctr">
                    <a:solidFill>
                      <a:srgbClr val="FFFFFF"/>
                    </a:solidFill>
                  </a:tcPr>
                </a:tc>
                <a:tc>
                  <a:txBody>
                    <a:bodyPr/>
                    <a:lstStyle/>
                    <a:p>
                      <a:pPr algn="ctr"/>
                      <a:r>
                        <a:rPr sz="1100" b="0">
                          <a:solidFill>
                            <a:srgbClr val="3A3A3A"/>
                          </a:solidFill>
                          <a:latin typeface="맑은 고딕"/>
                        </a:rPr>
                        <a:t>-0.035 [-0.046, -0.025]</a:t>
                      </a:r>
                    </a:p>
                  </a:txBody>
                  <a:tcPr marL="50800" marR="50800" marT="25400" marB="25400" anchor="ctr">
                    <a:solidFill>
                      <a:srgbClr val="FFFFFF"/>
                    </a:solidFill>
                  </a:tcPr>
                </a:tc>
                <a:tc>
                  <a:txBody>
                    <a:bodyPr/>
                    <a:lstStyle/>
                    <a:p>
                      <a:pPr algn="ctr"/>
                      <a:r>
                        <a:rPr sz="1100" b="1">
                          <a:solidFill>
                            <a:srgbClr val="B32A2A"/>
                          </a:solidFill>
                          <a:latin typeface="맑은 고딕"/>
                        </a:rPr>
                        <a:t>유의(악화)</a:t>
                      </a:r>
                    </a:p>
                  </a:txBody>
                  <a:tcPr marL="50800" marR="50800" marT="25400" marB="25400"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STEP 2  ·  구간 선택 (2/2)</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앞/뒤 50% 분할</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곡선을 반으로 쪼개 한쪽만 쓰면 7개 feature 전부 external에서 악화된다 — 지방계열도 예외 없음</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AEC 전반부·후반부 단독 평균만 predictor로 사용(front50 / back50)</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9</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pic>
        <p:nvPicPr>
          <p:cNvPr id="11" name="Picture 10" descr="clinic_aec_back_half_r2_comparison.png"/>
          <p:cNvPicPr>
            <a:picLocks noChangeAspect="1"/>
          </p:cNvPicPr>
          <p:nvPr/>
        </p:nvPicPr>
        <p:blipFill>
          <a:blip r:embed="rId3"/>
          <a:stretch>
            <a:fillRect/>
          </a:stretch>
        </p:blipFill>
        <p:spPr>
          <a:xfrm>
            <a:off x="457200" y="3308927"/>
            <a:ext cx="5029200" cy="1959217"/>
          </a:xfrm>
          <a:prstGeom prst="rect">
            <a:avLst/>
          </a:prstGeom>
        </p:spPr>
      </p:pic>
      <p:graphicFrame>
        <p:nvGraphicFramePr>
          <p:cNvPr id="12" name="Table 11"/>
          <p:cNvGraphicFramePr>
            <a:graphicFrameLocks noGrp="1"/>
          </p:cNvGraphicFramePr>
          <p:nvPr/>
        </p:nvGraphicFramePr>
        <p:xfrm>
          <a:off x="5760720" y="2414016"/>
          <a:ext cx="5989317" cy="3026410"/>
        </p:xfrm>
        <a:graphic>
          <a:graphicData uri="http://schemas.openxmlformats.org/drawingml/2006/table">
            <a:tbl>
              <a:tblPr firstRow="1" bandRow="1">
                <a:tableStyleId>{5C22544A-7EE6-4342-B048-85BDC9FD1C3A}</a:tableStyleId>
              </a:tblPr>
              <a:tblGrid>
                <a:gridCol w="945682">
                  <a:extLst>
                    <a:ext uri="{9D8B030D-6E8A-4147-A177-3AD203B41FA5}">
                      <a16:colId xmlns:a16="http://schemas.microsoft.com/office/drawing/2014/main" val="20000"/>
                    </a:ext>
                  </a:extLst>
                </a:gridCol>
                <a:gridCol w="1155833">
                  <a:extLst>
                    <a:ext uri="{9D8B030D-6E8A-4147-A177-3AD203B41FA5}">
                      <a16:colId xmlns:a16="http://schemas.microsoft.com/office/drawing/2014/main" val="20001"/>
                    </a:ext>
                  </a:extLst>
                </a:gridCol>
                <a:gridCol w="1155833">
                  <a:extLst>
                    <a:ext uri="{9D8B030D-6E8A-4147-A177-3AD203B41FA5}">
                      <a16:colId xmlns:a16="http://schemas.microsoft.com/office/drawing/2014/main" val="20002"/>
                    </a:ext>
                  </a:extLst>
                </a:gridCol>
                <a:gridCol w="1681212">
                  <a:extLst>
                    <a:ext uri="{9D8B030D-6E8A-4147-A177-3AD203B41FA5}">
                      <a16:colId xmlns:a16="http://schemas.microsoft.com/office/drawing/2014/main" val="20003"/>
                    </a:ext>
                  </a:extLst>
                </a:gridCol>
                <a:gridCol w="1050757">
                  <a:extLst>
                    <a:ext uri="{9D8B030D-6E8A-4147-A177-3AD203B41FA5}">
                      <a16:colId xmlns:a16="http://schemas.microsoft.com/office/drawing/2014/main" val="20004"/>
                    </a:ext>
                  </a:extLst>
                </a:gridCol>
              </a:tblGrid>
              <a:tr h="377190">
                <a:tc>
                  <a:txBody>
                    <a:bodyPr/>
                    <a:lstStyle/>
                    <a:p>
                      <a:pPr algn="ctr"/>
                      <a:r>
                        <a:rPr sz="1100" b="1">
                          <a:solidFill>
                            <a:srgbClr val="FFFFFF"/>
                          </a:solidFill>
                          <a:latin typeface="맑은 고딕"/>
                        </a:rPr>
                        <a:t>Feature</a:t>
                      </a:r>
                    </a:p>
                  </a:txBody>
                  <a:tcPr marL="50800" marR="50800" marT="25400" marB="25400" anchor="ctr">
                    <a:solidFill>
                      <a:srgbClr val="1B2A4A"/>
                    </a:solidFill>
                  </a:tcPr>
                </a:tc>
                <a:tc>
                  <a:txBody>
                    <a:bodyPr/>
                    <a:lstStyle/>
                    <a:p>
                      <a:pPr algn="ctr"/>
                      <a:r>
                        <a:rPr sz="1100" b="1">
                          <a:solidFill>
                            <a:srgbClr val="FFFFFF"/>
                          </a:solidFill>
                          <a:latin typeface="맑은 고딕"/>
                        </a:rPr>
                        <a:t>Internal 최적 절반</a:t>
                      </a:r>
                    </a:p>
                  </a:txBody>
                  <a:tcPr marL="50800" marR="50800" marT="25400" marB="25400" anchor="ctr">
                    <a:solidFill>
                      <a:srgbClr val="1B2A4A"/>
                    </a:solidFill>
                  </a:tcPr>
                </a:tc>
                <a:tc>
                  <a:txBody>
                    <a:bodyPr/>
                    <a:lstStyle/>
                    <a:p>
                      <a:pPr algn="ctr"/>
                      <a:r>
                        <a:rPr sz="1100" b="1">
                          <a:solidFill>
                            <a:srgbClr val="FFFFFF"/>
                          </a:solidFill>
                          <a:latin typeface="맑은 고딕"/>
                        </a:rPr>
                        <a:t>External R²(신모델)</a:t>
                      </a:r>
                    </a:p>
                  </a:txBody>
                  <a:tcPr marL="50800" marR="50800" marT="25400" marB="25400" anchor="ctr">
                    <a:solidFill>
                      <a:srgbClr val="1B2A4A"/>
                    </a:solidFill>
                  </a:tcPr>
                </a:tc>
                <a:tc>
                  <a:txBody>
                    <a:bodyPr/>
                    <a:lstStyle/>
                    <a:p>
                      <a:pPr algn="ctr"/>
                      <a:r>
                        <a:rPr sz="1100" b="1">
                          <a:solidFill>
                            <a:srgbClr val="FFFFFF"/>
                          </a:solidFill>
                          <a:latin typeface="맑은 고딕"/>
                        </a:rPr>
                        <a:t>ΔR² external [95% CI]</a:t>
                      </a:r>
                    </a:p>
                  </a:txBody>
                  <a:tcPr marL="50800" marR="50800" marT="25400" marB="25400" anchor="ctr">
                    <a:solidFill>
                      <a:srgbClr val="1B2A4A"/>
                    </a:solidFill>
                  </a:tcPr>
                </a:tc>
                <a:tc>
                  <a:txBody>
                    <a:bodyPr/>
                    <a:lstStyle/>
                    <a:p>
                      <a:pPr algn="ctr"/>
                      <a:r>
                        <a:rPr sz="1100" b="1">
                          <a:solidFill>
                            <a:srgbClr val="FFFFFF"/>
                          </a:solidFill>
                          <a:latin typeface="맑은 고딕"/>
                        </a:rPr>
                        <a:t>판정</a:t>
                      </a:r>
                    </a:p>
                  </a:txBody>
                  <a:tcPr marL="50800" marR="50800" marT="25400" marB="25400" anchor="ctr">
                    <a:solidFill>
                      <a:srgbClr val="1B2A4A"/>
                    </a:solidFill>
                  </a:tcPr>
                </a:tc>
                <a:extLst>
                  <a:ext uri="{0D108BD9-81ED-4DB2-BD59-A6C34878D82A}">
                    <a16:rowId xmlns:a16="http://schemas.microsoft.com/office/drawing/2014/main" val="10000"/>
                  </a:ext>
                </a:extLst>
              </a:tr>
              <a:tr h="377190">
                <a:tc>
                  <a:txBody>
                    <a:bodyPr/>
                    <a:lstStyle/>
                    <a:p>
                      <a:pPr algn="ctr"/>
                      <a:r>
                        <a:rPr sz="1100" b="0">
                          <a:solidFill>
                            <a:srgbClr val="3A3A3A"/>
                          </a:solidFill>
                          <a:latin typeface="맑은 고딕"/>
                        </a:rPr>
                        <a:t>IMATA</a:t>
                      </a:r>
                    </a:p>
                  </a:txBody>
                  <a:tcPr marL="50800" marR="50800" marT="25400" marB="25400" anchor="ctr">
                    <a:solidFill>
                      <a:srgbClr val="FFFFFF"/>
                    </a:solidFill>
                  </a:tcPr>
                </a:tc>
                <a:tc>
                  <a:txBody>
                    <a:bodyPr/>
                    <a:lstStyle/>
                    <a:p>
                      <a:pPr algn="ctr"/>
                      <a:r>
                        <a:rPr sz="1100" b="0">
                          <a:solidFill>
                            <a:srgbClr val="3A3A3A"/>
                          </a:solidFill>
                          <a:latin typeface="맑은 고딕"/>
                        </a:rPr>
                        <a:t>back50</a:t>
                      </a:r>
                    </a:p>
                  </a:txBody>
                  <a:tcPr marL="50800" marR="50800" marT="25400" marB="25400" anchor="ctr">
                    <a:solidFill>
                      <a:srgbClr val="FFFFFF"/>
                    </a:solidFill>
                  </a:tcPr>
                </a:tc>
                <a:tc>
                  <a:txBody>
                    <a:bodyPr/>
                    <a:lstStyle/>
                    <a:p>
                      <a:pPr algn="ctr"/>
                      <a:r>
                        <a:rPr sz="1100" b="0">
                          <a:solidFill>
                            <a:srgbClr val="3A3A3A"/>
                          </a:solidFill>
                          <a:latin typeface="맑은 고딕"/>
                        </a:rPr>
                        <a:t>0.189</a:t>
                      </a:r>
                    </a:p>
                  </a:txBody>
                  <a:tcPr marL="50800" marR="50800" marT="25400" marB="25400" anchor="ctr">
                    <a:solidFill>
                      <a:srgbClr val="FFFFFF"/>
                    </a:solidFill>
                  </a:tcPr>
                </a:tc>
                <a:tc>
                  <a:txBody>
                    <a:bodyPr/>
                    <a:lstStyle/>
                    <a:p>
                      <a:pPr algn="ctr"/>
                      <a:r>
                        <a:rPr sz="1100" b="0">
                          <a:solidFill>
                            <a:srgbClr val="3A3A3A"/>
                          </a:solidFill>
                          <a:latin typeface="맑은 고딕"/>
                        </a:rPr>
                        <a:t>-0.093 [-0.126, -0.063]</a:t>
                      </a:r>
                    </a:p>
                  </a:txBody>
                  <a:tcPr marL="50800" marR="50800" marT="25400" marB="25400" anchor="ctr">
                    <a:solidFill>
                      <a:srgbClr val="FFFFFF"/>
                    </a:solidFill>
                  </a:tcPr>
                </a:tc>
                <a:tc>
                  <a:txBody>
                    <a:bodyPr/>
                    <a:lstStyle/>
                    <a:p>
                      <a:pPr algn="ctr"/>
                      <a:r>
                        <a:rPr sz="1100" b="1">
                          <a:solidFill>
                            <a:srgbClr val="B32A2A"/>
                          </a:solidFill>
                          <a:latin typeface="맑은 고딕"/>
                        </a:rPr>
                        <a:t>유의(악화)</a:t>
                      </a:r>
                    </a:p>
                  </a:txBody>
                  <a:tcPr marL="50800" marR="50800" marT="25400" marB="25400" anchor="ctr">
                    <a:solidFill>
                      <a:srgbClr val="FFFFFF"/>
                    </a:solidFill>
                  </a:tcPr>
                </a:tc>
                <a:extLst>
                  <a:ext uri="{0D108BD9-81ED-4DB2-BD59-A6C34878D82A}">
                    <a16:rowId xmlns:a16="http://schemas.microsoft.com/office/drawing/2014/main" val="10001"/>
                  </a:ext>
                </a:extLst>
              </a:tr>
              <a:tr h="377190">
                <a:tc>
                  <a:txBody>
                    <a:bodyPr/>
                    <a:lstStyle/>
                    <a:p>
                      <a:pPr algn="ctr"/>
                      <a:r>
                        <a:rPr sz="1100" b="0">
                          <a:solidFill>
                            <a:srgbClr val="3A3A3A"/>
                          </a:solidFill>
                          <a:latin typeface="맑은 고딕"/>
                        </a:rPr>
                        <a:t>NAMA</a:t>
                      </a:r>
                    </a:p>
                  </a:txBody>
                  <a:tcPr marL="50800" marR="50800" marT="25400" marB="25400" anchor="ctr">
                    <a:solidFill>
                      <a:srgbClr val="EFF1F4"/>
                    </a:solidFill>
                  </a:tcPr>
                </a:tc>
                <a:tc>
                  <a:txBody>
                    <a:bodyPr/>
                    <a:lstStyle/>
                    <a:p>
                      <a:pPr algn="ctr"/>
                      <a:r>
                        <a:rPr sz="1100" b="0">
                          <a:solidFill>
                            <a:srgbClr val="3A3A3A"/>
                          </a:solidFill>
                          <a:latin typeface="맑은 고딕"/>
                        </a:rPr>
                        <a:t>back50</a:t>
                      </a:r>
                    </a:p>
                  </a:txBody>
                  <a:tcPr marL="50800" marR="50800" marT="25400" marB="25400" anchor="ctr">
                    <a:solidFill>
                      <a:srgbClr val="EFF1F4"/>
                    </a:solidFill>
                  </a:tcPr>
                </a:tc>
                <a:tc>
                  <a:txBody>
                    <a:bodyPr/>
                    <a:lstStyle/>
                    <a:p>
                      <a:pPr algn="ctr"/>
                      <a:r>
                        <a:rPr sz="1100" b="0">
                          <a:solidFill>
                            <a:srgbClr val="3A3A3A"/>
                          </a:solidFill>
                          <a:latin typeface="맑은 고딕"/>
                        </a:rPr>
                        <a:t>0.387</a:t>
                      </a:r>
                    </a:p>
                  </a:txBody>
                  <a:tcPr marL="50800" marR="50800" marT="25400" marB="25400" anchor="ctr">
                    <a:solidFill>
                      <a:srgbClr val="EFF1F4"/>
                    </a:solidFill>
                  </a:tcPr>
                </a:tc>
                <a:tc>
                  <a:txBody>
                    <a:bodyPr/>
                    <a:lstStyle/>
                    <a:p>
                      <a:pPr algn="ctr"/>
                      <a:r>
                        <a:rPr sz="1100" b="0">
                          <a:solidFill>
                            <a:srgbClr val="3A3A3A"/>
                          </a:solidFill>
                          <a:latin typeface="맑은 고딕"/>
                        </a:rPr>
                        <a:t>-0.181 [-0.213, -0.152]</a:t>
                      </a:r>
                    </a:p>
                  </a:txBody>
                  <a:tcPr marL="50800" marR="50800" marT="25400" marB="25400" anchor="ctr">
                    <a:solidFill>
                      <a:srgbClr val="EFF1F4"/>
                    </a:solidFill>
                  </a:tcPr>
                </a:tc>
                <a:tc>
                  <a:txBody>
                    <a:bodyPr/>
                    <a:lstStyle/>
                    <a:p>
                      <a:pPr algn="ctr"/>
                      <a:r>
                        <a:rPr sz="1100" b="1">
                          <a:solidFill>
                            <a:srgbClr val="B32A2A"/>
                          </a:solidFill>
                          <a:latin typeface="맑은 고딕"/>
                        </a:rPr>
                        <a:t>유의(악화)</a:t>
                      </a:r>
                    </a:p>
                  </a:txBody>
                  <a:tcPr marL="50800" marR="50800" marT="25400" marB="25400" anchor="ctr">
                    <a:solidFill>
                      <a:srgbClr val="EFF1F4"/>
                    </a:solidFill>
                  </a:tcPr>
                </a:tc>
                <a:extLst>
                  <a:ext uri="{0D108BD9-81ED-4DB2-BD59-A6C34878D82A}">
                    <a16:rowId xmlns:a16="http://schemas.microsoft.com/office/drawing/2014/main" val="10002"/>
                  </a:ext>
                </a:extLst>
              </a:tr>
              <a:tr h="377190">
                <a:tc>
                  <a:txBody>
                    <a:bodyPr/>
                    <a:lstStyle/>
                    <a:p>
                      <a:pPr algn="ctr"/>
                      <a:r>
                        <a:rPr sz="1100" b="0">
                          <a:solidFill>
                            <a:srgbClr val="3A3A3A"/>
                          </a:solidFill>
                          <a:latin typeface="맑은 고딕"/>
                        </a:rPr>
                        <a:t>LAMA</a:t>
                      </a:r>
                    </a:p>
                  </a:txBody>
                  <a:tcPr marL="50800" marR="50800" marT="25400" marB="25400" anchor="ctr">
                    <a:solidFill>
                      <a:srgbClr val="FFFFFF"/>
                    </a:solidFill>
                  </a:tcPr>
                </a:tc>
                <a:tc>
                  <a:txBody>
                    <a:bodyPr/>
                    <a:lstStyle/>
                    <a:p>
                      <a:pPr algn="ctr"/>
                      <a:r>
                        <a:rPr sz="1100" b="0">
                          <a:solidFill>
                            <a:srgbClr val="3A3A3A"/>
                          </a:solidFill>
                          <a:latin typeface="맑은 고딕"/>
                        </a:rPr>
                        <a:t>back50</a:t>
                      </a:r>
                    </a:p>
                  </a:txBody>
                  <a:tcPr marL="50800" marR="50800" marT="25400" marB="25400" anchor="ctr">
                    <a:solidFill>
                      <a:srgbClr val="FFFFFF"/>
                    </a:solidFill>
                  </a:tcPr>
                </a:tc>
                <a:tc>
                  <a:txBody>
                    <a:bodyPr/>
                    <a:lstStyle/>
                    <a:p>
                      <a:pPr algn="ctr"/>
                      <a:r>
                        <a:rPr sz="1100" b="0">
                          <a:solidFill>
                            <a:srgbClr val="3A3A3A"/>
                          </a:solidFill>
                          <a:latin typeface="맑은 고딕"/>
                        </a:rPr>
                        <a:t>-0.254</a:t>
                      </a:r>
                    </a:p>
                  </a:txBody>
                  <a:tcPr marL="50800" marR="50800" marT="25400" marB="25400" anchor="ctr">
                    <a:solidFill>
                      <a:srgbClr val="FFFFFF"/>
                    </a:solidFill>
                  </a:tcPr>
                </a:tc>
                <a:tc>
                  <a:txBody>
                    <a:bodyPr/>
                    <a:lstStyle/>
                    <a:p>
                      <a:pPr algn="ctr"/>
                      <a:r>
                        <a:rPr sz="1100" b="0">
                          <a:solidFill>
                            <a:srgbClr val="3A3A3A"/>
                          </a:solidFill>
                          <a:latin typeface="맑은 고딕"/>
                        </a:rPr>
                        <a:t>-0.218 [-0.252, -0.189]</a:t>
                      </a:r>
                    </a:p>
                  </a:txBody>
                  <a:tcPr marL="50800" marR="50800" marT="25400" marB="25400" anchor="ctr">
                    <a:solidFill>
                      <a:srgbClr val="FFFFFF"/>
                    </a:solidFill>
                  </a:tcPr>
                </a:tc>
                <a:tc>
                  <a:txBody>
                    <a:bodyPr/>
                    <a:lstStyle/>
                    <a:p>
                      <a:pPr algn="ctr"/>
                      <a:r>
                        <a:rPr sz="1100" b="1">
                          <a:solidFill>
                            <a:srgbClr val="B32A2A"/>
                          </a:solidFill>
                          <a:latin typeface="맑은 고딕"/>
                        </a:rPr>
                        <a:t>유의(악화)</a:t>
                      </a:r>
                    </a:p>
                  </a:txBody>
                  <a:tcPr marL="50800" marR="50800" marT="25400" marB="25400" anchor="ctr">
                    <a:solidFill>
                      <a:srgbClr val="FFFFFF"/>
                    </a:solidFill>
                  </a:tcPr>
                </a:tc>
                <a:extLst>
                  <a:ext uri="{0D108BD9-81ED-4DB2-BD59-A6C34878D82A}">
                    <a16:rowId xmlns:a16="http://schemas.microsoft.com/office/drawing/2014/main" val="10003"/>
                  </a:ext>
                </a:extLst>
              </a:tr>
              <a:tr h="377190">
                <a:tc>
                  <a:txBody>
                    <a:bodyPr/>
                    <a:lstStyle/>
                    <a:p>
                      <a:pPr algn="ctr"/>
                      <a:r>
                        <a:rPr sz="1100" b="0">
                          <a:solidFill>
                            <a:srgbClr val="3A3A3A"/>
                          </a:solidFill>
                          <a:latin typeface="맑은 고딕"/>
                        </a:rPr>
                        <a:t>TAMA</a:t>
                      </a:r>
                    </a:p>
                  </a:txBody>
                  <a:tcPr marL="50800" marR="50800" marT="25400" marB="25400" anchor="ctr">
                    <a:solidFill>
                      <a:srgbClr val="EFF1F4"/>
                    </a:solidFill>
                  </a:tcPr>
                </a:tc>
                <a:tc>
                  <a:txBody>
                    <a:bodyPr/>
                    <a:lstStyle/>
                    <a:p>
                      <a:pPr algn="ctr"/>
                      <a:r>
                        <a:rPr sz="1100" b="0">
                          <a:solidFill>
                            <a:srgbClr val="3A3A3A"/>
                          </a:solidFill>
                          <a:latin typeface="맑은 고딕"/>
                        </a:rPr>
                        <a:t>front50</a:t>
                      </a:r>
                    </a:p>
                  </a:txBody>
                  <a:tcPr marL="50800" marR="50800" marT="25400" marB="25400" anchor="ctr">
                    <a:solidFill>
                      <a:srgbClr val="EFF1F4"/>
                    </a:solidFill>
                  </a:tcPr>
                </a:tc>
                <a:tc>
                  <a:txBody>
                    <a:bodyPr/>
                    <a:lstStyle/>
                    <a:p>
                      <a:pPr algn="ctr"/>
                      <a:r>
                        <a:rPr sz="1100" b="0">
                          <a:solidFill>
                            <a:srgbClr val="3A3A3A"/>
                          </a:solidFill>
                          <a:latin typeface="맑은 고딕"/>
                        </a:rPr>
                        <a:t>0.672</a:t>
                      </a:r>
                    </a:p>
                  </a:txBody>
                  <a:tcPr marL="50800" marR="50800" marT="25400" marB="25400" anchor="ctr">
                    <a:solidFill>
                      <a:srgbClr val="EFF1F4"/>
                    </a:solidFill>
                  </a:tcPr>
                </a:tc>
                <a:tc>
                  <a:txBody>
                    <a:bodyPr/>
                    <a:lstStyle/>
                    <a:p>
                      <a:pPr algn="ctr"/>
                      <a:r>
                        <a:rPr sz="1100" b="0">
                          <a:solidFill>
                            <a:srgbClr val="3A3A3A"/>
                          </a:solidFill>
                          <a:latin typeface="맑은 고딕"/>
                        </a:rPr>
                        <a:t>-0.039 [-0.052, -0.029]</a:t>
                      </a:r>
                    </a:p>
                  </a:txBody>
                  <a:tcPr marL="50800" marR="50800" marT="25400" marB="25400" anchor="ctr">
                    <a:solidFill>
                      <a:srgbClr val="EFF1F4"/>
                    </a:solidFill>
                  </a:tcPr>
                </a:tc>
                <a:tc>
                  <a:txBody>
                    <a:bodyPr/>
                    <a:lstStyle/>
                    <a:p>
                      <a:pPr algn="ctr"/>
                      <a:r>
                        <a:rPr sz="1100" b="1">
                          <a:solidFill>
                            <a:srgbClr val="B32A2A"/>
                          </a:solidFill>
                          <a:latin typeface="맑은 고딕"/>
                        </a:rPr>
                        <a:t>유의(악화)</a:t>
                      </a:r>
                    </a:p>
                  </a:txBody>
                  <a:tcPr marL="50800" marR="50800" marT="25400" marB="25400" anchor="ctr">
                    <a:solidFill>
                      <a:srgbClr val="EFF1F4"/>
                    </a:solidFill>
                  </a:tcPr>
                </a:tc>
                <a:extLst>
                  <a:ext uri="{0D108BD9-81ED-4DB2-BD59-A6C34878D82A}">
                    <a16:rowId xmlns:a16="http://schemas.microsoft.com/office/drawing/2014/main" val="10004"/>
                  </a:ext>
                </a:extLst>
              </a:tr>
              <a:tr h="377190">
                <a:tc>
                  <a:txBody>
                    <a:bodyPr/>
                    <a:lstStyle/>
                    <a:p>
                      <a:pPr algn="ctr"/>
                      <a:r>
                        <a:rPr sz="1100" b="0">
                          <a:solidFill>
                            <a:srgbClr val="3A3A3A"/>
                          </a:solidFill>
                          <a:latin typeface="맑은 고딕"/>
                        </a:rPr>
                        <a:t>SAT</a:t>
                      </a:r>
                    </a:p>
                  </a:txBody>
                  <a:tcPr marL="50800" marR="50800" marT="25400" marB="25400" anchor="ctr">
                    <a:solidFill>
                      <a:srgbClr val="FFFFFF"/>
                    </a:solidFill>
                  </a:tcPr>
                </a:tc>
                <a:tc>
                  <a:txBody>
                    <a:bodyPr/>
                    <a:lstStyle/>
                    <a:p>
                      <a:pPr algn="ctr"/>
                      <a:r>
                        <a:rPr sz="1100" b="0">
                          <a:solidFill>
                            <a:srgbClr val="3A3A3A"/>
                          </a:solidFill>
                          <a:latin typeface="맑은 고딕"/>
                        </a:rPr>
                        <a:t>back50</a:t>
                      </a:r>
                    </a:p>
                  </a:txBody>
                  <a:tcPr marL="50800" marR="50800" marT="25400" marB="25400" anchor="ctr">
                    <a:solidFill>
                      <a:srgbClr val="FFFFFF"/>
                    </a:solidFill>
                  </a:tcPr>
                </a:tc>
                <a:tc>
                  <a:txBody>
                    <a:bodyPr/>
                    <a:lstStyle/>
                    <a:p>
                      <a:pPr algn="ctr"/>
                      <a:r>
                        <a:rPr sz="1100" b="0">
                          <a:solidFill>
                            <a:srgbClr val="3A3A3A"/>
                          </a:solidFill>
                          <a:latin typeface="맑은 고딕"/>
                        </a:rPr>
                        <a:t>0.544</a:t>
                      </a:r>
                    </a:p>
                  </a:txBody>
                  <a:tcPr marL="50800" marR="50800" marT="25400" marB="25400" anchor="ctr">
                    <a:solidFill>
                      <a:srgbClr val="FFFFFF"/>
                    </a:solidFill>
                  </a:tcPr>
                </a:tc>
                <a:tc>
                  <a:txBody>
                    <a:bodyPr/>
                    <a:lstStyle/>
                    <a:p>
                      <a:pPr algn="ctr"/>
                      <a:r>
                        <a:rPr sz="1100" b="0">
                          <a:solidFill>
                            <a:srgbClr val="3A3A3A"/>
                          </a:solidFill>
                          <a:latin typeface="맑은 고딕"/>
                        </a:rPr>
                        <a:t>-0.021 [-0.038, -0.004]</a:t>
                      </a:r>
                    </a:p>
                  </a:txBody>
                  <a:tcPr marL="50800" marR="50800" marT="25400" marB="25400" anchor="ctr">
                    <a:solidFill>
                      <a:srgbClr val="FFFFFF"/>
                    </a:solidFill>
                  </a:tcPr>
                </a:tc>
                <a:tc>
                  <a:txBody>
                    <a:bodyPr/>
                    <a:lstStyle/>
                    <a:p>
                      <a:pPr algn="ctr"/>
                      <a:r>
                        <a:rPr sz="1100" b="1">
                          <a:solidFill>
                            <a:srgbClr val="B32A2A"/>
                          </a:solidFill>
                          <a:latin typeface="맑은 고딕"/>
                        </a:rPr>
                        <a:t>유의(악화)</a:t>
                      </a:r>
                    </a:p>
                  </a:txBody>
                  <a:tcPr marL="50800" marR="50800" marT="25400" marB="25400" anchor="ctr">
                    <a:solidFill>
                      <a:srgbClr val="FFFFFF"/>
                    </a:solidFill>
                  </a:tcPr>
                </a:tc>
                <a:extLst>
                  <a:ext uri="{0D108BD9-81ED-4DB2-BD59-A6C34878D82A}">
                    <a16:rowId xmlns:a16="http://schemas.microsoft.com/office/drawing/2014/main" val="10005"/>
                  </a:ext>
                </a:extLst>
              </a:tr>
              <a:tr h="377190">
                <a:tc>
                  <a:txBody>
                    <a:bodyPr/>
                    <a:lstStyle/>
                    <a:p>
                      <a:pPr algn="ctr"/>
                      <a:r>
                        <a:rPr sz="1100" b="0">
                          <a:solidFill>
                            <a:srgbClr val="3A3A3A"/>
                          </a:solidFill>
                          <a:latin typeface="맑은 고딕"/>
                        </a:rPr>
                        <a:t>VAT</a:t>
                      </a:r>
                    </a:p>
                  </a:txBody>
                  <a:tcPr marL="50800" marR="50800" marT="25400" marB="25400" anchor="ctr">
                    <a:solidFill>
                      <a:srgbClr val="EFF1F4"/>
                    </a:solidFill>
                  </a:tcPr>
                </a:tc>
                <a:tc>
                  <a:txBody>
                    <a:bodyPr/>
                    <a:lstStyle/>
                    <a:p>
                      <a:pPr algn="ctr"/>
                      <a:r>
                        <a:rPr sz="1100" b="0">
                          <a:solidFill>
                            <a:srgbClr val="3A3A3A"/>
                          </a:solidFill>
                          <a:latin typeface="맑은 고딕"/>
                        </a:rPr>
                        <a:t>back50</a:t>
                      </a:r>
                    </a:p>
                  </a:txBody>
                  <a:tcPr marL="50800" marR="50800" marT="25400" marB="25400" anchor="ctr">
                    <a:solidFill>
                      <a:srgbClr val="EFF1F4"/>
                    </a:solidFill>
                  </a:tcPr>
                </a:tc>
                <a:tc>
                  <a:txBody>
                    <a:bodyPr/>
                    <a:lstStyle/>
                    <a:p>
                      <a:pPr algn="ctr"/>
                      <a:r>
                        <a:rPr sz="1100" b="0">
                          <a:solidFill>
                            <a:srgbClr val="3A3A3A"/>
                          </a:solidFill>
                          <a:latin typeface="맑은 고딕"/>
                        </a:rPr>
                        <a:t>0.356</a:t>
                      </a:r>
                    </a:p>
                  </a:txBody>
                  <a:tcPr marL="50800" marR="50800" marT="25400" marB="25400" anchor="ctr">
                    <a:solidFill>
                      <a:srgbClr val="EFF1F4"/>
                    </a:solidFill>
                  </a:tcPr>
                </a:tc>
                <a:tc>
                  <a:txBody>
                    <a:bodyPr/>
                    <a:lstStyle/>
                    <a:p>
                      <a:pPr algn="ctr"/>
                      <a:r>
                        <a:rPr sz="1100" b="0">
                          <a:solidFill>
                            <a:srgbClr val="3A3A3A"/>
                          </a:solidFill>
                          <a:latin typeface="맑은 고딕"/>
                        </a:rPr>
                        <a:t>-0.063 [-0.091, -0.034]</a:t>
                      </a:r>
                    </a:p>
                  </a:txBody>
                  <a:tcPr marL="50800" marR="50800" marT="25400" marB="25400" anchor="ctr">
                    <a:solidFill>
                      <a:srgbClr val="EFF1F4"/>
                    </a:solidFill>
                  </a:tcPr>
                </a:tc>
                <a:tc>
                  <a:txBody>
                    <a:bodyPr/>
                    <a:lstStyle/>
                    <a:p>
                      <a:pPr algn="ctr"/>
                      <a:r>
                        <a:rPr sz="1100" b="1">
                          <a:solidFill>
                            <a:srgbClr val="B32A2A"/>
                          </a:solidFill>
                          <a:latin typeface="맑은 고딕"/>
                        </a:rPr>
                        <a:t>유의(악화)</a:t>
                      </a:r>
                    </a:p>
                  </a:txBody>
                  <a:tcPr marL="50800" marR="50800" marT="25400" marB="25400" anchor="ctr">
                    <a:solidFill>
                      <a:srgbClr val="EFF1F4"/>
                    </a:solidFill>
                  </a:tcPr>
                </a:tc>
                <a:extLst>
                  <a:ext uri="{0D108BD9-81ED-4DB2-BD59-A6C34878D82A}">
                    <a16:rowId xmlns:a16="http://schemas.microsoft.com/office/drawing/2014/main" val="10006"/>
                  </a:ext>
                </a:extLst>
              </a:tr>
              <a:tr h="377190">
                <a:tc>
                  <a:txBody>
                    <a:bodyPr/>
                    <a:lstStyle/>
                    <a:p>
                      <a:pPr algn="ctr"/>
                      <a:r>
                        <a:rPr sz="1100" b="0">
                          <a:solidFill>
                            <a:srgbClr val="3A3A3A"/>
                          </a:solidFill>
                          <a:latin typeface="맑은 고딕"/>
                        </a:rPr>
                        <a:t>Total Fat</a:t>
                      </a:r>
                    </a:p>
                  </a:txBody>
                  <a:tcPr marL="50800" marR="50800" marT="25400" marB="25400" anchor="ctr">
                    <a:solidFill>
                      <a:srgbClr val="FFFFFF"/>
                    </a:solidFill>
                  </a:tcPr>
                </a:tc>
                <a:tc>
                  <a:txBody>
                    <a:bodyPr/>
                    <a:lstStyle/>
                    <a:p>
                      <a:pPr algn="ctr"/>
                      <a:r>
                        <a:rPr sz="1100" b="0">
                          <a:solidFill>
                            <a:srgbClr val="3A3A3A"/>
                          </a:solidFill>
                          <a:latin typeface="맑은 고딕"/>
                        </a:rPr>
                        <a:t>back50</a:t>
                      </a:r>
                    </a:p>
                  </a:txBody>
                  <a:tcPr marL="50800" marR="50800" marT="25400" marB="25400" anchor="ctr">
                    <a:solidFill>
                      <a:srgbClr val="FFFFFF"/>
                    </a:solidFill>
                  </a:tcPr>
                </a:tc>
                <a:tc>
                  <a:txBody>
                    <a:bodyPr/>
                    <a:lstStyle/>
                    <a:p>
                      <a:pPr algn="ctr"/>
                      <a:r>
                        <a:rPr sz="1100" b="0">
                          <a:solidFill>
                            <a:srgbClr val="3A3A3A"/>
                          </a:solidFill>
                          <a:latin typeface="맑은 고딕"/>
                        </a:rPr>
                        <a:t>0.446</a:t>
                      </a:r>
                    </a:p>
                  </a:txBody>
                  <a:tcPr marL="50800" marR="50800" marT="25400" marB="25400" anchor="ctr">
                    <a:solidFill>
                      <a:srgbClr val="FFFFFF"/>
                    </a:solidFill>
                  </a:tcPr>
                </a:tc>
                <a:tc>
                  <a:txBody>
                    <a:bodyPr/>
                    <a:lstStyle/>
                    <a:p>
                      <a:pPr algn="ctr"/>
                      <a:r>
                        <a:rPr sz="1100" b="0">
                          <a:solidFill>
                            <a:srgbClr val="3A3A3A"/>
                          </a:solidFill>
                          <a:latin typeface="맑은 고딕"/>
                        </a:rPr>
                        <a:t>-0.046 [-0.071, -0.021]</a:t>
                      </a:r>
                    </a:p>
                  </a:txBody>
                  <a:tcPr marL="50800" marR="50800" marT="25400" marB="25400" anchor="ctr">
                    <a:solidFill>
                      <a:srgbClr val="FFFFFF"/>
                    </a:solidFill>
                  </a:tcPr>
                </a:tc>
                <a:tc>
                  <a:txBody>
                    <a:bodyPr/>
                    <a:lstStyle/>
                    <a:p>
                      <a:pPr algn="ctr"/>
                      <a:r>
                        <a:rPr sz="1100" b="1">
                          <a:solidFill>
                            <a:srgbClr val="B32A2A"/>
                          </a:solidFill>
                          <a:latin typeface="맑은 고딕"/>
                        </a:rPr>
                        <a:t>유의(악화)</a:t>
                      </a:r>
                    </a:p>
                  </a:txBody>
                  <a:tcPr marL="50800" marR="50800" marT="25400" marB="25400"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STEP 3  ·  곡선 형태(SHAPE) FEATURE</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형태 Feature 추가</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SD·Skewness·상하위비율을 결합(shape_all)하면 VAT·Total Fat만 유의하게 개선된다</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곡선 표준편차·왜도·상하위50%비율(uplow_ratio)을 clinic4에 추가</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10</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pic>
        <p:nvPicPr>
          <p:cNvPr id="11" name="Picture 10" descr="clinic_aec_shape_r2_comparison.png"/>
          <p:cNvPicPr>
            <a:picLocks noChangeAspect="1"/>
          </p:cNvPicPr>
          <p:nvPr/>
        </p:nvPicPr>
        <p:blipFill>
          <a:blip r:embed="rId3"/>
          <a:stretch>
            <a:fillRect/>
          </a:stretch>
        </p:blipFill>
        <p:spPr>
          <a:xfrm>
            <a:off x="457200" y="3374366"/>
            <a:ext cx="5029200" cy="1828339"/>
          </a:xfrm>
          <a:prstGeom prst="rect">
            <a:avLst/>
          </a:prstGeom>
        </p:spPr>
      </p:pic>
      <p:graphicFrame>
        <p:nvGraphicFramePr>
          <p:cNvPr id="12" name="Table 11"/>
          <p:cNvGraphicFramePr>
            <a:graphicFrameLocks noGrp="1"/>
          </p:cNvGraphicFramePr>
          <p:nvPr/>
        </p:nvGraphicFramePr>
        <p:xfrm>
          <a:off x="5760720" y="2414016"/>
          <a:ext cx="5989318" cy="3026410"/>
        </p:xfrm>
        <a:graphic>
          <a:graphicData uri="http://schemas.openxmlformats.org/drawingml/2006/table">
            <a:tbl>
              <a:tblPr firstRow="1" bandRow="1">
                <a:tableStyleId>{5C22544A-7EE6-4342-B048-85BDC9FD1C3A}</a:tableStyleId>
              </a:tblPr>
              <a:tblGrid>
                <a:gridCol w="929377">
                  <a:extLst>
                    <a:ext uri="{9D8B030D-6E8A-4147-A177-3AD203B41FA5}">
                      <a16:colId xmlns:a16="http://schemas.microsoft.com/office/drawing/2014/main" val="20000"/>
                    </a:ext>
                  </a:extLst>
                </a:gridCol>
                <a:gridCol w="1239169">
                  <a:extLst>
                    <a:ext uri="{9D8B030D-6E8A-4147-A177-3AD203B41FA5}">
                      <a16:colId xmlns:a16="http://schemas.microsoft.com/office/drawing/2014/main" val="20001"/>
                    </a:ext>
                  </a:extLst>
                </a:gridCol>
                <a:gridCol w="1135905">
                  <a:extLst>
                    <a:ext uri="{9D8B030D-6E8A-4147-A177-3AD203B41FA5}">
                      <a16:colId xmlns:a16="http://schemas.microsoft.com/office/drawing/2014/main" val="20002"/>
                    </a:ext>
                  </a:extLst>
                </a:gridCol>
                <a:gridCol w="1652226">
                  <a:extLst>
                    <a:ext uri="{9D8B030D-6E8A-4147-A177-3AD203B41FA5}">
                      <a16:colId xmlns:a16="http://schemas.microsoft.com/office/drawing/2014/main" val="20003"/>
                    </a:ext>
                  </a:extLst>
                </a:gridCol>
                <a:gridCol w="1032641">
                  <a:extLst>
                    <a:ext uri="{9D8B030D-6E8A-4147-A177-3AD203B41FA5}">
                      <a16:colId xmlns:a16="http://schemas.microsoft.com/office/drawing/2014/main" val="20004"/>
                    </a:ext>
                  </a:extLst>
                </a:gridCol>
              </a:tblGrid>
              <a:tr h="377190">
                <a:tc>
                  <a:txBody>
                    <a:bodyPr/>
                    <a:lstStyle/>
                    <a:p>
                      <a:pPr algn="ctr"/>
                      <a:r>
                        <a:rPr sz="1100" b="1">
                          <a:solidFill>
                            <a:srgbClr val="FFFFFF"/>
                          </a:solidFill>
                          <a:latin typeface="맑은 고딕"/>
                        </a:rPr>
                        <a:t>Feature</a:t>
                      </a:r>
                    </a:p>
                  </a:txBody>
                  <a:tcPr marL="50800" marR="50800" marT="25400" marB="25400" anchor="ctr">
                    <a:solidFill>
                      <a:srgbClr val="1B2A4A"/>
                    </a:solidFill>
                  </a:tcPr>
                </a:tc>
                <a:tc>
                  <a:txBody>
                    <a:bodyPr/>
                    <a:lstStyle/>
                    <a:p>
                      <a:pPr algn="ctr"/>
                      <a:r>
                        <a:rPr sz="1100" b="1">
                          <a:solidFill>
                            <a:srgbClr val="FFFFFF"/>
                          </a:solidFill>
                          <a:latin typeface="맑은 고딕"/>
                        </a:rPr>
                        <a:t>Internal 최적 config</a:t>
                      </a:r>
                    </a:p>
                  </a:txBody>
                  <a:tcPr marL="50800" marR="50800" marT="25400" marB="25400" anchor="ctr">
                    <a:solidFill>
                      <a:srgbClr val="1B2A4A"/>
                    </a:solidFill>
                  </a:tcPr>
                </a:tc>
                <a:tc>
                  <a:txBody>
                    <a:bodyPr/>
                    <a:lstStyle/>
                    <a:p>
                      <a:pPr algn="ctr"/>
                      <a:r>
                        <a:rPr sz="1100" b="1">
                          <a:solidFill>
                            <a:srgbClr val="FFFFFF"/>
                          </a:solidFill>
                          <a:latin typeface="맑은 고딕"/>
                        </a:rPr>
                        <a:t>External R²(신모델)</a:t>
                      </a:r>
                    </a:p>
                  </a:txBody>
                  <a:tcPr marL="50800" marR="50800" marT="25400" marB="25400" anchor="ctr">
                    <a:solidFill>
                      <a:srgbClr val="1B2A4A"/>
                    </a:solidFill>
                  </a:tcPr>
                </a:tc>
                <a:tc>
                  <a:txBody>
                    <a:bodyPr/>
                    <a:lstStyle/>
                    <a:p>
                      <a:pPr algn="ctr"/>
                      <a:r>
                        <a:rPr sz="1100" b="1">
                          <a:solidFill>
                            <a:srgbClr val="FFFFFF"/>
                          </a:solidFill>
                          <a:latin typeface="맑은 고딕"/>
                        </a:rPr>
                        <a:t>ΔR² external [95% CI]</a:t>
                      </a:r>
                    </a:p>
                  </a:txBody>
                  <a:tcPr marL="50800" marR="50800" marT="25400" marB="25400" anchor="ctr">
                    <a:solidFill>
                      <a:srgbClr val="1B2A4A"/>
                    </a:solidFill>
                  </a:tcPr>
                </a:tc>
                <a:tc>
                  <a:txBody>
                    <a:bodyPr/>
                    <a:lstStyle/>
                    <a:p>
                      <a:pPr algn="ctr"/>
                      <a:r>
                        <a:rPr sz="1100" b="1">
                          <a:solidFill>
                            <a:srgbClr val="FFFFFF"/>
                          </a:solidFill>
                          <a:latin typeface="맑은 고딕"/>
                        </a:rPr>
                        <a:t>판정</a:t>
                      </a:r>
                    </a:p>
                  </a:txBody>
                  <a:tcPr marL="50800" marR="50800" marT="25400" marB="25400" anchor="ctr">
                    <a:solidFill>
                      <a:srgbClr val="1B2A4A"/>
                    </a:solidFill>
                  </a:tcPr>
                </a:tc>
                <a:extLst>
                  <a:ext uri="{0D108BD9-81ED-4DB2-BD59-A6C34878D82A}">
                    <a16:rowId xmlns:a16="http://schemas.microsoft.com/office/drawing/2014/main" val="10000"/>
                  </a:ext>
                </a:extLst>
              </a:tr>
              <a:tr h="377190">
                <a:tc>
                  <a:txBody>
                    <a:bodyPr/>
                    <a:lstStyle/>
                    <a:p>
                      <a:pPr algn="ctr"/>
                      <a:r>
                        <a:rPr sz="1100" b="0">
                          <a:solidFill>
                            <a:srgbClr val="3A3A3A"/>
                          </a:solidFill>
                          <a:latin typeface="맑은 고딕"/>
                        </a:rPr>
                        <a:t>VAT</a:t>
                      </a:r>
                    </a:p>
                  </a:txBody>
                  <a:tcPr marL="50800" marR="50800" marT="25400" marB="25400" anchor="ctr">
                    <a:solidFill>
                      <a:srgbClr val="FFFFFF"/>
                    </a:solidFill>
                  </a:tcPr>
                </a:tc>
                <a:tc>
                  <a:txBody>
                    <a:bodyPr/>
                    <a:lstStyle/>
                    <a:p>
                      <a:pPr algn="ctr"/>
                      <a:r>
                        <a:rPr sz="1100" b="0">
                          <a:solidFill>
                            <a:srgbClr val="3A3A3A"/>
                          </a:solidFill>
                          <a:latin typeface="맑은 고딕"/>
                        </a:rPr>
                        <a:t>shape_all</a:t>
                      </a:r>
                    </a:p>
                  </a:txBody>
                  <a:tcPr marL="50800" marR="50800" marT="25400" marB="25400" anchor="ctr">
                    <a:solidFill>
                      <a:srgbClr val="FFFFFF"/>
                    </a:solidFill>
                  </a:tcPr>
                </a:tc>
                <a:tc>
                  <a:txBody>
                    <a:bodyPr/>
                    <a:lstStyle/>
                    <a:p>
                      <a:pPr algn="ctr"/>
                      <a:r>
                        <a:rPr sz="1100" b="0">
                          <a:solidFill>
                            <a:srgbClr val="3A3A3A"/>
                          </a:solidFill>
                          <a:latin typeface="맑은 고딕"/>
                        </a:rPr>
                        <a:t>0.485</a:t>
                      </a:r>
                    </a:p>
                  </a:txBody>
                  <a:tcPr marL="50800" marR="50800" marT="25400" marB="25400" anchor="ctr">
                    <a:solidFill>
                      <a:srgbClr val="FFFFFF"/>
                    </a:solidFill>
                  </a:tcPr>
                </a:tc>
                <a:tc>
                  <a:txBody>
                    <a:bodyPr/>
                    <a:lstStyle/>
                    <a:p>
                      <a:pPr algn="ctr"/>
                      <a:r>
                        <a:rPr sz="1100" b="0">
                          <a:solidFill>
                            <a:srgbClr val="3A3A3A"/>
                          </a:solidFill>
                          <a:latin typeface="맑은 고딕"/>
                        </a:rPr>
                        <a:t>+0.067 [0.040, 0.098]</a:t>
                      </a:r>
                    </a:p>
                  </a:txBody>
                  <a:tcPr marL="50800" marR="50800" marT="25400" marB="25400" anchor="ctr">
                    <a:solidFill>
                      <a:srgbClr val="FFFFFF"/>
                    </a:solidFill>
                  </a:tcPr>
                </a:tc>
                <a:tc>
                  <a:txBody>
                    <a:bodyPr/>
                    <a:lstStyle/>
                    <a:p>
                      <a:pPr algn="ctr"/>
                      <a:r>
                        <a:rPr sz="1100" b="1">
                          <a:solidFill>
                            <a:srgbClr val="1E7A3C"/>
                          </a:solidFill>
                          <a:latin typeface="맑은 고딕"/>
                        </a:rPr>
                        <a:t>유의(개선)</a:t>
                      </a:r>
                    </a:p>
                  </a:txBody>
                  <a:tcPr marL="50800" marR="50800" marT="25400" marB="25400" anchor="ctr">
                    <a:solidFill>
                      <a:srgbClr val="FFFFFF"/>
                    </a:solidFill>
                  </a:tcPr>
                </a:tc>
                <a:extLst>
                  <a:ext uri="{0D108BD9-81ED-4DB2-BD59-A6C34878D82A}">
                    <a16:rowId xmlns:a16="http://schemas.microsoft.com/office/drawing/2014/main" val="10001"/>
                  </a:ext>
                </a:extLst>
              </a:tr>
              <a:tr h="377190">
                <a:tc>
                  <a:txBody>
                    <a:bodyPr/>
                    <a:lstStyle/>
                    <a:p>
                      <a:pPr algn="ctr"/>
                      <a:r>
                        <a:rPr sz="1100" b="0">
                          <a:solidFill>
                            <a:srgbClr val="3A3A3A"/>
                          </a:solidFill>
                          <a:latin typeface="맑은 고딕"/>
                        </a:rPr>
                        <a:t>Total Fat</a:t>
                      </a:r>
                    </a:p>
                  </a:txBody>
                  <a:tcPr marL="50800" marR="50800" marT="25400" marB="25400" anchor="ctr">
                    <a:solidFill>
                      <a:srgbClr val="EFF1F4"/>
                    </a:solidFill>
                  </a:tcPr>
                </a:tc>
                <a:tc>
                  <a:txBody>
                    <a:bodyPr/>
                    <a:lstStyle/>
                    <a:p>
                      <a:pPr algn="ctr"/>
                      <a:r>
                        <a:rPr sz="1100" b="0">
                          <a:solidFill>
                            <a:srgbClr val="3A3A3A"/>
                          </a:solidFill>
                          <a:latin typeface="맑은 고딕"/>
                        </a:rPr>
                        <a:t>shape_all</a:t>
                      </a:r>
                    </a:p>
                  </a:txBody>
                  <a:tcPr marL="50800" marR="50800" marT="25400" marB="25400" anchor="ctr">
                    <a:solidFill>
                      <a:srgbClr val="EFF1F4"/>
                    </a:solidFill>
                  </a:tcPr>
                </a:tc>
                <a:tc>
                  <a:txBody>
                    <a:bodyPr/>
                    <a:lstStyle/>
                    <a:p>
                      <a:pPr algn="ctr"/>
                      <a:r>
                        <a:rPr sz="1100" b="0">
                          <a:solidFill>
                            <a:srgbClr val="3A3A3A"/>
                          </a:solidFill>
                          <a:latin typeface="맑은 고딕"/>
                        </a:rPr>
                        <a:t>0.520</a:t>
                      </a:r>
                    </a:p>
                  </a:txBody>
                  <a:tcPr marL="50800" marR="50800" marT="25400" marB="25400" anchor="ctr">
                    <a:solidFill>
                      <a:srgbClr val="EFF1F4"/>
                    </a:solidFill>
                  </a:tcPr>
                </a:tc>
                <a:tc>
                  <a:txBody>
                    <a:bodyPr/>
                    <a:lstStyle/>
                    <a:p>
                      <a:pPr algn="ctr"/>
                      <a:r>
                        <a:rPr sz="1100" b="0">
                          <a:solidFill>
                            <a:srgbClr val="3A3A3A"/>
                          </a:solidFill>
                          <a:latin typeface="맑은 고딕"/>
                        </a:rPr>
                        <a:t>+0.028 [0.008, 0.049]</a:t>
                      </a:r>
                    </a:p>
                  </a:txBody>
                  <a:tcPr marL="50800" marR="50800" marT="25400" marB="25400" anchor="ctr">
                    <a:solidFill>
                      <a:srgbClr val="EFF1F4"/>
                    </a:solidFill>
                  </a:tcPr>
                </a:tc>
                <a:tc>
                  <a:txBody>
                    <a:bodyPr/>
                    <a:lstStyle/>
                    <a:p>
                      <a:pPr algn="ctr"/>
                      <a:r>
                        <a:rPr sz="1100" b="1">
                          <a:solidFill>
                            <a:srgbClr val="1E7A3C"/>
                          </a:solidFill>
                          <a:latin typeface="맑은 고딕"/>
                        </a:rPr>
                        <a:t>유의(개선)</a:t>
                      </a:r>
                    </a:p>
                  </a:txBody>
                  <a:tcPr marL="50800" marR="50800" marT="25400" marB="25400" anchor="ctr">
                    <a:solidFill>
                      <a:srgbClr val="EFF1F4"/>
                    </a:solidFill>
                  </a:tcPr>
                </a:tc>
                <a:extLst>
                  <a:ext uri="{0D108BD9-81ED-4DB2-BD59-A6C34878D82A}">
                    <a16:rowId xmlns:a16="http://schemas.microsoft.com/office/drawing/2014/main" val="10002"/>
                  </a:ext>
                </a:extLst>
              </a:tr>
              <a:tr h="377190">
                <a:tc>
                  <a:txBody>
                    <a:bodyPr/>
                    <a:lstStyle/>
                    <a:p>
                      <a:pPr algn="ctr"/>
                      <a:r>
                        <a:rPr sz="1100" b="0">
                          <a:solidFill>
                            <a:srgbClr val="3A3A3A"/>
                          </a:solidFill>
                          <a:latin typeface="맑은 고딕"/>
                        </a:rPr>
                        <a:t>LAMA</a:t>
                      </a:r>
                    </a:p>
                  </a:txBody>
                  <a:tcPr marL="50800" marR="50800" marT="25400" marB="25400" anchor="ctr">
                    <a:solidFill>
                      <a:srgbClr val="FFFFFF"/>
                    </a:solidFill>
                  </a:tcPr>
                </a:tc>
                <a:tc>
                  <a:txBody>
                    <a:bodyPr/>
                    <a:lstStyle/>
                    <a:p>
                      <a:pPr algn="ctr"/>
                      <a:r>
                        <a:rPr sz="1100" b="0">
                          <a:solidFill>
                            <a:srgbClr val="3A3A3A"/>
                          </a:solidFill>
                          <a:latin typeface="맑은 고딕"/>
                        </a:rPr>
                        <a:t>uplow_ratio</a:t>
                      </a:r>
                    </a:p>
                  </a:txBody>
                  <a:tcPr marL="50800" marR="50800" marT="25400" marB="25400" anchor="ctr">
                    <a:solidFill>
                      <a:srgbClr val="FFFFFF"/>
                    </a:solidFill>
                  </a:tcPr>
                </a:tc>
                <a:tc>
                  <a:txBody>
                    <a:bodyPr/>
                    <a:lstStyle/>
                    <a:p>
                      <a:pPr algn="ctr"/>
                      <a:r>
                        <a:rPr sz="1100" b="0">
                          <a:solidFill>
                            <a:srgbClr val="3A3A3A"/>
                          </a:solidFill>
                          <a:latin typeface="맑은 고딕"/>
                        </a:rPr>
                        <a:t>0.026</a:t>
                      </a:r>
                    </a:p>
                  </a:txBody>
                  <a:tcPr marL="50800" marR="50800" marT="25400" marB="25400" anchor="ctr">
                    <a:solidFill>
                      <a:srgbClr val="FFFFFF"/>
                    </a:solidFill>
                  </a:tcPr>
                </a:tc>
                <a:tc>
                  <a:txBody>
                    <a:bodyPr/>
                    <a:lstStyle/>
                    <a:p>
                      <a:pPr algn="ctr"/>
                      <a:r>
                        <a:rPr sz="1100" b="0">
                          <a:solidFill>
                            <a:srgbClr val="3A3A3A"/>
                          </a:solidFill>
                          <a:latin typeface="맑은 고딕"/>
                        </a:rPr>
                        <a:t>+0.062 [0.039, 0.086]</a:t>
                      </a:r>
                    </a:p>
                  </a:txBody>
                  <a:tcPr marL="50800" marR="50800" marT="25400" marB="25400" anchor="ctr">
                    <a:solidFill>
                      <a:srgbClr val="FFFFFF"/>
                    </a:solidFill>
                  </a:tcPr>
                </a:tc>
                <a:tc>
                  <a:txBody>
                    <a:bodyPr/>
                    <a:lstStyle/>
                    <a:p>
                      <a:pPr algn="ctr"/>
                      <a:r>
                        <a:rPr sz="1100" b="1">
                          <a:solidFill>
                            <a:srgbClr val="1E7A3C"/>
                          </a:solidFill>
                          <a:latin typeface="맑은 고딕"/>
                        </a:rPr>
                        <a:t>유의(개선)*</a:t>
                      </a:r>
                    </a:p>
                  </a:txBody>
                  <a:tcPr marL="50800" marR="50800" marT="25400" marB="25400" anchor="ctr">
                    <a:solidFill>
                      <a:srgbClr val="FFFFFF"/>
                    </a:solidFill>
                  </a:tcPr>
                </a:tc>
                <a:extLst>
                  <a:ext uri="{0D108BD9-81ED-4DB2-BD59-A6C34878D82A}">
                    <a16:rowId xmlns:a16="http://schemas.microsoft.com/office/drawing/2014/main" val="10003"/>
                  </a:ext>
                </a:extLst>
              </a:tr>
              <a:tr h="377190">
                <a:tc>
                  <a:txBody>
                    <a:bodyPr/>
                    <a:lstStyle/>
                    <a:p>
                      <a:pPr algn="ctr"/>
                      <a:r>
                        <a:rPr sz="1100" b="0">
                          <a:solidFill>
                            <a:srgbClr val="3A3A3A"/>
                          </a:solidFill>
                          <a:latin typeface="맑은 고딕"/>
                        </a:rPr>
                        <a:t>SAT</a:t>
                      </a:r>
                    </a:p>
                  </a:txBody>
                  <a:tcPr marL="50800" marR="50800" marT="25400" marB="25400" anchor="ctr">
                    <a:solidFill>
                      <a:srgbClr val="EFF1F4"/>
                    </a:solidFill>
                  </a:tcPr>
                </a:tc>
                <a:tc>
                  <a:txBody>
                    <a:bodyPr/>
                    <a:lstStyle/>
                    <a:p>
                      <a:pPr algn="ctr"/>
                      <a:r>
                        <a:rPr sz="1100" b="0">
                          <a:solidFill>
                            <a:srgbClr val="3A3A3A"/>
                          </a:solidFill>
                          <a:latin typeface="맑은 고딕"/>
                        </a:rPr>
                        <a:t>shape_all</a:t>
                      </a:r>
                    </a:p>
                  </a:txBody>
                  <a:tcPr marL="50800" marR="50800" marT="25400" marB="25400" anchor="ctr">
                    <a:solidFill>
                      <a:srgbClr val="EFF1F4"/>
                    </a:solidFill>
                  </a:tcPr>
                </a:tc>
                <a:tc>
                  <a:txBody>
                    <a:bodyPr/>
                    <a:lstStyle/>
                    <a:p>
                      <a:pPr algn="ctr"/>
                      <a:r>
                        <a:rPr sz="1100" b="0">
                          <a:solidFill>
                            <a:srgbClr val="3A3A3A"/>
                          </a:solidFill>
                          <a:latin typeface="맑은 고딕"/>
                        </a:rPr>
                        <a:t>0.569</a:t>
                      </a:r>
                    </a:p>
                  </a:txBody>
                  <a:tcPr marL="50800" marR="50800" marT="25400" marB="25400" anchor="ctr">
                    <a:solidFill>
                      <a:srgbClr val="EFF1F4"/>
                    </a:solidFill>
                  </a:tcPr>
                </a:tc>
                <a:tc>
                  <a:txBody>
                    <a:bodyPr/>
                    <a:lstStyle/>
                    <a:p>
                      <a:pPr algn="ctr"/>
                      <a:r>
                        <a:rPr sz="1100" b="0">
                          <a:solidFill>
                            <a:srgbClr val="3A3A3A"/>
                          </a:solidFill>
                          <a:latin typeface="맑은 고딕"/>
                        </a:rPr>
                        <a:t>+0.005 [-0.005, 0.014]</a:t>
                      </a:r>
                    </a:p>
                  </a:txBody>
                  <a:tcPr marL="50800" marR="50800" marT="25400" marB="25400" anchor="ctr">
                    <a:solidFill>
                      <a:srgbClr val="EFF1F4"/>
                    </a:solidFill>
                  </a:tcPr>
                </a:tc>
                <a:tc>
                  <a:txBody>
                    <a:bodyPr/>
                    <a:lstStyle/>
                    <a:p>
                      <a:pPr algn="ctr"/>
                      <a:r>
                        <a:rPr sz="1100" b="1">
                          <a:solidFill>
                            <a:srgbClr val="8A8A8A"/>
                          </a:solidFill>
                          <a:latin typeface="맑은 고딕"/>
                        </a:rPr>
                        <a:t>n.s.</a:t>
                      </a:r>
                    </a:p>
                  </a:txBody>
                  <a:tcPr marL="50800" marR="50800" marT="25400" marB="25400" anchor="ctr">
                    <a:solidFill>
                      <a:srgbClr val="EFF1F4"/>
                    </a:solidFill>
                  </a:tcPr>
                </a:tc>
                <a:extLst>
                  <a:ext uri="{0D108BD9-81ED-4DB2-BD59-A6C34878D82A}">
                    <a16:rowId xmlns:a16="http://schemas.microsoft.com/office/drawing/2014/main" val="10004"/>
                  </a:ext>
                </a:extLst>
              </a:tr>
              <a:tr h="377190">
                <a:tc>
                  <a:txBody>
                    <a:bodyPr/>
                    <a:lstStyle/>
                    <a:p>
                      <a:pPr algn="ctr"/>
                      <a:r>
                        <a:rPr sz="1100" b="0">
                          <a:solidFill>
                            <a:srgbClr val="3A3A3A"/>
                          </a:solidFill>
                          <a:latin typeface="맑은 고딕"/>
                        </a:rPr>
                        <a:t>IMATA</a:t>
                      </a:r>
                    </a:p>
                  </a:txBody>
                  <a:tcPr marL="50800" marR="50800" marT="25400" marB="25400" anchor="ctr">
                    <a:solidFill>
                      <a:srgbClr val="FFFFFF"/>
                    </a:solidFill>
                  </a:tcPr>
                </a:tc>
                <a:tc>
                  <a:txBody>
                    <a:bodyPr/>
                    <a:lstStyle/>
                    <a:p>
                      <a:pPr algn="ctr"/>
                      <a:r>
                        <a:rPr sz="1100" b="0">
                          <a:solidFill>
                            <a:srgbClr val="3A3A3A"/>
                          </a:solidFill>
                          <a:latin typeface="맑은 고딕"/>
                        </a:rPr>
                        <a:t>shape_all</a:t>
                      </a:r>
                    </a:p>
                  </a:txBody>
                  <a:tcPr marL="50800" marR="50800" marT="25400" marB="25400" anchor="ctr">
                    <a:solidFill>
                      <a:srgbClr val="FFFFFF"/>
                    </a:solidFill>
                  </a:tcPr>
                </a:tc>
                <a:tc>
                  <a:txBody>
                    <a:bodyPr/>
                    <a:lstStyle/>
                    <a:p>
                      <a:pPr algn="ctr"/>
                      <a:r>
                        <a:rPr sz="1100" b="0">
                          <a:solidFill>
                            <a:srgbClr val="3A3A3A"/>
                          </a:solidFill>
                          <a:latin typeface="맑은 고딕"/>
                        </a:rPr>
                        <a:t>0.277</a:t>
                      </a:r>
                    </a:p>
                  </a:txBody>
                  <a:tcPr marL="50800" marR="50800" marT="25400" marB="25400" anchor="ctr">
                    <a:solidFill>
                      <a:srgbClr val="FFFFFF"/>
                    </a:solidFill>
                  </a:tcPr>
                </a:tc>
                <a:tc>
                  <a:txBody>
                    <a:bodyPr/>
                    <a:lstStyle/>
                    <a:p>
                      <a:pPr algn="ctr"/>
                      <a:r>
                        <a:rPr sz="1100" b="0">
                          <a:solidFill>
                            <a:srgbClr val="3A3A3A"/>
                          </a:solidFill>
                          <a:latin typeface="맑은 고딕"/>
                        </a:rPr>
                        <a:t>-0.006 [-0.026, 0.015]</a:t>
                      </a:r>
                    </a:p>
                  </a:txBody>
                  <a:tcPr marL="50800" marR="50800" marT="25400" marB="25400" anchor="ctr">
                    <a:solidFill>
                      <a:srgbClr val="FFFFFF"/>
                    </a:solidFill>
                  </a:tcPr>
                </a:tc>
                <a:tc>
                  <a:txBody>
                    <a:bodyPr/>
                    <a:lstStyle/>
                    <a:p>
                      <a:pPr algn="ctr"/>
                      <a:r>
                        <a:rPr sz="1100" b="1">
                          <a:solidFill>
                            <a:srgbClr val="8A8A8A"/>
                          </a:solidFill>
                          <a:latin typeface="맑은 고딕"/>
                        </a:rPr>
                        <a:t>n.s.</a:t>
                      </a:r>
                    </a:p>
                  </a:txBody>
                  <a:tcPr marL="50800" marR="50800" marT="25400" marB="25400" anchor="ctr">
                    <a:solidFill>
                      <a:srgbClr val="FFFFFF"/>
                    </a:solidFill>
                  </a:tcPr>
                </a:tc>
                <a:extLst>
                  <a:ext uri="{0D108BD9-81ED-4DB2-BD59-A6C34878D82A}">
                    <a16:rowId xmlns:a16="http://schemas.microsoft.com/office/drawing/2014/main" val="10005"/>
                  </a:ext>
                </a:extLst>
              </a:tr>
              <a:tr h="377190">
                <a:tc>
                  <a:txBody>
                    <a:bodyPr/>
                    <a:lstStyle/>
                    <a:p>
                      <a:pPr algn="ctr"/>
                      <a:r>
                        <a:rPr sz="1100" b="0">
                          <a:solidFill>
                            <a:srgbClr val="3A3A3A"/>
                          </a:solidFill>
                          <a:latin typeface="맑은 고딕"/>
                        </a:rPr>
                        <a:t>NAMA</a:t>
                      </a:r>
                    </a:p>
                  </a:txBody>
                  <a:tcPr marL="50800" marR="50800" marT="25400" marB="25400" anchor="ctr">
                    <a:solidFill>
                      <a:srgbClr val="EFF1F4"/>
                    </a:solidFill>
                  </a:tcPr>
                </a:tc>
                <a:tc>
                  <a:txBody>
                    <a:bodyPr/>
                    <a:lstStyle/>
                    <a:p>
                      <a:pPr algn="ctr"/>
                      <a:r>
                        <a:rPr sz="1100" b="0">
                          <a:solidFill>
                            <a:srgbClr val="3A3A3A"/>
                          </a:solidFill>
                          <a:latin typeface="맑은 고딕"/>
                        </a:rPr>
                        <a:t>shape_all</a:t>
                      </a:r>
                    </a:p>
                  </a:txBody>
                  <a:tcPr marL="50800" marR="50800" marT="25400" marB="25400" anchor="ctr">
                    <a:solidFill>
                      <a:srgbClr val="EFF1F4"/>
                    </a:solidFill>
                  </a:tcPr>
                </a:tc>
                <a:tc>
                  <a:txBody>
                    <a:bodyPr/>
                    <a:lstStyle/>
                    <a:p>
                      <a:pPr algn="ctr"/>
                      <a:r>
                        <a:rPr sz="1100" b="0">
                          <a:solidFill>
                            <a:srgbClr val="3A3A3A"/>
                          </a:solidFill>
                          <a:latin typeface="맑은 고딕"/>
                        </a:rPr>
                        <a:t>0.451</a:t>
                      </a:r>
                    </a:p>
                  </a:txBody>
                  <a:tcPr marL="50800" marR="50800" marT="25400" marB="25400" anchor="ctr">
                    <a:solidFill>
                      <a:srgbClr val="EFF1F4"/>
                    </a:solidFill>
                  </a:tcPr>
                </a:tc>
                <a:tc>
                  <a:txBody>
                    <a:bodyPr/>
                    <a:lstStyle/>
                    <a:p>
                      <a:pPr algn="ctr"/>
                      <a:r>
                        <a:rPr sz="1100" b="0">
                          <a:solidFill>
                            <a:srgbClr val="3A3A3A"/>
                          </a:solidFill>
                          <a:latin typeface="맑은 고딕"/>
                        </a:rPr>
                        <a:t>-0.117 [-0.141, -0.094]</a:t>
                      </a:r>
                    </a:p>
                  </a:txBody>
                  <a:tcPr marL="50800" marR="50800" marT="25400" marB="25400" anchor="ctr">
                    <a:solidFill>
                      <a:srgbClr val="EFF1F4"/>
                    </a:solidFill>
                  </a:tcPr>
                </a:tc>
                <a:tc>
                  <a:txBody>
                    <a:bodyPr/>
                    <a:lstStyle/>
                    <a:p>
                      <a:pPr algn="ctr"/>
                      <a:r>
                        <a:rPr sz="1100" b="1">
                          <a:solidFill>
                            <a:srgbClr val="B32A2A"/>
                          </a:solidFill>
                          <a:latin typeface="맑은 고딕"/>
                        </a:rPr>
                        <a:t>유의(악화)</a:t>
                      </a:r>
                    </a:p>
                  </a:txBody>
                  <a:tcPr marL="50800" marR="50800" marT="25400" marB="25400" anchor="ctr">
                    <a:solidFill>
                      <a:srgbClr val="EFF1F4"/>
                    </a:solidFill>
                  </a:tcPr>
                </a:tc>
                <a:extLst>
                  <a:ext uri="{0D108BD9-81ED-4DB2-BD59-A6C34878D82A}">
                    <a16:rowId xmlns:a16="http://schemas.microsoft.com/office/drawing/2014/main" val="10006"/>
                  </a:ext>
                </a:extLst>
              </a:tr>
              <a:tr h="377190">
                <a:tc>
                  <a:txBody>
                    <a:bodyPr/>
                    <a:lstStyle/>
                    <a:p>
                      <a:pPr algn="ctr"/>
                      <a:r>
                        <a:rPr sz="1100" b="0">
                          <a:solidFill>
                            <a:srgbClr val="3A3A3A"/>
                          </a:solidFill>
                          <a:latin typeface="맑은 고딕"/>
                        </a:rPr>
                        <a:t>TAMA</a:t>
                      </a:r>
                    </a:p>
                  </a:txBody>
                  <a:tcPr marL="50800" marR="50800" marT="25400" marB="25400" anchor="ctr">
                    <a:solidFill>
                      <a:srgbClr val="FFFFFF"/>
                    </a:solidFill>
                  </a:tcPr>
                </a:tc>
                <a:tc>
                  <a:txBody>
                    <a:bodyPr/>
                    <a:lstStyle/>
                    <a:p>
                      <a:pPr algn="ctr"/>
                      <a:r>
                        <a:rPr sz="1100" b="0">
                          <a:solidFill>
                            <a:srgbClr val="3A3A3A"/>
                          </a:solidFill>
                          <a:latin typeface="맑은 고딕"/>
                        </a:rPr>
                        <a:t>shape_all</a:t>
                      </a:r>
                    </a:p>
                  </a:txBody>
                  <a:tcPr marL="50800" marR="50800" marT="25400" marB="25400" anchor="ctr">
                    <a:solidFill>
                      <a:srgbClr val="FFFFFF"/>
                    </a:solidFill>
                  </a:tcPr>
                </a:tc>
                <a:tc>
                  <a:txBody>
                    <a:bodyPr/>
                    <a:lstStyle/>
                    <a:p>
                      <a:pPr algn="ctr"/>
                      <a:r>
                        <a:rPr sz="1100" b="0">
                          <a:solidFill>
                            <a:srgbClr val="3A3A3A"/>
                          </a:solidFill>
                          <a:latin typeface="맑은 고딕"/>
                        </a:rPr>
                        <a:t>0.672</a:t>
                      </a:r>
                    </a:p>
                  </a:txBody>
                  <a:tcPr marL="50800" marR="50800" marT="25400" marB="25400" anchor="ctr">
                    <a:solidFill>
                      <a:srgbClr val="FFFFFF"/>
                    </a:solidFill>
                  </a:tcPr>
                </a:tc>
                <a:tc>
                  <a:txBody>
                    <a:bodyPr/>
                    <a:lstStyle/>
                    <a:p>
                      <a:pPr algn="ctr"/>
                      <a:r>
                        <a:rPr sz="1100" b="0">
                          <a:solidFill>
                            <a:srgbClr val="3A3A3A"/>
                          </a:solidFill>
                          <a:latin typeface="맑은 고딕"/>
                        </a:rPr>
                        <a:t>-0.039 [-0.050, -0.029]</a:t>
                      </a:r>
                    </a:p>
                  </a:txBody>
                  <a:tcPr marL="50800" marR="50800" marT="25400" marB="25400" anchor="ctr">
                    <a:solidFill>
                      <a:srgbClr val="FFFFFF"/>
                    </a:solidFill>
                  </a:tcPr>
                </a:tc>
                <a:tc>
                  <a:txBody>
                    <a:bodyPr/>
                    <a:lstStyle/>
                    <a:p>
                      <a:pPr algn="ctr"/>
                      <a:r>
                        <a:rPr sz="1100" b="1">
                          <a:solidFill>
                            <a:srgbClr val="B32A2A"/>
                          </a:solidFill>
                          <a:latin typeface="맑은 고딕"/>
                        </a:rPr>
                        <a:t>유의(악화)</a:t>
                      </a:r>
                    </a:p>
                  </a:txBody>
                  <a:tcPr marL="50800" marR="50800" marT="25400" marB="25400"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STEP 4  ·  CUTOFF 기반 이진분류</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AEC 8구간평균 추가 — 이진분류 성능</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VAT·SAT·TotalFat·IMATA·LAMA 5종은 external까지 유의하게 개선(DeLong p&lt;0.05), TAMA는 external에서 오히려 유의 악화, NAMA는 무변화</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성별 mean±1SD cutoff(LAMA는 지방침윤 성분이라 지방계열과 같은 high 방향 적용), AEC 128슬라이스를 8구간평균으로 압축해 추가, Youden threshold internal 고정 → external 적용, paired DeLong test</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11</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1" name="Table 10"/>
          <p:cNvGraphicFramePr>
            <a:graphicFrameLocks noGrp="1"/>
          </p:cNvGraphicFramePr>
          <p:nvPr/>
        </p:nvGraphicFramePr>
        <p:xfrm>
          <a:off x="914400" y="2414016"/>
          <a:ext cx="9766958" cy="329184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1150000">
                  <a:extLst>
                    <a:ext uri="{9D8B030D-6E8A-4147-A177-3AD203B41FA5}">
                      <a16:colId xmlns:a16="http://schemas.microsoft.com/office/drawing/2014/main" val="20001"/>
                    </a:ext>
                  </a:extLst>
                </a:gridCol>
                <a:gridCol w="115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gridCol w="1150000">
                  <a:extLst>
                    <a:ext uri="{9D8B030D-6E8A-4147-A177-3AD203B41FA5}">
                      <a16:colId xmlns:a16="http://schemas.microsoft.com/office/drawing/2014/main" val="20004"/>
                    </a:ext>
                  </a:extLst>
                </a:gridCol>
                <a:gridCol w="1150000">
                  <a:extLst>
                    <a:ext uri="{9D8B030D-6E8A-4147-A177-3AD203B41FA5}">
                      <a16:colId xmlns:a16="http://schemas.microsoft.com/office/drawing/2014/main" val="20005"/>
                    </a:ext>
                  </a:extLst>
                </a:gridCol>
                <a:gridCol w="1000000">
                  <a:extLst>
                    <a:ext uri="{9D8B030D-6E8A-4147-A177-3AD203B41FA5}">
                      <a16:colId xmlns:a16="http://schemas.microsoft.com/office/drawing/2014/main" val="20006"/>
                    </a:ext>
                  </a:extLst>
                </a:gridCol>
                <a:gridCol w="1866958">
                  <a:extLst>
                    <a:ext uri="{9D8B030D-6E8A-4147-A177-3AD203B41FA5}">
                      <a16:colId xmlns:a16="http://schemas.microsoft.com/office/drawing/2014/main" val="20007"/>
                    </a:ext>
                  </a:extLst>
                </a:gridCol>
              </a:tblGrid>
              <a:tr h="411480">
                <a:tc>
                  <a:txBody>
                    <a:bodyPr/>
                    <a:lstStyle/>
                    <a:p>
                      <a:pPr algn="ctr"/>
                      <a:r>
                        <a:rPr sz="1000" b="1">
                          <a:solidFill>
                            <a:srgbClr val="FFFFFF"/>
                          </a:solidFill>
                          <a:latin typeface="맑은 고딕"/>
                        </a:rPr>
                        <a:t>Feature</a:t>
                      </a:r>
                    </a:p>
                  </a:txBody>
                  <a:tcPr>
                    <a:solidFill>
                      <a:srgbClr val="1B2A4A"/>
                    </a:solidFill>
                  </a:tcPr>
                </a:tc>
                <a:tc>
                  <a:txBody>
                    <a:bodyPr/>
                    <a:lstStyle/>
                    <a:p>
                      <a:pPr algn="ctr"/>
                      <a:r>
                        <a:rPr sz="1000" b="1">
                          <a:solidFill>
                            <a:srgbClr val="FFFFFF"/>
                          </a:solidFill>
                          <a:latin typeface="맑은 고딕"/>
                        </a:rPr>
                        <a:t>AUC clinic4 (Int)</a:t>
                      </a:r>
                    </a:p>
                  </a:txBody>
                  <a:tcPr>
                    <a:solidFill>
                      <a:srgbClr val="1B2A4A"/>
                    </a:solidFill>
                  </a:tcPr>
                </a:tc>
                <a:tc>
                  <a:txBody>
                    <a:bodyPr/>
                    <a:lstStyle/>
                    <a:p>
                      <a:pPr algn="ctr"/>
                      <a:r>
                        <a:rPr sz="1000" b="1">
                          <a:solidFill>
                            <a:srgbClr val="FFFFFF"/>
                          </a:solidFill>
                          <a:latin typeface="맑은 고딕"/>
                        </a:rPr>
                        <a:t>AUC +AEC (Int)</a:t>
                      </a:r>
                    </a:p>
                  </a:txBody>
                  <a:tcPr>
                    <a:solidFill>
                      <a:srgbClr val="1B2A4A"/>
                    </a:solidFill>
                  </a:tcPr>
                </a:tc>
                <a:tc>
                  <a:txBody>
                    <a:bodyPr/>
                    <a:lstStyle/>
                    <a:p>
                      <a:pPr algn="ctr"/>
                      <a:r>
                        <a:rPr sz="1000" b="1">
                          <a:solidFill>
                            <a:srgbClr val="FFFFFF"/>
                          </a:solidFill>
                          <a:latin typeface="맑은 고딕"/>
                        </a:rPr>
                        <a:t>DeLong p (Int)</a:t>
                      </a:r>
                    </a:p>
                  </a:txBody>
                  <a:tcPr>
                    <a:solidFill>
                      <a:srgbClr val="1B2A4A"/>
                    </a:solidFill>
                  </a:tcPr>
                </a:tc>
                <a:tc>
                  <a:txBody>
                    <a:bodyPr/>
                    <a:lstStyle/>
                    <a:p>
                      <a:pPr algn="ctr"/>
                      <a:r>
                        <a:rPr sz="1000" b="1">
                          <a:solidFill>
                            <a:srgbClr val="FFFFFF"/>
                          </a:solidFill>
                          <a:latin typeface="맑은 고딕"/>
                        </a:rPr>
                        <a:t>AUC clinic4 (Ext)</a:t>
                      </a:r>
                    </a:p>
                  </a:txBody>
                  <a:tcPr>
                    <a:solidFill>
                      <a:srgbClr val="1B2A4A"/>
                    </a:solidFill>
                  </a:tcPr>
                </a:tc>
                <a:tc>
                  <a:txBody>
                    <a:bodyPr/>
                    <a:lstStyle/>
                    <a:p>
                      <a:pPr algn="ctr"/>
                      <a:r>
                        <a:rPr sz="1000" b="1">
                          <a:solidFill>
                            <a:srgbClr val="FFFFFF"/>
                          </a:solidFill>
                          <a:latin typeface="맑은 고딕"/>
                        </a:rPr>
                        <a:t>AUC +AEC (Ext)</a:t>
                      </a:r>
                    </a:p>
                  </a:txBody>
                  <a:tcPr>
                    <a:solidFill>
                      <a:srgbClr val="1B2A4A"/>
                    </a:solidFill>
                  </a:tcPr>
                </a:tc>
                <a:tc>
                  <a:txBody>
                    <a:bodyPr/>
                    <a:lstStyle/>
                    <a:p>
                      <a:pPr algn="ctr"/>
                      <a:r>
                        <a:rPr sz="1000" b="1">
                          <a:solidFill>
                            <a:srgbClr val="FFFFFF"/>
                          </a:solidFill>
                          <a:latin typeface="맑은 고딕"/>
                        </a:rPr>
                        <a:t>DeLong p (Ext)</a:t>
                      </a:r>
                    </a:p>
                  </a:txBody>
                  <a:tcPr>
                    <a:solidFill>
                      <a:srgbClr val="1B2A4A"/>
                    </a:solidFill>
                  </a:tcPr>
                </a:tc>
                <a:tc>
                  <a:txBody>
                    <a:bodyPr/>
                    <a:lstStyle/>
                    <a:p>
                      <a:pPr algn="ctr"/>
                      <a:r>
                        <a:rPr sz="1000" b="1">
                          <a:solidFill>
                            <a:srgbClr val="FFFFFF"/>
                          </a:solidFill>
                          <a:latin typeface="맑은 고딕"/>
                        </a:rPr>
                        <a:t>결론</a:t>
                      </a:r>
                    </a:p>
                  </a:txBody>
                  <a:tcPr>
                    <a:solidFill>
                      <a:srgbClr val="1B2A4A"/>
                    </a:solidFill>
                  </a:tcPr>
                </a:tc>
                <a:extLst>
                  <a:ext uri="{0D108BD9-81ED-4DB2-BD59-A6C34878D82A}">
                    <a16:rowId xmlns:a16="http://schemas.microsoft.com/office/drawing/2014/main" val="10000"/>
                  </a:ext>
                </a:extLst>
              </a:tr>
              <a:tr h="411480">
                <a:tc>
                  <a:txBody>
                    <a:bodyPr/>
                    <a:lstStyle/>
                    <a:p>
                      <a:pPr algn="l"/>
                      <a:r>
                        <a:rPr sz="1000" b="1">
                          <a:solidFill>
                            <a:srgbClr val="1B2A4A"/>
                          </a:solidFill>
                          <a:latin typeface="맑은 고딕"/>
                        </a:rPr>
                        <a:t>TAMA</a:t>
                      </a:r>
                    </a:p>
                  </a:txBody>
                  <a:tcPr>
                    <a:solidFill>
                      <a:srgbClr val="FFFFFF"/>
                    </a:solidFill>
                  </a:tcPr>
                </a:tc>
                <a:tc>
                  <a:txBody>
                    <a:bodyPr/>
                    <a:lstStyle/>
                    <a:p>
                      <a:pPr algn="ctr"/>
                      <a:r>
                        <a:rPr sz="1000" b="0">
                          <a:solidFill>
                            <a:srgbClr val="3A3A3A"/>
                          </a:solidFill>
                          <a:latin typeface="맑은 고딕"/>
                        </a:rPr>
                        <a:t>0.870</a:t>
                      </a:r>
                    </a:p>
                  </a:txBody>
                  <a:tcPr>
                    <a:solidFill>
                      <a:srgbClr val="FFFFFF"/>
                    </a:solidFill>
                  </a:tcPr>
                </a:tc>
                <a:tc>
                  <a:txBody>
                    <a:bodyPr/>
                    <a:lstStyle/>
                    <a:p>
                      <a:pPr algn="ctr"/>
                      <a:r>
                        <a:rPr sz="1000" b="0">
                          <a:solidFill>
                            <a:srgbClr val="3A3A3A"/>
                          </a:solidFill>
                          <a:latin typeface="맑은 고딕"/>
                        </a:rPr>
                        <a:t>0.866</a:t>
                      </a:r>
                    </a:p>
                  </a:txBody>
                  <a:tcPr>
                    <a:solidFill>
                      <a:srgbClr val="FFFFFF"/>
                    </a:solidFill>
                  </a:tcPr>
                </a:tc>
                <a:tc>
                  <a:txBody>
                    <a:bodyPr/>
                    <a:lstStyle/>
                    <a:p>
                      <a:pPr algn="ctr"/>
                      <a:r>
                        <a:rPr sz="1000" b="0">
                          <a:solidFill>
                            <a:srgbClr val="3A3A3A"/>
                          </a:solidFill>
                          <a:latin typeface="맑은 고딕"/>
                        </a:rPr>
                        <a:t>0.512</a:t>
                      </a:r>
                    </a:p>
                  </a:txBody>
                  <a:tcPr>
                    <a:solidFill>
                      <a:srgbClr val="FFFFFF"/>
                    </a:solidFill>
                  </a:tcPr>
                </a:tc>
                <a:tc>
                  <a:txBody>
                    <a:bodyPr/>
                    <a:lstStyle/>
                    <a:p>
                      <a:pPr algn="ctr"/>
                      <a:r>
                        <a:rPr sz="1000" b="0">
                          <a:solidFill>
                            <a:srgbClr val="3A3A3A"/>
                          </a:solidFill>
                          <a:latin typeface="맑은 고딕"/>
                        </a:rPr>
                        <a:t>0.878</a:t>
                      </a:r>
                    </a:p>
                  </a:txBody>
                  <a:tcPr>
                    <a:solidFill>
                      <a:srgbClr val="FFFFFF"/>
                    </a:solidFill>
                  </a:tcPr>
                </a:tc>
                <a:tc>
                  <a:txBody>
                    <a:bodyPr/>
                    <a:lstStyle/>
                    <a:p>
                      <a:pPr algn="ctr"/>
                      <a:r>
                        <a:rPr sz="1000" b="0">
                          <a:solidFill>
                            <a:srgbClr val="3A3A3A"/>
                          </a:solidFill>
                          <a:latin typeface="맑은 고딕"/>
                        </a:rPr>
                        <a:t>0.855</a:t>
                      </a:r>
                    </a:p>
                  </a:txBody>
                  <a:tcPr>
                    <a:solidFill>
                      <a:srgbClr val="FFFFFF"/>
                    </a:solidFill>
                  </a:tcPr>
                </a:tc>
                <a:tc>
                  <a:txBody>
                    <a:bodyPr/>
                    <a:lstStyle/>
                    <a:p>
                      <a:pPr algn="ctr"/>
                      <a:r>
                        <a:rPr sz="1000" b="0">
                          <a:solidFill>
                            <a:srgbClr val="3A3A3A"/>
                          </a:solidFill>
                          <a:latin typeface="맑은 고딕"/>
                        </a:rPr>
                        <a:t>0.002</a:t>
                      </a:r>
                    </a:p>
                  </a:txBody>
                  <a:tcPr>
                    <a:solidFill>
                      <a:srgbClr val="FFFFFF"/>
                    </a:solidFill>
                  </a:tcPr>
                </a:tc>
                <a:tc>
                  <a:txBody>
                    <a:bodyPr/>
                    <a:lstStyle/>
                    <a:p>
                      <a:pPr algn="ctr"/>
                      <a:r>
                        <a:rPr sz="1000" b="0">
                          <a:solidFill>
                            <a:srgbClr val="3A3A3A"/>
                          </a:solidFill>
                          <a:latin typeface="맑은 고딕"/>
                        </a:rPr>
                        <a:t>AEC 악화 (ext)</a:t>
                      </a:r>
                    </a:p>
                  </a:txBody>
                  <a:tcPr>
                    <a:solidFill>
                      <a:srgbClr val="FFFFFF"/>
                    </a:solidFill>
                  </a:tcPr>
                </a:tc>
                <a:extLst>
                  <a:ext uri="{0D108BD9-81ED-4DB2-BD59-A6C34878D82A}">
                    <a16:rowId xmlns:a16="http://schemas.microsoft.com/office/drawing/2014/main" val="10001"/>
                  </a:ext>
                </a:extLst>
              </a:tr>
              <a:tr h="411480">
                <a:tc>
                  <a:txBody>
                    <a:bodyPr/>
                    <a:lstStyle/>
                    <a:p>
                      <a:pPr algn="l"/>
                      <a:r>
                        <a:rPr sz="1000" b="1">
                          <a:solidFill>
                            <a:srgbClr val="1B2A4A"/>
                          </a:solidFill>
                          <a:latin typeface="맑은 고딕"/>
                        </a:rPr>
                        <a:t>NAMA</a:t>
                      </a:r>
                    </a:p>
                  </a:txBody>
                  <a:tcPr>
                    <a:solidFill>
                      <a:srgbClr val="EFF1F4"/>
                    </a:solidFill>
                  </a:tcPr>
                </a:tc>
                <a:tc>
                  <a:txBody>
                    <a:bodyPr/>
                    <a:lstStyle/>
                    <a:p>
                      <a:pPr algn="ctr"/>
                      <a:r>
                        <a:rPr sz="1000" b="0">
                          <a:solidFill>
                            <a:srgbClr val="3A3A3A"/>
                          </a:solidFill>
                          <a:latin typeface="맑은 고딕"/>
                        </a:rPr>
                        <a:t>0.838</a:t>
                      </a:r>
                    </a:p>
                  </a:txBody>
                  <a:tcPr>
                    <a:solidFill>
                      <a:srgbClr val="EFF1F4"/>
                    </a:solidFill>
                  </a:tcPr>
                </a:tc>
                <a:tc>
                  <a:txBody>
                    <a:bodyPr/>
                    <a:lstStyle/>
                    <a:p>
                      <a:pPr algn="ctr"/>
                      <a:r>
                        <a:rPr sz="1000" b="0">
                          <a:solidFill>
                            <a:srgbClr val="3A3A3A"/>
                          </a:solidFill>
                          <a:latin typeface="맑은 고딕"/>
                        </a:rPr>
                        <a:t>0.838</a:t>
                      </a:r>
                    </a:p>
                  </a:txBody>
                  <a:tcPr>
                    <a:solidFill>
                      <a:srgbClr val="EFF1F4"/>
                    </a:solidFill>
                  </a:tcPr>
                </a:tc>
                <a:tc>
                  <a:txBody>
                    <a:bodyPr/>
                    <a:lstStyle/>
                    <a:p>
                      <a:pPr algn="ctr"/>
                      <a:r>
                        <a:rPr sz="1000" b="0">
                          <a:solidFill>
                            <a:srgbClr val="3A3A3A"/>
                          </a:solidFill>
                          <a:latin typeface="맑은 고딕"/>
                        </a:rPr>
                        <a:t>0.929</a:t>
                      </a:r>
                    </a:p>
                  </a:txBody>
                  <a:tcPr>
                    <a:solidFill>
                      <a:srgbClr val="EFF1F4"/>
                    </a:solidFill>
                  </a:tcPr>
                </a:tc>
                <a:tc>
                  <a:txBody>
                    <a:bodyPr/>
                    <a:lstStyle/>
                    <a:p>
                      <a:pPr algn="ctr"/>
                      <a:r>
                        <a:rPr sz="1000" b="0">
                          <a:solidFill>
                            <a:srgbClr val="3A3A3A"/>
                          </a:solidFill>
                          <a:latin typeface="맑은 고딕"/>
                        </a:rPr>
                        <a:t>0.768</a:t>
                      </a:r>
                    </a:p>
                  </a:txBody>
                  <a:tcPr>
                    <a:solidFill>
                      <a:srgbClr val="EFF1F4"/>
                    </a:solidFill>
                  </a:tcPr>
                </a:tc>
                <a:tc>
                  <a:txBody>
                    <a:bodyPr/>
                    <a:lstStyle/>
                    <a:p>
                      <a:pPr algn="ctr"/>
                      <a:r>
                        <a:rPr sz="1000" b="0">
                          <a:solidFill>
                            <a:srgbClr val="3A3A3A"/>
                          </a:solidFill>
                          <a:latin typeface="맑은 고딕"/>
                        </a:rPr>
                        <a:t>0.762</a:t>
                      </a:r>
                    </a:p>
                  </a:txBody>
                  <a:tcPr>
                    <a:solidFill>
                      <a:srgbClr val="EFF1F4"/>
                    </a:solidFill>
                  </a:tcPr>
                </a:tc>
                <a:tc>
                  <a:txBody>
                    <a:bodyPr/>
                    <a:lstStyle/>
                    <a:p>
                      <a:pPr algn="ctr"/>
                      <a:r>
                        <a:rPr sz="1000" b="0">
                          <a:solidFill>
                            <a:srgbClr val="3A3A3A"/>
                          </a:solidFill>
                          <a:latin typeface="맑은 고딕"/>
                        </a:rPr>
                        <a:t>0.310</a:t>
                      </a:r>
                    </a:p>
                  </a:txBody>
                  <a:tcPr>
                    <a:solidFill>
                      <a:srgbClr val="EFF1F4"/>
                    </a:solidFill>
                  </a:tcPr>
                </a:tc>
                <a:tc>
                  <a:txBody>
                    <a:bodyPr/>
                    <a:lstStyle/>
                    <a:p>
                      <a:pPr algn="ctr"/>
                      <a:r>
                        <a:rPr sz="1000" b="0">
                          <a:solidFill>
                            <a:srgbClr val="3A3A3A"/>
                          </a:solidFill>
                          <a:latin typeface="맑은 고딕"/>
                        </a:rPr>
                        <a:t>무변화</a:t>
                      </a:r>
                    </a:p>
                  </a:txBody>
                  <a:tcPr>
                    <a:solidFill>
                      <a:srgbClr val="EFF1F4"/>
                    </a:solidFill>
                  </a:tcPr>
                </a:tc>
                <a:extLst>
                  <a:ext uri="{0D108BD9-81ED-4DB2-BD59-A6C34878D82A}">
                    <a16:rowId xmlns:a16="http://schemas.microsoft.com/office/drawing/2014/main" val="10002"/>
                  </a:ext>
                </a:extLst>
              </a:tr>
              <a:tr h="411480">
                <a:tc>
                  <a:txBody>
                    <a:bodyPr/>
                    <a:lstStyle/>
                    <a:p>
                      <a:pPr algn="l"/>
                      <a:r>
                        <a:rPr sz="1000" b="1">
                          <a:solidFill>
                            <a:srgbClr val="1B2A4A"/>
                          </a:solidFill>
                          <a:latin typeface="맑은 고딕"/>
                        </a:rPr>
                        <a:t>LAMA</a:t>
                      </a:r>
                    </a:p>
                  </a:txBody>
                  <a:tcPr>
                    <a:solidFill>
                      <a:srgbClr val="FFFFFF"/>
                    </a:solidFill>
                  </a:tcPr>
                </a:tc>
                <a:tc>
                  <a:txBody>
                    <a:bodyPr/>
                    <a:lstStyle/>
                    <a:p>
                      <a:pPr algn="ctr"/>
                      <a:r>
                        <a:rPr sz="1000" b="0">
                          <a:solidFill>
                            <a:srgbClr val="3A3A3A"/>
                          </a:solidFill>
                          <a:latin typeface="맑은 고딕"/>
                        </a:rPr>
                        <a:t>0.816</a:t>
                      </a:r>
                    </a:p>
                  </a:txBody>
                  <a:tcPr>
                    <a:solidFill>
                      <a:srgbClr val="FFFFFF"/>
                    </a:solidFill>
                  </a:tcPr>
                </a:tc>
                <a:tc>
                  <a:txBody>
                    <a:bodyPr/>
                    <a:lstStyle/>
                    <a:p>
                      <a:pPr algn="ctr"/>
                      <a:r>
                        <a:rPr sz="1000" b="0">
                          <a:solidFill>
                            <a:srgbClr val="3A3A3A"/>
                          </a:solidFill>
                          <a:latin typeface="맑은 고딕"/>
                        </a:rPr>
                        <a:t>0.835</a:t>
                      </a:r>
                    </a:p>
                  </a:txBody>
                  <a:tcPr>
                    <a:solidFill>
                      <a:srgbClr val="FFFFFF"/>
                    </a:solidFill>
                  </a:tcPr>
                </a:tc>
                <a:tc>
                  <a:txBody>
                    <a:bodyPr/>
                    <a:lstStyle/>
                    <a:p>
                      <a:pPr algn="ctr"/>
                      <a:r>
                        <a:rPr sz="1000" b="0">
                          <a:solidFill>
                            <a:srgbClr val="3A3A3A"/>
                          </a:solidFill>
                          <a:latin typeface="맑은 고딕"/>
                        </a:rPr>
                        <a:t>0.102</a:t>
                      </a:r>
                    </a:p>
                  </a:txBody>
                  <a:tcPr>
                    <a:solidFill>
                      <a:srgbClr val="FFFFFF"/>
                    </a:solidFill>
                  </a:tcPr>
                </a:tc>
                <a:tc>
                  <a:txBody>
                    <a:bodyPr/>
                    <a:lstStyle/>
                    <a:p>
                      <a:pPr algn="ctr"/>
                      <a:r>
                        <a:rPr sz="1000" b="0">
                          <a:solidFill>
                            <a:srgbClr val="3A3A3A"/>
                          </a:solidFill>
                          <a:latin typeface="맑은 고딕"/>
                        </a:rPr>
                        <a:t>0.784</a:t>
                      </a:r>
                    </a:p>
                  </a:txBody>
                  <a:tcPr>
                    <a:solidFill>
                      <a:srgbClr val="FFFFFF"/>
                    </a:solidFill>
                  </a:tcPr>
                </a:tc>
                <a:tc>
                  <a:txBody>
                    <a:bodyPr/>
                    <a:lstStyle/>
                    <a:p>
                      <a:pPr algn="ctr"/>
                      <a:r>
                        <a:rPr sz="1000" b="0">
                          <a:solidFill>
                            <a:srgbClr val="3A3A3A"/>
                          </a:solidFill>
                          <a:latin typeface="맑은 고딕"/>
                        </a:rPr>
                        <a:t>0.812</a:t>
                      </a:r>
                    </a:p>
                  </a:txBody>
                  <a:tcPr>
                    <a:solidFill>
                      <a:srgbClr val="FFFFFF"/>
                    </a:solidFill>
                  </a:tcPr>
                </a:tc>
                <a:tc>
                  <a:txBody>
                    <a:bodyPr/>
                    <a:lstStyle/>
                    <a:p>
                      <a:pPr algn="ctr"/>
                      <a:r>
                        <a:rPr sz="1000" b="0">
                          <a:solidFill>
                            <a:srgbClr val="3A3A3A"/>
                          </a:solidFill>
                          <a:latin typeface="맑은 고딕"/>
                        </a:rPr>
                        <a:t>&lt;0.001</a:t>
                      </a:r>
                    </a:p>
                  </a:txBody>
                  <a:tcPr>
                    <a:solidFill>
                      <a:srgbClr val="FFFFFF"/>
                    </a:solidFill>
                  </a:tcPr>
                </a:tc>
                <a:tc>
                  <a:txBody>
                    <a:bodyPr/>
                    <a:lstStyle/>
                    <a:p>
                      <a:pPr algn="ctr"/>
                      <a:r>
                        <a:rPr sz="1000" b="0">
                          <a:solidFill>
                            <a:srgbClr val="3A3A3A"/>
                          </a:solidFill>
                          <a:latin typeface="맑은 고딕"/>
                        </a:rPr>
                        <a:t>AEC 개선 (ext)</a:t>
                      </a:r>
                    </a:p>
                  </a:txBody>
                  <a:tcPr>
                    <a:solidFill>
                      <a:srgbClr val="FFFFFF"/>
                    </a:solidFill>
                  </a:tcPr>
                </a:tc>
                <a:extLst>
                  <a:ext uri="{0D108BD9-81ED-4DB2-BD59-A6C34878D82A}">
                    <a16:rowId xmlns:a16="http://schemas.microsoft.com/office/drawing/2014/main" val="10003"/>
                  </a:ext>
                </a:extLst>
              </a:tr>
              <a:tr h="411480">
                <a:tc>
                  <a:txBody>
                    <a:bodyPr/>
                    <a:lstStyle/>
                    <a:p>
                      <a:pPr algn="l"/>
                      <a:r>
                        <a:rPr sz="1000" b="1">
                          <a:solidFill>
                            <a:srgbClr val="1B2A4A"/>
                          </a:solidFill>
                          <a:latin typeface="맑은 고딕"/>
                        </a:rPr>
                        <a:t>IMATA</a:t>
                      </a:r>
                    </a:p>
                  </a:txBody>
                  <a:tcPr>
                    <a:solidFill>
                      <a:srgbClr val="EFF1F4"/>
                    </a:solidFill>
                  </a:tcPr>
                </a:tc>
                <a:tc>
                  <a:txBody>
                    <a:bodyPr/>
                    <a:lstStyle/>
                    <a:p>
                      <a:pPr algn="ctr"/>
                      <a:r>
                        <a:rPr sz="1000" b="0">
                          <a:solidFill>
                            <a:srgbClr val="3A3A3A"/>
                          </a:solidFill>
                          <a:latin typeface="맑은 고딕"/>
                        </a:rPr>
                        <a:t>0.823</a:t>
                      </a:r>
                    </a:p>
                  </a:txBody>
                  <a:tcPr>
                    <a:solidFill>
                      <a:srgbClr val="EFF1F4"/>
                    </a:solidFill>
                  </a:tcPr>
                </a:tc>
                <a:tc>
                  <a:txBody>
                    <a:bodyPr/>
                    <a:lstStyle/>
                    <a:p>
                      <a:pPr algn="ctr"/>
                      <a:r>
                        <a:rPr sz="1000" b="0">
                          <a:solidFill>
                            <a:srgbClr val="3A3A3A"/>
                          </a:solidFill>
                          <a:latin typeface="맑은 고딕"/>
                        </a:rPr>
                        <a:t>0.840</a:t>
                      </a:r>
                    </a:p>
                  </a:txBody>
                  <a:tcPr>
                    <a:solidFill>
                      <a:srgbClr val="EFF1F4"/>
                    </a:solidFill>
                  </a:tcPr>
                </a:tc>
                <a:tc>
                  <a:txBody>
                    <a:bodyPr/>
                    <a:lstStyle/>
                    <a:p>
                      <a:pPr algn="ctr"/>
                      <a:r>
                        <a:rPr sz="1000" b="0">
                          <a:solidFill>
                            <a:srgbClr val="3A3A3A"/>
                          </a:solidFill>
                          <a:latin typeface="맑은 고딕"/>
                        </a:rPr>
                        <a:t>0.071</a:t>
                      </a:r>
                    </a:p>
                  </a:txBody>
                  <a:tcPr>
                    <a:solidFill>
                      <a:srgbClr val="EFF1F4"/>
                    </a:solidFill>
                  </a:tcPr>
                </a:tc>
                <a:tc>
                  <a:txBody>
                    <a:bodyPr/>
                    <a:lstStyle/>
                    <a:p>
                      <a:pPr algn="ctr"/>
                      <a:r>
                        <a:rPr sz="1000" b="0">
                          <a:solidFill>
                            <a:srgbClr val="3A3A3A"/>
                          </a:solidFill>
                          <a:latin typeface="맑은 고딕"/>
                        </a:rPr>
                        <a:t>0.831</a:t>
                      </a:r>
                    </a:p>
                  </a:txBody>
                  <a:tcPr>
                    <a:solidFill>
                      <a:srgbClr val="EFF1F4"/>
                    </a:solidFill>
                  </a:tcPr>
                </a:tc>
                <a:tc>
                  <a:txBody>
                    <a:bodyPr/>
                    <a:lstStyle/>
                    <a:p>
                      <a:pPr algn="ctr"/>
                      <a:r>
                        <a:rPr sz="1000" b="0">
                          <a:solidFill>
                            <a:srgbClr val="3A3A3A"/>
                          </a:solidFill>
                          <a:latin typeface="맑은 고딕"/>
                        </a:rPr>
                        <a:t>0.859</a:t>
                      </a:r>
                    </a:p>
                  </a:txBody>
                  <a:tcPr>
                    <a:solidFill>
                      <a:srgbClr val="EFF1F4"/>
                    </a:solidFill>
                  </a:tcPr>
                </a:tc>
                <a:tc>
                  <a:txBody>
                    <a:bodyPr/>
                    <a:lstStyle/>
                    <a:p>
                      <a:pPr algn="ctr"/>
                      <a:r>
                        <a:rPr sz="1000" b="0">
                          <a:solidFill>
                            <a:srgbClr val="3A3A3A"/>
                          </a:solidFill>
                          <a:latin typeface="맑은 고딕"/>
                        </a:rPr>
                        <a:t>0.003</a:t>
                      </a:r>
                    </a:p>
                  </a:txBody>
                  <a:tcPr>
                    <a:solidFill>
                      <a:srgbClr val="EFF1F4"/>
                    </a:solidFill>
                  </a:tcPr>
                </a:tc>
                <a:tc>
                  <a:txBody>
                    <a:bodyPr/>
                    <a:lstStyle/>
                    <a:p>
                      <a:pPr algn="ctr"/>
                      <a:r>
                        <a:rPr sz="1000" b="0">
                          <a:solidFill>
                            <a:srgbClr val="3A3A3A"/>
                          </a:solidFill>
                          <a:latin typeface="맑은 고딕"/>
                        </a:rPr>
                        <a:t>AEC 개선 (ext)</a:t>
                      </a:r>
                    </a:p>
                  </a:txBody>
                  <a:tcPr>
                    <a:solidFill>
                      <a:srgbClr val="EFF1F4"/>
                    </a:solidFill>
                  </a:tcPr>
                </a:tc>
                <a:extLst>
                  <a:ext uri="{0D108BD9-81ED-4DB2-BD59-A6C34878D82A}">
                    <a16:rowId xmlns:a16="http://schemas.microsoft.com/office/drawing/2014/main" val="10004"/>
                  </a:ext>
                </a:extLst>
              </a:tr>
              <a:tr h="411480">
                <a:tc>
                  <a:txBody>
                    <a:bodyPr/>
                    <a:lstStyle/>
                    <a:p>
                      <a:pPr algn="l"/>
                      <a:r>
                        <a:rPr sz="1000" b="1">
                          <a:solidFill>
                            <a:srgbClr val="1B2A4A"/>
                          </a:solidFill>
                          <a:latin typeface="맑은 고딕"/>
                        </a:rPr>
                        <a:t>SAT</a:t>
                      </a:r>
                    </a:p>
                  </a:txBody>
                  <a:tcPr>
                    <a:solidFill>
                      <a:srgbClr val="FFFFFF"/>
                    </a:solidFill>
                  </a:tcPr>
                </a:tc>
                <a:tc>
                  <a:txBody>
                    <a:bodyPr/>
                    <a:lstStyle/>
                    <a:p>
                      <a:pPr algn="ctr"/>
                      <a:r>
                        <a:rPr sz="1000" b="0">
                          <a:solidFill>
                            <a:srgbClr val="3A3A3A"/>
                          </a:solidFill>
                          <a:latin typeface="맑은 고딕"/>
                        </a:rPr>
                        <a:t>0.841</a:t>
                      </a:r>
                    </a:p>
                  </a:txBody>
                  <a:tcPr>
                    <a:solidFill>
                      <a:srgbClr val="FFFFFF"/>
                    </a:solidFill>
                  </a:tcPr>
                </a:tc>
                <a:tc>
                  <a:txBody>
                    <a:bodyPr/>
                    <a:lstStyle/>
                    <a:p>
                      <a:pPr algn="ctr"/>
                      <a:r>
                        <a:rPr sz="1000" b="0">
                          <a:solidFill>
                            <a:srgbClr val="3A3A3A"/>
                          </a:solidFill>
                          <a:latin typeface="맑은 고딕"/>
                        </a:rPr>
                        <a:t>0.860</a:t>
                      </a:r>
                    </a:p>
                  </a:txBody>
                  <a:tcPr>
                    <a:solidFill>
                      <a:srgbClr val="FFFFFF"/>
                    </a:solidFill>
                  </a:tcPr>
                </a:tc>
                <a:tc>
                  <a:txBody>
                    <a:bodyPr/>
                    <a:lstStyle/>
                    <a:p>
                      <a:pPr algn="ctr"/>
                      <a:r>
                        <a:rPr sz="1000" b="0">
                          <a:solidFill>
                            <a:srgbClr val="3A3A3A"/>
                          </a:solidFill>
                          <a:latin typeface="맑은 고딕"/>
                        </a:rPr>
                        <a:t>0.041</a:t>
                      </a:r>
                    </a:p>
                  </a:txBody>
                  <a:tcPr>
                    <a:solidFill>
                      <a:srgbClr val="FFFFFF"/>
                    </a:solidFill>
                  </a:tcPr>
                </a:tc>
                <a:tc>
                  <a:txBody>
                    <a:bodyPr/>
                    <a:lstStyle/>
                    <a:p>
                      <a:pPr algn="ctr"/>
                      <a:r>
                        <a:rPr sz="1000" b="0">
                          <a:solidFill>
                            <a:srgbClr val="3A3A3A"/>
                          </a:solidFill>
                          <a:latin typeface="맑은 고딕"/>
                        </a:rPr>
                        <a:t>0.873</a:t>
                      </a:r>
                    </a:p>
                  </a:txBody>
                  <a:tcPr>
                    <a:solidFill>
                      <a:srgbClr val="FFFFFF"/>
                    </a:solidFill>
                  </a:tcPr>
                </a:tc>
                <a:tc>
                  <a:txBody>
                    <a:bodyPr/>
                    <a:lstStyle/>
                    <a:p>
                      <a:pPr algn="ctr"/>
                      <a:r>
                        <a:rPr sz="1000" b="0">
                          <a:solidFill>
                            <a:srgbClr val="3A3A3A"/>
                          </a:solidFill>
                          <a:latin typeface="맑은 고딕"/>
                        </a:rPr>
                        <a:t>0.897</a:t>
                      </a:r>
                    </a:p>
                  </a:txBody>
                  <a:tcPr>
                    <a:solidFill>
                      <a:srgbClr val="FFFFFF"/>
                    </a:solidFill>
                  </a:tcPr>
                </a:tc>
                <a:tc>
                  <a:txBody>
                    <a:bodyPr/>
                    <a:lstStyle/>
                    <a:p>
                      <a:pPr algn="ctr"/>
                      <a:r>
                        <a:rPr sz="1000" b="0">
                          <a:solidFill>
                            <a:srgbClr val="3A3A3A"/>
                          </a:solidFill>
                          <a:latin typeface="맑은 고딕"/>
                        </a:rPr>
                        <a:t>0.003</a:t>
                      </a:r>
                    </a:p>
                  </a:txBody>
                  <a:tcPr>
                    <a:solidFill>
                      <a:srgbClr val="FFFFFF"/>
                    </a:solidFill>
                  </a:tcPr>
                </a:tc>
                <a:tc>
                  <a:txBody>
                    <a:bodyPr/>
                    <a:lstStyle/>
                    <a:p>
                      <a:pPr algn="ctr"/>
                      <a:r>
                        <a:rPr sz="1000" b="0">
                          <a:solidFill>
                            <a:srgbClr val="3A3A3A"/>
                          </a:solidFill>
                          <a:latin typeface="맑은 고딕"/>
                        </a:rPr>
                        <a:t>AEC 개선 (양쪽)</a:t>
                      </a:r>
                    </a:p>
                  </a:txBody>
                  <a:tcPr>
                    <a:solidFill>
                      <a:srgbClr val="FFFFFF"/>
                    </a:solidFill>
                  </a:tcPr>
                </a:tc>
                <a:extLst>
                  <a:ext uri="{0D108BD9-81ED-4DB2-BD59-A6C34878D82A}">
                    <a16:rowId xmlns:a16="http://schemas.microsoft.com/office/drawing/2014/main" val="10005"/>
                  </a:ext>
                </a:extLst>
              </a:tr>
              <a:tr h="411480">
                <a:tc>
                  <a:txBody>
                    <a:bodyPr/>
                    <a:lstStyle/>
                    <a:p>
                      <a:pPr algn="l"/>
                      <a:r>
                        <a:rPr sz="1000" b="1">
                          <a:solidFill>
                            <a:srgbClr val="1B2A4A"/>
                          </a:solidFill>
                          <a:latin typeface="맑은 고딕"/>
                        </a:rPr>
                        <a:t>VAT</a:t>
                      </a:r>
                    </a:p>
                  </a:txBody>
                  <a:tcPr>
                    <a:solidFill>
                      <a:srgbClr val="EFF1F4"/>
                    </a:solidFill>
                  </a:tcPr>
                </a:tc>
                <a:tc>
                  <a:txBody>
                    <a:bodyPr/>
                    <a:lstStyle/>
                    <a:p>
                      <a:pPr algn="ctr"/>
                      <a:r>
                        <a:rPr sz="1000" b="0">
                          <a:solidFill>
                            <a:srgbClr val="3A3A3A"/>
                          </a:solidFill>
                          <a:latin typeface="맑은 고딕"/>
                        </a:rPr>
                        <a:t>0.847</a:t>
                      </a:r>
                    </a:p>
                  </a:txBody>
                  <a:tcPr>
                    <a:solidFill>
                      <a:srgbClr val="EFF1F4"/>
                    </a:solidFill>
                  </a:tcPr>
                </a:tc>
                <a:tc>
                  <a:txBody>
                    <a:bodyPr/>
                    <a:lstStyle/>
                    <a:p>
                      <a:pPr algn="ctr"/>
                      <a:r>
                        <a:rPr sz="1000" b="0">
                          <a:solidFill>
                            <a:srgbClr val="3A3A3A"/>
                          </a:solidFill>
                          <a:latin typeface="맑은 고딕"/>
                        </a:rPr>
                        <a:t>0.892</a:t>
                      </a:r>
                    </a:p>
                  </a:txBody>
                  <a:tcPr>
                    <a:solidFill>
                      <a:srgbClr val="EFF1F4"/>
                    </a:solidFill>
                  </a:tcPr>
                </a:tc>
                <a:tc>
                  <a:txBody>
                    <a:bodyPr/>
                    <a:lstStyle/>
                    <a:p>
                      <a:pPr algn="ctr"/>
                      <a:r>
                        <a:rPr sz="1000" b="0">
                          <a:solidFill>
                            <a:srgbClr val="3A3A3A"/>
                          </a:solidFill>
                          <a:latin typeface="맑은 고딕"/>
                        </a:rPr>
                        <a:t>&lt;0.001</a:t>
                      </a:r>
                    </a:p>
                  </a:txBody>
                  <a:tcPr>
                    <a:solidFill>
                      <a:srgbClr val="EFF1F4"/>
                    </a:solidFill>
                  </a:tcPr>
                </a:tc>
                <a:tc>
                  <a:txBody>
                    <a:bodyPr/>
                    <a:lstStyle/>
                    <a:p>
                      <a:pPr algn="ctr"/>
                      <a:r>
                        <a:rPr sz="1000" b="0">
                          <a:solidFill>
                            <a:srgbClr val="3A3A3A"/>
                          </a:solidFill>
                          <a:latin typeface="맑은 고딕"/>
                        </a:rPr>
                        <a:t>0.813</a:t>
                      </a:r>
                    </a:p>
                  </a:txBody>
                  <a:tcPr>
                    <a:solidFill>
                      <a:srgbClr val="EFF1F4"/>
                    </a:solidFill>
                  </a:tcPr>
                </a:tc>
                <a:tc>
                  <a:txBody>
                    <a:bodyPr/>
                    <a:lstStyle/>
                    <a:p>
                      <a:pPr algn="ctr"/>
                      <a:r>
                        <a:rPr sz="1000" b="0">
                          <a:solidFill>
                            <a:srgbClr val="3A3A3A"/>
                          </a:solidFill>
                          <a:latin typeface="맑은 고딕"/>
                        </a:rPr>
                        <a:t>0.869</a:t>
                      </a:r>
                    </a:p>
                  </a:txBody>
                  <a:tcPr>
                    <a:solidFill>
                      <a:srgbClr val="EFF1F4"/>
                    </a:solidFill>
                  </a:tcPr>
                </a:tc>
                <a:tc>
                  <a:txBody>
                    <a:bodyPr/>
                    <a:lstStyle/>
                    <a:p>
                      <a:pPr algn="ctr"/>
                      <a:r>
                        <a:rPr sz="1000" b="0">
                          <a:solidFill>
                            <a:srgbClr val="3A3A3A"/>
                          </a:solidFill>
                          <a:latin typeface="맑은 고딕"/>
                        </a:rPr>
                        <a:t>&lt;0.001</a:t>
                      </a:r>
                    </a:p>
                  </a:txBody>
                  <a:tcPr>
                    <a:solidFill>
                      <a:srgbClr val="EFF1F4"/>
                    </a:solidFill>
                  </a:tcPr>
                </a:tc>
                <a:tc>
                  <a:txBody>
                    <a:bodyPr/>
                    <a:lstStyle/>
                    <a:p>
                      <a:pPr algn="ctr"/>
                      <a:r>
                        <a:rPr sz="1000" b="0">
                          <a:solidFill>
                            <a:srgbClr val="3A3A3A"/>
                          </a:solidFill>
                          <a:latin typeface="맑은 고딕"/>
                        </a:rPr>
                        <a:t>AEC 개선 (양쪽, 최대)</a:t>
                      </a:r>
                    </a:p>
                  </a:txBody>
                  <a:tcPr>
                    <a:solidFill>
                      <a:srgbClr val="EFF1F4"/>
                    </a:solidFill>
                  </a:tcPr>
                </a:tc>
                <a:extLst>
                  <a:ext uri="{0D108BD9-81ED-4DB2-BD59-A6C34878D82A}">
                    <a16:rowId xmlns:a16="http://schemas.microsoft.com/office/drawing/2014/main" val="10006"/>
                  </a:ext>
                </a:extLst>
              </a:tr>
              <a:tr h="411480">
                <a:tc>
                  <a:txBody>
                    <a:bodyPr/>
                    <a:lstStyle/>
                    <a:p>
                      <a:pPr algn="l"/>
                      <a:r>
                        <a:rPr sz="1000" b="1">
                          <a:solidFill>
                            <a:srgbClr val="1B2A4A"/>
                          </a:solidFill>
                          <a:latin typeface="맑은 고딕"/>
                        </a:rPr>
                        <a:t>Total Fat</a:t>
                      </a:r>
                    </a:p>
                  </a:txBody>
                  <a:tcPr>
                    <a:solidFill>
                      <a:srgbClr val="FFFFFF"/>
                    </a:solidFill>
                  </a:tcPr>
                </a:tc>
                <a:tc>
                  <a:txBody>
                    <a:bodyPr/>
                    <a:lstStyle/>
                    <a:p>
                      <a:pPr algn="ctr"/>
                      <a:r>
                        <a:rPr sz="1000" b="0">
                          <a:solidFill>
                            <a:srgbClr val="3A3A3A"/>
                          </a:solidFill>
                          <a:latin typeface="맑은 고딕"/>
                        </a:rPr>
                        <a:t>0.852</a:t>
                      </a:r>
                    </a:p>
                  </a:txBody>
                  <a:tcPr>
                    <a:solidFill>
                      <a:srgbClr val="FFFFFF"/>
                    </a:solidFill>
                  </a:tcPr>
                </a:tc>
                <a:tc>
                  <a:txBody>
                    <a:bodyPr/>
                    <a:lstStyle/>
                    <a:p>
                      <a:pPr algn="ctr"/>
                      <a:r>
                        <a:rPr sz="1000" b="0">
                          <a:solidFill>
                            <a:srgbClr val="3A3A3A"/>
                          </a:solidFill>
                          <a:latin typeface="맑은 고딕"/>
                        </a:rPr>
                        <a:t>0.873</a:t>
                      </a:r>
                    </a:p>
                  </a:txBody>
                  <a:tcPr>
                    <a:solidFill>
                      <a:srgbClr val="FFFFFF"/>
                    </a:solidFill>
                  </a:tcPr>
                </a:tc>
                <a:tc>
                  <a:txBody>
                    <a:bodyPr/>
                    <a:lstStyle/>
                    <a:p>
                      <a:pPr algn="ctr"/>
                      <a:r>
                        <a:rPr sz="1000" b="0">
                          <a:solidFill>
                            <a:srgbClr val="3A3A3A"/>
                          </a:solidFill>
                          <a:latin typeface="맑은 고딕"/>
                        </a:rPr>
                        <a:t>0.029</a:t>
                      </a:r>
                    </a:p>
                  </a:txBody>
                  <a:tcPr>
                    <a:solidFill>
                      <a:srgbClr val="FFFFFF"/>
                    </a:solidFill>
                  </a:tcPr>
                </a:tc>
                <a:tc>
                  <a:txBody>
                    <a:bodyPr/>
                    <a:lstStyle/>
                    <a:p>
                      <a:pPr algn="ctr"/>
                      <a:r>
                        <a:rPr sz="1000" b="0">
                          <a:solidFill>
                            <a:srgbClr val="3A3A3A"/>
                          </a:solidFill>
                          <a:latin typeface="맑은 고딕"/>
                        </a:rPr>
                        <a:t>0.867</a:t>
                      </a:r>
                    </a:p>
                  </a:txBody>
                  <a:tcPr>
                    <a:solidFill>
                      <a:srgbClr val="FFFFFF"/>
                    </a:solidFill>
                  </a:tcPr>
                </a:tc>
                <a:tc>
                  <a:txBody>
                    <a:bodyPr/>
                    <a:lstStyle/>
                    <a:p>
                      <a:pPr algn="ctr"/>
                      <a:r>
                        <a:rPr sz="1000" b="0">
                          <a:solidFill>
                            <a:srgbClr val="3A3A3A"/>
                          </a:solidFill>
                          <a:latin typeface="맑은 고딕"/>
                        </a:rPr>
                        <a:t>0.897</a:t>
                      </a:r>
                    </a:p>
                  </a:txBody>
                  <a:tcPr>
                    <a:solidFill>
                      <a:srgbClr val="FFFFFF"/>
                    </a:solidFill>
                  </a:tcPr>
                </a:tc>
                <a:tc>
                  <a:txBody>
                    <a:bodyPr/>
                    <a:lstStyle/>
                    <a:p>
                      <a:pPr algn="ctr"/>
                      <a:r>
                        <a:rPr sz="1000" b="0">
                          <a:solidFill>
                            <a:srgbClr val="3A3A3A"/>
                          </a:solidFill>
                          <a:latin typeface="맑은 고딕"/>
                        </a:rPr>
                        <a:t>0.001</a:t>
                      </a:r>
                    </a:p>
                  </a:txBody>
                  <a:tcPr>
                    <a:solidFill>
                      <a:srgbClr val="FFFFFF"/>
                    </a:solidFill>
                  </a:tcPr>
                </a:tc>
                <a:tc>
                  <a:txBody>
                    <a:bodyPr/>
                    <a:lstStyle/>
                    <a:p>
                      <a:pPr algn="ctr"/>
                      <a:r>
                        <a:rPr sz="1000" b="0">
                          <a:solidFill>
                            <a:srgbClr val="3A3A3A"/>
                          </a:solidFill>
                          <a:latin typeface="맑은 고딕"/>
                        </a:rPr>
                        <a:t>AEC 개선 (양쪽)</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CROSS-STEP COMPARISON  ·  1 / 2</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Step1~3 External ΔR² 종합 비교</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VAT·Total Fat은 정보를 압축하지 않은 표현에서만 개선되고, 근육계열은 방식과 무관하게 항상 악화된다</a:t>
            </a:r>
          </a:p>
        </p:txBody>
      </p:sp>
      <p:sp>
        <p:nvSpPr>
          <p:cNvPr id="7" name="Rectangle 6"/>
          <p:cNvSpPr/>
          <p:nvPr/>
        </p:nvSpPr>
        <p:spPr>
          <a:xfrm>
            <a:off x="502920" y="1938528"/>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11</a:t>
            </a:r>
          </a:p>
        </p:txBody>
      </p:sp>
      <p:sp>
        <p:nvSpPr>
          <p:cNvPr id="9" name="TextBox 8"/>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0" name="Table 9"/>
          <p:cNvGraphicFramePr>
            <a:graphicFrameLocks noGrp="1"/>
          </p:cNvGraphicFramePr>
          <p:nvPr/>
        </p:nvGraphicFramePr>
        <p:xfrm>
          <a:off x="502920" y="2103120"/>
          <a:ext cx="11155679" cy="4206240"/>
        </p:xfrm>
        <a:graphic>
          <a:graphicData uri="http://schemas.openxmlformats.org/drawingml/2006/table">
            <a:tbl>
              <a:tblPr firstRow="1" bandRow="1">
                <a:tableStyleId>{5C22544A-7EE6-4342-B048-85BDC9FD1C3A}</a:tableStyleId>
              </a:tblPr>
              <a:tblGrid>
                <a:gridCol w="1394460">
                  <a:extLst>
                    <a:ext uri="{9D8B030D-6E8A-4147-A177-3AD203B41FA5}">
                      <a16:colId xmlns:a16="http://schemas.microsoft.com/office/drawing/2014/main" val="20000"/>
                    </a:ext>
                  </a:extLst>
                </a:gridCol>
                <a:gridCol w="1781809">
                  <a:extLst>
                    <a:ext uri="{9D8B030D-6E8A-4147-A177-3AD203B41FA5}">
                      <a16:colId xmlns:a16="http://schemas.microsoft.com/office/drawing/2014/main" val="20001"/>
                    </a:ext>
                  </a:extLst>
                </a:gridCol>
                <a:gridCol w="1626870">
                  <a:extLst>
                    <a:ext uri="{9D8B030D-6E8A-4147-A177-3AD203B41FA5}">
                      <a16:colId xmlns:a16="http://schemas.microsoft.com/office/drawing/2014/main" val="20002"/>
                    </a:ext>
                  </a:extLst>
                </a:gridCol>
                <a:gridCol w="1859280">
                  <a:extLst>
                    <a:ext uri="{9D8B030D-6E8A-4147-A177-3AD203B41FA5}">
                      <a16:colId xmlns:a16="http://schemas.microsoft.com/office/drawing/2014/main" val="20003"/>
                    </a:ext>
                  </a:extLst>
                </a:gridCol>
                <a:gridCol w="1859280">
                  <a:extLst>
                    <a:ext uri="{9D8B030D-6E8A-4147-A177-3AD203B41FA5}">
                      <a16:colId xmlns:a16="http://schemas.microsoft.com/office/drawing/2014/main" val="20004"/>
                    </a:ext>
                  </a:extLst>
                </a:gridCol>
                <a:gridCol w="2633980">
                  <a:extLst>
                    <a:ext uri="{9D8B030D-6E8A-4147-A177-3AD203B41FA5}">
                      <a16:colId xmlns:a16="http://schemas.microsoft.com/office/drawing/2014/main" val="20005"/>
                    </a:ext>
                  </a:extLst>
                </a:gridCol>
              </a:tblGrid>
              <a:tr h="525780">
                <a:tc>
                  <a:txBody>
                    <a:bodyPr/>
                    <a:lstStyle/>
                    <a:p>
                      <a:pPr algn="ctr"/>
                      <a:r>
                        <a:rPr sz="1100" b="1">
                          <a:solidFill>
                            <a:srgbClr val="FFFFFF"/>
                          </a:solidFill>
                          <a:latin typeface="맑은 고딕"/>
                        </a:rPr>
                        <a:t>Feature</a:t>
                      </a:r>
                    </a:p>
                  </a:txBody>
                  <a:tcPr marL="50800" marR="50800" marT="25400" marB="25400" anchor="ctr">
                    <a:solidFill>
                      <a:srgbClr val="1B2A4A"/>
                    </a:solidFill>
                  </a:tcPr>
                </a:tc>
                <a:tc>
                  <a:txBody>
                    <a:bodyPr/>
                    <a:lstStyle/>
                    <a:p>
                      <a:pPr algn="ctr"/>
                      <a:r>
                        <a:rPr sz="1100" b="1">
                          <a:solidFill>
                            <a:srgbClr val="FFFFFF"/>
                          </a:solidFill>
                          <a:latin typeface="맑은 고딕"/>
                        </a:rPr>
                        <a:t>Step1
(구간평균)</a:t>
                      </a:r>
                    </a:p>
                  </a:txBody>
                  <a:tcPr marL="50800" marR="50800" marT="25400" marB="25400" anchor="ctr">
                    <a:solidFill>
                      <a:srgbClr val="1B2A4A"/>
                    </a:solidFill>
                  </a:tcPr>
                </a:tc>
                <a:tc>
                  <a:txBody>
                    <a:bodyPr/>
                    <a:lstStyle/>
                    <a:p>
                      <a:pPr algn="ctr"/>
                      <a:r>
                        <a:rPr sz="1100" b="1">
                          <a:solidFill>
                            <a:srgbClr val="FFFFFF"/>
                          </a:solidFill>
                          <a:latin typeface="맑은 고딕"/>
                        </a:rPr>
                        <a:t>Step2
(top-k)</a:t>
                      </a:r>
                    </a:p>
                  </a:txBody>
                  <a:tcPr marL="50800" marR="50800" marT="25400" marB="25400" anchor="ctr">
                    <a:solidFill>
                      <a:srgbClr val="1B2A4A"/>
                    </a:solidFill>
                  </a:tcPr>
                </a:tc>
                <a:tc>
                  <a:txBody>
                    <a:bodyPr/>
                    <a:lstStyle/>
                    <a:p>
                      <a:pPr algn="ctr"/>
                      <a:r>
                        <a:rPr sz="1100" b="1">
                          <a:solidFill>
                            <a:srgbClr val="FFFFFF"/>
                          </a:solidFill>
                          <a:latin typeface="맑은 고딕"/>
                        </a:rPr>
                        <a:t>Step2
(앞/뒤50%)</a:t>
                      </a:r>
                    </a:p>
                  </a:txBody>
                  <a:tcPr marL="50800" marR="50800" marT="25400" marB="25400" anchor="ctr">
                    <a:solidFill>
                      <a:srgbClr val="1B2A4A"/>
                    </a:solidFill>
                  </a:tcPr>
                </a:tc>
                <a:tc>
                  <a:txBody>
                    <a:bodyPr/>
                    <a:lstStyle/>
                    <a:p>
                      <a:pPr algn="ctr"/>
                      <a:r>
                        <a:rPr sz="1100" b="1">
                          <a:solidFill>
                            <a:srgbClr val="FFFFFF"/>
                          </a:solidFill>
                          <a:latin typeface="맑은 고딕"/>
                        </a:rPr>
                        <a:t>Step3
(형태feature)</a:t>
                      </a:r>
                    </a:p>
                  </a:txBody>
                  <a:tcPr marL="50800" marR="50800" marT="25400" marB="25400" anchor="ctr">
                    <a:solidFill>
                      <a:srgbClr val="1B2A4A"/>
                    </a:solidFill>
                  </a:tcPr>
                </a:tc>
                <a:tc>
                  <a:txBody>
                    <a:bodyPr/>
                    <a:lstStyle/>
                    <a:p>
                      <a:pPr algn="ctr"/>
                      <a:r>
                        <a:rPr sz="1100" b="1">
                          <a:solidFill>
                            <a:srgbClr val="FFFFFF"/>
                          </a:solidFill>
                          <a:latin typeface="맑은 고딕"/>
                        </a:rPr>
                        <a:t>종합 판정</a:t>
                      </a:r>
                    </a:p>
                  </a:txBody>
                  <a:tcPr marL="50800" marR="50800" marT="25400" marB="25400" anchor="ctr">
                    <a:solidFill>
                      <a:srgbClr val="1B2A4A"/>
                    </a:solidFill>
                  </a:tcPr>
                </a:tc>
                <a:extLst>
                  <a:ext uri="{0D108BD9-81ED-4DB2-BD59-A6C34878D82A}">
                    <a16:rowId xmlns:a16="http://schemas.microsoft.com/office/drawing/2014/main" val="10000"/>
                  </a:ext>
                </a:extLst>
              </a:tr>
              <a:tr h="525780">
                <a:tc>
                  <a:txBody>
                    <a:bodyPr/>
                    <a:lstStyle/>
                    <a:p>
                      <a:pPr algn="ctr"/>
                      <a:r>
                        <a:rPr sz="1100" b="0">
                          <a:solidFill>
                            <a:srgbClr val="3A3A3A"/>
                          </a:solidFill>
                          <a:latin typeface="맑은 고딕"/>
                        </a:rPr>
                        <a:t>VAT</a:t>
                      </a:r>
                    </a:p>
                  </a:txBody>
                  <a:tcPr marL="50800" marR="50800" marT="25400" marB="25400" anchor="ctr">
                    <a:solidFill>
                      <a:srgbClr val="FFFFFF"/>
                    </a:solidFill>
                  </a:tcPr>
                </a:tc>
                <a:tc>
                  <a:txBody>
                    <a:bodyPr/>
                    <a:lstStyle/>
                    <a:p>
                      <a:pPr algn="ctr"/>
                      <a:r>
                        <a:rPr sz="1100" b="0">
                          <a:solidFill>
                            <a:srgbClr val="3A3A3A"/>
                          </a:solidFill>
                          <a:latin typeface="맑은 고딕"/>
                        </a:rPr>
                        <a:t>+0.062(개선)</a:t>
                      </a:r>
                    </a:p>
                  </a:txBody>
                  <a:tcPr marL="50800" marR="50800" marT="25400" marB="25400" anchor="ctr">
                    <a:solidFill>
                      <a:srgbClr val="FFFFFF"/>
                    </a:solidFill>
                  </a:tcPr>
                </a:tc>
                <a:tc>
                  <a:txBody>
                    <a:bodyPr/>
                    <a:lstStyle/>
                    <a:p>
                      <a:pPr algn="ctr"/>
                      <a:r>
                        <a:rPr sz="1100" b="0">
                          <a:solidFill>
                            <a:srgbClr val="3A3A3A"/>
                          </a:solidFill>
                          <a:latin typeface="맑은 고딕"/>
                        </a:rPr>
                        <a:t>+0.090(개선)</a:t>
                      </a:r>
                    </a:p>
                  </a:txBody>
                  <a:tcPr marL="50800" marR="50800" marT="25400" marB="25400" anchor="ctr">
                    <a:solidFill>
                      <a:srgbClr val="FFFFFF"/>
                    </a:solidFill>
                  </a:tcPr>
                </a:tc>
                <a:tc>
                  <a:txBody>
                    <a:bodyPr/>
                    <a:lstStyle/>
                    <a:p>
                      <a:pPr algn="ctr"/>
                      <a:r>
                        <a:rPr sz="1100" b="0">
                          <a:solidFill>
                            <a:srgbClr val="3A3A3A"/>
                          </a:solidFill>
                          <a:latin typeface="맑은 고딕"/>
                        </a:rPr>
                        <a:t>-0.063(악화)</a:t>
                      </a:r>
                    </a:p>
                  </a:txBody>
                  <a:tcPr marL="50800" marR="50800" marT="25400" marB="25400" anchor="ctr">
                    <a:solidFill>
                      <a:srgbClr val="FFFFFF"/>
                    </a:solidFill>
                  </a:tcPr>
                </a:tc>
                <a:tc>
                  <a:txBody>
                    <a:bodyPr/>
                    <a:lstStyle/>
                    <a:p>
                      <a:pPr algn="ctr"/>
                      <a:r>
                        <a:rPr sz="1100" b="0">
                          <a:solidFill>
                            <a:srgbClr val="3A3A3A"/>
                          </a:solidFill>
                          <a:latin typeface="맑은 고딕"/>
                        </a:rPr>
                        <a:t>+0.067(개선)</a:t>
                      </a:r>
                    </a:p>
                  </a:txBody>
                  <a:tcPr marL="50800" marR="50800" marT="25400" marB="25400" anchor="ctr">
                    <a:solidFill>
                      <a:srgbClr val="FFFFFF"/>
                    </a:solidFill>
                  </a:tcPr>
                </a:tc>
                <a:tc>
                  <a:txBody>
                    <a:bodyPr/>
                    <a:lstStyle/>
                    <a:p>
                      <a:pPr algn="ctr"/>
                      <a:r>
                        <a:rPr sz="1100" b="0">
                          <a:solidFill>
                            <a:srgbClr val="3A3A3A"/>
                          </a:solidFill>
                          <a:latin typeface="맑은 고딕"/>
                        </a:rPr>
                        <a:t>정보보존 표현에서만 개선</a:t>
                      </a:r>
                    </a:p>
                  </a:txBody>
                  <a:tcPr marL="50800" marR="50800" marT="25400" marB="25400" anchor="ctr">
                    <a:solidFill>
                      <a:srgbClr val="FFFFFF"/>
                    </a:solidFill>
                  </a:tcPr>
                </a:tc>
                <a:extLst>
                  <a:ext uri="{0D108BD9-81ED-4DB2-BD59-A6C34878D82A}">
                    <a16:rowId xmlns:a16="http://schemas.microsoft.com/office/drawing/2014/main" val="10001"/>
                  </a:ext>
                </a:extLst>
              </a:tr>
              <a:tr h="525780">
                <a:tc>
                  <a:txBody>
                    <a:bodyPr/>
                    <a:lstStyle/>
                    <a:p>
                      <a:pPr algn="ctr"/>
                      <a:r>
                        <a:rPr sz="1100" b="0">
                          <a:solidFill>
                            <a:srgbClr val="3A3A3A"/>
                          </a:solidFill>
                          <a:latin typeface="맑은 고딕"/>
                        </a:rPr>
                        <a:t>Total Fat</a:t>
                      </a:r>
                    </a:p>
                  </a:txBody>
                  <a:tcPr marL="50800" marR="50800" marT="25400" marB="25400" anchor="ctr">
                    <a:solidFill>
                      <a:srgbClr val="EFF1F4"/>
                    </a:solidFill>
                  </a:tcPr>
                </a:tc>
                <a:tc>
                  <a:txBody>
                    <a:bodyPr/>
                    <a:lstStyle/>
                    <a:p>
                      <a:pPr algn="ctr"/>
                      <a:r>
                        <a:rPr sz="1100" b="0">
                          <a:solidFill>
                            <a:srgbClr val="3A3A3A"/>
                          </a:solidFill>
                          <a:latin typeface="맑은 고딕"/>
                        </a:rPr>
                        <a:t>+0.014(n.s.)</a:t>
                      </a:r>
                    </a:p>
                  </a:txBody>
                  <a:tcPr marL="50800" marR="50800" marT="25400" marB="25400" anchor="ctr">
                    <a:solidFill>
                      <a:srgbClr val="EFF1F4"/>
                    </a:solidFill>
                  </a:tcPr>
                </a:tc>
                <a:tc>
                  <a:txBody>
                    <a:bodyPr/>
                    <a:lstStyle/>
                    <a:p>
                      <a:pPr algn="ctr"/>
                      <a:r>
                        <a:rPr sz="1100" b="0">
                          <a:solidFill>
                            <a:srgbClr val="3A3A3A"/>
                          </a:solidFill>
                          <a:latin typeface="맑은 고딕"/>
                        </a:rPr>
                        <a:t>+0.032(개선)</a:t>
                      </a:r>
                    </a:p>
                  </a:txBody>
                  <a:tcPr marL="50800" marR="50800" marT="25400" marB="25400" anchor="ctr">
                    <a:solidFill>
                      <a:srgbClr val="EFF1F4"/>
                    </a:solidFill>
                  </a:tcPr>
                </a:tc>
                <a:tc>
                  <a:txBody>
                    <a:bodyPr/>
                    <a:lstStyle/>
                    <a:p>
                      <a:pPr algn="ctr"/>
                      <a:r>
                        <a:rPr sz="1100" b="0">
                          <a:solidFill>
                            <a:srgbClr val="3A3A3A"/>
                          </a:solidFill>
                          <a:latin typeface="맑은 고딕"/>
                        </a:rPr>
                        <a:t>-0.046(악화)</a:t>
                      </a:r>
                    </a:p>
                  </a:txBody>
                  <a:tcPr marL="50800" marR="50800" marT="25400" marB="25400" anchor="ctr">
                    <a:solidFill>
                      <a:srgbClr val="EFF1F4"/>
                    </a:solidFill>
                  </a:tcPr>
                </a:tc>
                <a:tc>
                  <a:txBody>
                    <a:bodyPr/>
                    <a:lstStyle/>
                    <a:p>
                      <a:pPr algn="ctr"/>
                      <a:r>
                        <a:rPr sz="1100" b="0">
                          <a:solidFill>
                            <a:srgbClr val="3A3A3A"/>
                          </a:solidFill>
                          <a:latin typeface="맑은 고딕"/>
                        </a:rPr>
                        <a:t>+0.028(개선)</a:t>
                      </a:r>
                    </a:p>
                  </a:txBody>
                  <a:tcPr marL="50800" marR="50800" marT="25400" marB="25400" anchor="ctr">
                    <a:solidFill>
                      <a:srgbClr val="EFF1F4"/>
                    </a:solidFill>
                  </a:tcPr>
                </a:tc>
                <a:tc>
                  <a:txBody>
                    <a:bodyPr/>
                    <a:lstStyle/>
                    <a:p>
                      <a:pPr algn="ctr"/>
                      <a:r>
                        <a:rPr sz="1100" b="0">
                          <a:solidFill>
                            <a:srgbClr val="3A3A3A"/>
                          </a:solidFill>
                          <a:latin typeface="맑은 고딕"/>
                        </a:rPr>
                        <a:t>정보보존 표현에서만 개선</a:t>
                      </a:r>
                    </a:p>
                  </a:txBody>
                  <a:tcPr marL="50800" marR="50800" marT="25400" marB="25400" anchor="ctr">
                    <a:solidFill>
                      <a:srgbClr val="EFF1F4"/>
                    </a:solidFill>
                  </a:tcPr>
                </a:tc>
                <a:extLst>
                  <a:ext uri="{0D108BD9-81ED-4DB2-BD59-A6C34878D82A}">
                    <a16:rowId xmlns:a16="http://schemas.microsoft.com/office/drawing/2014/main" val="10002"/>
                  </a:ext>
                </a:extLst>
              </a:tr>
              <a:tr h="525780">
                <a:tc>
                  <a:txBody>
                    <a:bodyPr/>
                    <a:lstStyle/>
                    <a:p>
                      <a:pPr algn="ctr"/>
                      <a:r>
                        <a:rPr sz="1100" b="0">
                          <a:solidFill>
                            <a:srgbClr val="3A3A3A"/>
                          </a:solidFill>
                          <a:latin typeface="맑은 고딕"/>
                        </a:rPr>
                        <a:t>LAMA</a:t>
                      </a:r>
                    </a:p>
                  </a:txBody>
                  <a:tcPr marL="50800" marR="50800" marT="25400" marB="25400" anchor="ctr">
                    <a:solidFill>
                      <a:srgbClr val="FFFFFF"/>
                    </a:solidFill>
                  </a:tcPr>
                </a:tc>
                <a:tc>
                  <a:txBody>
                    <a:bodyPr/>
                    <a:lstStyle/>
                    <a:p>
                      <a:pPr algn="ctr"/>
                      <a:r>
                        <a:rPr sz="1100" b="0">
                          <a:solidFill>
                            <a:srgbClr val="3A3A3A"/>
                          </a:solidFill>
                          <a:latin typeface="맑은 고딕"/>
                        </a:rPr>
                        <a:t>+0.037(개선*)</a:t>
                      </a:r>
                    </a:p>
                  </a:txBody>
                  <a:tcPr marL="50800" marR="50800" marT="25400" marB="25400" anchor="ctr">
                    <a:solidFill>
                      <a:srgbClr val="FFFFFF"/>
                    </a:solidFill>
                  </a:tcPr>
                </a:tc>
                <a:tc>
                  <a:txBody>
                    <a:bodyPr/>
                    <a:lstStyle/>
                    <a:p>
                      <a:pPr algn="ctr"/>
                      <a:r>
                        <a:rPr sz="1100" b="0">
                          <a:solidFill>
                            <a:srgbClr val="3A3A3A"/>
                          </a:solidFill>
                          <a:latin typeface="맑은 고딕"/>
                        </a:rPr>
                        <a:t>+0.039(개선*)</a:t>
                      </a:r>
                    </a:p>
                  </a:txBody>
                  <a:tcPr marL="50800" marR="50800" marT="25400" marB="25400" anchor="ctr">
                    <a:solidFill>
                      <a:srgbClr val="FFFFFF"/>
                    </a:solidFill>
                  </a:tcPr>
                </a:tc>
                <a:tc>
                  <a:txBody>
                    <a:bodyPr/>
                    <a:lstStyle/>
                    <a:p>
                      <a:pPr algn="ctr"/>
                      <a:r>
                        <a:rPr sz="1100" b="0">
                          <a:solidFill>
                            <a:srgbClr val="3A3A3A"/>
                          </a:solidFill>
                          <a:latin typeface="맑은 고딕"/>
                        </a:rPr>
                        <a:t>-0.218(악화)</a:t>
                      </a:r>
                    </a:p>
                  </a:txBody>
                  <a:tcPr marL="50800" marR="50800" marT="25400" marB="25400" anchor="ctr">
                    <a:solidFill>
                      <a:srgbClr val="FFFFFF"/>
                    </a:solidFill>
                  </a:tcPr>
                </a:tc>
                <a:tc>
                  <a:txBody>
                    <a:bodyPr/>
                    <a:lstStyle/>
                    <a:p>
                      <a:pPr algn="ctr"/>
                      <a:r>
                        <a:rPr sz="1100" b="0">
                          <a:solidFill>
                            <a:srgbClr val="3A3A3A"/>
                          </a:solidFill>
                          <a:latin typeface="맑은 고딕"/>
                        </a:rPr>
                        <a:t>+0.062(개선*)</a:t>
                      </a:r>
                    </a:p>
                  </a:txBody>
                  <a:tcPr marL="50800" marR="50800" marT="25400" marB="25400" anchor="ctr">
                    <a:solidFill>
                      <a:srgbClr val="FFFFFF"/>
                    </a:solidFill>
                  </a:tcPr>
                </a:tc>
                <a:tc>
                  <a:txBody>
                    <a:bodyPr/>
                    <a:lstStyle/>
                    <a:p>
                      <a:pPr algn="ctr"/>
                      <a:r>
                        <a:rPr sz="1100" b="0">
                          <a:solidFill>
                            <a:srgbClr val="3A3A3A"/>
                          </a:solidFill>
                          <a:latin typeface="맑은 고딕"/>
                        </a:rPr>
                        <a:t>baseline 무신호, 해석 주의</a:t>
                      </a:r>
                    </a:p>
                  </a:txBody>
                  <a:tcPr marL="50800" marR="50800" marT="25400" marB="25400" anchor="ctr">
                    <a:solidFill>
                      <a:srgbClr val="FFFFFF"/>
                    </a:solidFill>
                  </a:tcPr>
                </a:tc>
                <a:extLst>
                  <a:ext uri="{0D108BD9-81ED-4DB2-BD59-A6C34878D82A}">
                    <a16:rowId xmlns:a16="http://schemas.microsoft.com/office/drawing/2014/main" val="10003"/>
                  </a:ext>
                </a:extLst>
              </a:tr>
              <a:tr h="525780">
                <a:tc>
                  <a:txBody>
                    <a:bodyPr/>
                    <a:lstStyle/>
                    <a:p>
                      <a:pPr algn="ctr"/>
                      <a:r>
                        <a:rPr sz="1100" b="0">
                          <a:solidFill>
                            <a:srgbClr val="3A3A3A"/>
                          </a:solidFill>
                          <a:latin typeface="맑은 고딕"/>
                        </a:rPr>
                        <a:t>IMATA</a:t>
                      </a:r>
                    </a:p>
                  </a:txBody>
                  <a:tcPr marL="50800" marR="50800" marT="25400" marB="25400" anchor="ctr">
                    <a:solidFill>
                      <a:srgbClr val="EFF1F4"/>
                    </a:solidFill>
                  </a:tcPr>
                </a:tc>
                <a:tc>
                  <a:txBody>
                    <a:bodyPr/>
                    <a:lstStyle/>
                    <a:p>
                      <a:pPr algn="ctr"/>
                      <a:r>
                        <a:rPr sz="1100" b="0">
                          <a:solidFill>
                            <a:srgbClr val="3A3A3A"/>
                          </a:solidFill>
                          <a:latin typeface="맑은 고딕"/>
                        </a:rPr>
                        <a:t>+0.009(n.s.)</a:t>
                      </a:r>
                    </a:p>
                  </a:txBody>
                  <a:tcPr marL="50800" marR="50800" marT="25400" marB="25400" anchor="ctr">
                    <a:solidFill>
                      <a:srgbClr val="EFF1F4"/>
                    </a:solidFill>
                  </a:tcPr>
                </a:tc>
                <a:tc>
                  <a:txBody>
                    <a:bodyPr/>
                    <a:lstStyle/>
                    <a:p>
                      <a:pPr algn="ctr"/>
                      <a:r>
                        <a:rPr sz="1100" b="0">
                          <a:solidFill>
                            <a:srgbClr val="3A3A3A"/>
                          </a:solidFill>
                          <a:latin typeface="맑은 고딕"/>
                        </a:rPr>
                        <a:t>+0.009(n.s.)</a:t>
                      </a:r>
                    </a:p>
                  </a:txBody>
                  <a:tcPr marL="50800" marR="50800" marT="25400" marB="25400" anchor="ctr">
                    <a:solidFill>
                      <a:srgbClr val="EFF1F4"/>
                    </a:solidFill>
                  </a:tcPr>
                </a:tc>
                <a:tc>
                  <a:txBody>
                    <a:bodyPr/>
                    <a:lstStyle/>
                    <a:p>
                      <a:pPr algn="ctr"/>
                      <a:r>
                        <a:rPr sz="1100" b="0">
                          <a:solidFill>
                            <a:srgbClr val="3A3A3A"/>
                          </a:solidFill>
                          <a:latin typeface="맑은 고딕"/>
                        </a:rPr>
                        <a:t>-0.093(악화)</a:t>
                      </a:r>
                    </a:p>
                  </a:txBody>
                  <a:tcPr marL="50800" marR="50800" marT="25400" marB="25400" anchor="ctr">
                    <a:solidFill>
                      <a:srgbClr val="EFF1F4"/>
                    </a:solidFill>
                  </a:tcPr>
                </a:tc>
                <a:tc>
                  <a:txBody>
                    <a:bodyPr/>
                    <a:lstStyle/>
                    <a:p>
                      <a:pPr algn="ctr"/>
                      <a:r>
                        <a:rPr sz="1100" b="0">
                          <a:solidFill>
                            <a:srgbClr val="3A3A3A"/>
                          </a:solidFill>
                          <a:latin typeface="맑은 고딕"/>
                        </a:rPr>
                        <a:t>-0.006(n.s.)</a:t>
                      </a:r>
                    </a:p>
                  </a:txBody>
                  <a:tcPr marL="50800" marR="50800" marT="25400" marB="25400" anchor="ctr">
                    <a:solidFill>
                      <a:srgbClr val="EFF1F4"/>
                    </a:solidFill>
                  </a:tcPr>
                </a:tc>
                <a:tc>
                  <a:txBody>
                    <a:bodyPr/>
                    <a:lstStyle/>
                    <a:p>
                      <a:pPr algn="ctr"/>
                      <a:r>
                        <a:rPr sz="1100" b="0">
                          <a:solidFill>
                            <a:srgbClr val="3A3A3A"/>
                          </a:solidFill>
                          <a:latin typeface="맑은 고딕"/>
                        </a:rPr>
                        <a:t>대체로 무관</a:t>
                      </a:r>
                    </a:p>
                  </a:txBody>
                  <a:tcPr marL="50800" marR="50800" marT="25400" marB="25400" anchor="ctr">
                    <a:solidFill>
                      <a:srgbClr val="EFF1F4"/>
                    </a:solidFill>
                  </a:tcPr>
                </a:tc>
                <a:extLst>
                  <a:ext uri="{0D108BD9-81ED-4DB2-BD59-A6C34878D82A}">
                    <a16:rowId xmlns:a16="http://schemas.microsoft.com/office/drawing/2014/main" val="10004"/>
                  </a:ext>
                </a:extLst>
              </a:tr>
              <a:tr h="525780">
                <a:tc>
                  <a:txBody>
                    <a:bodyPr/>
                    <a:lstStyle/>
                    <a:p>
                      <a:pPr algn="ctr"/>
                      <a:r>
                        <a:rPr sz="1100" b="0">
                          <a:solidFill>
                            <a:srgbClr val="3A3A3A"/>
                          </a:solidFill>
                          <a:latin typeface="맑은 고딕"/>
                        </a:rPr>
                        <a:t>SAT</a:t>
                      </a:r>
                    </a:p>
                  </a:txBody>
                  <a:tcPr marL="50800" marR="50800" marT="25400" marB="25400" anchor="ctr">
                    <a:solidFill>
                      <a:srgbClr val="FFFFFF"/>
                    </a:solidFill>
                  </a:tcPr>
                </a:tc>
                <a:tc>
                  <a:txBody>
                    <a:bodyPr/>
                    <a:lstStyle/>
                    <a:p>
                      <a:pPr algn="ctr"/>
                      <a:r>
                        <a:rPr sz="1100" b="0">
                          <a:solidFill>
                            <a:srgbClr val="3A3A3A"/>
                          </a:solidFill>
                          <a:latin typeface="맑은 고딕"/>
                        </a:rPr>
                        <a:t>-0.005(n.s.)</a:t>
                      </a:r>
                    </a:p>
                  </a:txBody>
                  <a:tcPr marL="50800" marR="50800" marT="25400" marB="25400" anchor="ctr">
                    <a:solidFill>
                      <a:srgbClr val="FFFFFF"/>
                    </a:solidFill>
                  </a:tcPr>
                </a:tc>
                <a:tc>
                  <a:txBody>
                    <a:bodyPr/>
                    <a:lstStyle/>
                    <a:p>
                      <a:pPr algn="ctr"/>
                      <a:r>
                        <a:rPr sz="1100" b="0">
                          <a:solidFill>
                            <a:srgbClr val="3A3A3A"/>
                          </a:solidFill>
                          <a:latin typeface="맑은 고딕"/>
                        </a:rPr>
                        <a:t>-0.008(n.s.)</a:t>
                      </a:r>
                    </a:p>
                  </a:txBody>
                  <a:tcPr marL="50800" marR="50800" marT="25400" marB="25400" anchor="ctr">
                    <a:solidFill>
                      <a:srgbClr val="FFFFFF"/>
                    </a:solidFill>
                  </a:tcPr>
                </a:tc>
                <a:tc>
                  <a:txBody>
                    <a:bodyPr/>
                    <a:lstStyle/>
                    <a:p>
                      <a:pPr algn="ctr"/>
                      <a:r>
                        <a:rPr sz="1100" b="0">
                          <a:solidFill>
                            <a:srgbClr val="3A3A3A"/>
                          </a:solidFill>
                          <a:latin typeface="맑은 고딕"/>
                        </a:rPr>
                        <a:t>-0.021(악화)</a:t>
                      </a:r>
                    </a:p>
                  </a:txBody>
                  <a:tcPr marL="50800" marR="50800" marT="25400" marB="25400" anchor="ctr">
                    <a:solidFill>
                      <a:srgbClr val="FFFFFF"/>
                    </a:solidFill>
                  </a:tcPr>
                </a:tc>
                <a:tc>
                  <a:txBody>
                    <a:bodyPr/>
                    <a:lstStyle/>
                    <a:p>
                      <a:pPr algn="ctr"/>
                      <a:r>
                        <a:rPr sz="1100" b="0">
                          <a:solidFill>
                            <a:srgbClr val="3A3A3A"/>
                          </a:solidFill>
                          <a:latin typeface="맑은 고딕"/>
                        </a:rPr>
                        <a:t>+0.005(n.s.)</a:t>
                      </a:r>
                    </a:p>
                  </a:txBody>
                  <a:tcPr marL="50800" marR="50800" marT="25400" marB="25400" anchor="ctr">
                    <a:solidFill>
                      <a:srgbClr val="FFFFFF"/>
                    </a:solidFill>
                  </a:tcPr>
                </a:tc>
                <a:tc>
                  <a:txBody>
                    <a:bodyPr/>
                    <a:lstStyle/>
                    <a:p>
                      <a:pPr algn="ctr"/>
                      <a:r>
                        <a:rPr sz="1100" b="0">
                          <a:solidFill>
                            <a:srgbClr val="3A3A3A"/>
                          </a:solidFill>
                          <a:latin typeface="맑은 고딕"/>
                        </a:rPr>
                        <a:t>대체로 무관</a:t>
                      </a:r>
                    </a:p>
                  </a:txBody>
                  <a:tcPr marL="50800" marR="50800" marT="25400" marB="25400" anchor="ctr">
                    <a:solidFill>
                      <a:srgbClr val="FFFFFF"/>
                    </a:solidFill>
                  </a:tcPr>
                </a:tc>
                <a:extLst>
                  <a:ext uri="{0D108BD9-81ED-4DB2-BD59-A6C34878D82A}">
                    <a16:rowId xmlns:a16="http://schemas.microsoft.com/office/drawing/2014/main" val="10005"/>
                  </a:ext>
                </a:extLst>
              </a:tr>
              <a:tr h="525780">
                <a:tc>
                  <a:txBody>
                    <a:bodyPr/>
                    <a:lstStyle/>
                    <a:p>
                      <a:pPr algn="ctr"/>
                      <a:r>
                        <a:rPr sz="1100" b="0">
                          <a:solidFill>
                            <a:srgbClr val="3A3A3A"/>
                          </a:solidFill>
                          <a:latin typeface="맑은 고딕"/>
                        </a:rPr>
                        <a:t>NAMA</a:t>
                      </a:r>
                    </a:p>
                  </a:txBody>
                  <a:tcPr marL="50800" marR="50800" marT="25400" marB="25400" anchor="ctr">
                    <a:solidFill>
                      <a:srgbClr val="EFF1F4"/>
                    </a:solidFill>
                  </a:tcPr>
                </a:tc>
                <a:tc>
                  <a:txBody>
                    <a:bodyPr/>
                    <a:lstStyle/>
                    <a:p>
                      <a:pPr algn="ctr"/>
                      <a:r>
                        <a:rPr sz="1100" b="0">
                          <a:solidFill>
                            <a:srgbClr val="3A3A3A"/>
                          </a:solidFill>
                          <a:latin typeface="맑은 고딕"/>
                        </a:rPr>
                        <a:t>-0.178(악화)</a:t>
                      </a:r>
                    </a:p>
                  </a:txBody>
                  <a:tcPr marL="50800" marR="50800" marT="25400" marB="25400" anchor="ctr">
                    <a:solidFill>
                      <a:srgbClr val="EFF1F4"/>
                    </a:solidFill>
                  </a:tcPr>
                </a:tc>
                <a:tc>
                  <a:txBody>
                    <a:bodyPr/>
                    <a:lstStyle/>
                    <a:p>
                      <a:pPr algn="ctr"/>
                      <a:r>
                        <a:rPr sz="1100" b="0">
                          <a:solidFill>
                            <a:srgbClr val="3A3A3A"/>
                          </a:solidFill>
                          <a:latin typeface="맑은 고딕"/>
                        </a:rPr>
                        <a:t>-0.132(악화)</a:t>
                      </a:r>
                    </a:p>
                  </a:txBody>
                  <a:tcPr marL="50800" marR="50800" marT="25400" marB="25400" anchor="ctr">
                    <a:solidFill>
                      <a:srgbClr val="EFF1F4"/>
                    </a:solidFill>
                  </a:tcPr>
                </a:tc>
                <a:tc>
                  <a:txBody>
                    <a:bodyPr/>
                    <a:lstStyle/>
                    <a:p>
                      <a:pPr algn="ctr"/>
                      <a:r>
                        <a:rPr sz="1100" b="0">
                          <a:solidFill>
                            <a:srgbClr val="3A3A3A"/>
                          </a:solidFill>
                          <a:latin typeface="맑은 고딕"/>
                        </a:rPr>
                        <a:t>-0.181(악화)</a:t>
                      </a:r>
                    </a:p>
                  </a:txBody>
                  <a:tcPr marL="50800" marR="50800" marT="25400" marB="25400" anchor="ctr">
                    <a:solidFill>
                      <a:srgbClr val="EFF1F4"/>
                    </a:solidFill>
                  </a:tcPr>
                </a:tc>
                <a:tc>
                  <a:txBody>
                    <a:bodyPr/>
                    <a:lstStyle/>
                    <a:p>
                      <a:pPr algn="ctr"/>
                      <a:r>
                        <a:rPr sz="1100" b="0">
                          <a:solidFill>
                            <a:srgbClr val="3A3A3A"/>
                          </a:solidFill>
                          <a:latin typeface="맑은 고딕"/>
                        </a:rPr>
                        <a:t>-0.117(악화)</a:t>
                      </a:r>
                    </a:p>
                  </a:txBody>
                  <a:tcPr marL="50800" marR="50800" marT="25400" marB="25400" anchor="ctr">
                    <a:solidFill>
                      <a:srgbClr val="EFF1F4"/>
                    </a:solidFill>
                  </a:tcPr>
                </a:tc>
                <a:tc>
                  <a:txBody>
                    <a:bodyPr/>
                    <a:lstStyle/>
                    <a:p>
                      <a:pPr algn="ctr"/>
                      <a:r>
                        <a:rPr sz="1100" b="0">
                          <a:solidFill>
                            <a:srgbClr val="3A3A3A"/>
                          </a:solidFill>
                          <a:latin typeface="맑은 고딕"/>
                        </a:rPr>
                        <a:t>항상 악화</a:t>
                      </a:r>
                    </a:p>
                  </a:txBody>
                  <a:tcPr marL="50800" marR="50800" marT="25400" marB="25400" anchor="ctr">
                    <a:solidFill>
                      <a:srgbClr val="EFF1F4"/>
                    </a:solidFill>
                  </a:tcPr>
                </a:tc>
                <a:extLst>
                  <a:ext uri="{0D108BD9-81ED-4DB2-BD59-A6C34878D82A}">
                    <a16:rowId xmlns:a16="http://schemas.microsoft.com/office/drawing/2014/main" val="10006"/>
                  </a:ext>
                </a:extLst>
              </a:tr>
              <a:tr h="525780">
                <a:tc>
                  <a:txBody>
                    <a:bodyPr/>
                    <a:lstStyle/>
                    <a:p>
                      <a:pPr algn="ctr"/>
                      <a:r>
                        <a:rPr sz="1100" b="0">
                          <a:solidFill>
                            <a:srgbClr val="3A3A3A"/>
                          </a:solidFill>
                          <a:latin typeface="맑은 고딕"/>
                        </a:rPr>
                        <a:t>TAMA</a:t>
                      </a:r>
                    </a:p>
                  </a:txBody>
                  <a:tcPr marL="50800" marR="50800" marT="25400" marB="25400" anchor="ctr">
                    <a:solidFill>
                      <a:srgbClr val="FFFFFF"/>
                    </a:solidFill>
                  </a:tcPr>
                </a:tc>
                <a:tc>
                  <a:txBody>
                    <a:bodyPr/>
                    <a:lstStyle/>
                    <a:p>
                      <a:pPr algn="ctr"/>
                      <a:r>
                        <a:rPr sz="1100" b="0">
                          <a:solidFill>
                            <a:srgbClr val="3A3A3A"/>
                          </a:solidFill>
                          <a:latin typeface="맑은 고딕"/>
                        </a:rPr>
                        <a:t>-0.031(악화)</a:t>
                      </a:r>
                    </a:p>
                  </a:txBody>
                  <a:tcPr marL="50800" marR="50800" marT="25400" marB="25400" anchor="ctr">
                    <a:solidFill>
                      <a:srgbClr val="FFFFFF"/>
                    </a:solidFill>
                  </a:tcPr>
                </a:tc>
                <a:tc>
                  <a:txBody>
                    <a:bodyPr/>
                    <a:lstStyle/>
                    <a:p>
                      <a:pPr algn="ctr"/>
                      <a:r>
                        <a:rPr sz="1100" b="0">
                          <a:solidFill>
                            <a:srgbClr val="3A3A3A"/>
                          </a:solidFill>
                          <a:latin typeface="맑은 고딕"/>
                        </a:rPr>
                        <a:t>-0.035(악화)</a:t>
                      </a:r>
                    </a:p>
                  </a:txBody>
                  <a:tcPr marL="50800" marR="50800" marT="25400" marB="25400" anchor="ctr">
                    <a:solidFill>
                      <a:srgbClr val="FFFFFF"/>
                    </a:solidFill>
                  </a:tcPr>
                </a:tc>
                <a:tc>
                  <a:txBody>
                    <a:bodyPr/>
                    <a:lstStyle/>
                    <a:p>
                      <a:pPr algn="ctr"/>
                      <a:r>
                        <a:rPr sz="1100" b="0">
                          <a:solidFill>
                            <a:srgbClr val="3A3A3A"/>
                          </a:solidFill>
                          <a:latin typeface="맑은 고딕"/>
                        </a:rPr>
                        <a:t>-0.039(악화)</a:t>
                      </a:r>
                    </a:p>
                  </a:txBody>
                  <a:tcPr marL="50800" marR="50800" marT="25400" marB="25400" anchor="ctr">
                    <a:solidFill>
                      <a:srgbClr val="FFFFFF"/>
                    </a:solidFill>
                  </a:tcPr>
                </a:tc>
                <a:tc>
                  <a:txBody>
                    <a:bodyPr/>
                    <a:lstStyle/>
                    <a:p>
                      <a:pPr algn="ctr"/>
                      <a:r>
                        <a:rPr sz="1100" b="0">
                          <a:solidFill>
                            <a:srgbClr val="3A3A3A"/>
                          </a:solidFill>
                          <a:latin typeface="맑은 고딕"/>
                        </a:rPr>
                        <a:t>-0.039(악화)</a:t>
                      </a:r>
                    </a:p>
                  </a:txBody>
                  <a:tcPr marL="50800" marR="50800" marT="25400" marB="25400" anchor="ctr">
                    <a:solidFill>
                      <a:srgbClr val="FFFFFF"/>
                    </a:solidFill>
                  </a:tcPr>
                </a:tc>
                <a:tc>
                  <a:txBody>
                    <a:bodyPr/>
                    <a:lstStyle/>
                    <a:p>
                      <a:pPr algn="ctr"/>
                      <a:r>
                        <a:rPr sz="1100" b="0">
                          <a:solidFill>
                            <a:srgbClr val="3A3A3A"/>
                          </a:solidFill>
                          <a:latin typeface="맑은 고딕"/>
                        </a:rPr>
                        <a:t>항상 악화</a:t>
                      </a:r>
                    </a:p>
                  </a:txBody>
                  <a:tcPr marL="50800" marR="50800" marT="25400" marB="25400"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CROSS-STEP COMPARISON  ·  2 / 2</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왜 이런 패턴이 나오는가</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근육-AEC 상관은 원래 약하고(|r|&lt;0.25), 지방-AEC 상관(r≈0.6)은 과압축하면 사라진다</a:t>
            </a:r>
          </a:p>
        </p:txBody>
      </p:sp>
      <p:sp>
        <p:nvSpPr>
          <p:cNvPr id="7" name="Rectangle 6"/>
          <p:cNvSpPr/>
          <p:nvPr/>
        </p:nvSpPr>
        <p:spPr>
          <a:xfrm>
            <a:off x="502920" y="1938528"/>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12</a:t>
            </a:r>
          </a:p>
        </p:txBody>
      </p:sp>
      <p:sp>
        <p:nvSpPr>
          <p:cNvPr id="9" name="TextBox 8"/>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0" name="Table 9"/>
          <p:cNvGraphicFramePr>
            <a:graphicFrameLocks noGrp="1"/>
          </p:cNvGraphicFramePr>
          <p:nvPr/>
        </p:nvGraphicFramePr>
        <p:xfrm>
          <a:off x="502920" y="2103120"/>
          <a:ext cx="11155679" cy="2194560"/>
        </p:xfrm>
        <a:graphic>
          <a:graphicData uri="http://schemas.openxmlformats.org/drawingml/2006/table">
            <a:tbl>
              <a:tblPr firstRow="1" bandRow="1">
                <a:tableStyleId>{5C22544A-7EE6-4342-B048-85BDC9FD1C3A}</a:tableStyleId>
              </a:tblPr>
              <a:tblGrid>
                <a:gridCol w="2636797">
                  <a:extLst>
                    <a:ext uri="{9D8B030D-6E8A-4147-A177-3AD203B41FA5}">
                      <a16:colId xmlns:a16="http://schemas.microsoft.com/office/drawing/2014/main" val="20000"/>
                    </a:ext>
                  </a:extLst>
                </a:gridCol>
                <a:gridCol w="3042458">
                  <a:extLst>
                    <a:ext uri="{9D8B030D-6E8A-4147-A177-3AD203B41FA5}">
                      <a16:colId xmlns:a16="http://schemas.microsoft.com/office/drawing/2014/main" val="20001"/>
                    </a:ext>
                  </a:extLst>
                </a:gridCol>
                <a:gridCol w="5476424">
                  <a:extLst>
                    <a:ext uri="{9D8B030D-6E8A-4147-A177-3AD203B41FA5}">
                      <a16:colId xmlns:a16="http://schemas.microsoft.com/office/drawing/2014/main" val="20002"/>
                    </a:ext>
                  </a:extLst>
                </a:gridCol>
              </a:tblGrid>
              <a:tr h="548640">
                <a:tc>
                  <a:txBody>
                    <a:bodyPr/>
                    <a:lstStyle/>
                    <a:p>
                      <a:pPr algn="ctr"/>
                      <a:r>
                        <a:rPr sz="1100" b="1">
                          <a:solidFill>
                            <a:srgbClr val="FFFFFF"/>
                          </a:solidFill>
                          <a:latin typeface="맑은 고딕"/>
                        </a:rPr>
                        <a:t>구분</a:t>
                      </a:r>
                    </a:p>
                  </a:txBody>
                  <a:tcPr marL="50800" marR="50800" marT="25400" marB="25400" anchor="ctr">
                    <a:solidFill>
                      <a:srgbClr val="1B2A4A"/>
                    </a:solidFill>
                  </a:tcPr>
                </a:tc>
                <a:tc>
                  <a:txBody>
                    <a:bodyPr/>
                    <a:lstStyle/>
                    <a:p>
                      <a:pPr algn="ctr"/>
                      <a:r>
                        <a:rPr sz="1100" b="1">
                          <a:solidFill>
                            <a:srgbClr val="FFFFFF"/>
                          </a:solidFill>
                          <a:latin typeface="맑은 고딕"/>
                        </a:rPr>
                        <a:t>AEC 상관</a:t>
                      </a:r>
                    </a:p>
                  </a:txBody>
                  <a:tcPr marL="50800" marR="50800" marT="25400" marB="25400" anchor="ctr">
                    <a:solidFill>
                      <a:srgbClr val="1B2A4A"/>
                    </a:solidFill>
                  </a:tcPr>
                </a:tc>
                <a:tc>
                  <a:txBody>
                    <a:bodyPr/>
                    <a:lstStyle/>
                    <a:p>
                      <a:pPr algn="ctr"/>
                      <a:r>
                        <a:rPr sz="1100" b="1">
                          <a:solidFill>
                            <a:srgbClr val="FFFFFF"/>
                          </a:solidFill>
                          <a:latin typeface="맑은 고딕"/>
                        </a:rPr>
                        <a:t>4개 실험 반응 패턴</a:t>
                      </a:r>
                    </a:p>
                  </a:txBody>
                  <a:tcPr marL="50800" marR="50800" marT="25400" marB="25400" anchor="ctr">
                    <a:solidFill>
                      <a:srgbClr val="1B2A4A"/>
                    </a:solidFill>
                  </a:tcPr>
                </a:tc>
                <a:extLst>
                  <a:ext uri="{0D108BD9-81ED-4DB2-BD59-A6C34878D82A}">
                    <a16:rowId xmlns:a16="http://schemas.microsoft.com/office/drawing/2014/main" val="10000"/>
                  </a:ext>
                </a:extLst>
              </a:tr>
              <a:tr h="548640">
                <a:tc>
                  <a:txBody>
                    <a:bodyPr/>
                    <a:lstStyle/>
                    <a:p>
                      <a:pPr algn="ctr"/>
                      <a:r>
                        <a:rPr sz="1100" b="0">
                          <a:solidFill>
                            <a:srgbClr val="3A3A3A"/>
                          </a:solidFill>
                          <a:latin typeface="맑은 고딕"/>
                        </a:rPr>
                        <a:t>근육계열 (NAMA·TAMA)</a:t>
                      </a:r>
                    </a:p>
                  </a:txBody>
                  <a:tcPr marL="50800" marR="50800" marT="25400" marB="25400" anchor="ctr">
                    <a:solidFill>
                      <a:srgbClr val="FFFFFF"/>
                    </a:solidFill>
                  </a:tcPr>
                </a:tc>
                <a:tc>
                  <a:txBody>
                    <a:bodyPr/>
                    <a:lstStyle/>
                    <a:p>
                      <a:pPr algn="ctr"/>
                      <a:r>
                        <a:rPr sz="1100" b="0">
                          <a:solidFill>
                            <a:srgbClr val="3A3A3A"/>
                          </a:solidFill>
                          <a:latin typeface="맑은 고딕"/>
                        </a:rPr>
                        <a:t>전 구간 |r| &lt; 0.25</a:t>
                      </a:r>
                    </a:p>
                  </a:txBody>
                  <a:tcPr marL="50800" marR="50800" marT="25400" marB="25400" anchor="ctr">
                    <a:solidFill>
                      <a:srgbClr val="FFFFFF"/>
                    </a:solidFill>
                  </a:tcPr>
                </a:tc>
                <a:tc>
                  <a:txBody>
                    <a:bodyPr/>
                    <a:lstStyle/>
                    <a:p>
                      <a:pPr algn="ctr"/>
                      <a:r>
                        <a:rPr sz="1100" b="0">
                          <a:solidFill>
                            <a:srgbClr val="3A3A3A"/>
                          </a:solidFill>
                          <a:latin typeface="맑은 고딕"/>
                        </a:rPr>
                        <a:t>압축·선택 방식 무관 — 항상 유의 악화</a:t>
                      </a:r>
                    </a:p>
                  </a:txBody>
                  <a:tcPr marL="50800" marR="50800" marT="25400" marB="25400" anchor="ctr">
                    <a:solidFill>
                      <a:srgbClr val="FFFFFF"/>
                    </a:solidFill>
                  </a:tcPr>
                </a:tc>
                <a:extLst>
                  <a:ext uri="{0D108BD9-81ED-4DB2-BD59-A6C34878D82A}">
                    <a16:rowId xmlns:a16="http://schemas.microsoft.com/office/drawing/2014/main" val="10001"/>
                  </a:ext>
                </a:extLst>
              </a:tr>
              <a:tr h="548640">
                <a:tc>
                  <a:txBody>
                    <a:bodyPr/>
                    <a:lstStyle/>
                    <a:p>
                      <a:pPr algn="ctr"/>
                      <a:r>
                        <a:rPr sz="1100" b="0">
                          <a:solidFill>
                            <a:srgbClr val="3A3A3A"/>
                          </a:solidFill>
                          <a:latin typeface="맑은 고딕"/>
                        </a:rPr>
                        <a:t>지방계열 (VAT·Total Fat)</a:t>
                      </a:r>
                    </a:p>
                  </a:txBody>
                  <a:tcPr marL="50800" marR="50800" marT="25400" marB="25400" anchor="ctr">
                    <a:solidFill>
                      <a:srgbClr val="EFF1F4"/>
                    </a:solidFill>
                  </a:tcPr>
                </a:tc>
                <a:tc>
                  <a:txBody>
                    <a:bodyPr/>
                    <a:lstStyle/>
                    <a:p>
                      <a:pPr algn="ctr"/>
                      <a:r>
                        <a:rPr sz="1100" b="0">
                          <a:solidFill>
                            <a:srgbClr val="3A3A3A"/>
                          </a:solidFill>
                          <a:latin typeface="맑은 고딕"/>
                        </a:rPr>
                        <a:t>후반부(50~75%) r ≈ 0.60~0.63</a:t>
                      </a:r>
                    </a:p>
                  </a:txBody>
                  <a:tcPr marL="50800" marR="50800" marT="25400" marB="25400" anchor="ctr">
                    <a:solidFill>
                      <a:srgbClr val="EFF1F4"/>
                    </a:solidFill>
                  </a:tcPr>
                </a:tc>
                <a:tc>
                  <a:txBody>
                    <a:bodyPr/>
                    <a:lstStyle/>
                    <a:p>
                      <a:pPr algn="ctr"/>
                      <a:r>
                        <a:rPr sz="1100" b="0">
                          <a:solidFill>
                            <a:srgbClr val="3A3A3A"/>
                          </a:solidFill>
                          <a:latin typeface="맑은 고딕"/>
                        </a:rPr>
                        <a:t>정보보존 표현(top-k 전체, shape_all)에서만 유의 개선</a:t>
                      </a:r>
                    </a:p>
                  </a:txBody>
                  <a:tcPr marL="50800" marR="50800" marT="25400" marB="25400" anchor="ctr">
                    <a:solidFill>
                      <a:srgbClr val="EFF1F4"/>
                    </a:solidFill>
                  </a:tcPr>
                </a:tc>
                <a:extLst>
                  <a:ext uri="{0D108BD9-81ED-4DB2-BD59-A6C34878D82A}">
                    <a16:rowId xmlns:a16="http://schemas.microsoft.com/office/drawing/2014/main" val="10002"/>
                  </a:ext>
                </a:extLst>
              </a:tr>
              <a:tr h="548640">
                <a:tc>
                  <a:txBody>
                    <a:bodyPr/>
                    <a:lstStyle/>
                    <a:p>
                      <a:pPr algn="ctr"/>
                      <a:r>
                        <a:rPr sz="1100" b="0">
                          <a:solidFill>
                            <a:srgbClr val="3A3A3A"/>
                          </a:solidFill>
                          <a:latin typeface="맑은 고딕"/>
                        </a:rPr>
                        <a:t>IMATA·SAT</a:t>
                      </a:r>
                    </a:p>
                  </a:txBody>
                  <a:tcPr marL="50800" marR="50800" marT="25400" marB="25400" anchor="ctr">
                    <a:solidFill>
                      <a:srgbClr val="FFFFFF"/>
                    </a:solidFill>
                  </a:tcPr>
                </a:tc>
                <a:tc>
                  <a:txBody>
                    <a:bodyPr/>
                    <a:lstStyle/>
                    <a:p>
                      <a:pPr algn="ctr"/>
                      <a:r>
                        <a:rPr sz="1100" b="0">
                          <a:solidFill>
                            <a:srgbClr val="3A3A3A"/>
                          </a:solidFill>
                          <a:latin typeface="맑은 고딕"/>
                        </a:rPr>
                        <a:t>|r| ≥ 0.1이나 약함</a:t>
                      </a:r>
                    </a:p>
                  </a:txBody>
                  <a:tcPr marL="50800" marR="50800" marT="25400" marB="25400" anchor="ctr">
                    <a:solidFill>
                      <a:srgbClr val="FFFFFF"/>
                    </a:solidFill>
                  </a:tcPr>
                </a:tc>
                <a:tc>
                  <a:txBody>
                    <a:bodyPr/>
                    <a:lstStyle/>
                    <a:p>
                      <a:pPr algn="ctr"/>
                      <a:r>
                        <a:rPr sz="1100" b="0">
                          <a:solidFill>
                            <a:srgbClr val="3A3A3A"/>
                          </a:solidFill>
                          <a:latin typeface="맑은 고딕"/>
                        </a:rPr>
                        <a:t>모든 실험에서 유의한 효과 없음(n.s.)</a:t>
                      </a:r>
                    </a:p>
                  </a:txBody>
                  <a:tcPr marL="50800" marR="50800" marT="25400" marB="25400"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CONCLUSION</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결론 및 다음 단계</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VAT·Total Fat은 조건부 채택, NAMA·TAMA는 AEC 추가 비권장, Step4 이진분류는 VAT·SAT·Total Fat·IMATA·LAMA 5종 개선·TAMA는 악화</a:t>
            </a:r>
          </a:p>
        </p:txBody>
      </p:sp>
      <p:sp>
        <p:nvSpPr>
          <p:cNvPr id="7" name="Rectangle 6"/>
          <p:cNvSpPr/>
          <p:nvPr/>
        </p:nvSpPr>
        <p:spPr>
          <a:xfrm>
            <a:off x="502920" y="1938528"/>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13</a:t>
            </a:r>
          </a:p>
        </p:txBody>
      </p:sp>
      <p:sp>
        <p:nvSpPr>
          <p:cNvPr id="9" name="TextBox 8"/>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0" name="Table 9"/>
          <p:cNvGraphicFramePr>
            <a:graphicFrameLocks noGrp="1"/>
          </p:cNvGraphicFramePr>
          <p:nvPr/>
        </p:nvGraphicFramePr>
        <p:xfrm>
          <a:off x="502920" y="2103120"/>
          <a:ext cx="11155679" cy="2743200"/>
        </p:xfrm>
        <a:graphic>
          <a:graphicData uri="http://schemas.openxmlformats.org/drawingml/2006/table">
            <a:tbl>
              <a:tblPr firstRow="1" bandRow="1">
                <a:tableStyleId>{5C22544A-7EE6-4342-B048-85BDC9FD1C3A}</a:tableStyleId>
              </a:tblPr>
              <a:tblGrid>
                <a:gridCol w="1683876">
                  <a:extLst>
                    <a:ext uri="{9D8B030D-6E8A-4147-A177-3AD203B41FA5}">
                      <a16:colId xmlns:a16="http://schemas.microsoft.com/office/drawing/2014/main" val="20000"/>
                    </a:ext>
                  </a:extLst>
                </a:gridCol>
                <a:gridCol w="2525814">
                  <a:extLst>
                    <a:ext uri="{9D8B030D-6E8A-4147-A177-3AD203B41FA5}">
                      <a16:colId xmlns:a16="http://schemas.microsoft.com/office/drawing/2014/main" val="20001"/>
                    </a:ext>
                  </a:extLst>
                </a:gridCol>
                <a:gridCol w="6945989">
                  <a:extLst>
                    <a:ext uri="{9D8B030D-6E8A-4147-A177-3AD203B41FA5}">
                      <a16:colId xmlns:a16="http://schemas.microsoft.com/office/drawing/2014/main" val="20002"/>
                    </a:ext>
                  </a:extLst>
                </a:gridCol>
              </a:tblGrid>
              <a:tr h="548640">
                <a:tc>
                  <a:txBody>
                    <a:bodyPr/>
                    <a:lstStyle/>
                    <a:p>
                      <a:pPr algn="ctr"/>
                      <a:r>
                        <a:rPr sz="1100" b="1">
                          <a:solidFill>
                            <a:srgbClr val="FFFFFF"/>
                          </a:solidFill>
                          <a:latin typeface="맑은 고딕"/>
                        </a:rPr>
                        <a:t>판정</a:t>
                      </a:r>
                    </a:p>
                  </a:txBody>
                  <a:tcPr marL="50800" marR="50800" marT="25400" marB="25400" anchor="ctr">
                    <a:solidFill>
                      <a:srgbClr val="1B2A4A"/>
                    </a:solidFill>
                  </a:tcPr>
                </a:tc>
                <a:tc>
                  <a:txBody>
                    <a:bodyPr/>
                    <a:lstStyle/>
                    <a:p>
                      <a:pPr algn="ctr"/>
                      <a:r>
                        <a:rPr sz="1100" b="1">
                          <a:solidFill>
                            <a:srgbClr val="FFFFFF"/>
                          </a:solidFill>
                          <a:latin typeface="맑은 고딕"/>
                        </a:rPr>
                        <a:t>대상 Feature</a:t>
                      </a:r>
                    </a:p>
                  </a:txBody>
                  <a:tcPr marL="50800" marR="50800" marT="25400" marB="25400" anchor="ctr">
                    <a:solidFill>
                      <a:srgbClr val="1B2A4A"/>
                    </a:solidFill>
                  </a:tcPr>
                </a:tc>
                <a:tc>
                  <a:txBody>
                    <a:bodyPr/>
                    <a:lstStyle/>
                    <a:p>
                      <a:pPr algn="ctr"/>
                      <a:r>
                        <a:rPr sz="1100" b="1">
                          <a:solidFill>
                            <a:srgbClr val="FFFFFF"/>
                          </a:solidFill>
                          <a:latin typeface="맑은 고딕"/>
                        </a:rPr>
                        <a:t>근거</a:t>
                      </a:r>
                    </a:p>
                  </a:txBody>
                  <a:tcPr marL="50800" marR="50800" marT="25400" marB="25400" anchor="ctr">
                    <a:solidFill>
                      <a:srgbClr val="1B2A4A"/>
                    </a:solidFill>
                  </a:tcPr>
                </a:tc>
                <a:extLst>
                  <a:ext uri="{0D108BD9-81ED-4DB2-BD59-A6C34878D82A}">
                    <a16:rowId xmlns:a16="http://schemas.microsoft.com/office/drawing/2014/main" val="10000"/>
                  </a:ext>
                </a:extLst>
              </a:tr>
              <a:tr h="548640">
                <a:tc>
                  <a:txBody>
                    <a:bodyPr/>
                    <a:lstStyle/>
                    <a:p>
                      <a:pPr algn="ctr"/>
                      <a:r>
                        <a:rPr sz="1100" b="1">
                          <a:solidFill>
                            <a:srgbClr val="1E7A3C"/>
                          </a:solidFill>
                          <a:latin typeface="맑은 고딕"/>
                        </a:rPr>
                        <a:t>채택(조건부)</a:t>
                      </a:r>
                    </a:p>
                  </a:txBody>
                  <a:tcPr marL="50800" marR="50800" marT="25400" marB="25400" anchor="ctr">
                    <a:solidFill>
                      <a:srgbClr val="FFFFFF"/>
                    </a:solidFill>
                  </a:tcPr>
                </a:tc>
                <a:tc>
                  <a:txBody>
                    <a:bodyPr/>
                    <a:lstStyle/>
                    <a:p>
                      <a:pPr algn="ctr"/>
                      <a:r>
                        <a:rPr sz="1100" b="0">
                          <a:solidFill>
                            <a:srgbClr val="3A3A3A"/>
                          </a:solidFill>
                          <a:latin typeface="맑은 고딕"/>
                        </a:rPr>
                        <a:t>VAT, Total Fat</a:t>
                      </a:r>
                    </a:p>
                  </a:txBody>
                  <a:tcPr marL="50800" marR="50800" marT="25400" marB="25400" anchor="ctr">
                    <a:solidFill>
                      <a:srgbClr val="FFFFFF"/>
                    </a:solidFill>
                  </a:tcPr>
                </a:tc>
                <a:tc>
                  <a:txBody>
                    <a:bodyPr/>
                    <a:lstStyle/>
                    <a:p>
                      <a:pPr algn="ctr"/>
                      <a:r>
                        <a:rPr sz="1100" b="0">
                          <a:solidFill>
                            <a:srgbClr val="3A3A3A"/>
                          </a:solidFill>
                          <a:latin typeface="맑은 고딕"/>
                        </a:rPr>
                        <a:t>정보보존 표현(top-k 전체, shape_all)에서만 유의 개선</a:t>
                      </a:r>
                    </a:p>
                  </a:txBody>
                  <a:tcPr marL="50800" marR="50800" marT="25400" marB="25400" anchor="ctr">
                    <a:solidFill>
                      <a:srgbClr val="FFFFFF"/>
                    </a:solidFill>
                  </a:tcPr>
                </a:tc>
                <a:extLst>
                  <a:ext uri="{0D108BD9-81ED-4DB2-BD59-A6C34878D82A}">
                    <a16:rowId xmlns:a16="http://schemas.microsoft.com/office/drawing/2014/main" val="10001"/>
                  </a:ext>
                </a:extLst>
              </a:tr>
              <a:tr h="548640">
                <a:tc>
                  <a:txBody>
                    <a:bodyPr/>
                    <a:lstStyle/>
                    <a:p>
                      <a:pPr algn="ctr"/>
                      <a:r>
                        <a:rPr sz="1100" b="1">
                          <a:solidFill>
                            <a:srgbClr val="B32A2A"/>
                          </a:solidFill>
                          <a:latin typeface="맑은 고딕"/>
                        </a:rPr>
                        <a:t>비권장</a:t>
                      </a:r>
                    </a:p>
                  </a:txBody>
                  <a:tcPr marL="50800" marR="50800" marT="25400" marB="25400" anchor="ctr">
                    <a:solidFill>
                      <a:srgbClr val="EFF1F4"/>
                    </a:solidFill>
                  </a:tcPr>
                </a:tc>
                <a:tc>
                  <a:txBody>
                    <a:bodyPr/>
                    <a:lstStyle/>
                    <a:p>
                      <a:pPr algn="ctr"/>
                      <a:r>
                        <a:rPr sz="1100" b="0">
                          <a:solidFill>
                            <a:srgbClr val="3A3A3A"/>
                          </a:solidFill>
                          <a:latin typeface="맑은 고딕"/>
                        </a:rPr>
                        <a:t>NAMA, TAMA</a:t>
                      </a:r>
                    </a:p>
                  </a:txBody>
                  <a:tcPr marL="50800" marR="50800" marT="25400" marB="25400" anchor="ctr">
                    <a:solidFill>
                      <a:srgbClr val="EFF1F4"/>
                    </a:solidFill>
                  </a:tcPr>
                </a:tc>
                <a:tc>
                  <a:txBody>
                    <a:bodyPr/>
                    <a:lstStyle/>
                    <a:p>
                      <a:pPr algn="ctr"/>
                      <a:r>
                        <a:rPr sz="1100" b="0">
                          <a:solidFill>
                            <a:srgbClr val="3A3A3A"/>
                          </a:solidFill>
                          <a:latin typeface="맑은 고딕"/>
                        </a:rPr>
                        <a:t>4개 실험 전부 유의 악화 — clinic4 baseline이 이미 최선</a:t>
                      </a:r>
                    </a:p>
                  </a:txBody>
                  <a:tcPr marL="50800" marR="50800" marT="25400" marB="25400" anchor="ctr">
                    <a:solidFill>
                      <a:srgbClr val="EFF1F4"/>
                    </a:solidFill>
                  </a:tcPr>
                </a:tc>
                <a:extLst>
                  <a:ext uri="{0D108BD9-81ED-4DB2-BD59-A6C34878D82A}">
                    <a16:rowId xmlns:a16="http://schemas.microsoft.com/office/drawing/2014/main" val="10002"/>
                  </a:ext>
                </a:extLst>
              </a:tr>
              <a:tr h="548640">
                <a:tc>
                  <a:txBody>
                    <a:bodyPr/>
                    <a:lstStyle/>
                    <a:p>
                      <a:pPr algn="ctr"/>
                      <a:r>
                        <a:rPr sz="1100" b="1">
                          <a:solidFill>
                            <a:srgbClr val="8A8A8A"/>
                          </a:solidFill>
                          <a:latin typeface="맑은 고딕"/>
                        </a:rPr>
                        <a:t>근거 불충분</a:t>
                      </a:r>
                    </a:p>
                  </a:txBody>
                  <a:tcPr marL="50800" marR="50800" marT="25400" marB="25400" anchor="ctr">
                    <a:solidFill>
                      <a:srgbClr val="FFFFFF"/>
                    </a:solidFill>
                  </a:tcPr>
                </a:tc>
                <a:tc>
                  <a:txBody>
                    <a:bodyPr/>
                    <a:lstStyle/>
                    <a:p>
                      <a:pPr algn="ctr"/>
                      <a:r>
                        <a:rPr sz="1100" b="0">
                          <a:solidFill>
                            <a:srgbClr val="3A3A3A"/>
                          </a:solidFill>
                          <a:latin typeface="맑은 고딕"/>
                        </a:rPr>
                        <a:t>IMATA, SAT</a:t>
                      </a:r>
                    </a:p>
                  </a:txBody>
                  <a:tcPr marL="50800" marR="50800" marT="25400" marB="25400" anchor="ctr">
                    <a:solidFill>
                      <a:srgbClr val="FFFFFF"/>
                    </a:solidFill>
                  </a:tcPr>
                </a:tc>
                <a:tc>
                  <a:txBody>
                    <a:bodyPr/>
                    <a:lstStyle/>
                    <a:p>
                      <a:pPr algn="ctr"/>
                      <a:r>
                        <a:rPr sz="1100" b="0">
                          <a:solidFill>
                            <a:srgbClr val="3A3A3A"/>
                          </a:solidFill>
                          <a:latin typeface="맑은 고딕"/>
                        </a:rPr>
                        <a:t>3/4 실험 n.s., 앞/뒤50%분할은 유의 악화 — 표본 확대 또는 FPCA 등 재검토 필요</a:t>
                      </a:r>
                    </a:p>
                  </a:txBody>
                  <a:tcPr marL="50800" marR="50800" marT="25400" marB="25400" anchor="ctr">
                    <a:solidFill>
                      <a:srgbClr val="FFFFFF"/>
                    </a:solidFill>
                  </a:tcPr>
                </a:tc>
                <a:extLst>
                  <a:ext uri="{0D108BD9-81ED-4DB2-BD59-A6C34878D82A}">
                    <a16:rowId xmlns:a16="http://schemas.microsoft.com/office/drawing/2014/main" val="10003"/>
                  </a:ext>
                </a:extLst>
              </a:tr>
              <a:tr h="548640">
                <a:tc>
                  <a:txBody>
                    <a:bodyPr/>
                    <a:lstStyle/>
                    <a:p>
                      <a:pPr algn="ctr"/>
                      <a:r>
                        <a:rPr sz="1100" b="1">
                          <a:solidFill>
                            <a:srgbClr val="8A8A8A"/>
                          </a:solidFill>
                          <a:latin typeface="맑은 고딕"/>
                        </a:rPr>
                        <a:t>확인(이진분류)</a:t>
                      </a:r>
                    </a:p>
                  </a:txBody>
                  <a:tcPr marL="50800" marR="50800" marT="25400" marB="25400" anchor="ctr">
                    <a:solidFill>
                      <a:srgbClr val="EFF1F4"/>
                    </a:solidFill>
                  </a:tcPr>
                </a:tc>
                <a:tc>
                  <a:txBody>
                    <a:bodyPr/>
                    <a:lstStyle/>
                    <a:p>
                      <a:pPr algn="ctr"/>
                      <a:r>
                        <a:rPr sz="1100" b="0">
                          <a:solidFill>
                            <a:srgbClr val="3A3A3A"/>
                          </a:solidFill>
                          <a:latin typeface="맑은 고딕"/>
                        </a:rPr>
                        <a:t>Step4: VAT·SAT·TotalFat·IMATA·LAMA / TAMA</a:t>
                      </a:r>
                    </a:p>
                  </a:txBody>
                  <a:tcPr marL="50800" marR="50800" marT="25400" marB="25400" anchor="ctr">
                    <a:solidFill>
                      <a:srgbClr val="EFF1F4"/>
                    </a:solidFill>
                  </a:tcPr>
                </a:tc>
                <a:tc>
                  <a:txBody>
                    <a:bodyPr/>
                    <a:lstStyle/>
                    <a:p>
                      <a:pPr algn="ctr"/>
                      <a:r>
                        <a:rPr sz="1100" b="0">
                          <a:solidFill>
                            <a:srgbClr val="3A3A3A"/>
                          </a:solidFill>
                          <a:latin typeface="맑은 고딕"/>
                        </a:rPr>
                        <a:t>AEC 8구간평균 추가 시 5종 external 유의 개선(DeLong p&lt;0.05), TAMA는 유의 악화 (Slide12)</a:t>
                      </a:r>
                    </a:p>
                  </a:txBody>
                  <a:tcPr marL="50800" marR="50800" marT="25400" marB="25400" anchor="ctr">
                    <a:solidFill>
                      <a:srgbClr val="EFF1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0"/>
            <a:ext cx="12191695" cy="13716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3063240"/>
            <a:ext cx="10515600" cy="822960"/>
          </a:xfrm>
          <a:prstGeom prst="rect">
            <a:avLst/>
          </a:prstGeom>
          <a:noFill/>
        </p:spPr>
        <p:txBody>
          <a:bodyPr wrap="square">
            <a:spAutoFit/>
          </a:bodyPr>
          <a:lstStyle/>
          <a:p>
            <a:pPr algn="l">
              <a:lnSpc>
                <a:spcPct val="115000"/>
              </a:lnSpc>
            </a:pPr>
            <a:r>
              <a:rPr sz="4000" b="1" i="0">
                <a:solidFill>
                  <a:srgbClr val="FFFFFF"/>
                </a:solidFill>
                <a:latin typeface="맑은 고딕"/>
              </a:rPr>
              <a:t>APPENDIX</a:t>
            </a:r>
          </a:p>
        </p:txBody>
      </p:sp>
      <p:sp>
        <p:nvSpPr>
          <p:cNvPr id="4" name="TextBox 3"/>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APPENDIX  ·  STEP4 CUTOFF 상세</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Cutoff 값 &amp; 이상군 비율 — 7개 feature 전체</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이상군 비율은 internal 12.5~15.1%·external 10.8~37.5%로 feature별 편차가 큼 — LAMA·NAMA는 external 비율이 internal의 2~3배</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성별(M/F) mean±1SD cutoff, direction: TAMA·NAMA=low(적을수록 이상), LAMA·IMATA·SAT·VAT·Total Fat=high(많을수록 이상); internal에서 고정한 절대값을 external에 그대로 적용(재계산 없음). Slide12 결과표 참고</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16</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1" name="Table 10"/>
          <p:cNvGraphicFramePr>
            <a:graphicFrameLocks noGrp="1"/>
          </p:cNvGraphicFramePr>
          <p:nvPr/>
        </p:nvGraphicFramePr>
        <p:xfrm>
          <a:off x="1097280" y="2414016"/>
          <a:ext cx="9966958" cy="3553096"/>
        </p:xfrm>
        <a:graphic>
          <a:graphicData uri="http://schemas.openxmlformats.org/drawingml/2006/table">
            <a:tbl>
              <a:tblPr firstRow="1" bandRow="1">
                <a:tableStyleId>{5C22544A-7EE6-4342-B048-85BDC9FD1C3A}</a:tableStyleId>
              </a:tblPr>
              <a:tblGrid>
                <a:gridCol w="1661160">
                  <a:extLst>
                    <a:ext uri="{9D8B030D-6E8A-4147-A177-3AD203B41FA5}">
                      <a16:colId xmlns:a16="http://schemas.microsoft.com/office/drawing/2014/main" val="20000"/>
                    </a:ext>
                  </a:extLst>
                </a:gridCol>
                <a:gridCol w="2416232">
                  <a:extLst>
                    <a:ext uri="{9D8B030D-6E8A-4147-A177-3AD203B41FA5}">
                      <a16:colId xmlns:a16="http://schemas.microsoft.com/office/drawing/2014/main" val="20001"/>
                    </a:ext>
                  </a:extLst>
                </a:gridCol>
                <a:gridCol w="2869276">
                  <a:extLst>
                    <a:ext uri="{9D8B030D-6E8A-4147-A177-3AD203B41FA5}">
                      <a16:colId xmlns:a16="http://schemas.microsoft.com/office/drawing/2014/main" val="20002"/>
                    </a:ext>
                  </a:extLst>
                </a:gridCol>
                <a:gridCol w="1510145">
                  <a:extLst>
                    <a:ext uri="{9D8B030D-6E8A-4147-A177-3AD203B41FA5}">
                      <a16:colId xmlns:a16="http://schemas.microsoft.com/office/drawing/2014/main" val="20003"/>
                    </a:ext>
                  </a:extLst>
                </a:gridCol>
                <a:gridCol w="1510145">
                  <a:extLst>
                    <a:ext uri="{9D8B030D-6E8A-4147-A177-3AD203B41FA5}">
                      <a16:colId xmlns:a16="http://schemas.microsoft.com/office/drawing/2014/main" val="20004"/>
                    </a:ext>
                  </a:extLst>
                </a:gridCol>
              </a:tblGrid>
              <a:tr h="444137">
                <a:tc>
                  <a:txBody>
                    <a:bodyPr/>
                    <a:lstStyle/>
                    <a:p>
                      <a:pPr algn="ctr"/>
                      <a:r>
                        <a:rPr sz="1100" b="1">
                          <a:solidFill>
                            <a:srgbClr val="FFFFFF"/>
                          </a:solidFill>
                          <a:latin typeface="맑은 고딕"/>
                        </a:rPr>
                        <a:t>Feature</a:t>
                      </a:r>
                    </a:p>
                  </a:txBody>
                  <a:tcPr marL="50800" marR="50800" marT="25400" marB="25400" anchor="ctr">
                    <a:solidFill>
                      <a:srgbClr val="1B2A4A"/>
                    </a:solidFill>
                  </a:tcPr>
                </a:tc>
                <a:tc>
                  <a:txBody>
                    <a:bodyPr/>
                    <a:lstStyle/>
                    <a:p>
                      <a:pPr algn="ctr"/>
                      <a:r>
                        <a:rPr sz="1100" b="1">
                          <a:solidFill>
                            <a:srgbClr val="FFFFFF"/>
                          </a:solidFill>
                          <a:latin typeface="맑은 고딕"/>
                        </a:rPr>
                        <a:t>Direction</a:t>
                      </a:r>
                    </a:p>
                  </a:txBody>
                  <a:tcPr marL="50800" marR="50800" marT="25400" marB="25400" anchor="ctr">
                    <a:solidFill>
                      <a:srgbClr val="1B2A4A"/>
                    </a:solidFill>
                  </a:tcPr>
                </a:tc>
                <a:tc>
                  <a:txBody>
                    <a:bodyPr/>
                    <a:lstStyle/>
                    <a:p>
                      <a:pPr algn="ctr"/>
                      <a:r>
                        <a:rPr sz="1100" b="1">
                          <a:solidFill>
                            <a:srgbClr val="FFFFFF"/>
                          </a:solidFill>
                          <a:latin typeface="맑은 고딕"/>
                        </a:rPr>
                        <a:t>Cutoff (M / F)</a:t>
                      </a:r>
                    </a:p>
                  </a:txBody>
                  <a:tcPr marL="50800" marR="50800" marT="25400" marB="25400" anchor="ctr">
                    <a:solidFill>
                      <a:srgbClr val="1B2A4A"/>
                    </a:solidFill>
                  </a:tcPr>
                </a:tc>
                <a:tc>
                  <a:txBody>
                    <a:bodyPr/>
                    <a:lstStyle/>
                    <a:p>
                      <a:pPr algn="ctr"/>
                      <a:r>
                        <a:rPr sz="1100" b="1">
                          <a:solidFill>
                            <a:srgbClr val="FFFFFF"/>
                          </a:solidFill>
                          <a:latin typeface="맑은 고딕"/>
                        </a:rPr>
                        <a:t>n_pos (Internal)</a:t>
                      </a:r>
                    </a:p>
                  </a:txBody>
                  <a:tcPr marL="50800" marR="50800" marT="25400" marB="25400" anchor="ctr">
                    <a:solidFill>
                      <a:srgbClr val="1B2A4A"/>
                    </a:solidFill>
                  </a:tcPr>
                </a:tc>
                <a:tc>
                  <a:txBody>
                    <a:bodyPr/>
                    <a:lstStyle/>
                    <a:p>
                      <a:pPr algn="ctr"/>
                      <a:r>
                        <a:rPr sz="1100" b="1">
                          <a:solidFill>
                            <a:srgbClr val="FFFFFF"/>
                          </a:solidFill>
                          <a:latin typeface="맑은 고딕"/>
                        </a:rPr>
                        <a:t>n_pos (External)</a:t>
                      </a:r>
                    </a:p>
                  </a:txBody>
                  <a:tcPr marL="50800" marR="50800" marT="25400" marB="25400" anchor="ctr">
                    <a:solidFill>
                      <a:srgbClr val="1B2A4A"/>
                    </a:solidFill>
                  </a:tcPr>
                </a:tc>
                <a:extLst>
                  <a:ext uri="{0D108BD9-81ED-4DB2-BD59-A6C34878D82A}">
                    <a16:rowId xmlns:a16="http://schemas.microsoft.com/office/drawing/2014/main" val="10000"/>
                  </a:ext>
                </a:extLst>
              </a:tr>
              <a:tr h="444137">
                <a:tc>
                  <a:txBody>
                    <a:bodyPr/>
                    <a:lstStyle/>
                    <a:p>
                      <a:pPr algn="ctr"/>
                      <a:r>
                        <a:rPr sz="1100" b="0">
                          <a:solidFill>
                            <a:srgbClr val="3A3A3A"/>
                          </a:solidFill>
                          <a:latin typeface="맑은 고딕"/>
                        </a:rPr>
                        <a:t>TAMA</a:t>
                      </a:r>
                    </a:p>
                  </a:txBody>
                  <a:tcPr marL="50800" marR="50800" marT="25400" marB="25400" anchor="ctr">
                    <a:solidFill>
                      <a:srgbClr val="FFFFFF"/>
                    </a:solidFill>
                  </a:tcPr>
                </a:tc>
                <a:tc>
                  <a:txBody>
                    <a:bodyPr/>
                    <a:lstStyle/>
                    <a:p>
                      <a:pPr algn="ctr"/>
                      <a:r>
                        <a:rPr sz="1100" b="0">
                          <a:solidFill>
                            <a:srgbClr val="3A3A3A"/>
                          </a:solidFill>
                          <a:latin typeface="맑은 고딕"/>
                        </a:rPr>
                        <a:t>low</a:t>
                      </a:r>
                    </a:p>
                  </a:txBody>
                  <a:tcPr marL="50800" marR="50800" marT="25400" marB="25400" anchor="ctr">
                    <a:solidFill>
                      <a:srgbClr val="FFFFFF"/>
                    </a:solidFill>
                  </a:tcPr>
                </a:tc>
                <a:tc>
                  <a:txBody>
                    <a:bodyPr/>
                    <a:lstStyle/>
                    <a:p>
                      <a:pPr algn="ctr"/>
                      <a:r>
                        <a:rPr sz="1100" b="0">
                          <a:solidFill>
                            <a:srgbClr val="3A3A3A"/>
                          </a:solidFill>
                          <a:latin typeface="맑은 고딕"/>
                        </a:rPr>
                        <a:t>19,026.98 / 14,113.98</a:t>
                      </a:r>
                    </a:p>
                  </a:txBody>
                  <a:tcPr marL="50800" marR="50800" marT="25400" marB="25400" anchor="ctr">
                    <a:solidFill>
                      <a:srgbClr val="FFFFFF"/>
                    </a:solidFill>
                  </a:tcPr>
                </a:tc>
                <a:tc>
                  <a:txBody>
                    <a:bodyPr/>
                    <a:lstStyle/>
                    <a:p>
                      <a:pPr algn="ctr"/>
                      <a:r>
                        <a:rPr sz="1100" b="0">
                          <a:solidFill>
                            <a:srgbClr val="3A3A3A"/>
                          </a:solidFill>
                          <a:latin typeface="맑은 고딕"/>
                        </a:rPr>
                        <a:t>136 (12.5%)</a:t>
                      </a:r>
                    </a:p>
                  </a:txBody>
                  <a:tcPr marL="50800" marR="50800" marT="25400" marB="25400" anchor="ctr">
                    <a:solidFill>
                      <a:srgbClr val="FFFFFF"/>
                    </a:solidFill>
                  </a:tcPr>
                </a:tc>
                <a:tc>
                  <a:txBody>
                    <a:bodyPr/>
                    <a:lstStyle/>
                    <a:p>
                      <a:pPr algn="ctr"/>
                      <a:r>
                        <a:rPr sz="1100" b="0">
                          <a:solidFill>
                            <a:srgbClr val="3A3A3A"/>
                          </a:solidFill>
                          <a:latin typeface="맑은 고딕"/>
                        </a:rPr>
                        <a:t>100 (10.8%)</a:t>
                      </a:r>
                    </a:p>
                  </a:txBody>
                  <a:tcPr marL="50800" marR="50800" marT="25400" marB="25400" anchor="ctr">
                    <a:solidFill>
                      <a:srgbClr val="FFFFFF"/>
                    </a:solidFill>
                  </a:tcPr>
                </a:tc>
                <a:extLst>
                  <a:ext uri="{0D108BD9-81ED-4DB2-BD59-A6C34878D82A}">
                    <a16:rowId xmlns:a16="http://schemas.microsoft.com/office/drawing/2014/main" val="10001"/>
                  </a:ext>
                </a:extLst>
              </a:tr>
              <a:tr h="444137">
                <a:tc>
                  <a:txBody>
                    <a:bodyPr/>
                    <a:lstStyle/>
                    <a:p>
                      <a:pPr algn="ctr"/>
                      <a:r>
                        <a:rPr sz="1100" b="0">
                          <a:solidFill>
                            <a:srgbClr val="3A3A3A"/>
                          </a:solidFill>
                          <a:latin typeface="맑은 고딕"/>
                        </a:rPr>
                        <a:t>NAMA</a:t>
                      </a:r>
                    </a:p>
                  </a:txBody>
                  <a:tcPr marL="50800" marR="50800" marT="25400" marB="25400" anchor="ctr">
                    <a:solidFill>
                      <a:srgbClr val="EFF1F4"/>
                    </a:solidFill>
                  </a:tcPr>
                </a:tc>
                <a:tc>
                  <a:txBody>
                    <a:bodyPr/>
                    <a:lstStyle/>
                    <a:p>
                      <a:pPr algn="ctr"/>
                      <a:r>
                        <a:rPr sz="1100" b="0">
                          <a:solidFill>
                            <a:srgbClr val="3A3A3A"/>
                          </a:solidFill>
                          <a:latin typeface="맑은 고딕"/>
                        </a:rPr>
                        <a:t>low</a:t>
                      </a:r>
                    </a:p>
                  </a:txBody>
                  <a:tcPr marL="50800" marR="50800" marT="25400" marB="25400" anchor="ctr">
                    <a:solidFill>
                      <a:srgbClr val="EFF1F4"/>
                    </a:solidFill>
                  </a:tcPr>
                </a:tc>
                <a:tc>
                  <a:txBody>
                    <a:bodyPr/>
                    <a:lstStyle/>
                    <a:p>
                      <a:pPr algn="ctr"/>
                      <a:r>
                        <a:rPr sz="1100" b="0">
                          <a:solidFill>
                            <a:srgbClr val="3A3A3A"/>
                          </a:solidFill>
                          <a:latin typeface="맑은 고딕"/>
                        </a:rPr>
                        <a:t>13,837.32 / 9,607.86</a:t>
                      </a:r>
                    </a:p>
                  </a:txBody>
                  <a:tcPr marL="50800" marR="50800" marT="25400" marB="25400" anchor="ctr">
                    <a:solidFill>
                      <a:srgbClr val="EFF1F4"/>
                    </a:solidFill>
                  </a:tcPr>
                </a:tc>
                <a:tc>
                  <a:txBody>
                    <a:bodyPr/>
                    <a:lstStyle/>
                    <a:p>
                      <a:pPr algn="ctr"/>
                      <a:r>
                        <a:rPr sz="1100" b="0">
                          <a:solidFill>
                            <a:srgbClr val="3A3A3A"/>
                          </a:solidFill>
                          <a:latin typeface="맑은 고딕"/>
                        </a:rPr>
                        <a:t>150 (13.8%)</a:t>
                      </a:r>
                    </a:p>
                  </a:txBody>
                  <a:tcPr marL="50800" marR="50800" marT="25400" marB="25400" anchor="ctr">
                    <a:solidFill>
                      <a:srgbClr val="EFF1F4"/>
                    </a:solidFill>
                  </a:tcPr>
                </a:tc>
                <a:tc>
                  <a:txBody>
                    <a:bodyPr/>
                    <a:lstStyle/>
                    <a:p>
                      <a:pPr algn="ctr"/>
                      <a:r>
                        <a:rPr sz="1100" b="0">
                          <a:solidFill>
                            <a:srgbClr val="3A3A3A"/>
                          </a:solidFill>
                          <a:latin typeface="맑은 고딕"/>
                        </a:rPr>
                        <a:t>282 (30.5%)</a:t>
                      </a:r>
                    </a:p>
                  </a:txBody>
                  <a:tcPr marL="50800" marR="50800" marT="25400" marB="25400" anchor="ctr">
                    <a:solidFill>
                      <a:srgbClr val="EFF1F4"/>
                    </a:solidFill>
                  </a:tcPr>
                </a:tc>
                <a:extLst>
                  <a:ext uri="{0D108BD9-81ED-4DB2-BD59-A6C34878D82A}">
                    <a16:rowId xmlns:a16="http://schemas.microsoft.com/office/drawing/2014/main" val="10002"/>
                  </a:ext>
                </a:extLst>
              </a:tr>
              <a:tr h="444137">
                <a:tc>
                  <a:txBody>
                    <a:bodyPr/>
                    <a:lstStyle/>
                    <a:p>
                      <a:pPr algn="ctr"/>
                      <a:r>
                        <a:rPr sz="1100" b="0">
                          <a:solidFill>
                            <a:srgbClr val="3A3A3A"/>
                          </a:solidFill>
                          <a:latin typeface="맑은 고딕"/>
                        </a:rPr>
                        <a:t>LAMA</a:t>
                      </a:r>
                    </a:p>
                  </a:txBody>
                  <a:tcPr marL="50800" marR="50800" marT="25400" marB="25400" anchor="ctr">
                    <a:solidFill>
                      <a:srgbClr val="FFFFFF"/>
                    </a:solidFill>
                  </a:tcPr>
                </a:tc>
                <a:tc>
                  <a:txBody>
                    <a:bodyPr/>
                    <a:lstStyle/>
                    <a:p>
                      <a:pPr algn="ctr"/>
                      <a:r>
                        <a:rPr sz="1100" b="0">
                          <a:solidFill>
                            <a:srgbClr val="3A3A3A"/>
                          </a:solidFill>
                          <a:latin typeface="맑은 고딕"/>
                        </a:rPr>
                        <a:t>high</a:t>
                      </a:r>
                    </a:p>
                  </a:txBody>
                  <a:tcPr marL="50800" marR="50800" marT="25400" marB="25400" anchor="ctr">
                    <a:solidFill>
                      <a:srgbClr val="FFFFFF"/>
                    </a:solidFill>
                  </a:tcPr>
                </a:tc>
                <a:tc>
                  <a:txBody>
                    <a:bodyPr/>
                    <a:lstStyle/>
                    <a:p>
                      <a:pPr algn="ctr"/>
                      <a:r>
                        <a:rPr sz="1100" b="0">
                          <a:solidFill>
                            <a:srgbClr val="3A3A3A"/>
                          </a:solidFill>
                          <a:latin typeface="맑은 고딕"/>
                        </a:rPr>
                        <a:t>7,639.02 / 5,168.44</a:t>
                      </a:r>
                    </a:p>
                  </a:txBody>
                  <a:tcPr marL="50800" marR="50800" marT="25400" marB="25400" anchor="ctr">
                    <a:solidFill>
                      <a:srgbClr val="FFFFFF"/>
                    </a:solidFill>
                  </a:tcPr>
                </a:tc>
                <a:tc>
                  <a:txBody>
                    <a:bodyPr/>
                    <a:lstStyle/>
                    <a:p>
                      <a:pPr algn="ctr"/>
                      <a:r>
                        <a:rPr sz="1100" b="0">
                          <a:solidFill>
                            <a:srgbClr val="3A3A3A"/>
                          </a:solidFill>
                          <a:latin typeface="맑은 고딕"/>
                        </a:rPr>
                        <a:t>137 (12.6%)</a:t>
                      </a:r>
                    </a:p>
                  </a:txBody>
                  <a:tcPr marL="50800" marR="50800" marT="25400" marB="25400" anchor="ctr">
                    <a:solidFill>
                      <a:srgbClr val="FFFFFF"/>
                    </a:solidFill>
                  </a:tcPr>
                </a:tc>
                <a:tc>
                  <a:txBody>
                    <a:bodyPr/>
                    <a:lstStyle/>
                    <a:p>
                      <a:pPr algn="ctr"/>
                      <a:r>
                        <a:rPr sz="1100" b="0">
                          <a:solidFill>
                            <a:srgbClr val="3A3A3A"/>
                          </a:solidFill>
                          <a:latin typeface="맑은 고딕"/>
                        </a:rPr>
                        <a:t>347 (37.5%)</a:t>
                      </a:r>
                    </a:p>
                  </a:txBody>
                  <a:tcPr marL="50800" marR="50800" marT="25400" marB="25400" anchor="ctr">
                    <a:solidFill>
                      <a:srgbClr val="FFFFFF"/>
                    </a:solidFill>
                  </a:tcPr>
                </a:tc>
                <a:extLst>
                  <a:ext uri="{0D108BD9-81ED-4DB2-BD59-A6C34878D82A}">
                    <a16:rowId xmlns:a16="http://schemas.microsoft.com/office/drawing/2014/main" val="10003"/>
                  </a:ext>
                </a:extLst>
              </a:tr>
              <a:tr h="444137">
                <a:tc>
                  <a:txBody>
                    <a:bodyPr/>
                    <a:lstStyle/>
                    <a:p>
                      <a:pPr algn="ctr"/>
                      <a:r>
                        <a:rPr sz="1100" b="0">
                          <a:solidFill>
                            <a:srgbClr val="3A3A3A"/>
                          </a:solidFill>
                          <a:latin typeface="맑은 고딕"/>
                        </a:rPr>
                        <a:t>IMATA</a:t>
                      </a:r>
                    </a:p>
                  </a:txBody>
                  <a:tcPr marL="50800" marR="50800" marT="25400" marB="25400" anchor="ctr">
                    <a:solidFill>
                      <a:srgbClr val="EFF1F4"/>
                    </a:solidFill>
                  </a:tcPr>
                </a:tc>
                <a:tc>
                  <a:txBody>
                    <a:bodyPr/>
                    <a:lstStyle/>
                    <a:p>
                      <a:pPr algn="ctr"/>
                      <a:r>
                        <a:rPr sz="1100" b="0">
                          <a:solidFill>
                            <a:srgbClr val="3A3A3A"/>
                          </a:solidFill>
                          <a:latin typeface="맑은 고딕"/>
                        </a:rPr>
                        <a:t>high</a:t>
                      </a:r>
                    </a:p>
                  </a:txBody>
                  <a:tcPr marL="50800" marR="50800" marT="25400" marB="25400" anchor="ctr">
                    <a:solidFill>
                      <a:srgbClr val="EFF1F4"/>
                    </a:solidFill>
                  </a:tcPr>
                </a:tc>
                <a:tc>
                  <a:txBody>
                    <a:bodyPr/>
                    <a:lstStyle/>
                    <a:p>
                      <a:pPr algn="ctr"/>
                      <a:r>
                        <a:rPr sz="1100" b="0">
                          <a:solidFill>
                            <a:srgbClr val="3A3A3A"/>
                          </a:solidFill>
                          <a:latin typeface="맑은 고딕"/>
                        </a:rPr>
                        <a:t>1,902.54 / 1,683.31</a:t>
                      </a:r>
                    </a:p>
                  </a:txBody>
                  <a:tcPr marL="50800" marR="50800" marT="25400" marB="25400" anchor="ctr">
                    <a:solidFill>
                      <a:srgbClr val="EFF1F4"/>
                    </a:solidFill>
                  </a:tcPr>
                </a:tc>
                <a:tc>
                  <a:txBody>
                    <a:bodyPr/>
                    <a:lstStyle/>
                    <a:p>
                      <a:pPr algn="ctr"/>
                      <a:r>
                        <a:rPr sz="1100" b="0">
                          <a:solidFill>
                            <a:srgbClr val="3A3A3A"/>
                          </a:solidFill>
                          <a:latin typeface="맑은 고딕"/>
                        </a:rPr>
                        <a:t>151 (13.9%)</a:t>
                      </a:r>
                    </a:p>
                  </a:txBody>
                  <a:tcPr marL="50800" marR="50800" marT="25400" marB="25400" anchor="ctr">
                    <a:solidFill>
                      <a:srgbClr val="EFF1F4"/>
                    </a:solidFill>
                  </a:tcPr>
                </a:tc>
                <a:tc>
                  <a:txBody>
                    <a:bodyPr/>
                    <a:lstStyle/>
                    <a:p>
                      <a:pPr algn="ctr"/>
                      <a:r>
                        <a:rPr sz="1100" b="0">
                          <a:solidFill>
                            <a:srgbClr val="3A3A3A"/>
                          </a:solidFill>
                          <a:latin typeface="맑은 고딕"/>
                        </a:rPr>
                        <a:t>188 (20.3%)</a:t>
                      </a:r>
                    </a:p>
                  </a:txBody>
                  <a:tcPr marL="50800" marR="50800" marT="25400" marB="25400" anchor="ctr">
                    <a:solidFill>
                      <a:srgbClr val="EFF1F4"/>
                    </a:solidFill>
                  </a:tcPr>
                </a:tc>
                <a:extLst>
                  <a:ext uri="{0D108BD9-81ED-4DB2-BD59-A6C34878D82A}">
                    <a16:rowId xmlns:a16="http://schemas.microsoft.com/office/drawing/2014/main" val="10004"/>
                  </a:ext>
                </a:extLst>
              </a:tr>
              <a:tr h="444137">
                <a:tc>
                  <a:txBody>
                    <a:bodyPr/>
                    <a:lstStyle/>
                    <a:p>
                      <a:pPr algn="ctr"/>
                      <a:r>
                        <a:rPr sz="1100" b="0">
                          <a:solidFill>
                            <a:srgbClr val="3A3A3A"/>
                          </a:solidFill>
                          <a:latin typeface="맑은 고딕"/>
                        </a:rPr>
                        <a:t>SAT</a:t>
                      </a:r>
                    </a:p>
                  </a:txBody>
                  <a:tcPr marL="50800" marR="50800" marT="25400" marB="25400" anchor="ctr">
                    <a:solidFill>
                      <a:srgbClr val="FFFFFF"/>
                    </a:solidFill>
                  </a:tcPr>
                </a:tc>
                <a:tc>
                  <a:txBody>
                    <a:bodyPr/>
                    <a:lstStyle/>
                    <a:p>
                      <a:pPr algn="ctr"/>
                      <a:r>
                        <a:rPr sz="1100" b="0">
                          <a:solidFill>
                            <a:srgbClr val="3A3A3A"/>
                          </a:solidFill>
                          <a:latin typeface="맑은 고딕"/>
                        </a:rPr>
                        <a:t>high</a:t>
                      </a:r>
                    </a:p>
                  </a:txBody>
                  <a:tcPr marL="50800" marR="50800" marT="25400" marB="25400" anchor="ctr">
                    <a:solidFill>
                      <a:srgbClr val="FFFFFF"/>
                    </a:solidFill>
                  </a:tcPr>
                </a:tc>
                <a:tc>
                  <a:txBody>
                    <a:bodyPr/>
                    <a:lstStyle/>
                    <a:p>
                      <a:pPr algn="ctr"/>
                      <a:r>
                        <a:rPr sz="1100" b="0">
                          <a:solidFill>
                            <a:srgbClr val="3A3A3A"/>
                          </a:solidFill>
                          <a:latin typeface="맑은 고딕"/>
                        </a:rPr>
                        <a:t>23,421.47 / 29,798.28</a:t>
                      </a:r>
                    </a:p>
                  </a:txBody>
                  <a:tcPr marL="50800" marR="50800" marT="25400" marB="25400" anchor="ctr">
                    <a:solidFill>
                      <a:srgbClr val="FFFFFF"/>
                    </a:solidFill>
                  </a:tcPr>
                </a:tc>
                <a:tc>
                  <a:txBody>
                    <a:bodyPr/>
                    <a:lstStyle/>
                    <a:p>
                      <a:pPr algn="ctr"/>
                      <a:r>
                        <a:rPr sz="1100" b="0">
                          <a:solidFill>
                            <a:srgbClr val="3A3A3A"/>
                          </a:solidFill>
                          <a:latin typeface="맑은 고딕"/>
                        </a:rPr>
                        <a:t>148 (13.6%)</a:t>
                      </a:r>
                    </a:p>
                  </a:txBody>
                  <a:tcPr marL="50800" marR="50800" marT="25400" marB="25400" anchor="ctr">
                    <a:solidFill>
                      <a:srgbClr val="FFFFFF"/>
                    </a:solidFill>
                  </a:tcPr>
                </a:tc>
                <a:tc>
                  <a:txBody>
                    <a:bodyPr/>
                    <a:lstStyle/>
                    <a:p>
                      <a:pPr algn="ctr"/>
                      <a:r>
                        <a:rPr sz="1100" b="0">
                          <a:solidFill>
                            <a:srgbClr val="3A3A3A"/>
                          </a:solidFill>
                          <a:latin typeface="맑은 고딕"/>
                        </a:rPr>
                        <a:t>145 (15.7%)</a:t>
                      </a:r>
                    </a:p>
                  </a:txBody>
                  <a:tcPr marL="50800" marR="50800" marT="25400" marB="25400" anchor="ctr">
                    <a:solidFill>
                      <a:srgbClr val="FFFFFF"/>
                    </a:solidFill>
                  </a:tcPr>
                </a:tc>
                <a:extLst>
                  <a:ext uri="{0D108BD9-81ED-4DB2-BD59-A6C34878D82A}">
                    <a16:rowId xmlns:a16="http://schemas.microsoft.com/office/drawing/2014/main" val="10005"/>
                  </a:ext>
                </a:extLst>
              </a:tr>
              <a:tr h="444137">
                <a:tc>
                  <a:txBody>
                    <a:bodyPr/>
                    <a:lstStyle/>
                    <a:p>
                      <a:pPr algn="ctr"/>
                      <a:r>
                        <a:rPr sz="1100" b="0">
                          <a:solidFill>
                            <a:srgbClr val="3A3A3A"/>
                          </a:solidFill>
                          <a:latin typeface="맑은 고딕"/>
                        </a:rPr>
                        <a:t>VAT</a:t>
                      </a:r>
                    </a:p>
                  </a:txBody>
                  <a:tcPr marL="50800" marR="50800" marT="25400" marB="25400" anchor="ctr">
                    <a:solidFill>
                      <a:srgbClr val="EFF1F4"/>
                    </a:solidFill>
                  </a:tcPr>
                </a:tc>
                <a:tc>
                  <a:txBody>
                    <a:bodyPr/>
                    <a:lstStyle/>
                    <a:p>
                      <a:pPr algn="ctr"/>
                      <a:r>
                        <a:rPr sz="1100" b="0">
                          <a:solidFill>
                            <a:srgbClr val="3A3A3A"/>
                          </a:solidFill>
                          <a:latin typeface="맑은 고딕"/>
                        </a:rPr>
                        <a:t>high</a:t>
                      </a:r>
                    </a:p>
                  </a:txBody>
                  <a:tcPr marL="50800" marR="50800" marT="25400" marB="25400" anchor="ctr">
                    <a:solidFill>
                      <a:srgbClr val="EFF1F4"/>
                    </a:solidFill>
                  </a:tcPr>
                </a:tc>
                <a:tc>
                  <a:txBody>
                    <a:bodyPr/>
                    <a:lstStyle/>
                    <a:p>
                      <a:pPr algn="ctr"/>
                      <a:r>
                        <a:rPr sz="1100" b="0">
                          <a:solidFill>
                            <a:srgbClr val="3A3A3A"/>
                          </a:solidFill>
                          <a:latin typeface="맑은 고딕"/>
                        </a:rPr>
                        <a:t>17,286.71 / 10,924.34</a:t>
                      </a:r>
                    </a:p>
                  </a:txBody>
                  <a:tcPr marL="50800" marR="50800" marT="25400" marB="25400" anchor="ctr">
                    <a:solidFill>
                      <a:srgbClr val="EFF1F4"/>
                    </a:solidFill>
                  </a:tcPr>
                </a:tc>
                <a:tc>
                  <a:txBody>
                    <a:bodyPr/>
                    <a:lstStyle/>
                    <a:p>
                      <a:pPr algn="ctr"/>
                      <a:r>
                        <a:rPr sz="1100" b="0">
                          <a:solidFill>
                            <a:srgbClr val="3A3A3A"/>
                          </a:solidFill>
                          <a:latin typeface="맑은 고딕"/>
                        </a:rPr>
                        <a:t>165 (15.1%)</a:t>
                      </a:r>
                    </a:p>
                  </a:txBody>
                  <a:tcPr marL="50800" marR="50800" marT="25400" marB="25400" anchor="ctr">
                    <a:solidFill>
                      <a:srgbClr val="EFF1F4"/>
                    </a:solidFill>
                  </a:tcPr>
                </a:tc>
                <a:tc>
                  <a:txBody>
                    <a:bodyPr/>
                    <a:lstStyle/>
                    <a:p>
                      <a:pPr algn="ctr"/>
                      <a:r>
                        <a:rPr sz="1100" b="0">
                          <a:solidFill>
                            <a:srgbClr val="3A3A3A"/>
                          </a:solidFill>
                          <a:latin typeface="맑은 고딕"/>
                        </a:rPr>
                        <a:t>199 (21.5%)</a:t>
                      </a:r>
                    </a:p>
                  </a:txBody>
                  <a:tcPr marL="50800" marR="50800" marT="25400" marB="25400" anchor="ctr">
                    <a:solidFill>
                      <a:srgbClr val="EFF1F4"/>
                    </a:solidFill>
                  </a:tcPr>
                </a:tc>
                <a:extLst>
                  <a:ext uri="{0D108BD9-81ED-4DB2-BD59-A6C34878D82A}">
                    <a16:rowId xmlns:a16="http://schemas.microsoft.com/office/drawing/2014/main" val="10006"/>
                  </a:ext>
                </a:extLst>
              </a:tr>
              <a:tr h="444137">
                <a:tc>
                  <a:txBody>
                    <a:bodyPr/>
                    <a:lstStyle/>
                    <a:p>
                      <a:pPr algn="ctr"/>
                      <a:r>
                        <a:rPr sz="1100" b="0">
                          <a:solidFill>
                            <a:srgbClr val="3A3A3A"/>
                          </a:solidFill>
                          <a:latin typeface="맑은 고딕"/>
                        </a:rPr>
                        <a:t>Total Fat</a:t>
                      </a:r>
                    </a:p>
                  </a:txBody>
                  <a:tcPr marL="50800" marR="50800" marT="25400" marB="25400" anchor="ctr">
                    <a:solidFill>
                      <a:srgbClr val="FFFFFF"/>
                    </a:solidFill>
                  </a:tcPr>
                </a:tc>
                <a:tc>
                  <a:txBody>
                    <a:bodyPr/>
                    <a:lstStyle/>
                    <a:p>
                      <a:pPr algn="ctr"/>
                      <a:r>
                        <a:rPr sz="1100" b="0">
                          <a:solidFill>
                            <a:srgbClr val="3A3A3A"/>
                          </a:solidFill>
                          <a:latin typeface="맑은 고딕"/>
                        </a:rPr>
                        <a:t>high</a:t>
                      </a:r>
                    </a:p>
                  </a:txBody>
                  <a:tcPr marL="50800" marR="50800" marT="25400" marB="25400" anchor="ctr">
                    <a:solidFill>
                      <a:srgbClr val="FFFFFF"/>
                    </a:solidFill>
                  </a:tcPr>
                </a:tc>
                <a:tc>
                  <a:txBody>
                    <a:bodyPr/>
                    <a:lstStyle/>
                    <a:p>
                      <a:pPr algn="ctr"/>
                      <a:r>
                        <a:rPr sz="1100" b="0">
                          <a:solidFill>
                            <a:srgbClr val="3A3A3A"/>
                          </a:solidFill>
                          <a:latin typeface="맑은 고딕"/>
                        </a:rPr>
                        <a:t>39,696.86 / 39,812.01</a:t>
                      </a:r>
                    </a:p>
                  </a:txBody>
                  <a:tcPr marL="50800" marR="50800" marT="25400" marB="25400" anchor="ctr">
                    <a:solidFill>
                      <a:srgbClr val="FFFFFF"/>
                    </a:solidFill>
                  </a:tcPr>
                </a:tc>
                <a:tc>
                  <a:txBody>
                    <a:bodyPr/>
                    <a:lstStyle/>
                    <a:p>
                      <a:pPr algn="ctr"/>
                      <a:r>
                        <a:rPr sz="1100" b="0">
                          <a:solidFill>
                            <a:srgbClr val="3A3A3A"/>
                          </a:solidFill>
                          <a:latin typeface="맑은 고딕"/>
                        </a:rPr>
                        <a:t>157 (14.4%)</a:t>
                      </a:r>
                    </a:p>
                  </a:txBody>
                  <a:tcPr marL="50800" marR="50800" marT="25400" marB="25400" anchor="ctr">
                    <a:solidFill>
                      <a:srgbClr val="FFFFFF"/>
                    </a:solidFill>
                  </a:tcPr>
                </a:tc>
                <a:tc>
                  <a:txBody>
                    <a:bodyPr/>
                    <a:lstStyle/>
                    <a:p>
                      <a:pPr algn="ctr"/>
                      <a:r>
                        <a:rPr sz="1100" b="0">
                          <a:solidFill>
                            <a:srgbClr val="3A3A3A"/>
                          </a:solidFill>
                          <a:latin typeface="맑은 고딕"/>
                        </a:rPr>
                        <a:t>169 (18.3%)</a:t>
                      </a:r>
                    </a:p>
                  </a:txBody>
                  <a:tcPr marL="50800" marR="50800" marT="25400" marB="25400" anchor="ctr">
                    <a:solidFill>
                      <a:srgbClr val="FFFFFF"/>
                    </a:solidFill>
                  </a:tcPr>
                </a:tc>
                <a:extLst>
                  <a:ext uri="{0D108BD9-81ED-4DB2-BD59-A6C34878D82A}">
                    <a16:rowId xmlns:a16="http://schemas.microsoft.com/office/drawing/2014/main" val="156604367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APPENDIX  ·  STEP4 FEATURE 분포</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7개 feature 성별 분포 vs Cutoff</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TAMA·NAMA는 mean-1SD, 나머지 5종은 mean+1SD cutoff — 분포 형태·이상군 위치가 feature마다 다르다</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성별(M/F) raw SUM 히스토그램에 internal 고정 cutoff(mean±1SD) 표시 (원본: data/gangnam.xlsx metadata, cutoff 수치는 Slide17 표 참고)</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17</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pic>
        <p:nvPicPr>
          <p:cNvPr id="12" name="그림 11">
            <a:extLst>
              <a:ext uri="{FF2B5EF4-FFF2-40B4-BE49-F238E27FC236}">
                <a16:creationId xmlns:a16="http://schemas.microsoft.com/office/drawing/2014/main" id="{6E448D4D-83B4-A87C-B541-81B7C3F7CA3D}"/>
              </a:ext>
            </a:extLst>
          </p:cNvPr>
          <p:cNvPicPr>
            <a:picLocks noChangeAspect="1"/>
          </p:cNvPicPr>
          <p:nvPr/>
        </p:nvPicPr>
        <p:blipFill>
          <a:blip r:embed="rId2"/>
          <a:stretch>
            <a:fillRect/>
          </a:stretch>
        </p:blipFill>
        <p:spPr>
          <a:xfrm>
            <a:off x="1185326" y="2285607"/>
            <a:ext cx="9973747" cy="41605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APPENDIX  ·  STEP4 LAMA DIRECTION FIX</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LAMA_SUM Cutoff 방향 수정 — 제외에서 정상 분류로</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mean-2SD(근육형) 방향은 cutoff이 데이터 최솟값보다 낮아 양성 0명이었으나, mean+2SD(지방형) 방향으로 수정 후 internal AUC=0.796으로 정상 분류된다</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LAMA_SUM은 근육 영역 내 저감쇠(지방침윤) 성분이라 지방계열과 같은 high(mean+2SD) 방향 적용 (아래는 방향 전환의 근거가 된 CV·분포 비교, 원본: data/gangnam.xlsx metadata)</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18</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pic>
        <p:nvPicPr>
          <p:cNvPr id="11" name="Picture 10" descr="lama_cutoff_failure.png"/>
          <p:cNvPicPr>
            <a:picLocks noChangeAspect="1"/>
          </p:cNvPicPr>
          <p:nvPr/>
        </p:nvPicPr>
        <p:blipFill>
          <a:blip r:embed="rId3"/>
          <a:stretch>
            <a:fillRect/>
          </a:stretch>
        </p:blipFill>
        <p:spPr>
          <a:xfrm>
            <a:off x="1859318" y="2414016"/>
            <a:ext cx="8442883" cy="38404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APPENDIX  ·  SEX-STRATIFIED BASELINE</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성별 개별 재분석 — Clinic4 Baseline의 성별 의존성</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TAMA·NAMA의 높은 결합(combined) R²는 상당 부분 성별 차이 — 동일 성별 내에서는 예측력이 크게 낮아진다</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Method — Internal(강남)에서 남/여를 분리해 clinic3(age/height/weight)만으로 재학습, external(신촌) 동결검증은 동일 프로토콜 반복 (outputs/step0/{male,female}/)</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19</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1" name="Table 10"/>
          <p:cNvGraphicFramePr>
            <a:graphicFrameLocks noGrp="1"/>
          </p:cNvGraphicFramePr>
          <p:nvPr/>
        </p:nvGraphicFramePr>
        <p:xfrm>
          <a:off x="1097280" y="2414016"/>
          <a:ext cx="9966958" cy="3108959"/>
        </p:xfrm>
        <a:graphic>
          <a:graphicData uri="http://schemas.openxmlformats.org/drawingml/2006/table">
            <a:tbl>
              <a:tblPr firstRow="1" bandRow="1">
                <a:tableStyleId>{5C22544A-7EE6-4342-B048-85BDC9FD1C3A}</a:tableStyleId>
              </a:tblPr>
              <a:tblGrid>
                <a:gridCol w="1661160">
                  <a:extLst>
                    <a:ext uri="{9D8B030D-6E8A-4147-A177-3AD203B41FA5}">
                      <a16:colId xmlns:a16="http://schemas.microsoft.com/office/drawing/2014/main" val="20000"/>
                    </a:ext>
                  </a:extLst>
                </a:gridCol>
                <a:gridCol w="2416232">
                  <a:extLst>
                    <a:ext uri="{9D8B030D-6E8A-4147-A177-3AD203B41FA5}">
                      <a16:colId xmlns:a16="http://schemas.microsoft.com/office/drawing/2014/main" val="20001"/>
                    </a:ext>
                  </a:extLst>
                </a:gridCol>
                <a:gridCol w="2869276">
                  <a:extLst>
                    <a:ext uri="{9D8B030D-6E8A-4147-A177-3AD203B41FA5}">
                      <a16:colId xmlns:a16="http://schemas.microsoft.com/office/drawing/2014/main" val="20002"/>
                    </a:ext>
                  </a:extLst>
                </a:gridCol>
                <a:gridCol w="1510145">
                  <a:extLst>
                    <a:ext uri="{9D8B030D-6E8A-4147-A177-3AD203B41FA5}">
                      <a16:colId xmlns:a16="http://schemas.microsoft.com/office/drawing/2014/main" val="20003"/>
                    </a:ext>
                  </a:extLst>
                </a:gridCol>
                <a:gridCol w="1510145">
                  <a:extLst>
                    <a:ext uri="{9D8B030D-6E8A-4147-A177-3AD203B41FA5}">
                      <a16:colId xmlns:a16="http://schemas.microsoft.com/office/drawing/2014/main" val="20004"/>
                    </a:ext>
                  </a:extLst>
                </a:gridCol>
              </a:tblGrid>
              <a:tr h="444137">
                <a:tc>
                  <a:txBody>
                    <a:bodyPr/>
                    <a:lstStyle/>
                    <a:p>
                      <a:pPr algn="ctr"/>
                      <a:r>
                        <a:rPr sz="1100" b="1">
                          <a:solidFill>
                            <a:srgbClr val="FFFFFF"/>
                          </a:solidFill>
                          <a:latin typeface="맑은 고딕"/>
                        </a:rPr>
                        <a:t>Feature</a:t>
                      </a:r>
                    </a:p>
                  </a:txBody>
                  <a:tcPr marL="50800" marR="50800" marT="25400" marB="25400" anchor="ctr">
                    <a:solidFill>
                      <a:srgbClr val="1B2A4A"/>
                    </a:solidFill>
                  </a:tcPr>
                </a:tc>
                <a:tc>
                  <a:txBody>
                    <a:bodyPr/>
                    <a:lstStyle/>
                    <a:p>
                      <a:pPr algn="ctr"/>
                      <a:r>
                        <a:rPr sz="1100" b="1">
                          <a:solidFill>
                            <a:srgbClr val="FFFFFF"/>
                          </a:solidFill>
                          <a:latin typeface="맑은 고딕"/>
                        </a:rPr>
                        <a:t>Combined R²(ext)</a:t>
                      </a:r>
                    </a:p>
                  </a:txBody>
                  <a:tcPr marL="50800" marR="50800" marT="25400" marB="25400" anchor="ctr">
                    <a:solidFill>
                      <a:srgbClr val="1B2A4A"/>
                    </a:solidFill>
                  </a:tcPr>
                </a:tc>
                <a:tc>
                  <a:txBody>
                    <a:bodyPr/>
                    <a:lstStyle/>
                    <a:p>
                      <a:pPr algn="ctr"/>
                      <a:r>
                        <a:rPr sz="1100" b="1">
                          <a:solidFill>
                            <a:srgbClr val="FFFFFF"/>
                          </a:solidFill>
                          <a:latin typeface="맑은 고딕"/>
                        </a:rPr>
                        <a:t>Male R²(ext)</a:t>
                      </a:r>
                    </a:p>
                  </a:txBody>
                  <a:tcPr marL="50800" marR="50800" marT="25400" marB="25400" anchor="ctr">
                    <a:solidFill>
                      <a:srgbClr val="1B2A4A"/>
                    </a:solidFill>
                  </a:tcPr>
                </a:tc>
                <a:tc>
                  <a:txBody>
                    <a:bodyPr/>
                    <a:lstStyle/>
                    <a:p>
                      <a:pPr algn="ctr"/>
                      <a:r>
                        <a:rPr sz="1100" b="1">
                          <a:solidFill>
                            <a:srgbClr val="FFFFFF"/>
                          </a:solidFill>
                          <a:latin typeface="맑은 고딕"/>
                        </a:rPr>
                        <a:t>Female R²(ext)</a:t>
                      </a:r>
                    </a:p>
                  </a:txBody>
                  <a:tcPr marL="50800" marR="50800" marT="25400" marB="25400" anchor="ctr">
                    <a:solidFill>
                      <a:srgbClr val="1B2A4A"/>
                    </a:solidFill>
                  </a:tcPr>
                </a:tc>
                <a:tc>
                  <a:txBody>
                    <a:bodyPr/>
                    <a:lstStyle/>
                    <a:p>
                      <a:pPr algn="ctr"/>
                      <a:r>
                        <a:rPr sz="1100" b="1">
                          <a:solidFill>
                            <a:srgbClr val="FFFFFF"/>
                          </a:solidFill>
                          <a:latin typeface="맑은 고딕"/>
                        </a:rPr>
                        <a:t>해석</a:t>
                      </a:r>
                    </a:p>
                  </a:txBody>
                  <a:tcPr marL="50800" marR="50800" marT="25400" marB="25400" anchor="ctr">
                    <a:solidFill>
                      <a:srgbClr val="1B2A4A"/>
                    </a:solidFill>
                  </a:tcPr>
                </a:tc>
                <a:extLst>
                  <a:ext uri="{0D108BD9-81ED-4DB2-BD59-A6C34878D82A}">
                    <a16:rowId xmlns:a16="http://schemas.microsoft.com/office/drawing/2014/main" val="10000"/>
                  </a:ext>
                </a:extLst>
              </a:tr>
              <a:tr h="444137">
                <a:tc>
                  <a:txBody>
                    <a:bodyPr/>
                    <a:lstStyle/>
                    <a:p>
                      <a:pPr algn="ctr"/>
                      <a:r>
                        <a:rPr sz="1100" b="0">
                          <a:solidFill>
                            <a:srgbClr val="3A3A3A"/>
                          </a:solidFill>
                          <a:latin typeface="맑은 고딕"/>
                        </a:rPr>
                        <a:t>IMATA</a:t>
                      </a:r>
                    </a:p>
                  </a:txBody>
                  <a:tcPr marL="50800" marR="50800" marT="25400" marB="25400" anchor="ctr">
                    <a:solidFill>
                      <a:srgbClr val="FFFFFF"/>
                    </a:solidFill>
                  </a:tcPr>
                </a:tc>
                <a:tc>
                  <a:txBody>
                    <a:bodyPr/>
                    <a:lstStyle/>
                    <a:p>
                      <a:pPr algn="ctr"/>
                      <a:r>
                        <a:rPr sz="1100" b="0">
                          <a:solidFill>
                            <a:srgbClr val="3A3A3A"/>
                          </a:solidFill>
                          <a:latin typeface="맑은 고딕"/>
                        </a:rPr>
                        <a:t>0.282</a:t>
                      </a:r>
                    </a:p>
                  </a:txBody>
                  <a:tcPr marL="50800" marR="50800" marT="25400" marB="25400" anchor="ctr">
                    <a:solidFill>
                      <a:srgbClr val="FFFFFF"/>
                    </a:solidFill>
                  </a:tcPr>
                </a:tc>
                <a:tc>
                  <a:txBody>
                    <a:bodyPr/>
                    <a:lstStyle/>
                    <a:p>
                      <a:pPr algn="ctr"/>
                      <a:r>
                        <a:rPr sz="1100" b="0">
                          <a:solidFill>
                            <a:srgbClr val="3A3A3A"/>
                          </a:solidFill>
                          <a:latin typeface="맑은 고딕"/>
                        </a:rPr>
                        <a:t>0.248</a:t>
                      </a:r>
                    </a:p>
                  </a:txBody>
                  <a:tcPr marL="50800" marR="50800" marT="25400" marB="25400" anchor="ctr">
                    <a:solidFill>
                      <a:srgbClr val="FFFFFF"/>
                    </a:solidFill>
                  </a:tcPr>
                </a:tc>
                <a:tc>
                  <a:txBody>
                    <a:bodyPr/>
                    <a:lstStyle/>
                    <a:p>
                      <a:pPr algn="ctr"/>
                      <a:r>
                        <a:rPr sz="1100" b="0">
                          <a:solidFill>
                            <a:srgbClr val="3A3A3A"/>
                          </a:solidFill>
                          <a:latin typeface="맑은 고딕"/>
                        </a:rPr>
                        <a:t>0.312</a:t>
                      </a:r>
                    </a:p>
                  </a:txBody>
                  <a:tcPr marL="50800" marR="50800" marT="25400" marB="25400" anchor="ctr">
                    <a:solidFill>
                      <a:srgbClr val="FFFFFF"/>
                    </a:solidFill>
                  </a:tcPr>
                </a:tc>
                <a:tc>
                  <a:txBody>
                    <a:bodyPr/>
                    <a:lstStyle/>
                    <a:p>
                      <a:pPr algn="ctr"/>
                      <a:r>
                        <a:rPr sz="1100" b="0">
                          <a:solidFill>
                            <a:srgbClr val="3A3A3A"/>
                          </a:solidFill>
                          <a:latin typeface="맑은 고딕"/>
                        </a:rPr>
                        <a:t>성별 무관 안정</a:t>
                      </a:r>
                    </a:p>
                  </a:txBody>
                  <a:tcPr marL="50800" marR="50800" marT="25400" marB="25400" anchor="ctr">
                    <a:solidFill>
                      <a:srgbClr val="FFFFFF"/>
                    </a:solidFill>
                  </a:tcPr>
                </a:tc>
                <a:extLst>
                  <a:ext uri="{0D108BD9-81ED-4DB2-BD59-A6C34878D82A}">
                    <a16:rowId xmlns:a16="http://schemas.microsoft.com/office/drawing/2014/main" val="10001"/>
                  </a:ext>
                </a:extLst>
              </a:tr>
              <a:tr h="444137">
                <a:tc>
                  <a:txBody>
                    <a:bodyPr/>
                    <a:lstStyle/>
                    <a:p>
                      <a:pPr algn="ctr"/>
                      <a:r>
                        <a:rPr sz="1100" b="0">
                          <a:solidFill>
                            <a:srgbClr val="3A3A3A"/>
                          </a:solidFill>
                          <a:latin typeface="맑은 고딕"/>
                        </a:rPr>
                        <a:t>NAMA</a:t>
                      </a:r>
                    </a:p>
                  </a:txBody>
                  <a:tcPr marL="50800" marR="50800" marT="25400" marB="25400" anchor="ctr">
                    <a:solidFill>
                      <a:srgbClr val="EFF1F4"/>
                    </a:solidFill>
                  </a:tcPr>
                </a:tc>
                <a:tc>
                  <a:txBody>
                    <a:bodyPr/>
                    <a:lstStyle/>
                    <a:p>
                      <a:pPr algn="ctr"/>
                      <a:r>
                        <a:rPr sz="1100" b="0">
                          <a:solidFill>
                            <a:srgbClr val="3A3A3A"/>
                          </a:solidFill>
                          <a:latin typeface="맑은 고딕"/>
                        </a:rPr>
                        <a:t>0.568</a:t>
                      </a:r>
                    </a:p>
                  </a:txBody>
                  <a:tcPr marL="50800" marR="50800" marT="25400" marB="25400" anchor="ctr">
                    <a:solidFill>
                      <a:srgbClr val="EFF1F4"/>
                    </a:solidFill>
                  </a:tcPr>
                </a:tc>
                <a:tc>
                  <a:txBody>
                    <a:bodyPr/>
                    <a:lstStyle/>
                    <a:p>
                      <a:pPr algn="ctr"/>
                      <a:r>
                        <a:rPr sz="1100" b="0">
                          <a:solidFill>
                            <a:srgbClr val="3A3A3A"/>
                          </a:solidFill>
                          <a:latin typeface="맑은 고딕"/>
                        </a:rPr>
                        <a:t>0.309</a:t>
                      </a:r>
                    </a:p>
                  </a:txBody>
                  <a:tcPr marL="50800" marR="50800" marT="25400" marB="25400" anchor="ctr">
                    <a:solidFill>
                      <a:srgbClr val="EFF1F4"/>
                    </a:solidFill>
                  </a:tcPr>
                </a:tc>
                <a:tc>
                  <a:txBody>
                    <a:bodyPr/>
                    <a:lstStyle/>
                    <a:p>
                      <a:pPr algn="ctr"/>
                      <a:r>
                        <a:rPr sz="1100" b="0">
                          <a:solidFill>
                            <a:srgbClr val="3A3A3A"/>
                          </a:solidFill>
                          <a:latin typeface="맑은 고딕"/>
                        </a:rPr>
                        <a:t>0.018</a:t>
                      </a:r>
                    </a:p>
                  </a:txBody>
                  <a:tcPr marL="50800" marR="50800" marT="25400" marB="25400" anchor="ctr">
                    <a:solidFill>
                      <a:srgbClr val="EFF1F4"/>
                    </a:solidFill>
                  </a:tcPr>
                </a:tc>
                <a:tc>
                  <a:txBody>
                    <a:bodyPr/>
                    <a:lstStyle/>
                    <a:p>
                      <a:pPr algn="ctr"/>
                      <a:r>
                        <a:rPr sz="1100" b="0">
                          <a:solidFill>
                            <a:srgbClr val="3A3A3A"/>
                          </a:solidFill>
                          <a:latin typeface="맑은 고딕"/>
                        </a:rPr>
                        <a:t>여성 내 사실상 무신호</a:t>
                      </a:r>
                    </a:p>
                  </a:txBody>
                  <a:tcPr marL="50800" marR="50800" marT="25400" marB="25400" anchor="ctr">
                    <a:solidFill>
                      <a:srgbClr val="EFF1F4"/>
                    </a:solidFill>
                  </a:tcPr>
                </a:tc>
                <a:extLst>
                  <a:ext uri="{0D108BD9-81ED-4DB2-BD59-A6C34878D82A}">
                    <a16:rowId xmlns:a16="http://schemas.microsoft.com/office/drawing/2014/main" val="10002"/>
                  </a:ext>
                </a:extLst>
              </a:tr>
              <a:tr h="444137">
                <a:tc>
                  <a:txBody>
                    <a:bodyPr/>
                    <a:lstStyle/>
                    <a:p>
                      <a:pPr algn="ctr"/>
                      <a:r>
                        <a:rPr sz="1100" b="0">
                          <a:solidFill>
                            <a:srgbClr val="3A3A3A"/>
                          </a:solidFill>
                          <a:latin typeface="맑은 고딕"/>
                        </a:rPr>
                        <a:t>LAMA</a:t>
                      </a:r>
                    </a:p>
                  </a:txBody>
                  <a:tcPr marL="50800" marR="50800" marT="25400" marB="25400" anchor="ctr">
                    <a:solidFill>
                      <a:srgbClr val="FFFFFF"/>
                    </a:solidFill>
                  </a:tcPr>
                </a:tc>
                <a:tc>
                  <a:txBody>
                    <a:bodyPr/>
                    <a:lstStyle/>
                    <a:p>
                      <a:pPr algn="ctr"/>
                      <a:r>
                        <a:rPr sz="1100" b="0">
                          <a:solidFill>
                            <a:srgbClr val="3A3A3A"/>
                          </a:solidFill>
                          <a:latin typeface="맑은 고딕"/>
                        </a:rPr>
                        <a:t>-0.035</a:t>
                      </a:r>
                    </a:p>
                  </a:txBody>
                  <a:tcPr marL="50800" marR="50800" marT="25400" marB="25400" anchor="ctr">
                    <a:solidFill>
                      <a:srgbClr val="FFFFFF"/>
                    </a:solidFill>
                  </a:tcPr>
                </a:tc>
                <a:tc>
                  <a:txBody>
                    <a:bodyPr/>
                    <a:lstStyle/>
                    <a:p>
                      <a:pPr algn="ctr"/>
                      <a:r>
                        <a:rPr sz="1100" b="0">
                          <a:solidFill>
                            <a:srgbClr val="3A3A3A"/>
                          </a:solidFill>
                          <a:latin typeface="맑은 고딕"/>
                        </a:rPr>
                        <a:t>0.121</a:t>
                      </a:r>
                    </a:p>
                  </a:txBody>
                  <a:tcPr marL="50800" marR="50800" marT="25400" marB="25400" anchor="ctr">
                    <a:solidFill>
                      <a:srgbClr val="FFFFFF"/>
                    </a:solidFill>
                  </a:tcPr>
                </a:tc>
                <a:tc>
                  <a:txBody>
                    <a:bodyPr/>
                    <a:lstStyle/>
                    <a:p>
                      <a:pPr algn="ctr"/>
                      <a:r>
                        <a:rPr sz="1100" b="0">
                          <a:solidFill>
                            <a:srgbClr val="3A3A3A"/>
                          </a:solidFill>
                          <a:latin typeface="맑은 고딕"/>
                        </a:rPr>
                        <a:t>-0.353</a:t>
                      </a:r>
                    </a:p>
                  </a:txBody>
                  <a:tcPr marL="50800" marR="50800" marT="25400" marB="25400" anchor="ctr">
                    <a:solidFill>
                      <a:srgbClr val="FFFFFF"/>
                    </a:solidFill>
                  </a:tcPr>
                </a:tc>
                <a:tc>
                  <a:txBody>
                    <a:bodyPr/>
                    <a:lstStyle/>
                    <a:p>
                      <a:pPr algn="ctr"/>
                      <a:r>
                        <a:rPr sz="1100" b="0">
                          <a:solidFill>
                            <a:srgbClr val="3A3A3A"/>
                          </a:solidFill>
                          <a:latin typeface="맑은 고딕"/>
                        </a:rPr>
                        <a:t>표본 작고 불안정</a:t>
                      </a:r>
                    </a:p>
                  </a:txBody>
                  <a:tcPr marL="50800" marR="50800" marT="25400" marB="25400" anchor="ctr">
                    <a:solidFill>
                      <a:srgbClr val="FFFFFF"/>
                    </a:solidFill>
                  </a:tcPr>
                </a:tc>
                <a:extLst>
                  <a:ext uri="{0D108BD9-81ED-4DB2-BD59-A6C34878D82A}">
                    <a16:rowId xmlns:a16="http://schemas.microsoft.com/office/drawing/2014/main" val="10003"/>
                  </a:ext>
                </a:extLst>
              </a:tr>
              <a:tr h="444137">
                <a:tc>
                  <a:txBody>
                    <a:bodyPr/>
                    <a:lstStyle/>
                    <a:p>
                      <a:pPr algn="ctr"/>
                      <a:r>
                        <a:rPr sz="1100" b="0">
                          <a:solidFill>
                            <a:srgbClr val="3A3A3A"/>
                          </a:solidFill>
                          <a:latin typeface="맑은 고딕"/>
                        </a:rPr>
                        <a:t>TAMA</a:t>
                      </a:r>
                    </a:p>
                  </a:txBody>
                  <a:tcPr marL="50800" marR="50800" marT="25400" marB="25400" anchor="ctr">
                    <a:solidFill>
                      <a:srgbClr val="EFF1F4"/>
                    </a:solidFill>
                  </a:tcPr>
                </a:tc>
                <a:tc>
                  <a:txBody>
                    <a:bodyPr/>
                    <a:lstStyle/>
                    <a:p>
                      <a:pPr algn="ctr"/>
                      <a:r>
                        <a:rPr sz="1100" b="0">
                          <a:solidFill>
                            <a:srgbClr val="3A3A3A"/>
                          </a:solidFill>
                          <a:latin typeface="맑은 고딕"/>
                        </a:rPr>
                        <a:t>0.711</a:t>
                      </a:r>
                    </a:p>
                  </a:txBody>
                  <a:tcPr marL="50800" marR="50800" marT="25400" marB="25400" anchor="ctr">
                    <a:solidFill>
                      <a:srgbClr val="EFF1F4"/>
                    </a:solidFill>
                  </a:tcPr>
                </a:tc>
                <a:tc>
                  <a:txBody>
                    <a:bodyPr/>
                    <a:lstStyle/>
                    <a:p>
                      <a:pPr algn="ctr"/>
                      <a:r>
                        <a:rPr sz="1100" b="0">
                          <a:solidFill>
                            <a:srgbClr val="3A3A3A"/>
                          </a:solidFill>
                          <a:latin typeface="맑은 고딕"/>
                        </a:rPr>
                        <a:t>0.478</a:t>
                      </a:r>
                    </a:p>
                  </a:txBody>
                  <a:tcPr marL="50800" marR="50800" marT="25400" marB="25400" anchor="ctr">
                    <a:solidFill>
                      <a:srgbClr val="EFF1F4"/>
                    </a:solidFill>
                  </a:tcPr>
                </a:tc>
                <a:tc>
                  <a:txBody>
                    <a:bodyPr/>
                    <a:lstStyle/>
                    <a:p>
                      <a:pPr algn="ctr"/>
                      <a:r>
                        <a:rPr sz="1100" b="0">
                          <a:solidFill>
                            <a:srgbClr val="3A3A3A"/>
                          </a:solidFill>
                          <a:latin typeface="맑은 고딕"/>
                        </a:rPr>
                        <a:t>0.388</a:t>
                      </a:r>
                    </a:p>
                  </a:txBody>
                  <a:tcPr marL="50800" marR="50800" marT="25400" marB="25400" anchor="ctr">
                    <a:solidFill>
                      <a:srgbClr val="EFF1F4"/>
                    </a:solidFill>
                  </a:tcPr>
                </a:tc>
                <a:tc>
                  <a:txBody>
                    <a:bodyPr/>
                    <a:lstStyle/>
                    <a:p>
                      <a:pPr algn="ctr"/>
                      <a:r>
                        <a:rPr sz="1100" b="0">
                          <a:solidFill>
                            <a:srgbClr val="3A3A3A"/>
                          </a:solidFill>
                          <a:latin typeface="맑은 고딕"/>
                        </a:rPr>
                        <a:t>성별차 반영, 동성 내 급감</a:t>
                      </a:r>
                    </a:p>
                  </a:txBody>
                  <a:tcPr marL="50800" marR="50800" marT="25400" marB="25400" anchor="ctr">
                    <a:solidFill>
                      <a:srgbClr val="EFF1F4"/>
                    </a:solidFill>
                  </a:tcPr>
                </a:tc>
                <a:extLst>
                  <a:ext uri="{0D108BD9-81ED-4DB2-BD59-A6C34878D82A}">
                    <a16:rowId xmlns:a16="http://schemas.microsoft.com/office/drawing/2014/main" val="10004"/>
                  </a:ext>
                </a:extLst>
              </a:tr>
              <a:tr h="444137">
                <a:tc>
                  <a:txBody>
                    <a:bodyPr/>
                    <a:lstStyle/>
                    <a:p>
                      <a:pPr algn="ctr"/>
                      <a:r>
                        <a:rPr sz="1100" b="0">
                          <a:solidFill>
                            <a:srgbClr val="3A3A3A"/>
                          </a:solidFill>
                          <a:latin typeface="맑은 고딕"/>
                        </a:rPr>
                        <a:t>VAT</a:t>
                      </a:r>
                    </a:p>
                  </a:txBody>
                  <a:tcPr marL="50800" marR="50800" marT="25400" marB="25400" anchor="ctr">
                    <a:solidFill>
                      <a:srgbClr val="FFFFFF"/>
                    </a:solidFill>
                  </a:tcPr>
                </a:tc>
                <a:tc>
                  <a:txBody>
                    <a:bodyPr/>
                    <a:lstStyle/>
                    <a:p>
                      <a:pPr algn="ctr"/>
                      <a:r>
                        <a:rPr sz="1100" b="0">
                          <a:solidFill>
                            <a:srgbClr val="3A3A3A"/>
                          </a:solidFill>
                          <a:latin typeface="맑은 고딕"/>
                        </a:rPr>
                        <a:t>0.418</a:t>
                      </a:r>
                    </a:p>
                  </a:txBody>
                  <a:tcPr marL="50800" marR="50800" marT="25400" marB="25400" anchor="ctr">
                    <a:solidFill>
                      <a:srgbClr val="FFFFFF"/>
                    </a:solidFill>
                  </a:tcPr>
                </a:tc>
                <a:tc>
                  <a:txBody>
                    <a:bodyPr/>
                    <a:lstStyle/>
                    <a:p>
                      <a:pPr algn="ctr"/>
                      <a:r>
                        <a:rPr sz="1100" b="0">
                          <a:solidFill>
                            <a:srgbClr val="3A3A3A"/>
                          </a:solidFill>
                          <a:latin typeface="맑은 고딕"/>
                        </a:rPr>
                        <a:t>0.406</a:t>
                      </a:r>
                    </a:p>
                  </a:txBody>
                  <a:tcPr marL="50800" marR="50800" marT="25400" marB="25400" anchor="ctr">
                    <a:solidFill>
                      <a:srgbClr val="FFFFFF"/>
                    </a:solidFill>
                  </a:tcPr>
                </a:tc>
                <a:tc>
                  <a:txBody>
                    <a:bodyPr/>
                    <a:lstStyle/>
                    <a:p>
                      <a:pPr algn="ctr"/>
                      <a:r>
                        <a:rPr sz="1100" b="0">
                          <a:solidFill>
                            <a:srgbClr val="3A3A3A"/>
                          </a:solidFill>
                          <a:latin typeface="맑은 고딕"/>
                        </a:rPr>
                        <a:t>0.335</a:t>
                      </a:r>
                    </a:p>
                  </a:txBody>
                  <a:tcPr marL="50800" marR="50800" marT="25400" marB="25400" anchor="ctr">
                    <a:solidFill>
                      <a:srgbClr val="FFFFFF"/>
                    </a:solidFill>
                  </a:tcPr>
                </a:tc>
                <a:tc>
                  <a:txBody>
                    <a:bodyPr/>
                    <a:lstStyle/>
                    <a:p>
                      <a:pPr algn="ctr"/>
                      <a:r>
                        <a:rPr sz="1100" b="0">
                          <a:solidFill>
                            <a:srgbClr val="3A3A3A"/>
                          </a:solidFill>
                          <a:latin typeface="맑은 고딕"/>
                        </a:rPr>
                        <a:t>성별 무관 안정</a:t>
                      </a:r>
                    </a:p>
                  </a:txBody>
                  <a:tcPr marL="50800" marR="50800" marT="25400" marB="25400" anchor="ctr">
                    <a:solidFill>
                      <a:srgbClr val="FFFFFF"/>
                    </a:solidFill>
                  </a:tcPr>
                </a:tc>
                <a:extLst>
                  <a:ext uri="{0D108BD9-81ED-4DB2-BD59-A6C34878D82A}">
                    <a16:rowId xmlns:a16="http://schemas.microsoft.com/office/drawing/2014/main" val="10005"/>
                  </a:ext>
                </a:extLst>
              </a:tr>
              <a:tr h="444137">
                <a:tc>
                  <a:txBody>
                    <a:bodyPr/>
                    <a:lstStyle/>
                    <a:p>
                      <a:pPr algn="ctr"/>
                      <a:r>
                        <a:rPr sz="1100" b="0">
                          <a:solidFill>
                            <a:srgbClr val="3A3A3A"/>
                          </a:solidFill>
                          <a:latin typeface="맑은 고딕"/>
                        </a:rPr>
                        <a:t>SAT</a:t>
                      </a:r>
                    </a:p>
                  </a:txBody>
                  <a:tcPr marL="50800" marR="50800" marT="25400" marB="25400" anchor="ctr">
                    <a:solidFill>
                      <a:srgbClr val="EFF1F4"/>
                    </a:solidFill>
                  </a:tcPr>
                </a:tc>
                <a:tc>
                  <a:txBody>
                    <a:bodyPr/>
                    <a:lstStyle/>
                    <a:p>
                      <a:pPr algn="ctr"/>
                      <a:r>
                        <a:rPr sz="1100" b="0">
                          <a:solidFill>
                            <a:srgbClr val="3A3A3A"/>
                          </a:solidFill>
                          <a:latin typeface="맑은 고딕"/>
                        </a:rPr>
                        <a:t>0.565</a:t>
                      </a:r>
                    </a:p>
                  </a:txBody>
                  <a:tcPr marL="50800" marR="50800" marT="25400" marB="25400" anchor="ctr">
                    <a:solidFill>
                      <a:srgbClr val="EFF1F4"/>
                    </a:solidFill>
                  </a:tcPr>
                </a:tc>
                <a:tc>
                  <a:txBody>
                    <a:bodyPr/>
                    <a:lstStyle/>
                    <a:p>
                      <a:pPr algn="ctr"/>
                      <a:r>
                        <a:rPr sz="1100" b="0">
                          <a:solidFill>
                            <a:srgbClr val="3A3A3A"/>
                          </a:solidFill>
                          <a:latin typeface="맑은 고딕"/>
                        </a:rPr>
                        <a:t>0.455</a:t>
                      </a:r>
                    </a:p>
                  </a:txBody>
                  <a:tcPr marL="50800" marR="50800" marT="25400" marB="25400" anchor="ctr">
                    <a:solidFill>
                      <a:srgbClr val="EFF1F4"/>
                    </a:solidFill>
                  </a:tcPr>
                </a:tc>
                <a:tc>
                  <a:txBody>
                    <a:bodyPr/>
                    <a:lstStyle/>
                    <a:p>
                      <a:pPr algn="ctr"/>
                      <a:r>
                        <a:rPr sz="1100" b="0">
                          <a:solidFill>
                            <a:srgbClr val="3A3A3A"/>
                          </a:solidFill>
                          <a:latin typeface="맑은 고딕"/>
                        </a:rPr>
                        <a:t>0.491</a:t>
                      </a:r>
                    </a:p>
                  </a:txBody>
                  <a:tcPr marL="50800" marR="50800" marT="25400" marB="25400" anchor="ctr">
                    <a:solidFill>
                      <a:srgbClr val="EFF1F4"/>
                    </a:solidFill>
                  </a:tcPr>
                </a:tc>
                <a:tc>
                  <a:txBody>
                    <a:bodyPr/>
                    <a:lstStyle/>
                    <a:p>
                      <a:pPr algn="ctr"/>
                      <a:r>
                        <a:rPr sz="1100" b="0">
                          <a:solidFill>
                            <a:srgbClr val="3A3A3A"/>
                          </a:solidFill>
                          <a:latin typeface="맑은 고딕"/>
                        </a:rPr>
                        <a:t>성별 무관 안정</a:t>
                      </a:r>
                    </a:p>
                  </a:txBody>
                  <a:tcPr marL="50800" marR="50800" marT="25400" marB="25400" anchor="ctr">
                    <a:solidFill>
                      <a:srgbClr val="EFF1F4"/>
                    </a:solidFill>
                  </a:tcPr>
                </a:tc>
                <a:extLst>
                  <a:ext uri="{0D108BD9-81ED-4DB2-BD59-A6C34878D82A}">
                    <a16:rowId xmlns:a16="http://schemas.microsoft.com/office/drawing/2014/main" val="10006"/>
                  </a:ext>
                </a:extLst>
              </a:tr>
              <a:tr h="444137">
                <a:tc>
                  <a:txBody>
                    <a:bodyPr/>
                    <a:lstStyle/>
                    <a:p>
                      <a:pPr algn="ctr"/>
                      <a:r>
                        <a:rPr sz="1100" b="0">
                          <a:solidFill>
                            <a:srgbClr val="3A3A3A"/>
                          </a:solidFill>
                          <a:latin typeface="맑은 고딕"/>
                        </a:rPr>
                        <a:t>Total Fat</a:t>
                      </a:r>
                    </a:p>
                  </a:txBody>
                  <a:tcPr marL="50800" marR="50800" marT="25400" marB="25400" anchor="ctr">
                    <a:solidFill>
                      <a:srgbClr val="FFFFFF"/>
                    </a:solidFill>
                  </a:tcPr>
                </a:tc>
                <a:tc>
                  <a:txBody>
                    <a:bodyPr/>
                    <a:lstStyle/>
                    <a:p>
                      <a:pPr algn="ctr"/>
                      <a:r>
                        <a:rPr sz="1100" b="0">
                          <a:solidFill>
                            <a:srgbClr val="3A3A3A"/>
                          </a:solidFill>
                          <a:latin typeface="맑은 고딕"/>
                        </a:rPr>
                        <a:t>0.492</a:t>
                      </a:r>
                    </a:p>
                  </a:txBody>
                  <a:tcPr marL="50800" marR="50800" marT="25400" marB="25400" anchor="ctr">
                    <a:solidFill>
                      <a:srgbClr val="FFFFFF"/>
                    </a:solidFill>
                  </a:tcPr>
                </a:tc>
                <a:tc>
                  <a:txBody>
                    <a:bodyPr/>
                    <a:lstStyle/>
                    <a:p>
                      <a:pPr algn="ctr"/>
                      <a:r>
                        <a:rPr sz="1100" b="0">
                          <a:solidFill>
                            <a:srgbClr val="3A3A3A"/>
                          </a:solidFill>
                          <a:latin typeface="맑은 고딕"/>
                        </a:rPr>
                        <a:t>0.474</a:t>
                      </a:r>
                    </a:p>
                  </a:txBody>
                  <a:tcPr marL="50800" marR="50800" marT="25400" marB="25400" anchor="ctr">
                    <a:solidFill>
                      <a:srgbClr val="FFFFFF"/>
                    </a:solidFill>
                  </a:tcPr>
                </a:tc>
                <a:tc>
                  <a:txBody>
                    <a:bodyPr/>
                    <a:lstStyle/>
                    <a:p>
                      <a:pPr algn="ctr"/>
                      <a:r>
                        <a:rPr sz="1100" b="0">
                          <a:solidFill>
                            <a:srgbClr val="3A3A3A"/>
                          </a:solidFill>
                          <a:latin typeface="맑은 고딕"/>
                        </a:rPr>
                        <a:t>0.473</a:t>
                      </a:r>
                    </a:p>
                  </a:txBody>
                  <a:tcPr marL="50800" marR="50800" marT="25400" marB="25400" anchor="ctr">
                    <a:solidFill>
                      <a:srgbClr val="FFFFFF"/>
                    </a:solidFill>
                  </a:tcPr>
                </a:tc>
                <a:tc>
                  <a:txBody>
                    <a:bodyPr/>
                    <a:lstStyle/>
                    <a:p>
                      <a:pPr algn="ctr"/>
                      <a:r>
                        <a:rPr sz="1100" b="0">
                          <a:solidFill>
                            <a:srgbClr val="3A3A3A"/>
                          </a:solidFill>
                          <a:latin typeface="맑은 고딕"/>
                        </a:rPr>
                        <a:t>성별 무관 안정</a:t>
                      </a:r>
                    </a:p>
                  </a:txBody>
                  <a:tcPr marL="50800" marR="50800" marT="25400" marB="25400" anchor="ctr">
                    <a:solidFill>
                      <a:srgbClr val="FFFFFF"/>
                    </a:solidFill>
                  </a:tcPr>
                </a:tc>
                <a:extLst>
                  <a:ext uri="{0D108BD9-81ED-4DB2-BD59-A6C34878D82A}">
                    <a16:rowId xmlns:a16="http://schemas.microsoft.com/office/drawing/2014/main" val="202228619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APPENDIX  ·  RESIDUAL DIAGNOSTICS</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Clinic4 Baseline 잔차진단 예시 — TAMA</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TAMA baseline 잔차는 정규성 위배(Shapiro p&lt;0.05)를 보이나 R²는 7종 중 최고(external 0.711)</a:t>
            </a:r>
          </a:p>
        </p:txBody>
      </p:sp>
      <p:sp>
        <p:nvSpPr>
          <p:cNvPr id="7" name="TextBox 6"/>
          <p:cNvSpPr txBox="1"/>
          <p:nvPr/>
        </p:nvSpPr>
        <p:spPr>
          <a:xfrm>
            <a:off x="731520" y="1938528"/>
            <a:ext cx="10881360" cy="292608"/>
          </a:xfrm>
          <a:prstGeom prst="rect">
            <a:avLst/>
          </a:prstGeom>
          <a:noFill/>
        </p:spPr>
        <p:txBody>
          <a:bodyPr wrap="square">
            <a:spAutoFit/>
          </a:bodyPr>
          <a:lstStyle/>
          <a:p>
            <a:pPr algn="l">
              <a:lnSpc>
                <a:spcPct val="115000"/>
              </a:lnSpc>
            </a:pPr>
            <a:r>
              <a:rPr sz="1150" b="0" i="1">
                <a:solidFill>
                  <a:srgbClr val="8A8A8A"/>
                </a:solidFill>
                <a:latin typeface="맑은 고딕"/>
              </a:rPr>
              <a:t>internal(OOF) R²=0.646 [0.605,0.683] · external(frozen) R²=0.711 [0.673,0.743] — 나머지 6개는 outputs/step0/*/ 참고</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20</a:t>
            </a:r>
          </a:p>
        </p:txBody>
      </p:sp>
      <p:sp>
        <p:nvSpPr>
          <p:cNvPr id="10" name="TextBox 9"/>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pic>
        <p:nvPicPr>
          <p:cNvPr id="11" name="Picture 10" descr="tama_linear_regression_diagnostics.png"/>
          <p:cNvPicPr>
            <a:picLocks noChangeAspect="1"/>
          </p:cNvPicPr>
          <p:nvPr/>
        </p:nvPicPr>
        <p:blipFill>
          <a:blip r:embed="rId3"/>
          <a:stretch>
            <a:fillRect/>
          </a:stretch>
        </p:blipFill>
        <p:spPr>
          <a:xfrm>
            <a:off x="1859318" y="2414016"/>
            <a:ext cx="8442883" cy="38404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lnSpc>
                <a:spcPct val="115000"/>
              </a:lnSpc>
            </a:pPr>
            <a:r>
              <a:rPr sz="1150" b="1" i="0">
                <a:solidFill>
                  <a:srgbClr val="2E86AB"/>
                </a:solidFill>
                <a:latin typeface="맑은 고딕"/>
              </a:rPr>
              <a:t>APPENDIX  ·  METHOD-REFERENCE MAP</a:t>
            </a:r>
          </a:p>
        </p:txBody>
      </p:sp>
      <p:sp>
        <p:nvSpPr>
          <p:cNvPr id="4" name="TextBox 3"/>
          <p:cNvSpPr txBox="1"/>
          <p:nvPr/>
        </p:nvSpPr>
        <p:spPr>
          <a:xfrm>
            <a:off x="502920" y="457200"/>
            <a:ext cx="10972800" cy="411480"/>
          </a:xfrm>
          <a:prstGeom prst="rect">
            <a:avLst/>
          </a:prstGeom>
          <a:noFill/>
        </p:spPr>
        <p:txBody>
          <a:bodyPr wrap="square">
            <a:spAutoFit/>
          </a:bodyPr>
          <a:lstStyle/>
          <a:p>
            <a:pPr algn="l">
              <a:lnSpc>
                <a:spcPct val="115000"/>
              </a:lnSpc>
            </a:pPr>
            <a:r>
              <a:rPr sz="2000" b="1" i="0">
                <a:solidFill>
                  <a:srgbClr val="1B2A4A"/>
                </a:solidFill>
                <a:latin typeface="맑은 고딕"/>
              </a:rPr>
              <a:t>방법론 요소 × 코드 파일 매핑</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nchor="t">
            <a:spAutoFit/>
          </a:bodyPr>
          <a:lstStyle/>
          <a:p>
            <a:pPr algn="l">
              <a:lnSpc>
                <a:spcPct val="115000"/>
              </a:lnSpc>
            </a:pPr>
            <a:r>
              <a:rPr sz="1850" b="1" i="0">
                <a:solidFill>
                  <a:srgbClr val="1B2A4A"/>
                </a:solidFill>
                <a:latin typeface="맑은 고딕"/>
              </a:rPr>
              <a:t>10개 방법론 요소 모두 표준 문헌에 근거해 설계됐다</a:t>
            </a:r>
          </a:p>
        </p:txBody>
      </p:sp>
      <p:sp>
        <p:nvSpPr>
          <p:cNvPr id="7" name="Rectangle 6"/>
          <p:cNvSpPr/>
          <p:nvPr/>
        </p:nvSpPr>
        <p:spPr>
          <a:xfrm>
            <a:off x="502920" y="1938528"/>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0" y="6492240"/>
            <a:ext cx="548640" cy="274320"/>
          </a:xfrm>
          <a:prstGeom prst="rect">
            <a:avLst/>
          </a:prstGeom>
          <a:noFill/>
        </p:spPr>
        <p:txBody>
          <a:bodyPr wrap="square">
            <a:spAutoFit/>
          </a:bodyPr>
          <a:lstStyle/>
          <a:p>
            <a:pPr algn="r">
              <a:lnSpc>
                <a:spcPct val="115000"/>
              </a:lnSpc>
            </a:pPr>
            <a:r>
              <a:rPr sz="1100" b="0" i="0">
                <a:solidFill>
                  <a:srgbClr val="8A8A8A"/>
                </a:solidFill>
                <a:latin typeface="맑은 고딕"/>
              </a:rPr>
              <a:t>20</a:t>
            </a:r>
          </a:p>
        </p:txBody>
      </p:sp>
      <p:sp>
        <p:nvSpPr>
          <p:cNvPr id="9" name="TextBox 8"/>
          <p:cNvSpPr txBox="1"/>
          <p:nvPr/>
        </p:nvSpPr>
        <p:spPr>
          <a:xfrm>
            <a:off x="502920" y="6492240"/>
            <a:ext cx="5486400" cy="274320"/>
          </a:xfrm>
          <a:prstGeom prst="rect">
            <a:avLst/>
          </a:prstGeom>
          <a:noFill/>
        </p:spPr>
        <p:txBody>
          <a:bodyPr wrap="square">
            <a:spAutoFit/>
          </a:bodyPr>
          <a:lstStyle/>
          <a:p>
            <a:pPr algn="l">
              <a:lnSpc>
                <a:spcPct val="115000"/>
              </a:lnSpc>
            </a:pPr>
            <a:r>
              <a:rPr sz="900" b="0" i="0">
                <a:solidFill>
                  <a:srgbClr val="8A8A8A"/>
                </a:solidFill>
                <a:latin typeface="맑은 고딕"/>
              </a:rPr>
              <a:t>AEC-128 Body Composition Study</a:t>
            </a:r>
          </a:p>
        </p:txBody>
      </p:sp>
      <p:graphicFrame>
        <p:nvGraphicFramePr>
          <p:cNvPr id="10" name="Table 9"/>
          <p:cNvGraphicFramePr>
            <a:graphicFrameLocks noGrp="1"/>
          </p:cNvGraphicFramePr>
          <p:nvPr/>
        </p:nvGraphicFramePr>
        <p:xfrm>
          <a:off x="548640" y="2103120"/>
          <a:ext cx="11064237" cy="3931917"/>
        </p:xfrm>
        <a:graphic>
          <a:graphicData uri="http://schemas.openxmlformats.org/drawingml/2006/table">
            <a:tbl>
              <a:tblPr firstRow="1" bandRow="1">
                <a:tableStyleId>{5C22544A-7EE6-4342-B048-85BDC9FD1C3A}</a:tableStyleId>
              </a:tblPr>
              <a:tblGrid>
                <a:gridCol w="873492">
                  <a:extLst>
                    <a:ext uri="{9D8B030D-6E8A-4147-A177-3AD203B41FA5}">
                      <a16:colId xmlns:a16="http://schemas.microsoft.com/office/drawing/2014/main" val="20000"/>
                    </a:ext>
                  </a:extLst>
                </a:gridCol>
                <a:gridCol w="3785134">
                  <a:extLst>
                    <a:ext uri="{9D8B030D-6E8A-4147-A177-3AD203B41FA5}">
                      <a16:colId xmlns:a16="http://schemas.microsoft.com/office/drawing/2014/main" val="20001"/>
                    </a:ext>
                  </a:extLst>
                </a:gridCol>
                <a:gridCol w="2620477">
                  <a:extLst>
                    <a:ext uri="{9D8B030D-6E8A-4147-A177-3AD203B41FA5}">
                      <a16:colId xmlns:a16="http://schemas.microsoft.com/office/drawing/2014/main" val="20002"/>
                    </a:ext>
                  </a:extLst>
                </a:gridCol>
                <a:gridCol w="3785134">
                  <a:extLst>
                    <a:ext uri="{9D8B030D-6E8A-4147-A177-3AD203B41FA5}">
                      <a16:colId xmlns:a16="http://schemas.microsoft.com/office/drawing/2014/main" val="20003"/>
                    </a:ext>
                  </a:extLst>
                </a:gridCol>
              </a:tblGrid>
              <a:tr h="357447">
                <a:tc>
                  <a:txBody>
                    <a:bodyPr/>
                    <a:lstStyle/>
                    <a:p>
                      <a:pPr algn="ctr"/>
                      <a:r>
                        <a:rPr sz="1100" b="1">
                          <a:solidFill>
                            <a:srgbClr val="FFFFFF"/>
                          </a:solidFill>
                          <a:latin typeface="맑은 고딕"/>
                        </a:rPr>
                        <a:t>요소</a:t>
                      </a:r>
                    </a:p>
                  </a:txBody>
                  <a:tcPr marL="50800" marR="50800" marT="25400" marB="25400" anchor="ctr">
                    <a:solidFill>
                      <a:srgbClr val="1B2A4A"/>
                    </a:solidFill>
                  </a:tcPr>
                </a:tc>
                <a:tc>
                  <a:txBody>
                    <a:bodyPr/>
                    <a:lstStyle/>
                    <a:p>
                      <a:pPr algn="ctr"/>
                      <a:r>
                        <a:rPr sz="1100" b="1">
                          <a:solidFill>
                            <a:srgbClr val="FFFFFF"/>
                          </a:solidFill>
                          <a:latin typeface="맑은 고딕"/>
                        </a:rPr>
                        <a:t>방법론</a:t>
                      </a:r>
                    </a:p>
                  </a:txBody>
                  <a:tcPr marL="50800" marR="50800" marT="25400" marB="25400" anchor="ctr">
                    <a:solidFill>
                      <a:srgbClr val="1B2A4A"/>
                    </a:solidFill>
                  </a:tcPr>
                </a:tc>
                <a:tc>
                  <a:txBody>
                    <a:bodyPr/>
                    <a:lstStyle/>
                    <a:p>
                      <a:pPr algn="ctr"/>
                      <a:r>
                        <a:rPr sz="1100" b="1">
                          <a:solidFill>
                            <a:srgbClr val="FFFFFF"/>
                          </a:solidFill>
                          <a:latin typeface="맑은 고딕"/>
                        </a:rPr>
                        <a:t>적용 Step</a:t>
                      </a:r>
                    </a:p>
                  </a:txBody>
                  <a:tcPr marL="50800" marR="50800" marT="25400" marB="25400" anchor="ctr">
                    <a:solidFill>
                      <a:srgbClr val="1B2A4A"/>
                    </a:solidFill>
                  </a:tcPr>
                </a:tc>
                <a:tc>
                  <a:txBody>
                    <a:bodyPr/>
                    <a:lstStyle/>
                    <a:p>
                      <a:pPr algn="ctr"/>
                      <a:r>
                        <a:rPr sz="1100" b="1">
                          <a:solidFill>
                            <a:srgbClr val="FFFFFF"/>
                          </a:solidFill>
                          <a:latin typeface="맑은 고딕"/>
                        </a:rPr>
                        <a:t>대표 레퍼런스</a:t>
                      </a:r>
                    </a:p>
                  </a:txBody>
                  <a:tcPr marL="50800" marR="50800" marT="25400" marB="25400" anchor="ctr">
                    <a:solidFill>
                      <a:srgbClr val="1B2A4A"/>
                    </a:solidFill>
                  </a:tcPr>
                </a:tc>
                <a:extLst>
                  <a:ext uri="{0D108BD9-81ED-4DB2-BD59-A6C34878D82A}">
                    <a16:rowId xmlns:a16="http://schemas.microsoft.com/office/drawing/2014/main" val="10000"/>
                  </a:ext>
                </a:extLst>
              </a:tr>
              <a:tr h="357447">
                <a:tc>
                  <a:txBody>
                    <a:bodyPr/>
                    <a:lstStyle/>
                    <a:p>
                      <a:pPr algn="ctr"/>
                      <a:r>
                        <a:rPr sz="1100" b="0">
                          <a:solidFill>
                            <a:srgbClr val="3A3A3A"/>
                          </a:solidFill>
                          <a:latin typeface="맑은 고딕"/>
                        </a:rPr>
                        <a:t>A / I</a:t>
                      </a:r>
                    </a:p>
                  </a:txBody>
                  <a:tcPr marL="50800" marR="50800" marT="25400" marB="25400" anchor="ctr">
                    <a:solidFill>
                      <a:srgbClr val="FFFFFF"/>
                    </a:solidFill>
                  </a:tcPr>
                </a:tc>
                <a:tc>
                  <a:txBody>
                    <a:bodyPr/>
                    <a:lstStyle/>
                    <a:p>
                      <a:pPr algn="ctr"/>
                      <a:r>
                        <a:rPr sz="1100" b="0">
                          <a:solidFill>
                            <a:srgbClr val="3A3A3A"/>
                          </a:solidFill>
                          <a:latin typeface="맑은 고딕"/>
                        </a:rPr>
                        <a:t>AEC 구간평균(PAA)</a:t>
                      </a:r>
                    </a:p>
                  </a:txBody>
                  <a:tcPr marL="50800" marR="50800" marT="25400" marB="25400" anchor="ctr">
                    <a:solidFill>
                      <a:srgbClr val="FFFFFF"/>
                    </a:solidFill>
                  </a:tcPr>
                </a:tc>
                <a:tc>
                  <a:txBody>
                    <a:bodyPr/>
                    <a:lstStyle/>
                    <a:p>
                      <a:pPr algn="ctr"/>
                      <a:r>
                        <a:rPr sz="1100" b="0">
                          <a:solidFill>
                            <a:srgbClr val="3A3A3A"/>
                          </a:solidFill>
                          <a:latin typeface="맑은 고딕"/>
                        </a:rPr>
                        <a:t>Step1, 2, 3</a:t>
                      </a:r>
                    </a:p>
                  </a:txBody>
                  <a:tcPr marL="50800" marR="50800" marT="25400" marB="25400" anchor="ctr">
                    <a:solidFill>
                      <a:srgbClr val="FFFFFF"/>
                    </a:solidFill>
                  </a:tcPr>
                </a:tc>
                <a:tc>
                  <a:txBody>
                    <a:bodyPr/>
                    <a:lstStyle/>
                    <a:p>
                      <a:pPr algn="ctr"/>
                      <a:r>
                        <a:rPr sz="1100" b="0">
                          <a:solidFill>
                            <a:srgbClr val="3A3A3A"/>
                          </a:solidFill>
                          <a:latin typeface="맑은 고딕"/>
                        </a:rPr>
                        <a:t>Keogh et al. 2001</a:t>
                      </a:r>
                    </a:p>
                  </a:txBody>
                  <a:tcPr marL="50800" marR="50800" marT="25400" marB="25400" anchor="ctr">
                    <a:solidFill>
                      <a:srgbClr val="FFFFFF"/>
                    </a:solidFill>
                  </a:tcPr>
                </a:tc>
                <a:extLst>
                  <a:ext uri="{0D108BD9-81ED-4DB2-BD59-A6C34878D82A}">
                    <a16:rowId xmlns:a16="http://schemas.microsoft.com/office/drawing/2014/main" val="10001"/>
                  </a:ext>
                </a:extLst>
              </a:tr>
              <a:tr h="357447">
                <a:tc>
                  <a:txBody>
                    <a:bodyPr/>
                    <a:lstStyle/>
                    <a:p>
                      <a:pPr algn="ctr"/>
                      <a:r>
                        <a:rPr sz="1100" b="0">
                          <a:solidFill>
                            <a:srgbClr val="3A3A3A"/>
                          </a:solidFill>
                          <a:latin typeface="맑은 고딕"/>
                        </a:rPr>
                        <a:t>B</a:t>
                      </a:r>
                    </a:p>
                  </a:txBody>
                  <a:tcPr marL="50800" marR="50800" marT="25400" marB="25400" anchor="ctr">
                    <a:solidFill>
                      <a:srgbClr val="EFF1F4"/>
                    </a:solidFill>
                  </a:tcPr>
                </a:tc>
                <a:tc>
                  <a:txBody>
                    <a:bodyPr/>
                    <a:lstStyle/>
                    <a:p>
                      <a:pPr algn="ctr"/>
                      <a:r>
                        <a:rPr sz="1100" b="0">
                          <a:solidFill>
                            <a:srgbClr val="3A3A3A"/>
                          </a:solidFill>
                          <a:latin typeface="맑은 고딕"/>
                        </a:rPr>
                        <a:t>clinic4 → 체성분 예측</a:t>
                      </a:r>
                    </a:p>
                  </a:txBody>
                  <a:tcPr marL="50800" marR="50800" marT="25400" marB="25400" anchor="ctr">
                    <a:solidFill>
                      <a:srgbClr val="EFF1F4"/>
                    </a:solidFill>
                  </a:tcPr>
                </a:tc>
                <a:tc>
                  <a:txBody>
                    <a:bodyPr/>
                    <a:lstStyle/>
                    <a:p>
                      <a:pPr algn="ctr"/>
                      <a:r>
                        <a:rPr sz="1100" b="0">
                          <a:solidFill>
                            <a:srgbClr val="3A3A3A"/>
                          </a:solidFill>
                          <a:latin typeface="맑은 고딕"/>
                        </a:rPr>
                        <a:t>Step0 (전체 baseline)</a:t>
                      </a:r>
                    </a:p>
                  </a:txBody>
                  <a:tcPr marL="50800" marR="50800" marT="25400" marB="25400" anchor="ctr">
                    <a:solidFill>
                      <a:srgbClr val="EFF1F4"/>
                    </a:solidFill>
                  </a:tcPr>
                </a:tc>
                <a:tc>
                  <a:txBody>
                    <a:bodyPr/>
                    <a:lstStyle/>
                    <a:p>
                      <a:pPr algn="ctr"/>
                      <a:r>
                        <a:rPr sz="1100" b="0">
                          <a:solidFill>
                            <a:srgbClr val="3A3A3A"/>
                          </a:solidFill>
                          <a:latin typeface="맑은 고딕"/>
                        </a:rPr>
                        <a:t>Cao et al. 2022, Front Nutr</a:t>
                      </a:r>
                    </a:p>
                  </a:txBody>
                  <a:tcPr marL="50800" marR="50800" marT="25400" marB="25400" anchor="ctr">
                    <a:solidFill>
                      <a:srgbClr val="EFF1F4"/>
                    </a:solidFill>
                  </a:tcPr>
                </a:tc>
                <a:extLst>
                  <a:ext uri="{0D108BD9-81ED-4DB2-BD59-A6C34878D82A}">
                    <a16:rowId xmlns:a16="http://schemas.microsoft.com/office/drawing/2014/main" val="10002"/>
                  </a:ext>
                </a:extLst>
              </a:tr>
              <a:tr h="357447">
                <a:tc>
                  <a:txBody>
                    <a:bodyPr/>
                    <a:lstStyle/>
                    <a:p>
                      <a:pPr algn="ctr"/>
                      <a:r>
                        <a:rPr sz="1100" b="0">
                          <a:solidFill>
                            <a:srgbClr val="3A3A3A"/>
                          </a:solidFill>
                          <a:latin typeface="맑은 고딕"/>
                        </a:rPr>
                        <a:t>C</a:t>
                      </a:r>
                    </a:p>
                  </a:txBody>
                  <a:tcPr marL="50800" marR="50800" marT="25400" marB="25400" anchor="ctr">
                    <a:solidFill>
                      <a:srgbClr val="FFFFFF"/>
                    </a:solidFill>
                  </a:tcPr>
                </a:tc>
                <a:tc>
                  <a:txBody>
                    <a:bodyPr/>
                    <a:lstStyle/>
                    <a:p>
                      <a:pPr algn="ctr"/>
                      <a:r>
                        <a:rPr sz="1100" b="0">
                          <a:solidFill>
                            <a:srgbClr val="3A3A3A"/>
                          </a:solidFill>
                          <a:latin typeface="맑은 고딕"/>
                        </a:rPr>
                        <a:t>K-fold Cross-Validation + OOF</a:t>
                      </a:r>
                    </a:p>
                  </a:txBody>
                  <a:tcPr marL="50800" marR="50800" marT="25400" marB="25400" anchor="ctr">
                    <a:solidFill>
                      <a:srgbClr val="FFFFFF"/>
                    </a:solidFill>
                  </a:tcPr>
                </a:tc>
                <a:tc>
                  <a:txBody>
                    <a:bodyPr/>
                    <a:lstStyle/>
                    <a:p>
                      <a:pPr algn="ctr"/>
                      <a:r>
                        <a:rPr sz="1100" b="0">
                          <a:solidFill>
                            <a:srgbClr val="3A3A3A"/>
                          </a:solidFill>
                          <a:latin typeface="맑은 고딕"/>
                        </a:rPr>
                        <a:t>전체(Step0~3)</a:t>
                      </a:r>
                    </a:p>
                  </a:txBody>
                  <a:tcPr marL="50800" marR="50800" marT="25400" marB="25400" anchor="ctr">
                    <a:solidFill>
                      <a:srgbClr val="FFFFFF"/>
                    </a:solidFill>
                  </a:tcPr>
                </a:tc>
                <a:tc>
                  <a:txBody>
                    <a:bodyPr/>
                    <a:lstStyle/>
                    <a:p>
                      <a:pPr algn="ctr"/>
                      <a:r>
                        <a:rPr sz="1100" b="0">
                          <a:solidFill>
                            <a:srgbClr val="3A3A3A"/>
                          </a:solidFill>
                          <a:latin typeface="맑은 고딕"/>
                        </a:rPr>
                        <a:t>Kohavi 1995, IJCAI</a:t>
                      </a:r>
                    </a:p>
                  </a:txBody>
                  <a:tcPr marL="50800" marR="50800" marT="25400" marB="25400" anchor="ctr">
                    <a:solidFill>
                      <a:srgbClr val="FFFFFF"/>
                    </a:solidFill>
                  </a:tcPr>
                </a:tc>
                <a:extLst>
                  <a:ext uri="{0D108BD9-81ED-4DB2-BD59-A6C34878D82A}">
                    <a16:rowId xmlns:a16="http://schemas.microsoft.com/office/drawing/2014/main" val="10003"/>
                  </a:ext>
                </a:extLst>
              </a:tr>
              <a:tr h="357447">
                <a:tc>
                  <a:txBody>
                    <a:bodyPr/>
                    <a:lstStyle/>
                    <a:p>
                      <a:pPr algn="ctr"/>
                      <a:r>
                        <a:rPr sz="1100" b="0">
                          <a:solidFill>
                            <a:srgbClr val="3A3A3A"/>
                          </a:solidFill>
                          <a:latin typeface="맑은 고딕"/>
                        </a:rPr>
                        <a:t>D</a:t>
                      </a:r>
                    </a:p>
                  </a:txBody>
                  <a:tcPr marL="50800" marR="50800" marT="25400" marB="25400" anchor="ctr">
                    <a:solidFill>
                      <a:srgbClr val="EFF1F4"/>
                    </a:solidFill>
                  </a:tcPr>
                </a:tc>
                <a:tc>
                  <a:txBody>
                    <a:bodyPr/>
                    <a:lstStyle/>
                    <a:p>
                      <a:pPr algn="ctr"/>
                      <a:r>
                        <a:rPr sz="1100" b="0">
                          <a:solidFill>
                            <a:srgbClr val="3A3A3A"/>
                          </a:solidFill>
                          <a:latin typeface="맑은 고딕"/>
                        </a:rPr>
                        <a:t>R² Bootstrap 95% CI</a:t>
                      </a:r>
                    </a:p>
                  </a:txBody>
                  <a:tcPr marL="50800" marR="50800" marT="25400" marB="25400" anchor="ctr">
                    <a:solidFill>
                      <a:srgbClr val="EFF1F4"/>
                    </a:solidFill>
                  </a:tcPr>
                </a:tc>
                <a:tc>
                  <a:txBody>
                    <a:bodyPr/>
                    <a:lstStyle/>
                    <a:p>
                      <a:pPr algn="ctr"/>
                      <a:r>
                        <a:rPr sz="1100" b="0">
                          <a:solidFill>
                            <a:srgbClr val="3A3A3A"/>
                          </a:solidFill>
                          <a:latin typeface="맑은 고딕"/>
                        </a:rPr>
                        <a:t>전체(Step0~3)</a:t>
                      </a:r>
                    </a:p>
                  </a:txBody>
                  <a:tcPr marL="50800" marR="50800" marT="25400" marB="25400" anchor="ctr">
                    <a:solidFill>
                      <a:srgbClr val="EFF1F4"/>
                    </a:solidFill>
                  </a:tcPr>
                </a:tc>
                <a:tc>
                  <a:txBody>
                    <a:bodyPr/>
                    <a:lstStyle/>
                    <a:p>
                      <a:pPr algn="ctr"/>
                      <a:r>
                        <a:rPr sz="1100" b="0">
                          <a:solidFill>
                            <a:srgbClr val="3A3A3A"/>
                          </a:solidFill>
                          <a:latin typeface="맑은 고딕"/>
                        </a:rPr>
                        <a:t>Efron 1983 / Efron &amp; Tibshirani 1993</a:t>
                      </a:r>
                    </a:p>
                  </a:txBody>
                  <a:tcPr marL="50800" marR="50800" marT="25400" marB="25400" anchor="ctr">
                    <a:solidFill>
                      <a:srgbClr val="EFF1F4"/>
                    </a:solidFill>
                  </a:tcPr>
                </a:tc>
                <a:extLst>
                  <a:ext uri="{0D108BD9-81ED-4DB2-BD59-A6C34878D82A}">
                    <a16:rowId xmlns:a16="http://schemas.microsoft.com/office/drawing/2014/main" val="10004"/>
                  </a:ext>
                </a:extLst>
              </a:tr>
              <a:tr h="357447">
                <a:tc>
                  <a:txBody>
                    <a:bodyPr/>
                    <a:lstStyle/>
                    <a:p>
                      <a:pPr algn="ctr"/>
                      <a:r>
                        <a:rPr sz="1100" b="0">
                          <a:solidFill>
                            <a:srgbClr val="3A3A3A"/>
                          </a:solidFill>
                          <a:latin typeface="맑은 고딕"/>
                        </a:rPr>
                        <a:t>E</a:t>
                      </a:r>
                    </a:p>
                  </a:txBody>
                  <a:tcPr marL="50800" marR="50800" marT="25400" marB="25400" anchor="ctr">
                    <a:solidFill>
                      <a:srgbClr val="FFFFFF"/>
                    </a:solidFill>
                  </a:tcPr>
                </a:tc>
                <a:tc>
                  <a:txBody>
                    <a:bodyPr/>
                    <a:lstStyle/>
                    <a:p>
                      <a:pPr algn="ctr"/>
                      <a:r>
                        <a:rPr sz="1100" b="0">
                          <a:solidFill>
                            <a:srgbClr val="3A3A3A"/>
                          </a:solidFill>
                          <a:latin typeface="맑은 고딕"/>
                        </a:rPr>
                        <a:t>Internal-External 검증 프로토콜</a:t>
                      </a:r>
                    </a:p>
                  </a:txBody>
                  <a:tcPr marL="50800" marR="50800" marT="25400" marB="25400" anchor="ctr">
                    <a:solidFill>
                      <a:srgbClr val="FFFFFF"/>
                    </a:solidFill>
                  </a:tcPr>
                </a:tc>
                <a:tc>
                  <a:txBody>
                    <a:bodyPr/>
                    <a:lstStyle/>
                    <a:p>
                      <a:pPr algn="ctr"/>
                      <a:r>
                        <a:rPr sz="1100" b="0">
                          <a:solidFill>
                            <a:srgbClr val="3A3A3A"/>
                          </a:solidFill>
                          <a:latin typeface="맑은 고딕"/>
                        </a:rPr>
                        <a:t>전체(Step0~3)</a:t>
                      </a:r>
                    </a:p>
                  </a:txBody>
                  <a:tcPr marL="50800" marR="50800" marT="25400" marB="25400" anchor="ctr">
                    <a:solidFill>
                      <a:srgbClr val="FFFFFF"/>
                    </a:solidFill>
                  </a:tcPr>
                </a:tc>
                <a:tc>
                  <a:txBody>
                    <a:bodyPr/>
                    <a:lstStyle/>
                    <a:p>
                      <a:pPr algn="ctr"/>
                      <a:r>
                        <a:rPr sz="1100" b="0">
                          <a:solidFill>
                            <a:srgbClr val="3A3A3A"/>
                          </a:solidFill>
                          <a:latin typeface="맑은 고딕"/>
                        </a:rPr>
                        <a:t>Steyerberg 2019 / Moons et al. 2015(TRIPOD)</a:t>
                      </a:r>
                    </a:p>
                  </a:txBody>
                  <a:tcPr marL="50800" marR="50800" marT="25400" marB="25400" anchor="ctr">
                    <a:solidFill>
                      <a:srgbClr val="FFFFFF"/>
                    </a:solidFill>
                  </a:tcPr>
                </a:tc>
                <a:extLst>
                  <a:ext uri="{0D108BD9-81ED-4DB2-BD59-A6C34878D82A}">
                    <a16:rowId xmlns:a16="http://schemas.microsoft.com/office/drawing/2014/main" val="10005"/>
                  </a:ext>
                </a:extLst>
              </a:tr>
              <a:tr h="357447">
                <a:tc>
                  <a:txBody>
                    <a:bodyPr/>
                    <a:lstStyle/>
                    <a:p>
                      <a:pPr algn="ctr"/>
                      <a:r>
                        <a:rPr sz="1100" b="0">
                          <a:solidFill>
                            <a:srgbClr val="3A3A3A"/>
                          </a:solidFill>
                          <a:latin typeface="맑은 고딕"/>
                        </a:rPr>
                        <a:t>F</a:t>
                      </a:r>
                    </a:p>
                  </a:txBody>
                  <a:tcPr marL="50800" marR="50800" marT="25400" marB="25400" anchor="ctr">
                    <a:solidFill>
                      <a:srgbClr val="EFF1F4"/>
                    </a:solidFill>
                  </a:tcPr>
                </a:tc>
                <a:tc>
                  <a:txBody>
                    <a:bodyPr/>
                    <a:lstStyle/>
                    <a:p>
                      <a:pPr algn="ctr"/>
                      <a:r>
                        <a:rPr sz="1100" b="0">
                          <a:solidFill>
                            <a:srgbClr val="3A3A3A"/>
                          </a:solidFill>
                          <a:latin typeface="맑은 고딕"/>
                        </a:rPr>
                        <a:t>CV fold 내부 feature selection(leakage 방지)</a:t>
                      </a:r>
                    </a:p>
                  </a:txBody>
                  <a:tcPr marL="50800" marR="50800" marT="25400" marB="25400" anchor="ctr">
                    <a:solidFill>
                      <a:srgbClr val="EFF1F4"/>
                    </a:solidFill>
                  </a:tcPr>
                </a:tc>
                <a:tc>
                  <a:txBody>
                    <a:bodyPr/>
                    <a:lstStyle/>
                    <a:p>
                      <a:pPr algn="ctr"/>
                      <a:r>
                        <a:rPr sz="1100" b="0">
                          <a:solidFill>
                            <a:srgbClr val="3A3A3A"/>
                          </a:solidFill>
                          <a:latin typeface="맑은 고딕"/>
                        </a:rPr>
                        <a:t>Step2 (top-k)</a:t>
                      </a:r>
                    </a:p>
                  </a:txBody>
                  <a:tcPr marL="50800" marR="50800" marT="25400" marB="25400" anchor="ctr">
                    <a:solidFill>
                      <a:srgbClr val="EFF1F4"/>
                    </a:solidFill>
                  </a:tcPr>
                </a:tc>
                <a:tc>
                  <a:txBody>
                    <a:bodyPr/>
                    <a:lstStyle/>
                    <a:p>
                      <a:pPr algn="ctr"/>
                      <a:r>
                        <a:rPr sz="1100" b="0">
                          <a:solidFill>
                            <a:srgbClr val="3A3A3A"/>
                          </a:solidFill>
                          <a:latin typeface="맑은 고딕"/>
                        </a:rPr>
                        <a:t>Hastie, Tibshirani, Friedman 2009, ESL §7.10.2</a:t>
                      </a:r>
                    </a:p>
                  </a:txBody>
                  <a:tcPr marL="50800" marR="50800" marT="25400" marB="25400" anchor="ctr">
                    <a:solidFill>
                      <a:srgbClr val="EFF1F4"/>
                    </a:solidFill>
                  </a:tcPr>
                </a:tc>
                <a:extLst>
                  <a:ext uri="{0D108BD9-81ED-4DB2-BD59-A6C34878D82A}">
                    <a16:rowId xmlns:a16="http://schemas.microsoft.com/office/drawing/2014/main" val="10006"/>
                  </a:ext>
                </a:extLst>
              </a:tr>
              <a:tr h="357447">
                <a:tc>
                  <a:txBody>
                    <a:bodyPr/>
                    <a:lstStyle/>
                    <a:p>
                      <a:pPr algn="ctr"/>
                      <a:r>
                        <a:rPr sz="1100" b="0">
                          <a:solidFill>
                            <a:srgbClr val="3A3A3A"/>
                          </a:solidFill>
                          <a:latin typeface="맑은 고딕"/>
                        </a:rPr>
                        <a:t>G</a:t>
                      </a:r>
                    </a:p>
                  </a:txBody>
                  <a:tcPr marL="50800" marR="50800" marT="25400" marB="25400" anchor="ctr">
                    <a:solidFill>
                      <a:srgbClr val="FFFFFF"/>
                    </a:solidFill>
                  </a:tcPr>
                </a:tc>
                <a:tc>
                  <a:txBody>
                    <a:bodyPr/>
                    <a:lstStyle/>
                    <a:p>
                      <a:pPr algn="ctr"/>
                      <a:r>
                        <a:rPr sz="1100" b="0">
                          <a:solidFill>
                            <a:srgbClr val="3A3A3A"/>
                          </a:solidFill>
                          <a:latin typeface="맑은 고딕"/>
                        </a:rPr>
                        <a:t>잔차진단(Q-Q, Shapiro-Wilk, Scale-Location)</a:t>
                      </a:r>
                    </a:p>
                  </a:txBody>
                  <a:tcPr marL="50800" marR="50800" marT="25400" marB="25400" anchor="ctr">
                    <a:solidFill>
                      <a:srgbClr val="FFFFFF"/>
                    </a:solidFill>
                  </a:tcPr>
                </a:tc>
                <a:tc>
                  <a:txBody>
                    <a:bodyPr/>
                    <a:lstStyle/>
                    <a:p>
                      <a:pPr algn="ctr"/>
                      <a:r>
                        <a:rPr sz="1100" b="0">
                          <a:solidFill>
                            <a:srgbClr val="3A3A3A"/>
                          </a:solidFill>
                          <a:latin typeface="맑은 고딕"/>
                        </a:rPr>
                        <a:t>Step0</a:t>
                      </a:r>
                    </a:p>
                  </a:txBody>
                  <a:tcPr marL="50800" marR="50800" marT="25400" marB="25400" anchor="ctr">
                    <a:solidFill>
                      <a:srgbClr val="FFFFFF"/>
                    </a:solidFill>
                  </a:tcPr>
                </a:tc>
                <a:tc>
                  <a:txBody>
                    <a:bodyPr/>
                    <a:lstStyle/>
                    <a:p>
                      <a:pPr algn="ctr"/>
                      <a:r>
                        <a:rPr sz="1100" b="0">
                          <a:solidFill>
                            <a:srgbClr val="3A3A3A"/>
                          </a:solidFill>
                          <a:latin typeface="맑은 고딕"/>
                        </a:rPr>
                        <a:t>Shapiro &amp; Wilk 1965 / Belsley et al. 1980</a:t>
                      </a:r>
                    </a:p>
                  </a:txBody>
                  <a:tcPr marL="50800" marR="50800" marT="25400" marB="25400" anchor="ctr">
                    <a:solidFill>
                      <a:srgbClr val="FFFFFF"/>
                    </a:solidFill>
                  </a:tcPr>
                </a:tc>
                <a:extLst>
                  <a:ext uri="{0D108BD9-81ED-4DB2-BD59-A6C34878D82A}">
                    <a16:rowId xmlns:a16="http://schemas.microsoft.com/office/drawing/2014/main" val="10007"/>
                  </a:ext>
                </a:extLst>
              </a:tr>
              <a:tr h="357447">
                <a:tc>
                  <a:txBody>
                    <a:bodyPr/>
                    <a:lstStyle/>
                    <a:p>
                      <a:pPr algn="ctr"/>
                      <a:r>
                        <a:rPr sz="1100" b="0">
                          <a:solidFill>
                            <a:srgbClr val="3A3A3A"/>
                          </a:solidFill>
                          <a:latin typeface="맑은 고딕"/>
                        </a:rPr>
                        <a:t>H</a:t>
                      </a:r>
                    </a:p>
                  </a:txBody>
                  <a:tcPr marL="50800" marR="50800" marT="25400" marB="25400" anchor="ctr">
                    <a:solidFill>
                      <a:srgbClr val="EFF1F4"/>
                    </a:solidFill>
                  </a:tcPr>
                </a:tc>
                <a:tc>
                  <a:txBody>
                    <a:bodyPr/>
                    <a:lstStyle/>
                    <a:p>
                      <a:pPr algn="ctr"/>
                      <a:r>
                        <a:rPr sz="1100" b="0">
                          <a:solidFill>
                            <a:srgbClr val="3A3A3A"/>
                          </a:solidFill>
                          <a:latin typeface="맑은 고딕"/>
                        </a:rPr>
                        <a:t>연속형 feature의 이분화 cutoff 정의</a:t>
                      </a:r>
                    </a:p>
                  </a:txBody>
                  <a:tcPr marL="50800" marR="50800" marT="25400" marB="25400" anchor="ctr">
                    <a:solidFill>
                      <a:srgbClr val="EFF1F4"/>
                    </a:solidFill>
                  </a:tcPr>
                </a:tc>
                <a:tc>
                  <a:txBody>
                    <a:bodyPr/>
                    <a:lstStyle/>
                    <a:p>
                      <a:pPr algn="ctr"/>
                      <a:r>
                        <a:rPr sz="1100" b="0">
                          <a:solidFill>
                            <a:srgbClr val="3A3A3A"/>
                          </a:solidFill>
                          <a:latin typeface="맑은 고딕"/>
                        </a:rPr>
                        <a:t>Step4</a:t>
                      </a:r>
                    </a:p>
                  </a:txBody>
                  <a:tcPr marL="50800" marR="50800" marT="25400" marB="25400" anchor="ctr">
                    <a:solidFill>
                      <a:srgbClr val="EFF1F4"/>
                    </a:solidFill>
                  </a:tcPr>
                </a:tc>
                <a:tc>
                  <a:txBody>
                    <a:bodyPr/>
                    <a:lstStyle/>
                    <a:p>
                      <a:pPr algn="ctr"/>
                      <a:r>
                        <a:rPr sz="1100" b="0">
                          <a:solidFill>
                            <a:srgbClr val="3A3A3A"/>
                          </a:solidFill>
                          <a:latin typeface="맑은 고딕"/>
                        </a:rPr>
                        <a:t>Baumgartner 1998, Age Ageing / WHO BMD T-score 기준</a:t>
                      </a:r>
                    </a:p>
                  </a:txBody>
                  <a:tcPr marL="50800" marR="50800" marT="25400" marB="25400" anchor="ctr">
                    <a:solidFill>
                      <a:srgbClr val="EFF1F4"/>
                    </a:solidFill>
                  </a:tcPr>
                </a:tc>
                <a:extLst>
                  <a:ext uri="{0D108BD9-81ED-4DB2-BD59-A6C34878D82A}">
                    <a16:rowId xmlns:a16="http://schemas.microsoft.com/office/drawing/2014/main" val="10008"/>
                  </a:ext>
                </a:extLst>
              </a:tr>
              <a:tr h="357447">
                <a:tc>
                  <a:txBody>
                    <a:bodyPr/>
                    <a:lstStyle/>
                    <a:p>
                      <a:pPr algn="ctr"/>
                      <a:r>
                        <a:rPr sz="1100" b="0">
                          <a:solidFill>
                            <a:srgbClr val="3A3A3A"/>
                          </a:solidFill>
                          <a:latin typeface="맑은 고딕"/>
                        </a:rPr>
                        <a:t>J</a:t>
                      </a:r>
                    </a:p>
                  </a:txBody>
                  <a:tcPr marL="50800" marR="50800" marT="25400" marB="25400" anchor="ctr">
                    <a:solidFill>
                      <a:srgbClr val="FFFFFF"/>
                    </a:solidFill>
                  </a:tcPr>
                </a:tc>
                <a:tc>
                  <a:txBody>
                    <a:bodyPr/>
                    <a:lstStyle/>
                    <a:p>
                      <a:pPr algn="ctr"/>
                      <a:r>
                        <a:rPr sz="1100" b="0">
                          <a:solidFill>
                            <a:srgbClr val="3A3A3A"/>
                          </a:solidFill>
                          <a:latin typeface="맑은 고딕"/>
                        </a:rPr>
                        <a:t>곡선 형태 feature(SD·Skewness)</a:t>
                      </a:r>
                    </a:p>
                  </a:txBody>
                  <a:tcPr marL="50800" marR="50800" marT="25400" marB="25400" anchor="ctr">
                    <a:solidFill>
                      <a:srgbClr val="FFFFFF"/>
                    </a:solidFill>
                  </a:tcPr>
                </a:tc>
                <a:tc>
                  <a:txBody>
                    <a:bodyPr/>
                    <a:lstStyle/>
                    <a:p>
                      <a:pPr algn="ctr"/>
                      <a:r>
                        <a:rPr sz="1100" b="0">
                          <a:solidFill>
                            <a:srgbClr val="3A3A3A"/>
                          </a:solidFill>
                          <a:latin typeface="맑은 고딕"/>
                        </a:rPr>
                        <a:t>Step3</a:t>
                      </a:r>
                    </a:p>
                  </a:txBody>
                  <a:tcPr marL="50800" marR="50800" marT="25400" marB="25400" anchor="ctr">
                    <a:solidFill>
                      <a:srgbClr val="FFFFFF"/>
                    </a:solidFill>
                  </a:tcPr>
                </a:tc>
                <a:tc>
                  <a:txBody>
                    <a:bodyPr/>
                    <a:lstStyle/>
                    <a:p>
                      <a:pPr algn="ctr"/>
                      <a:r>
                        <a:rPr sz="1100" b="0">
                          <a:solidFill>
                            <a:srgbClr val="3A3A3A"/>
                          </a:solidFill>
                          <a:latin typeface="맑은 고딕"/>
                        </a:rPr>
                        <a:t>Barandas et al. 2020, TSFEL</a:t>
                      </a:r>
                    </a:p>
                  </a:txBody>
                  <a:tcPr marL="50800" marR="50800" marT="25400" marB="25400" anchor="ctr">
                    <a:solidFill>
                      <a:srgbClr val="FFFFFF"/>
                    </a:solidFill>
                  </a:tcPr>
                </a:tc>
                <a:extLst>
                  <a:ext uri="{0D108BD9-81ED-4DB2-BD59-A6C34878D82A}">
                    <a16:rowId xmlns:a16="http://schemas.microsoft.com/office/drawing/2014/main" val="10009"/>
                  </a:ext>
                </a:extLst>
              </a:tr>
              <a:tr h="357447">
                <a:tc>
                  <a:txBody>
                    <a:bodyPr/>
                    <a:lstStyle/>
                    <a:p>
                      <a:pPr algn="ctr"/>
                      <a:r>
                        <a:rPr sz="1100" b="0">
                          <a:solidFill>
                            <a:srgbClr val="3A3A3A"/>
                          </a:solidFill>
                          <a:latin typeface="맑은 고딕"/>
                        </a:rPr>
                        <a:t>K</a:t>
                      </a:r>
                    </a:p>
                  </a:txBody>
                  <a:tcPr marL="50800" marR="50800" marT="25400" marB="25400" anchor="ctr">
                    <a:solidFill>
                      <a:srgbClr val="EFF1F4"/>
                    </a:solidFill>
                  </a:tcPr>
                </a:tc>
                <a:tc>
                  <a:txBody>
                    <a:bodyPr/>
                    <a:lstStyle/>
                    <a:p>
                      <a:pPr algn="ctr"/>
                      <a:r>
                        <a:rPr sz="1100" b="0">
                          <a:solidFill>
                            <a:srgbClr val="3A3A3A"/>
                          </a:solidFill>
                          <a:latin typeface="맑은 고딕"/>
                        </a:rPr>
                        <a:t>F-검정 기반 filter 변수선택</a:t>
                      </a:r>
                    </a:p>
                  </a:txBody>
                  <a:tcPr marL="50800" marR="50800" marT="25400" marB="25400" anchor="ctr">
                    <a:solidFill>
                      <a:srgbClr val="EFF1F4"/>
                    </a:solidFill>
                  </a:tcPr>
                </a:tc>
                <a:tc>
                  <a:txBody>
                    <a:bodyPr/>
                    <a:lstStyle/>
                    <a:p>
                      <a:pPr algn="ctr"/>
                      <a:r>
                        <a:rPr sz="1100" b="0">
                          <a:solidFill>
                            <a:srgbClr val="3A3A3A"/>
                          </a:solidFill>
                          <a:latin typeface="맑은 고딕"/>
                        </a:rPr>
                        <a:t>Step2 (top-k)</a:t>
                      </a:r>
                    </a:p>
                  </a:txBody>
                  <a:tcPr marL="50800" marR="50800" marT="25400" marB="25400" anchor="ctr">
                    <a:solidFill>
                      <a:srgbClr val="EFF1F4"/>
                    </a:solidFill>
                  </a:tcPr>
                </a:tc>
                <a:tc>
                  <a:txBody>
                    <a:bodyPr/>
                    <a:lstStyle/>
                    <a:p>
                      <a:pPr algn="ctr"/>
                      <a:r>
                        <a:rPr sz="1100" b="0">
                          <a:solidFill>
                            <a:srgbClr val="3A3A3A"/>
                          </a:solidFill>
                          <a:latin typeface="맑은 고딕"/>
                        </a:rPr>
                        <a:t>Li, Cheng, Wang et al. 2017, ACM Comput Surv</a:t>
                      </a:r>
                    </a:p>
                  </a:txBody>
                  <a:tcPr marL="50800" marR="50800" marT="25400" marB="25400" anchor="ctr">
                    <a:solidFill>
                      <a:srgbClr val="EFF1F4"/>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0515600" cy="274320"/>
          </a:xfrm>
          <a:prstGeom prst="rect">
            <a:avLst/>
          </a:prstGeom>
          <a:noFill/>
        </p:spPr>
        <p:txBody>
          <a:bodyPr wrap="square">
            <a:spAutoFit/>
          </a:bodyPr>
          <a:lstStyle/>
          <a:p>
            <a:pPr algn="l"/>
            <a:r>
              <a:rPr sz="1150" b="1">
                <a:solidFill>
                  <a:srgbClr val="2E86AB"/>
                </a:solidFill>
                <a:latin typeface="맑은 고딕"/>
              </a:rPr>
              <a:t>APPENDIX  ·  STEP4 CUTOFF SD 배수 변경</a:t>
            </a:r>
          </a:p>
        </p:txBody>
      </p:sp>
      <p:sp>
        <p:nvSpPr>
          <p:cNvPr id="4" name="TextBox 3"/>
          <p:cNvSpPr txBox="1"/>
          <p:nvPr/>
        </p:nvSpPr>
        <p:spPr>
          <a:xfrm>
            <a:off x="502920" y="457200"/>
            <a:ext cx="10972800" cy="411480"/>
          </a:xfrm>
          <a:prstGeom prst="rect">
            <a:avLst/>
          </a:prstGeom>
          <a:noFill/>
        </p:spPr>
        <p:txBody>
          <a:bodyPr wrap="square">
            <a:spAutoFit/>
          </a:bodyPr>
          <a:lstStyle/>
          <a:p>
            <a:pPr algn="l"/>
            <a:r>
              <a:rPr sz="2000" b="1">
                <a:solidFill>
                  <a:srgbClr val="1B2A4A"/>
                </a:solidFill>
                <a:latin typeface="맑은 고딕"/>
              </a:rPr>
              <a:t>Mean±2SD → Mean±1SD 전환 — TAMA 사례</a:t>
            </a:r>
          </a:p>
        </p:txBody>
      </p:sp>
      <p:sp>
        <p:nvSpPr>
          <p:cNvPr id="5" name="Rectangle 4"/>
          <p:cNvSpPr/>
          <p:nvPr/>
        </p:nvSpPr>
        <p:spPr>
          <a:xfrm>
            <a:off x="502920" y="932688"/>
            <a:ext cx="54864" cy="96012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932688"/>
            <a:ext cx="10881360" cy="960120"/>
          </a:xfrm>
          <a:prstGeom prst="rect">
            <a:avLst/>
          </a:prstGeom>
          <a:noFill/>
        </p:spPr>
        <p:txBody>
          <a:bodyPr wrap="square">
            <a:spAutoFit/>
          </a:bodyPr>
          <a:lstStyle/>
          <a:p>
            <a:pPr algn="l"/>
            <a:r>
              <a:rPr sz="1850" b="1">
                <a:solidFill>
                  <a:srgbClr val="1B2A4A"/>
                </a:solidFill>
                <a:latin typeface="맑은 고딕"/>
              </a:rPr>
              <a:t>라벨을 TAMA_SUM(raw)으로 양쪽 동일하게 고정해도 SD 배수만으로 외부 양성 인원 2/498(0.4%)·AUC=0.971 → 60/498(12.0%)·AUC=0.877[0.835, 0.913]로 바뀐다 — SD 배수 자체가 안정화의 주 요인</a:t>
            </a:r>
          </a:p>
        </p:txBody>
      </p:sp>
      <p:sp>
        <p:nvSpPr>
          <p:cNvPr id="7" name="TextBox 6"/>
          <p:cNvSpPr txBox="1"/>
          <p:nvPr/>
        </p:nvSpPr>
        <p:spPr>
          <a:xfrm>
            <a:off x="731520" y="1938528"/>
            <a:ext cx="10881360" cy="292608"/>
          </a:xfrm>
          <a:prstGeom prst="rect">
            <a:avLst/>
          </a:prstGeom>
          <a:noFill/>
        </p:spPr>
        <p:txBody>
          <a:bodyPr wrap="square">
            <a:spAutoFit/>
          </a:bodyPr>
          <a:lstStyle/>
          <a:p>
            <a:pPr algn="l"/>
            <a:r>
              <a:rPr sz="1150" b="0">
                <a:solidFill>
                  <a:srgbClr val="8A8A8A"/>
                </a:solidFill>
                <a:latin typeface="맑은 고딕"/>
              </a:rPr>
              <a:t>Method — 여성 코호트(internal n=700 / external n=498)에서 라벨을 TAMA_SUM(raw)으로 통제하고 SD 배수만 2→1로 비교해 배수 효과를 라벨 변경과 분리(원래 프로젝트에서는 SD 배수 전환과 동시에 SMI→raw 라벨 전환도 함께 했음 — SMI 우편향분포로 mean-2SD가 이론치 2.28%의 절반만 포획한 것이 그 별도 이유, docs/code_files_reference_papers.md H-보충2 참고). 최종 mean±1SD 채택 근거는 Baumgartner 1998 Class I sarcopenia −1SD, WHO BMD T-score −1SD</a:t>
            </a:r>
          </a:p>
        </p:txBody>
      </p:sp>
      <p:sp>
        <p:nvSpPr>
          <p:cNvPr id="8" name="Rectangle 7"/>
          <p:cNvSpPr/>
          <p:nvPr/>
        </p:nvSpPr>
        <p:spPr>
          <a:xfrm>
            <a:off x="502920" y="2249424"/>
            <a:ext cx="11155680" cy="19050"/>
          </a:xfrm>
          <a:prstGeom prst="rect">
            <a:avLst/>
          </a:prstGeom>
          <a:solidFill>
            <a:srgbClr val="EF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1097280" y="2414016"/>
          <a:ext cx="9966958" cy="2664822"/>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733479">
                  <a:extLst>
                    <a:ext uri="{9D8B030D-6E8A-4147-A177-3AD203B41FA5}">
                      <a16:colId xmlns:a16="http://schemas.microsoft.com/office/drawing/2014/main" val="20001"/>
                    </a:ext>
                  </a:extLst>
                </a:gridCol>
                <a:gridCol w="3733479">
                  <a:extLst>
                    <a:ext uri="{9D8B030D-6E8A-4147-A177-3AD203B41FA5}">
                      <a16:colId xmlns:a16="http://schemas.microsoft.com/office/drawing/2014/main" val="20002"/>
                    </a:ext>
                  </a:extLst>
                </a:gridCol>
              </a:tblGrid>
              <a:tr h="444137">
                <a:tc>
                  <a:txBody>
                    <a:bodyPr/>
                    <a:lstStyle/>
                    <a:p>
                      <a:r>
                        <a:rPr sz="1100" b="1">
                          <a:solidFill>
                            <a:srgbClr val="FFFFFF"/>
                          </a:solidFill>
                          <a:latin typeface="맑은 고딕"/>
                        </a:rPr>
                        <a:t>항목</a:t>
                      </a:r>
                    </a:p>
                  </a:txBody>
                  <a:tcPr marL="45720" marR="45720" marT="22860" marB="22860">
                    <a:solidFill>
                      <a:srgbClr val="1B2A4A"/>
                    </a:solidFill>
                  </a:tcPr>
                </a:tc>
                <a:tc>
                  <a:txBody>
                    <a:bodyPr/>
                    <a:lstStyle/>
                    <a:p>
                      <a:r>
                        <a:rPr sz="1100" b="1">
                          <a:solidFill>
                            <a:srgbClr val="FFFFFF"/>
                          </a:solidFill>
                          <a:latin typeface="맑은 고딕"/>
                        </a:rPr>
                        <a:t>mean±2SD (변경 전)</a:t>
                      </a:r>
                    </a:p>
                  </a:txBody>
                  <a:tcPr marL="45720" marR="45720" marT="22860" marB="22860">
                    <a:solidFill>
                      <a:srgbClr val="1B2A4A"/>
                    </a:solidFill>
                  </a:tcPr>
                </a:tc>
                <a:tc>
                  <a:txBody>
                    <a:bodyPr/>
                    <a:lstStyle/>
                    <a:p>
                      <a:r>
                        <a:rPr sz="1100" b="1">
                          <a:solidFill>
                            <a:srgbClr val="FFFFFF"/>
                          </a:solidFill>
                          <a:latin typeface="맑은 고딕"/>
                        </a:rPr>
                        <a:t>mean±1SD (변경 후)</a:t>
                      </a:r>
                    </a:p>
                  </a:txBody>
                  <a:tcPr marL="45720" marR="45720" marT="22860" marB="22860">
                    <a:solidFill>
                      <a:srgbClr val="1B2A4A"/>
                    </a:solidFill>
                  </a:tcPr>
                </a:tc>
                <a:extLst>
                  <a:ext uri="{0D108BD9-81ED-4DB2-BD59-A6C34878D82A}">
                    <a16:rowId xmlns:a16="http://schemas.microsoft.com/office/drawing/2014/main" val="10000"/>
                  </a:ext>
                </a:extLst>
              </a:tr>
              <a:tr h="444137">
                <a:tc>
                  <a:txBody>
                    <a:bodyPr/>
                    <a:lstStyle/>
                    <a:p>
                      <a:r>
                        <a:rPr sz="1100" b="0">
                          <a:solidFill>
                            <a:srgbClr val="3A3A3A"/>
                          </a:solidFill>
                          <a:latin typeface="맑은 고딕"/>
                        </a:rPr>
                        <a:t>라벨 산출값</a:t>
                      </a:r>
                    </a:p>
                  </a:txBody>
                  <a:tcPr marL="45720" marR="45720" marT="22860" marB="22860">
                    <a:solidFill>
                      <a:srgbClr val="FFFFFF"/>
                    </a:solidFill>
                  </a:tcPr>
                </a:tc>
                <a:tc>
                  <a:txBody>
                    <a:bodyPr/>
                    <a:lstStyle/>
                    <a:p>
                      <a:r>
                        <a:t>TAMA_SUM (raw)</a:t>
                      </a:r>
                    </a:p>
                  </a:txBody>
                  <a:tcPr marL="45720" marR="45720" marT="22860" marB="22860">
                    <a:solidFill>
                      <a:srgbClr val="FFFFFF"/>
                    </a:solidFill>
                  </a:tcPr>
                </a:tc>
                <a:tc>
                  <a:txBody>
                    <a:bodyPr/>
                    <a:lstStyle/>
                    <a:p>
                      <a:r>
                        <a:rPr sz="1100" b="0">
                          <a:solidFill>
                            <a:srgbClr val="3A3A3A"/>
                          </a:solidFill>
                          <a:latin typeface="맑은 고딕"/>
                        </a:rPr>
                        <a:t>TAMA_SUM (raw)</a:t>
                      </a:r>
                    </a:p>
                  </a:txBody>
                  <a:tcPr marL="45720" marR="45720" marT="22860" marB="22860">
                    <a:solidFill>
                      <a:srgbClr val="FFFFFF"/>
                    </a:solidFill>
                  </a:tcPr>
                </a:tc>
                <a:extLst>
                  <a:ext uri="{0D108BD9-81ED-4DB2-BD59-A6C34878D82A}">
                    <a16:rowId xmlns:a16="http://schemas.microsoft.com/office/drawing/2014/main" val="10001"/>
                  </a:ext>
                </a:extLst>
              </a:tr>
              <a:tr h="444137">
                <a:tc>
                  <a:txBody>
                    <a:bodyPr/>
                    <a:lstStyle/>
                    <a:p>
                      <a:r>
                        <a:rPr sz="1100" b="0">
                          <a:solidFill>
                            <a:srgbClr val="3A3A3A"/>
                          </a:solidFill>
                          <a:latin typeface="맑은 고딕"/>
                        </a:rPr>
                        <a:t>Internal n_pos</a:t>
                      </a:r>
                    </a:p>
                  </a:txBody>
                  <a:tcPr marL="45720" marR="45720" marT="22860" marB="22860">
                    <a:solidFill>
                      <a:srgbClr val="EFF1F4"/>
                    </a:solidFill>
                  </a:tcPr>
                </a:tc>
                <a:tc>
                  <a:txBody>
                    <a:bodyPr/>
                    <a:lstStyle/>
                    <a:p>
                      <a:r>
                        <a:t>7/700 (1.0%)</a:t>
                      </a:r>
                    </a:p>
                  </a:txBody>
                  <a:tcPr marL="45720" marR="45720" marT="22860" marB="22860">
                    <a:solidFill>
                      <a:srgbClr val="EFF1F4"/>
                    </a:solidFill>
                  </a:tcPr>
                </a:tc>
                <a:tc>
                  <a:txBody>
                    <a:bodyPr/>
                    <a:lstStyle/>
                    <a:p>
                      <a:r>
                        <a:rPr sz="1100" b="0">
                          <a:solidFill>
                            <a:srgbClr val="3A3A3A"/>
                          </a:solidFill>
                          <a:latin typeface="맑은 고딕"/>
                        </a:rPr>
                        <a:t>91/700 (13.0%)</a:t>
                      </a:r>
                    </a:p>
                  </a:txBody>
                  <a:tcPr marL="45720" marR="45720" marT="22860" marB="22860">
                    <a:solidFill>
                      <a:srgbClr val="EFF1F4"/>
                    </a:solidFill>
                  </a:tcPr>
                </a:tc>
                <a:extLst>
                  <a:ext uri="{0D108BD9-81ED-4DB2-BD59-A6C34878D82A}">
                    <a16:rowId xmlns:a16="http://schemas.microsoft.com/office/drawing/2014/main" val="10002"/>
                  </a:ext>
                </a:extLst>
              </a:tr>
              <a:tr h="444137">
                <a:tc>
                  <a:txBody>
                    <a:bodyPr/>
                    <a:lstStyle/>
                    <a:p>
                      <a:r>
                        <a:rPr sz="1100" b="0">
                          <a:solidFill>
                            <a:srgbClr val="3A3A3A"/>
                          </a:solidFill>
                          <a:latin typeface="맑은 고딕"/>
                        </a:rPr>
                        <a:t>External n_pos</a:t>
                      </a:r>
                    </a:p>
                  </a:txBody>
                  <a:tcPr marL="45720" marR="45720" marT="22860" marB="22860">
                    <a:solidFill>
                      <a:srgbClr val="FFFFFF"/>
                    </a:solidFill>
                  </a:tcPr>
                </a:tc>
                <a:tc>
                  <a:txBody>
                    <a:bodyPr/>
                    <a:lstStyle/>
                    <a:p>
                      <a:r>
                        <a:rPr sz="1100" b="0">
                          <a:solidFill>
                            <a:srgbClr val="3A3A3A"/>
                          </a:solidFill>
                          <a:latin typeface="맑은 고딕"/>
                        </a:rPr>
                        <a:t>2/498 (0.4%)</a:t>
                      </a:r>
                    </a:p>
                  </a:txBody>
                  <a:tcPr marL="45720" marR="45720" marT="22860" marB="22860">
                    <a:solidFill>
                      <a:srgbClr val="FFFFFF"/>
                    </a:solidFill>
                  </a:tcPr>
                </a:tc>
                <a:tc>
                  <a:txBody>
                    <a:bodyPr/>
                    <a:lstStyle/>
                    <a:p>
                      <a:r>
                        <a:rPr sz="1100" b="0">
                          <a:solidFill>
                            <a:srgbClr val="3A3A3A"/>
                          </a:solidFill>
                          <a:latin typeface="맑은 고딕"/>
                        </a:rPr>
                        <a:t>60/498 (12.0%)</a:t>
                      </a:r>
                    </a:p>
                  </a:txBody>
                  <a:tcPr marL="45720" marR="45720" marT="22860" marB="22860">
                    <a:solidFill>
                      <a:srgbClr val="FFFFFF"/>
                    </a:solidFill>
                  </a:tcPr>
                </a:tc>
                <a:extLst>
                  <a:ext uri="{0D108BD9-81ED-4DB2-BD59-A6C34878D82A}">
                    <a16:rowId xmlns:a16="http://schemas.microsoft.com/office/drawing/2014/main" val="10003"/>
                  </a:ext>
                </a:extLst>
              </a:tr>
              <a:tr h="444137">
                <a:tc>
                  <a:txBody>
                    <a:bodyPr/>
                    <a:lstStyle/>
                    <a:p>
                      <a:r>
                        <a:rPr sz="1100" b="0">
                          <a:solidFill>
                            <a:srgbClr val="3A3A3A"/>
                          </a:solidFill>
                          <a:latin typeface="맑은 고딕"/>
                        </a:rPr>
                        <a:t>External AUC (clinic4)</a:t>
                      </a:r>
                    </a:p>
                  </a:txBody>
                  <a:tcPr marL="45720" marR="45720" marT="22860" marB="22860">
                    <a:solidFill>
                      <a:srgbClr val="EFF1F4"/>
                    </a:solidFill>
                  </a:tcPr>
                </a:tc>
                <a:tc>
                  <a:txBody>
                    <a:bodyPr/>
                    <a:lstStyle/>
                    <a:p>
                      <a:r>
                        <a:t>0.971</a:t>
                      </a:r>
                    </a:p>
                  </a:txBody>
                  <a:tcPr marL="45720" marR="45720" marT="22860" marB="22860">
                    <a:solidFill>
                      <a:srgbClr val="EFF1F4"/>
                    </a:solidFill>
                  </a:tcPr>
                </a:tc>
                <a:tc>
                  <a:txBody>
                    <a:bodyPr/>
                    <a:lstStyle/>
                    <a:p>
                      <a:r>
                        <a:rPr sz="1100" b="0">
                          <a:solidFill>
                            <a:srgbClr val="3A3A3A"/>
                          </a:solidFill>
                          <a:latin typeface="맑은 고딕"/>
                        </a:rPr>
                        <a:t>0.877</a:t>
                      </a:r>
                    </a:p>
                  </a:txBody>
                  <a:tcPr marL="45720" marR="45720" marT="22860" marB="22860">
                    <a:solidFill>
                      <a:srgbClr val="EFF1F4"/>
                    </a:solidFill>
                  </a:tcPr>
                </a:tc>
                <a:extLst>
                  <a:ext uri="{0D108BD9-81ED-4DB2-BD59-A6C34878D82A}">
                    <a16:rowId xmlns:a16="http://schemas.microsoft.com/office/drawing/2014/main" val="10004"/>
                  </a:ext>
                </a:extLst>
              </a:tr>
              <a:tr h="444137">
                <a:tc>
                  <a:txBody>
                    <a:bodyPr/>
                    <a:lstStyle/>
                    <a:p>
                      <a:r>
                        <a:rPr sz="1100" b="0">
                          <a:solidFill>
                            <a:srgbClr val="3A3A3A"/>
                          </a:solidFill>
                          <a:latin typeface="맑은 고딕"/>
                        </a:rPr>
                        <a:t>External AUC 95% CI</a:t>
                      </a:r>
                    </a:p>
                  </a:txBody>
                  <a:tcPr marL="45720" marR="45720" marT="22860" marB="22860">
                    <a:solidFill>
                      <a:srgbClr val="FFFFFF"/>
                    </a:solidFill>
                  </a:tcPr>
                </a:tc>
                <a:tc>
                  <a:txBody>
                    <a:bodyPr/>
                    <a:lstStyle/>
                    <a:p>
                      <a:r>
                        <a:t>[0.956, 0.984]</a:t>
                      </a:r>
                    </a:p>
                  </a:txBody>
                  <a:tcPr marL="45720" marR="45720" marT="22860" marB="22860">
                    <a:solidFill>
                      <a:srgbClr val="FFFFFF"/>
                    </a:solidFill>
                  </a:tcPr>
                </a:tc>
                <a:tc>
                  <a:txBody>
                    <a:bodyPr/>
                    <a:lstStyle/>
                    <a:p>
                      <a:r>
                        <a:rPr sz="1100" b="0">
                          <a:solidFill>
                            <a:srgbClr val="3A3A3A"/>
                          </a:solidFill>
                          <a:latin typeface="맑은 고딕"/>
                        </a:rPr>
                        <a:t>[0.835, 0.913]</a:t>
                      </a:r>
                    </a:p>
                  </a:txBody>
                  <a:tcPr marL="45720" marR="45720" marT="22860" marB="22860">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11430000" y="6492240"/>
            <a:ext cx="548640" cy="274320"/>
          </a:xfrm>
          <a:prstGeom prst="rect">
            <a:avLst/>
          </a:prstGeom>
          <a:noFill/>
        </p:spPr>
        <p:txBody>
          <a:bodyPr wrap="square">
            <a:spAutoFit/>
          </a:bodyPr>
          <a:lstStyle/>
          <a:p>
            <a:pPr algn="r"/>
            <a:r>
              <a:rPr sz="1100" b="0">
                <a:solidFill>
                  <a:srgbClr val="8A8A8A"/>
                </a:solidFill>
                <a:latin typeface="맑은 고딕"/>
              </a:rPr>
              <a:t>22</a:t>
            </a:r>
          </a:p>
        </p:txBody>
      </p:sp>
      <p:sp>
        <p:nvSpPr>
          <p:cNvPr id="11" name="TextBox 10"/>
          <p:cNvSpPr txBox="1"/>
          <p:nvPr/>
        </p:nvSpPr>
        <p:spPr>
          <a:xfrm>
            <a:off x="502920" y="6492240"/>
            <a:ext cx="5486400" cy="274320"/>
          </a:xfrm>
          <a:prstGeom prst="rect">
            <a:avLst/>
          </a:prstGeom>
          <a:noFill/>
        </p:spPr>
        <p:txBody>
          <a:bodyPr wrap="square">
            <a:spAutoFit/>
          </a:bodyPr>
          <a:lstStyle/>
          <a:p>
            <a:pPr algn="l"/>
            <a:r>
              <a:rPr sz="900" b="0">
                <a:solidFill>
                  <a:srgbClr val="8A8A8A"/>
                </a:solidFill>
                <a:latin typeface="맑은 고딕"/>
              </a:rPr>
              <a:t>AEC-128 Body Composition Study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5245</Words>
  <Application>Microsoft Office PowerPoint</Application>
  <PresentationFormat>와이드스크린</PresentationFormat>
  <Paragraphs>666</Paragraphs>
  <Slides>22</Slides>
  <Notes>18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전장훈</cp:lastModifiedBy>
  <cp:revision>6</cp:revision>
  <dcterms:created xsi:type="dcterms:W3CDTF">2013-01-27T09:14:16Z</dcterms:created>
  <dcterms:modified xsi:type="dcterms:W3CDTF">2026-08-05T02:23:17Z</dcterms:modified>
  <cp:category/>
</cp:coreProperties>
</file>