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493" r:id="rId4"/>
    <p:sldId id="494" r:id="rId5"/>
    <p:sldId id="488" r:id="rId6"/>
    <p:sldId id="263" r:id="rId7"/>
    <p:sldId id="490" r:id="rId8"/>
    <p:sldId id="492" r:id="rId9"/>
    <p:sldId id="262" r:id="rId10"/>
    <p:sldId id="487" r:id="rId11"/>
  </p:sldIdLst>
  <p:sldSz cx="12192000" cy="6858000"/>
  <p:notesSz cx="6858000" cy="9144000"/>
  <p:embeddedFontLst>
    <p:embeddedFont>
      <p:font typeface="KoPub돋움체 Bold" panose="00000800000000000000" pitchFamily="2" charset="-127"/>
      <p:bold r:id="rId13"/>
    </p:embeddedFont>
    <p:embeddedFont>
      <p:font typeface="KoPub돋움체 Medium" panose="00000600000000000000" pitchFamily="2" charset="-127"/>
      <p:regular r:id="rId14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097B6DF2-66C3-4074-9053-F9AA00FED5D5}">
          <p14:sldIdLst>
            <p14:sldId id="256"/>
            <p14:sldId id="257"/>
            <p14:sldId id="493"/>
            <p14:sldId id="494"/>
            <p14:sldId id="488"/>
            <p14:sldId id="263"/>
            <p14:sldId id="490"/>
            <p14:sldId id="492"/>
            <p14:sldId id="262"/>
            <p14:sldId id="487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전장훈" initials="전" lastIdx="19" clrIdx="0">
    <p:extLst>
      <p:ext uri="{19B8F6BF-5375-455C-9EA6-DF929625EA0E}">
        <p15:presenceInfo xmlns:p15="http://schemas.microsoft.com/office/powerpoint/2012/main" userId="전장훈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F5597"/>
    <a:srgbClr val="5C7DD0"/>
    <a:srgbClr val="1F346B"/>
    <a:srgbClr val="023670"/>
    <a:srgbClr val="17A5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87152" autoAdjust="0"/>
  </p:normalViewPr>
  <p:slideViewPr>
    <p:cSldViewPr snapToGrid="0">
      <p:cViewPr varScale="1">
        <p:scale>
          <a:sx n="96" d="100"/>
          <a:sy n="96" d="100"/>
        </p:scale>
        <p:origin x="1092" y="9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912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nghoon jun" userId="056a5883350c2f5e" providerId="LiveId" clId="{6DA654A6-03B0-40F7-A259-B276216985A6}"/>
    <pc:docChg chg="undo redo custSel addSld delSld modSld sldOrd modSection">
      <pc:chgData name="janghoon jun" userId="056a5883350c2f5e" providerId="LiveId" clId="{6DA654A6-03B0-40F7-A259-B276216985A6}" dt="2026-08-18T08:12:48.212" v="3658" actId="1076"/>
      <pc:docMkLst>
        <pc:docMk/>
      </pc:docMkLst>
      <pc:sldChg chg="modSp mod modNotes modNotesTx">
        <pc:chgData name="janghoon jun" userId="056a5883350c2f5e" providerId="LiveId" clId="{6DA654A6-03B0-40F7-A259-B276216985A6}" dt="2026-08-14T01:12:23.116" v="3165" actId="368"/>
        <pc:sldMkLst>
          <pc:docMk/>
          <pc:sldMk cId="0" sldId="256"/>
        </pc:sldMkLst>
        <pc:spChg chg="mod">
          <ac:chgData name="janghoon jun" userId="056a5883350c2f5e" providerId="LiveId" clId="{6DA654A6-03B0-40F7-A259-B276216985A6}" dt="2026-08-14T01:11:00.613" v="3163" actId="20577"/>
          <ac:spMkLst>
            <pc:docMk/>
            <pc:sldMk cId="0" sldId="256"/>
            <ac:spMk id="3" creationId="{00000000-0000-0000-0000-000000000000}"/>
          </ac:spMkLst>
        </pc:spChg>
      </pc:sldChg>
      <pc:sldChg chg="addSp delSp modSp mod chgLayout modNotesTx">
        <pc:chgData name="janghoon jun" userId="056a5883350c2f5e" providerId="LiveId" clId="{6DA654A6-03B0-40F7-A259-B276216985A6}" dt="2026-08-18T05:03:46.540" v="3577" actId="1076"/>
        <pc:sldMkLst>
          <pc:docMk/>
          <pc:sldMk cId="0" sldId="257"/>
        </pc:sldMkLst>
        <pc:spChg chg="mod ord">
          <ac:chgData name="janghoon jun" userId="056a5883350c2f5e" providerId="LiveId" clId="{6DA654A6-03B0-40F7-A259-B276216985A6}" dt="2026-08-18T04:49:35.279" v="3551" actId="700"/>
          <ac:spMkLst>
            <pc:docMk/>
            <pc:sldMk cId="0" sldId="257"/>
            <ac:spMk id="2" creationId="{00000000-0000-0000-0000-000000000000}"/>
          </ac:spMkLst>
        </pc:spChg>
        <pc:spChg chg="del mod">
          <ac:chgData name="janghoon jun" userId="056a5883350c2f5e" providerId="LiveId" clId="{6DA654A6-03B0-40F7-A259-B276216985A6}" dt="2026-08-18T04:49:32.395" v="3550" actId="478"/>
          <ac:spMkLst>
            <pc:docMk/>
            <pc:sldMk cId="0" sldId="257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8-18T04:48:46.196" v="3545" actId="404"/>
          <ac:spMkLst>
            <pc:docMk/>
            <pc:sldMk cId="0" sldId="257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8-18T04:48:46.196" v="3545" actId="404"/>
          <ac:spMkLst>
            <pc:docMk/>
            <pc:sldMk cId="0" sldId="257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8-18T04:48:46.196" v="3545" actId="404"/>
          <ac:spMkLst>
            <pc:docMk/>
            <pc:sldMk cId="0" sldId="257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8-18T04:49:07.053" v="3546" actId="208"/>
          <ac:spMkLst>
            <pc:docMk/>
            <pc:sldMk cId="0" sldId="257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8-18T04:48:46.196" v="3545" actId="404"/>
          <ac:spMkLst>
            <pc:docMk/>
            <pc:sldMk cId="0" sldId="257"/>
            <ac:spMk id="8" creationId="{00000000-0000-0000-0000-000000000000}"/>
          </ac:spMkLst>
        </pc:spChg>
        <pc:spChg chg="mod">
          <ac:chgData name="janghoon jun" userId="056a5883350c2f5e" providerId="LiveId" clId="{6DA654A6-03B0-40F7-A259-B276216985A6}" dt="2026-08-18T04:48:46.196" v="3545" actId="404"/>
          <ac:spMkLst>
            <pc:docMk/>
            <pc:sldMk cId="0" sldId="257"/>
            <ac:spMk id="9" creationId="{00000000-0000-0000-0000-000000000000}"/>
          </ac:spMkLst>
        </pc:spChg>
        <pc:spChg chg="mod">
          <ac:chgData name="janghoon jun" userId="056a5883350c2f5e" providerId="LiveId" clId="{6DA654A6-03B0-40F7-A259-B276216985A6}" dt="2026-08-18T04:48:46.196" v="3545" actId="404"/>
          <ac:spMkLst>
            <pc:docMk/>
            <pc:sldMk cId="0" sldId="257"/>
            <ac:spMk id="10" creationId="{00000000-0000-0000-0000-000000000000}"/>
          </ac:spMkLst>
        </pc:spChg>
        <pc:spChg chg="add mod ord">
          <ac:chgData name="janghoon jun" userId="056a5883350c2f5e" providerId="LiveId" clId="{6DA654A6-03B0-40F7-A259-B276216985A6}" dt="2026-08-18T04:49:37.737" v="3554" actId="20577"/>
          <ac:spMkLst>
            <pc:docMk/>
            <pc:sldMk cId="0" sldId="257"/>
            <ac:spMk id="12" creationId="{FB6B5539-CC2D-F932-DAA3-12E2A40E7236}"/>
          </ac:spMkLst>
        </pc:spChg>
        <pc:grpChg chg="add mod">
          <ac:chgData name="janghoon jun" userId="056a5883350c2f5e" providerId="LiveId" clId="{6DA654A6-03B0-40F7-A259-B276216985A6}" dt="2026-08-18T05:03:46.540" v="3577" actId="1076"/>
          <ac:grpSpMkLst>
            <pc:docMk/>
            <pc:sldMk cId="0" sldId="257"/>
            <ac:grpSpMk id="11" creationId="{1FA019A3-0AB6-2C56-8302-ED956B7043E1}"/>
          </ac:grpSpMkLst>
        </pc:grpChg>
        <pc:picChg chg="add mod modCrop">
          <ac:chgData name="janghoon jun" userId="056a5883350c2f5e" providerId="LiveId" clId="{6DA654A6-03B0-40F7-A259-B276216985A6}" dt="2026-08-18T05:03:40.185" v="3576" actId="1076"/>
          <ac:picMkLst>
            <pc:docMk/>
            <pc:sldMk cId="0" sldId="257"/>
            <ac:picMk id="3" creationId="{23CAF732-A9F9-BCFC-439A-A342776582FF}"/>
          </ac:picMkLst>
        </pc:picChg>
        <pc:picChg chg="add del mod">
          <ac:chgData name="janghoon jun" userId="056a5883350c2f5e" providerId="LiveId" clId="{6DA654A6-03B0-40F7-A259-B276216985A6}" dt="2026-08-18T04:51:22.847" v="3561" actId="478"/>
          <ac:picMkLst>
            <pc:docMk/>
            <pc:sldMk cId="0" sldId="257"/>
            <ac:picMk id="14" creationId="{2D7A7AB4-DB78-A86C-F05B-7607CE5E047E}"/>
          </ac:picMkLst>
        </pc:picChg>
      </pc:sldChg>
      <pc:sldChg chg="modSp del mod">
        <pc:chgData name="janghoon jun" userId="056a5883350c2f5e" providerId="LiveId" clId="{6DA654A6-03B0-40F7-A259-B276216985A6}" dt="2026-08-18T02:40:42.895" v="3308" actId="47"/>
        <pc:sldMkLst>
          <pc:docMk/>
          <pc:sldMk cId="0" sldId="258"/>
        </pc:sldMkLst>
        <pc:spChg chg="mod">
          <ac:chgData name="janghoon jun" userId="056a5883350c2f5e" providerId="LiveId" clId="{6DA654A6-03B0-40F7-A259-B276216985A6}" dt="2026-08-18T02:39:44.396" v="3241" actId="27636"/>
          <ac:spMkLst>
            <pc:docMk/>
            <pc:sldMk cId="0" sldId="258"/>
            <ac:spMk id="3" creationId="{00000000-0000-0000-0000-000000000000}"/>
          </ac:spMkLst>
        </pc:spChg>
      </pc:sldChg>
      <pc:sldChg chg="modSp del mod">
        <pc:chgData name="janghoon jun" userId="056a5883350c2f5e" providerId="LiveId" clId="{6DA654A6-03B0-40F7-A259-B276216985A6}" dt="2026-08-18T02:40:42.895" v="3308" actId="47"/>
        <pc:sldMkLst>
          <pc:docMk/>
          <pc:sldMk cId="0" sldId="259"/>
        </pc:sldMkLst>
        <pc:spChg chg="mod">
          <ac:chgData name="janghoon jun" userId="056a5883350c2f5e" providerId="LiveId" clId="{6DA654A6-03B0-40F7-A259-B276216985A6}" dt="2026-08-18T02:39:44.396" v="3242" actId="27636"/>
          <ac:spMkLst>
            <pc:docMk/>
            <pc:sldMk cId="0" sldId="259"/>
            <ac:spMk id="3" creationId="{00000000-0000-0000-0000-000000000000}"/>
          </ac:spMkLst>
        </pc:spChg>
      </pc:sldChg>
      <pc:sldChg chg="del">
        <pc:chgData name="janghoon jun" userId="056a5883350c2f5e" providerId="LiveId" clId="{6DA654A6-03B0-40F7-A259-B276216985A6}" dt="2026-08-18T02:40:42.895" v="3308" actId="47"/>
        <pc:sldMkLst>
          <pc:docMk/>
          <pc:sldMk cId="0" sldId="260"/>
        </pc:sldMkLst>
      </pc:sldChg>
      <pc:sldChg chg="del">
        <pc:chgData name="janghoon jun" userId="056a5883350c2f5e" providerId="LiveId" clId="{6DA654A6-03B0-40F7-A259-B276216985A6}" dt="2026-08-18T02:40:42.895" v="3308" actId="47"/>
        <pc:sldMkLst>
          <pc:docMk/>
          <pc:sldMk cId="0" sldId="261"/>
        </pc:sldMkLst>
      </pc:sldChg>
      <pc:sldChg chg="add">
        <pc:chgData name="janghoon jun" userId="056a5883350c2f5e" providerId="LiveId" clId="{6DA654A6-03B0-40F7-A259-B276216985A6}" dt="2026-08-18T02:39:44.356" v="3240"/>
        <pc:sldMkLst>
          <pc:docMk/>
          <pc:sldMk cId="1147349972" sldId="262"/>
        </pc:sldMkLst>
      </pc:sldChg>
      <pc:sldChg chg="modSp add mod">
        <pc:chgData name="janghoon jun" userId="056a5883350c2f5e" providerId="LiveId" clId="{6DA654A6-03B0-40F7-A259-B276216985A6}" dt="2026-08-18T02:40:25.587" v="3307" actId="20577"/>
        <pc:sldMkLst>
          <pc:docMk/>
          <pc:sldMk cId="845412182" sldId="263"/>
        </pc:sldMkLst>
        <pc:spChg chg="mod">
          <ac:chgData name="janghoon jun" userId="056a5883350c2f5e" providerId="LiveId" clId="{6DA654A6-03B0-40F7-A259-B276216985A6}" dt="2026-08-18T02:40:25.587" v="3307" actId="20577"/>
          <ac:spMkLst>
            <pc:docMk/>
            <pc:sldMk cId="845412182" sldId="263"/>
            <ac:spMk id="2" creationId="{70A1FA35-F0A4-BB61-31D0-2D90E08819B9}"/>
          </ac:spMkLst>
        </pc:spChg>
      </pc:sldChg>
      <pc:sldChg chg="add">
        <pc:chgData name="janghoon jun" userId="056a5883350c2f5e" providerId="LiveId" clId="{6DA654A6-03B0-40F7-A259-B276216985A6}" dt="2026-08-18T02:40:57.970" v="3309"/>
        <pc:sldMkLst>
          <pc:docMk/>
          <pc:sldMk cId="0" sldId="487"/>
        </pc:sldMkLst>
      </pc:sldChg>
      <pc:sldChg chg="modSp mod ord">
        <pc:chgData name="janghoon jun" userId="056a5883350c2f5e" providerId="LiveId" clId="{6DA654A6-03B0-40F7-A259-B276216985A6}" dt="2026-08-18T04:53:34.737" v="3566"/>
        <pc:sldMkLst>
          <pc:docMk/>
          <pc:sldMk cId="0" sldId="488"/>
        </pc:sldMkLst>
        <pc:spChg chg="mod">
          <ac:chgData name="janghoon jun" userId="056a5883350c2f5e" providerId="LiveId" clId="{6DA654A6-03B0-40F7-A259-B276216985A6}" dt="2026-08-18T04:37:48.938" v="3494" actId="5793"/>
          <ac:spMkLst>
            <pc:docMk/>
            <pc:sldMk cId="0" sldId="488"/>
            <ac:spMk id="3" creationId="{00000000-0000-0000-0000-000000000000}"/>
          </ac:spMkLst>
        </pc:spChg>
      </pc:sldChg>
      <pc:sldChg chg="del">
        <pc:chgData name="janghoon jun" userId="056a5883350c2f5e" providerId="LiveId" clId="{6DA654A6-03B0-40F7-A259-B276216985A6}" dt="2026-08-18T04:09:26.083" v="3434" actId="47"/>
        <pc:sldMkLst>
          <pc:docMk/>
          <pc:sldMk cId="0" sldId="489"/>
        </pc:sldMkLst>
      </pc:sldChg>
      <pc:sldChg chg="modSp del mod">
        <pc:chgData name="janghoon jun" userId="056a5883350c2f5e" providerId="LiveId" clId="{6DA654A6-03B0-40F7-A259-B276216985A6}" dt="2026-08-18T06:54:19.013" v="3649" actId="47"/>
        <pc:sldMkLst>
          <pc:docMk/>
          <pc:sldMk cId="0" sldId="491"/>
        </pc:sldMkLst>
        <pc:picChg chg="mod modCrop">
          <ac:chgData name="janghoon jun" userId="056a5883350c2f5e" providerId="LiveId" clId="{6DA654A6-03B0-40F7-A259-B276216985A6}" dt="2026-08-18T03:07:32.060" v="3314" actId="1076"/>
          <ac:picMkLst>
            <pc:docMk/>
            <pc:sldMk cId="0" sldId="491"/>
            <ac:picMk id="3" creationId="{00000000-0000-0000-0000-000000000000}"/>
          </ac:picMkLst>
        </pc:picChg>
      </pc:sldChg>
      <pc:sldChg chg="addSp delSp modSp mod modNotesTx">
        <pc:chgData name="janghoon jun" userId="056a5883350c2f5e" providerId="LiveId" clId="{6DA654A6-03B0-40F7-A259-B276216985A6}" dt="2026-08-18T08:12:48.212" v="3658" actId="1076"/>
        <pc:sldMkLst>
          <pc:docMk/>
          <pc:sldMk cId="0" sldId="492"/>
        </pc:sldMkLst>
        <pc:spChg chg="del mod">
          <ac:chgData name="janghoon jun" userId="056a5883350c2f5e" providerId="LiveId" clId="{6DA654A6-03B0-40F7-A259-B276216985A6}" dt="2026-08-18T08:12:38.091" v="3654" actId="478"/>
          <ac:spMkLst>
            <pc:docMk/>
            <pc:sldMk cId="0" sldId="492"/>
            <ac:spMk id="4" creationId="{00000000-0000-0000-0000-000000000000}"/>
          </ac:spMkLst>
        </pc:spChg>
        <pc:spChg chg="add del mod">
          <ac:chgData name="janghoon jun" userId="056a5883350c2f5e" providerId="LiveId" clId="{6DA654A6-03B0-40F7-A259-B276216985A6}" dt="2026-08-18T08:12:39.882" v="3655" actId="478"/>
          <ac:spMkLst>
            <pc:docMk/>
            <pc:sldMk cId="0" sldId="492"/>
            <ac:spMk id="6" creationId="{A80F3F86-62B7-4F4E-156A-0EAF445D5BC3}"/>
          </ac:spMkLst>
        </pc:spChg>
        <pc:picChg chg="mod modCrop">
          <ac:chgData name="janghoon jun" userId="056a5883350c2f5e" providerId="LiveId" clId="{6DA654A6-03B0-40F7-A259-B276216985A6}" dt="2026-08-18T03:07:59.543" v="3319" actId="1076"/>
          <ac:picMkLst>
            <pc:docMk/>
            <pc:sldMk cId="0" sldId="492"/>
            <ac:picMk id="3" creationId="{00000000-0000-0000-0000-000000000000}"/>
          </ac:picMkLst>
        </pc:picChg>
        <pc:picChg chg="mod">
          <ac:chgData name="janghoon jun" userId="056a5883350c2f5e" providerId="LiveId" clId="{6DA654A6-03B0-40F7-A259-B276216985A6}" dt="2026-08-18T08:12:48.212" v="3658" actId="1076"/>
          <ac:picMkLst>
            <pc:docMk/>
            <pc:sldMk cId="0" sldId="492"/>
            <ac:picMk id="5" creationId="{00000000-0000-0000-0000-000000000000}"/>
          </ac:picMkLst>
        </pc:picChg>
      </pc:sldChg>
      <pc:sldChg chg="addSp delSp modSp add mod modNotesTx">
        <pc:chgData name="janghoon jun" userId="056a5883350c2f5e" providerId="LiveId" clId="{6DA654A6-03B0-40F7-A259-B276216985A6}" dt="2026-08-18T05:51:20.972" v="3631" actId="1076"/>
        <pc:sldMkLst>
          <pc:docMk/>
          <pc:sldMk cId="1069001619" sldId="493"/>
        </pc:sldMkLst>
        <pc:spChg chg="mod">
          <ac:chgData name="janghoon jun" userId="056a5883350c2f5e" providerId="LiveId" clId="{6DA654A6-03B0-40F7-A259-B276216985A6}" dt="2026-08-18T03:50:10.505" v="3345" actId="20577"/>
          <ac:spMkLst>
            <pc:docMk/>
            <pc:sldMk cId="1069001619" sldId="493"/>
            <ac:spMk id="2" creationId="{0DDC2A09-3A1A-7493-B64E-D35E857ED52A}"/>
          </ac:spMkLst>
        </pc:spChg>
        <pc:spChg chg="del">
          <ac:chgData name="janghoon jun" userId="056a5883350c2f5e" providerId="LiveId" clId="{6DA654A6-03B0-40F7-A259-B276216985A6}" dt="2026-08-18T03:50:14.177" v="3346" actId="478"/>
          <ac:spMkLst>
            <pc:docMk/>
            <pc:sldMk cId="1069001619" sldId="493"/>
            <ac:spMk id="3" creationId="{176CFA2E-E4B5-B298-10AC-57528FB8F626}"/>
          </ac:spMkLst>
        </pc:spChg>
        <pc:spChg chg="add mod">
          <ac:chgData name="janghoon jun" userId="056a5883350c2f5e" providerId="LiveId" clId="{6DA654A6-03B0-40F7-A259-B276216985A6}" dt="2026-08-18T05:13:38.921" v="3621" actId="20577"/>
          <ac:spMkLst>
            <pc:docMk/>
            <pc:sldMk cId="1069001619" sldId="493"/>
            <ac:spMk id="5" creationId="{1EBD6A0C-B971-FB3E-B42B-73CFA0A85FFF}"/>
          </ac:spMkLst>
        </pc:spChg>
        <pc:grpChg chg="add del mod">
          <ac:chgData name="janghoon jun" userId="056a5883350c2f5e" providerId="LiveId" clId="{6DA654A6-03B0-40F7-A259-B276216985A6}" dt="2026-08-18T04:08:19.619" v="3422" actId="478"/>
          <ac:grpSpMkLst>
            <pc:docMk/>
            <pc:sldMk cId="1069001619" sldId="493"/>
            <ac:grpSpMk id="10" creationId="{59E71145-05D2-97ED-193A-51A1DCD276A4}"/>
          </ac:grpSpMkLst>
        </pc:grpChg>
        <pc:picChg chg="add">
          <ac:chgData name="janghoon jun" userId="056a5883350c2f5e" providerId="LiveId" clId="{6DA654A6-03B0-40F7-A259-B276216985A6}" dt="2026-08-18T04:36:20.471" v="3457" actId="22"/>
          <ac:picMkLst>
            <pc:docMk/>
            <pc:sldMk cId="1069001619" sldId="493"/>
            <ac:picMk id="4" creationId="{133215CC-56CD-E3FB-33C6-5D077D95C747}"/>
          </ac:picMkLst>
        </pc:picChg>
        <pc:picChg chg="add mod">
          <ac:chgData name="janghoon jun" userId="056a5883350c2f5e" providerId="LiveId" clId="{6DA654A6-03B0-40F7-A259-B276216985A6}" dt="2026-08-18T05:51:20.972" v="3631" actId="1076"/>
          <ac:picMkLst>
            <pc:docMk/>
            <pc:sldMk cId="1069001619" sldId="493"/>
            <ac:picMk id="6" creationId="{BD42C899-8AFB-F4A6-3169-C1DD0F23F156}"/>
          </ac:picMkLst>
        </pc:picChg>
        <pc:picChg chg="add mod">
          <ac:chgData name="janghoon jun" userId="056a5883350c2f5e" providerId="LiveId" clId="{6DA654A6-03B0-40F7-A259-B276216985A6}" dt="2026-08-18T03:56:57.368" v="3383" actId="164"/>
          <ac:picMkLst>
            <pc:docMk/>
            <pc:sldMk cId="1069001619" sldId="493"/>
            <ac:picMk id="7" creationId="{76B98DCE-1345-56B3-4FC5-CF2D32CDAE67}"/>
          </ac:picMkLst>
        </pc:picChg>
        <pc:picChg chg="add del">
          <ac:chgData name="janghoon jun" userId="056a5883350c2f5e" providerId="LiveId" clId="{6DA654A6-03B0-40F7-A259-B276216985A6}" dt="2026-08-18T05:51:10.911" v="3626" actId="478"/>
          <ac:picMkLst>
            <pc:docMk/>
            <pc:sldMk cId="1069001619" sldId="493"/>
            <ac:picMk id="7" creationId="{8ECF4402-3E71-B403-C7F5-2F0B6B3BBF54}"/>
          </ac:picMkLst>
        </pc:picChg>
        <pc:picChg chg="add mod">
          <ac:chgData name="janghoon jun" userId="056a5883350c2f5e" providerId="LiveId" clId="{6DA654A6-03B0-40F7-A259-B276216985A6}" dt="2026-08-18T03:57:16.096" v="3403" actId="1035"/>
          <ac:picMkLst>
            <pc:docMk/>
            <pc:sldMk cId="1069001619" sldId="493"/>
            <ac:picMk id="9" creationId="{17270819-889A-3F47-96DE-DC56DCEA1E7D}"/>
          </ac:picMkLst>
        </pc:picChg>
        <pc:picChg chg="add del mod">
          <ac:chgData name="janghoon jun" userId="056a5883350c2f5e" providerId="LiveId" clId="{6DA654A6-03B0-40F7-A259-B276216985A6}" dt="2026-08-18T04:36:08.005" v="3453" actId="478"/>
          <ac:picMkLst>
            <pc:docMk/>
            <pc:sldMk cId="1069001619" sldId="493"/>
            <ac:picMk id="11" creationId="{71C5FD49-8579-44BE-1F99-D7273AE9B1AA}"/>
          </ac:picMkLst>
        </pc:picChg>
        <pc:picChg chg="add del mod">
          <ac:chgData name="janghoon jun" userId="056a5883350c2f5e" providerId="LiveId" clId="{6DA654A6-03B0-40F7-A259-B276216985A6}" dt="2026-08-18T04:36:09.279" v="3454" actId="478"/>
          <ac:picMkLst>
            <pc:docMk/>
            <pc:sldMk cId="1069001619" sldId="493"/>
            <ac:picMk id="13" creationId="{8CDCE422-46CE-EE2A-D3BE-5E53FA89DEDA}"/>
          </ac:picMkLst>
        </pc:picChg>
      </pc:sldChg>
      <pc:sldChg chg="modSp mod">
        <pc:chgData name="janghoon jun" userId="056a5883350c2f5e" providerId="LiveId" clId="{6DA654A6-03B0-40F7-A259-B276216985A6}" dt="2026-08-18T05:47:04.510" v="3625" actId="20577"/>
        <pc:sldMkLst>
          <pc:docMk/>
          <pc:sldMk cId="0" sldId="494"/>
        </pc:sldMkLst>
        <pc:spChg chg="mod">
          <ac:chgData name="janghoon jun" userId="056a5883350c2f5e" providerId="LiveId" clId="{6DA654A6-03B0-40F7-A259-B276216985A6}" dt="2026-08-18T05:47:04.510" v="3625" actId="20577"/>
          <ac:spMkLst>
            <pc:docMk/>
            <pc:sldMk cId="0" sldId="494"/>
            <ac:spMk id="3" creationId="{00000000-0000-0000-0000-000000000000}"/>
          </ac:spMkLst>
        </pc:spChg>
      </pc:sldChg>
      <pc:sldChg chg="delSp add del mod">
        <pc:chgData name="janghoon jun" userId="056a5883350c2f5e" providerId="LiveId" clId="{6DA654A6-03B0-40F7-A259-B276216985A6}" dt="2026-08-18T04:36:22.372" v="3458" actId="47"/>
        <pc:sldMkLst>
          <pc:docMk/>
          <pc:sldMk cId="13011461" sldId="494"/>
        </pc:sldMkLst>
        <pc:picChg chg="del">
          <ac:chgData name="janghoon jun" userId="056a5883350c2f5e" providerId="LiveId" clId="{6DA654A6-03B0-40F7-A259-B276216985A6}" dt="2026-08-18T04:36:19.373" v="3456" actId="21"/>
          <ac:picMkLst>
            <pc:docMk/>
            <pc:sldMk cId="13011461" sldId="494"/>
            <ac:picMk id="11" creationId="{10D52AAB-97BB-A518-78E1-1D365E29A7CA}"/>
          </ac:picMkLst>
        </pc:picChg>
        <pc:picChg chg="del">
          <ac:chgData name="janghoon jun" userId="056a5883350c2f5e" providerId="LiveId" clId="{6DA654A6-03B0-40F7-A259-B276216985A6}" dt="2026-08-18T04:36:19.373" v="3456" actId="21"/>
          <ac:picMkLst>
            <pc:docMk/>
            <pc:sldMk cId="13011461" sldId="494"/>
            <ac:picMk id="13" creationId="{424156AC-D4F7-0BC8-7895-6146FB21BB3C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33074436-1BEA-4F09-AD5C-9DF87C96BF5A}" type="datetimeFigureOut">
              <a:rPr lang="ko-KR" altLang="en-US" smtClean="0"/>
              <a:pPr/>
              <a:t>2026-08-18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433C9518-700F-4811-95BB-24DAF3FA92F2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77649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oPub돋움체 Medium" panose="00000600000000000000" pitchFamily="2" charset="-127"/>
        <a:ea typeface="KoPub돋움체 Medium" panose="00000600000000000000" pitchFamily="2" charset="-127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AEC(</a:t>
            </a:r>
            <a:r>
              <a:rPr dirty="0" err="1"/>
              <a:t>자동노출조절</a:t>
            </a:r>
            <a:r>
              <a:rPr dirty="0"/>
              <a:t>)를 </a:t>
            </a:r>
            <a:r>
              <a:rPr dirty="0" err="1"/>
              <a:t>아주</a:t>
            </a:r>
            <a:r>
              <a:rPr dirty="0"/>
              <a:t> </a:t>
            </a:r>
            <a:r>
              <a:rPr dirty="0" err="1"/>
              <a:t>쉽게</a:t>
            </a:r>
            <a:r>
              <a:rPr dirty="0"/>
              <a:t> </a:t>
            </a:r>
            <a:r>
              <a:rPr dirty="0" err="1"/>
              <a:t>풀어</a:t>
            </a:r>
            <a:r>
              <a:rPr dirty="0"/>
              <a:t> </a:t>
            </a:r>
            <a:r>
              <a:rPr dirty="0" err="1"/>
              <a:t>설명하면</a:t>
            </a:r>
            <a:r>
              <a:rPr dirty="0"/>
              <a:t> </a:t>
            </a:r>
            <a:r>
              <a:rPr dirty="0" err="1"/>
              <a:t>이렇습니다</a:t>
            </a:r>
            <a:r>
              <a:rPr dirty="0"/>
              <a:t>. </a:t>
            </a:r>
            <a:r>
              <a:rPr dirty="0" err="1"/>
              <a:t>CT는</a:t>
            </a:r>
            <a:r>
              <a:rPr dirty="0"/>
              <a:t> 본 </a:t>
            </a:r>
            <a:r>
              <a:rPr dirty="0" err="1"/>
              <a:t>촬영을</a:t>
            </a:r>
            <a:r>
              <a:rPr dirty="0"/>
              <a:t> </a:t>
            </a:r>
            <a:r>
              <a:rPr dirty="0" err="1"/>
              <a:t>하기</a:t>
            </a:r>
            <a:r>
              <a:rPr dirty="0"/>
              <a:t> </a:t>
            </a:r>
            <a:r>
              <a:rPr dirty="0" err="1"/>
              <a:t>전에</a:t>
            </a:r>
            <a:r>
              <a:rPr dirty="0"/>
              <a:t> </a:t>
            </a:r>
            <a:r>
              <a:rPr dirty="0" err="1"/>
              <a:t>먼저</a:t>
            </a:r>
            <a:r>
              <a:rPr dirty="0"/>
              <a:t> 'scout' </a:t>
            </a:r>
            <a:r>
              <a:rPr dirty="0" err="1"/>
              <a:t>또는</a:t>
            </a:r>
            <a:r>
              <a:rPr dirty="0"/>
              <a:t> '</a:t>
            </a:r>
            <a:r>
              <a:rPr dirty="0" err="1"/>
              <a:t>localizer'라고</a:t>
            </a:r>
            <a:r>
              <a:rPr dirty="0"/>
              <a:t> </a:t>
            </a:r>
            <a:r>
              <a:rPr dirty="0" err="1"/>
              <a:t>부르는</a:t>
            </a:r>
            <a:r>
              <a:rPr dirty="0"/>
              <a:t> </a:t>
            </a:r>
            <a:r>
              <a:rPr dirty="0" err="1"/>
              <a:t>예비</a:t>
            </a:r>
            <a:r>
              <a:rPr dirty="0"/>
              <a:t> </a:t>
            </a:r>
            <a:r>
              <a:rPr dirty="0" err="1"/>
              <a:t>촬영을</a:t>
            </a:r>
            <a:r>
              <a:rPr dirty="0"/>
              <a:t> </a:t>
            </a:r>
            <a:r>
              <a:rPr dirty="0" err="1"/>
              <a:t>합니다</a:t>
            </a:r>
            <a:r>
              <a:rPr dirty="0"/>
              <a:t>. </a:t>
            </a:r>
            <a:r>
              <a:rPr dirty="0" err="1"/>
              <a:t>이건</a:t>
            </a:r>
            <a:r>
              <a:rPr dirty="0"/>
              <a:t> </a:t>
            </a:r>
            <a:r>
              <a:rPr dirty="0" err="1"/>
              <a:t>일반</a:t>
            </a:r>
            <a:r>
              <a:rPr dirty="0"/>
              <a:t> </a:t>
            </a:r>
            <a:r>
              <a:rPr dirty="0" err="1"/>
              <a:t>엑스레이</a:t>
            </a:r>
            <a:r>
              <a:rPr dirty="0"/>
              <a:t> 한 </a:t>
            </a:r>
            <a:r>
              <a:rPr dirty="0" err="1"/>
              <a:t>장을</a:t>
            </a:r>
            <a:r>
              <a:rPr dirty="0"/>
              <a:t> </a:t>
            </a:r>
            <a:r>
              <a:rPr dirty="0" err="1"/>
              <a:t>찍는</a:t>
            </a:r>
            <a:r>
              <a:rPr dirty="0"/>
              <a:t> </a:t>
            </a:r>
            <a:r>
              <a:rPr dirty="0" err="1"/>
              <a:t>것과</a:t>
            </a:r>
            <a:r>
              <a:rPr dirty="0"/>
              <a:t> </a:t>
            </a:r>
            <a:r>
              <a:rPr dirty="0" err="1"/>
              <a:t>비슷한</a:t>
            </a:r>
            <a:r>
              <a:rPr dirty="0"/>
              <a:t>, </a:t>
            </a:r>
            <a:r>
              <a:rPr dirty="0" err="1"/>
              <a:t>방사선량이</a:t>
            </a:r>
            <a:r>
              <a:rPr dirty="0"/>
              <a:t> </a:t>
            </a:r>
            <a:r>
              <a:rPr dirty="0" err="1"/>
              <a:t>아주</a:t>
            </a:r>
            <a:r>
              <a:rPr dirty="0"/>
              <a:t> </a:t>
            </a:r>
            <a:r>
              <a:rPr dirty="0" err="1"/>
              <a:t>적은</a:t>
            </a:r>
            <a:r>
              <a:rPr dirty="0"/>
              <a:t> </a:t>
            </a:r>
            <a:r>
              <a:rPr dirty="0" err="1"/>
              <a:t>저선량</a:t>
            </a:r>
            <a:r>
              <a:rPr dirty="0"/>
              <a:t> </a:t>
            </a:r>
            <a:r>
              <a:rPr dirty="0" err="1"/>
              <a:t>촬영이에요</a:t>
            </a:r>
            <a:r>
              <a:rPr dirty="0"/>
              <a:t>. 이 </a:t>
            </a:r>
            <a:r>
              <a:rPr dirty="0" err="1"/>
              <a:t>예비</a:t>
            </a:r>
            <a:r>
              <a:rPr dirty="0"/>
              <a:t> </a:t>
            </a:r>
            <a:r>
              <a:rPr dirty="0" err="1"/>
              <a:t>사진</a:t>
            </a:r>
            <a:r>
              <a:rPr dirty="0"/>
              <a:t> 한 </a:t>
            </a:r>
            <a:r>
              <a:rPr dirty="0" err="1"/>
              <a:t>장만</a:t>
            </a:r>
            <a:r>
              <a:rPr dirty="0"/>
              <a:t> </a:t>
            </a:r>
            <a:r>
              <a:rPr dirty="0" err="1"/>
              <a:t>봐도</a:t>
            </a:r>
            <a:r>
              <a:rPr dirty="0"/>
              <a:t> </a:t>
            </a:r>
            <a:r>
              <a:rPr dirty="0" err="1"/>
              <a:t>기계는</a:t>
            </a:r>
            <a:r>
              <a:rPr dirty="0"/>
              <a:t> </a:t>
            </a:r>
            <a:r>
              <a:rPr dirty="0" err="1"/>
              <a:t>환자의</a:t>
            </a:r>
            <a:r>
              <a:rPr dirty="0"/>
              <a:t> </a:t>
            </a:r>
            <a:r>
              <a:rPr dirty="0" err="1"/>
              <a:t>머리부터</a:t>
            </a:r>
            <a:r>
              <a:rPr dirty="0"/>
              <a:t> </a:t>
            </a:r>
            <a:r>
              <a:rPr dirty="0" err="1"/>
              <a:t>발끝까지</a:t>
            </a:r>
            <a:r>
              <a:rPr dirty="0"/>
              <a:t> </a:t>
            </a:r>
            <a:r>
              <a:rPr dirty="0" err="1"/>
              <a:t>구간별로</a:t>
            </a:r>
            <a:r>
              <a:rPr dirty="0"/>
              <a:t> </a:t>
            </a:r>
            <a:r>
              <a:rPr dirty="0" err="1"/>
              <a:t>몸이</a:t>
            </a:r>
            <a:r>
              <a:rPr dirty="0"/>
              <a:t> </a:t>
            </a:r>
            <a:r>
              <a:rPr dirty="0" err="1"/>
              <a:t>얼마나</a:t>
            </a:r>
            <a:r>
              <a:rPr dirty="0"/>
              <a:t> </a:t>
            </a:r>
            <a:r>
              <a:rPr dirty="0" err="1"/>
              <a:t>두껍고</a:t>
            </a:r>
            <a:r>
              <a:rPr dirty="0"/>
              <a:t> </a:t>
            </a:r>
            <a:r>
              <a:rPr dirty="0" err="1"/>
              <a:t>X선을</a:t>
            </a:r>
            <a:r>
              <a:rPr dirty="0"/>
              <a:t> </a:t>
            </a:r>
            <a:r>
              <a:rPr dirty="0" err="1"/>
              <a:t>얼마나</a:t>
            </a:r>
            <a:r>
              <a:rPr dirty="0"/>
              <a:t> </a:t>
            </a:r>
            <a:r>
              <a:rPr dirty="0" err="1"/>
              <a:t>흡수하는지</a:t>
            </a:r>
            <a:r>
              <a:rPr dirty="0"/>
              <a:t>(</a:t>
            </a:r>
            <a:r>
              <a:rPr dirty="0" err="1"/>
              <a:t>감쇠</a:t>
            </a:r>
            <a:r>
              <a:rPr dirty="0"/>
              <a:t>, attenuation)를 </a:t>
            </a:r>
            <a:r>
              <a:rPr dirty="0" err="1"/>
              <a:t>대략</a:t>
            </a:r>
            <a:r>
              <a:rPr dirty="0"/>
              <a:t> </a:t>
            </a:r>
            <a:r>
              <a:rPr dirty="0" err="1"/>
              <a:t>추정할</a:t>
            </a:r>
            <a:r>
              <a:rPr dirty="0"/>
              <a:t> 수 </a:t>
            </a:r>
            <a:r>
              <a:rPr dirty="0" err="1"/>
              <a:t>있습니다</a:t>
            </a:r>
            <a:r>
              <a:rPr dirty="0"/>
              <a:t>.</a:t>
            </a:r>
          </a:p>
          <a:p>
            <a:r>
              <a:rPr dirty="0" err="1"/>
              <a:t>그다음</a:t>
            </a:r>
            <a:r>
              <a:rPr dirty="0"/>
              <a:t> </a:t>
            </a:r>
            <a:r>
              <a:rPr dirty="0" err="1"/>
              <a:t>기계는</a:t>
            </a:r>
            <a:r>
              <a:rPr dirty="0"/>
              <a:t> </a:t>
            </a:r>
            <a:r>
              <a:rPr dirty="0" err="1"/>
              <a:t>검사자가</a:t>
            </a:r>
            <a:r>
              <a:rPr dirty="0"/>
              <a:t> </a:t>
            </a:r>
            <a:r>
              <a:rPr dirty="0" err="1"/>
              <a:t>미리</a:t>
            </a:r>
            <a:r>
              <a:rPr dirty="0"/>
              <a:t> </a:t>
            </a:r>
            <a:r>
              <a:rPr dirty="0" err="1"/>
              <a:t>지정해</a:t>
            </a:r>
            <a:r>
              <a:rPr dirty="0"/>
              <a:t> 둔 '</a:t>
            </a:r>
            <a:r>
              <a:rPr dirty="0" err="1"/>
              <a:t>원하는</a:t>
            </a:r>
            <a:r>
              <a:rPr dirty="0"/>
              <a:t> </a:t>
            </a:r>
            <a:r>
              <a:rPr dirty="0" err="1"/>
              <a:t>화질</a:t>
            </a:r>
            <a:r>
              <a:rPr dirty="0"/>
              <a:t> </a:t>
            </a:r>
            <a:r>
              <a:rPr dirty="0" err="1"/>
              <a:t>수준</a:t>
            </a:r>
            <a:r>
              <a:rPr dirty="0"/>
              <a:t>(</a:t>
            </a:r>
            <a:r>
              <a:rPr dirty="0" err="1"/>
              <a:t>노이즈</a:t>
            </a:r>
            <a:r>
              <a:rPr dirty="0"/>
              <a:t> </a:t>
            </a:r>
            <a:r>
              <a:rPr dirty="0" err="1"/>
              <a:t>지표</a:t>
            </a:r>
            <a:r>
              <a:rPr dirty="0"/>
              <a:t>)'과 이 </a:t>
            </a:r>
            <a:r>
              <a:rPr dirty="0" err="1"/>
              <a:t>예비</a:t>
            </a:r>
            <a:r>
              <a:rPr dirty="0"/>
              <a:t> </a:t>
            </a:r>
            <a:r>
              <a:rPr dirty="0" err="1"/>
              <a:t>추정치를</a:t>
            </a:r>
            <a:r>
              <a:rPr dirty="0"/>
              <a:t> </a:t>
            </a:r>
            <a:r>
              <a:rPr dirty="0" err="1"/>
              <a:t>조합해서</a:t>
            </a:r>
            <a:r>
              <a:rPr dirty="0"/>
              <a:t>, </a:t>
            </a:r>
            <a:r>
              <a:rPr dirty="0" err="1"/>
              <a:t>몸의</a:t>
            </a:r>
            <a:r>
              <a:rPr dirty="0"/>
              <a:t> 각 </a:t>
            </a:r>
            <a:r>
              <a:rPr dirty="0" err="1"/>
              <a:t>구간</a:t>
            </a:r>
            <a:r>
              <a:rPr dirty="0"/>
              <a:t>(</a:t>
            </a:r>
            <a:r>
              <a:rPr dirty="0" err="1"/>
              <a:t>z축</a:t>
            </a:r>
            <a:r>
              <a:rPr dirty="0"/>
              <a:t> </a:t>
            </a:r>
            <a:r>
              <a:rPr dirty="0" err="1"/>
              <a:t>위치</a:t>
            </a:r>
            <a:r>
              <a:rPr dirty="0"/>
              <a:t>)</a:t>
            </a:r>
            <a:r>
              <a:rPr dirty="0" err="1"/>
              <a:t>마다</a:t>
            </a:r>
            <a:r>
              <a:rPr dirty="0"/>
              <a:t> </a:t>
            </a:r>
            <a:r>
              <a:rPr dirty="0" err="1"/>
              <a:t>얼마의</a:t>
            </a:r>
            <a:r>
              <a:rPr dirty="0"/>
              <a:t> </a:t>
            </a:r>
            <a:r>
              <a:rPr dirty="0" err="1"/>
              <a:t>관전류</a:t>
            </a:r>
            <a:r>
              <a:rPr dirty="0"/>
              <a:t>(mA, </a:t>
            </a:r>
            <a:r>
              <a:rPr dirty="0" err="1"/>
              <a:t>X선을</a:t>
            </a:r>
            <a:r>
              <a:rPr dirty="0"/>
              <a:t> </a:t>
            </a:r>
            <a:r>
              <a:rPr dirty="0" err="1"/>
              <a:t>얼마나</a:t>
            </a:r>
            <a:r>
              <a:rPr dirty="0"/>
              <a:t> </a:t>
            </a:r>
            <a:r>
              <a:rPr dirty="0" err="1"/>
              <a:t>많이</a:t>
            </a:r>
            <a:r>
              <a:rPr dirty="0"/>
              <a:t> </a:t>
            </a:r>
            <a:r>
              <a:rPr dirty="0" err="1"/>
              <a:t>쏠지</a:t>
            </a:r>
            <a:r>
              <a:rPr dirty="0"/>
              <a:t>)를 </a:t>
            </a:r>
            <a:r>
              <a:rPr dirty="0" err="1"/>
              <a:t>쓸지</a:t>
            </a:r>
            <a:r>
              <a:rPr dirty="0"/>
              <a:t> </a:t>
            </a:r>
            <a:r>
              <a:rPr dirty="0" err="1"/>
              <a:t>미리</a:t>
            </a:r>
            <a:r>
              <a:rPr dirty="0"/>
              <a:t> </a:t>
            </a:r>
            <a:r>
              <a:rPr dirty="0" err="1"/>
              <a:t>계산해</a:t>
            </a:r>
            <a:r>
              <a:rPr dirty="0"/>
              <a:t> </a:t>
            </a:r>
            <a:r>
              <a:rPr dirty="0" err="1"/>
              <a:t>둡니다</a:t>
            </a:r>
            <a:r>
              <a:rPr dirty="0"/>
              <a:t>. </a:t>
            </a:r>
            <a:r>
              <a:rPr dirty="0" err="1"/>
              <a:t>실제</a:t>
            </a:r>
            <a:r>
              <a:rPr dirty="0"/>
              <a:t> 본 </a:t>
            </a:r>
            <a:r>
              <a:rPr dirty="0" err="1"/>
              <a:t>촬영이</a:t>
            </a:r>
            <a:r>
              <a:rPr dirty="0"/>
              <a:t> </a:t>
            </a:r>
            <a:r>
              <a:rPr dirty="0" err="1"/>
              <a:t>시작되면</a:t>
            </a:r>
            <a:r>
              <a:rPr dirty="0"/>
              <a:t> </a:t>
            </a:r>
            <a:r>
              <a:rPr dirty="0" err="1"/>
              <a:t>기계는</a:t>
            </a:r>
            <a:r>
              <a:rPr dirty="0"/>
              <a:t> </a:t>
            </a:r>
            <a:r>
              <a:rPr dirty="0" err="1"/>
              <a:t>머리</a:t>
            </a:r>
            <a:r>
              <a:rPr dirty="0"/>
              <a:t> </a:t>
            </a:r>
            <a:r>
              <a:rPr dirty="0" err="1"/>
              <a:t>쪽에서</a:t>
            </a:r>
            <a:r>
              <a:rPr dirty="0"/>
              <a:t> 발 </a:t>
            </a:r>
            <a:r>
              <a:rPr dirty="0" err="1"/>
              <a:t>쪽으로</a:t>
            </a:r>
            <a:r>
              <a:rPr dirty="0"/>
              <a:t> </a:t>
            </a:r>
            <a:r>
              <a:rPr dirty="0" err="1"/>
              <a:t>이동하면서</a:t>
            </a:r>
            <a:r>
              <a:rPr dirty="0"/>
              <a:t> 이 </a:t>
            </a:r>
            <a:r>
              <a:rPr dirty="0" err="1"/>
              <a:t>계산된</a:t>
            </a:r>
            <a:r>
              <a:rPr dirty="0"/>
              <a:t> mA </a:t>
            </a:r>
            <a:r>
              <a:rPr dirty="0" err="1"/>
              <a:t>값을</a:t>
            </a:r>
            <a:r>
              <a:rPr dirty="0"/>
              <a:t> </a:t>
            </a:r>
            <a:r>
              <a:rPr dirty="0" err="1"/>
              <a:t>그대로</a:t>
            </a:r>
            <a:r>
              <a:rPr dirty="0"/>
              <a:t>, </a:t>
            </a:r>
            <a:r>
              <a:rPr dirty="0" err="1"/>
              <a:t>또는</a:t>
            </a:r>
            <a:r>
              <a:rPr dirty="0"/>
              <a:t> </a:t>
            </a:r>
            <a:r>
              <a:rPr dirty="0" err="1"/>
              <a:t>최신</a:t>
            </a:r>
            <a:r>
              <a:rPr dirty="0"/>
              <a:t> </a:t>
            </a:r>
            <a:r>
              <a:rPr dirty="0" err="1"/>
              <a:t>장비의</a:t>
            </a:r>
            <a:r>
              <a:rPr dirty="0"/>
              <a:t> </a:t>
            </a:r>
            <a:r>
              <a:rPr dirty="0" err="1"/>
              <a:t>경우</a:t>
            </a:r>
            <a:r>
              <a:rPr dirty="0"/>
              <a:t> </a:t>
            </a:r>
            <a:r>
              <a:rPr dirty="0" err="1"/>
              <a:t>촬영</a:t>
            </a:r>
            <a:r>
              <a:rPr dirty="0"/>
              <a:t> </a:t>
            </a:r>
            <a:r>
              <a:rPr dirty="0" err="1"/>
              <a:t>초반</a:t>
            </a:r>
            <a:r>
              <a:rPr dirty="0"/>
              <a:t> </a:t>
            </a:r>
            <a:r>
              <a:rPr dirty="0" err="1"/>
              <a:t>실측값으로</a:t>
            </a:r>
            <a:r>
              <a:rPr dirty="0"/>
              <a:t> 한 번 더 </a:t>
            </a:r>
            <a:r>
              <a:rPr dirty="0" err="1"/>
              <a:t>미세</a:t>
            </a:r>
            <a:r>
              <a:rPr dirty="0"/>
              <a:t> </a:t>
            </a:r>
            <a:r>
              <a:rPr dirty="0" err="1"/>
              <a:t>보정하면서</a:t>
            </a:r>
            <a:r>
              <a:rPr dirty="0"/>
              <a:t> </a:t>
            </a:r>
            <a:r>
              <a:rPr dirty="0" err="1"/>
              <a:t>실시간으로</a:t>
            </a:r>
            <a:r>
              <a:rPr dirty="0"/>
              <a:t> </a:t>
            </a:r>
            <a:r>
              <a:rPr dirty="0" err="1"/>
              <a:t>관전류를</a:t>
            </a:r>
            <a:r>
              <a:rPr dirty="0"/>
              <a:t> </a:t>
            </a:r>
            <a:r>
              <a:rPr dirty="0" err="1"/>
              <a:t>바꿔가며</a:t>
            </a:r>
            <a:r>
              <a:rPr dirty="0"/>
              <a:t> </a:t>
            </a:r>
            <a:r>
              <a:rPr dirty="0" err="1"/>
              <a:t>찍습니다</a:t>
            </a:r>
            <a:r>
              <a:rPr dirty="0"/>
              <a:t>.</a:t>
            </a:r>
          </a:p>
          <a:p>
            <a:r>
              <a:rPr dirty="0" err="1"/>
              <a:t>이렇게</a:t>
            </a:r>
            <a:r>
              <a:rPr dirty="0"/>
              <a:t> </a:t>
            </a:r>
            <a:r>
              <a:rPr dirty="0" err="1"/>
              <a:t>촬영</a:t>
            </a:r>
            <a:r>
              <a:rPr dirty="0"/>
              <a:t> </a:t>
            </a:r>
            <a:r>
              <a:rPr dirty="0" err="1"/>
              <a:t>내내</a:t>
            </a:r>
            <a:r>
              <a:rPr dirty="0"/>
              <a:t> </a:t>
            </a:r>
            <a:r>
              <a:rPr dirty="0" err="1"/>
              <a:t>기록되는</a:t>
            </a:r>
            <a:r>
              <a:rPr dirty="0"/>
              <a:t> 'mA </a:t>
            </a:r>
            <a:r>
              <a:rPr dirty="0" err="1"/>
              <a:t>값이</a:t>
            </a:r>
            <a:r>
              <a:rPr dirty="0"/>
              <a:t> </a:t>
            </a:r>
            <a:r>
              <a:rPr dirty="0" err="1"/>
              <a:t>z축</a:t>
            </a:r>
            <a:r>
              <a:rPr dirty="0"/>
              <a:t> </a:t>
            </a:r>
            <a:r>
              <a:rPr dirty="0" err="1"/>
              <a:t>위치에</a:t>
            </a:r>
            <a:r>
              <a:rPr dirty="0"/>
              <a:t> </a:t>
            </a:r>
            <a:r>
              <a:rPr dirty="0" err="1"/>
              <a:t>따라</a:t>
            </a:r>
            <a:r>
              <a:rPr dirty="0"/>
              <a:t> </a:t>
            </a:r>
            <a:r>
              <a:rPr dirty="0" err="1"/>
              <a:t>어떻게</a:t>
            </a:r>
            <a:r>
              <a:rPr dirty="0"/>
              <a:t> </a:t>
            </a:r>
            <a:r>
              <a:rPr dirty="0" err="1"/>
              <a:t>변했는지'의</a:t>
            </a:r>
            <a:r>
              <a:rPr dirty="0"/>
              <a:t> </a:t>
            </a:r>
            <a:r>
              <a:rPr dirty="0" err="1"/>
              <a:t>궤적이</a:t>
            </a:r>
            <a:r>
              <a:rPr dirty="0"/>
              <a:t> </a:t>
            </a:r>
            <a:r>
              <a:rPr dirty="0" err="1"/>
              <a:t>바로</a:t>
            </a:r>
            <a:r>
              <a:rPr dirty="0"/>
              <a:t> </a:t>
            </a:r>
            <a:r>
              <a:rPr dirty="0" err="1"/>
              <a:t>우리가</a:t>
            </a:r>
            <a:r>
              <a:rPr dirty="0"/>
              <a:t> AEC-128로 </a:t>
            </a:r>
            <a:r>
              <a:rPr dirty="0" err="1"/>
              <a:t>표준화해서</a:t>
            </a:r>
            <a:r>
              <a:rPr dirty="0"/>
              <a:t> </a:t>
            </a:r>
            <a:r>
              <a:rPr dirty="0" err="1"/>
              <a:t>쓰는</a:t>
            </a:r>
            <a:r>
              <a:rPr dirty="0"/>
              <a:t> </a:t>
            </a:r>
            <a:r>
              <a:rPr dirty="0" err="1"/>
              <a:t>원천</a:t>
            </a:r>
            <a:r>
              <a:rPr dirty="0"/>
              <a:t> </a:t>
            </a:r>
            <a:r>
              <a:rPr dirty="0" err="1"/>
              <a:t>신호입니다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ED3839-1FCA-7832-1BD2-5B0D12442D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DC0D58-3EB7-E490-12F6-A73C0F7AD5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B2B8FA-E4B3-B8A7-97BB-7B3E19A1C2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관전류를</a:t>
            </a:r>
            <a:r>
              <a:rPr dirty="0"/>
              <a:t> </a:t>
            </a:r>
            <a:r>
              <a:rPr dirty="0" err="1"/>
              <a:t>조절하는</a:t>
            </a:r>
            <a:r>
              <a:rPr dirty="0"/>
              <a:t> </a:t>
            </a:r>
            <a:r>
              <a:rPr dirty="0" err="1"/>
              <a:t>방식에는</a:t>
            </a:r>
            <a:r>
              <a:rPr dirty="0"/>
              <a:t> </a:t>
            </a:r>
            <a:r>
              <a:rPr dirty="0" err="1"/>
              <a:t>크게</a:t>
            </a:r>
            <a:r>
              <a:rPr dirty="0"/>
              <a:t> 세 </a:t>
            </a:r>
            <a:r>
              <a:rPr dirty="0" err="1"/>
              <a:t>가지가</a:t>
            </a:r>
            <a:r>
              <a:rPr dirty="0"/>
              <a:t> </a:t>
            </a:r>
            <a:r>
              <a:rPr dirty="0" err="1"/>
              <a:t>있습니다</a:t>
            </a:r>
            <a:r>
              <a:rPr dirty="0"/>
              <a:t>. </a:t>
            </a:r>
            <a:r>
              <a:rPr dirty="0" err="1"/>
              <a:t>첫째는</a:t>
            </a:r>
            <a:r>
              <a:rPr dirty="0"/>
              <a:t> '</a:t>
            </a:r>
            <a:r>
              <a:rPr dirty="0" err="1"/>
              <a:t>각도</a:t>
            </a:r>
            <a:r>
              <a:rPr dirty="0"/>
              <a:t> </a:t>
            </a:r>
            <a:r>
              <a:rPr dirty="0" err="1"/>
              <a:t>방향</a:t>
            </a:r>
            <a:r>
              <a:rPr dirty="0"/>
              <a:t>(Angular)' </a:t>
            </a:r>
            <a:r>
              <a:rPr dirty="0" err="1"/>
              <a:t>변조로</a:t>
            </a:r>
            <a:r>
              <a:rPr dirty="0"/>
              <a:t>, CT </a:t>
            </a:r>
            <a:r>
              <a:rPr dirty="0" err="1"/>
              <a:t>관구가</a:t>
            </a:r>
            <a:r>
              <a:rPr dirty="0"/>
              <a:t> 한 </a:t>
            </a:r>
            <a:r>
              <a:rPr dirty="0" err="1"/>
              <a:t>바퀴</a:t>
            </a:r>
            <a:r>
              <a:rPr dirty="0"/>
              <a:t> 돌 때 </a:t>
            </a:r>
            <a:r>
              <a:rPr dirty="0" err="1"/>
              <a:t>환자</a:t>
            </a:r>
            <a:r>
              <a:rPr dirty="0"/>
              <a:t> </a:t>
            </a:r>
            <a:r>
              <a:rPr dirty="0" err="1"/>
              <a:t>몸의</a:t>
            </a:r>
            <a:r>
              <a:rPr dirty="0"/>
              <a:t> </a:t>
            </a:r>
            <a:r>
              <a:rPr dirty="0" err="1"/>
              <a:t>두께가</a:t>
            </a:r>
            <a:r>
              <a:rPr dirty="0"/>
              <a:t> </a:t>
            </a:r>
            <a:r>
              <a:rPr dirty="0" err="1"/>
              <a:t>방향마다</a:t>
            </a:r>
            <a:r>
              <a:rPr dirty="0"/>
              <a:t> </a:t>
            </a:r>
            <a:r>
              <a:rPr dirty="0" err="1"/>
              <a:t>다르기</a:t>
            </a:r>
            <a:r>
              <a:rPr dirty="0"/>
              <a:t> </a:t>
            </a:r>
            <a:r>
              <a:rPr dirty="0" err="1"/>
              <a:t>때문에</a:t>
            </a:r>
            <a:r>
              <a:rPr dirty="0"/>
              <a:t>(예: </a:t>
            </a:r>
            <a:r>
              <a:rPr dirty="0" err="1"/>
              <a:t>어깨는</a:t>
            </a:r>
            <a:r>
              <a:rPr dirty="0"/>
              <a:t> </a:t>
            </a:r>
            <a:r>
              <a:rPr dirty="0" err="1"/>
              <a:t>좌우로</a:t>
            </a:r>
            <a:r>
              <a:rPr dirty="0"/>
              <a:t> </a:t>
            </a:r>
            <a:r>
              <a:rPr dirty="0" err="1"/>
              <a:t>넓고</a:t>
            </a:r>
            <a:r>
              <a:rPr dirty="0"/>
              <a:t> </a:t>
            </a:r>
            <a:r>
              <a:rPr dirty="0" err="1"/>
              <a:t>앞뒤로</a:t>
            </a:r>
            <a:r>
              <a:rPr dirty="0"/>
              <a:t> </a:t>
            </a:r>
            <a:r>
              <a:rPr dirty="0" err="1"/>
              <a:t>얇음</a:t>
            </a:r>
            <a:r>
              <a:rPr dirty="0"/>
              <a:t>) </a:t>
            </a:r>
            <a:r>
              <a:rPr dirty="0" err="1"/>
              <a:t>회전</a:t>
            </a:r>
            <a:r>
              <a:rPr dirty="0"/>
              <a:t> </a:t>
            </a:r>
            <a:r>
              <a:rPr dirty="0" err="1"/>
              <a:t>각도에</a:t>
            </a:r>
            <a:r>
              <a:rPr dirty="0"/>
              <a:t> </a:t>
            </a:r>
            <a:r>
              <a:rPr dirty="0" err="1"/>
              <a:t>따라</a:t>
            </a:r>
            <a:r>
              <a:rPr dirty="0"/>
              <a:t> </a:t>
            </a:r>
            <a:r>
              <a:rPr dirty="0" err="1"/>
              <a:t>순간순간</a:t>
            </a:r>
            <a:r>
              <a:rPr dirty="0"/>
              <a:t> </a:t>
            </a:r>
            <a:r>
              <a:rPr dirty="0" err="1"/>
              <a:t>관전류를</a:t>
            </a:r>
            <a:r>
              <a:rPr dirty="0"/>
              <a:t> </a:t>
            </a:r>
            <a:r>
              <a:rPr dirty="0" err="1"/>
              <a:t>바꾸는</a:t>
            </a:r>
            <a:r>
              <a:rPr dirty="0"/>
              <a:t> </a:t>
            </a:r>
            <a:r>
              <a:rPr dirty="0" err="1"/>
              <a:t>방식입니다</a:t>
            </a:r>
            <a:r>
              <a:rPr dirty="0"/>
              <a:t>. </a:t>
            </a:r>
            <a:r>
              <a:rPr dirty="0" err="1"/>
              <a:t>둘째는</a:t>
            </a:r>
            <a:r>
              <a:rPr dirty="0"/>
              <a:t> '</a:t>
            </a:r>
            <a:r>
              <a:rPr dirty="0" err="1"/>
              <a:t>세로축</a:t>
            </a:r>
            <a:r>
              <a:rPr dirty="0"/>
              <a:t>(</a:t>
            </a:r>
            <a:r>
              <a:rPr dirty="0" err="1"/>
              <a:t>Z축</a:t>
            </a:r>
            <a:r>
              <a:rPr dirty="0"/>
              <a:t>, Longitudinal)' </a:t>
            </a:r>
            <a:r>
              <a:rPr dirty="0" err="1"/>
              <a:t>변조로</a:t>
            </a:r>
            <a:r>
              <a:rPr dirty="0"/>
              <a:t>, 앞 </a:t>
            </a:r>
            <a:r>
              <a:rPr dirty="0" err="1"/>
              <a:t>슬라이드에서</a:t>
            </a:r>
            <a:r>
              <a:rPr dirty="0"/>
              <a:t> </a:t>
            </a:r>
            <a:r>
              <a:rPr dirty="0" err="1"/>
              <a:t>설명한</a:t>
            </a:r>
            <a:r>
              <a:rPr dirty="0"/>
              <a:t> </a:t>
            </a:r>
            <a:r>
              <a:rPr dirty="0" err="1"/>
              <a:t>것처럼</a:t>
            </a:r>
            <a:r>
              <a:rPr dirty="0"/>
              <a:t> </a:t>
            </a:r>
            <a:r>
              <a:rPr dirty="0" err="1"/>
              <a:t>머리에서</a:t>
            </a:r>
            <a:r>
              <a:rPr dirty="0"/>
              <a:t> 발 </a:t>
            </a:r>
            <a:r>
              <a:rPr dirty="0" err="1"/>
              <a:t>쪽으로</a:t>
            </a:r>
            <a:r>
              <a:rPr dirty="0"/>
              <a:t> </a:t>
            </a:r>
            <a:r>
              <a:rPr dirty="0" err="1"/>
              <a:t>이동하며</a:t>
            </a:r>
            <a:r>
              <a:rPr dirty="0"/>
              <a:t> </a:t>
            </a:r>
            <a:r>
              <a:rPr dirty="0" err="1"/>
              <a:t>부위별</a:t>
            </a:r>
            <a:r>
              <a:rPr dirty="0"/>
              <a:t>(</a:t>
            </a:r>
            <a:r>
              <a:rPr dirty="0" err="1"/>
              <a:t>어깨</a:t>
            </a:r>
            <a:r>
              <a:rPr dirty="0"/>
              <a:t>/</a:t>
            </a:r>
            <a:r>
              <a:rPr dirty="0" err="1"/>
              <a:t>흉부</a:t>
            </a:r>
            <a:r>
              <a:rPr dirty="0"/>
              <a:t>/간 등) </a:t>
            </a:r>
            <a:r>
              <a:rPr dirty="0" err="1"/>
              <a:t>두께</a:t>
            </a:r>
            <a:r>
              <a:rPr dirty="0"/>
              <a:t> </a:t>
            </a:r>
            <a:r>
              <a:rPr dirty="0" err="1"/>
              <a:t>차이에</a:t>
            </a:r>
            <a:r>
              <a:rPr dirty="0"/>
              <a:t> </a:t>
            </a:r>
            <a:r>
              <a:rPr dirty="0" err="1"/>
              <a:t>따라</a:t>
            </a:r>
            <a:r>
              <a:rPr dirty="0"/>
              <a:t> </a:t>
            </a:r>
            <a:r>
              <a:rPr dirty="0" err="1"/>
              <a:t>관전류를</a:t>
            </a:r>
            <a:r>
              <a:rPr dirty="0"/>
              <a:t> </a:t>
            </a:r>
            <a:r>
              <a:rPr dirty="0" err="1"/>
              <a:t>바꾸는</a:t>
            </a:r>
            <a:r>
              <a:rPr dirty="0"/>
              <a:t> </a:t>
            </a:r>
            <a:r>
              <a:rPr dirty="0" err="1"/>
              <a:t>방식입니다</a:t>
            </a:r>
            <a:r>
              <a:rPr dirty="0"/>
              <a:t>. </a:t>
            </a:r>
            <a:r>
              <a:rPr dirty="0" err="1"/>
              <a:t>셋째는</a:t>
            </a:r>
            <a:r>
              <a:rPr dirty="0"/>
              <a:t> 이 </a:t>
            </a:r>
            <a:r>
              <a:rPr dirty="0" err="1"/>
              <a:t>둘을</a:t>
            </a:r>
            <a:r>
              <a:rPr dirty="0"/>
              <a:t> </a:t>
            </a:r>
            <a:r>
              <a:rPr dirty="0" err="1"/>
              <a:t>합친</a:t>
            </a:r>
            <a:r>
              <a:rPr dirty="0"/>
              <a:t> 'Combined' </a:t>
            </a:r>
            <a:r>
              <a:rPr dirty="0" err="1"/>
              <a:t>변조로</a:t>
            </a:r>
            <a:r>
              <a:rPr dirty="0"/>
              <a:t>, </a:t>
            </a:r>
            <a:r>
              <a:rPr dirty="0" err="1"/>
              <a:t>회전</a:t>
            </a:r>
            <a:r>
              <a:rPr dirty="0"/>
              <a:t> </a:t>
            </a:r>
            <a:r>
              <a:rPr dirty="0" err="1"/>
              <a:t>각도와</a:t>
            </a:r>
            <a:r>
              <a:rPr dirty="0"/>
              <a:t> </a:t>
            </a:r>
            <a:r>
              <a:rPr dirty="0" err="1"/>
              <a:t>z축</a:t>
            </a:r>
            <a:r>
              <a:rPr dirty="0"/>
              <a:t> </a:t>
            </a:r>
            <a:r>
              <a:rPr dirty="0" err="1"/>
              <a:t>위치를</a:t>
            </a:r>
            <a:r>
              <a:rPr dirty="0"/>
              <a:t> </a:t>
            </a:r>
            <a:r>
              <a:rPr dirty="0" err="1"/>
              <a:t>동시에</a:t>
            </a:r>
            <a:r>
              <a:rPr dirty="0"/>
              <a:t> </a:t>
            </a:r>
            <a:r>
              <a:rPr dirty="0" err="1"/>
              <a:t>반영해</a:t>
            </a:r>
            <a:r>
              <a:rPr dirty="0"/>
              <a:t> </a:t>
            </a:r>
            <a:r>
              <a:rPr dirty="0" err="1"/>
              <a:t>관전류를</a:t>
            </a:r>
            <a:r>
              <a:rPr dirty="0"/>
              <a:t> </a:t>
            </a:r>
            <a:r>
              <a:rPr dirty="0" err="1"/>
              <a:t>조절하며</a:t>
            </a:r>
            <a:r>
              <a:rPr dirty="0"/>
              <a:t> </a:t>
            </a:r>
            <a:r>
              <a:rPr dirty="0" err="1"/>
              <a:t>최신</a:t>
            </a:r>
            <a:r>
              <a:rPr dirty="0"/>
              <a:t> CT </a:t>
            </a:r>
            <a:r>
              <a:rPr dirty="0" err="1"/>
              <a:t>대부분이</a:t>
            </a:r>
            <a:r>
              <a:rPr dirty="0"/>
              <a:t> </a:t>
            </a:r>
            <a:r>
              <a:rPr dirty="0" err="1"/>
              <a:t>기본으로</a:t>
            </a:r>
            <a:r>
              <a:rPr dirty="0"/>
              <a:t> </a:t>
            </a:r>
            <a:r>
              <a:rPr dirty="0" err="1"/>
              <a:t>쓰는</a:t>
            </a:r>
            <a:r>
              <a:rPr dirty="0"/>
              <a:t> </a:t>
            </a:r>
            <a:r>
              <a:rPr dirty="0" err="1"/>
              <a:t>방식입니다</a:t>
            </a:r>
            <a:r>
              <a:rPr dirty="0"/>
              <a:t> — </a:t>
            </a:r>
            <a:r>
              <a:rPr dirty="0" err="1"/>
              <a:t>뒤에서</a:t>
            </a:r>
            <a:r>
              <a:rPr dirty="0"/>
              <a:t> </a:t>
            </a:r>
            <a:r>
              <a:rPr dirty="0" err="1"/>
              <a:t>보듯</a:t>
            </a:r>
            <a:r>
              <a:rPr dirty="0"/>
              <a:t> </a:t>
            </a:r>
            <a:r>
              <a:rPr dirty="0" err="1"/>
              <a:t>우리가</a:t>
            </a:r>
            <a:r>
              <a:rPr dirty="0"/>
              <a:t> </a:t>
            </a:r>
            <a:r>
              <a:rPr dirty="0" err="1"/>
              <a:t>쓰는</a:t>
            </a:r>
            <a:r>
              <a:rPr dirty="0"/>
              <a:t> AEC-128 </a:t>
            </a:r>
            <a:r>
              <a:rPr dirty="0" err="1"/>
              <a:t>신호도</a:t>
            </a:r>
            <a:r>
              <a:rPr dirty="0"/>
              <a:t> </a:t>
            </a:r>
            <a:r>
              <a:rPr dirty="0" err="1"/>
              <a:t>실측</a:t>
            </a:r>
            <a:r>
              <a:rPr dirty="0"/>
              <a:t> </a:t>
            </a:r>
            <a:r>
              <a:rPr dirty="0" err="1"/>
              <a:t>결과</a:t>
            </a:r>
            <a:r>
              <a:rPr dirty="0"/>
              <a:t> </a:t>
            </a:r>
            <a:r>
              <a:rPr dirty="0" err="1"/>
              <a:t>대부분</a:t>
            </a:r>
            <a:r>
              <a:rPr dirty="0"/>
              <a:t> 이 Combined(XYZ) </a:t>
            </a:r>
            <a:r>
              <a:rPr dirty="0" err="1"/>
              <a:t>변조로</a:t>
            </a:r>
            <a:r>
              <a:rPr dirty="0"/>
              <a:t> </a:t>
            </a:r>
            <a:r>
              <a:rPr dirty="0" err="1"/>
              <a:t>만들어진</a:t>
            </a:r>
            <a:r>
              <a:rPr dirty="0"/>
              <a:t> </a:t>
            </a:r>
            <a:r>
              <a:rPr dirty="0" err="1"/>
              <a:t>값입니다</a:t>
            </a:r>
            <a:r>
              <a:rPr dirty="0"/>
              <a:t>.</a:t>
            </a:r>
          </a:p>
          <a:p>
            <a:r>
              <a:rPr dirty="0" err="1"/>
              <a:t>그렇다면</a:t>
            </a:r>
            <a:r>
              <a:rPr dirty="0"/>
              <a:t> </a:t>
            </a:r>
            <a:r>
              <a:rPr dirty="0" err="1"/>
              <a:t>우리</a:t>
            </a:r>
            <a:r>
              <a:rPr dirty="0"/>
              <a:t> </a:t>
            </a:r>
            <a:r>
              <a:rPr dirty="0" err="1"/>
              <a:t>연구에</a:t>
            </a:r>
            <a:r>
              <a:rPr dirty="0"/>
              <a:t> </a:t>
            </a:r>
            <a:r>
              <a:rPr dirty="0" err="1"/>
              <a:t>실제로</a:t>
            </a:r>
            <a:r>
              <a:rPr dirty="0"/>
              <a:t> </a:t>
            </a:r>
            <a:r>
              <a:rPr dirty="0" err="1"/>
              <a:t>쓰인</a:t>
            </a:r>
            <a:r>
              <a:rPr dirty="0"/>
              <a:t> </a:t>
            </a:r>
            <a:r>
              <a:rPr dirty="0" err="1"/>
              <a:t>CT들은</a:t>
            </a:r>
            <a:r>
              <a:rPr dirty="0"/>
              <a:t> </a:t>
            </a:r>
            <a:r>
              <a:rPr dirty="0" err="1"/>
              <a:t>어떤</a:t>
            </a:r>
            <a:r>
              <a:rPr dirty="0"/>
              <a:t> </a:t>
            </a:r>
            <a:r>
              <a:rPr dirty="0" err="1"/>
              <a:t>방식이었을까요</a:t>
            </a:r>
            <a:r>
              <a:rPr dirty="0"/>
              <a:t>? </a:t>
            </a:r>
            <a:r>
              <a:rPr dirty="0" err="1"/>
              <a:t>이를</a:t>
            </a:r>
            <a:r>
              <a:rPr dirty="0"/>
              <a:t> </a:t>
            </a:r>
            <a:r>
              <a:rPr dirty="0" err="1"/>
              <a:t>확인하려고</a:t>
            </a:r>
            <a:r>
              <a:rPr dirty="0"/>
              <a:t> </a:t>
            </a:r>
            <a:r>
              <a:rPr dirty="0" err="1"/>
              <a:t>원본</a:t>
            </a:r>
            <a:r>
              <a:rPr dirty="0"/>
              <a:t> DICOM </a:t>
            </a:r>
            <a:r>
              <a:rPr dirty="0" err="1"/>
              <a:t>파일</a:t>
            </a:r>
            <a:r>
              <a:rPr dirty="0"/>
              <a:t> </a:t>
            </a:r>
            <a:r>
              <a:rPr dirty="0" err="1"/>
              <a:t>헤더에서</a:t>
            </a:r>
            <a:r>
              <a:rPr dirty="0"/>
              <a:t> 'Exposure Modulation </a:t>
            </a:r>
            <a:r>
              <a:rPr dirty="0" err="1"/>
              <a:t>Type'이라는</a:t>
            </a:r>
            <a:r>
              <a:rPr dirty="0"/>
              <a:t> </a:t>
            </a:r>
            <a:r>
              <a:rPr dirty="0" err="1"/>
              <a:t>태그</a:t>
            </a:r>
            <a:r>
              <a:rPr dirty="0"/>
              <a:t>(0018,1156)를 </a:t>
            </a:r>
            <a:r>
              <a:rPr dirty="0" err="1"/>
              <a:t>직접</a:t>
            </a:r>
            <a:r>
              <a:rPr dirty="0"/>
              <a:t> </a:t>
            </a:r>
            <a:r>
              <a:rPr dirty="0" err="1"/>
              <a:t>읽어봤습니다</a:t>
            </a:r>
            <a:r>
              <a:rPr dirty="0"/>
              <a:t>. </a:t>
            </a:r>
            <a:r>
              <a:rPr dirty="0" err="1"/>
              <a:t>전체</a:t>
            </a:r>
            <a:r>
              <a:rPr dirty="0"/>
              <a:t> 2,016명 중 AEC </a:t>
            </a:r>
            <a:r>
              <a:rPr dirty="0" err="1"/>
              <a:t>추출에</a:t>
            </a:r>
            <a:r>
              <a:rPr dirty="0"/>
              <a:t> </a:t>
            </a:r>
            <a:r>
              <a:rPr dirty="0" err="1"/>
              <a:t>실제로</a:t>
            </a:r>
            <a:r>
              <a:rPr dirty="0"/>
              <a:t> </a:t>
            </a:r>
            <a:r>
              <a:rPr dirty="0" err="1"/>
              <a:t>쓰인</a:t>
            </a:r>
            <a:r>
              <a:rPr dirty="0"/>
              <a:t> </a:t>
            </a:r>
            <a:r>
              <a:rPr dirty="0" err="1"/>
              <a:t>series를</a:t>
            </a:r>
            <a:r>
              <a:rPr dirty="0"/>
              <a:t> 2,006명(99.5%)</a:t>
            </a:r>
            <a:r>
              <a:rPr dirty="0" err="1"/>
              <a:t>까지</a:t>
            </a:r>
            <a:r>
              <a:rPr dirty="0"/>
              <a:t> </a:t>
            </a:r>
            <a:r>
              <a:rPr dirty="0" err="1"/>
              <a:t>특정해서</a:t>
            </a:r>
            <a:r>
              <a:rPr dirty="0"/>
              <a:t> </a:t>
            </a:r>
            <a:r>
              <a:rPr dirty="0" err="1"/>
              <a:t>확인한</a:t>
            </a:r>
            <a:r>
              <a:rPr dirty="0"/>
              <a:t> </a:t>
            </a:r>
            <a:r>
              <a:rPr dirty="0" err="1"/>
              <a:t>결과</a:t>
            </a:r>
            <a:r>
              <a:rPr dirty="0"/>
              <a:t>, </a:t>
            </a:r>
            <a:r>
              <a:rPr dirty="0" err="1"/>
              <a:t>태그값이</a:t>
            </a:r>
            <a:r>
              <a:rPr dirty="0"/>
              <a:t> </a:t>
            </a:r>
            <a:r>
              <a:rPr dirty="0" err="1"/>
              <a:t>남아있는</a:t>
            </a:r>
            <a:r>
              <a:rPr dirty="0"/>
              <a:t> </a:t>
            </a:r>
            <a:r>
              <a:rPr dirty="0" err="1"/>
              <a:t>모든</a:t>
            </a:r>
            <a:r>
              <a:rPr dirty="0"/>
              <a:t> </a:t>
            </a:r>
            <a:r>
              <a:rPr dirty="0" err="1"/>
              <a:t>경우</a:t>
            </a:r>
            <a:r>
              <a:rPr dirty="0"/>
              <a:t>(</a:t>
            </a:r>
            <a:r>
              <a:rPr dirty="0" err="1"/>
              <a:t>Siemens는</a:t>
            </a:r>
            <a:r>
              <a:rPr dirty="0"/>
              <a:t> 'XYZ_EC', </a:t>
            </a:r>
            <a:r>
              <a:rPr dirty="0" err="1"/>
              <a:t>Philips는</a:t>
            </a:r>
            <a:r>
              <a:rPr dirty="0"/>
              <a:t> '3D MODULATION', </a:t>
            </a:r>
            <a:r>
              <a:rPr dirty="0" err="1"/>
              <a:t>Canon은</a:t>
            </a:r>
            <a:r>
              <a:rPr dirty="0"/>
              <a:t> '3D'로 </a:t>
            </a:r>
            <a:r>
              <a:rPr dirty="0" err="1"/>
              <a:t>표기</a:t>
            </a:r>
            <a:r>
              <a:rPr dirty="0"/>
              <a:t>)는 </a:t>
            </a:r>
            <a:r>
              <a:rPr dirty="0" err="1"/>
              <a:t>전부</a:t>
            </a:r>
            <a:r>
              <a:rPr dirty="0"/>
              <a:t> Combined(</a:t>
            </a:r>
            <a:r>
              <a:rPr dirty="0" err="1"/>
              <a:t>각도+z축</a:t>
            </a:r>
            <a:r>
              <a:rPr dirty="0"/>
              <a:t> </a:t>
            </a:r>
            <a:r>
              <a:rPr dirty="0" err="1"/>
              <a:t>동시</a:t>
            </a:r>
            <a:r>
              <a:rPr dirty="0"/>
              <a:t>) </a:t>
            </a:r>
            <a:r>
              <a:rPr dirty="0" err="1"/>
              <a:t>변조를</a:t>
            </a:r>
            <a:r>
              <a:rPr dirty="0"/>
              <a:t> </a:t>
            </a:r>
            <a:r>
              <a:rPr dirty="0" err="1"/>
              <a:t>뜻했고</a:t>
            </a:r>
            <a:r>
              <a:rPr dirty="0"/>
              <a:t>, </a:t>
            </a:r>
            <a:r>
              <a:rPr dirty="0" err="1"/>
              <a:t>z축만</a:t>
            </a:r>
            <a:r>
              <a:rPr dirty="0"/>
              <a:t> </a:t>
            </a:r>
            <a:r>
              <a:rPr dirty="0" err="1"/>
              <a:t>쓰는</a:t>
            </a:r>
            <a:r>
              <a:rPr dirty="0"/>
              <a:t> </a:t>
            </a:r>
            <a:r>
              <a:rPr dirty="0" err="1"/>
              <a:t>방식은</a:t>
            </a:r>
            <a:r>
              <a:rPr dirty="0"/>
              <a:t> 단 한 </a:t>
            </a:r>
            <a:r>
              <a:rPr dirty="0" err="1"/>
              <a:t>건도</a:t>
            </a:r>
            <a:r>
              <a:rPr dirty="0"/>
              <a:t> </a:t>
            </a:r>
            <a:r>
              <a:rPr dirty="0" err="1"/>
              <a:t>발견되지</a:t>
            </a:r>
            <a:r>
              <a:rPr dirty="0"/>
              <a:t> </a:t>
            </a:r>
            <a:r>
              <a:rPr dirty="0" err="1"/>
              <a:t>않았습니다</a:t>
            </a:r>
            <a:r>
              <a:rPr dirty="0"/>
              <a:t>. </a:t>
            </a:r>
            <a:r>
              <a:rPr dirty="0" err="1"/>
              <a:t>다만</a:t>
            </a:r>
            <a:r>
              <a:rPr dirty="0"/>
              <a:t> GE </a:t>
            </a:r>
            <a:r>
              <a:rPr dirty="0" err="1"/>
              <a:t>장비</a:t>
            </a:r>
            <a:r>
              <a:rPr dirty="0"/>
              <a:t>(</a:t>
            </a:r>
            <a:r>
              <a:rPr dirty="0" err="1"/>
              <a:t>전체의</a:t>
            </a:r>
            <a:r>
              <a:rPr dirty="0"/>
              <a:t> 26.8%, 537명)는 이 </a:t>
            </a:r>
            <a:r>
              <a:rPr dirty="0" err="1"/>
              <a:t>표준</a:t>
            </a:r>
            <a:r>
              <a:rPr dirty="0"/>
              <a:t> </a:t>
            </a:r>
            <a:r>
              <a:rPr dirty="0" err="1"/>
              <a:t>태그</a:t>
            </a:r>
            <a:r>
              <a:rPr dirty="0"/>
              <a:t> </a:t>
            </a:r>
            <a:r>
              <a:rPr dirty="0" err="1"/>
              <a:t>자체를</a:t>
            </a:r>
            <a:r>
              <a:rPr dirty="0"/>
              <a:t> </a:t>
            </a:r>
            <a:r>
              <a:rPr dirty="0" err="1"/>
              <a:t>기록하지</a:t>
            </a:r>
            <a:r>
              <a:rPr dirty="0"/>
              <a:t> </a:t>
            </a:r>
            <a:r>
              <a:rPr dirty="0" err="1"/>
              <a:t>않아서</a:t>
            </a:r>
            <a:r>
              <a:rPr dirty="0"/>
              <a:t> </a:t>
            </a:r>
            <a:r>
              <a:rPr dirty="0" err="1"/>
              <a:t>헤더만으로는</a:t>
            </a:r>
            <a:r>
              <a:rPr dirty="0"/>
              <a:t> </a:t>
            </a:r>
            <a:r>
              <a:rPr dirty="0" err="1"/>
              <a:t>어떤</a:t>
            </a:r>
            <a:r>
              <a:rPr dirty="0"/>
              <a:t> </a:t>
            </a:r>
            <a:r>
              <a:rPr dirty="0" err="1"/>
              <a:t>방식인지</a:t>
            </a:r>
            <a:r>
              <a:rPr dirty="0"/>
              <a:t> </a:t>
            </a:r>
            <a:r>
              <a:rPr dirty="0" err="1"/>
              <a:t>확인할</a:t>
            </a:r>
            <a:r>
              <a:rPr dirty="0"/>
              <a:t> 수 </a:t>
            </a:r>
            <a:r>
              <a:rPr dirty="0" err="1"/>
              <a:t>없었습니다</a:t>
            </a:r>
            <a:r>
              <a:rPr dirty="0"/>
              <a:t> — </a:t>
            </a:r>
            <a:r>
              <a:rPr dirty="0" err="1"/>
              <a:t>다만</a:t>
            </a:r>
            <a:r>
              <a:rPr dirty="0"/>
              <a:t> </a:t>
            </a:r>
            <a:r>
              <a:rPr dirty="0" err="1"/>
              <a:t>이는</a:t>
            </a:r>
            <a:r>
              <a:rPr dirty="0"/>
              <a:t> AEC-128 </a:t>
            </a:r>
            <a:r>
              <a:rPr dirty="0" err="1"/>
              <a:t>곡선</a:t>
            </a:r>
            <a:r>
              <a:rPr dirty="0"/>
              <a:t>(</a:t>
            </a:r>
            <a:r>
              <a:rPr dirty="0" err="1"/>
              <a:t>XRayTubeCurrent</a:t>
            </a:r>
            <a:r>
              <a:rPr dirty="0"/>
              <a:t> 값) </a:t>
            </a:r>
            <a:r>
              <a:rPr dirty="0" err="1"/>
              <a:t>자체와는</a:t>
            </a:r>
            <a:r>
              <a:rPr dirty="0"/>
              <a:t> </a:t>
            </a:r>
            <a:r>
              <a:rPr dirty="0" err="1"/>
              <a:t>무관한</a:t>
            </a:r>
            <a:r>
              <a:rPr dirty="0"/>
              <a:t> </a:t>
            </a:r>
            <a:r>
              <a:rPr dirty="0" err="1"/>
              <a:t>별개의</a:t>
            </a:r>
            <a:r>
              <a:rPr dirty="0"/>
              <a:t> </a:t>
            </a:r>
            <a:r>
              <a:rPr dirty="0" err="1"/>
              <a:t>태그이므로</a:t>
            </a:r>
            <a:r>
              <a:rPr dirty="0"/>
              <a:t>, GE </a:t>
            </a:r>
            <a:r>
              <a:rPr dirty="0" err="1"/>
              <a:t>환자들의</a:t>
            </a:r>
            <a:r>
              <a:rPr dirty="0"/>
              <a:t> AEC </a:t>
            </a:r>
            <a:r>
              <a:rPr dirty="0" err="1"/>
              <a:t>곡선</a:t>
            </a:r>
            <a:r>
              <a:rPr dirty="0"/>
              <a:t> </a:t>
            </a:r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자체는</a:t>
            </a:r>
            <a:r>
              <a:rPr dirty="0"/>
              <a:t> </a:t>
            </a:r>
            <a:r>
              <a:rPr dirty="0" err="1"/>
              <a:t>문제</a:t>
            </a:r>
            <a:r>
              <a:rPr dirty="0"/>
              <a:t> </a:t>
            </a:r>
            <a:r>
              <a:rPr dirty="0" err="1"/>
              <a:t>없이</a:t>
            </a:r>
            <a:r>
              <a:rPr dirty="0"/>
              <a:t> </a:t>
            </a:r>
            <a:r>
              <a:rPr dirty="0" err="1"/>
              <a:t>그대로</a:t>
            </a:r>
            <a:r>
              <a:rPr dirty="0"/>
              <a:t> </a:t>
            </a:r>
            <a:r>
              <a:rPr dirty="0" err="1"/>
              <a:t>사용</a:t>
            </a:r>
            <a:r>
              <a:rPr dirty="0"/>
              <a:t> </a:t>
            </a:r>
            <a:r>
              <a:rPr dirty="0" err="1"/>
              <a:t>가능합니다</a:t>
            </a:r>
            <a:r>
              <a:rPr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B9A467-16DF-CDA9-9E37-DEAF157BE5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4073479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지금까지 앞 슬라이드에서는 mA를 '어느 방향으로' 조절하는지(각도/세로축/결합)를 봤는데, 이번 슬라이드는 '얼마로' 조절할지를 정하는 기준 자체가 제조사마다 다르다는 내용입니다. 이건 미국 의학물리학회(AAPM)가 낸 Report 96에서 세 가지로 분류해 정리한 내용입니다.</a:t>
            </a:r>
          </a:p>
          <a:p>
            <a:r>
              <a:t>첫째는 GE와 캐논(구 도시바)이 쓰는 방식으로, 사용자가 '이 정도 노이즈까지는 허용한다'는 목표 노이즈 수준(GE는 이를 Noise Index라고 부릅니다)을 지정하면, 기계가 그 노이즈 수준을 만들어내는 데 필요한 mA를 거꾸로 계산합니다. 둘째는 지멘스(Siemens)가 쓰는 CARE Dose4D 방식으로, '평균 체구 환자라면 이 정도 mAs를 쓴다'는 기준값(reference mAs)을 미리 정해두고, 실제 환자의 단면 크기를 스카웃 영상으로 추정해서 그 기준값에 비례해 올리거나 내립니다. 셋째는 필립스(Philips)가 쓰는 DoseRight 방식으로, '예전에 화질이 딱 적당했던 특정 영상'을 기준 영상으로 삼아두고, 지금 환자의 영상이 그 기준 영상과 비슷한 노이즈가 되도록 mA를 맞춥니다.</a:t>
            </a:r>
          </a:p>
          <a:p>
            <a:r>
              <a:t>중요한 건, 이 세 방식이 실제로 mA를 계산할 때 쓰는 정확한 수학 공식(계수나 지수 값)은 각 회사의 특허·영업비밀이라 학술 논문에도 원리 설명까지만 나오고 정확한 식은 공개된 적이 없다는 점입니다(AAPM Report 96, McCollough 2006 RadioGraphics, Söderberg &amp; Gunnarsson 2010 Acta Radiologica 등에서 확인).</a:t>
            </a:r>
          </a:p>
          <a:p>
            <a:r>
              <a:t>이게 우리 연구에 왜 중요하냐면, 지난 슬라이드에서 확인한 것처럼 Siemens는 XYZ_EC, Philips는 3D MODULATION처럼 '3축을 다 쓴다'는 점은 같아도, 그 mA를 정하는 기준 자체가 서로 다른 패러다임이기 때문에, 여러 제조사 장비가 섞여 있는 우리 코호트에서 AEC-128의 절대적인 mA 수치를 기종 간에 그대로 직접 비교하는 것은 완전히 동등하지 않을 수 있다는 뜻입니다. 이 점은 논문의 한계(Limitation)로 언급할 만한 부분입니다.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CT로</a:t>
            </a:r>
            <a:r>
              <a:rPr dirty="0"/>
              <a:t> </a:t>
            </a:r>
            <a:r>
              <a:rPr dirty="0" err="1"/>
              <a:t>찍을</a:t>
            </a:r>
            <a:r>
              <a:rPr dirty="0"/>
              <a:t> 때 </a:t>
            </a:r>
            <a:r>
              <a:rPr dirty="0" err="1"/>
              <a:t>화질을</a:t>
            </a:r>
            <a:r>
              <a:rPr dirty="0"/>
              <a:t> </a:t>
            </a:r>
            <a:r>
              <a:rPr dirty="0" err="1"/>
              <a:t>일정하게</a:t>
            </a:r>
            <a:r>
              <a:rPr dirty="0"/>
              <a:t> </a:t>
            </a:r>
            <a:r>
              <a:rPr dirty="0" err="1"/>
              <a:t>유지하려고</a:t>
            </a:r>
            <a:r>
              <a:rPr dirty="0"/>
              <a:t> </a:t>
            </a:r>
            <a:r>
              <a:rPr dirty="0" err="1"/>
              <a:t>조절할</a:t>
            </a:r>
            <a:r>
              <a:rPr dirty="0"/>
              <a:t> 수 </a:t>
            </a:r>
            <a:r>
              <a:rPr dirty="0" err="1"/>
              <a:t>있는</a:t>
            </a:r>
            <a:r>
              <a:rPr dirty="0"/>
              <a:t> </a:t>
            </a:r>
            <a:r>
              <a:rPr dirty="0" err="1"/>
              <a:t>값은</a:t>
            </a:r>
            <a:r>
              <a:rPr dirty="0"/>
              <a:t> </a:t>
            </a:r>
            <a:r>
              <a:rPr dirty="0" err="1"/>
              <a:t>사실</a:t>
            </a:r>
            <a:r>
              <a:rPr dirty="0"/>
              <a:t> mA(</a:t>
            </a:r>
            <a:r>
              <a:rPr dirty="0" err="1"/>
              <a:t>관전류</a:t>
            </a:r>
            <a:r>
              <a:rPr dirty="0"/>
              <a:t>) </a:t>
            </a:r>
            <a:r>
              <a:rPr dirty="0" err="1"/>
              <a:t>말고도</a:t>
            </a:r>
            <a:r>
              <a:rPr dirty="0"/>
              <a:t> </a:t>
            </a:r>
            <a:r>
              <a:rPr dirty="0" err="1"/>
              <a:t>kVp</a:t>
            </a:r>
            <a:r>
              <a:rPr dirty="0"/>
              <a:t>(</a:t>
            </a:r>
            <a:r>
              <a:rPr dirty="0" err="1"/>
              <a:t>관전압</a:t>
            </a:r>
            <a:r>
              <a:rPr dirty="0"/>
              <a:t>)나 </a:t>
            </a:r>
            <a:r>
              <a:rPr dirty="0" err="1"/>
              <a:t>노출시간</a:t>
            </a:r>
            <a:r>
              <a:rPr dirty="0"/>
              <a:t>(</a:t>
            </a:r>
            <a:r>
              <a:rPr dirty="0" err="1"/>
              <a:t>회전시간</a:t>
            </a:r>
            <a:r>
              <a:rPr dirty="0"/>
              <a:t>)도 </a:t>
            </a:r>
            <a:r>
              <a:rPr dirty="0" err="1"/>
              <a:t>있습니다</a:t>
            </a:r>
            <a:r>
              <a:rPr dirty="0"/>
              <a:t>. </a:t>
            </a:r>
            <a:r>
              <a:rPr dirty="0" err="1"/>
              <a:t>그런데</a:t>
            </a:r>
            <a:r>
              <a:rPr dirty="0"/>
              <a:t> 왜 </a:t>
            </a:r>
            <a:r>
              <a:rPr dirty="0" err="1"/>
              <a:t>하필</a:t>
            </a:r>
            <a:r>
              <a:rPr dirty="0"/>
              <a:t> </a:t>
            </a:r>
            <a:r>
              <a:rPr dirty="0" err="1"/>
              <a:t>mA를</a:t>
            </a:r>
            <a:r>
              <a:rPr dirty="0"/>
              <a:t> </a:t>
            </a:r>
            <a:r>
              <a:rPr dirty="0" err="1"/>
              <a:t>바꾸는</a:t>
            </a:r>
            <a:r>
              <a:rPr dirty="0"/>
              <a:t> </a:t>
            </a:r>
            <a:r>
              <a:rPr dirty="0" err="1"/>
              <a:t>방식</a:t>
            </a:r>
            <a:r>
              <a:rPr dirty="0"/>
              <a:t>(AEC)이 </a:t>
            </a:r>
            <a:r>
              <a:rPr dirty="0" err="1"/>
              <a:t>표준으로</a:t>
            </a:r>
            <a:r>
              <a:rPr dirty="0"/>
              <a:t> </a:t>
            </a:r>
            <a:r>
              <a:rPr dirty="0" err="1"/>
              <a:t>쓰일까요</a:t>
            </a:r>
            <a:r>
              <a:rPr dirty="0"/>
              <a:t>?</a:t>
            </a:r>
          </a:p>
          <a:p>
            <a:r>
              <a:rPr dirty="0" err="1"/>
              <a:t>먼저</a:t>
            </a:r>
            <a:r>
              <a:rPr dirty="0"/>
              <a:t> </a:t>
            </a:r>
            <a:r>
              <a:rPr dirty="0" err="1"/>
              <a:t>kVp를</a:t>
            </a:r>
            <a:r>
              <a:rPr dirty="0"/>
              <a:t> </a:t>
            </a:r>
            <a:r>
              <a:rPr dirty="0" err="1"/>
              <a:t>바꾸면</a:t>
            </a:r>
            <a:r>
              <a:rPr dirty="0"/>
              <a:t> </a:t>
            </a:r>
            <a:r>
              <a:rPr dirty="0" err="1"/>
              <a:t>X선의</a:t>
            </a:r>
            <a:r>
              <a:rPr dirty="0"/>
              <a:t> </a:t>
            </a:r>
            <a:r>
              <a:rPr dirty="0" err="1"/>
              <a:t>에너지</a:t>
            </a:r>
            <a:r>
              <a:rPr dirty="0"/>
              <a:t> </a:t>
            </a:r>
            <a:r>
              <a:rPr dirty="0" err="1"/>
              <a:t>자체</a:t>
            </a:r>
            <a:r>
              <a:rPr dirty="0"/>
              <a:t>, 즉 '</a:t>
            </a:r>
            <a:r>
              <a:rPr dirty="0" err="1"/>
              <a:t>빔의</a:t>
            </a:r>
            <a:r>
              <a:rPr dirty="0"/>
              <a:t> </a:t>
            </a:r>
            <a:r>
              <a:rPr dirty="0" err="1"/>
              <a:t>성질'이</a:t>
            </a:r>
            <a:r>
              <a:rPr dirty="0"/>
              <a:t> </a:t>
            </a:r>
            <a:r>
              <a:rPr dirty="0" err="1"/>
              <a:t>바뀝니다</a:t>
            </a:r>
            <a:r>
              <a:rPr dirty="0"/>
              <a:t>. </a:t>
            </a:r>
            <a:r>
              <a:rPr dirty="0" err="1"/>
              <a:t>에너지가</a:t>
            </a:r>
            <a:r>
              <a:rPr dirty="0"/>
              <a:t> </a:t>
            </a:r>
            <a:r>
              <a:rPr dirty="0" err="1"/>
              <a:t>바뀌면</a:t>
            </a:r>
            <a:r>
              <a:rPr dirty="0"/>
              <a:t> </a:t>
            </a:r>
            <a:r>
              <a:rPr dirty="0" err="1"/>
              <a:t>조영제가</a:t>
            </a:r>
            <a:r>
              <a:rPr dirty="0"/>
              <a:t> </a:t>
            </a:r>
            <a:r>
              <a:rPr dirty="0" err="1"/>
              <a:t>보이는</a:t>
            </a:r>
            <a:r>
              <a:rPr dirty="0"/>
              <a:t> </a:t>
            </a:r>
            <a:r>
              <a:rPr dirty="0" err="1"/>
              <a:t>정도</a:t>
            </a:r>
            <a:r>
              <a:rPr dirty="0"/>
              <a:t>, </a:t>
            </a:r>
            <a:r>
              <a:rPr dirty="0" err="1"/>
              <a:t>장기</a:t>
            </a:r>
            <a:r>
              <a:rPr dirty="0"/>
              <a:t> </a:t>
            </a:r>
            <a:r>
              <a:rPr dirty="0" err="1"/>
              <a:t>사이의</a:t>
            </a:r>
            <a:r>
              <a:rPr dirty="0"/>
              <a:t> </a:t>
            </a:r>
            <a:r>
              <a:rPr dirty="0" err="1"/>
              <a:t>대조도</a:t>
            </a:r>
            <a:r>
              <a:rPr dirty="0"/>
              <a:t>, </a:t>
            </a:r>
            <a:r>
              <a:rPr dirty="0" err="1"/>
              <a:t>금속·뼈</a:t>
            </a:r>
            <a:r>
              <a:rPr dirty="0"/>
              <a:t> </a:t>
            </a:r>
            <a:r>
              <a:rPr dirty="0" err="1"/>
              <a:t>주변에</a:t>
            </a:r>
            <a:r>
              <a:rPr dirty="0"/>
              <a:t> </a:t>
            </a:r>
            <a:r>
              <a:rPr dirty="0" err="1"/>
              <a:t>생기는</a:t>
            </a:r>
            <a:r>
              <a:rPr dirty="0"/>
              <a:t> </a:t>
            </a:r>
            <a:r>
              <a:rPr dirty="0" err="1"/>
              <a:t>빔경화</a:t>
            </a:r>
            <a:r>
              <a:rPr dirty="0"/>
              <a:t>(beam hardening) </a:t>
            </a:r>
            <a:r>
              <a:rPr dirty="0" err="1"/>
              <a:t>아티팩트까지</a:t>
            </a:r>
            <a:r>
              <a:rPr dirty="0"/>
              <a:t> </a:t>
            </a:r>
            <a:r>
              <a:rPr dirty="0" err="1"/>
              <a:t>전부</a:t>
            </a:r>
            <a:r>
              <a:rPr dirty="0"/>
              <a:t> </a:t>
            </a:r>
            <a:r>
              <a:rPr dirty="0" err="1"/>
              <a:t>달라집니다</a:t>
            </a:r>
            <a:r>
              <a:rPr dirty="0"/>
              <a:t>. </a:t>
            </a:r>
            <a:r>
              <a:rPr dirty="0" err="1"/>
              <a:t>그러면</a:t>
            </a:r>
            <a:r>
              <a:rPr dirty="0"/>
              <a:t> </a:t>
            </a:r>
            <a:r>
              <a:rPr dirty="0" err="1"/>
              <a:t>환자마다</a:t>
            </a:r>
            <a:r>
              <a:rPr dirty="0"/>
              <a:t> </a:t>
            </a:r>
            <a:r>
              <a:rPr dirty="0" err="1"/>
              <a:t>kVp가</a:t>
            </a:r>
            <a:r>
              <a:rPr dirty="0"/>
              <a:t> </a:t>
            </a:r>
            <a:r>
              <a:rPr dirty="0" err="1"/>
              <a:t>다른</a:t>
            </a:r>
            <a:r>
              <a:rPr dirty="0"/>
              <a:t> </a:t>
            </a:r>
            <a:r>
              <a:rPr dirty="0" err="1"/>
              <a:t>영상은</a:t>
            </a:r>
            <a:r>
              <a:rPr dirty="0"/>
              <a:t> </a:t>
            </a:r>
            <a:r>
              <a:rPr dirty="0" err="1"/>
              <a:t>서로</a:t>
            </a:r>
            <a:r>
              <a:rPr dirty="0"/>
              <a:t> </a:t>
            </a:r>
            <a:r>
              <a:rPr dirty="0" err="1"/>
              <a:t>밝기·대조도</a:t>
            </a:r>
            <a:r>
              <a:rPr dirty="0"/>
              <a:t> </a:t>
            </a:r>
            <a:r>
              <a:rPr dirty="0" err="1"/>
              <a:t>기준이</a:t>
            </a:r>
            <a:r>
              <a:rPr dirty="0"/>
              <a:t> </a:t>
            </a:r>
            <a:r>
              <a:rPr dirty="0" err="1"/>
              <a:t>달라져서</a:t>
            </a:r>
            <a:r>
              <a:rPr dirty="0"/>
              <a:t> </a:t>
            </a:r>
            <a:r>
              <a:rPr dirty="0" err="1"/>
              <a:t>같은</a:t>
            </a:r>
            <a:r>
              <a:rPr dirty="0"/>
              <a:t> </a:t>
            </a:r>
            <a:r>
              <a:rPr dirty="0" err="1"/>
              <a:t>기준으로</a:t>
            </a:r>
            <a:r>
              <a:rPr dirty="0"/>
              <a:t> </a:t>
            </a:r>
            <a:r>
              <a:rPr dirty="0" err="1"/>
              <a:t>비교하거나</a:t>
            </a:r>
            <a:r>
              <a:rPr dirty="0"/>
              <a:t> </a:t>
            </a:r>
            <a:r>
              <a:rPr dirty="0" err="1"/>
              <a:t>판독하기가</a:t>
            </a:r>
            <a:r>
              <a:rPr dirty="0"/>
              <a:t> </a:t>
            </a:r>
            <a:r>
              <a:rPr dirty="0" err="1"/>
              <a:t>어려워지고</a:t>
            </a:r>
            <a:r>
              <a:rPr dirty="0"/>
              <a:t>, </a:t>
            </a:r>
            <a:r>
              <a:rPr dirty="0" err="1"/>
              <a:t>조영제</a:t>
            </a:r>
            <a:r>
              <a:rPr dirty="0"/>
              <a:t> </a:t>
            </a:r>
            <a:r>
              <a:rPr dirty="0" err="1"/>
              <a:t>스캔</a:t>
            </a:r>
            <a:r>
              <a:rPr dirty="0"/>
              <a:t> </a:t>
            </a:r>
            <a:r>
              <a:rPr dirty="0" err="1"/>
              <a:t>타이밍</a:t>
            </a:r>
            <a:r>
              <a:rPr dirty="0"/>
              <a:t> </a:t>
            </a:r>
            <a:r>
              <a:rPr dirty="0" err="1"/>
              <a:t>같은</a:t>
            </a:r>
            <a:r>
              <a:rPr dirty="0"/>
              <a:t> </a:t>
            </a:r>
            <a:r>
              <a:rPr dirty="0" err="1"/>
              <a:t>프로토콜도</a:t>
            </a:r>
            <a:r>
              <a:rPr dirty="0"/>
              <a:t> </a:t>
            </a:r>
            <a:r>
              <a:rPr dirty="0" err="1"/>
              <a:t>매번</a:t>
            </a:r>
            <a:r>
              <a:rPr dirty="0"/>
              <a:t> </a:t>
            </a:r>
            <a:r>
              <a:rPr dirty="0" err="1"/>
              <a:t>다시</a:t>
            </a:r>
            <a:r>
              <a:rPr dirty="0"/>
              <a:t> </a:t>
            </a:r>
            <a:r>
              <a:rPr dirty="0" err="1"/>
              <a:t>맞춰야</a:t>
            </a:r>
            <a:r>
              <a:rPr dirty="0"/>
              <a:t> </a:t>
            </a:r>
            <a:r>
              <a:rPr dirty="0" err="1"/>
              <a:t>합니다</a:t>
            </a:r>
            <a:r>
              <a:rPr dirty="0"/>
              <a:t>.</a:t>
            </a:r>
          </a:p>
          <a:p>
            <a:r>
              <a:rPr dirty="0" err="1"/>
              <a:t>노출시간</a:t>
            </a:r>
            <a:r>
              <a:rPr dirty="0"/>
              <a:t>(</a:t>
            </a:r>
            <a:r>
              <a:rPr dirty="0" err="1"/>
              <a:t>정확히는</a:t>
            </a:r>
            <a:r>
              <a:rPr dirty="0"/>
              <a:t> </a:t>
            </a:r>
            <a:r>
              <a:rPr dirty="0" err="1"/>
              <a:t>갠트리</a:t>
            </a:r>
            <a:r>
              <a:rPr dirty="0"/>
              <a:t> </a:t>
            </a:r>
            <a:r>
              <a:rPr dirty="0" err="1"/>
              <a:t>회전시간</a:t>
            </a:r>
            <a:r>
              <a:rPr dirty="0"/>
              <a:t>)을 </a:t>
            </a:r>
            <a:r>
              <a:rPr dirty="0" err="1"/>
              <a:t>바꾸는</a:t>
            </a:r>
            <a:r>
              <a:rPr dirty="0"/>
              <a:t> </a:t>
            </a:r>
            <a:r>
              <a:rPr dirty="0" err="1"/>
              <a:t>방법도</a:t>
            </a:r>
            <a:r>
              <a:rPr dirty="0"/>
              <a:t> </a:t>
            </a:r>
            <a:r>
              <a:rPr dirty="0" err="1"/>
              <a:t>있지만</a:t>
            </a:r>
            <a:r>
              <a:rPr dirty="0"/>
              <a:t>, </a:t>
            </a:r>
            <a:r>
              <a:rPr dirty="0" err="1"/>
              <a:t>회전을</a:t>
            </a:r>
            <a:r>
              <a:rPr dirty="0"/>
              <a:t> </a:t>
            </a:r>
            <a:r>
              <a:rPr dirty="0" err="1"/>
              <a:t>느리게</a:t>
            </a:r>
            <a:r>
              <a:rPr dirty="0"/>
              <a:t> </a:t>
            </a:r>
            <a:r>
              <a:rPr dirty="0" err="1"/>
              <a:t>하면</a:t>
            </a:r>
            <a:r>
              <a:rPr dirty="0"/>
              <a:t> </a:t>
            </a:r>
            <a:r>
              <a:rPr dirty="0" err="1"/>
              <a:t>그만큼</a:t>
            </a:r>
            <a:r>
              <a:rPr dirty="0"/>
              <a:t> </a:t>
            </a:r>
            <a:r>
              <a:rPr dirty="0" err="1"/>
              <a:t>촬영</a:t>
            </a:r>
            <a:r>
              <a:rPr dirty="0"/>
              <a:t> </a:t>
            </a:r>
            <a:r>
              <a:rPr dirty="0" err="1"/>
              <a:t>시간이</a:t>
            </a:r>
            <a:r>
              <a:rPr dirty="0"/>
              <a:t> </a:t>
            </a:r>
            <a:r>
              <a:rPr dirty="0" err="1"/>
              <a:t>길어져서</a:t>
            </a:r>
            <a:r>
              <a:rPr dirty="0"/>
              <a:t> </a:t>
            </a:r>
            <a:r>
              <a:rPr dirty="0" err="1"/>
              <a:t>환자가</a:t>
            </a:r>
            <a:r>
              <a:rPr dirty="0"/>
              <a:t> </a:t>
            </a:r>
            <a:r>
              <a:rPr dirty="0" err="1"/>
              <a:t>숨을</a:t>
            </a:r>
            <a:r>
              <a:rPr dirty="0"/>
              <a:t> </a:t>
            </a:r>
            <a:r>
              <a:rPr dirty="0" err="1"/>
              <a:t>참는</a:t>
            </a:r>
            <a:r>
              <a:rPr dirty="0"/>
              <a:t> </a:t>
            </a:r>
            <a:r>
              <a:rPr dirty="0" err="1"/>
              <a:t>동안에도</a:t>
            </a:r>
            <a:r>
              <a:rPr dirty="0"/>
              <a:t> </a:t>
            </a:r>
            <a:r>
              <a:rPr dirty="0" err="1"/>
              <a:t>미세한</a:t>
            </a:r>
            <a:r>
              <a:rPr dirty="0"/>
              <a:t> </a:t>
            </a:r>
            <a:r>
              <a:rPr dirty="0" err="1"/>
              <a:t>움직임이나</a:t>
            </a:r>
            <a:r>
              <a:rPr dirty="0"/>
              <a:t> </a:t>
            </a:r>
            <a:r>
              <a:rPr dirty="0" err="1"/>
              <a:t>장운동에</a:t>
            </a:r>
            <a:r>
              <a:rPr dirty="0"/>
              <a:t> </a:t>
            </a:r>
            <a:r>
              <a:rPr dirty="0" err="1"/>
              <a:t>의한</a:t>
            </a:r>
            <a:r>
              <a:rPr dirty="0"/>
              <a:t> </a:t>
            </a:r>
            <a:r>
              <a:rPr dirty="0" err="1"/>
              <a:t>흐림이</a:t>
            </a:r>
            <a:r>
              <a:rPr dirty="0"/>
              <a:t> </a:t>
            </a:r>
            <a:r>
              <a:rPr dirty="0" err="1"/>
              <a:t>생기기</a:t>
            </a:r>
            <a:r>
              <a:rPr dirty="0"/>
              <a:t> </a:t>
            </a:r>
            <a:r>
              <a:rPr dirty="0" err="1"/>
              <a:t>쉽고</a:t>
            </a:r>
            <a:r>
              <a:rPr dirty="0"/>
              <a:t>, </a:t>
            </a:r>
            <a:r>
              <a:rPr dirty="0" err="1"/>
              <a:t>장비마다</a:t>
            </a:r>
            <a:r>
              <a:rPr dirty="0"/>
              <a:t> </a:t>
            </a:r>
            <a:r>
              <a:rPr dirty="0" err="1"/>
              <a:t>회전</a:t>
            </a:r>
            <a:r>
              <a:rPr dirty="0"/>
              <a:t> </a:t>
            </a:r>
            <a:r>
              <a:rPr dirty="0" err="1"/>
              <a:t>속도에는</a:t>
            </a:r>
            <a:r>
              <a:rPr dirty="0"/>
              <a:t> </a:t>
            </a:r>
            <a:r>
              <a:rPr dirty="0" err="1"/>
              <a:t>기계적으로</a:t>
            </a:r>
            <a:r>
              <a:rPr dirty="0"/>
              <a:t> </a:t>
            </a:r>
            <a:r>
              <a:rPr dirty="0" err="1"/>
              <a:t>정해진</a:t>
            </a:r>
            <a:r>
              <a:rPr dirty="0"/>
              <a:t> </a:t>
            </a:r>
            <a:r>
              <a:rPr dirty="0" err="1"/>
              <a:t>한계가</a:t>
            </a:r>
            <a:r>
              <a:rPr dirty="0"/>
              <a:t> </a:t>
            </a:r>
            <a:r>
              <a:rPr dirty="0" err="1"/>
              <a:t>있어</a:t>
            </a:r>
            <a:r>
              <a:rPr dirty="0"/>
              <a:t> </a:t>
            </a:r>
            <a:r>
              <a:rPr dirty="0" err="1"/>
              <a:t>마음대로</a:t>
            </a:r>
            <a:r>
              <a:rPr dirty="0"/>
              <a:t> </a:t>
            </a:r>
            <a:r>
              <a:rPr dirty="0" err="1"/>
              <a:t>늘리거나</a:t>
            </a:r>
            <a:r>
              <a:rPr dirty="0"/>
              <a:t> </a:t>
            </a:r>
            <a:r>
              <a:rPr dirty="0" err="1"/>
              <a:t>줄이기도</a:t>
            </a:r>
            <a:r>
              <a:rPr dirty="0"/>
              <a:t> </a:t>
            </a:r>
            <a:r>
              <a:rPr dirty="0" err="1"/>
              <a:t>어렵습니다</a:t>
            </a:r>
            <a:r>
              <a:rPr dirty="0"/>
              <a:t>.</a:t>
            </a:r>
          </a:p>
          <a:p>
            <a:r>
              <a:rPr dirty="0" err="1"/>
              <a:t>반면</a:t>
            </a:r>
            <a:r>
              <a:rPr dirty="0"/>
              <a:t> mA(</a:t>
            </a:r>
            <a:r>
              <a:rPr dirty="0" err="1"/>
              <a:t>관전류</a:t>
            </a:r>
            <a:r>
              <a:rPr dirty="0"/>
              <a:t>)는 </a:t>
            </a:r>
            <a:r>
              <a:rPr dirty="0" err="1"/>
              <a:t>X선의</a:t>
            </a:r>
            <a:r>
              <a:rPr dirty="0"/>
              <a:t> </a:t>
            </a:r>
            <a:r>
              <a:rPr dirty="0" err="1"/>
              <a:t>에너지</a:t>
            </a:r>
            <a:r>
              <a:rPr dirty="0"/>
              <a:t>(</a:t>
            </a:r>
            <a:r>
              <a:rPr dirty="0" err="1"/>
              <a:t>빔의</a:t>
            </a:r>
            <a:r>
              <a:rPr dirty="0"/>
              <a:t> 질)나 </a:t>
            </a:r>
            <a:r>
              <a:rPr dirty="0" err="1"/>
              <a:t>촬영</a:t>
            </a:r>
            <a:r>
              <a:rPr dirty="0"/>
              <a:t> </a:t>
            </a:r>
            <a:r>
              <a:rPr dirty="0" err="1"/>
              <a:t>속도는</a:t>
            </a:r>
            <a:r>
              <a:rPr dirty="0"/>
              <a:t> </a:t>
            </a:r>
            <a:r>
              <a:rPr dirty="0" err="1"/>
              <a:t>그대로</a:t>
            </a:r>
            <a:r>
              <a:rPr dirty="0"/>
              <a:t> 둔 </a:t>
            </a:r>
            <a:r>
              <a:rPr dirty="0" err="1"/>
              <a:t>채로</a:t>
            </a:r>
            <a:r>
              <a:rPr dirty="0"/>
              <a:t>, </a:t>
            </a:r>
            <a:r>
              <a:rPr dirty="0" err="1"/>
              <a:t>그냥</a:t>
            </a:r>
            <a:r>
              <a:rPr dirty="0"/>
              <a:t> '</a:t>
            </a:r>
            <a:r>
              <a:rPr dirty="0" err="1"/>
              <a:t>X선을</a:t>
            </a:r>
            <a:r>
              <a:rPr dirty="0"/>
              <a:t> </a:t>
            </a:r>
            <a:r>
              <a:rPr dirty="0" err="1"/>
              <a:t>얼마나</a:t>
            </a:r>
            <a:r>
              <a:rPr dirty="0"/>
              <a:t> </a:t>
            </a:r>
            <a:r>
              <a:rPr dirty="0" err="1"/>
              <a:t>많이</a:t>
            </a:r>
            <a:r>
              <a:rPr dirty="0"/>
              <a:t> </a:t>
            </a:r>
            <a:r>
              <a:rPr dirty="0" err="1"/>
              <a:t>쏠지'만</a:t>
            </a:r>
            <a:r>
              <a:rPr dirty="0"/>
              <a:t> </a:t>
            </a:r>
            <a:r>
              <a:rPr dirty="0" err="1"/>
              <a:t>조절하는</a:t>
            </a:r>
            <a:r>
              <a:rPr dirty="0"/>
              <a:t> </a:t>
            </a:r>
            <a:r>
              <a:rPr dirty="0" err="1"/>
              <a:t>값입니다</a:t>
            </a:r>
            <a:r>
              <a:rPr dirty="0"/>
              <a:t>. </a:t>
            </a:r>
            <a:r>
              <a:rPr dirty="0" err="1"/>
              <a:t>mA를</a:t>
            </a:r>
            <a:r>
              <a:rPr dirty="0"/>
              <a:t> 두 </a:t>
            </a:r>
            <a:r>
              <a:rPr dirty="0" err="1"/>
              <a:t>배로</a:t>
            </a:r>
            <a:r>
              <a:rPr dirty="0"/>
              <a:t> </a:t>
            </a:r>
            <a:r>
              <a:rPr dirty="0" err="1"/>
              <a:t>올리면</a:t>
            </a:r>
            <a:r>
              <a:rPr dirty="0"/>
              <a:t> </a:t>
            </a:r>
            <a:r>
              <a:rPr dirty="0" err="1"/>
              <a:t>대략</a:t>
            </a:r>
            <a:r>
              <a:rPr dirty="0"/>
              <a:t> </a:t>
            </a:r>
            <a:r>
              <a:rPr dirty="0" err="1"/>
              <a:t>선량도</a:t>
            </a:r>
            <a:r>
              <a:rPr dirty="0"/>
              <a:t> 두 </a:t>
            </a:r>
            <a:r>
              <a:rPr dirty="0" err="1"/>
              <a:t>배가</a:t>
            </a:r>
            <a:r>
              <a:rPr dirty="0"/>
              <a:t> </a:t>
            </a:r>
            <a:r>
              <a:rPr dirty="0" err="1"/>
              <a:t>되는</a:t>
            </a:r>
            <a:r>
              <a:rPr dirty="0"/>
              <a:t> </a:t>
            </a:r>
            <a:r>
              <a:rPr dirty="0" err="1"/>
              <a:t>식으로</a:t>
            </a:r>
            <a:r>
              <a:rPr dirty="0"/>
              <a:t>, </a:t>
            </a:r>
            <a:r>
              <a:rPr dirty="0" err="1"/>
              <a:t>다른</a:t>
            </a:r>
            <a:r>
              <a:rPr dirty="0"/>
              <a:t> </a:t>
            </a:r>
            <a:r>
              <a:rPr dirty="0" err="1"/>
              <a:t>특성을</a:t>
            </a:r>
            <a:r>
              <a:rPr dirty="0"/>
              <a:t> </a:t>
            </a:r>
            <a:r>
              <a:rPr dirty="0" err="1"/>
              <a:t>건드리지</a:t>
            </a:r>
            <a:r>
              <a:rPr dirty="0"/>
              <a:t> </a:t>
            </a:r>
            <a:r>
              <a:rPr dirty="0" err="1"/>
              <a:t>않고</a:t>
            </a:r>
            <a:r>
              <a:rPr dirty="0"/>
              <a:t> </a:t>
            </a:r>
            <a:r>
              <a:rPr dirty="0" err="1"/>
              <a:t>노이즈</a:t>
            </a:r>
            <a:r>
              <a:rPr dirty="0"/>
              <a:t>(</a:t>
            </a:r>
            <a:r>
              <a:rPr dirty="0" err="1"/>
              <a:t>화질</a:t>
            </a:r>
            <a:r>
              <a:rPr dirty="0"/>
              <a:t>)만 </a:t>
            </a:r>
            <a:r>
              <a:rPr dirty="0" err="1"/>
              <a:t>선형적으로</a:t>
            </a:r>
            <a:r>
              <a:rPr dirty="0"/>
              <a:t> </a:t>
            </a:r>
            <a:r>
              <a:rPr dirty="0" err="1"/>
              <a:t>조절할</a:t>
            </a:r>
            <a:r>
              <a:rPr dirty="0"/>
              <a:t> 수 </a:t>
            </a:r>
            <a:r>
              <a:rPr dirty="0" err="1"/>
              <a:t>있는</a:t>
            </a:r>
            <a:r>
              <a:rPr dirty="0"/>
              <a:t> </a:t>
            </a:r>
            <a:r>
              <a:rPr dirty="0" err="1"/>
              <a:t>셈이죠</a:t>
            </a:r>
            <a:r>
              <a:rPr dirty="0"/>
              <a:t>. </a:t>
            </a:r>
            <a:r>
              <a:rPr dirty="0" err="1"/>
              <a:t>그래서</a:t>
            </a:r>
            <a:r>
              <a:rPr dirty="0"/>
              <a:t> </a:t>
            </a:r>
            <a:r>
              <a:rPr dirty="0" err="1"/>
              <a:t>모든</a:t>
            </a:r>
            <a:r>
              <a:rPr dirty="0"/>
              <a:t> </a:t>
            </a:r>
            <a:r>
              <a:rPr dirty="0" err="1"/>
              <a:t>제조사</a:t>
            </a:r>
            <a:r>
              <a:rPr dirty="0"/>
              <a:t>(GE Auto mA, Siemens CARE Dose, Philips Z-DOM, Toshiba </a:t>
            </a:r>
            <a:r>
              <a:rPr dirty="0" err="1"/>
              <a:t>SureExposure</a:t>
            </a:r>
            <a:r>
              <a:rPr dirty="0"/>
              <a:t> 등)의 AEC </a:t>
            </a:r>
            <a:r>
              <a:rPr dirty="0" err="1"/>
              <a:t>기능은</a:t>
            </a:r>
            <a:r>
              <a:rPr dirty="0"/>
              <a:t> </a:t>
            </a:r>
            <a:r>
              <a:rPr dirty="0" err="1"/>
              <a:t>전부</a:t>
            </a:r>
            <a:r>
              <a:rPr dirty="0"/>
              <a:t> </a:t>
            </a:r>
            <a:r>
              <a:rPr dirty="0" err="1"/>
              <a:t>kVp나</a:t>
            </a:r>
            <a:r>
              <a:rPr dirty="0"/>
              <a:t> </a:t>
            </a:r>
            <a:r>
              <a:rPr dirty="0" err="1"/>
              <a:t>시간이</a:t>
            </a:r>
            <a:r>
              <a:rPr dirty="0"/>
              <a:t> </a:t>
            </a:r>
            <a:r>
              <a:rPr dirty="0" err="1"/>
              <a:t>아니라</a:t>
            </a:r>
            <a:r>
              <a:rPr dirty="0"/>
              <a:t> </a:t>
            </a:r>
            <a:r>
              <a:rPr dirty="0" err="1"/>
              <a:t>mA를</a:t>
            </a:r>
            <a:r>
              <a:rPr dirty="0"/>
              <a:t> </a:t>
            </a:r>
            <a:r>
              <a:rPr dirty="0" err="1"/>
              <a:t>바꾸는</a:t>
            </a:r>
            <a:r>
              <a:rPr dirty="0"/>
              <a:t> </a:t>
            </a:r>
            <a:r>
              <a:rPr dirty="0" err="1"/>
              <a:t>방식을</a:t>
            </a:r>
            <a:r>
              <a:rPr dirty="0"/>
              <a:t> </a:t>
            </a:r>
            <a:r>
              <a:rPr dirty="0" err="1"/>
              <a:t>씁니다</a:t>
            </a:r>
            <a:r>
              <a:rPr dirty="0"/>
              <a:t>.</a:t>
            </a:r>
          </a:p>
          <a:p>
            <a:r>
              <a:rPr dirty="0"/>
              <a:t>이 </a:t>
            </a:r>
            <a:r>
              <a:rPr dirty="0" err="1"/>
              <a:t>점은</a:t>
            </a:r>
            <a:r>
              <a:rPr dirty="0"/>
              <a:t> 이 </a:t>
            </a:r>
            <a:r>
              <a:rPr dirty="0" err="1"/>
              <a:t>연구에서도</a:t>
            </a:r>
            <a:r>
              <a:rPr dirty="0"/>
              <a:t> </a:t>
            </a:r>
            <a:r>
              <a:rPr dirty="0" err="1"/>
              <a:t>중요합니다</a:t>
            </a:r>
            <a:r>
              <a:rPr dirty="0"/>
              <a:t>. </a:t>
            </a:r>
            <a:r>
              <a:rPr dirty="0" err="1"/>
              <a:t>포함</a:t>
            </a:r>
            <a:r>
              <a:rPr dirty="0"/>
              <a:t> </a:t>
            </a:r>
            <a:r>
              <a:rPr dirty="0" err="1"/>
              <a:t>기준상</a:t>
            </a:r>
            <a:r>
              <a:rPr dirty="0"/>
              <a:t> </a:t>
            </a:r>
            <a:r>
              <a:rPr dirty="0" err="1"/>
              <a:t>모든</a:t>
            </a:r>
            <a:r>
              <a:rPr dirty="0"/>
              <a:t> </a:t>
            </a:r>
            <a:r>
              <a:rPr dirty="0" err="1"/>
              <a:t>환자가</a:t>
            </a:r>
            <a:r>
              <a:rPr dirty="0"/>
              <a:t> 100 </a:t>
            </a:r>
            <a:r>
              <a:rPr dirty="0" err="1"/>
              <a:t>kVp로</a:t>
            </a:r>
            <a:r>
              <a:rPr dirty="0"/>
              <a:t> </a:t>
            </a:r>
            <a:r>
              <a:rPr dirty="0" err="1"/>
              <a:t>고정</a:t>
            </a:r>
            <a:r>
              <a:rPr dirty="0"/>
              <a:t> </a:t>
            </a:r>
            <a:r>
              <a:rPr dirty="0" err="1"/>
              <a:t>촬영되었기</a:t>
            </a:r>
            <a:r>
              <a:rPr dirty="0"/>
              <a:t> </a:t>
            </a:r>
            <a:r>
              <a:rPr dirty="0" err="1"/>
              <a:t>때문에</a:t>
            </a:r>
            <a:r>
              <a:rPr dirty="0"/>
              <a:t>, </a:t>
            </a:r>
            <a:r>
              <a:rPr dirty="0" err="1"/>
              <a:t>환자</a:t>
            </a:r>
            <a:r>
              <a:rPr dirty="0"/>
              <a:t> </a:t>
            </a:r>
            <a:r>
              <a:rPr dirty="0" err="1"/>
              <a:t>사이에</a:t>
            </a:r>
            <a:r>
              <a:rPr dirty="0"/>
              <a:t> </a:t>
            </a:r>
            <a:r>
              <a:rPr dirty="0" err="1"/>
              <a:t>실제로</a:t>
            </a:r>
            <a:r>
              <a:rPr dirty="0"/>
              <a:t> </a:t>
            </a:r>
            <a:r>
              <a:rPr dirty="0" err="1"/>
              <a:t>달라지는</a:t>
            </a:r>
            <a:r>
              <a:rPr dirty="0"/>
              <a:t> </a:t>
            </a:r>
            <a:r>
              <a:rPr dirty="0" err="1"/>
              <a:t>촬영</a:t>
            </a:r>
            <a:r>
              <a:rPr dirty="0"/>
              <a:t> </a:t>
            </a:r>
            <a:r>
              <a:rPr dirty="0" err="1"/>
              <a:t>변수는</a:t>
            </a:r>
            <a:r>
              <a:rPr dirty="0"/>
              <a:t> </a:t>
            </a:r>
            <a:r>
              <a:rPr dirty="0" err="1"/>
              <a:t>사실상</a:t>
            </a:r>
            <a:r>
              <a:rPr dirty="0"/>
              <a:t> mA </a:t>
            </a:r>
            <a:r>
              <a:rPr dirty="0" err="1"/>
              <a:t>하나뿐입니다</a:t>
            </a:r>
            <a:r>
              <a:rPr dirty="0"/>
              <a:t>. 즉 AEC </a:t>
            </a:r>
            <a:r>
              <a:rPr dirty="0" err="1"/>
              <a:t>곡선의</a:t>
            </a:r>
            <a:r>
              <a:rPr dirty="0"/>
              <a:t> </a:t>
            </a:r>
            <a:r>
              <a:rPr dirty="0" err="1"/>
              <a:t>모양</a:t>
            </a:r>
            <a:r>
              <a:rPr dirty="0"/>
              <a:t> </a:t>
            </a:r>
            <a:r>
              <a:rPr dirty="0" err="1"/>
              <a:t>차이는</a:t>
            </a:r>
            <a:r>
              <a:rPr dirty="0"/>
              <a:t> </a:t>
            </a:r>
            <a:r>
              <a:rPr dirty="0" err="1"/>
              <a:t>다른</a:t>
            </a:r>
            <a:r>
              <a:rPr dirty="0"/>
              <a:t> </a:t>
            </a:r>
            <a:r>
              <a:rPr dirty="0" err="1"/>
              <a:t>촬영</a:t>
            </a:r>
            <a:r>
              <a:rPr dirty="0"/>
              <a:t> </a:t>
            </a:r>
            <a:r>
              <a:rPr dirty="0" err="1"/>
              <a:t>설정</a:t>
            </a:r>
            <a:r>
              <a:rPr dirty="0"/>
              <a:t> </a:t>
            </a:r>
            <a:r>
              <a:rPr dirty="0" err="1"/>
              <a:t>차이가</a:t>
            </a:r>
            <a:r>
              <a:rPr dirty="0"/>
              <a:t> </a:t>
            </a:r>
            <a:r>
              <a:rPr dirty="0" err="1"/>
              <a:t>섞이지</a:t>
            </a:r>
            <a:r>
              <a:rPr dirty="0"/>
              <a:t> </a:t>
            </a:r>
            <a:r>
              <a:rPr dirty="0" err="1"/>
              <a:t>않은</a:t>
            </a:r>
            <a:r>
              <a:rPr dirty="0"/>
              <a:t>, </a:t>
            </a:r>
            <a:r>
              <a:rPr dirty="0" err="1"/>
              <a:t>순수하게</a:t>
            </a:r>
            <a:r>
              <a:rPr dirty="0"/>
              <a:t> </a:t>
            </a:r>
            <a:r>
              <a:rPr dirty="0" err="1"/>
              <a:t>체형</a:t>
            </a:r>
            <a:r>
              <a:rPr dirty="0"/>
              <a:t>(</a:t>
            </a:r>
            <a:r>
              <a:rPr dirty="0" err="1"/>
              <a:t>몸의</a:t>
            </a:r>
            <a:r>
              <a:rPr dirty="0"/>
              <a:t> </a:t>
            </a:r>
            <a:r>
              <a:rPr dirty="0" err="1"/>
              <a:t>두께·조성</a:t>
            </a:r>
            <a:r>
              <a:rPr dirty="0"/>
              <a:t>) </a:t>
            </a:r>
            <a:r>
              <a:rPr dirty="0" err="1"/>
              <a:t>차이만</a:t>
            </a:r>
            <a:r>
              <a:rPr dirty="0"/>
              <a:t> </a:t>
            </a:r>
            <a:r>
              <a:rPr dirty="0" err="1"/>
              <a:t>반영한</a:t>
            </a:r>
            <a:r>
              <a:rPr dirty="0"/>
              <a:t> </a:t>
            </a:r>
            <a:r>
              <a:rPr dirty="0" err="1"/>
              <a:t>신호라고</a:t>
            </a:r>
            <a:r>
              <a:rPr dirty="0"/>
              <a:t> 볼 수 </a:t>
            </a:r>
            <a:r>
              <a:rPr dirty="0" err="1"/>
              <a:t>있습니다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84E0C6-E009-84BD-B7DD-432EE1EB3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CEAD00-26D2-245F-2EC9-6BE8EC4110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A6B45F-A338-D4D9-6B48-BD5117F4A5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AEC-128 곡선은 128개의 숫자로 이루어져 있는데, 이 숫자들은 서로 완전히 독립적이지 않습니다. 바로 옆 지점끼리는 값이 비슷하게 움직이는 경향이 강해서(마치 날씨가 오늘과 내일이 비슷하듯), 이 128개를 그대로 128개의 독립된 변수처럼 통계 모델에 집어넣으면 변수끼리 서로 겹치는 정보가 너무 많아지고(다중공선성), 실제로는 의미 없는 우연한 잡음까지 모델이 학습해버리는 과적합 문제가 생기기 쉽습니다.</a:t>
            </a:r>
            <a:endParaRPr dirty="0"/>
          </a:p>
          <a:p>
            <a:r>
              <a:t>FPCA(함수주성분분석)는 이 문제를 '곡선의 핵심 패턴만 추려서 요약'하는 방식으로 해결합니다. 여러 환자의 곡선을 모아 놓고 보면, 사실 그 다양한 모양들이 무한히 제각각인 게 아니라 몇 가지 대표적인 '변형 패턴'의 조합으로 대부분 설명이 됩니다. FPCA는 바로 이 대표 패턴들(성분, PC)을 찾아내고, 각 환자의 곡선이 그 패턴을 얼마나 강하게 가지고 있는지를 숫자(성분점수) 하나로 표현합니다.</a:t>
            </a:r>
          </a:p>
          <a:p>
            <a:r>
              <a:t>그 결과 환자 한 명당 128개였던 숫자가 PC1, PC2, PC3라는 단 3개의 숫자로 압축되고, 이 3개만으로도 원래 곡선이 가진 정보(변동)의 97.4%를 유지할 수 있습니다. 이 97.4%라는 수치가 어떻게 계산되는지, 그리고 실제 데이터에서 이 성분들이 어떤 모양으로 나오는지는 다음 슬라이드들에서 순서대로 보여드립니다.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147019-F509-400D-68CB-B5203D499A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92420717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이 계산 과정을 아주 쉬운 말로 순서대로 설명하면 이렇습니다.</a:t>
            </a:r>
          </a:p>
          <a:p>
            <a:r>
              <a:t>1단계, 먼저 내부 코호트에 있는 모든 환자의 곡선을 다 더해서 평균을 냅니다. 그러면 '평균적으로 이런 모양이다'라는 평균곡선 하나가 나옵니다.</a:t>
            </a:r>
          </a:p>
          <a:p>
            <a:r>
              <a:t>2단계, 각 환자의 원래 곡선에서 방금 구한 평균곡선을 빼줍니다. 그러면 남는 건 '이 환자가 평균과 비교해서 어디가 더 튀어나오고 어디가 더 들어갔는지'를 나타내는, 그 환자만의 고유한 편차 부분입니다.</a:t>
            </a:r>
          </a:p>
          <a:p>
            <a:r>
              <a:t>3단계가 핵심인데, 이렇게 구한 모든 환자의 '튀는 부분'들을 서로 비교해서, 여러 환자들 사이에서 공통적으로 함께 나타나는 튀는 패턴이 무엇인지를 찾아냅니다. 이걸 수학적으로는 128×128 공분산행렬을 고유분해(eigen-decomposition)한다고 표현하는데, 쉽게 말하면 '가장 많은 환자들에게서 가장 크게 나타나는 패턴 1등(PC1), 그다음으로 크게 나타나는 패턴 2등(PC2), 3등(PC3)...' 순서로 패턴을 뽑아내는 작업입니다. 이때 각 패턴이 전체 변동 중 몇 %를 차지하는지도 함께 계산되는데, 이 %가 바로 우리가 본 84.3%, 10.5%, 2.6% 같은 숫자입니다.</a:t>
            </a:r>
          </a:p>
          <a:p>
            <a:r>
              <a:t>4단계, 이제 각 환자의 튀는 부분이 방금 찾은 패턴들과 얼마나 닮았는지를 계산합니다(수학적으로는 내적/투영이라고 부릅니다). 많이 닮았으면 큰 점수, 반대 모양이면 음수, 별로 안 닮았으면 0에 가까운 점수가 나옵니다. 이렇게 나온 숫자 3개(PC1, PC2, PC3 점수)가 원래 128개의 숫자를 대신하게 됩니다.</a:t>
            </a:r>
          </a:p>
          <a:p>
            <a:r>
              <a:t>마지막으로, 이 패턴(φ_k) 자체는 내부 코호트로만 찾아내고 고정합니다. 외부 코호트(신촌) 환자의 곡선은 이 패턴을 다시 새로 찾지 않고, 이미 고정된 패턴에 그대로 투영만 해서 점수를 계산합니다. 이렇게 해야 두 코호트의 점수가 같은 기준으로 비교 가능해집니다.</a:t>
            </a:r>
          </a:p>
          <a:p>
            <a:r>
              <a:t>참고로 실제 구현(scikit-learn의 PCA)은 공분산행렬을 직접 고유분해하는 대신 특이값분해(SVD)라는 수학적으로 동등하지만 더 안정적인 방식으로 같은 결과를 계산합니다.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이 </a:t>
            </a:r>
            <a:r>
              <a:rPr dirty="0" err="1"/>
              <a:t>그림은</a:t>
            </a:r>
            <a:r>
              <a:rPr dirty="0"/>
              <a:t> </a:t>
            </a:r>
            <a:r>
              <a:rPr dirty="0" err="1"/>
              <a:t>실제</a:t>
            </a:r>
            <a:r>
              <a:rPr dirty="0"/>
              <a:t> </a:t>
            </a:r>
            <a:r>
              <a:rPr dirty="0" err="1"/>
              <a:t>환자</a:t>
            </a:r>
            <a:r>
              <a:rPr dirty="0"/>
              <a:t> 1명(</a:t>
            </a:r>
            <a:r>
              <a:rPr dirty="0" err="1"/>
              <a:t>개인식별정보는</a:t>
            </a:r>
            <a:r>
              <a:rPr dirty="0"/>
              <a:t> </a:t>
            </a:r>
            <a:r>
              <a:rPr dirty="0" err="1"/>
              <a:t>제거하고</a:t>
            </a:r>
            <a:r>
              <a:rPr dirty="0"/>
              <a:t> </a:t>
            </a:r>
            <a:r>
              <a:rPr dirty="0" err="1"/>
              <a:t>익명</a:t>
            </a:r>
            <a:r>
              <a:rPr dirty="0"/>
              <a:t> </a:t>
            </a:r>
            <a:r>
              <a:rPr dirty="0" err="1"/>
              <a:t>사례로</a:t>
            </a:r>
            <a:r>
              <a:rPr dirty="0"/>
              <a:t> </a:t>
            </a:r>
            <a:r>
              <a:rPr dirty="0" err="1"/>
              <a:t>표시</a:t>
            </a:r>
            <a:r>
              <a:rPr dirty="0"/>
              <a:t>)의 AEC-128 </a:t>
            </a:r>
            <a:r>
              <a:rPr dirty="0" err="1"/>
              <a:t>곡선이</a:t>
            </a:r>
            <a:r>
              <a:rPr dirty="0"/>
              <a:t> </a:t>
            </a:r>
            <a:r>
              <a:rPr dirty="0" err="1"/>
              <a:t>어떻게</a:t>
            </a:r>
            <a:r>
              <a:rPr dirty="0"/>
              <a:t> '</a:t>
            </a:r>
            <a:r>
              <a:rPr dirty="0" err="1"/>
              <a:t>평균곡선</a:t>
            </a:r>
            <a:r>
              <a:rPr dirty="0"/>
              <a:t> + </a:t>
            </a:r>
            <a:r>
              <a:rPr dirty="0" err="1"/>
              <a:t>성분</a:t>
            </a:r>
            <a:r>
              <a:rPr dirty="0"/>
              <a:t>(PC) 3개'로 </a:t>
            </a:r>
            <a:r>
              <a:rPr dirty="0" err="1"/>
              <a:t>정확하게</a:t>
            </a:r>
            <a:r>
              <a:rPr dirty="0"/>
              <a:t> </a:t>
            </a:r>
            <a:r>
              <a:rPr dirty="0" err="1"/>
              <a:t>다시</a:t>
            </a:r>
            <a:r>
              <a:rPr dirty="0"/>
              <a:t> </a:t>
            </a:r>
            <a:r>
              <a:rPr dirty="0" err="1"/>
              <a:t>만들어지는지를</a:t>
            </a:r>
            <a:r>
              <a:rPr dirty="0"/>
              <a:t> </a:t>
            </a:r>
            <a:r>
              <a:rPr dirty="0" err="1"/>
              <a:t>보여줍니다</a:t>
            </a:r>
            <a:r>
              <a:rPr dirty="0"/>
              <a:t>. 이 </a:t>
            </a:r>
            <a:r>
              <a:rPr dirty="0" err="1"/>
              <a:t>환자는</a:t>
            </a:r>
            <a:r>
              <a:rPr dirty="0"/>
              <a:t> 세 </a:t>
            </a:r>
            <a:r>
              <a:rPr dirty="0" err="1"/>
              <a:t>성분</a:t>
            </a:r>
            <a:r>
              <a:rPr dirty="0"/>
              <a:t>(PC1, PC2, PC3) </a:t>
            </a:r>
            <a:r>
              <a:rPr dirty="0" err="1"/>
              <a:t>점수가</a:t>
            </a:r>
            <a:r>
              <a:rPr dirty="0"/>
              <a:t> </a:t>
            </a:r>
            <a:r>
              <a:rPr dirty="0" err="1"/>
              <a:t>모두</a:t>
            </a:r>
            <a:r>
              <a:rPr dirty="0"/>
              <a:t> </a:t>
            </a:r>
            <a:r>
              <a:rPr dirty="0" err="1"/>
              <a:t>뚜렷하게</a:t>
            </a:r>
            <a:r>
              <a:rPr dirty="0"/>
              <a:t> </a:t>
            </a:r>
            <a:r>
              <a:rPr dirty="0" err="1"/>
              <a:t>크면서도</a:t>
            </a:r>
            <a:r>
              <a:rPr dirty="0"/>
              <a:t> </a:t>
            </a:r>
            <a:r>
              <a:rPr dirty="0" err="1"/>
              <a:t>재구성</a:t>
            </a:r>
            <a:r>
              <a:rPr dirty="0"/>
              <a:t> </a:t>
            </a:r>
            <a:r>
              <a:rPr dirty="0" err="1"/>
              <a:t>품질</a:t>
            </a:r>
            <a:r>
              <a:rPr dirty="0"/>
              <a:t>(R²)이 </a:t>
            </a:r>
            <a:r>
              <a:rPr dirty="0" err="1"/>
              <a:t>상위</a:t>
            </a:r>
            <a:r>
              <a:rPr dirty="0"/>
              <a:t> 25% </a:t>
            </a:r>
            <a:r>
              <a:rPr dirty="0" err="1"/>
              <a:t>안에</a:t>
            </a:r>
            <a:r>
              <a:rPr dirty="0"/>
              <a:t> </a:t>
            </a:r>
            <a:r>
              <a:rPr dirty="0" err="1"/>
              <a:t>드는</a:t>
            </a:r>
            <a:r>
              <a:rPr dirty="0"/>
              <a:t> </a:t>
            </a:r>
            <a:r>
              <a:rPr dirty="0" err="1"/>
              <a:t>환자를</a:t>
            </a:r>
            <a:r>
              <a:rPr dirty="0"/>
              <a:t> </a:t>
            </a:r>
            <a:r>
              <a:rPr dirty="0" err="1"/>
              <a:t>골라</a:t>
            </a:r>
            <a:r>
              <a:rPr dirty="0"/>
              <a:t> 세 항 </a:t>
            </a:r>
            <a:r>
              <a:rPr dirty="0" err="1"/>
              <a:t>모두가</a:t>
            </a:r>
            <a:r>
              <a:rPr dirty="0"/>
              <a:t> </a:t>
            </a:r>
            <a:r>
              <a:rPr dirty="0" err="1"/>
              <a:t>눈에</a:t>
            </a:r>
            <a:r>
              <a:rPr dirty="0"/>
              <a:t> 잘 </a:t>
            </a:r>
            <a:r>
              <a:rPr dirty="0" err="1"/>
              <a:t>보이도록</a:t>
            </a:r>
            <a:r>
              <a:rPr dirty="0"/>
              <a:t> </a:t>
            </a:r>
            <a:r>
              <a:rPr dirty="0" err="1"/>
              <a:t>선택했습니다</a:t>
            </a:r>
            <a:r>
              <a:rPr dirty="0"/>
              <a:t> (</a:t>
            </a:r>
            <a:r>
              <a:rPr dirty="0" err="1"/>
              <a:t>극단적인</a:t>
            </a:r>
            <a:r>
              <a:rPr dirty="0"/>
              <a:t> </a:t>
            </a:r>
            <a:r>
              <a:rPr dirty="0" err="1"/>
              <a:t>이상치가</a:t>
            </a:r>
            <a:r>
              <a:rPr dirty="0"/>
              <a:t> </a:t>
            </a:r>
            <a:r>
              <a:rPr dirty="0" err="1"/>
              <a:t>아니라</a:t>
            </a:r>
            <a:r>
              <a:rPr dirty="0"/>
              <a:t>, 세 </a:t>
            </a:r>
            <a:r>
              <a:rPr dirty="0" err="1"/>
              <a:t>패턴이</a:t>
            </a:r>
            <a:r>
              <a:rPr dirty="0"/>
              <a:t> </a:t>
            </a:r>
            <a:r>
              <a:rPr dirty="0" err="1"/>
              <a:t>골고루</a:t>
            </a:r>
            <a:r>
              <a:rPr dirty="0"/>
              <a:t> </a:t>
            </a:r>
            <a:r>
              <a:rPr dirty="0" err="1"/>
              <a:t>섞여</a:t>
            </a:r>
            <a:r>
              <a:rPr dirty="0"/>
              <a:t> </a:t>
            </a:r>
            <a:r>
              <a:rPr dirty="0" err="1"/>
              <a:t>나타나는</a:t>
            </a:r>
            <a:r>
              <a:rPr dirty="0"/>
              <a:t> </a:t>
            </a:r>
            <a:r>
              <a:rPr dirty="0" err="1"/>
              <a:t>대표적인</a:t>
            </a:r>
            <a:r>
              <a:rPr dirty="0"/>
              <a:t> </a:t>
            </a:r>
            <a:r>
              <a:rPr dirty="0" err="1"/>
              <a:t>사례</a:t>
            </a:r>
            <a:r>
              <a:rPr dirty="0"/>
              <a:t>).</a:t>
            </a:r>
          </a:p>
          <a:p>
            <a:endParaRPr dirty="0"/>
          </a:p>
          <a:p>
            <a:r>
              <a:rPr dirty="0"/>
              <a:t>맨 </a:t>
            </a:r>
            <a:r>
              <a:rPr dirty="0" err="1"/>
              <a:t>왼쪽이</a:t>
            </a:r>
            <a:r>
              <a:rPr dirty="0"/>
              <a:t> 이 </a:t>
            </a:r>
            <a:r>
              <a:rPr dirty="0" err="1"/>
              <a:t>환자의</a:t>
            </a:r>
            <a:r>
              <a:rPr dirty="0"/>
              <a:t> </a:t>
            </a:r>
            <a:r>
              <a:rPr dirty="0" err="1"/>
              <a:t>실제</a:t>
            </a:r>
            <a:r>
              <a:rPr dirty="0"/>
              <a:t> </a:t>
            </a:r>
            <a:r>
              <a:rPr dirty="0" err="1"/>
              <a:t>원본</a:t>
            </a:r>
            <a:r>
              <a:rPr dirty="0"/>
              <a:t> </a:t>
            </a:r>
            <a:r>
              <a:rPr dirty="0" err="1"/>
              <a:t>곡선</a:t>
            </a:r>
            <a:r>
              <a:rPr dirty="0"/>
              <a:t>(128개 값)</a:t>
            </a:r>
            <a:r>
              <a:rPr dirty="0" err="1"/>
              <a:t>입니다</a:t>
            </a:r>
            <a:r>
              <a:rPr dirty="0"/>
              <a:t>. </a:t>
            </a:r>
            <a:r>
              <a:rPr dirty="0" err="1"/>
              <a:t>이것이</a:t>
            </a:r>
            <a:r>
              <a:rPr dirty="0"/>
              <a:t> '</a:t>
            </a:r>
            <a:r>
              <a:rPr dirty="0" err="1"/>
              <a:t>평균곡선'과</a:t>
            </a:r>
            <a:r>
              <a:rPr dirty="0"/>
              <a:t> '</a:t>
            </a:r>
            <a:r>
              <a:rPr dirty="0" err="1"/>
              <a:t>성분×점수</a:t>
            </a:r>
            <a:r>
              <a:rPr dirty="0"/>
              <a:t>' 세 </a:t>
            </a:r>
            <a:r>
              <a:rPr dirty="0" err="1"/>
              <a:t>개를</a:t>
            </a:r>
            <a:r>
              <a:rPr dirty="0"/>
              <a:t> </a:t>
            </a:r>
            <a:r>
              <a:rPr dirty="0" err="1"/>
              <a:t>모두</a:t>
            </a:r>
            <a:r>
              <a:rPr dirty="0"/>
              <a:t> </a:t>
            </a:r>
            <a:r>
              <a:rPr dirty="0" err="1"/>
              <a:t>더한</a:t>
            </a:r>
            <a:r>
              <a:rPr dirty="0"/>
              <a:t> </a:t>
            </a:r>
            <a:r>
              <a:rPr dirty="0" err="1"/>
              <a:t>것과</a:t>
            </a:r>
            <a:r>
              <a:rPr dirty="0"/>
              <a:t> </a:t>
            </a:r>
            <a:r>
              <a:rPr dirty="0" err="1"/>
              <a:t>같다</a:t>
            </a:r>
            <a:r>
              <a:rPr dirty="0"/>
              <a:t>(=)는 걸 </a:t>
            </a:r>
            <a:r>
              <a:rPr dirty="0" err="1"/>
              <a:t>보여주는</a:t>
            </a:r>
            <a:r>
              <a:rPr dirty="0"/>
              <a:t> </a:t>
            </a:r>
            <a:r>
              <a:rPr dirty="0" err="1"/>
              <a:t>것이</a:t>
            </a:r>
            <a:r>
              <a:rPr dirty="0"/>
              <a:t> 이 </a:t>
            </a:r>
            <a:r>
              <a:rPr dirty="0" err="1"/>
              <a:t>그림의</a:t>
            </a:r>
            <a:r>
              <a:rPr dirty="0"/>
              <a:t> </a:t>
            </a:r>
            <a:r>
              <a:rPr dirty="0" err="1"/>
              <a:t>핵심입니다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두 </a:t>
            </a:r>
            <a:r>
              <a:rPr dirty="0" err="1"/>
              <a:t>번째</a:t>
            </a:r>
            <a:r>
              <a:rPr dirty="0"/>
              <a:t> </a:t>
            </a:r>
            <a:r>
              <a:rPr dirty="0" err="1"/>
              <a:t>칸은</a:t>
            </a:r>
            <a:r>
              <a:rPr dirty="0"/>
              <a:t> </a:t>
            </a:r>
            <a:r>
              <a:rPr dirty="0" err="1"/>
              <a:t>평균곡선</a:t>
            </a:r>
            <a:r>
              <a:rPr dirty="0"/>
              <a:t>(</a:t>
            </a:r>
            <a:r>
              <a:rPr dirty="0" err="1"/>
              <a:t>내부</a:t>
            </a:r>
            <a:r>
              <a:rPr dirty="0"/>
              <a:t> </a:t>
            </a:r>
            <a:r>
              <a:rPr dirty="0" err="1"/>
              <a:t>코호트</a:t>
            </a:r>
            <a:r>
              <a:rPr dirty="0"/>
              <a:t> </a:t>
            </a:r>
            <a:r>
              <a:rPr dirty="0" err="1"/>
              <a:t>전체의</a:t>
            </a:r>
            <a:r>
              <a:rPr dirty="0"/>
              <a:t> </a:t>
            </a:r>
            <a:r>
              <a:rPr dirty="0" err="1"/>
              <a:t>평균</a:t>
            </a:r>
            <a:r>
              <a:rPr dirty="0"/>
              <a:t> </a:t>
            </a:r>
            <a:r>
              <a:rPr dirty="0" err="1"/>
              <a:t>모양</a:t>
            </a:r>
            <a:r>
              <a:rPr dirty="0"/>
              <a:t>)</a:t>
            </a:r>
            <a:r>
              <a:rPr dirty="0" err="1"/>
              <a:t>입니다</a:t>
            </a:r>
            <a:r>
              <a:rPr dirty="0"/>
              <a:t>. </a:t>
            </a:r>
            <a:r>
              <a:rPr dirty="0" err="1"/>
              <a:t>여기에</a:t>
            </a:r>
            <a:r>
              <a:rPr dirty="0"/>
              <a:t> </a:t>
            </a:r>
            <a:r>
              <a:rPr dirty="0" err="1"/>
              <a:t>오른쪽</a:t>
            </a:r>
            <a:r>
              <a:rPr dirty="0"/>
              <a:t> 세 </a:t>
            </a:r>
            <a:r>
              <a:rPr dirty="0" err="1"/>
              <a:t>칸을</a:t>
            </a:r>
            <a:r>
              <a:rPr dirty="0"/>
              <a:t> </a:t>
            </a:r>
            <a:r>
              <a:rPr dirty="0" err="1"/>
              <a:t>순서대로</a:t>
            </a:r>
            <a:r>
              <a:rPr dirty="0"/>
              <a:t> </a:t>
            </a:r>
            <a:r>
              <a:rPr dirty="0" err="1"/>
              <a:t>더해가면</a:t>
            </a:r>
            <a:r>
              <a:rPr dirty="0"/>
              <a:t> </a:t>
            </a:r>
            <a:r>
              <a:rPr dirty="0" err="1"/>
              <a:t>원본</a:t>
            </a:r>
            <a:r>
              <a:rPr dirty="0"/>
              <a:t> </a:t>
            </a:r>
            <a:r>
              <a:rPr dirty="0" err="1"/>
              <a:t>곡선이</a:t>
            </a:r>
            <a:r>
              <a:rPr dirty="0"/>
              <a:t> </a:t>
            </a:r>
            <a:r>
              <a:rPr dirty="0" err="1"/>
              <a:t>됩니다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세 </a:t>
            </a:r>
            <a:r>
              <a:rPr dirty="0" err="1"/>
              <a:t>번째</a:t>
            </a:r>
            <a:r>
              <a:rPr dirty="0"/>
              <a:t> </a:t>
            </a:r>
            <a:r>
              <a:rPr dirty="0" err="1"/>
              <a:t>칸부터는</a:t>
            </a:r>
            <a:r>
              <a:rPr dirty="0"/>
              <a:t> 'PC </a:t>
            </a:r>
            <a:r>
              <a:rPr dirty="0" err="1"/>
              <a:t>점수</a:t>
            </a:r>
            <a:r>
              <a:rPr dirty="0"/>
              <a:t> × 그 </a:t>
            </a:r>
            <a:r>
              <a:rPr dirty="0" err="1"/>
              <a:t>PC의</a:t>
            </a:r>
            <a:r>
              <a:rPr dirty="0"/>
              <a:t> </a:t>
            </a:r>
            <a:r>
              <a:rPr dirty="0" err="1"/>
              <a:t>성분모양</a:t>
            </a:r>
            <a:r>
              <a:rPr dirty="0"/>
              <a:t>(Shape)'</a:t>
            </a:r>
            <a:r>
              <a:rPr dirty="0" err="1"/>
              <a:t>입니다</a:t>
            </a:r>
            <a:r>
              <a:rPr dirty="0"/>
              <a:t>. Shape </a:t>
            </a:r>
            <a:r>
              <a:rPr dirty="0" err="1"/>
              <a:t>자체는</a:t>
            </a:r>
            <a:r>
              <a:rPr dirty="0"/>
              <a:t> </a:t>
            </a:r>
            <a:r>
              <a:rPr dirty="0" err="1"/>
              <a:t>모든</a:t>
            </a:r>
            <a:r>
              <a:rPr dirty="0"/>
              <a:t> </a:t>
            </a:r>
            <a:r>
              <a:rPr dirty="0" err="1"/>
              <a:t>환자에게</a:t>
            </a:r>
            <a:r>
              <a:rPr dirty="0"/>
              <a:t> </a:t>
            </a:r>
            <a:r>
              <a:rPr dirty="0" err="1"/>
              <a:t>공통인</a:t>
            </a:r>
            <a:r>
              <a:rPr dirty="0"/>
              <a:t> </a:t>
            </a:r>
            <a:r>
              <a:rPr dirty="0" err="1"/>
              <a:t>고정된</a:t>
            </a:r>
            <a:r>
              <a:rPr dirty="0"/>
              <a:t> </a:t>
            </a:r>
            <a:r>
              <a:rPr dirty="0" err="1"/>
              <a:t>패턴이고</a:t>
            </a:r>
            <a:r>
              <a:rPr dirty="0"/>
              <a:t>, </a:t>
            </a:r>
            <a:r>
              <a:rPr dirty="0" err="1"/>
              <a:t>환자마다</a:t>
            </a:r>
            <a:r>
              <a:rPr dirty="0"/>
              <a:t> </a:t>
            </a:r>
            <a:r>
              <a:rPr dirty="0" err="1"/>
              <a:t>다른</a:t>
            </a:r>
            <a:r>
              <a:rPr dirty="0"/>
              <a:t> 건 그 </a:t>
            </a:r>
            <a:r>
              <a:rPr dirty="0" err="1"/>
              <a:t>패턴을</a:t>
            </a:r>
            <a:r>
              <a:rPr dirty="0"/>
              <a:t> </a:t>
            </a:r>
            <a:r>
              <a:rPr dirty="0" err="1"/>
              <a:t>얼마나</a:t>
            </a:r>
            <a:r>
              <a:rPr dirty="0"/>
              <a:t> </a:t>
            </a:r>
            <a:r>
              <a:rPr dirty="0" err="1"/>
              <a:t>강하게</a:t>
            </a:r>
            <a:r>
              <a:rPr dirty="0"/>
              <a:t>(</a:t>
            </a:r>
            <a:r>
              <a:rPr dirty="0" err="1"/>
              <a:t>점수</a:t>
            </a:r>
            <a:r>
              <a:rPr dirty="0"/>
              <a:t>) </a:t>
            </a:r>
            <a:r>
              <a:rPr dirty="0" err="1"/>
              <a:t>곱해서</a:t>
            </a:r>
            <a:r>
              <a:rPr dirty="0"/>
              <a:t> </a:t>
            </a:r>
            <a:r>
              <a:rPr dirty="0" err="1"/>
              <a:t>쓰느냐입니다</a:t>
            </a:r>
            <a:r>
              <a:rPr dirty="0"/>
              <a:t>. 이 </a:t>
            </a:r>
            <a:r>
              <a:rPr dirty="0" err="1"/>
              <a:t>환자는</a:t>
            </a:r>
            <a:r>
              <a:rPr dirty="0"/>
              <a:t> PC1 </a:t>
            </a:r>
            <a:r>
              <a:rPr dirty="0" err="1"/>
              <a:t>점수가</a:t>
            </a:r>
            <a:r>
              <a:rPr dirty="0"/>
              <a:t> +1,318로 </a:t>
            </a:r>
            <a:r>
              <a:rPr dirty="0" err="1"/>
              <a:t>커서</a:t>
            </a:r>
            <a:r>
              <a:rPr dirty="0"/>
              <a:t> </a:t>
            </a:r>
            <a:r>
              <a:rPr dirty="0" err="1"/>
              <a:t>평균보다</a:t>
            </a:r>
            <a:r>
              <a:rPr dirty="0"/>
              <a:t> </a:t>
            </a:r>
            <a:r>
              <a:rPr dirty="0" err="1"/>
              <a:t>전체적으로</a:t>
            </a:r>
            <a:r>
              <a:rPr dirty="0"/>
              <a:t> </a:t>
            </a:r>
            <a:r>
              <a:rPr dirty="0" err="1"/>
              <a:t>훨씬</a:t>
            </a:r>
            <a:r>
              <a:rPr dirty="0"/>
              <a:t> </a:t>
            </a:r>
            <a:r>
              <a:rPr dirty="0" err="1"/>
              <a:t>높은</a:t>
            </a:r>
            <a:r>
              <a:rPr dirty="0"/>
              <a:t> </a:t>
            </a:r>
            <a:r>
              <a:rPr dirty="0" err="1"/>
              <a:t>관전류</a:t>
            </a:r>
            <a:r>
              <a:rPr dirty="0"/>
              <a:t> </a:t>
            </a:r>
            <a:r>
              <a:rPr dirty="0" err="1"/>
              <a:t>수준을</a:t>
            </a:r>
            <a:r>
              <a:rPr dirty="0"/>
              <a:t> </a:t>
            </a:r>
            <a:r>
              <a:rPr dirty="0" err="1"/>
              <a:t>갖고</a:t>
            </a:r>
            <a:r>
              <a:rPr dirty="0"/>
              <a:t>(</a:t>
            </a:r>
            <a:r>
              <a:rPr dirty="0" err="1"/>
              <a:t>실제로</a:t>
            </a:r>
            <a:r>
              <a:rPr dirty="0"/>
              <a:t> </a:t>
            </a:r>
            <a:r>
              <a:rPr dirty="0" err="1"/>
              <a:t>원본</a:t>
            </a:r>
            <a:r>
              <a:rPr dirty="0"/>
              <a:t> </a:t>
            </a:r>
            <a:r>
              <a:rPr dirty="0" err="1"/>
              <a:t>곡선을</a:t>
            </a:r>
            <a:r>
              <a:rPr dirty="0"/>
              <a:t> </a:t>
            </a:r>
            <a:r>
              <a:rPr dirty="0" err="1"/>
              <a:t>보면</a:t>
            </a:r>
            <a:r>
              <a:rPr dirty="0"/>
              <a:t> </a:t>
            </a:r>
            <a:r>
              <a:rPr dirty="0" err="1"/>
              <a:t>초반</a:t>
            </a:r>
            <a:r>
              <a:rPr dirty="0"/>
              <a:t> </a:t>
            </a:r>
            <a:r>
              <a:rPr dirty="0" err="1"/>
              <a:t>관전류가</a:t>
            </a:r>
            <a:r>
              <a:rPr dirty="0"/>
              <a:t> 600 </a:t>
            </a:r>
            <a:r>
              <a:rPr dirty="0" err="1"/>
              <a:t>부근까지</a:t>
            </a:r>
            <a:r>
              <a:rPr dirty="0"/>
              <a:t> </a:t>
            </a:r>
            <a:r>
              <a:rPr dirty="0" err="1"/>
              <a:t>올라감</a:t>
            </a:r>
            <a:r>
              <a:rPr dirty="0"/>
              <a:t>), PC2 </a:t>
            </a:r>
            <a:r>
              <a:rPr dirty="0" err="1"/>
              <a:t>점수도</a:t>
            </a:r>
            <a:r>
              <a:rPr dirty="0"/>
              <a:t> +1,175로 </a:t>
            </a:r>
            <a:r>
              <a:rPr dirty="0" err="1"/>
              <a:t>커서</a:t>
            </a:r>
            <a:r>
              <a:rPr dirty="0"/>
              <a:t> </a:t>
            </a:r>
            <a:r>
              <a:rPr dirty="0" err="1"/>
              <a:t>앞뒤</a:t>
            </a:r>
            <a:r>
              <a:rPr dirty="0"/>
              <a:t> </a:t>
            </a:r>
            <a:r>
              <a:rPr dirty="0" err="1"/>
              <a:t>대비가</a:t>
            </a:r>
            <a:r>
              <a:rPr dirty="0"/>
              <a:t> </a:t>
            </a:r>
            <a:r>
              <a:rPr dirty="0" err="1"/>
              <a:t>뚜렷하며</a:t>
            </a:r>
            <a:r>
              <a:rPr dirty="0"/>
              <a:t>, PC3 </a:t>
            </a:r>
            <a:r>
              <a:rPr dirty="0" err="1"/>
              <a:t>점수는</a:t>
            </a:r>
            <a:r>
              <a:rPr dirty="0"/>
              <a:t> -247로 </a:t>
            </a:r>
            <a:r>
              <a:rPr dirty="0" err="1"/>
              <a:t>상대적으로</a:t>
            </a:r>
            <a:r>
              <a:rPr dirty="0"/>
              <a:t> </a:t>
            </a:r>
            <a:r>
              <a:rPr dirty="0" err="1"/>
              <a:t>작지만</a:t>
            </a:r>
            <a:r>
              <a:rPr dirty="0"/>
              <a:t> </a:t>
            </a:r>
            <a:r>
              <a:rPr dirty="0" err="1"/>
              <a:t>중간</a:t>
            </a:r>
            <a:r>
              <a:rPr dirty="0"/>
              <a:t> </a:t>
            </a:r>
            <a:r>
              <a:rPr dirty="0" err="1"/>
              <a:t>구간의</a:t>
            </a:r>
            <a:r>
              <a:rPr dirty="0"/>
              <a:t> </a:t>
            </a:r>
            <a:r>
              <a:rPr dirty="0" err="1"/>
              <a:t>국소적인</a:t>
            </a:r>
            <a:r>
              <a:rPr dirty="0"/>
              <a:t> </a:t>
            </a:r>
            <a:r>
              <a:rPr dirty="0" err="1"/>
              <a:t>굴곡을</a:t>
            </a:r>
            <a:r>
              <a:rPr dirty="0"/>
              <a:t> </a:t>
            </a:r>
            <a:r>
              <a:rPr dirty="0" err="1"/>
              <a:t>미세</a:t>
            </a:r>
            <a:r>
              <a:rPr dirty="0"/>
              <a:t> </a:t>
            </a:r>
            <a:r>
              <a:rPr dirty="0" err="1"/>
              <a:t>조정합니다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이 세 </a:t>
            </a:r>
            <a:r>
              <a:rPr dirty="0" err="1"/>
              <a:t>항을</a:t>
            </a:r>
            <a:r>
              <a:rPr dirty="0"/>
              <a:t> </a:t>
            </a:r>
            <a:r>
              <a:rPr dirty="0" err="1"/>
              <a:t>모두</a:t>
            </a:r>
            <a:r>
              <a:rPr dirty="0"/>
              <a:t> </a:t>
            </a:r>
            <a:r>
              <a:rPr dirty="0" err="1"/>
              <a:t>더하면</a:t>
            </a:r>
            <a:r>
              <a:rPr dirty="0"/>
              <a:t> </a:t>
            </a:r>
            <a:r>
              <a:rPr dirty="0" err="1"/>
              <a:t>원본과</a:t>
            </a:r>
            <a:r>
              <a:rPr dirty="0"/>
              <a:t> R²=0.992(</a:t>
            </a:r>
            <a:r>
              <a:rPr dirty="0" err="1"/>
              <a:t>전체</a:t>
            </a:r>
            <a:r>
              <a:rPr dirty="0"/>
              <a:t> </a:t>
            </a:r>
            <a:r>
              <a:rPr dirty="0" err="1"/>
              <a:t>분산의</a:t>
            </a:r>
            <a:r>
              <a:rPr dirty="0"/>
              <a:t> 99.2%)</a:t>
            </a:r>
            <a:r>
              <a:rPr dirty="0" err="1"/>
              <a:t>만큼</a:t>
            </a:r>
            <a:r>
              <a:rPr dirty="0"/>
              <a:t> </a:t>
            </a:r>
            <a:r>
              <a:rPr dirty="0" err="1"/>
              <a:t>일치합니다</a:t>
            </a:r>
            <a:r>
              <a:rPr dirty="0"/>
              <a:t> — 3개의 </a:t>
            </a:r>
            <a:r>
              <a:rPr dirty="0" err="1"/>
              <a:t>숫자</a:t>
            </a:r>
            <a:r>
              <a:rPr dirty="0"/>
              <a:t>(PC1, PC2, PC3 </a:t>
            </a:r>
            <a:r>
              <a:rPr dirty="0" err="1"/>
              <a:t>점수</a:t>
            </a:r>
            <a:r>
              <a:rPr dirty="0"/>
              <a:t>)</a:t>
            </a:r>
            <a:r>
              <a:rPr dirty="0" err="1"/>
              <a:t>만으로</a:t>
            </a:r>
            <a:r>
              <a:rPr dirty="0"/>
              <a:t> 128개의 </a:t>
            </a:r>
            <a:r>
              <a:rPr dirty="0" err="1"/>
              <a:t>원래</a:t>
            </a:r>
            <a:r>
              <a:rPr dirty="0"/>
              <a:t> </a:t>
            </a:r>
            <a:r>
              <a:rPr dirty="0" err="1"/>
              <a:t>값을</a:t>
            </a:r>
            <a:r>
              <a:rPr dirty="0"/>
              <a:t> </a:t>
            </a:r>
            <a:r>
              <a:rPr dirty="0" err="1"/>
              <a:t>사실상</a:t>
            </a:r>
            <a:r>
              <a:rPr dirty="0"/>
              <a:t> </a:t>
            </a:r>
            <a:r>
              <a:rPr dirty="0" err="1"/>
              <a:t>그대로</a:t>
            </a:r>
            <a:r>
              <a:rPr dirty="0"/>
              <a:t> </a:t>
            </a:r>
            <a:r>
              <a:rPr dirty="0" err="1"/>
              <a:t>복원할</a:t>
            </a:r>
            <a:r>
              <a:rPr dirty="0"/>
              <a:t> 수 </a:t>
            </a:r>
            <a:r>
              <a:rPr dirty="0" err="1"/>
              <a:t>있다는</a:t>
            </a:r>
            <a:r>
              <a:rPr dirty="0"/>
              <a:t> 걸 </a:t>
            </a:r>
            <a:r>
              <a:rPr dirty="0" err="1"/>
              <a:t>실제</a:t>
            </a:r>
            <a:r>
              <a:rPr dirty="0"/>
              <a:t> </a:t>
            </a:r>
            <a:r>
              <a:rPr dirty="0" err="1"/>
              <a:t>환자</a:t>
            </a:r>
            <a:r>
              <a:rPr dirty="0"/>
              <a:t> </a:t>
            </a:r>
            <a:r>
              <a:rPr dirty="0" err="1"/>
              <a:t>데이터로</a:t>
            </a:r>
            <a:r>
              <a:rPr dirty="0"/>
              <a:t> </a:t>
            </a:r>
            <a:r>
              <a:rPr dirty="0" err="1"/>
              <a:t>확인한</a:t>
            </a:r>
            <a:r>
              <a:rPr dirty="0"/>
              <a:t> </a:t>
            </a:r>
            <a:r>
              <a:rPr dirty="0" err="1"/>
              <a:t>것입니다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관련</a:t>
            </a:r>
            <a:r>
              <a:rPr dirty="0"/>
              <a:t> </a:t>
            </a:r>
            <a:r>
              <a:rPr dirty="0" err="1"/>
              <a:t>자료</a:t>
            </a:r>
            <a:r>
              <a:rPr lang="en-US"/>
              <a:t>: </a:t>
            </a:r>
            <a:r>
              <a:t>https</a:t>
            </a:r>
            <a:r>
              <a:rPr dirty="0"/>
              <a:t>://claude.ai/code/artifact/0ef09b35-c770-4293-86ef-432523cb39d6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C8808-266C-9E3E-528C-8D04FB3C7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72FBC5-8566-5DEE-A16B-DDE96AFA492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0F9F1C-011C-ED42-AB20-5E246E1C52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컴포넌트 개수를 몇 개 쓸지 정할 때, 예측 성능(AUC 등)을 보고 정하면 그 성능 자체가 이미 선택 과정에 유리하게 최적화돼서 실제보다 좋아 보이는 착시가 생길 수 있습니다. 그래서 라벨(고혈압·당뇨·만성콩팥병 여부)은 전혀 보지 않고, AEC 곡선 자체가 몇 개의 패턴으로 얼마나 잘 요약되는지만으로 개수를 정하는 방법을 썼습니다. 패턴을 하나씩 늘릴 때마다 새로 설명되는 분산의 비율을 그래프로 그리면 처음엔 가파르게 떨어지다 어느 지점부터 완만해지는데, 이 '꺾이는 지점'을 elbow라고 부릅니다. 눈으로 봐서 대충 꺾이는 곳을 짚으면 사람마다 판단이 달라질 수 있어서, 그래프의 첫 점과 끝 점을 잇는 직선을 긋고 그 직선에서 가장 멀리 떨어진 점을 자동으로 찾는 방식(Kneedle 알고리즘)을 썼습니다.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F986B5-859E-7A2A-9102-3E36756FDB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0764734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여기부터는 부록입니다. STEP0 회귀 결과를 체성분 7종별로 더 자세히 뜯어본 진단 자료입니다.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2">
            <a:extLst>
              <a:ext uri="{FF2B5EF4-FFF2-40B4-BE49-F238E27FC236}">
                <a16:creationId xmlns:a16="http://schemas.microsoft.com/office/drawing/2014/main" id="{D279837B-A00B-4327-9AB8-97044CBDABA7}"/>
              </a:ext>
            </a:extLst>
          </p:cNvPr>
          <p:cNvPicPr/>
          <p:nvPr userDrawn="1"/>
        </p:nvPicPr>
        <p:blipFill rotWithShape="1">
          <a:blip r:embed="rId2"/>
          <a:stretch>
            <a:fillRect/>
          </a:stretch>
        </p:blipFill>
        <p:spPr>
          <a:xfrm>
            <a:off x="0" y="228731"/>
            <a:ext cx="12192000" cy="640053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B17CE84-3562-483D-8448-6A30899AF09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9699" b="22132"/>
          <a:stretch/>
        </p:blipFill>
        <p:spPr>
          <a:xfrm>
            <a:off x="3461866" y="5273477"/>
            <a:ext cx="4168803" cy="982769"/>
          </a:xfrm>
          <a:prstGeom prst="rect">
            <a:avLst/>
          </a:prstGeom>
        </p:spPr>
      </p:pic>
      <p:pic>
        <p:nvPicPr>
          <p:cNvPr id="8" name="object 4">
            <a:extLst>
              <a:ext uri="{FF2B5EF4-FFF2-40B4-BE49-F238E27FC236}">
                <a16:creationId xmlns:a16="http://schemas.microsoft.com/office/drawing/2014/main" id="{8EF8DD5B-0316-4193-BCC7-D6CFCAE8969D}"/>
              </a:ext>
            </a:extLst>
          </p:cNvPr>
          <p:cNvPicPr/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-277376" y="5274173"/>
            <a:ext cx="4550839" cy="992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578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>
            <a:extLst>
              <a:ext uri="{FF2B5EF4-FFF2-40B4-BE49-F238E27FC236}">
                <a16:creationId xmlns:a16="http://schemas.microsoft.com/office/drawing/2014/main" id="{5EC22856-02EF-4559-9B66-BD5C863FF254}"/>
              </a:ext>
            </a:extLst>
          </p:cNvPr>
          <p:cNvGrpSpPr/>
          <p:nvPr userDrawn="1"/>
        </p:nvGrpSpPr>
        <p:grpSpPr>
          <a:xfrm>
            <a:off x="-8467" y="6463089"/>
            <a:ext cx="12200467" cy="403574"/>
            <a:chOff x="-8467" y="6470661"/>
            <a:chExt cx="12200467" cy="39052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0DFE1C4B-A7EE-47E1-8AAE-3EF4E43D16F6}"/>
                </a:ext>
              </a:extLst>
            </p:cNvPr>
            <p:cNvSpPr/>
            <p:nvPr userDrawn="1"/>
          </p:nvSpPr>
          <p:spPr>
            <a:xfrm>
              <a:off x="0" y="6496062"/>
              <a:ext cx="12192000" cy="365126"/>
            </a:xfrm>
            <a:prstGeom prst="rect">
              <a:avLst/>
            </a:prstGeom>
            <a:solidFill>
              <a:srgbClr val="1F34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28C131E4-1CD9-49D8-B343-8379436586C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8467" y="6470661"/>
              <a:ext cx="12200467" cy="0"/>
            </a:xfrm>
            <a:prstGeom prst="line">
              <a:avLst/>
            </a:prstGeom>
            <a:ln w="571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FE4F955D-C3E9-4033-8442-9095377B0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000" y="365126"/>
            <a:ext cx="11176000" cy="532342"/>
          </a:xfrm>
        </p:spPr>
        <p:txBody>
          <a:bodyPr>
            <a:normAutofit/>
          </a:bodyPr>
          <a:lstStyle>
            <a:lvl1pPr>
              <a:defRPr sz="2400" b="1">
                <a:solidFill>
                  <a:srgbClr val="02367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A482F1-FC12-443E-892A-B48F9C50AA5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08000" y="897468"/>
            <a:ext cx="11176000" cy="5063066"/>
          </a:xfrm>
        </p:spPr>
        <p:txBody>
          <a:bodyPr/>
          <a:lstStyle>
            <a:lvl1pPr>
              <a:lnSpc>
                <a:spcPct val="200000"/>
              </a:lnSpc>
              <a:defRPr sz="2000" b="0">
                <a:latin typeface="KoPub돋움체 Bold" panose="02020603020101020101" pitchFamily="18" charset="-127"/>
                <a:ea typeface="KoPub돋움체 Bold" panose="02020603020101020101" pitchFamily="18" charset="-127"/>
              </a:defRPr>
            </a:lvl1pPr>
            <a:lvl2pPr>
              <a:lnSpc>
                <a:spcPct val="150000"/>
              </a:lnSpc>
              <a:defRPr sz="18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2pPr>
            <a:lvl3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3pPr>
            <a:lvl4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4pPr>
            <a:lvl5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5A1225D-0BD8-42FD-A091-144615FF07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-583" b="3459"/>
          <a:stretch/>
        </p:blipFill>
        <p:spPr>
          <a:xfrm>
            <a:off x="5452198" y="6510701"/>
            <a:ext cx="1279135" cy="347299"/>
          </a:xfrm>
          <a:prstGeom prst="rect">
            <a:avLst/>
          </a:prstGeom>
          <a:solidFill>
            <a:srgbClr val="1F346B"/>
          </a:solidFill>
        </p:spPr>
      </p:pic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1EFF5A-1B85-42B1-95F5-C4213C5AD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4600" y="6517302"/>
            <a:ext cx="558800" cy="32139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AEAB581-7B9E-4552-9BEC-BDB2FB36C0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6482" b="96122" l="16219" r="85171">
                        <a14:foregroundMark x1="20111" y1="81440" x2="20111" y2="81440"/>
                        <a14:foregroundMark x1="16404" y1="81440" x2="16404" y2="81440"/>
                        <a14:foregroundMark x1="25950" y1="81717" x2="25950" y2="81717"/>
                        <a14:foregroundMark x1="35959" y1="86704" x2="35959" y2="86704"/>
                        <a14:foregroundMark x1="44300" y1="83657" x2="44300" y2="83657"/>
                        <a14:foregroundMark x1="53197" y1="73961" x2="53197" y2="73961"/>
                        <a14:foregroundMark x1="82947" y1="81717" x2="82947" y2="81717"/>
                        <a14:foregroundMark x1="85171" y1="87812" x2="85171" y2="8781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517" t="63297" r="13176"/>
          <a:stretch/>
        </p:blipFill>
        <p:spPr>
          <a:xfrm>
            <a:off x="112017" y="6545265"/>
            <a:ext cx="1744133" cy="288231"/>
          </a:xfrm>
          <a:prstGeom prst="rect">
            <a:avLst/>
          </a:prstGeom>
        </p:spPr>
      </p:pic>
      <p:sp>
        <p:nvSpPr>
          <p:cNvPr id="16" name="날짜 개체 틀 3">
            <a:extLst>
              <a:ext uri="{FF2B5EF4-FFF2-40B4-BE49-F238E27FC236}">
                <a16:creationId xmlns:a16="http://schemas.microsoft.com/office/drawing/2014/main" id="{3920A115-BF94-4DB0-B759-905F580E6A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98025" y="6495439"/>
            <a:ext cx="1258711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7" name="바닥글 개체 틀 4">
            <a:extLst>
              <a:ext uri="{FF2B5EF4-FFF2-40B4-BE49-F238E27FC236}">
                <a16:creationId xmlns:a16="http://schemas.microsoft.com/office/drawing/2014/main" id="{CB761E04-ABC5-4F9B-B7F4-0370F3F02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08348" y="6495439"/>
            <a:ext cx="1888067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648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D0B4DC-8072-4B8E-A822-FE3A08C0D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927B99-20C3-4D37-8275-EA6400E5C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C6CE84-6AD8-453A-AD6E-FEAF604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044141"/>
            <a:ext cx="27432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9EF105-0337-4580-9111-FD2F527F9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044141"/>
            <a:ext cx="41148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AB31AF83-2C46-4BF6-B48E-DD76F99A3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0800" y="6044141"/>
            <a:ext cx="2743200" cy="365125"/>
          </a:xfrm>
        </p:spPr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1779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8C8B6C-1DEF-4332-8A14-F6B6981FD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78B35E-5C7A-4650-863C-461C8592BB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0FC85E-DA01-4C94-8312-2EAB20EAB3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ADE796-457C-4E05-BBB8-BC7FD1390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65A564A-D398-41C0-BEF2-5D2A53F37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D0DB09-1DC7-4816-820B-2EDD19BAD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9832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073845-DA08-4E02-89E5-279477CDC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FA0F8E2-8F9C-4936-8D92-FA7FE4970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9C35784-8D42-4310-8640-07C1BEB330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B31B950-6CB7-42DB-A303-B407EF83D2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0F35007-CA56-4CB7-8C5F-CF3E2924C5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90CD9AE-54AB-44CB-8910-A70F24EB3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2AFA608-2F47-4FBC-8A45-AC037C64C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EA635AC-BD3D-4D4A-AB07-EAABF5013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660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D27486-42F6-4B67-8DF8-769971D09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BBFFFA3-6C08-4D2B-B714-F2729D0D9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01B550E-4A2E-4405-8F29-A9633B7A9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40B985F-0B0F-472E-A18E-72C776E30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909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995497-1A46-4FDE-B4B1-CA2510A4E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BDDD35-FFDF-4936-8645-AC2A1F2AB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31037F-312F-4D9B-9119-F134F49B2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9211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62E35-F23E-4CDC-9C00-11DCB7E97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65F35A-C1B0-4F2A-8536-7C9C4EF9C0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B6DFEF-5929-42A1-B17A-6AD3F1AC5E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8A33CA-A779-4AE7-8BB3-0DF9C81A7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1539BD6-447C-4ABC-97CC-BCC453A38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A96239-5406-4F31-95AA-C4BD1AB50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073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FCC7A7-4C8B-434F-9C38-C6E5AC9E3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7AD0D2C-AE0D-4BDF-B9E8-D91CD7556C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9F58740-6BDA-46A2-A629-765E7E175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2C1AD5-7F55-4125-8A2F-BC07A86DA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AB58409-227F-4B89-B306-5E32E6E4F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7C64012-3A7B-4999-BA77-06258A04A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037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54230E-387F-465D-9111-5F8ACFE1D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C53B19F-7C90-4073-858B-0BD87654EF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6123FE-787A-4904-AA9D-8ACC7B307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1EAC67-5F52-452E-9E50-F587C6481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0EEB5A-4207-4ADB-95D4-B87AA305B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071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DACCBB6-C18F-485C-A53E-8683CFFE90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2DC10F-92E5-436B-9D63-2A68B11CB0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5DDDF8-BB20-4C9B-9571-A39BA7D6E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54DDF5-9EDE-406E-BFC5-8359CD708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B989F03-47B6-4B39-B0CA-2A216789C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7719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A31B03D-0C42-48E6-948A-722C5EE3F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5A6E46-0B48-4B44-9DA0-C7C1E05C3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0D4B93-E437-4DCC-9E09-16EA88BBC5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A7A77E-05D0-4203-B655-9A2A21B58D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09CEAC-52D1-4D7C-99C4-13222A951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55485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7068" y="2062806"/>
            <a:ext cx="1138783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AEC 및 FPCA 개념 설명</a:t>
            </a:r>
            <a:endParaRPr sz="2400" b="1" dirty="0">
              <a:solidFill>
                <a:schemeClr val="bg1"/>
              </a:solidFill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17068" y="3139177"/>
            <a:ext cx="71399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dirty="0">
                <a:solidFill>
                  <a:schemeClr val="bg1"/>
                </a:solidFill>
                <a:latin typeface="KoPub돋움체 Medium"/>
              </a:rPr>
              <a:t>2026. 0</a:t>
            </a:r>
            <a:r>
              <a:rPr lang="en-US" sz="1600" dirty="0">
                <a:solidFill>
                  <a:schemeClr val="bg1"/>
                </a:solidFill>
                <a:latin typeface="KoPub돋움체 Medium"/>
              </a:rPr>
              <a:t>8</a:t>
            </a:r>
            <a:r>
              <a:rPr sz="1600" dirty="0">
                <a:solidFill>
                  <a:schemeClr val="bg1"/>
                </a:solidFill>
                <a:latin typeface="KoPub돋움체 Medium"/>
              </a:rPr>
              <a:t>. </a:t>
            </a:r>
            <a:r>
              <a:rPr lang="en-US" sz="1600" dirty="0">
                <a:solidFill>
                  <a:schemeClr val="bg1"/>
                </a:solidFill>
                <a:latin typeface="KoPub돋움체 Medium"/>
              </a:rPr>
              <a:t>26</a:t>
            </a:r>
            <a:endParaRPr sz="1600" dirty="0">
              <a:solidFill>
                <a:schemeClr val="bg1"/>
              </a:solidFill>
              <a:latin typeface="KoPub돋움체 Medium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7068" y="3564777"/>
            <a:ext cx="7139940" cy="289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KoPub돋움체 Medium"/>
              </a:rPr>
              <a:t>JangHoon Chun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7068" y="3978214"/>
            <a:ext cx="7139940" cy="121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FFFFFF"/>
                </a:solidFill>
                <a:latin typeface="KoPub돋움체 Medium"/>
              </a:rPr>
              <a:t>Department of, Medical Device Engineering &amp; Management</a:t>
            </a:r>
          </a:p>
          <a:p>
            <a:r>
              <a:rPr sz="1600">
                <a:solidFill>
                  <a:srgbClr val="FFFFFF"/>
                </a:solidFill>
                <a:latin typeface="KoPub돋움체 Medium"/>
              </a:rPr>
              <a:t>Gangnam Severance Hospital,</a:t>
            </a:r>
          </a:p>
          <a:p>
            <a:r>
              <a:rPr sz="1600">
                <a:solidFill>
                  <a:srgbClr val="FFFFFF"/>
                </a:solidFill>
                <a:latin typeface="KoPub돋움체 Medium"/>
              </a:rPr>
              <a:t>Yonsei University College of Medicine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AEC </a:t>
            </a:r>
            <a:r>
              <a:rPr lang="ko-KR" altLang="en-US" dirty="0"/>
              <a:t>작동 원리</a:t>
            </a:r>
            <a:endParaRPr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FB6B5539-CC2D-F932-DAA3-12E2A40E72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1" dirty="0">
                <a:solidFill>
                  <a:srgbClr val="1F1F1F"/>
                </a:solidFill>
              </a:rPr>
              <a:t>목표 </a:t>
            </a:r>
            <a:r>
              <a:rPr lang="en-US" altLang="ko-KR" b="1" dirty="0">
                <a:solidFill>
                  <a:srgbClr val="1F1F1F"/>
                </a:solidFill>
              </a:rPr>
              <a:t>— </a:t>
            </a:r>
            <a:r>
              <a:rPr lang="ko-KR" altLang="en-US" b="1" dirty="0">
                <a:solidFill>
                  <a:srgbClr val="1F1F1F"/>
                </a:solidFill>
              </a:rPr>
              <a:t>검사 전 구간 영상잡음</a:t>
            </a:r>
            <a:r>
              <a:rPr lang="en-US" altLang="ko-KR" b="1" dirty="0">
                <a:solidFill>
                  <a:srgbClr val="1F1F1F"/>
                </a:solidFill>
              </a:rPr>
              <a:t>(noise) </a:t>
            </a:r>
            <a:r>
              <a:rPr lang="ko-KR" altLang="en-US" b="1" dirty="0">
                <a:solidFill>
                  <a:srgbClr val="1F1F1F"/>
                </a:solidFill>
              </a:rPr>
              <a:t>일정 유지</a:t>
            </a: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1FA019A3-0AB6-2C56-8302-ED956B7043E1}"/>
              </a:ext>
            </a:extLst>
          </p:cNvPr>
          <p:cNvGrpSpPr/>
          <p:nvPr/>
        </p:nvGrpSpPr>
        <p:grpSpPr>
          <a:xfrm>
            <a:off x="508000" y="3592177"/>
            <a:ext cx="11174400" cy="1897670"/>
            <a:chOff x="507600" y="2563692"/>
            <a:chExt cx="11174400" cy="1897670"/>
          </a:xfrm>
        </p:grpSpPr>
        <p:sp>
          <p:nvSpPr>
            <p:cNvPr id="4" name="Rounded Rectangle 3"/>
            <p:cNvSpPr/>
            <p:nvPr/>
          </p:nvSpPr>
          <p:spPr>
            <a:xfrm>
              <a:off x="507600" y="2563692"/>
              <a:ext cx="2304000" cy="1897670"/>
            </a:xfrm>
            <a:prstGeom prst="roundRect">
              <a:avLst/>
            </a:prstGeom>
            <a:ln w="28575"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lIns="72000" tIns="36000" rIns="72000" bIns="36000" rtlCol="0" anchor="ctr"/>
            <a:lstStyle/>
            <a:p>
              <a:pPr algn="ctr"/>
              <a:r>
                <a:rPr sz="1600" b="1" dirty="0">
                  <a:solidFill>
                    <a:sysClr val="windowText" lastClr="000000"/>
                  </a:solidFill>
                </a:rPr>
                <a:t>① Scout </a:t>
              </a:r>
              <a:r>
                <a:rPr sz="1600" b="1" dirty="0" err="1">
                  <a:solidFill>
                    <a:sysClr val="windowText" lastClr="000000"/>
                  </a:solidFill>
                </a:rPr>
                <a:t>촬영</a:t>
              </a:r>
              <a:endParaRPr lang="en-US" sz="1600" b="1" dirty="0">
                <a:solidFill>
                  <a:sysClr val="windowText" lastClr="000000"/>
                </a:solidFill>
              </a:endParaRPr>
            </a:p>
            <a:p>
              <a:pPr algn="ctr"/>
              <a:endParaRPr sz="1600" b="1" dirty="0">
                <a:solidFill>
                  <a:sysClr val="windowText" lastClr="000000"/>
                </a:solidFill>
              </a:endParaRPr>
            </a:p>
            <a:p>
              <a:pPr algn="ctr"/>
              <a:r>
                <a:rPr sz="1200" b="0" dirty="0" err="1">
                  <a:solidFill>
                    <a:sysClr val="windowText" lastClr="000000"/>
                  </a:solidFill>
                </a:rPr>
                <a:t>저선량</a:t>
              </a:r>
              <a:r>
                <a:rPr sz="1200" b="0" dirty="0">
                  <a:solidFill>
                    <a:sysClr val="windowText" lastClr="000000"/>
                  </a:solidFill>
                </a:rPr>
                <a:t> </a:t>
              </a:r>
              <a:r>
                <a:rPr sz="1200" b="0" dirty="0" err="1">
                  <a:solidFill>
                    <a:sysClr val="windowText" lastClr="000000"/>
                  </a:solidFill>
                </a:rPr>
                <a:t>예비영상</a:t>
              </a:r>
              <a:r>
                <a:rPr sz="1200" b="0" dirty="0">
                  <a:solidFill>
                    <a:sysClr val="windowText" lastClr="000000"/>
                  </a:solidFill>
                </a:rPr>
                <a:t> ·</a:t>
              </a:r>
            </a:p>
            <a:p>
              <a:pPr algn="ctr"/>
              <a:r>
                <a:rPr sz="1200" b="0" dirty="0" err="1">
                  <a:solidFill>
                    <a:sysClr val="windowText" lastClr="000000"/>
                  </a:solidFill>
                </a:rPr>
                <a:t>부위별</a:t>
              </a:r>
              <a:r>
                <a:rPr sz="1200" b="0" dirty="0">
                  <a:solidFill>
                    <a:sysClr val="windowText" lastClr="000000"/>
                  </a:solidFill>
                </a:rPr>
                <a:t> </a:t>
              </a:r>
              <a:r>
                <a:rPr sz="1200" b="0" dirty="0" err="1">
                  <a:solidFill>
                    <a:sysClr val="windowText" lastClr="000000"/>
                  </a:solidFill>
                </a:rPr>
                <a:t>감쇠</a:t>
              </a:r>
              <a:r>
                <a:rPr sz="1200" b="0" dirty="0">
                  <a:solidFill>
                    <a:sysClr val="windowText" lastClr="000000"/>
                  </a:solidFill>
                </a:rPr>
                <a:t> </a:t>
              </a:r>
              <a:r>
                <a:rPr sz="1200" b="0" dirty="0" err="1">
                  <a:solidFill>
                    <a:sysClr val="windowText" lastClr="000000"/>
                  </a:solidFill>
                </a:rPr>
                <a:t>추정</a:t>
              </a:r>
              <a:endParaRPr sz="1200" b="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3464400" y="2563692"/>
              <a:ext cx="2304000" cy="1897670"/>
            </a:xfrm>
            <a:prstGeom prst="roundRect">
              <a:avLst/>
            </a:prstGeom>
            <a:ln w="28575"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lIns="72000" tIns="36000" rIns="72000" bIns="36000" rtlCol="0" anchor="ctr"/>
            <a:lstStyle/>
            <a:p>
              <a:pPr algn="ctr"/>
              <a:r>
                <a:rPr sz="1600" b="1" dirty="0">
                  <a:solidFill>
                    <a:sysClr val="windowText" lastClr="000000"/>
                  </a:solidFill>
                </a:rPr>
                <a:t>② mA </a:t>
              </a:r>
              <a:r>
                <a:rPr sz="1600" b="1" dirty="0" err="1">
                  <a:solidFill>
                    <a:sysClr val="windowText" lastClr="000000"/>
                  </a:solidFill>
                </a:rPr>
                <a:t>프로파일</a:t>
              </a:r>
              <a:r>
                <a:rPr sz="1600" b="1" dirty="0">
                  <a:solidFill>
                    <a:sysClr val="windowText" lastClr="000000"/>
                  </a:solidFill>
                </a:rPr>
                <a:t> </a:t>
              </a:r>
              <a:r>
                <a:rPr sz="1600" b="1" dirty="0" err="1">
                  <a:solidFill>
                    <a:sysClr val="windowText" lastClr="000000"/>
                  </a:solidFill>
                </a:rPr>
                <a:t>계산</a:t>
              </a:r>
              <a:endParaRPr lang="en-US" sz="1600" b="1" dirty="0">
                <a:solidFill>
                  <a:sysClr val="windowText" lastClr="000000"/>
                </a:solidFill>
              </a:endParaRPr>
            </a:p>
            <a:p>
              <a:pPr algn="ctr"/>
              <a:endParaRPr sz="1600" b="1" dirty="0">
                <a:solidFill>
                  <a:sysClr val="windowText" lastClr="000000"/>
                </a:solidFill>
              </a:endParaRPr>
            </a:p>
            <a:p>
              <a:pPr algn="ctr"/>
              <a:r>
                <a:rPr sz="1200" b="0" dirty="0" err="1">
                  <a:solidFill>
                    <a:sysClr val="windowText" lastClr="000000"/>
                  </a:solidFill>
                </a:rPr>
                <a:t>감쇠</a:t>
              </a:r>
              <a:r>
                <a:rPr sz="1200" b="0" dirty="0">
                  <a:solidFill>
                    <a:sysClr val="windowText" lastClr="000000"/>
                  </a:solidFill>
                </a:rPr>
                <a:t> + </a:t>
              </a:r>
              <a:r>
                <a:rPr sz="1200" b="0" dirty="0" err="1">
                  <a:solidFill>
                    <a:sysClr val="windowText" lastClr="000000"/>
                  </a:solidFill>
                </a:rPr>
                <a:t>목표화질</a:t>
              </a:r>
              <a:r>
                <a:rPr sz="1200" b="0" dirty="0">
                  <a:solidFill>
                    <a:sysClr val="windowText" lastClr="000000"/>
                  </a:solidFill>
                </a:rPr>
                <a:t> →</a:t>
              </a:r>
            </a:p>
            <a:p>
              <a:pPr algn="ctr"/>
              <a:r>
                <a:rPr sz="1200" b="0" dirty="0" err="1">
                  <a:solidFill>
                    <a:sysClr val="windowText" lastClr="000000"/>
                  </a:solidFill>
                </a:rPr>
                <a:t>z축별</a:t>
              </a:r>
              <a:r>
                <a:rPr sz="1200" b="0" dirty="0">
                  <a:solidFill>
                    <a:sysClr val="windowText" lastClr="000000"/>
                  </a:solidFill>
                </a:rPr>
                <a:t> mA </a:t>
              </a:r>
              <a:r>
                <a:rPr sz="1200" b="0" dirty="0" err="1">
                  <a:solidFill>
                    <a:sysClr val="windowText" lastClr="000000"/>
                  </a:solidFill>
                </a:rPr>
                <a:t>산출</a:t>
              </a:r>
              <a:endParaRPr sz="1200" b="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21200" y="2563692"/>
              <a:ext cx="2304000" cy="1897670"/>
            </a:xfrm>
            <a:prstGeom prst="roundRect">
              <a:avLst/>
            </a:prstGeom>
            <a:ln w="28575"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lIns="72000" tIns="36000" rIns="72000" bIns="36000" rtlCol="0" anchor="ctr"/>
            <a:lstStyle/>
            <a:p>
              <a:pPr algn="ctr"/>
              <a:r>
                <a:rPr sz="1600" b="1" dirty="0">
                  <a:solidFill>
                    <a:sysClr val="windowText" lastClr="000000"/>
                  </a:solidFill>
                </a:rPr>
                <a:t>③ </a:t>
              </a:r>
              <a:r>
                <a:rPr sz="1600" b="1" dirty="0" err="1">
                  <a:solidFill>
                    <a:sysClr val="windowText" lastClr="000000"/>
                  </a:solidFill>
                </a:rPr>
                <a:t>실시간</a:t>
              </a:r>
              <a:r>
                <a:rPr sz="1600" b="1" dirty="0">
                  <a:solidFill>
                    <a:sysClr val="windowText" lastClr="000000"/>
                  </a:solidFill>
                </a:rPr>
                <a:t> </a:t>
              </a:r>
              <a:r>
                <a:rPr sz="1600" b="1" dirty="0" err="1">
                  <a:solidFill>
                    <a:sysClr val="windowText" lastClr="000000"/>
                  </a:solidFill>
                </a:rPr>
                <a:t>변조</a:t>
              </a:r>
              <a:endParaRPr lang="en-US" sz="1600" b="1" dirty="0">
                <a:solidFill>
                  <a:sysClr val="windowText" lastClr="000000"/>
                </a:solidFill>
              </a:endParaRPr>
            </a:p>
            <a:p>
              <a:pPr algn="ctr"/>
              <a:endParaRPr sz="1600" b="1" dirty="0">
                <a:solidFill>
                  <a:sysClr val="windowText" lastClr="000000"/>
                </a:solidFill>
              </a:endParaRPr>
            </a:p>
            <a:p>
              <a:pPr algn="ctr"/>
              <a:r>
                <a:rPr lang="ko-KR" altLang="en-US" sz="1200" dirty="0">
                  <a:solidFill>
                    <a:sysClr val="windowText" lastClr="000000"/>
                  </a:solidFill>
                </a:rPr>
                <a:t>머리</a:t>
              </a:r>
              <a:r>
                <a:rPr sz="1200" b="0" dirty="0">
                  <a:solidFill>
                    <a:sysClr val="windowText" lastClr="000000"/>
                  </a:solidFill>
                </a:rPr>
                <a:t>→</a:t>
              </a:r>
              <a:r>
                <a:rPr lang="ko-KR" altLang="en-US" sz="1200" b="0" dirty="0">
                  <a:solidFill>
                    <a:sysClr val="windowText" lastClr="000000"/>
                  </a:solidFill>
                </a:rPr>
                <a:t>발</a:t>
              </a:r>
              <a:r>
                <a:rPr sz="1200" b="0" dirty="0">
                  <a:solidFill>
                    <a:sysClr val="windowText" lastClr="000000"/>
                  </a:solidFill>
                </a:rPr>
                <a:t> </a:t>
              </a:r>
              <a:r>
                <a:rPr sz="1200" b="0" dirty="0" err="1">
                  <a:solidFill>
                    <a:sysClr val="windowText" lastClr="000000"/>
                  </a:solidFill>
                </a:rPr>
                <a:t>이동하며</a:t>
              </a:r>
              <a:endParaRPr sz="1200" b="0" dirty="0">
                <a:solidFill>
                  <a:sysClr val="windowText" lastClr="000000"/>
                </a:solidFill>
              </a:endParaRPr>
            </a:p>
            <a:p>
              <a:pPr algn="ctr"/>
              <a:r>
                <a:rPr sz="1200" b="0" dirty="0">
                  <a:solidFill>
                    <a:sysClr val="windowText" lastClr="000000"/>
                  </a:solidFill>
                </a:rPr>
                <a:t>mA </a:t>
              </a:r>
              <a:r>
                <a:rPr sz="1200" b="0" dirty="0" err="1">
                  <a:solidFill>
                    <a:sysClr val="windowText" lastClr="000000"/>
                  </a:solidFill>
                </a:rPr>
                <a:t>연속</a:t>
              </a:r>
              <a:r>
                <a:rPr sz="1200" b="0" dirty="0">
                  <a:solidFill>
                    <a:sysClr val="windowText" lastClr="000000"/>
                  </a:solidFill>
                </a:rPr>
                <a:t> </a:t>
              </a:r>
              <a:r>
                <a:rPr sz="1200" b="0" dirty="0" err="1">
                  <a:solidFill>
                    <a:sysClr val="windowText" lastClr="000000"/>
                  </a:solidFill>
                </a:rPr>
                <a:t>조정</a:t>
              </a:r>
              <a:endParaRPr sz="1200" b="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9378000" y="2563692"/>
              <a:ext cx="2304000" cy="1897670"/>
            </a:xfrm>
            <a:prstGeom prst="roundRect">
              <a:avLst/>
            </a:prstGeom>
            <a:ln w="28575"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lIns="72000" tIns="36000" rIns="72000" bIns="36000" rtlCol="0" anchor="ctr"/>
            <a:lstStyle/>
            <a:p>
              <a:pPr algn="ctr"/>
              <a:r>
                <a:rPr sz="1600" b="1" dirty="0" err="1">
                  <a:solidFill>
                    <a:sysClr val="windowText" lastClr="000000"/>
                  </a:solidFill>
                </a:rPr>
                <a:t>결과물</a:t>
              </a:r>
              <a:r>
                <a:rPr sz="1600" b="1" dirty="0">
                  <a:solidFill>
                    <a:sysClr val="windowText" lastClr="000000"/>
                  </a:solidFill>
                </a:rPr>
                <a:t>: AEC-128</a:t>
              </a:r>
              <a:endParaRPr lang="en-US" sz="1600" b="1" dirty="0">
                <a:solidFill>
                  <a:sysClr val="windowText" lastClr="000000"/>
                </a:solidFill>
              </a:endParaRPr>
            </a:p>
            <a:p>
              <a:pPr algn="ctr"/>
              <a:endParaRPr sz="1600" b="1" dirty="0">
                <a:solidFill>
                  <a:sysClr val="windowText" lastClr="000000"/>
                </a:solidFill>
              </a:endParaRPr>
            </a:p>
            <a:p>
              <a:pPr algn="ctr"/>
              <a:r>
                <a:rPr sz="1200" b="0" dirty="0" err="1">
                  <a:solidFill>
                    <a:sysClr val="windowText" lastClr="000000"/>
                  </a:solidFill>
                </a:rPr>
                <a:t>mA의</a:t>
              </a:r>
              <a:r>
                <a:rPr sz="1200" b="0" dirty="0">
                  <a:solidFill>
                    <a:sysClr val="windowText" lastClr="000000"/>
                  </a:solidFill>
                </a:rPr>
                <a:t> </a:t>
              </a:r>
              <a:r>
                <a:rPr sz="1200" b="0" dirty="0" err="1">
                  <a:solidFill>
                    <a:sysClr val="windowText" lastClr="000000"/>
                  </a:solidFill>
                </a:rPr>
                <a:t>z축</a:t>
              </a:r>
              <a:r>
                <a:rPr sz="1200" b="0" dirty="0">
                  <a:solidFill>
                    <a:sysClr val="windowText" lastClr="000000"/>
                  </a:solidFill>
                </a:rPr>
                <a:t> </a:t>
              </a:r>
              <a:r>
                <a:rPr sz="1200" b="0" dirty="0" err="1">
                  <a:solidFill>
                    <a:sysClr val="windowText" lastClr="000000"/>
                  </a:solidFill>
                </a:rPr>
                <a:t>궤적</a:t>
              </a:r>
              <a:endParaRPr sz="1200" b="0" dirty="0">
                <a:solidFill>
                  <a:sysClr val="windowText" lastClr="000000"/>
                </a:solidFill>
              </a:endParaRPr>
            </a:p>
            <a:p>
              <a:pPr algn="ctr"/>
              <a:r>
                <a:rPr sz="1200" b="0" dirty="0">
                  <a:solidFill>
                    <a:sysClr val="windowText" lastClr="000000"/>
                  </a:solidFill>
                </a:rPr>
                <a:t>(XYZ </a:t>
              </a:r>
              <a:r>
                <a:rPr sz="1200" b="0" dirty="0" err="1">
                  <a:solidFill>
                    <a:sysClr val="windowText" lastClr="000000"/>
                  </a:solidFill>
                </a:rPr>
                <a:t>결합변조</a:t>
              </a:r>
              <a:r>
                <a:rPr sz="1200" b="0" dirty="0">
                  <a:solidFill>
                    <a:sysClr val="windowText" lastClr="000000"/>
                  </a:solidFill>
                </a:rPr>
                <a:t> </a:t>
              </a:r>
              <a:r>
                <a:rPr sz="1200" b="0" dirty="0" err="1">
                  <a:solidFill>
                    <a:sysClr val="windowText" lastClr="000000"/>
                  </a:solidFill>
                </a:rPr>
                <a:t>반영값</a:t>
              </a:r>
              <a:r>
                <a:rPr sz="1200" b="0" dirty="0">
                  <a:solidFill>
                    <a:sysClr val="windowText" lastClr="000000"/>
                  </a:solidFill>
                </a:rPr>
                <a:t>)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2879755" y="3262977"/>
              <a:ext cx="515072" cy="499100"/>
            </a:xfrm>
            <a:prstGeom prst="rightArrow">
              <a:avLst/>
            </a:prstGeom>
            <a:solidFill>
              <a:srgbClr val="A5A5A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9" name="Right Arrow 8"/>
            <p:cNvSpPr/>
            <p:nvPr/>
          </p:nvSpPr>
          <p:spPr>
            <a:xfrm>
              <a:off x="5836555" y="3262977"/>
              <a:ext cx="515072" cy="499100"/>
            </a:xfrm>
            <a:prstGeom prst="rightArrow">
              <a:avLst/>
            </a:prstGeom>
            <a:solidFill>
              <a:srgbClr val="A5A5A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10" name="Right Arrow 9"/>
            <p:cNvSpPr/>
            <p:nvPr/>
          </p:nvSpPr>
          <p:spPr>
            <a:xfrm>
              <a:off x="8793355" y="3262977"/>
              <a:ext cx="515072" cy="499100"/>
            </a:xfrm>
            <a:prstGeom prst="rightArrow">
              <a:avLst/>
            </a:prstGeom>
            <a:solidFill>
              <a:srgbClr val="A5A5A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</p:grpSp>
      <p:pic>
        <p:nvPicPr>
          <p:cNvPr id="3" name="그림 2" descr="CT검사에서의 최적화 가이드라인 : 네이버 블로그">
            <a:extLst>
              <a:ext uri="{FF2B5EF4-FFF2-40B4-BE49-F238E27FC236}">
                <a16:creationId xmlns:a16="http://schemas.microsoft.com/office/drawing/2014/main" id="{23CAF732-A9F9-BCFC-439A-A342776582F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825" r="18318"/>
          <a:stretch>
            <a:fillRect/>
          </a:stretch>
        </p:blipFill>
        <p:spPr>
          <a:xfrm>
            <a:off x="7192273" y="347645"/>
            <a:ext cx="3717235" cy="277384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BD839D-9B02-4E67-38BB-42530754E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C2A09-3A1A-7493-B64E-D35E857ED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Tube Current Modulation</a:t>
            </a:r>
            <a:endParaRPr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EBD6A0C-B971-FB3E-B42B-73CFA0A85F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dirty="0"/>
              <a:t>Angular Modulation (XY-Plane) — </a:t>
            </a:r>
            <a:r>
              <a:rPr dirty="0" err="1"/>
              <a:t>회전</a:t>
            </a:r>
            <a:r>
              <a:rPr dirty="0"/>
              <a:t> 중 </a:t>
            </a:r>
            <a:r>
              <a:rPr dirty="0" err="1"/>
              <a:t>각도별</a:t>
            </a:r>
            <a:r>
              <a:rPr dirty="0"/>
              <a:t> </a:t>
            </a:r>
            <a:r>
              <a:rPr dirty="0" err="1"/>
              <a:t>감쇠</a:t>
            </a:r>
            <a:r>
              <a:rPr dirty="0"/>
              <a:t> </a:t>
            </a:r>
            <a:r>
              <a:rPr dirty="0" err="1"/>
              <a:t>차이에</a:t>
            </a:r>
            <a:r>
              <a:rPr dirty="0"/>
              <a:t> </a:t>
            </a:r>
            <a:r>
              <a:rPr dirty="0" err="1"/>
              <a:t>따라</a:t>
            </a:r>
            <a:r>
              <a:rPr dirty="0"/>
              <a:t> </a:t>
            </a:r>
            <a:r>
              <a:rPr dirty="0" err="1"/>
              <a:t>관전류</a:t>
            </a:r>
            <a:r>
              <a:rPr dirty="0"/>
              <a:t> </a:t>
            </a:r>
            <a:r>
              <a:rPr dirty="0" err="1"/>
              <a:t>조정</a:t>
            </a:r>
            <a:endParaRPr lang="en-US" dirty="0"/>
          </a:p>
          <a:p>
            <a:r>
              <a:rPr dirty="0"/>
              <a:t>Z-Axis Modulation (Longitudinal) — </a:t>
            </a:r>
            <a:r>
              <a:rPr lang="ko-KR" altLang="en-US" dirty="0"/>
              <a:t>머리</a:t>
            </a:r>
            <a:r>
              <a:rPr dirty="0"/>
              <a:t>→</a:t>
            </a:r>
            <a:r>
              <a:rPr lang="ko-KR" altLang="en-US" dirty="0"/>
              <a:t>발</a:t>
            </a:r>
            <a:r>
              <a:rPr dirty="0"/>
              <a:t>(</a:t>
            </a:r>
            <a:r>
              <a:rPr dirty="0" err="1"/>
              <a:t>z축</a:t>
            </a:r>
            <a:r>
              <a:rPr dirty="0"/>
              <a:t>) </a:t>
            </a:r>
            <a:r>
              <a:rPr dirty="0" err="1"/>
              <a:t>이동에</a:t>
            </a:r>
            <a:r>
              <a:rPr dirty="0"/>
              <a:t> </a:t>
            </a:r>
            <a:r>
              <a:rPr dirty="0" err="1"/>
              <a:t>따라</a:t>
            </a:r>
            <a:r>
              <a:rPr dirty="0"/>
              <a:t> </a:t>
            </a:r>
            <a:r>
              <a:rPr dirty="0" err="1"/>
              <a:t>관전류</a:t>
            </a:r>
            <a:r>
              <a:rPr dirty="0"/>
              <a:t> </a:t>
            </a:r>
            <a:r>
              <a:rPr dirty="0" err="1"/>
              <a:t>조정</a:t>
            </a:r>
            <a:endParaRPr dirty="0"/>
          </a:p>
          <a:p>
            <a:r>
              <a:rPr dirty="0"/>
              <a:t>Combined Modulation — Angular + Z-axis </a:t>
            </a:r>
            <a:r>
              <a:rPr dirty="0" err="1"/>
              <a:t>동시</a:t>
            </a:r>
            <a:r>
              <a:rPr dirty="0"/>
              <a:t> </a:t>
            </a:r>
            <a:r>
              <a:rPr dirty="0" err="1"/>
              <a:t>적용</a:t>
            </a:r>
            <a:r>
              <a:rPr dirty="0"/>
              <a:t>, </a:t>
            </a:r>
            <a:r>
              <a:rPr dirty="0" err="1"/>
              <a:t>최신</a:t>
            </a:r>
            <a:r>
              <a:rPr dirty="0"/>
              <a:t> CT </a:t>
            </a:r>
            <a:r>
              <a:rPr dirty="0" err="1"/>
              <a:t>기본</a:t>
            </a:r>
            <a:r>
              <a:rPr dirty="0"/>
              <a:t> </a:t>
            </a:r>
            <a:r>
              <a:rPr dirty="0" err="1"/>
              <a:t>방식</a:t>
            </a:r>
            <a:r>
              <a:rPr dirty="0"/>
              <a:t>, AEC-128의 </a:t>
            </a:r>
            <a:r>
              <a:rPr dirty="0" err="1"/>
              <a:t>실제</a:t>
            </a:r>
            <a:r>
              <a:rPr dirty="0"/>
              <a:t> </a:t>
            </a:r>
            <a:r>
              <a:rPr dirty="0" err="1"/>
              <a:t>기반</a:t>
            </a:r>
            <a:endParaRPr dirty="0"/>
          </a:p>
        </p:txBody>
      </p:sp>
      <p:pic>
        <p:nvPicPr>
          <p:cNvPr id="4" name="그림 3" descr="EPOS&amp;trade;">
            <a:extLst>
              <a:ext uri="{FF2B5EF4-FFF2-40B4-BE49-F238E27FC236}">
                <a16:creationId xmlns:a16="http://schemas.microsoft.com/office/drawing/2014/main" id="{133215CC-56CD-E3FB-33C6-5D077D95C7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3206343"/>
            <a:ext cx="8316843" cy="2995436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BD42C899-8AFB-F4A6-3169-C1DD0F23F1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32790" y="3852267"/>
            <a:ext cx="2725740" cy="1703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0016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제조사별 AEC 계산 방식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75949"/>
          </a:xfrm>
        </p:spPr>
        <p:txBody>
          <a:bodyPr>
            <a:normAutofit fontScale="92500"/>
          </a:bodyPr>
          <a:lstStyle/>
          <a:p>
            <a:r>
              <a:rPr sz="1800" dirty="0" err="1"/>
              <a:t>변조</a:t>
            </a:r>
            <a:r>
              <a:rPr sz="1800" dirty="0"/>
              <a:t> 축(Angular/Z/Combined)과 </a:t>
            </a:r>
            <a:r>
              <a:rPr sz="1800" dirty="0" err="1"/>
              <a:t>별개로</a:t>
            </a:r>
            <a:r>
              <a:rPr sz="1800" dirty="0"/>
              <a:t> </a:t>
            </a:r>
            <a:r>
              <a:rPr sz="1800" dirty="0" err="1"/>
              <a:t>mA를</a:t>
            </a:r>
            <a:r>
              <a:rPr sz="1800" dirty="0"/>
              <a:t> </a:t>
            </a:r>
            <a:r>
              <a:rPr sz="1800" dirty="0" err="1"/>
              <a:t>정하는</a:t>
            </a:r>
            <a:r>
              <a:rPr sz="1800" dirty="0"/>
              <a:t> </a:t>
            </a:r>
            <a:r>
              <a:rPr sz="1800" dirty="0" err="1"/>
              <a:t>목표화질</a:t>
            </a:r>
            <a:r>
              <a:rPr sz="1800" dirty="0"/>
              <a:t> </a:t>
            </a:r>
            <a:r>
              <a:rPr sz="1800" dirty="0" err="1"/>
              <a:t>기준</a:t>
            </a:r>
            <a:r>
              <a:rPr sz="1800" dirty="0"/>
              <a:t> </a:t>
            </a:r>
            <a:r>
              <a:rPr sz="1800" dirty="0" err="1"/>
              <a:t>자체가</a:t>
            </a:r>
            <a:r>
              <a:rPr sz="1800" dirty="0"/>
              <a:t> </a:t>
            </a:r>
            <a:r>
              <a:rPr sz="1800" dirty="0" err="1"/>
              <a:t>제조사마다</a:t>
            </a:r>
            <a:r>
              <a:rPr sz="1800" dirty="0"/>
              <a:t> </a:t>
            </a:r>
            <a:r>
              <a:rPr sz="1800" dirty="0" err="1"/>
              <a:t>다름</a:t>
            </a:r>
            <a:r>
              <a:rPr sz="1800" dirty="0"/>
              <a:t> (AAPM Report 96 </a:t>
            </a:r>
            <a:r>
              <a:rPr sz="1800" dirty="0" err="1"/>
              <a:t>분류</a:t>
            </a:r>
            <a:r>
              <a:rPr sz="1800" dirty="0"/>
              <a:t>)</a:t>
            </a:r>
          </a:p>
          <a:p>
            <a:pPr marL="0" indent="0">
              <a:buNone/>
            </a:pPr>
            <a:r>
              <a:rPr sz="1800" dirty="0"/>
              <a:t>① SD(</a:t>
            </a:r>
            <a:r>
              <a:rPr sz="1800" dirty="0" err="1"/>
              <a:t>노이즈</a:t>
            </a:r>
            <a:r>
              <a:rPr sz="1800" dirty="0"/>
              <a:t>) </a:t>
            </a:r>
            <a:r>
              <a:rPr sz="1800" dirty="0" err="1"/>
              <a:t>기반</a:t>
            </a:r>
            <a:endParaRPr lang="en-US" sz="1800" dirty="0"/>
          </a:p>
          <a:p>
            <a:pPr lvl="1"/>
            <a:r>
              <a:rPr sz="1600" dirty="0" err="1"/>
              <a:t>목표</a:t>
            </a:r>
            <a:r>
              <a:rPr sz="1600" dirty="0"/>
              <a:t> </a:t>
            </a:r>
            <a:r>
              <a:rPr sz="1600" dirty="0" err="1"/>
              <a:t>픽셀</a:t>
            </a:r>
            <a:r>
              <a:rPr sz="1600" dirty="0"/>
              <a:t> </a:t>
            </a:r>
            <a:r>
              <a:rPr sz="1600" dirty="0" err="1"/>
              <a:t>표준편차</a:t>
            </a:r>
            <a:r>
              <a:rPr sz="1600" dirty="0"/>
              <a:t>(Noise Index) </a:t>
            </a:r>
            <a:r>
              <a:rPr sz="1600" dirty="0" err="1"/>
              <a:t>지정</a:t>
            </a:r>
            <a:r>
              <a:rPr sz="1600" dirty="0"/>
              <a:t> → </a:t>
            </a:r>
            <a:r>
              <a:rPr sz="1600" dirty="0" err="1"/>
              <a:t>이를</a:t>
            </a:r>
            <a:r>
              <a:rPr sz="1600" dirty="0"/>
              <a:t> </a:t>
            </a:r>
            <a:r>
              <a:rPr sz="1600" dirty="0" err="1"/>
              <a:t>만족하는</a:t>
            </a:r>
            <a:r>
              <a:rPr sz="1600" dirty="0"/>
              <a:t> mA </a:t>
            </a:r>
            <a:r>
              <a:rPr sz="1600" dirty="0" err="1"/>
              <a:t>역산</a:t>
            </a:r>
            <a:r>
              <a:rPr sz="1600" dirty="0"/>
              <a:t> (GE </a:t>
            </a:r>
            <a:r>
              <a:rPr sz="1600" dirty="0" err="1"/>
              <a:t>AutomA</a:t>
            </a:r>
            <a:r>
              <a:rPr sz="1600" dirty="0"/>
              <a:t>/</a:t>
            </a:r>
            <a:r>
              <a:rPr sz="1600" dirty="0" err="1"/>
              <a:t>SmartmA</a:t>
            </a:r>
            <a:r>
              <a:rPr lang="en-US" sz="1600" dirty="0"/>
              <a:t>, </a:t>
            </a:r>
            <a:r>
              <a:rPr sz="1600" dirty="0"/>
              <a:t>Canon </a:t>
            </a:r>
            <a:r>
              <a:rPr sz="1600" dirty="0" err="1"/>
              <a:t>SUREExposure</a:t>
            </a:r>
            <a:r>
              <a:rPr sz="1600" dirty="0"/>
              <a:t> 3D)</a:t>
            </a:r>
          </a:p>
          <a:p>
            <a:pPr marL="0" indent="0">
              <a:buNone/>
            </a:pPr>
            <a:r>
              <a:rPr sz="1800" dirty="0"/>
              <a:t>② Reference </a:t>
            </a:r>
            <a:r>
              <a:rPr sz="1800" dirty="0" err="1"/>
              <a:t>mAs</a:t>
            </a:r>
            <a:r>
              <a:rPr sz="1800" dirty="0"/>
              <a:t> </a:t>
            </a:r>
            <a:r>
              <a:rPr sz="1800" dirty="0" err="1"/>
              <a:t>기반</a:t>
            </a:r>
            <a:endParaRPr lang="en-US" sz="1800" dirty="0"/>
          </a:p>
          <a:p>
            <a:pPr lvl="1"/>
            <a:r>
              <a:rPr sz="1600" dirty="0" err="1"/>
              <a:t>평균</a:t>
            </a:r>
            <a:r>
              <a:rPr sz="1600" dirty="0"/>
              <a:t> </a:t>
            </a:r>
            <a:r>
              <a:rPr sz="1600" dirty="0" err="1"/>
              <a:t>체구</a:t>
            </a:r>
            <a:r>
              <a:rPr sz="1600" dirty="0"/>
              <a:t> </a:t>
            </a:r>
            <a:r>
              <a:rPr sz="1600" dirty="0" err="1"/>
              <a:t>기준값</a:t>
            </a:r>
            <a:r>
              <a:rPr sz="1600" dirty="0"/>
              <a:t> </a:t>
            </a:r>
            <a:r>
              <a:rPr sz="1600" dirty="0" err="1"/>
              <a:t>지정</a:t>
            </a:r>
            <a:r>
              <a:rPr sz="1600" dirty="0"/>
              <a:t> → </a:t>
            </a:r>
            <a:r>
              <a:rPr sz="1600" dirty="0" err="1"/>
              <a:t>환자</a:t>
            </a:r>
            <a:r>
              <a:rPr sz="1600" dirty="0"/>
              <a:t> </a:t>
            </a:r>
            <a:r>
              <a:rPr sz="1600" dirty="0" err="1"/>
              <a:t>단면</a:t>
            </a:r>
            <a:r>
              <a:rPr sz="1600" dirty="0"/>
              <a:t> </a:t>
            </a:r>
            <a:r>
              <a:rPr sz="1600" dirty="0" err="1"/>
              <a:t>크기에</a:t>
            </a:r>
            <a:r>
              <a:rPr sz="1600" dirty="0"/>
              <a:t> </a:t>
            </a:r>
            <a:r>
              <a:rPr sz="1600" dirty="0" err="1"/>
              <a:t>비례</a:t>
            </a:r>
            <a:r>
              <a:rPr sz="1600" dirty="0"/>
              <a:t> </a:t>
            </a:r>
            <a:r>
              <a:rPr sz="1600" dirty="0" err="1"/>
              <a:t>조정</a:t>
            </a:r>
            <a:r>
              <a:rPr sz="1600" dirty="0"/>
              <a:t> (Siemens CARE Dose4D, Quality Reference </a:t>
            </a:r>
            <a:r>
              <a:rPr sz="1600" dirty="0" err="1"/>
              <a:t>mAs</a:t>
            </a:r>
            <a:r>
              <a:rPr sz="1600" dirty="0"/>
              <a:t>)</a:t>
            </a:r>
          </a:p>
          <a:p>
            <a:pPr marL="0" indent="0">
              <a:buNone/>
            </a:pPr>
            <a:r>
              <a:rPr sz="1800" dirty="0"/>
              <a:t>③ Reference image </a:t>
            </a:r>
            <a:r>
              <a:rPr sz="1800" dirty="0" err="1"/>
              <a:t>기반</a:t>
            </a:r>
            <a:r>
              <a:rPr sz="1800" dirty="0"/>
              <a:t> </a:t>
            </a:r>
            <a:endParaRPr lang="en-US" sz="1800" dirty="0"/>
          </a:p>
          <a:p>
            <a:pPr lvl="1"/>
            <a:r>
              <a:rPr sz="1600" dirty="0" err="1"/>
              <a:t>과거</a:t>
            </a:r>
            <a:r>
              <a:rPr sz="1600" dirty="0"/>
              <a:t> </a:t>
            </a:r>
            <a:r>
              <a:rPr sz="1600" dirty="0" err="1"/>
              <a:t>적정화질</a:t>
            </a:r>
            <a:r>
              <a:rPr sz="1600" dirty="0"/>
              <a:t> </a:t>
            </a:r>
            <a:r>
              <a:rPr sz="1600" dirty="0" err="1"/>
              <a:t>기준영상의</a:t>
            </a:r>
            <a:r>
              <a:rPr sz="1600" dirty="0"/>
              <a:t> </a:t>
            </a:r>
            <a:r>
              <a:rPr sz="1600" dirty="0" err="1"/>
              <a:t>노이즈에</a:t>
            </a:r>
            <a:r>
              <a:rPr sz="1600" dirty="0"/>
              <a:t> </a:t>
            </a:r>
            <a:r>
              <a:rPr sz="1600" dirty="0" err="1"/>
              <a:t>맞춰</a:t>
            </a:r>
            <a:r>
              <a:rPr sz="1600" dirty="0"/>
              <a:t> </a:t>
            </a:r>
            <a:r>
              <a:rPr sz="1600" dirty="0" err="1"/>
              <a:t>역산</a:t>
            </a:r>
            <a:r>
              <a:rPr sz="1600" dirty="0"/>
              <a:t> (Philips DoseRight)</a:t>
            </a:r>
          </a:p>
          <a:p>
            <a:r>
              <a:rPr sz="1800" dirty="0" err="1"/>
              <a:t>공식</a:t>
            </a:r>
            <a:r>
              <a:rPr sz="1800" dirty="0"/>
              <a:t> </a:t>
            </a:r>
            <a:r>
              <a:rPr sz="1800" dirty="0" err="1"/>
              <a:t>비공개</a:t>
            </a:r>
            <a:r>
              <a:rPr sz="1800" dirty="0"/>
              <a:t> — </a:t>
            </a:r>
            <a:r>
              <a:rPr sz="1800" dirty="0" err="1"/>
              <a:t>정확한</a:t>
            </a:r>
            <a:r>
              <a:rPr sz="1800" dirty="0"/>
              <a:t> </a:t>
            </a:r>
            <a:r>
              <a:rPr sz="1800" dirty="0" err="1"/>
              <a:t>변환계수·지수는</a:t>
            </a:r>
            <a:r>
              <a:rPr sz="1800" dirty="0"/>
              <a:t> </a:t>
            </a:r>
            <a:r>
              <a:rPr sz="1800" dirty="0" err="1"/>
              <a:t>특허·영업비밀</a:t>
            </a:r>
            <a:r>
              <a:rPr sz="1800" dirty="0"/>
              <a:t>, </a:t>
            </a:r>
            <a:r>
              <a:rPr sz="1800" dirty="0" err="1"/>
              <a:t>학술문헌엔</a:t>
            </a:r>
            <a:r>
              <a:rPr sz="1800" dirty="0"/>
              <a:t> </a:t>
            </a:r>
            <a:r>
              <a:rPr sz="1800" dirty="0" err="1"/>
              <a:t>원리만</a:t>
            </a:r>
            <a:r>
              <a:rPr sz="1800" dirty="0"/>
              <a:t> </a:t>
            </a:r>
            <a:r>
              <a:rPr sz="1800" dirty="0" err="1"/>
              <a:t>공개</a:t>
            </a:r>
            <a:endParaRPr sz="1800" dirty="0"/>
          </a:p>
          <a:p>
            <a:r>
              <a:rPr sz="1800" dirty="0"/>
              <a:t>본 </a:t>
            </a:r>
            <a:r>
              <a:rPr sz="1800" dirty="0" err="1"/>
              <a:t>연구</a:t>
            </a:r>
            <a:r>
              <a:rPr sz="1800" dirty="0"/>
              <a:t> </a:t>
            </a:r>
            <a:r>
              <a:rPr sz="1800" dirty="0" err="1"/>
              <a:t>시사점</a:t>
            </a:r>
            <a:r>
              <a:rPr sz="1800" dirty="0"/>
              <a:t> — </a:t>
            </a:r>
            <a:r>
              <a:rPr sz="1800" dirty="0" err="1"/>
              <a:t>변조축이</a:t>
            </a:r>
            <a:r>
              <a:rPr sz="1800" dirty="0"/>
              <a:t> </a:t>
            </a:r>
            <a:r>
              <a:rPr sz="1800" dirty="0" err="1"/>
              <a:t>같아도</a:t>
            </a:r>
            <a:r>
              <a:rPr sz="1800" dirty="0"/>
              <a:t> mA </a:t>
            </a:r>
            <a:r>
              <a:rPr sz="1800" dirty="0" err="1"/>
              <a:t>산출</a:t>
            </a:r>
            <a:r>
              <a:rPr sz="1800" dirty="0"/>
              <a:t> </a:t>
            </a:r>
            <a:r>
              <a:rPr sz="1800" dirty="0" err="1"/>
              <a:t>기준은</a:t>
            </a:r>
            <a:r>
              <a:rPr sz="1800" dirty="0"/>
              <a:t> </a:t>
            </a:r>
            <a:r>
              <a:rPr sz="1800" dirty="0" err="1"/>
              <a:t>벤더별로</a:t>
            </a:r>
            <a:r>
              <a:rPr sz="1800" dirty="0"/>
              <a:t> </a:t>
            </a:r>
            <a:r>
              <a:rPr sz="1800" dirty="0" err="1"/>
              <a:t>상이</a:t>
            </a:r>
            <a:r>
              <a:rPr sz="1800" dirty="0"/>
              <a:t> → </a:t>
            </a:r>
            <a:r>
              <a:rPr sz="1800" dirty="0" err="1"/>
              <a:t>기종</a:t>
            </a:r>
            <a:r>
              <a:rPr sz="1800" dirty="0"/>
              <a:t> 간 </a:t>
            </a:r>
            <a:r>
              <a:rPr sz="1800" dirty="0" err="1"/>
              <a:t>절대</a:t>
            </a:r>
            <a:r>
              <a:rPr sz="1800" dirty="0"/>
              <a:t> mA </a:t>
            </a:r>
            <a:r>
              <a:rPr sz="1800" dirty="0" err="1"/>
              <a:t>스케일</a:t>
            </a:r>
            <a:r>
              <a:rPr sz="1800" dirty="0"/>
              <a:t> </a:t>
            </a:r>
            <a:r>
              <a:rPr sz="1800" dirty="0" err="1"/>
              <a:t>비교</a:t>
            </a:r>
            <a:r>
              <a:rPr sz="1800" dirty="0"/>
              <a:t> 시 </a:t>
            </a:r>
            <a:r>
              <a:rPr sz="1800" dirty="0" err="1"/>
              <a:t>유의</a:t>
            </a:r>
            <a:endParaRPr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왜 관전류(mA)를 바꾸는가 — kVp·노출시간과 비교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dirty="0" err="1"/>
              <a:t>관전압</a:t>
            </a:r>
            <a:r>
              <a:rPr dirty="0"/>
              <a:t>(</a:t>
            </a:r>
            <a:r>
              <a:rPr dirty="0" err="1"/>
              <a:t>kVp</a:t>
            </a:r>
            <a:r>
              <a:rPr dirty="0"/>
              <a:t>) </a:t>
            </a:r>
            <a:r>
              <a:rPr dirty="0" err="1"/>
              <a:t>변경</a:t>
            </a:r>
            <a:r>
              <a:rPr dirty="0"/>
              <a:t> 시</a:t>
            </a:r>
            <a:endParaRPr lang="en-US" dirty="0"/>
          </a:p>
          <a:p>
            <a:pPr lvl="1"/>
            <a:r>
              <a:rPr dirty="0" err="1"/>
              <a:t>X선</a:t>
            </a:r>
            <a:r>
              <a:rPr dirty="0"/>
              <a:t> </a:t>
            </a:r>
            <a:r>
              <a:rPr dirty="0" err="1"/>
              <a:t>에너지</a:t>
            </a:r>
            <a:r>
              <a:rPr dirty="0"/>
              <a:t>(</a:t>
            </a:r>
            <a:r>
              <a:rPr dirty="0" err="1"/>
              <a:t>빔의</a:t>
            </a:r>
            <a:r>
              <a:rPr dirty="0"/>
              <a:t> 질) </a:t>
            </a:r>
            <a:r>
              <a:rPr dirty="0" err="1"/>
              <a:t>자체가</a:t>
            </a:r>
            <a:r>
              <a:rPr dirty="0"/>
              <a:t> </a:t>
            </a:r>
            <a:r>
              <a:rPr dirty="0" err="1"/>
              <a:t>바뀜</a:t>
            </a:r>
            <a:r>
              <a:rPr dirty="0"/>
              <a:t>→ </a:t>
            </a:r>
            <a:r>
              <a:rPr dirty="0" err="1"/>
              <a:t>대조도·조영증강·빔경화</a:t>
            </a:r>
            <a:r>
              <a:rPr dirty="0"/>
              <a:t> </a:t>
            </a:r>
            <a:r>
              <a:rPr dirty="0" err="1"/>
              <a:t>특성까지</a:t>
            </a:r>
            <a:r>
              <a:rPr dirty="0"/>
              <a:t> </a:t>
            </a:r>
            <a:r>
              <a:rPr dirty="0" err="1"/>
              <a:t>함께</a:t>
            </a:r>
            <a:r>
              <a:rPr dirty="0"/>
              <a:t> </a:t>
            </a:r>
            <a:r>
              <a:rPr dirty="0" err="1"/>
              <a:t>변해</a:t>
            </a:r>
            <a:r>
              <a:rPr dirty="0"/>
              <a:t> </a:t>
            </a:r>
            <a:r>
              <a:rPr dirty="0" err="1"/>
              <a:t>검사마다</a:t>
            </a:r>
            <a:r>
              <a:rPr dirty="0"/>
              <a:t> </a:t>
            </a:r>
            <a:r>
              <a:rPr dirty="0" err="1"/>
              <a:t>재보정</a:t>
            </a:r>
            <a:r>
              <a:rPr dirty="0"/>
              <a:t> </a:t>
            </a:r>
            <a:r>
              <a:rPr dirty="0" err="1"/>
              <a:t>필요</a:t>
            </a:r>
            <a:endParaRPr dirty="0"/>
          </a:p>
          <a:p>
            <a:r>
              <a:rPr dirty="0" err="1"/>
              <a:t>노출</a:t>
            </a:r>
            <a:r>
              <a:rPr dirty="0"/>
              <a:t>/</a:t>
            </a:r>
            <a:r>
              <a:rPr dirty="0" err="1"/>
              <a:t>회전시간</a:t>
            </a:r>
            <a:r>
              <a:rPr dirty="0"/>
              <a:t> </a:t>
            </a:r>
            <a:r>
              <a:rPr dirty="0" err="1"/>
              <a:t>변경</a:t>
            </a:r>
            <a:r>
              <a:rPr dirty="0"/>
              <a:t> 시</a:t>
            </a:r>
            <a:endParaRPr lang="en-US" dirty="0"/>
          </a:p>
          <a:p>
            <a:pPr lvl="1"/>
            <a:r>
              <a:rPr dirty="0" err="1"/>
              <a:t>스캔</a:t>
            </a:r>
            <a:r>
              <a:rPr dirty="0"/>
              <a:t> </a:t>
            </a:r>
            <a:r>
              <a:rPr dirty="0" err="1"/>
              <a:t>속도가</a:t>
            </a:r>
            <a:r>
              <a:rPr dirty="0"/>
              <a:t> </a:t>
            </a:r>
            <a:r>
              <a:rPr dirty="0" err="1"/>
              <a:t>바뀌어</a:t>
            </a:r>
            <a:r>
              <a:rPr dirty="0"/>
              <a:t> </a:t>
            </a:r>
            <a:r>
              <a:rPr dirty="0" err="1"/>
              <a:t>호흡·연동운동에</a:t>
            </a:r>
            <a:r>
              <a:rPr dirty="0"/>
              <a:t> </a:t>
            </a:r>
            <a:r>
              <a:rPr dirty="0" err="1"/>
              <a:t>의한</a:t>
            </a:r>
            <a:r>
              <a:rPr dirty="0"/>
              <a:t> </a:t>
            </a:r>
            <a:r>
              <a:rPr dirty="0" err="1"/>
              <a:t>움직임</a:t>
            </a:r>
            <a:r>
              <a:rPr dirty="0"/>
              <a:t> </a:t>
            </a:r>
            <a:r>
              <a:rPr dirty="0" err="1"/>
              <a:t>흐림</a:t>
            </a:r>
            <a:r>
              <a:rPr dirty="0"/>
              <a:t>(motion blur) </a:t>
            </a:r>
            <a:r>
              <a:rPr dirty="0" err="1"/>
              <a:t>위험</a:t>
            </a:r>
            <a:r>
              <a:rPr dirty="0"/>
              <a:t> </a:t>
            </a:r>
            <a:r>
              <a:rPr dirty="0" err="1"/>
              <a:t>증가</a:t>
            </a:r>
            <a:r>
              <a:rPr dirty="0"/>
              <a:t>, </a:t>
            </a:r>
            <a:r>
              <a:rPr dirty="0" err="1"/>
              <a:t>기계적</a:t>
            </a:r>
            <a:r>
              <a:rPr dirty="0"/>
              <a:t> </a:t>
            </a:r>
            <a:r>
              <a:rPr dirty="0" err="1"/>
              <a:t>회전</a:t>
            </a:r>
            <a:r>
              <a:rPr dirty="0"/>
              <a:t> </a:t>
            </a:r>
            <a:r>
              <a:rPr dirty="0" err="1"/>
              <a:t>한계도</a:t>
            </a:r>
            <a:r>
              <a:rPr dirty="0"/>
              <a:t> </a:t>
            </a:r>
            <a:r>
              <a:rPr dirty="0" err="1"/>
              <a:t>존재</a:t>
            </a:r>
            <a:endParaRPr dirty="0"/>
          </a:p>
          <a:p>
            <a:r>
              <a:rPr dirty="0" err="1"/>
              <a:t>관전류</a:t>
            </a:r>
            <a:r>
              <a:rPr dirty="0"/>
              <a:t>(mA) </a:t>
            </a:r>
            <a:r>
              <a:rPr dirty="0" err="1"/>
              <a:t>변경</a:t>
            </a:r>
            <a:r>
              <a:rPr dirty="0"/>
              <a:t> 시</a:t>
            </a:r>
            <a:endParaRPr lang="en-US" dirty="0"/>
          </a:p>
          <a:p>
            <a:pPr lvl="1"/>
            <a:r>
              <a:rPr dirty="0" err="1"/>
              <a:t>빔의</a:t>
            </a:r>
            <a:r>
              <a:rPr dirty="0"/>
              <a:t> </a:t>
            </a:r>
            <a:r>
              <a:rPr dirty="0" err="1"/>
              <a:t>에너지·대조도는</a:t>
            </a:r>
            <a:r>
              <a:rPr dirty="0"/>
              <a:t> </a:t>
            </a:r>
            <a:r>
              <a:rPr dirty="0" err="1"/>
              <a:t>그대로</a:t>
            </a:r>
            <a:r>
              <a:rPr dirty="0"/>
              <a:t> </a:t>
            </a:r>
            <a:r>
              <a:rPr dirty="0" err="1"/>
              <a:t>두고</a:t>
            </a:r>
            <a:r>
              <a:rPr dirty="0"/>
              <a:t> </a:t>
            </a:r>
            <a:r>
              <a:rPr dirty="0" err="1"/>
              <a:t>광자</a:t>
            </a:r>
            <a:r>
              <a:rPr dirty="0"/>
              <a:t> 수(</a:t>
            </a:r>
            <a:r>
              <a:rPr dirty="0" err="1"/>
              <a:t>선량</a:t>
            </a:r>
            <a:r>
              <a:rPr dirty="0"/>
              <a:t>)만 </a:t>
            </a:r>
            <a:r>
              <a:rPr dirty="0" err="1"/>
              <a:t>선형적으로</a:t>
            </a:r>
            <a:r>
              <a:rPr dirty="0"/>
              <a:t> </a:t>
            </a:r>
            <a:r>
              <a:rPr dirty="0" err="1"/>
              <a:t>조절</a:t>
            </a:r>
            <a:endParaRPr dirty="0"/>
          </a:p>
          <a:p>
            <a:pPr marL="457200" lvl="1" indent="0">
              <a:buNone/>
            </a:pPr>
            <a:r>
              <a:rPr dirty="0"/>
              <a:t>→ </a:t>
            </a:r>
            <a:r>
              <a:rPr dirty="0" err="1"/>
              <a:t>화질</a:t>
            </a:r>
            <a:r>
              <a:rPr dirty="0"/>
              <a:t> </a:t>
            </a:r>
            <a:r>
              <a:rPr dirty="0" err="1"/>
              <a:t>특성·스캔</a:t>
            </a:r>
            <a:r>
              <a:rPr dirty="0"/>
              <a:t> </a:t>
            </a:r>
            <a:r>
              <a:rPr dirty="0" err="1"/>
              <a:t>속도를</a:t>
            </a:r>
            <a:r>
              <a:rPr dirty="0"/>
              <a:t> </a:t>
            </a:r>
            <a:r>
              <a:rPr dirty="0" err="1"/>
              <a:t>바꾸지</a:t>
            </a:r>
            <a:r>
              <a:rPr dirty="0"/>
              <a:t> </a:t>
            </a:r>
            <a:r>
              <a:rPr dirty="0" err="1"/>
              <a:t>않고</a:t>
            </a:r>
            <a:r>
              <a:rPr dirty="0"/>
              <a:t> </a:t>
            </a:r>
            <a:r>
              <a:rPr dirty="0" err="1"/>
              <a:t>체형</a:t>
            </a:r>
            <a:r>
              <a:rPr dirty="0"/>
              <a:t> </a:t>
            </a:r>
            <a:r>
              <a:rPr dirty="0" err="1"/>
              <a:t>차이만</a:t>
            </a:r>
            <a:r>
              <a:rPr dirty="0"/>
              <a:t> </a:t>
            </a:r>
            <a:r>
              <a:rPr dirty="0" err="1"/>
              <a:t>보정하는</a:t>
            </a:r>
            <a:r>
              <a:rPr dirty="0"/>
              <a:t> </a:t>
            </a:r>
            <a:r>
              <a:rPr dirty="0" err="1"/>
              <a:t>가장</a:t>
            </a:r>
            <a:r>
              <a:rPr dirty="0"/>
              <a:t> '</a:t>
            </a:r>
            <a:r>
              <a:rPr dirty="0" err="1"/>
              <a:t>깨끗한</a:t>
            </a:r>
            <a:r>
              <a:rPr dirty="0"/>
              <a:t>' </a:t>
            </a:r>
            <a:r>
              <a:rPr dirty="0" err="1"/>
              <a:t>조절</a:t>
            </a:r>
            <a:r>
              <a:rPr dirty="0"/>
              <a:t> </a:t>
            </a:r>
            <a:r>
              <a:rPr dirty="0" err="1"/>
              <a:t>변수</a:t>
            </a:r>
            <a:endParaRPr dirty="0"/>
          </a:p>
          <a:p>
            <a:r>
              <a:rPr dirty="0"/>
              <a:t>본 </a:t>
            </a:r>
            <a:r>
              <a:rPr dirty="0" err="1"/>
              <a:t>연구</a:t>
            </a:r>
            <a:r>
              <a:rPr dirty="0"/>
              <a:t> </a:t>
            </a:r>
            <a:r>
              <a:rPr dirty="0" err="1"/>
              <a:t>적용</a:t>
            </a:r>
            <a:r>
              <a:rPr dirty="0"/>
              <a:t> — 100 </a:t>
            </a:r>
            <a:r>
              <a:rPr dirty="0" err="1"/>
              <a:t>kVp·프로토콜</a:t>
            </a:r>
            <a:r>
              <a:rPr dirty="0"/>
              <a:t> </a:t>
            </a:r>
            <a:r>
              <a:rPr dirty="0" err="1"/>
              <a:t>고정</a:t>
            </a:r>
            <a:r>
              <a:rPr dirty="0"/>
              <a:t>, </a:t>
            </a:r>
            <a:r>
              <a:rPr dirty="0" err="1"/>
              <a:t>mA만</a:t>
            </a:r>
            <a:r>
              <a:rPr dirty="0"/>
              <a:t> </a:t>
            </a:r>
            <a:r>
              <a:rPr dirty="0" err="1"/>
              <a:t>환자별로</a:t>
            </a:r>
            <a:r>
              <a:rPr dirty="0"/>
              <a:t> </a:t>
            </a:r>
            <a:r>
              <a:rPr dirty="0" err="1"/>
              <a:t>변함</a:t>
            </a:r>
            <a:r>
              <a:rPr dirty="0"/>
              <a:t> → AEC </a:t>
            </a:r>
            <a:r>
              <a:rPr dirty="0" err="1"/>
              <a:t>곡선이</a:t>
            </a:r>
            <a:r>
              <a:rPr dirty="0"/>
              <a:t> </a:t>
            </a:r>
            <a:r>
              <a:rPr dirty="0" err="1"/>
              <a:t>체형</a:t>
            </a:r>
            <a:r>
              <a:rPr dirty="0"/>
              <a:t> </a:t>
            </a:r>
            <a:r>
              <a:rPr dirty="0" err="1"/>
              <a:t>정보만</a:t>
            </a:r>
            <a:r>
              <a:rPr dirty="0"/>
              <a:t> </a:t>
            </a:r>
            <a:r>
              <a:rPr dirty="0" err="1"/>
              <a:t>담은</a:t>
            </a:r>
            <a:r>
              <a:rPr dirty="0"/>
              <a:t> </a:t>
            </a:r>
            <a:r>
              <a:rPr dirty="0" err="1"/>
              <a:t>순수</a:t>
            </a:r>
            <a:r>
              <a:rPr dirty="0"/>
              <a:t> </a:t>
            </a:r>
            <a:r>
              <a:rPr dirty="0" err="1"/>
              <a:t>신호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DC911F-1C7D-09D5-E29F-864AF03E9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A1FA35-F0A4-BB61-31D0-2D90E0881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FPCA </a:t>
            </a:r>
            <a:r>
              <a:rPr lang="ko-KR" altLang="en-US" dirty="0"/>
              <a:t>원리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AF1D81-F012-59E4-80FD-C7F9006E27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문제 — AEC-128은 환자 1인당 128개의 서로 상관된(autocorrelated) 값 → 그대로 쓰면 다중공선성·과적합 위험</a:t>
            </a:r>
            <a:endParaRPr dirty="0"/>
          </a:p>
          <a:p>
            <a:r>
              <a:t>해결 — 128개 곡선 전체를 몇 개의 '대표 변동 패턴(성분)'으로 압축</a:t>
            </a:r>
          </a:p>
          <a:p>
            <a:r>
              <a:t>정의 — 여러 환자 곡선을 평균곡선 + 직교 성분(PC)들의 선형결합으로 근사 (곡선 자료에 적용한 PCA)</a:t>
            </a:r>
          </a:p>
          <a:p>
            <a:r>
              <a:t>산출물 — 환자 1인당 128개 값 → 성분점수(PC1, PC2, PC3) 단 3개 값으로 요약</a:t>
            </a:r>
          </a:p>
          <a:p>
            <a:r>
              <a:t>채택 근거 — PC1–PC3만으로 곡선 변동의 97.4% 설명 (구체적 계산·실데이터는 다음 슬라이드)</a:t>
            </a:r>
          </a:p>
        </p:txBody>
      </p:sp>
    </p:spTree>
    <p:extLst>
      <p:ext uri="{BB962C8B-B14F-4D97-AF65-F5344CB8AC3E}">
        <p14:creationId xmlns:p14="http://schemas.microsoft.com/office/powerpoint/2010/main" val="8454121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FPCA 계산 4단계 — 128개 값이 3개로 압축되는 과정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① 평균곡선 산출 — 내부 코호트 전체 곡선의 평균 μ(z), z = 1…128</a:t>
            </a:r>
          </a:p>
          <a:p>
            <a:r>
              <a:t>② 편차곡선 계산 — 각 환자 곡선에서 평균을 뺌: d_i(z) = x_i(z) − μ(z)  (그 환자만의 '튀는 부분')</a:t>
            </a:r>
          </a:p>
          <a:p>
            <a:r>
              <a:t>③ 공분산행렬 고유분해 — 128×128 공분산행렬을 eigen-decomposition → 고유벡터(성분 φ_k) + 고유값(λ_k = 설명분산)</a:t>
            </a:r>
          </a:p>
          <a:p>
            <a:r>
              <a:t>④ 투영(projection) — 편차곡선을 성분과 내적: scoreᵢₖ = Σ_z dᵢ(z)·φ_k(z) → 환자별 성분점수</a:t>
            </a:r>
          </a:p>
          <a:p>
            <a:r>
              <a:t>외부 코호트 적용 — 성분(φ_k)은 내부 코호트에서만 추정, 외부는 같은 φ_k에 재학습 없이 투영만 수행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실제</a:t>
            </a:r>
            <a:r>
              <a:rPr dirty="0"/>
              <a:t> </a:t>
            </a:r>
            <a:r>
              <a:rPr dirty="0" err="1"/>
              <a:t>데이터로</a:t>
            </a:r>
            <a:r>
              <a:rPr dirty="0"/>
              <a:t> </a:t>
            </a:r>
            <a:r>
              <a:rPr dirty="0" err="1"/>
              <a:t>보는</a:t>
            </a:r>
            <a:r>
              <a:rPr dirty="0"/>
              <a:t> </a:t>
            </a:r>
            <a:r>
              <a:rPr dirty="0" err="1"/>
              <a:t>곡선</a:t>
            </a:r>
            <a:r>
              <a:rPr dirty="0"/>
              <a:t> </a:t>
            </a:r>
            <a:r>
              <a:rPr dirty="0" err="1"/>
              <a:t>분해</a:t>
            </a:r>
            <a:r>
              <a:rPr dirty="0"/>
              <a:t> — </a:t>
            </a:r>
            <a:r>
              <a:rPr dirty="0" err="1"/>
              <a:t>원본</a:t>
            </a:r>
            <a:r>
              <a:rPr dirty="0"/>
              <a:t> = </a:t>
            </a:r>
            <a:r>
              <a:rPr dirty="0" err="1"/>
              <a:t>평균</a:t>
            </a:r>
            <a:r>
              <a:rPr dirty="0"/>
              <a:t> + </a:t>
            </a:r>
            <a:r>
              <a:rPr dirty="0" err="1"/>
              <a:t>점수×성분모양</a:t>
            </a:r>
            <a:endParaRPr dirty="0"/>
          </a:p>
        </p:txBody>
      </p:sp>
      <p:pic>
        <p:nvPicPr>
          <p:cNvPr id="5" name="Picture 4" descr="slide9_new_decomposi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32" y="1040112"/>
            <a:ext cx="12035736" cy="477777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7C1E6-9497-5E35-0E78-DDAF3520FA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13337-9F39-9B31-7C7C-C0508F27EF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AEC 곡선 FPCA 컴포넌트 수 선택 근거 — Elbow(Kneedle) 방식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0AC746-0FB2-0ABD-55F2-43B51244C5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① Scree curve = 컴포넌트별 개별 explained variance ratio(누적의 1차 차분)</a:t>
            </a:r>
          </a:p>
          <a:p>
            <a:r>
              <a:t>② 축을 0~1 정규화 후 첫점-끝점 직선(chord)까지 수직거리 계산</a:t>
            </a:r>
          </a:p>
          <a:p>
            <a:r>
              <a:t>③ 거리 최대 지점 = elbow (Satopaa et al. 2011, Kneedle 알고리즘)</a:t>
            </a:r>
          </a:p>
          <a:p>
            <a:r>
              <a:t>④ 라벨(HTN/DM/CKD) 미사용 — AEC 곡선 분산 구조만으로 결정(outcome-blind)</a:t>
            </a:r>
          </a:p>
        </p:txBody>
      </p:sp>
    </p:spTree>
    <p:extLst>
      <p:ext uri="{BB962C8B-B14F-4D97-AF65-F5344CB8AC3E}">
        <p14:creationId xmlns:p14="http://schemas.microsoft.com/office/powerpoint/2010/main" val="11473499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cratch_image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1A4B9BE-6ABB-4644-A858-A1BE01A7D227}">
  <we:reference id="wa200010725" version="1.0.0.1" store="ko-KR" storeType="OMEX"/>
  <we:alternateReferences>
    <we:reference id="WA200010725" version="1.0.0.1" store="WA200010725" storeType="OMEX"/>
  </we:alternateReferences>
  <we:properties>
    <we:property name="claude.fileId" value="&quot;b67ecc52-606c-4d9b-921c-389ac737e61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7101</TotalTime>
  <Words>2710</Words>
  <Application>Microsoft Office PowerPoint</Application>
  <PresentationFormat>와이드스크린</PresentationFormat>
  <Paragraphs>102</Paragraphs>
  <Slides>10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4" baseType="lpstr">
      <vt:lpstr>KoPub돋움체 Medium</vt:lpstr>
      <vt:lpstr>KoPub돋움체 Bold</vt:lpstr>
      <vt:lpstr>Arial</vt:lpstr>
      <vt:lpstr>Office 테마</vt:lpstr>
      <vt:lpstr>PowerPoint 프레젠테이션</vt:lpstr>
      <vt:lpstr>AEC 작동 원리</vt:lpstr>
      <vt:lpstr>Tube Current Modulation</vt:lpstr>
      <vt:lpstr>제조사별 AEC 계산 방식</vt:lpstr>
      <vt:lpstr>왜 관전류(mA)를 바꾸는가 — kVp·노출시간과 비교</vt:lpstr>
      <vt:lpstr>FPCA 원리</vt:lpstr>
      <vt:lpstr>FPCA 계산 4단계 — 128개 값이 3개로 압축되는 과정</vt:lpstr>
      <vt:lpstr>실제 데이터로 보는 곡선 분해 — 원본 = 평균 + 점수×성분모양</vt:lpstr>
      <vt:lpstr>AEC 곡선 FPCA 컴포넌트 수 선택 근거 — Elbow(Kneedle) 방식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전장훈</dc:creator>
  <cp:lastModifiedBy>전장훈</cp:lastModifiedBy>
  <cp:revision>686</cp:revision>
  <dcterms:created xsi:type="dcterms:W3CDTF">2026-04-09T07:05:16Z</dcterms:created>
  <dcterms:modified xsi:type="dcterms:W3CDTF">2026-08-18T08:14:14Z</dcterms:modified>
</cp:coreProperties>
</file>