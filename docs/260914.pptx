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8" r:id="rId4"/>
    <p:sldId id="259" r:id="rId5"/>
    <p:sldId id="260" r:id="rId6"/>
    <p:sldId id="272" r:id="rId7"/>
    <p:sldId id="273" r:id="rId8"/>
    <p:sldId id="274" r:id="rId9"/>
    <p:sldId id="275" r:id="rId10"/>
    <p:sldId id="283" r:id="rId11"/>
    <p:sldId id="276" r:id="rId12"/>
    <p:sldId id="281" r:id="rId13"/>
    <p:sldId id="282" r:id="rId14"/>
    <p:sldId id="266" r:id="rId15"/>
    <p:sldId id="268" r:id="rId16"/>
  </p:sldIdLst>
  <p:sldSz cx="12192000" cy="6858000"/>
  <p:notesSz cx="6858000" cy="9144000"/>
  <p:embeddedFontLst>
    <p:embeddedFont>
      <p:font typeface="KoPub돋움체 Bold" panose="00000800000000000000" pitchFamily="2" charset="-127"/>
      <p:bold r:id="rId18"/>
    </p:embeddedFont>
    <p:embeddedFont>
      <p:font typeface="KoPub돋움체 Medium" panose="00000600000000000000" pitchFamily="2" charset="-127"/>
      <p:regular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70"/>
            <p14:sldId id="258"/>
            <p14:sldId id="259"/>
            <p14:sldId id="260"/>
            <p14:sldId id="272"/>
            <p14:sldId id="273"/>
            <p14:sldId id="274"/>
            <p14:sldId id="275"/>
            <p14:sldId id="283"/>
            <p14:sldId id="276"/>
            <p14:sldId id="281"/>
            <p14:sldId id="282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7152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10T05:04:12.456" v="4648" actId="403"/>
      <pc:docMkLst>
        <pc:docMk/>
      </pc:docMkLst>
      <pc:sldChg chg="modSp mod modNotes modNotesTx">
        <pc:chgData name="janghoon jun" userId="056a5883350c2f5e" providerId="LiveId" clId="{6DA654A6-03B0-40F7-A259-B276216985A6}" dt="2026-09-10T04:59:39.505" v="4550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10T05:04:12.456" v="4648" actId="403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4:12.456" v="4648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16:00.971" v="4488" actId="404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9-10T03:16:00.971" v="44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08T03:15:38.775" v="4423" actId="2062"/>
        <pc:sldMkLst>
          <pc:docMk/>
          <pc:sldMk cId="0" sldId="259"/>
        </pc:sldMkLst>
      </pc:sldChg>
      <pc:sldChg chg="delSp modSp del mod">
        <pc:chgData name="janghoon jun" userId="056a5883350c2f5e" providerId="LiveId" clId="{6DA654A6-03B0-40F7-A259-B276216985A6}" dt="2026-09-10T05:01:31.864" v="4601" actId="4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9-10T05:01:04.719" v="4595" actId="21"/>
          <ac:spMkLst>
            <pc:docMk/>
            <pc:sldMk cId="0" sldId="261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1:08.538" v="4597" actId="21"/>
          <ac:picMkLst>
            <pc:docMk/>
            <pc:sldMk cId="0" sldId="261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1:46.958" v="4608" actId="4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9-10T05:01:37.563" v="4603" actId="21"/>
          <ac:spMkLst>
            <pc:docMk/>
            <pc:sldMk cId="0" sldId="262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41.989" v="4605" actId="21"/>
          <ac:picMkLst>
            <pc:docMk/>
            <pc:sldMk cId="0" sldId="262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01.467" v="4615" actId="47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9-10T05:01:54.745" v="4611" actId="21"/>
          <ac:spMkLst>
            <pc:docMk/>
            <pc:sldMk cId="0" sldId="263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59.021" v="4613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33.552" v="4626" actId="47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9-10T05:02:07.183" v="4617" actId="21"/>
          <ac:spMkLst>
            <pc:docMk/>
            <pc:sldMk cId="0" sldId="264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2:10.641" v="4619" actId="21"/>
          <ac:picMkLst>
            <pc:docMk/>
            <pc:sldMk cId="0" sldId="264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3:04.881" v="4633" actId="47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9-10T05:02:38.758" v="4628" actId="21"/>
          <ac:spMkLst>
            <pc:docMk/>
            <pc:sldMk cId="0" sldId="265"/>
            <ac:spMk id="2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54.047" v="4543" actId="255"/>
          <ac:graphicFrameMkLst>
            <pc:docMk/>
            <pc:sldMk cId="0" sldId="265"/>
            <ac:graphicFrameMk id="3" creationId="{00000000-0000-0000-0000-000000000000}"/>
          </ac:graphicFrameMkLst>
        </pc:graphicFrameChg>
        <pc:picChg chg="del">
          <ac:chgData name="janghoon jun" userId="056a5883350c2f5e" providerId="LiveId" clId="{6DA654A6-03B0-40F7-A259-B276216985A6}" dt="2026-09-10T05:02:42.851" v="4630" actId="21"/>
          <ac:picMkLst>
            <pc:docMk/>
            <pc:sldMk cId="0" sldId="265"/>
            <ac:picMk id="3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10T05:03:31.457" v="4640" actId="1076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9-10T03:16:18.752" v="4490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3:31.457" v="4640" actId="1076"/>
          <ac:spMkLst>
            <pc:docMk/>
            <pc:sldMk cId="0" sldId="266"/>
            <ac:spMk id="5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9-10T05:03:27.249" v="4639" actId="107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delSp modSp del mod">
        <pc:chgData name="janghoon jun" userId="056a5883350c2f5e" providerId="LiveId" clId="{6DA654A6-03B0-40F7-A259-B276216985A6}" dt="2026-09-10T05:00:59.834" v="4593" actId="2763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9-08T03:22:06.514" v="448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0:59.834" v="45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9-10T05:04:04.780" v="4641" actId="47"/>
        <pc:sldMkLst>
          <pc:docMk/>
          <pc:sldMk cId="0" sldId="269"/>
        </pc:sldMkLst>
        <pc:graphicFrameChg chg="modGraphic">
          <ac:chgData name="janghoon jun" userId="056a5883350c2f5e" providerId="LiveId" clId="{6DA654A6-03B0-40F7-A259-B276216985A6}" dt="2026-09-10T03:22:45.138" v="4542" actId="255"/>
          <ac:graphicFrameMkLst>
            <pc:docMk/>
            <pc:sldMk cId="0" sldId="269"/>
            <ac:graphicFrameMk id="6" creationId="{E510CECF-189E-7B95-A7D1-8CF39243907A}"/>
          </ac:graphicFrameMkLst>
        </pc:graphicFrameChg>
      </pc:sldChg>
      <pc:sldChg chg="modSp mod">
        <pc:chgData name="janghoon jun" userId="056a5883350c2f5e" providerId="LiveId" clId="{6DA654A6-03B0-40F7-A259-B276216985A6}" dt="2026-09-10T03:22:37.115" v="4541" actId="255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9-10T03:22:37.115" v="4541" actId="255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33.054" v="4540" actId="255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9-10T03:23:12.656" v="4546" actId="271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9-10T03:23:12.656" v="4546" actId="271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22:18.743" v="4536" actId="255"/>
        <pc:sldMkLst>
          <pc:docMk/>
          <pc:sldMk cId="0" sldId="272"/>
        </pc:sldMkLst>
        <pc:graphicFrameChg chg="modGraphic">
          <ac:chgData name="janghoon jun" userId="056a5883350c2f5e" providerId="LiveId" clId="{6DA654A6-03B0-40F7-A259-B276216985A6}" dt="2026-09-10T03:22:18.743" v="4536" actId="255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14.195" v="4600" actId="1076"/>
        <pc:sldMkLst>
          <pc:docMk/>
          <pc:sldMk cId="2755278307" sldId="272"/>
        </pc:sldMkLst>
        <pc:spChg chg="mod">
          <ac:chgData name="janghoon jun" userId="056a5883350c2f5e" providerId="LiveId" clId="{6DA654A6-03B0-40F7-A259-B276216985A6}" dt="2026-09-10T05:01:06.801" v="4596"/>
          <ac:spMkLst>
            <pc:docMk/>
            <pc:sldMk cId="2755278307" sldId="272"/>
            <ac:spMk id="2" creationId="{47399A34-AE2B-4CC6-8304-596321EC9448}"/>
          </ac:spMkLst>
        </pc:spChg>
        <pc:spChg chg="del">
          <ac:chgData name="janghoon jun" userId="056a5883350c2f5e" providerId="LiveId" clId="{6DA654A6-03B0-40F7-A259-B276216985A6}" dt="2026-09-10T05:01:02.342" v="4594" actId="478"/>
          <ac:spMkLst>
            <pc:docMk/>
            <pc:sldMk cId="2755278307" sldId="272"/>
            <ac:spMk id="3" creationId="{8C665CBB-843D-1473-C103-8CBA53FCFA04}"/>
          </ac:spMkLst>
        </pc:spChg>
        <pc:spChg chg="add del mod">
          <ac:chgData name="janghoon jun" userId="056a5883350c2f5e" providerId="LiveId" clId="{6DA654A6-03B0-40F7-A259-B276216985A6}" dt="2026-09-10T05:01:11.596" v="4598" actId="478"/>
          <ac:spMkLst>
            <pc:docMk/>
            <pc:sldMk cId="2755278307" sldId="272"/>
            <ac:spMk id="5" creationId="{093EABBB-1335-B701-D6E0-0A3678A54285}"/>
          </ac:spMkLst>
        </pc:spChg>
        <pc:picChg chg="add mod">
          <ac:chgData name="janghoon jun" userId="056a5883350c2f5e" providerId="LiveId" clId="{6DA654A6-03B0-40F7-A259-B276216985A6}" dt="2026-09-10T05:01:14.195" v="4600" actId="1076"/>
          <ac:picMkLst>
            <pc:docMk/>
            <pc:sldMk cId="2755278307" sldId="272"/>
            <ac:picMk id="7" creationId="{DB5C9DB1-2489-F3D0-1976-537E15A9259F}"/>
          </ac:picMkLst>
        </pc:picChg>
      </pc:sldChg>
      <pc:sldChg chg="modSp mod">
        <pc:chgData name="janghoon jun" userId="056a5883350c2f5e" providerId="LiveId" clId="{6DA654A6-03B0-40F7-A259-B276216985A6}" dt="2026-09-10T03:21:38.729" v="4528" actId="255"/>
        <pc:sldMkLst>
          <pc:docMk/>
          <pc:sldMk cId="0" sldId="273"/>
        </pc:sldMkLst>
        <pc:graphicFrameChg chg="modGraphic">
          <ac:chgData name="janghoon jun" userId="056a5883350c2f5e" providerId="LiveId" clId="{6DA654A6-03B0-40F7-A259-B276216985A6}" dt="2026-09-10T03:21:38.729" v="4528" actId="255"/>
          <ac:graphicFrameMkLst>
            <pc:docMk/>
            <pc:sldMk cId="0" sldId="273"/>
            <ac:graphicFrameMk id="6" creationId="{E510CECF-189E-7B95-A7D1-8CF39243907A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44.278" v="4607" actId="22"/>
        <pc:sldMkLst>
          <pc:docMk/>
          <pc:sldMk cId="3764616405" sldId="273"/>
        </pc:sldMkLst>
        <pc:spChg chg="mod">
          <ac:chgData name="janghoon jun" userId="056a5883350c2f5e" providerId="LiveId" clId="{6DA654A6-03B0-40F7-A259-B276216985A6}" dt="2026-09-10T05:01:39.369" v="4604"/>
          <ac:spMkLst>
            <pc:docMk/>
            <pc:sldMk cId="3764616405" sldId="273"/>
            <ac:spMk id="2" creationId="{81756DD1-59E1-2584-8E19-3E1B59037185}"/>
          </ac:spMkLst>
        </pc:spChg>
        <pc:picChg chg="add">
          <ac:chgData name="janghoon jun" userId="056a5883350c2f5e" providerId="LiveId" clId="{6DA654A6-03B0-40F7-A259-B276216985A6}" dt="2026-09-10T05:01:44.278" v="4607" actId="22"/>
          <ac:picMkLst>
            <pc:docMk/>
            <pc:sldMk cId="3764616405" sldId="273"/>
            <ac:picMk id="4" creationId="{4D791A2B-D934-61D3-05BA-457321A70678}"/>
          </ac:picMkLst>
        </pc:picChg>
        <pc:picChg chg="del">
          <ac:chgData name="janghoon jun" userId="056a5883350c2f5e" providerId="LiveId" clId="{6DA654A6-03B0-40F7-A259-B276216985A6}" dt="2026-09-10T05:01:43.956" v="4606" actId="478"/>
          <ac:picMkLst>
            <pc:docMk/>
            <pc:sldMk cId="3764616405" sldId="273"/>
            <ac:picMk id="7" creationId="{C0C8C0CA-19F3-5E89-D747-E613365C3187}"/>
          </ac:picMkLst>
        </pc:picChg>
      </pc:sldChg>
      <pc:sldChg chg="modSp mod">
        <pc:chgData name="janghoon jun" userId="056a5883350c2f5e" providerId="LiveId" clId="{6DA654A6-03B0-40F7-A259-B276216985A6}" dt="2026-09-10T03:21:46.220" v="4529" actId="255"/>
        <pc:sldMkLst>
          <pc:docMk/>
          <pc:sldMk cId="0" sldId="274"/>
        </pc:sldMkLst>
        <pc:graphicFrameChg chg="modGraphic">
          <ac:chgData name="janghoon jun" userId="056a5883350c2f5e" providerId="LiveId" clId="{6DA654A6-03B0-40F7-A259-B276216985A6}" dt="2026-09-10T03:21:46.220" v="4529" actId="255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59.785" v="4614" actId="22"/>
        <pc:sldMkLst>
          <pc:docMk/>
          <pc:sldMk cId="2820107391" sldId="274"/>
        </pc:sldMkLst>
        <pc:spChg chg="mod">
          <ac:chgData name="janghoon jun" userId="056a5883350c2f5e" providerId="LiveId" clId="{6DA654A6-03B0-40F7-A259-B276216985A6}" dt="2026-09-10T05:01:56.743" v="4612"/>
          <ac:spMkLst>
            <pc:docMk/>
            <pc:sldMk cId="2820107391" sldId="274"/>
            <ac:spMk id="2" creationId="{96BE39D2-BACD-9BFA-6BEF-E23EB76F52A3}"/>
          </ac:spMkLst>
        </pc:spChg>
        <pc:picChg chg="del">
          <ac:chgData name="janghoon jun" userId="056a5883350c2f5e" providerId="LiveId" clId="{6DA654A6-03B0-40F7-A259-B276216985A6}" dt="2026-09-10T05:01:51.432" v="4610" actId="478"/>
          <ac:picMkLst>
            <pc:docMk/>
            <pc:sldMk cId="2820107391" sldId="274"/>
            <ac:picMk id="4" creationId="{44560D41-702E-22B7-E44B-6688B87607EB}"/>
          </ac:picMkLst>
        </pc:picChg>
        <pc:picChg chg="add">
          <ac:chgData name="janghoon jun" userId="056a5883350c2f5e" providerId="LiveId" clId="{6DA654A6-03B0-40F7-A259-B276216985A6}" dt="2026-09-10T05:01:59.785" v="4614" actId="22"/>
          <ac:picMkLst>
            <pc:docMk/>
            <pc:sldMk cId="2820107391" sldId="274"/>
            <ac:picMk id="5" creationId="{789B8AA2-C797-6A65-8F18-1F3D8565FBA8}"/>
          </ac:picMkLst>
        </pc:picChg>
      </pc:sldChg>
      <pc:sldChg chg="modSp mod">
        <pc:chgData name="janghoon jun" userId="056a5883350c2f5e" providerId="LiveId" clId="{6DA654A6-03B0-40F7-A259-B276216985A6}" dt="2026-09-10T03:23:26.413" v="4549" actId="2710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9-10T03:23:26.413" v="4549" actId="2710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add mod">
        <pc:chgData name="janghoon jun" userId="056a5883350c2f5e" providerId="LiveId" clId="{6DA654A6-03B0-40F7-A259-B276216985A6}" dt="2026-09-10T05:02:27.064" v="4625" actId="1076"/>
        <pc:sldMkLst>
          <pc:docMk/>
          <pc:sldMk cId="1751739855" sldId="275"/>
        </pc:sldMkLst>
        <pc:spChg chg="mod">
          <ac:chgData name="janghoon jun" userId="056a5883350c2f5e" providerId="LiveId" clId="{6DA654A6-03B0-40F7-A259-B276216985A6}" dt="2026-09-10T05:02:08.939" v="4618"/>
          <ac:spMkLst>
            <pc:docMk/>
            <pc:sldMk cId="1751739855" sldId="275"/>
            <ac:spMk id="2" creationId="{6F7E1DCF-9740-40AC-B307-1426493A0AC5}"/>
          </ac:spMkLst>
        </pc:spChg>
        <pc:picChg chg="add mod">
          <ac:chgData name="janghoon jun" userId="056a5883350c2f5e" providerId="LiveId" clId="{6DA654A6-03B0-40F7-A259-B276216985A6}" dt="2026-09-10T05:02:27.064" v="4625" actId="1076"/>
          <ac:picMkLst>
            <pc:docMk/>
            <pc:sldMk cId="1751739855" sldId="275"/>
            <ac:picMk id="4" creationId="{84710ACD-2049-27DA-4399-427001462009}"/>
          </ac:picMkLst>
        </pc:picChg>
        <pc:picChg chg="del">
          <ac:chgData name="janghoon jun" userId="056a5883350c2f5e" providerId="LiveId" clId="{6DA654A6-03B0-40F7-A259-B276216985A6}" dt="2026-09-10T05:02:12.860" v="4620" actId="478"/>
          <ac:picMkLst>
            <pc:docMk/>
            <pc:sldMk cId="1751739855" sldId="275"/>
            <ac:picMk id="5" creationId="{9575D779-2B9E-87D3-6075-E635B5824B4E}"/>
          </ac:picMkLst>
        </pc:picChg>
      </pc:sldChg>
      <pc:sldChg chg="modSp mod">
        <pc:chgData name="janghoon jun" userId="056a5883350c2f5e" providerId="LiveId" clId="{6DA654A6-03B0-40F7-A259-B276216985A6}" dt="2026-09-10T03:21:51.722" v="4530" actId="255"/>
        <pc:sldMkLst>
          <pc:docMk/>
          <pc:sldMk cId="0" sldId="276"/>
        </pc:sldMkLst>
        <pc:graphicFrameChg chg="modGraphic">
          <ac:chgData name="janghoon jun" userId="056a5883350c2f5e" providerId="LiveId" clId="{6DA654A6-03B0-40F7-A259-B276216985A6}" dt="2026-09-10T03:21:51.722" v="4530" actId="255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2:45.534" v="4632" actId="22"/>
        <pc:sldMkLst>
          <pc:docMk/>
          <pc:sldMk cId="1504938630" sldId="276"/>
        </pc:sldMkLst>
        <pc:spChg chg="mod">
          <ac:chgData name="janghoon jun" userId="056a5883350c2f5e" providerId="LiveId" clId="{6DA654A6-03B0-40F7-A259-B276216985A6}" dt="2026-09-10T05:02:40.704" v="4629"/>
          <ac:spMkLst>
            <pc:docMk/>
            <pc:sldMk cId="1504938630" sldId="276"/>
            <ac:spMk id="2" creationId="{913683FB-DF95-E126-F2AF-437AEE942621}"/>
          </ac:spMkLst>
        </pc:spChg>
        <pc:picChg chg="del">
          <ac:chgData name="janghoon jun" userId="056a5883350c2f5e" providerId="LiveId" clId="{6DA654A6-03B0-40F7-A259-B276216985A6}" dt="2026-09-10T05:02:45.004" v="4631" actId="478"/>
          <ac:picMkLst>
            <pc:docMk/>
            <pc:sldMk cId="1504938630" sldId="276"/>
            <ac:picMk id="4" creationId="{46693135-C301-9F06-2589-F08988C88813}"/>
          </ac:picMkLst>
        </pc:picChg>
        <pc:picChg chg="add">
          <ac:chgData name="janghoon jun" userId="056a5883350c2f5e" providerId="LiveId" clId="{6DA654A6-03B0-40F7-A259-B276216985A6}" dt="2026-09-10T05:02:45.534" v="4632" actId="22"/>
          <ac:picMkLst>
            <pc:docMk/>
            <pc:sldMk cId="1504938630" sldId="276"/>
            <ac:picMk id="5" creationId="{D4DA04F9-B60D-B9E9-17B8-B1E936BB0517}"/>
          </ac:picMkLst>
        </pc:picChg>
      </pc:sldChg>
      <pc:sldChg chg="add del">
        <pc:chgData name="janghoon jun" userId="056a5883350c2f5e" providerId="LiveId" clId="{6DA654A6-03B0-40F7-A259-B276216985A6}" dt="2026-09-10T05:03:12.292" v="4635" actId="47"/>
        <pc:sldMkLst>
          <pc:docMk/>
          <pc:sldMk cId="2410116862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2026-09-14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연구미팅용 발표자료. 0910 체성분 개별변수 vs AEC 성능비교 결과 발표 — 배경(AEC 신호 부재)→방법→결과→논의 순으로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기존 AEC 연구 트랙에서 fusion·CNN·FPCA·전처리 변형 등 20여 개 독립 방법론을 시도했지만 clinic4 baseline 대비 유의미한 추가 signal을 찾지 못했음(family-wise 보정 후 대부분 생존 0건). 반면 데이터셋에는 이미 VAT/SAT/IMATA/NAMA/LAMA/TAMA 체성분 값과 그 128구간 곡선이 확보돼 있어, 같은 평가 프레임으로 재활용 가능한지 탐색한 것이 이번 분석의 출발점. 세그멘테이션 대체(비열등성) 프레임과는 별개로, 이번엔 '어떤 변수가 실제로 우월한 예측력을 주는가'를 우월성 관점에서 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숫자만 먼저 제시. baseline AUC는 HTN/DM/CKD 순으로 외부검증 0.718/0.666/0.616 — CKD가 가장 낮아 개선 여지가 큼. BH-FDR 보정 후 75건 중 11건 생존은 결코 낮은 비율이 아님(AEC family는 과거 60개 중 1건 수준이었던 것과 대비). CKD의 myosteatosis 신호는 세 가지 서로 다른 표현(비율/스칼라/FPCA)에서 모두 살아남아 우연일 가능성이 낮다는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AEC와 동일하게 clinic4에 변수를 1개씩만 추가하는 것이 핵심 설계 원칙 — 여러 변수를 한 번에 합치면 SMI=TAMA/Height² 같은 파생관계로 다중공선성이 생기기 때문에 의도적으로 개별 추가만 봄. 변수간 비율 3종은 임상적으로 이미 의미가 정립된 지표(VAT/SAT=중심비만, LAMA/TAMA=myosteatosis)만 선정.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9021-3954-7807-A929-63B7F847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B23FA-6F05-7A68-4EED-4D1D24038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D3A8D-395D-FA09-B9BD-99210E977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DBFC5-43C5-9D99-1A72-0FE6B0B13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5450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3FD2-D6B3-DDBF-607D-E6677DD3C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AB95E-2841-0EFA-B406-7DAE06FB2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B2525-F6C2-2291-00D0-FAE3A741C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1F13A-7AE4-D714-6967-1D5C38679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2807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9803-0BC6-EC07-CD32-5E53B406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56E70-7F9F-B7FB-E311-3B822DFFE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C6431-BDF9-A5CE-A23D-D83C81AF7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고정값 n=3 대신 곡선별 elbow(Kneedle) 검증값을 그대로 사용(AEC·IMATA=3, 나머지=2). LAMA/NAMA FPCA가 CKD에서 스칼라·비율과 같은 방향으로 개선을 보여 표현 방식이 달라도 결과가 일관됨을 시사.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C9F9D-C088-7FF0-FB35-BA8D77A26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08879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B811A-8B0C-F7C9-EFAD-5FCCEFA76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56DCA-5230-01B8-6C27-A7C07E8E9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A292B-8EC8-90F1-37B8-F92313F08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06AE-AC15-7EE0-2C18-BC8E0C893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161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A528-9910-2AA7-92AF-C33B4BA6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3C210-EECD-E7B9-FF0F-DF1BCF8BE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D67F9-E8F1-E2A9-4C82-533517C13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내부/외부 코호트 역할을 엄격히 분리 — internal(강남)에서만 5-fold CV로 모델을 보고, external(신촌)은 그 결과와 무관하게 동결된 모델로 딱 1번만 평가. 하이퍼파라미터는 이번엔 변수별로 튜닝하지 않고 기본값을 통일 적용했다는 점은 한계로 논의사항에서 다시 언급.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CEFDB-8268-35A7-C4FF-CE423890E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1220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4CC5-41D3-E1FC-A090-16EE69C8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80679-D17B-00CF-6509-FFFF63D54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AFEC2-5F7B-0F24-0DFF-876175EE2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질환별 top5(clinic4 대비 external ΔAUC 상위 5개)를 2행 grid OR forest로 표시. top5(LAMA/TAMA ratio, LAMA, VAT/SAT ratio, VAT slope, LAMA FPCA)가 LAMA(myosteatosis)와 VAT(중심비만) 계열로만 구성 - IMATA는 top5 밖. AEC도 top5에 없음.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67404-9264-32B4-8B36-CED1BA681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9385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D876-89A4-67D2-E7A4-11DDD3017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C1837-6FF5-5FAB-F4EE-7D1FA9D5CF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980F9-92C7-69A7-8D0B-D286AA81D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질환별 top5(clinic4 대비 external ΔAUC 상위 5개)를 2행 grid OR forest로 표시. top5(LAMA/TAMA ratio, LAMA, VAT/SAT ratio, VAT slope, LAMA FPCA)가 LAMA(myosteatosis)와 VAT(중심비만) 계열로만 구성 - IMATA는 top5 밖. AEC도 top5에 없음.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D2286-55CD-24A3-62A7-3BE5ED522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93325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EDA9-CE55-9BC0-F257-3AAE13E35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55855-68B3-2884-43BF-1D6D68FD2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28069-4228-C2C3-7529-FC30975C9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질환별 top5(clinic4 대비 external ΔAUC 상위 5개)를 2행 grid OR forest로 표시. top5(LAMA/TAMA ratio, LAMA, VAT/SAT ratio, VAT slope, LAMA FPCA)가 LAMA(myosteatosis)와 VAT(중심비만) 계열로만 구성 - IMATA는 top5 밖. AEC도 top5에 없음.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CC66B-5593-EE68-DB30-13412170B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1996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다중비교 보정 후에도 살아남은 17건 전체 표(32모델로 확장). slope 표현이 3곳(HTN IMATA, DM IMATA, CKD LAMA/AEC)에 새로 등장한 점을 짚을 것. 표가 이전보다 길어졌으니 발표 시 CKD/HTN/DM 순으로 묶어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myosteatosis(LAMA/NAMA)와 지방침윤 방향성(IMATA slope)이 표현 방식에 관계없이 반복적으로 유의했다는 것이 핵심 메시지. 곡선 표현을 3종까지 늘려도(FPCA/Upper-Lower ratio/slope) 결론이 흔들리지 않고 오히려 새 신호로 보강됐다는 점이 강건성 주장을 뒷받침.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" y="2203269"/>
            <a:ext cx="96728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chemeClr val="bg1"/>
                </a:solidFill>
              </a:rPr>
              <a:t>체성분 개별 변수 vs AEC 성능비교 (HTN·DM·CKD)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074" y="3091544"/>
            <a:ext cx="13292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chemeClr val="bg1"/>
                </a:solidFill>
              </a:rPr>
              <a:t>2026. 09. 1</a:t>
            </a:r>
            <a:r>
              <a:rPr lang="en-US" sz="1600" dirty="0">
                <a:solidFill>
                  <a:schemeClr val="bg1"/>
                </a:solidFill>
              </a:rPr>
              <a:t>4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1074" y="3548744"/>
            <a:ext cx="1946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chemeClr val="bg1"/>
                </a:solidFill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4" y="4005944"/>
            <a:ext cx="509325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bg1"/>
                </a:solidFill>
              </a:rPr>
              <a:t>Department of, Medical Device Engineering &amp; Management</a:t>
            </a:r>
          </a:p>
          <a:p>
            <a:r>
              <a:rPr sz="1400">
                <a:solidFill>
                  <a:schemeClr val="bg1"/>
                </a:solidFill>
              </a:rPr>
              <a:t>Gangnam Severance Hospital,</a:t>
            </a:r>
          </a:p>
          <a:p>
            <a:r>
              <a:rPr sz="1400">
                <a:solidFill>
                  <a:schemeClr val="bg1"/>
                </a:solidFill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배경 및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 err="1"/>
              <a:t>기존</a:t>
            </a:r>
            <a:r>
              <a:rPr sz="1800" dirty="0"/>
              <a:t> AEC-128 </a:t>
            </a:r>
            <a:r>
              <a:rPr sz="1800" dirty="0" err="1"/>
              <a:t>곡선</a:t>
            </a:r>
            <a:r>
              <a:rPr sz="1800" dirty="0"/>
              <a:t> </a:t>
            </a:r>
            <a:r>
              <a:rPr sz="1800" dirty="0" err="1"/>
              <a:t>연구</a:t>
            </a:r>
            <a:r>
              <a:rPr sz="1800" dirty="0"/>
              <a:t>: 20여 개 </a:t>
            </a:r>
            <a:r>
              <a:rPr sz="1800" dirty="0" err="1"/>
              <a:t>독립</a:t>
            </a:r>
            <a:r>
              <a:rPr sz="1800" dirty="0"/>
              <a:t> </a:t>
            </a:r>
            <a:r>
              <a:rPr sz="1800" dirty="0" err="1"/>
              <a:t>방법론</a:t>
            </a:r>
            <a:r>
              <a:rPr sz="1800" dirty="0"/>
              <a:t>(FPCA, 1D CNN, GAF </a:t>
            </a:r>
            <a:r>
              <a:rPr sz="1800" dirty="0" err="1"/>
              <a:t>이미지</a:t>
            </a:r>
            <a:r>
              <a:rPr sz="1800" dirty="0"/>
              <a:t>, multimodal fusion 등)</a:t>
            </a:r>
            <a:r>
              <a:rPr sz="1800" dirty="0" err="1"/>
              <a:t>에서</a:t>
            </a:r>
            <a:r>
              <a:rPr sz="1800" dirty="0"/>
              <a:t> clinic4 </a:t>
            </a:r>
            <a:r>
              <a:rPr sz="1800" dirty="0" err="1"/>
              <a:t>대비</a:t>
            </a:r>
            <a:r>
              <a:rPr sz="1800" dirty="0"/>
              <a:t> </a:t>
            </a:r>
            <a:r>
              <a:rPr sz="1800" dirty="0" err="1"/>
              <a:t>유의미한</a:t>
            </a:r>
            <a:r>
              <a:rPr sz="1800" dirty="0"/>
              <a:t> </a:t>
            </a:r>
            <a:r>
              <a:rPr sz="1800" dirty="0" err="1"/>
              <a:t>추가</a:t>
            </a:r>
            <a:r>
              <a:rPr sz="1800" dirty="0"/>
              <a:t> signal </a:t>
            </a:r>
            <a:r>
              <a:rPr sz="1800" dirty="0" err="1"/>
              <a:t>확인</a:t>
            </a:r>
            <a:r>
              <a:rPr sz="1800" dirty="0"/>
              <a:t> 안 됨</a:t>
            </a:r>
          </a:p>
          <a:p>
            <a:r>
              <a:rPr sz="1800" dirty="0" err="1"/>
              <a:t>gangnam</a:t>
            </a:r>
            <a:r>
              <a:rPr sz="1800" dirty="0"/>
              <a:t>/</a:t>
            </a:r>
            <a:r>
              <a:rPr sz="1800" dirty="0" err="1"/>
              <a:t>sinchon_final_dataset.xlsx에는</a:t>
            </a:r>
            <a:r>
              <a:rPr sz="1800" dirty="0"/>
              <a:t> AEC </a:t>
            </a:r>
            <a:r>
              <a:rPr sz="1800" dirty="0" err="1"/>
              <a:t>외에도</a:t>
            </a:r>
            <a:r>
              <a:rPr sz="1800" dirty="0"/>
              <a:t> VAT/SAT/IMATA/NAMA/LAMA/TAMA </a:t>
            </a:r>
            <a:r>
              <a:rPr sz="1800" dirty="0" err="1"/>
              <a:t>체성분</a:t>
            </a:r>
            <a:r>
              <a:rPr sz="1800" dirty="0"/>
              <a:t> 스칼라·128구간 </a:t>
            </a:r>
            <a:r>
              <a:rPr sz="1800" dirty="0" err="1"/>
              <a:t>곡선</a:t>
            </a:r>
            <a:r>
              <a:rPr sz="1800" dirty="0"/>
              <a:t> </a:t>
            </a:r>
            <a:r>
              <a:rPr sz="1800" dirty="0" err="1"/>
              <a:t>데이터가</a:t>
            </a:r>
            <a:r>
              <a:rPr sz="1800" dirty="0"/>
              <a:t> </a:t>
            </a:r>
            <a:r>
              <a:rPr sz="1800" dirty="0" err="1"/>
              <a:t>이미</a:t>
            </a:r>
            <a:r>
              <a:rPr sz="1800" dirty="0"/>
              <a:t> </a:t>
            </a:r>
            <a:r>
              <a:rPr sz="1800" dirty="0" err="1"/>
              <a:t>확보되어</a:t>
            </a:r>
            <a:r>
              <a:rPr sz="1800" dirty="0"/>
              <a:t> </a:t>
            </a:r>
            <a:r>
              <a:rPr sz="1800" dirty="0" err="1"/>
              <a:t>있음</a:t>
            </a:r>
            <a:endParaRPr sz="1800" dirty="0"/>
          </a:p>
          <a:p>
            <a:r>
              <a:rPr sz="1800" dirty="0" err="1"/>
              <a:t>질문</a:t>
            </a:r>
            <a:r>
              <a:rPr sz="1800" dirty="0"/>
              <a:t>: </a:t>
            </a:r>
            <a:r>
              <a:rPr sz="1800" dirty="0" err="1"/>
              <a:t>AEC와</a:t>
            </a:r>
            <a:r>
              <a:rPr sz="1800" dirty="0"/>
              <a:t> </a:t>
            </a:r>
            <a:r>
              <a:rPr sz="1800" dirty="0" err="1"/>
              <a:t>동일한</a:t>
            </a:r>
            <a:r>
              <a:rPr sz="1800" dirty="0"/>
              <a:t> </a:t>
            </a:r>
            <a:r>
              <a:rPr sz="1800" dirty="0" err="1"/>
              <a:t>프레임</a:t>
            </a:r>
            <a:r>
              <a:rPr sz="1800" dirty="0"/>
              <a:t>(clinic4 + </a:t>
            </a:r>
            <a:r>
              <a:rPr sz="1800" dirty="0" err="1"/>
              <a:t>변수</a:t>
            </a:r>
            <a:r>
              <a:rPr sz="1800" dirty="0"/>
              <a:t> 1개, internal </a:t>
            </a:r>
            <a:r>
              <a:rPr sz="1800" dirty="0" err="1"/>
              <a:t>CV·external</a:t>
            </a:r>
            <a:r>
              <a:rPr sz="1800" dirty="0"/>
              <a:t> </a:t>
            </a:r>
            <a:r>
              <a:rPr sz="1800" dirty="0" err="1"/>
              <a:t>DeLong·BH-FDR</a:t>
            </a:r>
            <a:r>
              <a:rPr sz="1800" dirty="0"/>
              <a:t>)</a:t>
            </a:r>
            <a:r>
              <a:rPr sz="1800" dirty="0" err="1"/>
              <a:t>으로</a:t>
            </a:r>
            <a:r>
              <a:rPr sz="1800" dirty="0"/>
              <a:t> </a:t>
            </a:r>
            <a:r>
              <a:rPr sz="1800" dirty="0" err="1"/>
              <a:t>비교했을</a:t>
            </a:r>
            <a:r>
              <a:rPr sz="1800" dirty="0"/>
              <a:t> 때, </a:t>
            </a:r>
            <a:r>
              <a:rPr sz="1800" dirty="0" err="1"/>
              <a:t>다른</a:t>
            </a:r>
            <a:r>
              <a:rPr sz="1800" dirty="0"/>
              <a:t> </a:t>
            </a:r>
            <a:r>
              <a:rPr sz="1800" dirty="0" err="1"/>
              <a:t>체성분</a:t>
            </a:r>
            <a:r>
              <a:rPr sz="1800" dirty="0"/>
              <a:t> </a:t>
            </a:r>
            <a:r>
              <a:rPr sz="1800" dirty="0" err="1"/>
              <a:t>데이터가</a:t>
            </a:r>
            <a:r>
              <a:rPr sz="1800" dirty="0"/>
              <a:t> 더 </a:t>
            </a:r>
            <a:r>
              <a:rPr sz="1800" dirty="0" err="1"/>
              <a:t>강한</a:t>
            </a:r>
            <a:r>
              <a:rPr sz="1800" dirty="0"/>
              <a:t> </a:t>
            </a:r>
            <a:r>
              <a:rPr sz="1800" dirty="0" err="1"/>
              <a:t>신호를</a:t>
            </a:r>
            <a:r>
              <a:rPr sz="1800" dirty="0"/>
              <a:t> </a:t>
            </a:r>
            <a:r>
              <a:rPr sz="1800" dirty="0" err="1"/>
              <a:t>보이는가</a:t>
            </a:r>
            <a:r>
              <a:rPr sz="1800" dirty="0"/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1800" dirty="0"/>
              <a:t>clinic4(age/sex/height/weight) </a:t>
            </a:r>
            <a:r>
              <a:rPr sz="1800" dirty="0" err="1"/>
              <a:t>baseline에</a:t>
            </a:r>
            <a:r>
              <a:rPr sz="1800" dirty="0"/>
              <a:t> </a:t>
            </a:r>
            <a:r>
              <a:rPr sz="1800" dirty="0" err="1"/>
              <a:t>체성분</a:t>
            </a:r>
            <a:r>
              <a:rPr sz="1800" dirty="0"/>
              <a:t> 32개 </a:t>
            </a:r>
            <a:r>
              <a:rPr sz="1800" dirty="0" err="1"/>
              <a:t>확장모델을</a:t>
            </a:r>
            <a:r>
              <a:rPr sz="1800" dirty="0"/>
              <a:t> 1개씩 </a:t>
            </a:r>
            <a:r>
              <a:rPr sz="1800" dirty="0" err="1"/>
              <a:t>개별</a:t>
            </a:r>
            <a:r>
              <a:rPr sz="1800" dirty="0"/>
              <a:t> </a:t>
            </a:r>
            <a:r>
              <a:rPr sz="1800" dirty="0" err="1"/>
              <a:t>추가해</a:t>
            </a:r>
            <a:r>
              <a:rPr sz="1800" dirty="0"/>
              <a:t> </a:t>
            </a:r>
            <a:r>
              <a:rPr sz="1800" dirty="0" err="1"/>
              <a:t>AEC와</a:t>
            </a:r>
            <a:r>
              <a:rPr sz="1800" dirty="0"/>
              <a:t> </a:t>
            </a:r>
            <a:r>
              <a:rPr sz="1800" dirty="0" err="1"/>
              <a:t>동일한</a:t>
            </a:r>
            <a:r>
              <a:rPr sz="1800" dirty="0"/>
              <a:t> </a:t>
            </a:r>
            <a:r>
              <a:rPr sz="1800" dirty="0" err="1"/>
              <a:t>방식으로</a:t>
            </a:r>
            <a:r>
              <a:rPr sz="1800" dirty="0"/>
              <a:t> </a:t>
            </a:r>
            <a:r>
              <a:rPr sz="1800" dirty="0" err="1"/>
              <a:t>성능비교</a:t>
            </a:r>
            <a:r>
              <a:rPr sz="1800" dirty="0"/>
              <a:t>(</a:t>
            </a:r>
            <a:r>
              <a:rPr sz="1800" dirty="0" err="1"/>
              <a:t>스칼라</a:t>
            </a:r>
            <a:r>
              <a:rPr sz="1800" dirty="0"/>
              <a:t> 8종 · </a:t>
            </a:r>
            <a:r>
              <a:rPr sz="1800" dirty="0" err="1"/>
              <a:t>변수간</a:t>
            </a:r>
            <a:r>
              <a:rPr sz="1800" dirty="0"/>
              <a:t> </a:t>
            </a:r>
            <a:r>
              <a:rPr sz="1800" dirty="0" err="1"/>
              <a:t>비율</a:t>
            </a:r>
            <a:r>
              <a:rPr sz="1800" dirty="0"/>
              <a:t> 3종 · </a:t>
            </a:r>
            <a:r>
              <a:rPr sz="1800" dirty="0" err="1"/>
              <a:t>곡선</a:t>
            </a:r>
            <a:r>
              <a:rPr sz="1800" dirty="0"/>
              <a:t> FPCA/Upper-Lower ratio/slope 7종×3)</a:t>
            </a:r>
          </a:p>
          <a:p>
            <a:r>
              <a:rPr sz="1800" dirty="0" err="1"/>
              <a:t>질환별</a:t>
            </a:r>
            <a:r>
              <a:rPr sz="1800" dirty="0"/>
              <a:t> baseline AUC(external): HTN 0.718 · DM 0.666 · CKD 0.616</a:t>
            </a:r>
          </a:p>
          <a:p>
            <a:r>
              <a:rPr sz="1800" dirty="0" err="1"/>
              <a:t>internal은</a:t>
            </a:r>
            <a:r>
              <a:rPr sz="1800" dirty="0"/>
              <a:t> 5-fold CV OOF, </a:t>
            </a:r>
            <a:r>
              <a:rPr sz="1800" dirty="0" err="1"/>
              <a:t>external은</a:t>
            </a:r>
            <a:r>
              <a:rPr sz="1800" dirty="0"/>
              <a:t> </a:t>
            </a:r>
            <a:r>
              <a:rPr sz="1800" dirty="0" err="1"/>
              <a:t>동결모델</a:t>
            </a:r>
            <a:r>
              <a:rPr sz="1800" dirty="0"/>
              <a:t> 1회 </a:t>
            </a:r>
            <a:r>
              <a:rPr sz="1800" dirty="0" err="1"/>
              <a:t>평가</a:t>
            </a:r>
            <a:r>
              <a:rPr sz="1800" dirty="0"/>
              <a:t> + DeLong test</a:t>
            </a:r>
          </a:p>
          <a:p>
            <a:r>
              <a:rPr sz="1800" dirty="0"/>
              <a:t>BH-FDR </a:t>
            </a:r>
            <a:r>
              <a:rPr sz="1800" dirty="0" err="1"/>
              <a:t>다중비교</a:t>
            </a:r>
            <a:r>
              <a:rPr sz="1800" dirty="0"/>
              <a:t> </a:t>
            </a:r>
            <a:r>
              <a:rPr sz="1800" dirty="0" err="1"/>
              <a:t>보정</a:t>
            </a:r>
            <a:r>
              <a:rPr sz="1800" dirty="0"/>
              <a:t>(3질환×32모델=96건 family) 후 </a:t>
            </a:r>
            <a:r>
              <a:rPr sz="1800" dirty="0" err="1"/>
              <a:t>유의</a:t>
            </a:r>
            <a:r>
              <a:rPr sz="1800" dirty="0"/>
              <a:t>(q&lt;0.05): 17/96건</a:t>
            </a:r>
          </a:p>
          <a:p>
            <a:r>
              <a:rPr sz="1800" dirty="0" err="1"/>
              <a:t>CKD에서</a:t>
            </a:r>
            <a:r>
              <a:rPr sz="1800" dirty="0"/>
              <a:t> </a:t>
            </a:r>
            <a:r>
              <a:rPr sz="1800" dirty="0" err="1"/>
              <a:t>myosteatosis</a:t>
            </a:r>
            <a:r>
              <a:rPr sz="1800" dirty="0"/>
              <a:t> </a:t>
            </a:r>
            <a:r>
              <a:rPr sz="1800" dirty="0" err="1"/>
              <a:t>지표</a:t>
            </a:r>
            <a:r>
              <a:rPr sz="1800" dirty="0"/>
              <a:t>(LAMA/TAMA ratio, LAMA, LAMA FPCA, LAMA slope, NAMA FPCA)가 5가지 </a:t>
            </a:r>
            <a:r>
              <a:rPr sz="1800" dirty="0" err="1"/>
              <a:t>표현</a:t>
            </a:r>
            <a:r>
              <a:rPr sz="1800" dirty="0"/>
              <a:t> </a:t>
            </a:r>
            <a:r>
              <a:rPr sz="1800" dirty="0" err="1"/>
              <a:t>모두</a:t>
            </a:r>
            <a:r>
              <a:rPr sz="1800" dirty="0"/>
              <a:t> </a:t>
            </a:r>
            <a:r>
              <a:rPr sz="1800" dirty="0" err="1"/>
              <a:t>최상위로</a:t>
            </a:r>
            <a:r>
              <a:rPr sz="1800" dirty="0"/>
              <a:t> </a:t>
            </a:r>
            <a:r>
              <a:rPr sz="1800" dirty="0" err="1"/>
              <a:t>생존</a:t>
            </a:r>
            <a:r>
              <a:rPr sz="1800" dirty="0"/>
              <a:t> — </a:t>
            </a:r>
            <a:r>
              <a:rPr sz="1800" dirty="0" err="1"/>
              <a:t>가장</a:t>
            </a:r>
            <a:r>
              <a:rPr sz="1800" dirty="0"/>
              <a:t> </a:t>
            </a:r>
            <a:r>
              <a:rPr sz="1800" dirty="0" err="1"/>
              <a:t>일관된</a:t>
            </a:r>
            <a:r>
              <a:rPr sz="1800" dirty="0"/>
              <a:t> </a:t>
            </a:r>
            <a:r>
              <a:rPr sz="1800" dirty="0" err="1"/>
              <a:t>신호</a:t>
            </a:r>
            <a:endParaRPr sz="1800" dirty="0"/>
          </a:p>
          <a:p>
            <a:r>
              <a:rPr sz="1800" dirty="0"/>
              <a:t>IMATA </a:t>
            </a:r>
            <a:r>
              <a:rPr sz="1800" dirty="0" err="1"/>
              <a:t>slope는</a:t>
            </a:r>
            <a:r>
              <a:rPr sz="1800" dirty="0"/>
              <a:t> HTN·DM 둘 </a:t>
            </a:r>
            <a:r>
              <a:rPr sz="1800" dirty="0" err="1"/>
              <a:t>다에서</a:t>
            </a:r>
            <a:r>
              <a:rPr sz="1800" dirty="0"/>
              <a:t> </a:t>
            </a:r>
            <a:r>
              <a:rPr sz="1800" dirty="0" err="1"/>
              <a:t>유의</a:t>
            </a:r>
            <a:r>
              <a:rPr sz="1800" dirty="0"/>
              <a:t>(q≈0.005) — slope </a:t>
            </a:r>
            <a:r>
              <a:rPr sz="1800" dirty="0" err="1"/>
              <a:t>표현에서만</a:t>
            </a:r>
            <a:r>
              <a:rPr sz="1800" dirty="0"/>
              <a:t> </a:t>
            </a:r>
            <a:r>
              <a:rPr sz="1800" dirty="0" err="1"/>
              <a:t>드러난</a:t>
            </a:r>
            <a:r>
              <a:rPr sz="1800" dirty="0"/>
              <a:t> </a:t>
            </a:r>
            <a:r>
              <a:rPr sz="1800" dirty="0" err="1"/>
              <a:t>신규</a:t>
            </a:r>
            <a:r>
              <a:rPr sz="1800" dirty="0"/>
              <a:t> </a:t>
            </a:r>
            <a:r>
              <a:rPr sz="1800" dirty="0" err="1"/>
              <a:t>발견</a:t>
            </a:r>
            <a:endParaRPr sz="1800" dirty="0"/>
          </a:p>
          <a:p>
            <a:r>
              <a:rPr sz="1800" dirty="0" err="1"/>
              <a:t>체성분</a:t>
            </a:r>
            <a:r>
              <a:rPr sz="1800" dirty="0"/>
              <a:t>(LAMA/TAMA ratio 등)을 </a:t>
            </a:r>
            <a:r>
              <a:rPr sz="1800" dirty="0" err="1"/>
              <a:t>baseline에</a:t>
            </a:r>
            <a:r>
              <a:rPr sz="1800" dirty="0"/>
              <a:t> </a:t>
            </a:r>
            <a:r>
              <a:rPr sz="1800" dirty="0" err="1"/>
              <a:t>고정하면</a:t>
            </a:r>
            <a:r>
              <a:rPr sz="1800" dirty="0"/>
              <a:t> AEC </a:t>
            </a:r>
            <a:r>
              <a:rPr sz="1800" dirty="0" err="1"/>
              <a:t>추가효과는</a:t>
            </a:r>
            <a:r>
              <a:rPr sz="1800" dirty="0"/>
              <a:t> 9건 중 0건 </a:t>
            </a:r>
            <a:r>
              <a:rPr sz="1800" dirty="0" err="1"/>
              <a:t>유의</a:t>
            </a:r>
            <a:r>
              <a:rPr sz="1800" dirty="0"/>
              <a:t> — </a:t>
            </a:r>
            <a:r>
              <a:rPr sz="1800" dirty="0" err="1"/>
              <a:t>체성분이</a:t>
            </a:r>
            <a:r>
              <a:rPr sz="1800" dirty="0"/>
              <a:t> AEC </a:t>
            </a:r>
            <a:r>
              <a:rPr sz="1800" dirty="0" err="1"/>
              <a:t>정보를</a:t>
            </a:r>
            <a:r>
              <a:rPr sz="1800" dirty="0"/>
              <a:t> </a:t>
            </a:r>
            <a:r>
              <a:rPr sz="1800" dirty="0" err="1"/>
              <a:t>상당</a:t>
            </a:r>
            <a:r>
              <a:rPr sz="1800" dirty="0"/>
              <a:t> </a:t>
            </a:r>
            <a:r>
              <a:rPr sz="1800" dirty="0" err="1"/>
              <a:t>부분</a:t>
            </a:r>
            <a:r>
              <a:rPr sz="1800" dirty="0"/>
              <a:t> </a:t>
            </a:r>
            <a:r>
              <a:rPr sz="1800" dirty="0" err="1"/>
              <a:t>포함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① 모델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1800"/>
              <a:t>Baseline clinic4: age, sex, height, weight</a:t>
            </a:r>
          </a:p>
          <a:p>
            <a:r>
              <a:rPr sz="1800"/>
              <a:t>스칼라 8종: BMI, SMI, VAT, SAT, IMATA, NAMA, LAMA, TAMA (metadata 시트 값 그대로 clinic4에 1개씩 추가)</a:t>
            </a:r>
          </a:p>
          <a:p>
            <a:r>
              <a:rPr sz="1800"/>
              <a:t>변수간 비율 3종: VAT/SAT(중심비만), LAMA/TAMA(myosteatosis), IMATA/TAMA(근육 내 지방침윤)</a:t>
            </a:r>
          </a:p>
          <a:p>
            <a:r>
              <a:rPr sz="1800"/>
              <a:t>곡선 7종(AEC 포함) × 3표현: FPCA(elbow-선정 n), Upper/Lower(앞64/뒤64) 평균비율, slope(liver→pubis 선형회귀 기울기)</a:t>
            </a:r>
          </a:p>
          <a:p>
            <a:r>
              <a:rPr sz="1800"/>
              <a:t>slope는 "FPCA·Upper/Lower ratio 말고 다른 방법이 있나"는 질문에서 추가 - 곡선의 단조 증감 방향을 포착하는 표현으로, 시도 결과 신규 유의신호(IMATA slope)가 확인돼 채택</a:t>
            </a:r>
          </a:p>
          <a:p>
            <a:r>
              <a:rPr sz="1800"/>
              <a:t>총 32개 확장모델 = 스칼라 8 + 비율 3 + 곡선 7×3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실험설계 ② 검증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Internal(강남, n≈1259): StratifiedKFold(5) OOF로 AUC 산출 — 모델 선택/탐색은 이 안에서만</a:t>
            </a:r>
          </a:p>
          <a:p>
            <a:r>
              <a:rPr sz="1800"/>
              <a:t>External(신촌, n≈1123): internal 전체로 학습한 동결모델을 1회만 평가(모델 선택에는 사용하지 않음)</a:t>
            </a:r>
          </a:p>
          <a:p>
            <a:r>
              <a:rPr sz="1800"/>
              <a:t>FPCA는 fold별로 학습 fold에서만 PCA를 다시 fit(곡선 정보 누수 방지), n_components은 곡선별 elbow 값 고정 사용(고정값 3에서 elbow 기반으로 전환)</a:t>
            </a:r>
          </a:p>
          <a:p>
            <a:r>
              <a:rPr sz="1800"/>
              <a:t>로지스틱 회귀는 모든 모델에 동일 기본값(C=1.0, L2, lbfgs) 적용 — 변수별 그리드서치는 하지 않음</a:t>
            </a:r>
          </a:p>
          <a:p>
            <a:r>
              <a:rPr sz="1800"/>
              <a:t>DeLong test로 clinic4 대비 ΔAUC 유의성 검정, cohort(internal/external)별로 BH-FDR 다중비교 보정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92A9-C270-BFD1-4BE0-65BC8759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A34-AE2B-4CC6-8304-596321EC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①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 err="1"/>
              <a:t>체성분</a:t>
            </a:r>
            <a:r>
              <a:rPr lang="ko-KR" altLang="en-US" dirty="0"/>
              <a:t> 스칼라 </a:t>
            </a:r>
            <a:r>
              <a:rPr lang="en-US" altLang="ko-KR" dirty="0"/>
              <a:t>8</a:t>
            </a:r>
            <a:r>
              <a:rPr lang="ko-KR" altLang="en-US" dirty="0"/>
              <a:t>종</a:t>
            </a:r>
            <a:endParaRPr dirty="0"/>
          </a:p>
        </p:txBody>
      </p:sp>
      <p:pic>
        <p:nvPicPr>
          <p:cNvPr id="7" name="Picture 2" descr="scalar.png">
            <a:extLst>
              <a:ext uri="{FF2B5EF4-FFF2-40B4-BE49-F238E27FC236}">
                <a16:creationId xmlns:a16="http://schemas.microsoft.com/office/drawing/2014/main" id="{DB5C9DB1-2489-F3D0-1976-537E15A92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97112"/>
            <a:ext cx="11176000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78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829C-CDFC-1114-42D1-70FE58F5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6DD1-59E1-2584-8E19-3E1B5903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②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/>
              <a:t>변수간 비율 </a:t>
            </a:r>
            <a:r>
              <a:rPr lang="en-US" altLang="ko-KR" dirty="0"/>
              <a:t>3</a:t>
            </a:r>
            <a:r>
              <a:rPr lang="ko-KR" altLang="en-US" dirty="0"/>
              <a:t>종</a:t>
            </a:r>
            <a:endParaRPr dirty="0"/>
          </a:p>
        </p:txBody>
      </p:sp>
      <p:pic>
        <p:nvPicPr>
          <p:cNvPr id="4" name="Picture 2" descr="inter_var_ratio.png">
            <a:extLst>
              <a:ext uri="{FF2B5EF4-FFF2-40B4-BE49-F238E27FC236}">
                <a16:creationId xmlns:a16="http://schemas.microsoft.com/office/drawing/2014/main" id="{4D791A2B-D934-61D3-05BA-457321A70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79695"/>
            <a:ext cx="11176000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1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78F6-45FC-B519-A6B1-FA426329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39D2-BACD-9BFA-6BEF-E23EB76F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③ AUC 요약 — 곡선 FPCA(elbow n)</a:t>
            </a:r>
          </a:p>
        </p:txBody>
      </p:sp>
      <p:pic>
        <p:nvPicPr>
          <p:cNvPr id="3" name="Picture 2" descr="curve_fpca_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222353"/>
            <a:ext cx="11176000" cy="465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07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E6F31-9EAC-1A0D-478B-26004878B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1DCF-9740-40AC-B307-1426493A0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④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/>
              <a:t>곡선 </a:t>
            </a:r>
            <a:r>
              <a:rPr lang="en-US" altLang="ko-KR" dirty="0"/>
              <a:t>Upper/Lower ratio</a:t>
            </a:r>
            <a:endParaRPr dirty="0"/>
          </a:p>
        </p:txBody>
      </p:sp>
      <p:pic>
        <p:nvPicPr>
          <p:cNvPr id="4" name="Picture 2" descr="curve_uplow_ratio.png">
            <a:extLst>
              <a:ext uri="{FF2B5EF4-FFF2-40B4-BE49-F238E27FC236}">
                <a16:creationId xmlns:a16="http://schemas.microsoft.com/office/drawing/2014/main" id="{84710ACD-2049-27DA-4399-427001462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" y="1687373"/>
            <a:ext cx="12096206" cy="381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39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6DF83-7EBC-869F-D81A-C5536DFCC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C902-6A79-F840-B2FF-28873F4D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⑤ </a:t>
            </a:r>
            <a:r>
              <a:rPr lang="en-US" altLang="ko-KR" dirty="0"/>
              <a:t>AUC </a:t>
            </a:r>
            <a:r>
              <a:rPr lang="ko-KR" altLang="en-US" dirty="0"/>
              <a:t>요약 </a:t>
            </a:r>
            <a:r>
              <a:rPr lang="en-US" altLang="ko-KR" dirty="0"/>
              <a:t>— </a:t>
            </a:r>
            <a:r>
              <a:rPr lang="ko-KR" altLang="en-US" dirty="0"/>
              <a:t>곡선 </a:t>
            </a:r>
            <a:r>
              <a:rPr lang="en-US" altLang="ko-KR" dirty="0"/>
              <a:t>slope (</a:t>
            </a:r>
            <a:r>
              <a:rPr lang="en-US" altLang="ko-KR" dirty="0" err="1"/>
              <a:t>liver→pubis</a:t>
            </a:r>
            <a:r>
              <a:rPr lang="ko-KR" altLang="en-US" dirty="0"/>
              <a:t> 선형추세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5" name="Picture 2" descr="curve_slope.png">
            <a:extLst>
              <a:ext uri="{FF2B5EF4-FFF2-40B4-BE49-F238E27FC236}">
                <a16:creationId xmlns:a16="http://schemas.microsoft.com/office/drawing/2014/main" id="{31C21536-BC32-0F99-2971-13BD8EBD7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179695"/>
            <a:ext cx="11176000" cy="47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73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16802-09C9-C1BB-2D65-038A636D1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83FB-DF95-E126-F2AF-437AEE94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⑥ Top 5 교차비교 — HTN</a:t>
            </a:r>
          </a:p>
        </p:txBody>
      </p:sp>
      <p:pic>
        <p:nvPicPr>
          <p:cNvPr id="3" name="Picture 2" descr="o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788" y="897468"/>
            <a:ext cx="9116423" cy="538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38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62536-9DC9-BB32-5C9F-0CA3A88F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AA41-DBC5-A7B4-F20E-4323727B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⑥ </a:t>
            </a:r>
            <a:r>
              <a:rPr lang="en-US" altLang="ko-KR" dirty="0"/>
              <a:t>Top 5 </a:t>
            </a:r>
            <a:r>
              <a:rPr lang="ko-KR" altLang="en-US" dirty="0"/>
              <a:t>교차비교 </a:t>
            </a:r>
            <a:r>
              <a:rPr lang="en-US" altLang="ko-KR" dirty="0"/>
              <a:t>— DM</a:t>
            </a:r>
            <a:endParaRPr dirty="0"/>
          </a:p>
        </p:txBody>
      </p:sp>
      <p:pic>
        <p:nvPicPr>
          <p:cNvPr id="3" name="Picture 2" descr="o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81" y="897468"/>
            <a:ext cx="8753437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40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385F-D19A-907F-53B5-ED3061E8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C9E53-C20D-877B-9378-5C0750E0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⑥ </a:t>
            </a:r>
            <a:r>
              <a:rPr lang="en-US" altLang="ko-KR" dirty="0"/>
              <a:t>Top 5 </a:t>
            </a:r>
            <a:r>
              <a:rPr lang="ko-KR" altLang="en-US" dirty="0"/>
              <a:t>교차비교 </a:t>
            </a:r>
            <a:r>
              <a:rPr lang="en-US" altLang="ko-KR" dirty="0"/>
              <a:t>— CKD</a:t>
            </a:r>
            <a:endParaRPr dirty="0"/>
          </a:p>
        </p:txBody>
      </p:sp>
      <p:pic>
        <p:nvPicPr>
          <p:cNvPr id="3" name="Picture 2" descr="o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81" y="897468"/>
            <a:ext cx="8753437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0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⑦ DeLong·BH-FDR 유의 결과 (external, q&lt;0.05)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818388"/>
            <a:ext cx="11176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/>
              <a:t>BH-FDR family = 3질환 × 32확장모델 = 96건. TAMA Upper/Lower ratio(CKD)는 ΔAUC 음수(악화). slope 추가 후 IMATA slope(HTN·DM)·LAMA slope(CKD)·AEC slope(CKD) 신규 진입.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74595"/>
              </p:ext>
            </p:extLst>
          </p:nvPr>
        </p:nvGraphicFramePr>
        <p:xfrm>
          <a:off x="508000" y="975360"/>
          <a:ext cx="11176000" cy="4836467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370">
                <a:tc>
                  <a:txBody>
                    <a:bodyPr/>
                    <a:lstStyle/>
                    <a:p>
                      <a:r>
                        <a:rPr sz="1100" b="1"/>
                        <a:t>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clinic4 + 확장모델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ΔAUC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DeLong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b="1"/>
                        <a:t>BH-FDR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LAMA/TAMA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+0.0434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 FPCA(n=2)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+0.0426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NAMA FPCA(n=2)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+0.0226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+0.0338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TAMA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-0.0014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AEC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AEC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VAT/SAT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IMATA slope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+0.0074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VAT Upper/Lower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8241">
                <a:tc>
                  <a:txBody>
                    <a:bodyPr/>
                    <a:lstStyle/>
                    <a:p>
                      <a:r>
                        <a:rPr sz="105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+0.0175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/>
                        <a:t>0.0024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0.020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1800"/>
              <a:t>CKD: LAMA/TAMA ratio·LAMA·LAMA FPCA·LAMA slope·NAMA FPCA까지 myosteatosis 관련 5개 표현이 모두 생존 — 가장 강건한 신호</a:t>
            </a:r>
          </a:p>
          <a:p>
            <a:r>
              <a:rPr sz="1800"/>
              <a:t>HTN·DM: IMATA slope가 공통으로 유의 — slope 표현에서만 드러나는 신규 신호</a:t>
            </a:r>
          </a:p>
          <a:p>
            <a:r>
              <a:rPr sz="1800"/>
              <a:t>AEC는 CKD에서만 2/3표현 생존 — 체성분 개별변수(15/87건)가 3질환 전반에서 더 폭넓게 강건</a:t>
            </a:r>
          </a:p>
          <a:p>
            <a:r>
              <a:rPr sz="1800"/>
              <a:t>체성분(LAMA/TAMA ratio 등)을 baseline에 고정하면 AEC를 추가해도 9건 중 0건 유의 — AEC가 담던 정보 상당수를 체성분이 이미 포함한다는 직접적 증거</a:t>
            </a:r>
          </a:p>
          <a:p>
            <a:r>
              <a:rPr sz="1800"/>
              <a:t>FPCA n_components을 elbow로 조정하고 slope를 추가해도 결론 불변, 오히려 신규 신호(NAMA FPCA, IMATA slope)로 보강됨</a:t>
            </a:r>
          </a:p>
          <a:p>
            <a:r>
              <a:rPr sz="1800"/>
              <a:t>SMI·BMI·TAMA(스칼라)·SAT 계열은 3질환 모두 뚜렷한 신호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7225</TotalTime>
  <Words>1859</Words>
  <Application>Microsoft Office PowerPoint</Application>
  <PresentationFormat>와이드스크린</PresentationFormat>
  <Paragraphs>153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KoPub돋움체 Medium</vt:lpstr>
      <vt:lpstr>KoPub돋움체 Bold</vt:lpstr>
      <vt:lpstr>Arial</vt:lpstr>
      <vt:lpstr>Office 테마</vt:lpstr>
      <vt:lpstr>PowerPoint 프레젠테이션</vt:lpstr>
      <vt:lpstr>연구 배경 및 목적</vt:lpstr>
      <vt:lpstr>Research Summary</vt:lpstr>
      <vt:lpstr>실험설계 ① 모델 정의</vt:lpstr>
      <vt:lpstr>실험설계 ② 검증 원칙</vt:lpstr>
      <vt:lpstr>결과 ① AUC 요약 — 체성분 스칼라 8종</vt:lpstr>
      <vt:lpstr>결과 ② AUC 요약 — 변수간 비율 3종</vt:lpstr>
      <vt:lpstr>결과 ③ AUC 요약 — 곡선 FPCA(elbow n)</vt:lpstr>
      <vt:lpstr>결과 ④ AUC 요약 — 곡선 Upper/Lower ratio</vt:lpstr>
      <vt:lpstr>결과 ⑤ AUC 요약 — 곡선 slope (liver→pubis 선형추세)</vt:lpstr>
      <vt:lpstr>결과 ⑥ Top 5 교차비교 — HTN</vt:lpstr>
      <vt:lpstr>결과 ⑥ Top 5 교차비교 — DM</vt:lpstr>
      <vt:lpstr>결과 ⑥ Top 5 교차비교 — CKD</vt:lpstr>
      <vt:lpstr>결과 ⑦ DeLong·BH-FDR 유의 결과 (external, q&lt;0.05)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699</cp:revision>
  <dcterms:created xsi:type="dcterms:W3CDTF">2026-04-09T07:05:16Z</dcterms:created>
  <dcterms:modified xsi:type="dcterms:W3CDTF">2026-09-14T01:00:50Z</dcterms:modified>
</cp:coreProperties>
</file>