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75" r:id="rId11"/>
    <p:sldId id="283" r:id="rId12"/>
    <p:sldId id="276" r:id="rId13"/>
    <p:sldId id="281" r:id="rId14"/>
    <p:sldId id="282" r:id="rId15"/>
    <p:sldId id="266" r:id="rId16"/>
    <p:sldId id="267" r:id="rId17"/>
    <p:sldId id="278" r:id="rId18"/>
    <p:sldId id="271" r:id="rId19"/>
    <p:sldId id="268" r:id="rId20"/>
  </p:sldIdLst>
  <p:sldSz cx="12192000" cy="6858000"/>
  <p:notesSz cx="6858000" cy="9144000"/>
  <p:embeddedFontLst>
    <p:embeddedFont>
      <p:font typeface="KoPub돋움체 Bold" panose="00000800000000000000" pitchFamily="2" charset="-127"/>
      <p:bold r:id="rId22"/>
    </p:embeddedFont>
    <p:embeddedFont>
      <p:font typeface="KoPub돋움체 Medium" panose="00000600000000000000" pitchFamily="2" charset="-127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70"/>
            <p14:sldId id="257"/>
            <p14:sldId id="258"/>
            <p14:sldId id="259"/>
            <p14:sldId id="260"/>
            <p14:sldId id="272"/>
            <p14:sldId id="273"/>
            <p14:sldId id="274"/>
            <p14:sldId id="275"/>
            <p14:sldId id="283"/>
            <p14:sldId id="276"/>
            <p14:sldId id="281"/>
            <p14:sldId id="282"/>
            <p14:sldId id="266"/>
            <p14:sldId id="267"/>
            <p14:sldId id="278"/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연구미팅용 발표자료. 0910 체성분 개별변수 vs AEC 성능비교 결과 발표 — 배경(AEC 신호 부재)→방법→결과→논의 순으로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기존 AEC 연구 트랙에서 fusion·CNN·FPCA·전처리 변형 등 20여 개 독립 방법론을 시도했지만 clinic4 baseline 대비 유의미한 추가 signal을 찾지 못했음(family-wise 보정 후 대부분 생존 0건). 반면 데이터셋에는 이미 VAT/SAT/IMATA/NAMA/LAMA/TAMA 체성분 값과 그 128구간 곡선이 확보돼 있어, 같은 평가 프레임으로 재활용 가능한지 탐색한 것이 이번 분석의 출발점. 세그멘테이션 대체(비열등성) 프레임과는 별개로, 이번엔 '어떤 변수가 실제로 우월한 예측력을 주는가'를 우월성 관점에서 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전체 발표 흐름 안내. 배경→방법→결과(4개 표현 방식 요약, top5, 유의결과, AEC 비교)→논의→결론 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숫자만 먼저 제시. baseline AUC는 HTN/DM/CKD 순으로 외부검증 0.718/0.666/0.616 — CKD가 가장 낮아 개선 여지가 큼. BH-FDR 보정 후 75건 중 11건 생존은 결코 낮은 비율이 아님(AEC family는 과거 60개 중 1건 수준이었던 것과 대비). CKD의 myosteatosis 신호는 세 가지 서로 다른 표현(비율/스칼라/FPCA)에서 모두 살아남아 우연일 가능성이 낮다는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AEC와 동일하게 clinic4에 변수를 1개씩만 추가하는 것이 핵심 설계 원칙 — 여러 변수를 한 번에 합치면 SMI=TAMA/Height² 같은 파생관계로 다중공선성이 생기기 때문에 의도적으로 개별 추가만 봄. 변수간 비율 3종은 임상적으로 이미 의미가 정립된 지표(VAT/SAT=중심비만, LAMA/TAMA=myosteatosis)만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9021-3954-7807-A929-63B7F847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B23FA-6F05-7A68-4EED-4D1D24038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D3A8D-395D-FA09-B9BD-99210E977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DBFC5-43C5-9D99-1A72-0FE6B0B13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450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3FD2-D6B3-DDBF-607D-E6677DD3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B95E-2841-0EFA-B406-7DAE06FB2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2525-F6C2-2291-00D0-FAE3A741C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1F13A-7AE4-D714-6967-1D5C38679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2807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9803-0BC6-EC07-CD32-5E53B406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56E70-7F9F-B7FB-E311-3B822DFFE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C6431-BDF9-A5CE-A23D-D83C81AF7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고정값 n=3 대신 곡선별 elbow(Kneedle) 검증값을 그대로 사용(AEC·IMATA=3, 나머지=2). LAMA/NAMA FPCA가 CKD에서 스칼라·비율과 같은 방향으로 개선을 보여 표현 방식이 달라도 결과가 일관됨을 시사.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C9F9D-C088-7FF0-FB35-BA8D77A26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8879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811A-8B0C-F7C9-EFAD-5FCCEFA7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56DCA-5230-01B8-6C27-A7C07E8E9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292B-8EC8-90F1-37B8-F92313F08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06AE-AC15-7EE0-2C18-BC8E0C893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161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A528-9910-2AA7-92AF-C33B4BA6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C210-EECD-E7B9-FF0F-DF1BCF8BE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D67F9-E8F1-E2A9-4C82-533517C13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EFDB-8268-35A7-C4FF-CE423890E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1220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CC5-41D3-E1FC-A090-16EE69C8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80679-D17B-00CF-6509-FFFF63D54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AFEC2-5F7B-0F24-0DFF-876175EE2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7404-9264-32B4-8B36-CED1BA681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9385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D876-89A4-67D2-E7A4-11DDD301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C1837-6FF5-5FAB-F4EE-7D1FA9D5C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980F9-92C7-69A7-8D0B-D286AA81D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2286-55CD-24A3-62A7-3BE5ED522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3325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EDA9-CE55-9BC0-F257-3AAE13E3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55855-68B3-2884-43BF-1D6D68FD2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28069-4228-C2C3-7529-FC30975C9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C66B-5593-EE68-DB30-13412170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1996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다중비교 보정 후에도 살아남은 17건 전체 표(32모델로 확장). slope 표현이 3곳(HTN IMATA, DM IMATA, CKD LAMA/AEC)에 새로 등장한 점을 짚을 것. 표가 이전보다 길어졌으니 발표 시 CKD/HTN/DM 순으로 묶어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 6개 비교 중 CKD Upper/Lower ratio 1건만 생존. 같은 family(75건) 안에서 체성분 개별변수가 9건 생존한 것과 대비해 AEC보다 체성분 데이터의 신호가 전반적으로 더 강건하다는 결론의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 분석이 'AEC vs 체성분'을 넘어 'AEC가 체성분과 독립적으로 추가 정보를 주는가'라는 더 직접적인 질문에 답함. 결과는 0/9 - 즉 체성분(특히 LAMA/TAMA ratio, LAMA)이 이미 AEC가 담던 정보 상당수를 포함하고 있다는 뜻. 다만 전부 양의 방향(AEC를 더하면 항상 소폭 상승)이라는 점은 AEC가 완전히 무관하지는 않다는 뉘앙스로 짚어줄 것 - 표본이 더 크면 유의해질 가능성도 논의 포인트로 남겨둠.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교수님께 확인이 필요한 지점들. 특히 LAMA/TAMA ratio를 핵심으로 다음 단계 분석을 진행할지, 하이퍼파라미터 튜닝을 어디까지 할지, family 구성을 어떻게 재설계할지에 대한 의견을 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myosteatosis(LAMA/NAMA)와 지방침윤 방향성(IMATA slope)이 표현 방식에 관계없이 반복적으로 유의했다는 것이 핵심 메시지. 곡선 표현을 3종까지 늘려도(FPCA/Upper-Lower ratio/slope) 결론이 흔들리지 않고 오히려 새 신호로 보강됐다는 점이 강건성 주장을 뒷받침.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672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bg1"/>
                </a:solidFill>
              </a:rPr>
              <a:t>체성분 개별 변수 vs AEC 성능비교 (HTN·DM·CKD)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/>
                </a:solidFill>
              </a:rPr>
              <a:t>2026. 09. 10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기존 AEC-128 곡선 연구: 20여 개 독립 방법론(FPCA, 1D CNN, GAF 이미지, multimodal fusion 등)에서 clinic4 대비 유의미한 추가 signal 확인 안 됨</a:t>
            </a:r>
          </a:p>
          <a:p>
            <a:r>
              <a:rPr sz="1800"/>
              <a:t>gangnam/sinchon_final_dataset.xlsx에는 AEC 외에도 VAT/SAT/IMATA/NAMA/LAMA/TAMA 체성분 스칼라·128구간 곡선 데이터가 이미 확보되어 있음</a:t>
            </a:r>
          </a:p>
          <a:p>
            <a:r>
              <a:rPr sz="1800"/>
              <a:t>질문: AEC와 동일한 프레임(clinic4 + 변수 1개, internal CV·external DeLong·BH-FDR)으로 비교했을 때, 다른 체성분 데이터가 더 강한 신호를 보이는가?</a:t>
            </a:r>
          </a:p>
          <a:p>
            <a:r>
              <a:rPr sz="1800"/>
              <a:t>본 자료는 이 질문에 대한 1차 탐색 결과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800"/>
              <a:t>연구 배경 및 목적</a:t>
            </a:r>
            <a:endParaRPr sz="1600" dirty="0"/>
          </a:p>
          <a:p>
            <a:r>
              <a:rPr sz="1800"/>
              <a:t>Research Summary</a:t>
            </a:r>
          </a:p>
          <a:p>
            <a:r>
              <a:rPr sz="1800"/>
              <a:t>실험설계 ① 모델 정의(clinic4 + 32개 확장모델)</a:t>
            </a:r>
          </a:p>
          <a:p>
            <a:r>
              <a:rPr sz="1800"/>
              <a:t>실험설계 ② 검증 원칙</a:t>
            </a:r>
          </a:p>
          <a:p>
            <a:r>
              <a:rPr sz="1800"/>
              <a:t>결과 ① ~ ⑤ AUC 요약 (스칼라 / 변수간 비율 / 곡선 FPCA(elbow n) / 곡선 Upper-Lower ratio / 곡선 slope)</a:t>
            </a:r>
          </a:p>
          <a:p>
            <a:r>
              <a:rPr sz="1800"/>
              <a:t>결과 ⑥ Top 5 교차비교 (HTN·DM·CKD 질환별 3장)</a:t>
            </a:r>
          </a:p>
          <a:p>
            <a:r>
              <a:rPr sz="1800"/>
              <a:t>결과 ⑦ DeLong·BH-FDR 유의 결과</a:t>
            </a:r>
          </a:p>
          <a:p>
            <a:r>
              <a:rPr sz="1800"/>
              <a:t>결과 ⑧ AEC와의 비교</a:t>
            </a:r>
          </a:p>
          <a:p>
            <a:r>
              <a:rPr sz="1800"/>
              <a:t>결과 ⑨ 체성분 고정 후 AEC 추가효과</a:t>
            </a:r>
          </a:p>
          <a:p>
            <a:r>
              <a:rPr sz="1800"/>
              <a:t>논의사항 및 Next Steps</a:t>
            </a:r>
          </a:p>
          <a:p>
            <a:r>
              <a:rPr sz="1800"/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1800"/>
              <a:t>clinic4(age/sex/height/weight) baseline에 체성분 32개 확장모델을 1개씩 개별 추가해 AEC와 동일한 방식으로 성능비교(스칼라 8종 · 변수간 비율 3종 · 곡선 FPCA/Upper-Lower ratio/slope 7종×3)</a:t>
            </a:r>
          </a:p>
          <a:p>
            <a:r>
              <a:rPr sz="1800"/>
              <a:t>질환별 baseline AUC(external): HTN 0.718 · DM 0.666 · CKD 0.616</a:t>
            </a:r>
          </a:p>
          <a:p>
            <a:r>
              <a:rPr sz="1800"/>
              <a:t>internal은 5-fold CV OOF, external은 동결모델 1회 평가 + DeLong test</a:t>
            </a:r>
          </a:p>
          <a:p>
            <a:r>
              <a:rPr sz="1800"/>
              <a:t>BH-FDR 다중비교 보정(3질환×32모델=96건 family) 후 유의(q&lt;0.05): 17/96건</a:t>
            </a:r>
          </a:p>
          <a:p>
            <a:r>
              <a:rPr sz="1800"/>
              <a:t>CKD에서 myosteatosis 지표(LAMA/TAMA ratio, LAMA, LAMA FPCA, LAMA slope, NAMA FPCA)가 5가지 표현 모두 최상위로 생존 — 가장 일관된 신호</a:t>
            </a:r>
          </a:p>
          <a:p>
            <a:r>
              <a:rPr sz="1800"/>
              <a:t>IMATA slope는 HTN·DM 둘 다에서 유의(q≈0.005) — slope 표현에서만 드러난 신규 발견</a:t>
            </a:r>
          </a:p>
          <a:p>
            <a:r>
              <a:rPr sz="1800"/>
              <a:t>체성분(LAMA/TAMA ratio 등)을 baseline에 고정하면 AEC 추가효과는 9건 중 0건 유의 — 체성분이 AEC 정보를 상당 부분 포함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① 모델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1800"/>
              <a:t>Baseline clinic4: age, sex, height, weight</a:t>
            </a:r>
          </a:p>
          <a:p>
            <a:r>
              <a:rPr sz="1800"/>
              <a:t>스칼라 8종: BMI, SMI, VAT, SAT, IMATA, NAMA, LAMA, TAMA (metadata 시트 값 그대로 clinic4에 1개씩 추가)</a:t>
            </a:r>
          </a:p>
          <a:p>
            <a:r>
              <a:rPr sz="1800"/>
              <a:t>변수간 비율 3종: VAT/SAT(중심비만), LAMA/TAMA(myosteatosis), IMATA/TAMA(근육 내 지방침윤)</a:t>
            </a:r>
          </a:p>
          <a:p>
            <a:r>
              <a:rPr sz="1800"/>
              <a:t>곡선 7종(AEC 포함) × 3표현: FPCA(elbow-선정 n), Upper/Lower(앞64/뒤64) 평균비율, slope(liver→pubis 선형회귀 기울기)</a:t>
            </a:r>
          </a:p>
          <a:p>
            <a:r>
              <a:rPr sz="1800"/>
              <a:t>slope는 "FPCA·Upper/Lower ratio 말고 다른 방법이 있나"는 질문에서 추가 - 곡선의 단조 증감 방향을 포착하는 표현으로, 시도 결과 신규 유의신호(IMATA slope)가 확인돼 채택</a:t>
            </a:r>
          </a:p>
          <a:p>
            <a:r>
              <a:rPr sz="1800"/>
              <a:t>총 32개 확장모델 = 스칼라 8 + 비율 3 + 곡선 7×3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② 검증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Internal(강남, n≈1259): StratifiedKFold(5) OOF로 AUC 산출 — 모델 선택/탐색은 이 안에서만</a:t>
            </a:r>
          </a:p>
          <a:p>
            <a:r>
              <a:rPr sz="1800"/>
              <a:t>External(신촌, n≈1123): internal 전체로 학습한 동결모델을 1회만 평가(모델 선택에는 사용하지 않음)</a:t>
            </a:r>
          </a:p>
          <a:p>
            <a:r>
              <a:rPr sz="1800"/>
              <a:t>FPCA는 fold별로 학습 fold에서만 PCA를 다시 fit(곡선 정보 누수 방지), n_components은 곡선별 elbow 값 고정 사용(고정값 3에서 elbow 기반으로 전환)</a:t>
            </a:r>
          </a:p>
          <a:p>
            <a:r>
              <a:rPr sz="1800"/>
              <a:t>로지스틱 회귀는 모든 모델에 동일 기본값(C=1.0, L2, lbfgs) 적용 — 변수별 그리드서치는 하지 않음</a:t>
            </a:r>
          </a:p>
          <a:p>
            <a:r>
              <a:rPr sz="1800"/>
              <a:t>DeLong test로 clinic4 대비 ΔAUC 유의성 검정, cohort(internal/external)별로 BH-FDR 다중비교 보정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92A9-C270-BFD1-4BE0-65BC8759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A34-AE2B-4CC6-8304-596321EC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①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 err="1"/>
              <a:t>체성분</a:t>
            </a:r>
            <a:r>
              <a:rPr lang="ko-KR" altLang="en-US" dirty="0"/>
              <a:t> 스칼라 </a:t>
            </a:r>
            <a:r>
              <a:rPr lang="en-US" altLang="ko-KR" dirty="0"/>
              <a:t>8</a:t>
            </a:r>
            <a:r>
              <a:rPr lang="ko-KR" altLang="en-US" dirty="0"/>
              <a:t>종</a:t>
            </a:r>
            <a:endParaRPr dirty="0"/>
          </a:p>
        </p:txBody>
      </p:sp>
      <p:pic>
        <p:nvPicPr>
          <p:cNvPr id="7" name="Picture 2" descr="scalar.png">
            <a:extLst>
              <a:ext uri="{FF2B5EF4-FFF2-40B4-BE49-F238E27FC236}">
                <a16:creationId xmlns:a16="http://schemas.microsoft.com/office/drawing/2014/main" id="{DB5C9DB1-2489-F3D0-1976-537E15A9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97112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829C-CDFC-1114-42D1-70FE58F5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6DD1-59E1-2584-8E19-3E1B5903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②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변수간 비율 </a:t>
            </a:r>
            <a:r>
              <a:rPr lang="en-US" altLang="ko-KR" dirty="0"/>
              <a:t>3</a:t>
            </a:r>
            <a:r>
              <a:rPr lang="ko-KR" altLang="en-US" dirty="0"/>
              <a:t>종</a:t>
            </a:r>
            <a:endParaRPr dirty="0"/>
          </a:p>
        </p:txBody>
      </p:sp>
      <p:pic>
        <p:nvPicPr>
          <p:cNvPr id="4" name="Picture 2" descr="inter_var_ratio.png">
            <a:extLst>
              <a:ext uri="{FF2B5EF4-FFF2-40B4-BE49-F238E27FC236}">
                <a16:creationId xmlns:a16="http://schemas.microsoft.com/office/drawing/2014/main" id="{4D791A2B-D934-61D3-05BA-457321A7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1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78F6-45FC-B519-A6B1-FA42632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9D2-BACD-9BFA-6BEF-E23EB76F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③ AUC 요약 — 곡선 FPCA(elbow n)</a:t>
            </a:r>
          </a:p>
        </p:txBody>
      </p:sp>
      <p:pic>
        <p:nvPicPr>
          <p:cNvPr id="3" name="Picture 2" descr="curve_fpca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22353"/>
            <a:ext cx="11176000" cy="4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6F31-9EAC-1A0D-478B-26004878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DCF-9740-40AC-B307-1426493A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④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Upper/Lower ratio</a:t>
            </a:r>
            <a:endParaRPr dirty="0"/>
          </a:p>
        </p:txBody>
      </p:sp>
      <p:pic>
        <p:nvPicPr>
          <p:cNvPr id="4" name="Picture 2" descr="curve_uplow_ratio.png">
            <a:extLst>
              <a:ext uri="{FF2B5EF4-FFF2-40B4-BE49-F238E27FC236}">
                <a16:creationId xmlns:a16="http://schemas.microsoft.com/office/drawing/2014/main" id="{84710ACD-2049-27DA-4399-42700146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" y="1687373"/>
            <a:ext cx="12096206" cy="38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3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DF83-7EBC-869F-D81A-C5536DFC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C902-6A79-F840-B2FF-28873F4D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⑤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slope (</a:t>
            </a:r>
            <a:r>
              <a:rPr lang="en-US" altLang="ko-KR" dirty="0" err="1"/>
              <a:t>liver→pubis</a:t>
            </a:r>
            <a:r>
              <a:rPr lang="ko-KR" altLang="en-US" dirty="0"/>
              <a:t> 선형추세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5" name="Picture 2" descr="curve_slope.png">
            <a:extLst>
              <a:ext uri="{FF2B5EF4-FFF2-40B4-BE49-F238E27FC236}">
                <a16:creationId xmlns:a16="http://schemas.microsoft.com/office/drawing/2014/main" id="{31C21536-BC32-0F99-2971-13BD8EBD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6802-09C9-C1BB-2D65-038A636D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83FB-DF95-E126-F2AF-437AEE94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⑥ Top 5 교차비교 — HTN</a:t>
            </a:r>
          </a:p>
        </p:txBody>
      </p:sp>
      <p:pic>
        <p:nvPicPr>
          <p:cNvPr id="3" name="Picture 2" descr="o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88" y="897468"/>
            <a:ext cx="9116423" cy="53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38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2536-9DC9-BB32-5C9F-0CA3A88F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AA41-DBC5-A7B4-F20E-4323727B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⑥ </a:t>
            </a:r>
            <a:r>
              <a:rPr lang="en-US" altLang="ko-KR" dirty="0"/>
              <a:t>Top 5 </a:t>
            </a:r>
            <a:r>
              <a:rPr lang="ko-KR" altLang="en-US" dirty="0"/>
              <a:t>교차비교 </a:t>
            </a:r>
            <a:r>
              <a:rPr lang="en-US" altLang="ko-KR" dirty="0"/>
              <a:t>— DM</a:t>
            </a:r>
            <a:endParaRPr dirty="0"/>
          </a:p>
        </p:txBody>
      </p:sp>
      <p:pic>
        <p:nvPicPr>
          <p:cNvPr id="5" name="Picture 2" descr="or_forest.png">
            <a:extLst>
              <a:ext uri="{FF2B5EF4-FFF2-40B4-BE49-F238E27FC236}">
                <a16:creationId xmlns:a16="http://schemas.microsoft.com/office/drawing/2014/main" id="{5DAB28EE-A50A-49FF-F005-3792B225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40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385F-D19A-907F-53B5-ED3061E8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9E53-C20D-877B-9378-5C0750E0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⑥ </a:t>
            </a:r>
            <a:r>
              <a:rPr lang="en-US" altLang="ko-KR" dirty="0"/>
              <a:t>Top 5 </a:t>
            </a:r>
            <a:r>
              <a:rPr lang="ko-KR" altLang="en-US" dirty="0"/>
              <a:t>교차비교 </a:t>
            </a:r>
            <a:r>
              <a:rPr lang="en-US" altLang="ko-KR" dirty="0"/>
              <a:t>— CKD</a:t>
            </a:r>
            <a:endParaRPr dirty="0"/>
          </a:p>
        </p:txBody>
      </p:sp>
      <p:pic>
        <p:nvPicPr>
          <p:cNvPr id="4" name="Picture 2" descr="or_forest.png">
            <a:extLst>
              <a:ext uri="{FF2B5EF4-FFF2-40B4-BE49-F238E27FC236}">
                <a16:creationId xmlns:a16="http://schemas.microsoft.com/office/drawing/2014/main" id="{5FA79404-D6DA-FCA1-9E2B-5E4ABBD14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0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⑦ DeLong·BH-FDR 유의 결과 (external, q&lt;0.05)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818388"/>
            <a:ext cx="11176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/>
              <a:t>BH-FDR family = 3질환 × 32확장모델 = 96건. TAMA Upper/Lower ratio(CKD)는 ΔAUC 음수(악화). slope 추가 후 IMATA slope(HTN·DM)·LAMA slope(CKD)·AEC slope(CKD) 신규 진입.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74595"/>
              </p:ext>
            </p:extLst>
          </p:nvPr>
        </p:nvGraphicFramePr>
        <p:xfrm>
          <a:off x="508000" y="975360"/>
          <a:ext cx="11176000" cy="483646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370">
                <a:tc>
                  <a:txBody>
                    <a:bodyPr/>
                    <a:lstStyle/>
                    <a:p>
                      <a:r>
                        <a:rPr sz="110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clinic4 + 확장모델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ΔAUC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DeLong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BH-FDR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LAMA/TAMA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+0.0338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TAMA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-0.0014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VAT/SAT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0.020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⑧ AEC와의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800"/>
              <a:t>AEC-128 3표현(FPCA/Upper-Lower ratio/slope) × 3질환 = 9개 비교 중 CKD에서 2건(slope·Upper/Lower ratio) 생존, HTN·DM은 전부 n.s. (2/9건)</a:t>
            </a:r>
          </a:p>
          <a:p>
            <a:r>
              <a:rPr sz="1800"/>
              <a:t>CKD + AEC FPCA(n=3): ΔAUC +0.0139, p=0.018, q=0.065 (n.s.)</a:t>
            </a:r>
          </a:p>
          <a:p>
            <a:r>
              <a:rPr sz="1800"/>
              <a:t>CKD + AEC Upper/Lower ratio: ΔAUC +0.0185, p=0.005, q=0.030 (유의(q&lt;0.05))</a:t>
            </a:r>
          </a:p>
          <a:p>
            <a:r>
              <a:rPr sz="1800"/>
              <a:t>CKD + AEC slope: ΔAUC +0.0155, p=0.004, q=0.024 (유의(q&lt;0.05))</a:t>
            </a:r>
          </a:p>
          <a:p>
            <a:r>
              <a:rPr sz="1800"/>
              <a:t>DM + AEC FPCA(n=3): ΔAUC +0.0154, p=0.075, q=0.141 (n.s.)</a:t>
            </a:r>
          </a:p>
          <a:p>
            <a:r>
              <a:rPr sz="1800"/>
              <a:t>DM + AEC Upper/Lower ratio: ΔAUC +0.0124, p=0.176, q=0.249 (n.s.)</a:t>
            </a:r>
          </a:p>
          <a:p>
            <a:r>
              <a:rPr sz="1800"/>
              <a:t>DM + AEC slope: ΔAUC +0.0176, p=0.021, q=0.067 (n.s.)</a:t>
            </a:r>
          </a:p>
          <a:p>
            <a:r>
              <a:rPr sz="1800"/>
              <a:t>HTN + AEC FPCA(n=3): ΔAUC +0.0122, p=0.031, q=0.087 (n.s.)</a:t>
            </a:r>
          </a:p>
          <a:p>
            <a:r>
              <a:rPr sz="1800"/>
              <a:t>HTN + AEC Upper/Lower ratio: ΔAUC +0.0099, p=0.078, q=0.145 (n.s.)</a:t>
            </a:r>
          </a:p>
          <a:p>
            <a:r>
              <a:rPr sz="1800"/>
              <a:t>HTN + AEC slope: ΔAUC +0.0072, p=0.082, q=0.148 (n.s.)</a:t>
            </a:r>
          </a:p>
          <a:p>
            <a:r>
              <a:rPr sz="1800"/>
              <a:t>체성분 개별변수(LAMA·NAMA·IMATA 계열)는 같은 family에서 15건이 생존 — 3질환 전반에 걸쳐 AEC보다 신호가 더 폭넓고 강건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⑨ 체성분 고정 후 AEC 추가효과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500" dirty="0" err="1"/>
              <a:t>질환별로</a:t>
            </a:r>
            <a:r>
              <a:rPr sz="1500" dirty="0"/>
              <a:t> clinic4 </a:t>
            </a:r>
            <a:r>
              <a:rPr sz="1500" dirty="0" err="1"/>
              <a:t>대비</a:t>
            </a:r>
            <a:r>
              <a:rPr sz="1500" dirty="0"/>
              <a:t> external </a:t>
            </a:r>
            <a:r>
              <a:rPr sz="1500" dirty="0" err="1"/>
              <a:t>ΔAUC가</a:t>
            </a:r>
            <a:r>
              <a:rPr sz="1500" dirty="0"/>
              <a:t> </a:t>
            </a:r>
            <a:r>
              <a:rPr sz="1500" dirty="0" err="1"/>
              <a:t>가장</a:t>
            </a:r>
            <a:r>
              <a:rPr sz="1500" dirty="0"/>
              <a:t> </a:t>
            </a:r>
            <a:r>
              <a:rPr sz="1500" dirty="0" err="1"/>
              <a:t>컸던</a:t>
            </a:r>
            <a:r>
              <a:rPr sz="1500" dirty="0"/>
              <a:t> </a:t>
            </a:r>
            <a:r>
              <a:rPr sz="1500" dirty="0" err="1"/>
              <a:t>체성분</a:t>
            </a:r>
            <a:r>
              <a:rPr sz="1500" dirty="0"/>
              <a:t> </a:t>
            </a:r>
            <a:r>
              <a:rPr sz="1500" dirty="0" err="1"/>
              <a:t>표현</a:t>
            </a:r>
            <a:r>
              <a:rPr sz="1500" dirty="0"/>
              <a:t>(FPCA </a:t>
            </a:r>
            <a:r>
              <a:rPr sz="1500" dirty="0" err="1"/>
              <a:t>제외</a:t>
            </a:r>
            <a:r>
              <a:rPr sz="1500" dirty="0"/>
              <a:t> - </a:t>
            </a:r>
            <a:r>
              <a:rPr sz="1500" dirty="0" err="1"/>
              <a:t>실측값만</a:t>
            </a:r>
            <a:r>
              <a:rPr sz="1500" dirty="0"/>
              <a:t>)을 </a:t>
            </a:r>
            <a:r>
              <a:rPr sz="1500" dirty="0" err="1"/>
              <a:t>baseline에</a:t>
            </a:r>
            <a:r>
              <a:rPr sz="1500" dirty="0"/>
              <a:t> </a:t>
            </a:r>
            <a:r>
              <a:rPr sz="1500" dirty="0" err="1"/>
              <a:t>고정</a:t>
            </a:r>
            <a:r>
              <a:rPr sz="1500" dirty="0"/>
              <a:t>: HTN·CKD = clinic4 + LAMA/TAMA, DM = clinic4 + LAMA</a:t>
            </a:r>
          </a:p>
          <a:p>
            <a:r>
              <a:rPr sz="1500" dirty="0"/>
              <a:t>그 baseline </a:t>
            </a:r>
            <a:r>
              <a:rPr sz="1500" dirty="0" err="1"/>
              <a:t>위에</a:t>
            </a:r>
            <a:r>
              <a:rPr sz="1500" dirty="0"/>
              <a:t> AEC 3표현(FPCA/Upper-Lower ratio/slope)을 </a:t>
            </a:r>
            <a:r>
              <a:rPr sz="1500" dirty="0" err="1"/>
              <a:t>각각</a:t>
            </a:r>
            <a:r>
              <a:rPr sz="1500" dirty="0"/>
              <a:t> </a:t>
            </a:r>
            <a:r>
              <a:rPr sz="1500" dirty="0" err="1"/>
              <a:t>추가</a:t>
            </a:r>
            <a:r>
              <a:rPr sz="1500" dirty="0"/>
              <a:t> - "</a:t>
            </a:r>
            <a:r>
              <a:rPr sz="1500" dirty="0" err="1"/>
              <a:t>체성분이</a:t>
            </a:r>
            <a:r>
              <a:rPr sz="1500" dirty="0"/>
              <a:t> </a:t>
            </a:r>
            <a:r>
              <a:rPr sz="1500" dirty="0" err="1"/>
              <a:t>이미</a:t>
            </a:r>
            <a:r>
              <a:rPr sz="1500" dirty="0"/>
              <a:t> </a:t>
            </a:r>
            <a:r>
              <a:rPr sz="1500" dirty="0" err="1"/>
              <a:t>최선일</a:t>
            </a:r>
            <a:r>
              <a:rPr sz="1500" dirty="0"/>
              <a:t> 때 </a:t>
            </a:r>
            <a:r>
              <a:rPr sz="1500" dirty="0" err="1"/>
              <a:t>AEC가</a:t>
            </a:r>
            <a:r>
              <a:rPr sz="1500" dirty="0"/>
              <a:t> 더 </a:t>
            </a:r>
            <a:r>
              <a:rPr sz="1500" dirty="0" err="1"/>
              <a:t>보탤</a:t>
            </a:r>
            <a:r>
              <a:rPr sz="1500" dirty="0"/>
              <a:t> 게 </a:t>
            </a:r>
            <a:r>
              <a:rPr sz="1500" dirty="0" err="1"/>
              <a:t>있는가</a:t>
            </a:r>
            <a:r>
              <a:rPr sz="1500" dirty="0"/>
              <a:t>"</a:t>
            </a:r>
          </a:p>
          <a:p>
            <a:r>
              <a:rPr sz="1500" dirty="0" err="1"/>
              <a:t>결과</a:t>
            </a:r>
            <a:r>
              <a:rPr sz="1500" dirty="0"/>
              <a:t>(9건 family, BH-FDR): 0/9건 </a:t>
            </a:r>
            <a:r>
              <a:rPr sz="1500" dirty="0" err="1"/>
              <a:t>유의</a:t>
            </a:r>
            <a:r>
              <a:rPr sz="1500" dirty="0"/>
              <a:t> — </a:t>
            </a:r>
            <a:r>
              <a:rPr sz="1500" dirty="0" err="1"/>
              <a:t>방향은</a:t>
            </a:r>
            <a:r>
              <a:rPr sz="1500" dirty="0"/>
              <a:t> </a:t>
            </a:r>
            <a:r>
              <a:rPr sz="1500" dirty="0" err="1"/>
              <a:t>전부</a:t>
            </a:r>
            <a:r>
              <a:rPr sz="1500" dirty="0"/>
              <a:t> </a:t>
            </a:r>
            <a:r>
              <a:rPr sz="1500" dirty="0" err="1"/>
              <a:t>양수</a:t>
            </a:r>
            <a:r>
              <a:rPr sz="1500" dirty="0"/>
              <a:t>(ΔAUC </a:t>
            </a:r>
            <a:r>
              <a:rPr sz="1500" dirty="0" err="1"/>
              <a:t>소폭</a:t>
            </a:r>
            <a:r>
              <a:rPr sz="1500" dirty="0"/>
              <a:t> </a:t>
            </a:r>
            <a:r>
              <a:rPr sz="1500" dirty="0" err="1"/>
              <a:t>개선</a:t>
            </a:r>
            <a:r>
              <a:rPr sz="1500" dirty="0"/>
              <a:t>)</a:t>
            </a:r>
            <a:r>
              <a:rPr sz="1500" dirty="0" err="1"/>
              <a:t>지만</a:t>
            </a:r>
            <a:r>
              <a:rPr sz="1500" dirty="0"/>
              <a:t> </a:t>
            </a:r>
            <a:r>
              <a:rPr sz="1500" dirty="0" err="1"/>
              <a:t>다중비교</a:t>
            </a:r>
            <a:r>
              <a:rPr sz="1500" dirty="0"/>
              <a:t> </a:t>
            </a:r>
            <a:r>
              <a:rPr sz="1500" dirty="0" err="1"/>
              <a:t>보정</a:t>
            </a:r>
            <a:r>
              <a:rPr sz="1500" dirty="0"/>
              <a:t> 후 </a:t>
            </a:r>
            <a:r>
              <a:rPr sz="1500" dirty="0" err="1"/>
              <a:t>전부</a:t>
            </a:r>
            <a:r>
              <a:rPr sz="1500" dirty="0"/>
              <a:t> </a:t>
            </a:r>
            <a:r>
              <a:rPr sz="1500" dirty="0" err="1"/>
              <a:t>탈락</a:t>
            </a:r>
            <a:endParaRPr sz="1500" dirty="0"/>
          </a:p>
          <a:p>
            <a:r>
              <a:rPr sz="1500" dirty="0"/>
              <a:t>CKD + AEC slope: ΔAUC +0.0097, p=0.011, q=0.095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CKD + AEC Upper/Lower ratio: ΔAUC +0.0094, p=0.027, q=0.095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CKD + AEC FPCA: ΔAUC +0.0074, p=0.119, q=0.153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DM + AEC slope: ΔAUC +0.0133, p=0.035, q=0.095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DM + AEC FPCA: ΔAUC +0.0121, p=0.098, q=0.153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DM + AEC Upper/Lower ratio: ΔAUC +0.0098, p=0.191, q=0.191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HTN + AEC FPCA: ΔAUC +0.0087, p=0.042, q=0.095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HTN + AEC Upper/Lower ratio: ΔAUC +0.0065, p=0.102, q=0.153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/>
              <a:t>HTN + AEC slope: ΔAUC +0.0040, p=0.172, q=0.191 (</a:t>
            </a:r>
            <a:r>
              <a:rPr sz="1500" dirty="0" err="1"/>
              <a:t>n.s</a:t>
            </a:r>
            <a:r>
              <a:rPr sz="1500" dirty="0"/>
              <a:t>.)</a:t>
            </a:r>
          </a:p>
          <a:p>
            <a:r>
              <a:rPr sz="1500" dirty="0" err="1"/>
              <a:t>체성분이</a:t>
            </a:r>
            <a:r>
              <a:rPr sz="1500" dirty="0"/>
              <a:t> </a:t>
            </a:r>
            <a:r>
              <a:rPr sz="1500" dirty="0" err="1"/>
              <a:t>이미</a:t>
            </a:r>
            <a:r>
              <a:rPr sz="1500" dirty="0"/>
              <a:t> </a:t>
            </a:r>
            <a:r>
              <a:rPr sz="1500" dirty="0" err="1"/>
              <a:t>모델에</a:t>
            </a:r>
            <a:r>
              <a:rPr sz="1500" dirty="0"/>
              <a:t> </a:t>
            </a:r>
            <a:r>
              <a:rPr sz="1500" dirty="0" err="1"/>
              <a:t>들어가</a:t>
            </a:r>
            <a:r>
              <a:rPr sz="1500" dirty="0"/>
              <a:t> </a:t>
            </a:r>
            <a:r>
              <a:rPr sz="1500" dirty="0" err="1"/>
              <a:t>있으면</a:t>
            </a:r>
            <a:r>
              <a:rPr sz="1500" dirty="0"/>
              <a:t> </a:t>
            </a:r>
            <a:r>
              <a:rPr sz="1500" dirty="0" err="1"/>
              <a:t>AEC의</a:t>
            </a:r>
            <a:r>
              <a:rPr sz="1500" dirty="0"/>
              <a:t> </a:t>
            </a:r>
            <a:r>
              <a:rPr sz="1500" dirty="0" err="1"/>
              <a:t>추가</a:t>
            </a:r>
            <a:r>
              <a:rPr sz="1500" dirty="0"/>
              <a:t> </a:t>
            </a:r>
            <a:r>
              <a:rPr sz="1500" dirty="0" err="1"/>
              <a:t>기여는</a:t>
            </a:r>
            <a:r>
              <a:rPr sz="1500" dirty="0"/>
              <a:t> </a:t>
            </a:r>
            <a:r>
              <a:rPr sz="1500" dirty="0" err="1"/>
              <a:t>통계적으로</a:t>
            </a:r>
            <a:r>
              <a:rPr sz="1500" dirty="0"/>
              <a:t> </a:t>
            </a:r>
            <a:r>
              <a:rPr sz="1500" dirty="0" err="1"/>
              <a:t>뒷받침되지</a:t>
            </a:r>
            <a:r>
              <a:rPr sz="1500" dirty="0"/>
              <a:t> </a:t>
            </a:r>
            <a:r>
              <a:rPr sz="1500" dirty="0" err="1"/>
              <a:t>않음</a:t>
            </a:r>
            <a:r>
              <a:rPr sz="1500" dirty="0"/>
              <a:t> - </a:t>
            </a:r>
            <a:r>
              <a:rPr sz="1500" dirty="0" err="1"/>
              <a:t>AEC가</a:t>
            </a:r>
            <a:r>
              <a:rPr sz="1500" dirty="0"/>
              <a:t> </a:t>
            </a:r>
            <a:r>
              <a:rPr sz="1500" dirty="0" err="1"/>
              <a:t>담던</a:t>
            </a:r>
            <a:r>
              <a:rPr sz="1500" dirty="0"/>
              <a:t> </a:t>
            </a:r>
            <a:r>
              <a:rPr sz="1500" dirty="0" err="1"/>
              <a:t>정보를</a:t>
            </a:r>
            <a:r>
              <a:rPr sz="1500" dirty="0"/>
              <a:t> </a:t>
            </a:r>
            <a:r>
              <a:rPr sz="1500" dirty="0" err="1"/>
              <a:t>체성분이</a:t>
            </a:r>
            <a:r>
              <a:rPr sz="1500" dirty="0"/>
              <a:t> </a:t>
            </a:r>
            <a:r>
              <a:rPr sz="1500" dirty="0" err="1"/>
              <a:t>상당</a:t>
            </a:r>
            <a:r>
              <a:rPr sz="1500" dirty="0"/>
              <a:t> </a:t>
            </a:r>
            <a:r>
              <a:rPr sz="1500" dirty="0" err="1"/>
              <a:t>부분</a:t>
            </a:r>
            <a:r>
              <a:rPr sz="1500" dirty="0"/>
              <a:t> </a:t>
            </a:r>
            <a:r>
              <a:rPr sz="1500" dirty="0" err="1"/>
              <a:t>포함한다는</a:t>
            </a:r>
            <a:r>
              <a:rPr sz="1500" dirty="0"/>
              <a:t> </a:t>
            </a:r>
            <a:r>
              <a:rPr sz="1500" dirty="0" err="1"/>
              <a:t>근거</a:t>
            </a:r>
            <a:endParaRPr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논의사항 및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800"/>
              <a:t>LAMA/TAMA ratio·LAMA·LAMA FPCA·LAMA slope·NAMA FPCA(myosteatosis 계열)가 CKD에서 가장 강건 — 후속 분석의 핵심 변수로 채택할지 논의</a:t>
            </a:r>
          </a:p>
          <a:p>
            <a:r>
              <a:rPr sz="1800"/>
              <a:t>IMATA slope가 HTN·DM 모두에서 유의 — 근육 내 지방침윤의 곡선 방향성이 새로운 후보 지표가 될 수 있는지</a:t>
            </a:r>
          </a:p>
          <a:p>
            <a:r>
              <a:rPr sz="1800"/>
              <a:t>체성분 고정 후 AEC 추가효과 0/9 — AEC 트랙을 축소하고 체성분(특히 myosteatosis·IMATA) 트랙에 집중할지, 아니면 표본을 늘려 AEC의 소폭 양의 경향(전부 ΔAUC&gt;0)이 유의해지는지 재검증할지</a:t>
            </a:r>
          </a:p>
          <a:p>
            <a:r>
              <a:rPr sz="1800"/>
              <a:t>로지스틱 하이퍼파라미터(C/penalty)는 여전히 미탐색 — LAMA·IMATA 계열만이라도 그리드서치를 진행할지</a:t>
            </a:r>
          </a:p>
          <a:p>
            <a:r>
              <a:rPr sz="1800"/>
              <a:t>BH-FDR family를 32모델×3질환(96건)으로 묶었음 — 대표 변수만 추리는 등 대안적 family 구성 필요성</a:t>
            </a:r>
          </a:p>
          <a:p>
            <a:r>
              <a:rPr sz="1800"/>
              <a:t>Next step 후보: (1) LAMA/TAMA ratio·IMATA slope 심층분석/논문화, (2) myosteatosis·지방침윤 대사질환 기전 문헌고찰 추가, (3) 사망률 등 hard outcome으로 확장 검증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800"/>
              <a:t>CKD: LAMA/TAMA ratio·LAMA·LAMA FPCA·LAMA slope·NAMA FPCA까지 myosteatosis 관련 5개 표현이 모두 생존 — 가장 강건한 신호</a:t>
            </a:r>
          </a:p>
          <a:p>
            <a:r>
              <a:rPr sz="1800"/>
              <a:t>HTN·DM: IMATA slope가 공통으로 유의 — slope 표현에서만 드러나는 신규 신호</a:t>
            </a:r>
          </a:p>
          <a:p>
            <a:r>
              <a:rPr sz="1800"/>
              <a:t>AEC는 CKD에서만 2/3표현 생존 — 체성분 개별변수(15/87건)가 3질환 전반에서 더 폭넓게 강건</a:t>
            </a:r>
          </a:p>
          <a:p>
            <a:r>
              <a:rPr sz="1800"/>
              <a:t>체성분(LAMA/TAMA ratio 등)을 baseline에 고정하면 AEC를 추가해도 9건 중 0건 유의 — AEC가 담던 정보 상당수를 체성분이 이미 포함한다는 직접적 증거</a:t>
            </a:r>
          </a:p>
          <a:p>
            <a:r>
              <a:rPr sz="1800"/>
              <a:t>FPCA n_components을 elbow로 조정하고 slope를 추가해도 결론 불변, 오히려 신규 신호(NAMA FPCA, IMATA slope)로 보강됨</a:t>
            </a:r>
          </a:p>
          <a:p>
            <a:r>
              <a:rPr sz="1800"/>
              <a:t>SMI·BMI·TAMA(스칼라)·SAT 계열은 3질환 모두 뚜렷한 신호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7221</TotalTime>
  <Words>2915</Words>
  <Application>Microsoft Office PowerPoint</Application>
  <PresentationFormat>와이드스크린</PresentationFormat>
  <Paragraphs>203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Arial</vt:lpstr>
      <vt:lpstr>KoPub돋움체 Medium</vt:lpstr>
      <vt:lpstr>KoPub돋움체 Bold</vt:lpstr>
      <vt:lpstr>Office 테마</vt:lpstr>
      <vt:lpstr>PowerPoint 프레젠테이션</vt:lpstr>
      <vt:lpstr>연구 배경 및 목적</vt:lpstr>
      <vt:lpstr>목차</vt:lpstr>
      <vt:lpstr>Research Summary</vt:lpstr>
      <vt:lpstr>실험설계 ① 모델 정의</vt:lpstr>
      <vt:lpstr>실험설계 ② 검증 원칙</vt:lpstr>
      <vt:lpstr>결과 ① AUC 요약 — 체성분 스칼라 8종</vt:lpstr>
      <vt:lpstr>결과 ② AUC 요약 — 변수간 비율 3종</vt:lpstr>
      <vt:lpstr>결과 ③ AUC 요약 — 곡선 FPCA(elbow n)</vt:lpstr>
      <vt:lpstr>결과 ④ AUC 요약 — 곡선 Upper/Lower ratio</vt:lpstr>
      <vt:lpstr>결과 ⑤ AUC 요약 — 곡선 slope (liver→pubis 선형추세)</vt:lpstr>
      <vt:lpstr>결과 ⑥ Top 5 교차비교 — HTN</vt:lpstr>
      <vt:lpstr>결과 ⑥ Top 5 교차비교 — DM</vt:lpstr>
      <vt:lpstr>결과 ⑥ Top 5 교차비교 — CKD</vt:lpstr>
      <vt:lpstr>결과 ⑦ DeLong·BH-FDR 유의 결과 (external, q&lt;0.05)</vt:lpstr>
      <vt:lpstr>결과 ⑧ AEC와의 비교</vt:lpstr>
      <vt:lpstr>결과 ⑨ 체성분 고정 후 AEC 추가효과</vt:lpstr>
      <vt:lpstr>논의사항 및 Next Steps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697</cp:revision>
  <dcterms:created xsi:type="dcterms:W3CDTF">2026-04-09T07:05:16Z</dcterms:created>
  <dcterms:modified xsi:type="dcterms:W3CDTF">2026-09-10T08:59:39Z</dcterms:modified>
</cp:coreProperties>
</file>