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532" r:id="rId3"/>
    <p:sldId id="495" r:id="rId4"/>
    <p:sldId id="519" r:id="rId5"/>
    <p:sldId id="523" r:id="rId6"/>
    <p:sldId id="527" r:id="rId7"/>
    <p:sldId id="533" r:id="rId8"/>
    <p:sldId id="493" r:id="rId9"/>
    <p:sldId id="479" r:id="rId10"/>
    <p:sldId id="531" r:id="rId11"/>
    <p:sldId id="507" r:id="rId12"/>
    <p:sldId id="514" r:id="rId13"/>
    <p:sldId id="529" r:id="rId14"/>
    <p:sldId id="528" r:id="rId15"/>
    <p:sldId id="530" r:id="rId16"/>
    <p:sldId id="526" r:id="rId17"/>
  </p:sldIdLst>
  <p:sldSz cx="12192000" cy="6858000"/>
  <p:notesSz cx="6858000" cy="9144000"/>
  <p:embeddedFontLst>
    <p:embeddedFont>
      <p:font typeface="KoPub돋움체 Bold" panose="00000800000000000000" pitchFamily="2" charset="-127"/>
      <p:bold r:id="rId19"/>
    </p:embeddedFont>
    <p:embeddedFont>
      <p:font typeface="KoPub돋움체 Medium" panose="00000600000000000000" pitchFamily="2" charset="-127"/>
      <p:regular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32"/>
            <p14:sldId id="495"/>
            <p14:sldId id="519"/>
            <p14:sldId id="523"/>
            <p14:sldId id="527"/>
            <p14:sldId id="533"/>
            <p14:sldId id="493"/>
            <p14:sldId id="479"/>
            <p14:sldId id="531"/>
            <p14:sldId id="507"/>
            <p14:sldId id="514"/>
            <p14:sldId id="529"/>
            <p14:sldId id="528"/>
            <p14:sldId id="530"/>
            <p14:sldId id="52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81576" autoAdjust="0"/>
  </p:normalViewPr>
  <p:slideViewPr>
    <p:cSldViewPr snapToGrid="0">
      <p:cViewPr varScale="1">
        <p:scale>
          <a:sx n="161" d="100"/>
          <a:sy n="161" d="100"/>
        </p:scale>
        <p:origin x="23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표지. 발표자: 전장훈(JangHoon Chun), 강남세브란스병원 의료기기산업학과. Residual Algorithm(잔차화 기반 Stage-2 재분류) 진행 결과 발표.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전체 연구 파이프라인 1페이지 요약 다이어그램 -- 상세는 이후 slide(구 2번부터, 이 삽입으로 4번부터) 참조. 1)Input Data: clinic 4개 인체계측 변수 + AEC-128 임피던스 곁선(구 슬라이드2 참조). 2)3)Stage-1 LR + Sens90% cutoff: AUC 0.828/0.835(구 슬라이드2), Sens90 선택 근거는 구 슬라이드2-3, Predicted Positive만 사용하는 이유는 구 슬라이드4(NPV 97.7%/97.5%로 Predicted Negative는 이미 충분히 신뢰 가능). 4)Confound 통제: propensity-score matching(logit propensity, caliper 0.2SD) + Hungarian 전역 최적 1:1 할당으로 TP-FP 매칭, AEC-128 곱선 비교(RMSD) 및 curve-shape feature p-value 비교(구 슬라이드5-6). 5)6)Stage-2 Late Fusion: frozen Stage-1 LR score(0 학습파라미터, z-score 표준화) + 1D-CNN(Conv1d×2+GlobalAvgPool) AEC branch를 concat해 fusion head에 통과(구 슬라이드7-9). 구조 선택 근거(clinical branch mlp→linear→frozen_lr, AEC branch convpool 채택)는 Appendix 비교표(구 슬라이드17-18) 참조. 7)Result: Net NRI internal +71/external +34, Specificity 개선 McNemar p&lt;0.001, Sensitivity 손실은 non-inferiority margin 이내로 PASS(구 슬라이드9). 현재 이 슬라이드 이후의 서술형 detail 슬라이드들이 이 요약 흐름을 그대로 푸는다.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[Intro] </a:t>
            </a:r>
            <a:r>
              <a:rPr dirty="0" err="1"/>
              <a:t>저근감</a:t>
            </a:r>
            <a:r>
              <a:rPr dirty="0"/>
              <a:t>(Low-SMI)은 </a:t>
            </a:r>
            <a:r>
              <a:rPr dirty="0" err="1"/>
              <a:t>노쇠·수술</a:t>
            </a:r>
            <a:r>
              <a:rPr dirty="0"/>
              <a:t> 후 </a:t>
            </a:r>
            <a:r>
              <a:rPr dirty="0" err="1"/>
              <a:t>합병증·사망률과</a:t>
            </a:r>
            <a:r>
              <a:rPr dirty="0"/>
              <a:t> </a:t>
            </a:r>
            <a:r>
              <a:rPr dirty="0" err="1"/>
              <a:t>연관되어</a:t>
            </a:r>
            <a:r>
              <a:rPr dirty="0"/>
              <a:t> </a:t>
            </a:r>
            <a:r>
              <a:rPr dirty="0" err="1"/>
              <a:t>조기</a:t>
            </a:r>
            <a:r>
              <a:rPr dirty="0"/>
              <a:t> </a:t>
            </a:r>
            <a:r>
              <a:rPr dirty="0" err="1"/>
              <a:t>스크리닝의</a:t>
            </a:r>
            <a:r>
              <a:rPr dirty="0"/>
              <a:t> </a:t>
            </a:r>
            <a:r>
              <a:rPr dirty="0" err="1"/>
              <a:t>임상적</a:t>
            </a:r>
            <a:r>
              <a:rPr dirty="0"/>
              <a:t> </a:t>
            </a:r>
            <a:r>
              <a:rPr dirty="0" err="1"/>
              <a:t>가치가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(Prado 2008; Martin 2013). Stage-1은 </a:t>
            </a:r>
            <a:r>
              <a:rPr dirty="0" err="1"/>
              <a:t>성별·나이·키·체중</a:t>
            </a:r>
            <a:r>
              <a:rPr dirty="0"/>
              <a:t> 4개 </a:t>
            </a:r>
            <a:r>
              <a:rPr dirty="0" err="1"/>
              <a:t>인체계측</a:t>
            </a:r>
            <a:r>
              <a:rPr dirty="0"/>
              <a:t> </a:t>
            </a:r>
            <a:r>
              <a:rPr dirty="0" err="1"/>
              <a:t>변수만으로</a:t>
            </a:r>
            <a:r>
              <a:rPr dirty="0"/>
              <a:t> </a:t>
            </a:r>
            <a:r>
              <a:rPr dirty="0" err="1"/>
              <a:t>구성한</a:t>
            </a:r>
            <a:r>
              <a:rPr dirty="0"/>
              <a:t> </a:t>
            </a:r>
            <a:r>
              <a:rPr dirty="0" err="1"/>
              <a:t>로지스틱회귀로</a:t>
            </a:r>
            <a:r>
              <a:rPr dirty="0"/>
              <a:t> AUC internal 0.828 / external 0.835 — Hosmer-Lemeshow </a:t>
            </a:r>
            <a:r>
              <a:rPr dirty="0" err="1"/>
              <a:t>기준</a:t>
            </a:r>
            <a:r>
              <a:rPr dirty="0"/>
              <a:t> acceptable(0.7-0.8)과 excellent(0.8-0.9)의 </a:t>
            </a:r>
            <a:r>
              <a:rPr dirty="0" err="1"/>
              <a:t>경계에</a:t>
            </a:r>
            <a:r>
              <a:rPr dirty="0"/>
              <a:t> </a:t>
            </a:r>
            <a:r>
              <a:rPr dirty="0" err="1"/>
              <a:t>위치한다</a:t>
            </a:r>
            <a:r>
              <a:rPr dirty="0"/>
              <a:t>. 이 </a:t>
            </a:r>
            <a:r>
              <a:rPr dirty="0" err="1"/>
              <a:t>자체로는</a:t>
            </a:r>
            <a:r>
              <a:rPr dirty="0"/>
              <a:t> </a:t>
            </a:r>
            <a:r>
              <a:rPr dirty="0" err="1"/>
              <a:t>나쁘지</a:t>
            </a:r>
            <a:r>
              <a:rPr dirty="0"/>
              <a:t> </a:t>
            </a:r>
            <a:r>
              <a:rPr dirty="0" err="1"/>
              <a:t>않은</a:t>
            </a:r>
            <a:r>
              <a:rPr dirty="0"/>
              <a:t> </a:t>
            </a:r>
            <a:r>
              <a:rPr dirty="0" err="1"/>
              <a:t>출발점이지만</a:t>
            </a:r>
            <a:r>
              <a:rPr dirty="0"/>
              <a:t>, </a:t>
            </a:r>
            <a:r>
              <a:rPr dirty="0" err="1"/>
              <a:t>스크리닝</a:t>
            </a:r>
            <a:r>
              <a:rPr dirty="0"/>
              <a:t> </a:t>
            </a:r>
            <a:r>
              <a:rPr dirty="0" err="1"/>
              <a:t>특성상</a:t>
            </a:r>
            <a:r>
              <a:rPr dirty="0"/>
              <a:t> </a:t>
            </a:r>
            <a:r>
              <a:rPr dirty="0" err="1"/>
              <a:t>요구되는</a:t>
            </a:r>
            <a:r>
              <a:rPr dirty="0"/>
              <a:t> </a:t>
            </a:r>
            <a:r>
              <a:rPr dirty="0" err="1"/>
              <a:t>고민감도</a:t>
            </a:r>
            <a:r>
              <a:rPr dirty="0"/>
              <a:t> </a:t>
            </a:r>
            <a:r>
              <a:rPr dirty="0" err="1"/>
              <a:t>운영점에서의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(슬라이드4)과 4-변수 </a:t>
            </a:r>
            <a:r>
              <a:rPr dirty="0" err="1"/>
              <a:t>모델의</a:t>
            </a:r>
            <a:r>
              <a:rPr dirty="0"/>
              <a:t> </a:t>
            </a:r>
            <a:r>
              <a:rPr dirty="0" err="1"/>
              <a:t>이론적</a:t>
            </a:r>
            <a:r>
              <a:rPr dirty="0"/>
              <a:t> </a:t>
            </a:r>
            <a:r>
              <a:rPr dirty="0" err="1"/>
              <a:t>상한</a:t>
            </a:r>
            <a:r>
              <a:rPr dirty="0"/>
              <a:t>(슬라이드5) 두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이유로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여지가</a:t>
            </a:r>
            <a:r>
              <a:rPr dirty="0"/>
              <a:t> </a:t>
            </a:r>
            <a:r>
              <a:rPr dirty="0" err="1"/>
              <a:t>남는다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왜 Sensitivity 90% </a:t>
            </a:r>
            <a:r>
              <a:rPr dirty="0" err="1"/>
              <a:t>인가</a:t>
            </a:r>
            <a:r>
              <a:rPr dirty="0"/>
              <a:t>?</a:t>
            </a:r>
          </a:p>
          <a:p>
            <a:r>
              <a:rPr dirty="0"/>
              <a:t>100% Sens </a:t>
            </a:r>
            <a:r>
              <a:rPr dirty="0" err="1"/>
              <a:t>threshold는</a:t>
            </a:r>
            <a:r>
              <a:rPr dirty="0"/>
              <a:t> </a:t>
            </a:r>
            <a:r>
              <a:rPr dirty="0" err="1"/>
              <a:t>양성</a:t>
            </a:r>
            <a:r>
              <a:rPr dirty="0"/>
              <a:t> n=129 </a:t>
            </a:r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표본</a:t>
            </a:r>
            <a:r>
              <a:rPr dirty="0"/>
              <a:t> 1개짜리 order </a:t>
            </a:r>
            <a:r>
              <a:rPr dirty="0" err="1"/>
              <a:t>statistic으로</a:t>
            </a:r>
            <a:r>
              <a:rPr dirty="0"/>
              <a:t> </a:t>
            </a:r>
            <a:r>
              <a:rPr dirty="0" err="1"/>
              <a:t>분산</a:t>
            </a:r>
            <a:r>
              <a:rPr dirty="0"/>
              <a:t> </a:t>
            </a:r>
            <a:r>
              <a:rPr dirty="0" err="1"/>
              <a:t>추정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r>
              <a:rPr dirty="0"/>
              <a:t>Sens 90→95%p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Sp</a:t>
            </a:r>
            <a:r>
              <a:rPr dirty="0"/>
              <a:t> </a:t>
            </a:r>
            <a:r>
              <a:rPr dirty="0" err="1"/>
              <a:t>손실</a:t>
            </a:r>
            <a:r>
              <a:rPr dirty="0"/>
              <a:t> </a:t>
            </a:r>
            <a:r>
              <a:rPr dirty="0" err="1"/>
              <a:t>기울기가</a:t>
            </a:r>
            <a:r>
              <a:rPr dirty="0"/>
              <a:t> Sens 85→90%p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대비</a:t>
            </a:r>
            <a:r>
              <a:rPr dirty="0"/>
              <a:t> internal 1.17배/external 1.66배로 </a:t>
            </a:r>
            <a:r>
              <a:rPr dirty="0" err="1"/>
              <a:t>커짐</a:t>
            </a:r>
            <a:endParaRPr dirty="0"/>
          </a:p>
          <a:p>
            <a:r>
              <a:rPr dirty="0" err="1"/>
              <a:t>스크리닝</a:t>
            </a:r>
            <a:r>
              <a:rPr dirty="0"/>
              <a:t> </a:t>
            </a:r>
            <a:r>
              <a:rPr dirty="0" err="1"/>
              <a:t>목적상</a:t>
            </a:r>
            <a:r>
              <a:rPr dirty="0"/>
              <a:t> FN(low-SMI </a:t>
            </a:r>
            <a:r>
              <a:rPr dirty="0" err="1"/>
              <a:t>누락</a:t>
            </a:r>
            <a:r>
              <a:rPr dirty="0"/>
              <a:t>) </a:t>
            </a:r>
            <a:r>
              <a:rPr dirty="0" err="1"/>
              <a:t>비용이</a:t>
            </a:r>
            <a:r>
              <a:rPr dirty="0"/>
              <a:t> FP보다 </a:t>
            </a:r>
            <a:r>
              <a:rPr dirty="0" err="1"/>
              <a:t>크다고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 → </a:t>
            </a:r>
            <a:r>
              <a:rPr dirty="0" err="1"/>
              <a:t>한계비용이</a:t>
            </a:r>
            <a:r>
              <a:rPr dirty="0"/>
              <a:t> </a:t>
            </a:r>
            <a:r>
              <a:rPr dirty="0" err="1"/>
              <a:t>급증하기</a:t>
            </a:r>
            <a:r>
              <a:rPr dirty="0"/>
              <a:t> </a:t>
            </a:r>
            <a:r>
              <a:rPr dirty="0" err="1"/>
              <a:t>직전인</a:t>
            </a:r>
            <a:r>
              <a:rPr dirty="0"/>
              <a:t> 90%p까지 Sens </a:t>
            </a:r>
            <a:r>
              <a:rPr dirty="0" err="1"/>
              <a:t>확보</a:t>
            </a:r>
            <a:r>
              <a:rPr dirty="0"/>
              <a:t> (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수치는</a:t>
            </a:r>
            <a:r>
              <a:rPr dirty="0"/>
              <a:t>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</a:t>
            </a:r>
            <a:r>
              <a:rPr dirty="0"/>
              <a:t> 표 </a:t>
            </a:r>
            <a:r>
              <a:rPr dirty="0" err="1"/>
              <a:t>참고</a:t>
            </a:r>
            <a:r>
              <a:rPr dirty="0"/>
              <a:t>)</a:t>
            </a:r>
          </a:p>
          <a:p>
            <a:endParaRPr dirty="0"/>
          </a:p>
          <a:p>
            <a:endParaRPr dirty="0"/>
          </a:p>
          <a:p>
            <a:r>
              <a:rPr dirty="0"/>
              <a:t>(Pugh 2024) </a:t>
            </a:r>
            <a:r>
              <a:rPr dirty="0" err="1"/>
              <a:t>순서</a:t>
            </a:r>
            <a:r>
              <a:rPr dirty="0"/>
              <a:t> </a:t>
            </a:r>
            <a:r>
              <a:rPr dirty="0" err="1"/>
              <a:t>통계량</a:t>
            </a:r>
            <a:r>
              <a:rPr dirty="0"/>
              <a:t>(Order Statistic): </a:t>
            </a:r>
            <a:r>
              <a:rPr dirty="0" err="1"/>
              <a:t>표본</a:t>
            </a:r>
            <a:r>
              <a:rPr dirty="0"/>
              <a:t>(Sample) </a:t>
            </a:r>
            <a:r>
              <a:rPr dirty="0" err="1"/>
              <a:t>데이터가</a:t>
            </a:r>
            <a:r>
              <a:rPr dirty="0"/>
              <a:t> </a:t>
            </a:r>
            <a:r>
              <a:rPr dirty="0" err="1"/>
              <a:t>주어졌을</a:t>
            </a:r>
            <a:r>
              <a:rPr dirty="0"/>
              <a:t> 때, 이 </a:t>
            </a:r>
            <a:r>
              <a:rPr dirty="0" err="1"/>
              <a:t>값들을</a:t>
            </a:r>
            <a:r>
              <a:rPr dirty="0"/>
              <a:t> </a:t>
            </a:r>
            <a:r>
              <a:rPr dirty="0" err="1"/>
              <a:t>크기</a:t>
            </a:r>
            <a:r>
              <a:rPr dirty="0"/>
              <a:t> </a:t>
            </a:r>
            <a:r>
              <a:rPr dirty="0" err="1"/>
              <a:t>순서대로</a:t>
            </a:r>
            <a:r>
              <a:rPr dirty="0"/>
              <a:t> </a:t>
            </a:r>
            <a:r>
              <a:rPr dirty="0" err="1"/>
              <a:t>정렬</a:t>
            </a:r>
            <a:r>
              <a:rPr dirty="0"/>
              <a:t>(</a:t>
            </a:r>
            <a:r>
              <a:rPr dirty="0" err="1"/>
              <a:t>오름차순</a:t>
            </a:r>
            <a:r>
              <a:rPr dirty="0"/>
              <a:t>)</a:t>
            </a:r>
            <a:r>
              <a:rPr dirty="0" err="1"/>
              <a:t>하여</a:t>
            </a:r>
            <a:r>
              <a:rPr dirty="0"/>
              <a:t> </a:t>
            </a:r>
            <a:r>
              <a:rPr dirty="0" err="1"/>
              <a:t>얻은</a:t>
            </a:r>
            <a:r>
              <a:rPr dirty="0"/>
              <a:t> </a:t>
            </a:r>
            <a:r>
              <a:rPr dirty="0" err="1"/>
              <a:t>통계량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[Intro] Clinic 4개 </a:t>
            </a:r>
            <a:r>
              <a:rPr dirty="0" err="1"/>
              <a:t>인체계측</a:t>
            </a:r>
            <a:r>
              <a:rPr dirty="0"/>
              <a:t> </a:t>
            </a:r>
            <a:r>
              <a:rPr dirty="0" err="1"/>
              <a:t>변수</a:t>
            </a:r>
            <a:r>
              <a:rPr dirty="0"/>
              <a:t>(</a:t>
            </a:r>
            <a:r>
              <a:rPr dirty="0" err="1"/>
              <a:t>성별·나이·키·체중</a:t>
            </a:r>
            <a:r>
              <a:rPr dirty="0"/>
              <a:t>)는 </a:t>
            </a:r>
            <a:r>
              <a:rPr dirty="0" err="1"/>
              <a:t>체성분</a:t>
            </a:r>
            <a:r>
              <a:rPr dirty="0"/>
              <a:t>(</a:t>
            </a:r>
            <a:r>
              <a:rPr dirty="0" err="1"/>
              <a:t>특히</a:t>
            </a:r>
            <a:r>
              <a:rPr dirty="0"/>
              <a:t> </a:t>
            </a:r>
            <a:r>
              <a:rPr dirty="0" err="1"/>
              <a:t>골격근량</a:t>
            </a:r>
            <a:r>
              <a:rPr dirty="0"/>
              <a:t>)의 </a:t>
            </a:r>
            <a:r>
              <a:rPr dirty="0" err="1"/>
              <a:t>간접적</a:t>
            </a:r>
            <a:r>
              <a:rPr dirty="0"/>
              <a:t> </a:t>
            </a:r>
            <a:r>
              <a:rPr dirty="0" err="1"/>
              <a:t>대리지표일</a:t>
            </a:r>
            <a:r>
              <a:rPr dirty="0"/>
              <a:t> 뿐 </a:t>
            </a:r>
            <a:r>
              <a:rPr dirty="0" err="1"/>
              <a:t>근육의</a:t>
            </a:r>
            <a:r>
              <a:rPr dirty="0"/>
              <a:t> </a:t>
            </a:r>
            <a:r>
              <a:rPr dirty="0" err="1"/>
              <a:t>질·조성을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반영하지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 — </a:t>
            </a:r>
            <a:r>
              <a:rPr dirty="0" err="1"/>
              <a:t>anthropometry만으로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분산에는</a:t>
            </a:r>
            <a:r>
              <a:rPr dirty="0"/>
              <a:t> </a:t>
            </a:r>
            <a:r>
              <a:rPr dirty="0" err="1"/>
              <a:t>이론적</a:t>
            </a:r>
            <a:r>
              <a:rPr dirty="0"/>
              <a:t> </a:t>
            </a:r>
            <a:r>
              <a:rPr dirty="0" err="1"/>
              <a:t>상한이</a:t>
            </a:r>
            <a:r>
              <a:rPr dirty="0"/>
              <a:t> </a:t>
            </a:r>
            <a:r>
              <a:rPr dirty="0" err="1"/>
              <a:t>있다</a:t>
            </a:r>
            <a:r>
              <a:rPr dirty="0"/>
              <a:t>. </a:t>
            </a:r>
            <a:r>
              <a:rPr dirty="0" err="1"/>
              <a:t>Clinic과</a:t>
            </a:r>
            <a:r>
              <a:rPr dirty="0"/>
              <a:t> </a:t>
            </a:r>
            <a:r>
              <a:rPr dirty="0" err="1"/>
              <a:t>독립적인</a:t>
            </a:r>
            <a:r>
              <a:rPr dirty="0"/>
              <a:t> </a:t>
            </a:r>
            <a:r>
              <a:rPr dirty="0" err="1"/>
              <a:t>정보원인</a:t>
            </a:r>
            <a:r>
              <a:rPr dirty="0"/>
              <a:t> AEC </a:t>
            </a:r>
            <a:r>
              <a:rPr dirty="0" err="1"/>
              <a:t>임피던스</a:t>
            </a:r>
            <a:r>
              <a:rPr dirty="0"/>
              <a:t> </a:t>
            </a:r>
            <a:r>
              <a:rPr dirty="0" err="1"/>
              <a:t>곡선을</a:t>
            </a:r>
            <a:r>
              <a:rPr dirty="0"/>
              <a:t> </a:t>
            </a:r>
            <a:r>
              <a:rPr dirty="0" err="1"/>
              <a:t>결합하면</a:t>
            </a:r>
            <a:r>
              <a:rPr dirty="0"/>
              <a:t> 이 </a:t>
            </a:r>
            <a:r>
              <a:rPr dirty="0" err="1"/>
              <a:t>상한을</a:t>
            </a:r>
            <a:r>
              <a:rPr dirty="0"/>
              <a:t> </a:t>
            </a:r>
            <a:r>
              <a:rPr dirty="0" err="1"/>
              <a:t>넘어설</a:t>
            </a:r>
            <a:r>
              <a:rPr dirty="0"/>
              <a:t> </a:t>
            </a:r>
            <a:r>
              <a:rPr dirty="0" err="1"/>
              <a:t>가능성이</a:t>
            </a:r>
            <a:r>
              <a:rPr dirty="0"/>
              <a:t> </a:t>
            </a:r>
            <a:r>
              <a:rPr dirty="0" err="1"/>
              <a:t>있으며</a:t>
            </a:r>
            <a:r>
              <a:rPr dirty="0"/>
              <a:t>, </a:t>
            </a:r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아래</a:t>
            </a:r>
            <a:r>
              <a:rPr dirty="0"/>
              <a:t> TP/FP AEC-128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및 </a:t>
            </a:r>
            <a:r>
              <a:rPr dirty="0" err="1"/>
              <a:t>이후</a:t>
            </a:r>
            <a:r>
              <a:rPr dirty="0"/>
              <a:t> Stage-2 fusion </a:t>
            </a:r>
            <a:r>
              <a:rPr dirty="0" err="1"/>
              <a:t>시도의</a:t>
            </a:r>
            <a:r>
              <a:rPr dirty="0"/>
              <a:t> </a:t>
            </a:r>
            <a:r>
              <a:rPr dirty="0" err="1"/>
              <a:t>근거다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맥락</a:t>
            </a:r>
            <a:r>
              <a:rPr dirty="0"/>
              <a:t>(</a:t>
            </a:r>
            <a:r>
              <a:rPr dirty="0" err="1"/>
              <a:t>구두</a:t>
            </a:r>
            <a:r>
              <a:rPr dirty="0"/>
              <a:t> </a:t>
            </a:r>
            <a:r>
              <a:rPr dirty="0" err="1"/>
              <a:t>설명용</a:t>
            </a:r>
            <a:r>
              <a:rPr dirty="0"/>
              <a:t>, </a:t>
            </a:r>
            <a:r>
              <a:rPr dirty="0" err="1"/>
              <a:t>슬라이드엔</a:t>
            </a:r>
            <a:r>
              <a:rPr dirty="0"/>
              <a:t> </a:t>
            </a:r>
            <a:r>
              <a:rPr dirty="0" err="1"/>
              <a:t>없음</a:t>
            </a:r>
            <a:r>
              <a:rPr dirty="0"/>
              <a:t>): raw(</a:t>
            </a:r>
            <a:r>
              <a:rPr dirty="0" err="1"/>
              <a:t>비매칭</a:t>
            </a:r>
            <a:r>
              <a:rPr dirty="0"/>
              <a:t>) TP vs FP AEC-128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비교는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간 </a:t>
            </a:r>
            <a:r>
              <a:rPr dirty="0" err="1"/>
              <a:t>결과가</a:t>
            </a:r>
            <a:r>
              <a:rPr dirty="0"/>
              <a:t> </a:t>
            </a:r>
            <a:r>
              <a:rPr dirty="0" err="1"/>
              <a:t>불일치했다</a:t>
            </a:r>
            <a:r>
              <a:rPr dirty="0"/>
              <a:t> (Gangnam RMSD=0.0155, p=0.227 </a:t>
            </a:r>
            <a:r>
              <a:rPr dirty="0" err="1"/>
              <a:t>n.s</a:t>
            </a:r>
            <a:r>
              <a:rPr dirty="0"/>
              <a:t>. / Sinchon RMSD=0.0274, p=0.0175). TP/FP </a:t>
            </a:r>
            <a:r>
              <a:rPr dirty="0" err="1"/>
              <a:t>그룹이</a:t>
            </a:r>
            <a:r>
              <a:rPr dirty="0"/>
              <a:t> clinic </a:t>
            </a:r>
            <a:r>
              <a:rPr dirty="0" err="1"/>
              <a:t>공변량</a:t>
            </a:r>
            <a:r>
              <a:rPr dirty="0"/>
              <a:t>(</a:t>
            </a:r>
            <a:r>
              <a:rPr dirty="0" err="1"/>
              <a:t>성별·나이·신장·체중</a:t>
            </a:r>
            <a:r>
              <a:rPr dirty="0"/>
              <a:t>) </a:t>
            </a:r>
            <a:r>
              <a:rPr dirty="0" err="1"/>
              <a:t>분포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</a:t>
            </a:r>
            <a:r>
              <a:rPr dirty="0" err="1"/>
              <a:t>가능성</a:t>
            </a:r>
            <a:r>
              <a:rPr dirty="0"/>
              <a:t>(confound)을 </a:t>
            </a:r>
            <a:r>
              <a:rPr dirty="0" err="1"/>
              <a:t>배제하기</a:t>
            </a:r>
            <a:r>
              <a:rPr dirty="0"/>
              <a:t> </a:t>
            </a:r>
            <a:r>
              <a:rPr dirty="0" err="1"/>
              <a:t>위해</a:t>
            </a:r>
            <a:r>
              <a:rPr dirty="0"/>
              <a:t>,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잔차화</a:t>
            </a:r>
            <a:r>
              <a:rPr dirty="0"/>
              <a:t> </a:t>
            </a:r>
            <a:r>
              <a:rPr dirty="0" err="1"/>
              <a:t>대신</a:t>
            </a:r>
            <a:r>
              <a:rPr dirty="0"/>
              <a:t> </a:t>
            </a:r>
            <a:r>
              <a:rPr dirty="0" err="1"/>
              <a:t>표본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단계에서</a:t>
            </a:r>
            <a:r>
              <a:rPr dirty="0"/>
              <a:t> </a:t>
            </a:r>
            <a:r>
              <a:rPr dirty="0" err="1"/>
              <a:t>confound를</a:t>
            </a:r>
            <a:r>
              <a:rPr dirty="0"/>
              <a:t> </a:t>
            </a:r>
            <a:r>
              <a:rPr dirty="0" err="1"/>
              <a:t>통제하는</a:t>
            </a:r>
            <a:r>
              <a:rPr dirty="0"/>
              <a:t> propensity-score </a:t>
            </a:r>
            <a:r>
              <a:rPr dirty="0" err="1"/>
              <a:t>matching을</a:t>
            </a:r>
            <a:r>
              <a:rPr dirty="0"/>
              <a:t> </a:t>
            </a:r>
            <a:r>
              <a:rPr dirty="0" err="1"/>
              <a:t>적용했다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방법</a:t>
            </a:r>
            <a:r>
              <a:rPr dirty="0"/>
              <a:t>: stage2_input_clin의 </a:t>
            </a:r>
            <a:r>
              <a:rPr dirty="0" err="1"/>
              <a:t>표준화</a:t>
            </a:r>
            <a:r>
              <a:rPr dirty="0"/>
              <a:t> </a:t>
            </a:r>
            <a:r>
              <a:rPr dirty="0" err="1"/>
              <a:t>공변량으로</a:t>
            </a:r>
            <a:r>
              <a:rPr dirty="0"/>
              <a:t> </a:t>
            </a:r>
            <a:r>
              <a:rPr dirty="0" err="1"/>
              <a:t>로지스틱회귀</a:t>
            </a:r>
            <a:r>
              <a:rPr dirty="0"/>
              <a:t> propensity </a:t>
            </a:r>
            <a:r>
              <a:rPr dirty="0" err="1"/>
              <a:t>score를</a:t>
            </a:r>
            <a:r>
              <a:rPr dirty="0"/>
              <a:t> </a:t>
            </a:r>
            <a:r>
              <a:rPr dirty="0" err="1"/>
              <a:t>추정하고</a:t>
            </a:r>
            <a:r>
              <a:rPr dirty="0"/>
              <a:t>, logit(propensity) </a:t>
            </a:r>
            <a:r>
              <a:rPr dirty="0" err="1"/>
              <a:t>기준</a:t>
            </a:r>
            <a:r>
              <a:rPr dirty="0"/>
              <a:t> caliper(0.2×SD) </a:t>
            </a:r>
            <a:r>
              <a:rPr dirty="0" err="1"/>
              <a:t>안에서</a:t>
            </a:r>
            <a:r>
              <a:rPr dirty="0"/>
              <a:t> TP-FP </a:t>
            </a:r>
            <a:r>
              <a:rPr dirty="0" err="1"/>
              <a:t>전체</a:t>
            </a:r>
            <a:r>
              <a:rPr dirty="0"/>
              <a:t> 총 </a:t>
            </a:r>
            <a:r>
              <a:rPr dirty="0" err="1"/>
              <a:t>거리를</a:t>
            </a:r>
            <a:r>
              <a:rPr dirty="0"/>
              <a:t> </a:t>
            </a:r>
            <a:r>
              <a:rPr dirty="0" err="1"/>
              <a:t>최소화하는</a:t>
            </a:r>
            <a:r>
              <a:rPr dirty="0"/>
              <a:t> </a:t>
            </a:r>
            <a:r>
              <a:rPr dirty="0" err="1"/>
              <a:t>전역</a:t>
            </a:r>
            <a:r>
              <a:rPr dirty="0"/>
              <a:t> </a:t>
            </a:r>
            <a:r>
              <a:rPr dirty="0" err="1"/>
              <a:t>최적</a:t>
            </a:r>
            <a:r>
              <a:rPr dirty="0"/>
              <a:t> 1:1 </a:t>
            </a:r>
            <a:r>
              <a:rPr dirty="0" err="1"/>
              <a:t>할당</a:t>
            </a:r>
            <a:r>
              <a:rPr dirty="0"/>
              <a:t>(Hungarian algorithm, </a:t>
            </a:r>
            <a:r>
              <a:rPr dirty="0" err="1"/>
              <a:t>scipy.optimize.linear_sum_assignment</a:t>
            </a:r>
            <a:r>
              <a:rPr dirty="0"/>
              <a:t>)</a:t>
            </a:r>
            <a:r>
              <a:rPr dirty="0" err="1"/>
              <a:t>으로</a:t>
            </a:r>
            <a:r>
              <a:rPr dirty="0"/>
              <a:t> </a:t>
            </a:r>
            <a:r>
              <a:rPr dirty="0" err="1"/>
              <a:t>매칭했다</a:t>
            </a:r>
            <a:r>
              <a:rPr dirty="0"/>
              <a:t> (code/stage2_aec_tp_fp_matched_comparison.py). </a:t>
            </a:r>
            <a:r>
              <a:rPr dirty="0" err="1"/>
              <a:t>매칭</a:t>
            </a:r>
            <a:r>
              <a:rPr dirty="0"/>
              <a:t> 후 4개 </a:t>
            </a:r>
            <a:r>
              <a:rPr dirty="0" err="1"/>
              <a:t>공변량</a:t>
            </a:r>
            <a:r>
              <a:rPr dirty="0"/>
              <a:t> </a:t>
            </a:r>
            <a:r>
              <a:rPr dirty="0" err="1"/>
              <a:t>SMD가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0.08 </a:t>
            </a:r>
            <a:r>
              <a:rPr dirty="0" err="1"/>
              <a:t>미만으로</a:t>
            </a:r>
            <a:r>
              <a:rPr dirty="0"/>
              <a:t> (</a:t>
            </a:r>
            <a:r>
              <a:rPr dirty="0" err="1"/>
              <a:t>매칭</a:t>
            </a:r>
            <a:r>
              <a:rPr dirty="0"/>
              <a:t> 전 0.18~0.31) </a:t>
            </a:r>
            <a:r>
              <a:rPr dirty="0" err="1"/>
              <a:t>balance가</a:t>
            </a:r>
            <a:r>
              <a:rPr dirty="0"/>
              <a:t> 잘 </a:t>
            </a:r>
            <a:r>
              <a:rPr dirty="0" err="1"/>
              <a:t>통제됐다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결과</a:t>
            </a:r>
            <a:r>
              <a:rPr dirty="0"/>
              <a:t>: </a:t>
            </a:r>
            <a:r>
              <a:rPr dirty="0" err="1"/>
              <a:t>Gangnam은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후 더 </a:t>
            </a:r>
            <a:r>
              <a:rPr dirty="0" err="1"/>
              <a:t>확실히</a:t>
            </a:r>
            <a:r>
              <a:rPr dirty="0"/>
              <a:t>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없음</a:t>
            </a:r>
            <a:r>
              <a:rPr dirty="0"/>
              <a:t> (RMSD=0.0057, p=0.983, 97쌍), </a:t>
            </a:r>
            <a:r>
              <a:rPr dirty="0" err="1"/>
              <a:t>Sinchon은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</a:t>
            </a:r>
            <a:r>
              <a:rPr dirty="0" err="1"/>
              <a:t>후에도</a:t>
            </a:r>
            <a:r>
              <a:rPr dirty="0"/>
              <a:t> </a:t>
            </a:r>
            <a:r>
              <a:rPr dirty="0" err="1"/>
              <a:t>여전히</a:t>
            </a:r>
            <a:r>
              <a:rPr dirty="0"/>
              <a:t> </a:t>
            </a:r>
            <a:r>
              <a:rPr dirty="0" err="1"/>
              <a:t>유의</a:t>
            </a:r>
            <a:r>
              <a:rPr dirty="0"/>
              <a:t> (RMSD=0.0422, p=0.0165, 94쌍). 즉 </a:t>
            </a:r>
            <a:r>
              <a:rPr dirty="0" err="1"/>
              <a:t>confound를</a:t>
            </a:r>
            <a:r>
              <a:rPr dirty="0"/>
              <a:t> </a:t>
            </a:r>
            <a:r>
              <a:rPr dirty="0" err="1"/>
              <a:t>설계로</a:t>
            </a:r>
            <a:r>
              <a:rPr dirty="0"/>
              <a:t> </a:t>
            </a:r>
            <a:r>
              <a:rPr dirty="0" err="1"/>
              <a:t>통제해도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간 </a:t>
            </a:r>
            <a:r>
              <a:rPr dirty="0" err="1"/>
              <a:t>불일치가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남는다</a:t>
            </a:r>
            <a:r>
              <a:rPr dirty="0"/>
              <a:t> -- </a:t>
            </a:r>
            <a:r>
              <a:rPr dirty="0" err="1"/>
              <a:t>이는</a:t>
            </a:r>
            <a:r>
              <a:rPr dirty="0"/>
              <a:t> balance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raw AEC-128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코호트마다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나타난다는</a:t>
            </a:r>
            <a:r>
              <a:rPr dirty="0"/>
              <a:t> </a:t>
            </a:r>
            <a:r>
              <a:rPr dirty="0" err="1"/>
              <a:t>뜻이며</a:t>
            </a:r>
            <a:r>
              <a:rPr dirty="0"/>
              <a:t>,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슬라이드의</a:t>
            </a:r>
            <a:r>
              <a:rPr dirty="0"/>
              <a:t> confound </a:t>
            </a:r>
            <a:r>
              <a:rPr dirty="0" err="1"/>
              <a:t>제거</a:t>
            </a:r>
            <a:r>
              <a:rPr dirty="0"/>
              <a:t>/joint fusion </a:t>
            </a:r>
            <a:r>
              <a:rPr dirty="0" err="1"/>
              <a:t>접근이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근거가</a:t>
            </a:r>
            <a:r>
              <a:rPr dirty="0"/>
              <a:t> </a:t>
            </a:r>
            <a:r>
              <a:rPr dirty="0" err="1"/>
              <a:t>된다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code/stage2_model.py </a:t>
            </a:r>
            <a:r>
              <a:rPr dirty="0" err="1"/>
              <a:t>LateFusionNet</a:t>
            </a:r>
            <a:r>
              <a:rPr dirty="0"/>
              <a:t>, CLIN_BRANCH_VARIANT="</a:t>
            </a:r>
            <a:r>
              <a:rPr dirty="0" err="1"/>
              <a:t>frozen_lr</a:t>
            </a:r>
            <a:r>
              <a:rPr dirty="0"/>
              <a:t>"(</a:t>
            </a:r>
            <a:r>
              <a:rPr dirty="0" err="1"/>
              <a:t>기본값</a:t>
            </a:r>
            <a:r>
              <a:rPr dirty="0"/>
              <a:t>, L64-72/136-164)로 </a:t>
            </a:r>
            <a:r>
              <a:rPr dirty="0" err="1"/>
              <a:t>시각화</a:t>
            </a:r>
            <a:r>
              <a:rPr dirty="0"/>
              <a:t>.</a:t>
            </a:r>
          </a:p>
          <a:p>
            <a:r>
              <a:t>근거</a:t>
            </a:r>
            <a:r>
              <a:rPr dirty="0"/>
              <a:t>: code/stage2_model_clinical_branch_ablation.py -- </a:t>
            </a:r>
            <a:r>
              <a:rPr dirty="0" err="1"/>
              <a:t>동일</a:t>
            </a:r>
            <a:r>
              <a:rPr dirty="0"/>
              <a:t> OOF/frozen-external </a:t>
            </a:r>
            <a:r>
              <a:rPr dirty="0" err="1"/>
              <a:t>프로토콜에서</a:t>
            </a:r>
            <a:r>
              <a:rPr dirty="0"/>
              <a:t> </a:t>
            </a:r>
            <a:r>
              <a:rPr dirty="0" err="1"/>
              <a:t>mlp</a:t>
            </a:r>
            <a:r>
              <a:rPr dirty="0"/>
              <a:t>/linear(Linear(4,16),</a:t>
            </a:r>
            <a:r>
              <a:rPr dirty="0" err="1"/>
              <a:t>활성화없음</a:t>
            </a:r>
            <a:r>
              <a:rPr dirty="0"/>
              <a:t>)/</a:t>
            </a:r>
            <a:r>
              <a:rPr dirty="0" err="1"/>
              <a:t>frozen_lr</a:t>
            </a:r>
            <a:r>
              <a:rPr dirty="0"/>
              <a:t> 세 </a:t>
            </a:r>
            <a:r>
              <a:rPr dirty="0" err="1"/>
              <a:t>변형을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. Net NRI: </a:t>
            </a:r>
            <a:r>
              <a:rPr dirty="0" err="1"/>
              <a:t>mlp</a:t>
            </a:r>
            <a:r>
              <a:rPr dirty="0"/>
              <a:t> internal+38/external+10, linear +29/+23, </a:t>
            </a:r>
            <a:r>
              <a:rPr dirty="0" err="1"/>
              <a:t>frozen_lr</a:t>
            </a:r>
            <a:r>
              <a:rPr dirty="0"/>
              <a:t> +74/+15 -- </a:t>
            </a:r>
            <a:r>
              <a:rPr dirty="0" err="1"/>
              <a:t>frozen_lr이</a:t>
            </a:r>
            <a:r>
              <a:rPr dirty="0"/>
              <a:t> </a:t>
            </a:r>
            <a:r>
              <a:rPr dirty="0" err="1"/>
              <a:t>internal에서</a:t>
            </a:r>
            <a:r>
              <a:rPr dirty="0"/>
              <a:t> </a:t>
            </a:r>
            <a:r>
              <a:rPr dirty="0" err="1"/>
              <a:t>거의</a:t>
            </a:r>
            <a:r>
              <a:rPr dirty="0"/>
              <a:t> 2배, </a:t>
            </a:r>
            <a:r>
              <a:rPr dirty="0" err="1"/>
              <a:t>external에서도</a:t>
            </a:r>
            <a:r>
              <a:rPr dirty="0"/>
              <a:t> </a:t>
            </a:r>
            <a:r>
              <a:rPr dirty="0" err="1"/>
              <a:t>mlp보다</a:t>
            </a:r>
            <a:r>
              <a:rPr dirty="0"/>
              <a:t> </a:t>
            </a:r>
            <a:r>
              <a:rPr dirty="0" err="1"/>
              <a:t>우세</a:t>
            </a:r>
            <a:r>
              <a:rPr dirty="0"/>
              <a:t>. AEC branch(Conv1d 1-&gt;8,k7 / Conv1d 8-&gt;16,k5 / AdaptiveAvgPool1d(1) / Linear 16-&gt;16, </a:t>
            </a:r>
            <a:r>
              <a:rPr dirty="0" err="1"/>
              <a:t>전부</a:t>
            </a:r>
            <a:r>
              <a:rPr dirty="0"/>
              <a:t> code/stage2_model.py L109-130)는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유지</a:t>
            </a:r>
            <a:r>
              <a:rPr dirty="0"/>
              <a:t> -- 4-input </a:t>
            </a:r>
            <a:r>
              <a:rPr dirty="0" err="1"/>
              <a:t>clinical만</a:t>
            </a:r>
            <a:r>
              <a:rPr dirty="0"/>
              <a:t> MLP </a:t>
            </a:r>
            <a:r>
              <a:rPr dirty="0" err="1"/>
              <a:t>용량이</a:t>
            </a:r>
            <a:r>
              <a:rPr dirty="0"/>
              <a:t> </a:t>
            </a:r>
            <a:r>
              <a:rPr dirty="0" err="1"/>
              <a:t>과했다는</a:t>
            </a:r>
            <a:r>
              <a:rPr dirty="0"/>
              <a:t> 뜻(TP=117/131 </a:t>
            </a:r>
            <a:r>
              <a:rPr dirty="0" err="1"/>
              <a:t>표본에</a:t>
            </a:r>
            <a:r>
              <a:rPr dirty="0"/>
              <a:t> 688 </a:t>
            </a:r>
            <a:r>
              <a:rPr dirty="0" err="1"/>
              <a:t>파라미터를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학습시키면서</a:t>
            </a:r>
            <a:r>
              <a:rPr dirty="0"/>
              <a:t> AEC </a:t>
            </a:r>
            <a:r>
              <a:rPr dirty="0" err="1"/>
              <a:t>신호를</a:t>
            </a:r>
            <a:r>
              <a:rPr dirty="0"/>
              <a:t>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희석했을</a:t>
            </a:r>
            <a:r>
              <a:rPr dirty="0"/>
              <a:t> </a:t>
            </a:r>
            <a:r>
              <a:rPr dirty="0" err="1"/>
              <a:t>가능성</a:t>
            </a:r>
            <a:r>
              <a:rPr dirty="0"/>
              <a:t>).</a:t>
            </a:r>
          </a:p>
          <a:p>
            <a:r>
              <a:rPr dirty="0" err="1"/>
              <a:t>fusion_head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차원도</a:t>
            </a:r>
            <a:r>
              <a:rPr dirty="0"/>
              <a:t> 32(16+16)-&gt;17(1+16)로 </a:t>
            </a:r>
            <a:r>
              <a:rPr dirty="0" err="1"/>
              <a:t>줄어듦</a:t>
            </a:r>
            <a:r>
              <a:rPr dirty="0"/>
              <a:t> (</a:t>
            </a:r>
            <a:r>
              <a:rPr dirty="0" err="1"/>
              <a:t>LateFusionNet</a:t>
            </a:r>
            <a:r>
              <a:rPr dirty="0"/>
              <a:t>.__</a:t>
            </a:r>
            <a:r>
              <a:rPr dirty="0" err="1"/>
              <a:t>init</a:t>
            </a:r>
            <a:r>
              <a:rPr dirty="0"/>
              <a:t>__, </a:t>
            </a:r>
            <a:r>
              <a:rPr dirty="0" err="1"/>
              <a:t>embed_dim+clin_embed_dim</a:t>
            </a:r>
            <a:r>
              <a:rPr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E0E5C-04C1-45BB-B829-C4A47540F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AB559-215F-5DB1-4E7E-701BE7F33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96FD6-6801-38EC-8C36-F53F5E1F8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code/stage2_model.py main() (outputs/stage2_model/, CLIN_BRANCH_VARIANT="frozen_lr" 기본값, Stage-1 score를 predict_proba에서 decision_function(log-odds)으로 전환 후 재실행, 2026-07-22).</a:t>
            </a:r>
          </a:p>
          <a:p>
            <a:r>
              <a:t>버그: frozen_lr의 z_clin이 Stage-1 raw LR score(decision_function, log-odds)를 그대로 사용 -- 확률이 아니라 log-odds라 부호 자체는 문제가 아니었다(Stage-2 코호트 94%가 음수). 실제 문제는 척도: raw score가 mean=-1.5704/std=0.9154로 원점에서 크게 벗어나 있어, 표준화 없이 그대로 fusion에 넣으면 학습이 이 오프셋에 끌려간다(raw 그대로 학습 시 internal Net NRI=+49/external Net NRI=0 -- 슬라이드7 참고). 수정: raw score를 internal Stage-2 코호트 기준으로 z-score 표준화(mean/std를 internal에서 1회 fit, external엔 frozen 적용 -- clinical feature 표준화와 동일 패턴)하여 이 오프셋을 제거.</a:t>
            </a:r>
          </a:p>
          <a:p>
            <a:r>
              <a:t>Net NRI = fp_removed - tp_lost (build_clinical_vs_aec_row) -- Stage-2가 screen-positive(TP/FP)만 재분류하므로 가능한 전이는 Positive-&gt;Negative 한 방향뿐. 특이도/민감도 McNemar는 exact_mcnemar_p(discordant pair 이항검정).</a:t>
            </a:r>
          </a:p>
          <a:p>
            <a:r>
              <a:t>internal: Net NRI +71, sens 0.907-&gt;0.868(p=0.0625 n.s.), spec 0.535-&gt;0.614(p&lt;0.0001). NI test: sens 86.8%&gt;=floor 86.2% PASS.</a:t>
            </a:r>
          </a:p>
          <a:p>
            <a:r>
              <a:t>external: Net NRI +34(raw 그대로면 0 -- 슬라이드7 참고), sens 0.929-&gt;0.887(p=0.0312), spec 0.493-&gt;0.544(p&lt;0.0001). NI test: sens 88.7%&gt;=floor 88.3% PASS.</a:t>
            </a:r>
          </a:p>
          <a:p>
            <a:r>
              <a:t>전체곡선 AUC/DeLong: internal 0.828-&gt;0.828(diff +0.0001, p=0.858 n.s.), external 0.835-&gt;0.835(diff +0.00002, p=0.247 n.s.) -- stage1_vs_full_pipeline_auc.csv. AUC 비교는 marker의 incremental value 검출에 저출력이라(Pepe 2004; Pencina 2008) NRI/McNemar를 1차 유의성 지표로 삼음.</a:t>
            </a:r>
          </a:p>
          <a:p>
            <a:r>
              <a:t>해석: raw log-odds를 표준화 없이 그대로 쓰면 external에서 전혀 재분류가 일어나지 않는다(Net NRI=0) -- 표준화가 정보를 추가한 게 아니라 raw score가 갖고 있던 스케일/오프셋 의존성을 제거해 학습이 실제 판별정보에 도달하게 한 것.</a:t>
            </a:r>
          </a:p>
          <a:p>
            <a:r>
              <a:t>[참고] 위 mlp-&gt;frozen_lr 비교(+38-&gt;+74 internal, +10-&gt;+15 external)는 클리니컬 브랜치 구조 자체를 바꾼 별도 ablation 결과이며, predict_proba 기반 raw score와 구 표준화 fix 기준이라 이번 decision_function 전환(2026-07-22) 이전 수치임 -- 재실행 전까지 참고용으로만 볼 것 (관련: 슬라이드15 Clinical Branch 비교표도 동일 사유로 재실행 필요).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6CFD1-2C5C-893A-DFA3-8C07CCEC7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01682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[Intro 연결] 슬라이드6에서 propensity-matched TP vs FP 비교 결과 Gangnam은 confound 통제 후 AEC 단독 신호가 사라졌다(RMSD=0.0057, p=0.983). 그렇다면 Stage-2 fusion(슬라이드7-9)이 raw(비잔차화) AEC-128 curve를 그대로 CNN branch에 넣어 학습하는 현재 설계는, 슬라이드6의 발견과 모순되는 것 아닌가 -- 라는 질문에서 출발한 두 개의 후속 ablation.</a:t>
            </a:r>
          </a:p>
          <a:p>
            <a:endParaRPr/>
          </a:p>
          <a:p>
            <a:r>
              <a:t>① z_clin-only ablation (code/stage2_model_no_aec_ablation.py, outputs/stage2_model_no_aec_ablation/): AEC branch를 완전히 제거하고 frozen Stage-1 LR score(z_clin, 표준화)만으로 동일 OOF/threshold-선택/Net NRI 프로토콜을 재현. 결과 Net NRI internal +63 / external +20 -- 프로덕션 전체 Net NRI(+71/+34)의 대부분(internal 89%, external 59%)이 AEC가 아니라 z_clin 표준화 효과였음을 의미. raw AEC 자체의 순수 증분은 internal +8 / external +14뿐.</a:t>
            </a:r>
          </a:p>
          <a:p>
            <a:endParaRPr/>
          </a:p>
          <a:p>
            <a:r>
              <a:t>② Residualized AEC 실험 (code/stage2_model_residualized_aec.py, outputs/stage2_model_residualized_aec/): AEC-128 curve를 slice별로 clinical 4변수(sex_m/age_std/height_std/weight_std)에 OLS 회귀(fit_aec_residualizer, np.linalg.lstsq, intercept 포함) -- internal Stage-2 코호트(screen-positive, n=564)에서만 계수를 적합하고 external에는 그대로(frozen) 적용(다른 표준화들과 동일한 fit-internal-freeze-external 패턴). 잔차만 CNN branch에 입력, 나머지 구조/프로토콜은 프로덕션과 동일.</a:t>
            </a:r>
          </a:p>
          <a:p>
            <a:r>
              <a:t>- clinical 4변수가 raw AEC curve 분산의 74.4%를 설명 -- BMI confound 가설을 정량적으로 재확인.</a:t>
            </a:r>
          </a:p>
          <a:p>
            <a:r>
              <a:t>- Net NRI internal +77 / external +52로 raw AEC보다 개선, AEC 고유 기여도 +14/+32로 확대.</a:t>
            </a:r>
          </a:p>
          <a:p>
            <a:r>
              <a:t>- 그러나 NI test(threshold는 choose_stage2_threshold가 internal만으로 선택, external은 절대 참조하지 않는 설계 -- 슬라이드18의 convpool_avgmax 사례와 동일한 원칙)에서 external이 FAIL: sens 92.91%-&gt;87.94%, floor(stage1-only sens*0.95)=88.26%에 0.32%p 못 미침. internal은 sens 90.70%-&gt;86.82%(floor 86.16%)로 PASS.</a:t>
            </a:r>
          </a:p>
          <a:p>
            <a:endParaRPr/>
          </a:p>
          <a:p>
            <a:r>
              <a:t>핵심 시사점: Net NRI 상승이 NI PASS를 보장하지 않는다 -- Net NRI는 순재분류 인원수, NI test는 특정 민감도 하한 제약이라 서로 다른 것을 측정한다(슬라이드18 convpool_avgmax도 Net NRI +65로 최고였지만 external NI FAIL했던 것과 같은 패턴).</a:t>
            </a:r>
          </a:p>
          <a:p>
            <a:endParaRPr/>
          </a:p>
          <a:p>
            <a:r>
              <a:t>의사결정: 사용자와 논의 후, production(code/stage2_model.py)은 raw AEC를 유지하기로 결정 (raw AEC는 internal/external 모두 NI PASS 확보, 슬라이드9). Residualized AEC는 confound 가설을 Stage-2 레벨에서도 재확인한 탐색적 결과로 문서화하되 채택은 보류 -- 향후 residualizer 정규화나 threshold 강건성 개선 후 재검토 가능.</a:t>
            </a:r>
          </a:p>
          <a:p>
            <a:endParaRPr/>
          </a:p>
          <a:p>
            <a:r>
              <a:t>관련 메모리: project_aec_curve_bmi_confound(원 confound 발견), project_stage2_auc_benchmark_mismatch(AUC 벤치마크 이슈), project_stage2_aec_branch_contribution_and_residualization(이번 실험 전체 기록).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84DDD-DB88-1198-AE20-99EE55842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975FB-D658-DC16-816D-FF3FDA948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142530-BB5E-9577-34FA-97B57F1BE2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[업데이트, 2026-07-22] 슬라이드10 Residualized AEC 실험 결과(Net NRI +77/+52로 개선되었으나 external NI FAIL, sens 87.94% &lt; floor 88.26%, 0.32%p 부족)를 이어받아 다음 단계를 구체화함. 기존 초안(joint fusion=이미 stage2_model.py에 적용 중이라 제외)의 confound 제거 후보 우선순위를 그대로 채택:</a:t>
            </a:r>
          </a:p>
          <a:p>
            <a:endParaRPr/>
          </a:p>
          <a:p>
            <a:r>
              <a:t>① Cross-validated confound regression (Snoek et al. 2019, NeuroImage) -- 최우선 순위. 현재 residualizer(code/stage2_model_residualized_aec.py fit_aec_residualizer)는 internal Stage-2 코호트 전체에 1회만 OLS를 적합하고 그 계수를 그대로 재사용하는 구조라, internal 내부에서도 약간의 in-sample 편향이 있고 external로의 일반화가 최적이 아닐 수 있음. Fold별로 confound regression을 재적합(5-fold OOF 안에서 train fold로만 잔차화 계수를 fit)하면 이 편향이 줄어 external 일반화가 개선될 가능성 -- 0.32%p라는 작은 격차이므로 이 수정만으로 NI FAIL이 PASS로 뒤집힐 여지가 있음.</a:t>
            </a:r>
          </a:p>
          <a:p>
            <a:endParaRPr/>
          </a:p>
          <a:p>
            <a:r>
              <a:t>② Counterfactual adjustment (Chaibub Neto 2021, ICML) -- CV confound regression으로도 external 격차가 안 좁혀질 경우의 대안. Dataset shift(코호트 간 분포 차이)에 더 안정적인 방법론으로 알려짐.</a:t>
            </a:r>
          </a:p>
          <a:p>
            <a:endParaRPr/>
          </a:p>
          <a:p>
            <a:r>
              <a:t>③ Covariate-adjusted subspace projection (Li et al. 2017, Comput Stat Data Anal) -- 파이프라인 전체 재설계가 필요해 우선순위 최하.</a:t>
            </a:r>
          </a:p>
          <a:p>
            <a:endParaRPr/>
          </a:p>
          <a:p>
            <a:r>
              <a:t>④ Late fusion -&gt; Cross-attention 비교 (낮은 우선순위, 사용자 제안): z_clin이 AEC-128 curve의 어느 구간에 attend할지 학습시키는 구조. 다만 지금까지의 두 branch ablation(슬라이드7 clinical branch mlp 688-&gt;linear 80-&gt;frozen_lr 0 params, 슬라이드18 AEC branch convflat 33,504 vs convpool 400 params)이 공통적으로 "파라미터를 줄일수록 Net NRI 개선, 늘릴수록(convpool_avgmax) external NI FAIL"하는 패턴을 보였음 -- n=564(TP=117)의 작은 표본에서는 표현력보다 과적합/일반화가 병목이라는 뜻이라, attention은 파라미터와 학습 복잡도를 늘리는 방향이라 같은 이유로 NI FAIL 위험이 커질 가능성이 있음. 그럼에도 residualized AEC의 external NI 격차(0.32%p)를 좁히는 목적에서는, clinical 조건부로 curve의 특정 구간에 가중치를 주는 게 이론적으로 맞는 방향이라 완전히 배제하지 않음 -- ①②③ 시도 후에도 격차가 안 좁혀지면 소규모(예: single-head attention pooling, GlobalAvgPool 대체 수준)로 시도.</a:t>
            </a:r>
          </a:p>
          <a:p>
            <a:endParaRPr/>
          </a:p>
          <a:p>
            <a:r>
              <a:t>목표: 위 개선을 거쳐 external NI PASS를 확보하면, Residualized AEC(raw AEC 대비 Net NRI internal +6/external +18 추가 개선, AEC 고유 기여 +14/+32)를 production으로 전환하는 것을 재검토한다. PASS를 못 얻으면 raw AEC를 계속 유지.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3E6E2-A4F3-0543-FDD9-B032A1CF5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7553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3641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본 연구 파이프라인(Stage-1 스크리닝 → confound 통제 → Stage-2 fusion → 평가)에서 사용된 방법론의 출처 논문 목록. Prado 2008(Lancet Oncol 9(7):629-35)와 Martin 2013(J Clin Oncol 31:1539-47)은 Low-SMI 스크리닝의 임상적 가치 근거(슬라이드 이전 버전에서도 인용). Hosmer &amp; Lemeshow의 AUC 판별 기준(0.7-0.8 acceptable / 0.8-0.9 excellent)은 Stage-1 AUC 0.828/0.835 해석에 사용. Rosenbaum &amp; Rubin 1983(Biometrika 70:41-55)은 propensity score 매칭의 원조로, Kuhn 1955(Naval Res Logistics 2:83-97)의 Hungarian method(scipy.optimize.linear_sum_assignment 구현)으로 caliper 내 전역 최적 1:1 할당을 수행. Confound 제거 후보 3가지(Snoek 2019 NeuroImage 184:741-760 cross-validated confound regression; Chaibub Neto 2021 ICML counterfactual adjustment; Li et al. 2017 Comput Stat Data Anal covariate-adjusted subspace projection)는 이전 slide9(Next Plans) 논의에서도 인용된 바 있음. Ramachandram &amp; Taylor 2017(IEEE Signal Process Mag 34:96-108)은 multimodal late fusion 일반론, Lin et al. 2013(arXiv:1312.4400 Network in Network)은 AEC branch의 GlobalAvgPool 구조 근거. Pencina et al. 2008(Stat Med 27(2):157-172)는 NRI 지표 원논문(slide8 Net NRI 지표). DeLong et al. 1988(Biometrics 44:837-845)는 AUC 비교 방법(slide8 stage1_vs_full_pipeline_auc.csv), Pepe et al. 2004(Am J Epidemiol 159:882-890)는 AUC가 marker의 incremental value 검출에 저출력이라는 한계(slide8/15 이미 인용됨). Piaggio et al. 2006(JAMA 295(10):1152-1160)은 non-inferiority test 보고 기준(CONSORT NI extension), slide8의 NI PASS/PASS 판정 근거. 이 슬라이드는 2026-07-22 세션에 새로 추가됨 -- WebSearch로 각 서지사항(저자/연도/저널)을 개별 검증함. 기존 슬라이드에 이미 있던 Prado 2008/Martin 2013/Snoek 2019/Chaibub Neto 2021/Li 2017/Pepe 2004/Pencina 2008는 재사용, 나머지(Rosenbaum&amp;Rubin, Kuhn, Ramachandram&amp;Taylor, Lin et al., DeLong et al., Hosmer&amp;Lemeshow, Piaggio et al.)는 이 세션에서 신규 조사. 기존 slide2 notes의 'Pugh 2024'(order statistic)는 WebSearch로 재확인하려 했으나 정확한 출처를 찾지 못해 이 리스트에서는 제외함 -- 사용자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FN 1</a:t>
            </a:r>
            <a:r>
              <a:rPr lang="ko-KR" altLang="en-US" sz="1200" dirty="0"/>
              <a:t>명당 드는 </a:t>
            </a:r>
            <a:r>
              <a:rPr lang="en-US" altLang="ko-KR" sz="1200" dirty="0"/>
              <a:t>FP </a:t>
            </a:r>
            <a:r>
              <a:rPr lang="ko-KR" altLang="en-US" sz="1200" dirty="0"/>
              <a:t>비용은 </a:t>
            </a:r>
            <a:r>
              <a:rPr lang="en-US" altLang="ko-KR" sz="1200" dirty="0"/>
              <a:t>85→90%p </a:t>
            </a:r>
            <a:r>
              <a:rPr lang="ko-KR" altLang="en-US" sz="1200" dirty="0"/>
              <a:t>구간보다 </a:t>
            </a:r>
            <a:r>
              <a:rPr lang="en-US" altLang="ko-KR" sz="1200" dirty="0"/>
              <a:t>90→95%p </a:t>
            </a:r>
            <a:r>
              <a:rPr lang="ko-KR" altLang="en-US" sz="1200" dirty="0"/>
              <a:t>구간에서 </a:t>
            </a:r>
            <a:r>
              <a:rPr lang="en-US" altLang="ko-KR" sz="1200" dirty="0"/>
              <a:t>1.6~3</a:t>
            </a:r>
            <a:r>
              <a:rPr lang="ko-KR" altLang="en-US" sz="1200" dirty="0"/>
              <a:t>배 증가</a:t>
            </a:r>
          </a:p>
          <a:p>
            <a:pPr>
              <a:lnSpc>
                <a:spcPct val="150000"/>
              </a:lnSpc>
            </a:pPr>
            <a:r>
              <a:rPr lang="ko-KR" altLang="en-US" sz="1200" b="1" dirty="0"/>
              <a:t>→ </a:t>
            </a:r>
            <a:r>
              <a:rPr lang="en-US" altLang="ko-KR" sz="1200" b="1" dirty="0" err="1"/>
              <a:t>Sp</a:t>
            </a:r>
            <a:r>
              <a:rPr lang="ko-KR" altLang="en-US" sz="1200" b="1" dirty="0"/>
              <a:t> 손실이 급격히 커지기 직전인 </a:t>
            </a:r>
            <a:r>
              <a:rPr lang="en-US" altLang="ko-KR" sz="1200" b="1" dirty="0"/>
              <a:t>90%p</a:t>
            </a:r>
            <a:r>
              <a:rPr lang="ko-KR" altLang="en-US" sz="1200" b="1" dirty="0"/>
              <a:t>가 비용 대비 효율적인 </a:t>
            </a:r>
            <a:r>
              <a:rPr lang="en-US" altLang="ko-KR" sz="1200" b="1" dirty="0"/>
              <a:t>cutoff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47385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8A4A-BF4E-A68A-5F1E-D49EEEC9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F0313-5111-4925-AA40-28B406CA5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319D1-9A0E-DBAD-CCE8-E1B5256FF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A9B80-65F7-EA25-0B41-27D543607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9894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[업데이트, 2026-07-22] Stage-1 score를 predict_proba에서 decision_function(log-odds)으로 전환 + 표준화 fix 반영 후 code/stage2_model_branch_ablation.py 재실행. clin_variant는 frozen_lr(표준화 반영)로 고정, AecBranch만 4가지로 교체. 이번 재실행에서 run_aec_variant()가 internal/external 표준화를 따로 fit하던 버그(frozen-transfer 원칙 위반)도 함께 수정함.</a:t>
            </a:r>
          </a:p>
          <a:p>
            <a:r>
              <a:t>convpool(채택, 400 params): AUC 0.738/0.750, Net NRI internal +71 / external +34, NI PASS/PASS.</a:t>
            </a:r>
          </a:p>
          <a:p>
            <a:r>
              <a:t>convpool_avgmax(1,248 params): AUC 0.734/0.750, Net NRI internal +38 / external +65(가장 높음) -- 하지만 external sens 92.9%-&gt;87.9%로 NI floor(88.3%, stage1-only sens*0.95) 미달 -- FAIL. th는 internal OOF에서만 NI-최적화되므로 external 전이에서 NI를 보장하지 않는다는 걸 보여주는 사례 -- 높은 Net NRI만으로 채택 불가, 안전성 기준(NI test)이 우선.</a:t>
            </a:r>
          </a:p>
          <a:p>
            <a:r>
              <a:t>handcrafted(128 params): AUC 0.731/0.752, Net NRI internal +50 / external +28, NI PASS/PASS -- convpool보다 internal이 낮고 external도 근소하게 낮음.</a:t>
            </a:r>
          </a:p>
          <a:p>
            <a:r>
              <a:t>convflat(33,504 params): AUC 0.719/0.741, Net NRI internal +38 / external +1, NI PASS/PASS -- screen-positive 학습 표본(internal n=564, TP=117/FP=447 -- Stage-2는 Stage-1 predicted-positive만 다루므로 전체 코호트 n=1090이 아니라 이 564명이 실제 학습/5-fold OOF 대상, fold당 train~451/val~113)에 과적합, external 재분류 후보를 거의 찾지 못함(threshold 통과 자체가 거의 없음).</a:t>
            </a:r>
          </a:p>
          <a:p>
            <a:r>
              <a:t>결론(유지): NI 기준을 통과하는 후보들(convpool/handcrafted/convflat) 중 convpool이 internal/external 모두 최우수 -- 현재 stage2_model.py 기본 아키텍처(frozen Stage-1 LR + GlobalAvgPool 1D-CNN) 유지가 타당함. convpool_avgmax는 재검토 대상에서 제외(external NI FAIL).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code/stage2_model_branch_ablation.py (outputs/stage2_model_branch_ablation/branch_variant_comparison.xlsx, clinical_branch 시트).</a:t>
            </a:r>
          </a:p>
          <a:p>
            <a:r>
              <a:t>동일 OOF(5-fold)/frozen-external 프로토콜에서 ClinicalBranch만 mlp/linear/frozen_lr 3가지로 교체, AecBranch/fusion head는 고정.</a:t>
            </a:r>
          </a:p>
          <a:p>
            <a:r>
              <a:t>AUC(screen-positive OOF, frozen_lr) internal 0.738, external 0.750 -- AUC 비교는 marker의 incremental value 검출에 저출력이라(Pepe 2004; Pencina 2008) Net NRI/McNemar를 1차 지표로 채택.</a:t>
            </a:r>
          </a:p>
          <a:p>
            <a:r>
              <a:t>frozen_lr 채택 후 code/stage2_model.py의 CLIN_BRANCH_VARIANT 기본값을 frozen_lr로 유지, outputs/stage2_model/ 재실행(슬라이드8 수치가 이 결과).</a:t>
            </a:r>
          </a:p>
          <a:p>
            <a:r>
              <a:t>[업데이트, 2026-07-22] Stage-1 score를 predict_proba에서 decision_function(log-odds)으로 전환 + 표준화 fix 반영(fit_score_standardizer, internal에서 fit해 external엔 frozen 적용) 후 재실행 -- 표의 frozen_lr 행(0 params)은 이 재실행 결과로 갱신함(Net NRI internal +71/external +34). 이번 재실행에서 build_clin_tensor()의 frozen_lr 케이스가 raw score를 그대로 쓰던 버그와, run_aec_variant()가 internal/external 표준화를 따로 fit하던 버그(frozen-transfer 원칙 위반)를 함께 수정함. mlp/linear 행은 Stage-1 score를 쓰지 않는 구조라 이 fix와 무관하며, 이번 재실행에서도 수치가 이전(+38/+10, +29/+23)과 거의 동일함(재현성 확인).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code/stage2_model.py fit_score_standardizer() (2026-07-22 decision_function 전환 후 재적합). internal Stage-2 코호트(screen-positive, TP=117/FP=447, n=564)의 raw score(Stage-1 LR decision_function, log-odds)에서 mean/std를 1회 fit하고, external에는 이 값을 그대로(frozen) 적용 -- raw clinical feature 표준화(fit_clinical_standardizer)와 동일한 패턴.</a:t>
            </a:r>
          </a:p>
          <a:p>
            <a:r>
              <a:t>문제: raw score는 predict_proba가 아니라 decision_function(log-odds)이라 부호 자체는 문제가 아님 -- Stage-2 코호트(screen-positive, score&gt;=th=-2.7083) 중 94%(530/564)가 여전히 음수. 실제 문제는 척도: mean=-1.5704, std=0.9154로 원점에서 크게 벗어나 있고(min=-2.7083, 25%=-2.2636, 중앙값=-1.8144, 75%=-1.0498, max=3.0610), 표준화 없이 그대로 fusion에 넣으면 학습이 이 오프셋에 끌려간다. A/B로 확인: raw 그대로 학습 시 internal Net NRI=+49, external Net NRI=0(재분류 전무, stage-1-only와 완전히 동일) -- 표준화 없이는 external에서 전혀 작동하지 않음.</a:t>
            </a:r>
          </a:p>
          <a:p>
            <a:r>
              <a:t>해결: z_clin = (score - (-1.5704)) / 0.9154. 결과 분포는 564명 중 41%가 양수/59%가 음수로 재배치. 판별정보는 보존: FP 평균 환자 z=-0.195, TP 평균 환자 z=+0.746 -- TP가 더 높다는 순서는 그대로.</a:t>
            </a:r>
          </a:p>
          <a:p>
            <a:r>
              <a:t>효과: 표준화 전(raw log-odds 그대로) internal Net NRI=+49/external Net NRI=0 -&gt; 표준화 후 internal +71/external +34. external은 0에서 +34로 처음 작동하기 시작한 것 -- raw score가 갖던 스케일/오프셋 의존성이 제거되며 external 전이(일반화)가 비로소 가능해진 것으로 해석. 상세 A/B 비교 스크립트: 대화 중 임시 비교 실행 참고(같은 코드베이스, 표준화만 on/off).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137CA-0C20-2687-AB6B-CE68A6A85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D04ED-FE61-9CCA-B9C6-676C6D2CDC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2D524-6532-F60E-0B49-893FBEF472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709A5-7892-805A-75E0-73F2E96D9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328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/>
              </a:rPr>
              <a:t>Results of Residual Algorithm</a:t>
            </a:r>
            <a:endParaRPr sz="2400" b="1" dirty="0">
              <a:solidFill>
                <a:schemeClr val="bg1"/>
              </a:solidFill>
              <a:latin typeface="KoPub돋움체 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Overall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Stage-1 Screening → Stage-2 Fusion 전체 파이프라인</a:t>
            </a:r>
          </a:p>
        </p:txBody>
      </p:sp>
      <p:sp>
        <p:nvSpPr>
          <p:cNvPr id="4" name="Rounded Rectangle"/>
          <p:cNvSpPr/>
          <p:nvPr/>
        </p:nvSpPr>
        <p:spPr>
          <a:xfrm>
            <a:off x="1496000" y="1840532"/>
            <a:ext cx="9200000" cy="46000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Input Data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Clinic 4개 변수 (Sex/Age/Height/Weight) + AEC-128 impedance curve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0" y="230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"/>
          <p:cNvSpPr/>
          <p:nvPr/>
        </p:nvSpPr>
        <p:spPr>
          <a:xfrm>
            <a:off x="1496000" y="2450532"/>
            <a:ext cx="9200000" cy="46000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Stage-1: Clinical-only Logistic Regression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AUC internal 0.828 / external 0.835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0" y="291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"/>
          <p:cNvSpPr/>
          <p:nvPr/>
        </p:nvSpPr>
        <p:spPr>
          <a:xfrm>
            <a:off x="1496000" y="3060532"/>
            <a:ext cx="9200000" cy="46000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Sensitivity 90% Cutoff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Predicted Positive만 Stage-2로 (PPV 20.7%/24.8%)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352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"/>
          <p:cNvSpPr/>
          <p:nvPr/>
        </p:nvSpPr>
        <p:spPr>
          <a:xfrm>
            <a:off x="1496000" y="3670532"/>
            <a:ext cx="9200000" cy="46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AEC Confound </a:t>
            </a:r>
            <a:r>
              <a:rPr lang="ko-KR" altLang="en-US" sz="1100" b="1">
                <a:solidFill>
                  <a:srgbClr val="FFFFFF"/>
                </a:solidFill>
              </a:rPr>
              <a:t>가설 </a:t>
            </a:r>
            <a:r>
              <a:rPr lang="en-US" altLang="ko-KR" sz="1100" b="1">
                <a:solidFill>
                  <a:srgbClr val="FFFFFF"/>
                </a:solidFill>
              </a:rPr>
              <a:t>| </a:t>
            </a:r>
            <a:r>
              <a:rPr lang="en-US" sz="1100" b="1">
                <a:solidFill>
                  <a:srgbClr val="FFFFFF"/>
                </a:solidFill>
              </a:rPr>
              <a:t>BMI </a:t>
            </a:r>
            <a:r>
              <a:rPr lang="ko-KR" altLang="en-US" sz="1100" b="1">
                <a:solidFill>
                  <a:srgbClr val="FFFFFF"/>
                </a:solidFill>
              </a:rPr>
              <a:t>등 </a:t>
            </a:r>
            <a:r>
              <a:rPr lang="en-US" sz="1100" b="1">
                <a:solidFill>
                  <a:srgbClr val="FFFFFF"/>
                </a:solidFill>
              </a:rPr>
              <a:t>confound </a:t>
            </a:r>
            <a:r>
              <a:rPr lang="ko-KR" altLang="en-US" sz="1100" b="1">
                <a:solidFill>
                  <a:srgbClr val="FFFFFF"/>
                </a:solidFill>
              </a:rPr>
              <a:t>통제 후에도 </a:t>
            </a:r>
            <a:r>
              <a:rPr lang="en-US" sz="1100" b="1">
                <a:solidFill>
                  <a:srgbClr val="FFFFFF"/>
                </a:solidFill>
              </a:rPr>
              <a:t>AEC </a:t>
            </a:r>
            <a:r>
              <a:rPr lang="ko-KR" altLang="en-US" sz="1100" b="1">
                <a:solidFill>
                  <a:srgbClr val="FFFFFF"/>
                </a:solidFill>
              </a:rPr>
              <a:t>고유 신호가 남는지 검증 </a:t>
            </a:r>
            <a:r>
              <a:rPr lang="en-US" altLang="ko-KR" sz="1100" b="1">
                <a:solidFill>
                  <a:srgbClr val="FFFFFF"/>
                </a:solidFill>
              </a:rPr>
              <a:t>(</a:t>
            </a:r>
            <a:r>
              <a:rPr lang="en-US" sz="1100" b="1">
                <a:solidFill>
                  <a:srgbClr val="FFFFFF"/>
                </a:solidFill>
              </a:rPr>
              <a:t>Propensity Matching + curve </a:t>
            </a:r>
            <a:r>
              <a:rPr lang="ko-KR" altLang="en-US" sz="1100" b="1">
                <a:solidFill>
                  <a:srgbClr val="FFFFFF"/>
                </a:solidFill>
              </a:rPr>
              <a:t>비교</a:t>
            </a:r>
            <a:r>
              <a:rPr lang="en-US" altLang="ko-KR" sz="1100" b="1">
                <a:solidFill>
                  <a:srgbClr val="FFFFFF"/>
                </a:solidFill>
              </a:rPr>
              <a:t>)</a:t>
            </a:r>
            <a:endParaRPr sz="1100" b="0">
              <a:solidFill>
                <a:srgbClr val="FFFFFF"/>
              </a:solidFill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6096000" y="413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"/>
          <p:cNvSpPr/>
          <p:nvPr/>
        </p:nvSpPr>
        <p:spPr>
          <a:xfrm>
            <a:off x="1496000" y="4280532"/>
            <a:ext cx="9200000" cy="46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Stage-2: Late Fusion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frozen Stage-1 LR + 1D-CNN(GAP) AEC branch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474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"/>
          <p:cNvSpPr/>
          <p:nvPr/>
        </p:nvSpPr>
        <p:spPr>
          <a:xfrm>
            <a:off x="1496000" y="4890532"/>
            <a:ext cx="9200000" cy="46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P(TP | screen-positive)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logit → sigmoid, FP→TN 재분류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535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"/>
          <p:cNvSpPr/>
          <p:nvPr/>
        </p:nvSpPr>
        <p:spPr>
          <a:xfrm>
            <a:off x="1496000" y="5500532"/>
            <a:ext cx="9200000" cy="460000"/>
          </a:xfrm>
          <a:prstGeom prst="round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Result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Net NRI internal +71 / external +34, NI PASS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" y="901700"/>
            <a:ext cx="11176000" cy="1905000"/>
          </a:xfrm>
        </p:spPr>
        <p:txBody>
          <a:bodyPr>
            <a:normAutofit fontScale="62500" lnSpcReduction="20000"/>
          </a:bodyPr>
          <a:lstStyle/>
          <a:p>
            <a:r>
              <a:rPr lang="en-US" altLang="ko-KR"/>
              <a:t>Stage 1 | Clinic 4</a:t>
            </a:r>
            <a:r>
              <a:rPr lang="ko-KR" altLang="en-US"/>
              <a:t>개 변수</a:t>
            </a:r>
            <a:r>
              <a:rPr lang="en-US" altLang="ko-KR"/>
              <a:t>(Sex, Age, Height, Weight)</a:t>
            </a:r>
            <a:r>
              <a:rPr lang="ko-KR" altLang="en-US"/>
              <a:t>로 성별별 </a:t>
            </a:r>
            <a:r>
              <a:rPr lang="en-US" altLang="ko-KR"/>
              <a:t>low-SMI </a:t>
            </a:r>
            <a:r>
              <a:rPr lang="ko-KR" altLang="en-US"/>
              <a:t>분류 </a:t>
            </a:r>
            <a:r>
              <a:rPr lang="en-US" altLang="ko-KR"/>
              <a:t>(M: smi &lt; 45.4, F: smi &lt; 34.4)</a:t>
            </a:r>
          </a:p>
          <a:p>
            <a:r>
              <a:rPr lang="en-US" altLang="ko-KR"/>
              <a:t>log-odds(low-SMI) = 0.78·age_z + 0.38·height_z + 1.54·weight_z − 1.63·sex_M − 2.95</a:t>
            </a:r>
          </a:p>
          <a:p>
            <a:r>
              <a:rPr lang="ko-KR" altLang="en-US"/>
              <a:t>체중</a:t>
            </a:r>
            <a:r>
              <a:rPr lang="en-US" altLang="ko-KR"/>
              <a:t>·</a:t>
            </a:r>
            <a:r>
              <a:rPr lang="ko-KR" altLang="en-US"/>
              <a:t>나이</a:t>
            </a:r>
            <a:r>
              <a:rPr lang="en-US" altLang="ko-KR"/>
              <a:t>·</a:t>
            </a:r>
            <a:r>
              <a:rPr lang="ko-KR" altLang="en-US"/>
              <a:t>키가 클수록 위험도 증가</a:t>
            </a:r>
            <a:r>
              <a:rPr lang="en-US" altLang="ko-KR"/>
              <a:t>, </a:t>
            </a:r>
            <a:r>
              <a:rPr lang="ko-KR" altLang="en-US"/>
              <a:t>남성이면 감소 </a:t>
            </a:r>
            <a:r>
              <a:rPr lang="en-US" altLang="ko-KR"/>
              <a:t>(</a:t>
            </a:r>
            <a:r>
              <a:rPr lang="ko-KR" altLang="en-US"/>
              <a:t>성별 </a:t>
            </a:r>
            <a:r>
              <a:rPr lang="en-US" altLang="ko-KR"/>
              <a:t>cutoff </a:t>
            </a:r>
            <a:r>
              <a:rPr lang="ko-KR" altLang="en-US"/>
              <a:t>차이 반영</a:t>
            </a:r>
            <a:r>
              <a:rPr lang="en-US" altLang="ko-KR"/>
              <a:t>)</a:t>
            </a:r>
          </a:p>
          <a:p>
            <a:r>
              <a:rPr lang="en-US" altLang="ko-KR"/>
              <a:t>AUC internal 0.828 / external 0.835 → Stage-2 </a:t>
            </a:r>
            <a:r>
              <a:rPr lang="ko-KR" altLang="en-US"/>
              <a:t>입력으로 재사용 </a:t>
            </a:r>
            <a:r>
              <a:rPr lang="en-US" altLang="ko-KR"/>
              <a:t>(frozen)</a:t>
            </a:r>
            <a:endParaRPr lang="en-US" altLang="ko-KR" sz="1600" dirty="0"/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1F50CFAD-E1EB-B225-4946-40CBAA4C9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512217"/>
              </p:ext>
            </p:extLst>
          </p:nvPr>
        </p:nvGraphicFramePr>
        <p:xfrm>
          <a:off x="508000" y="2984500"/>
          <a:ext cx="3810000" cy="2286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5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42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변수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계수 (coefficient)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0.7805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0.3800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1.5382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sex_M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-1.6348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</a:t>
                      </a:r>
                      <a:r>
                        <a:rPr sz="1400" dirty="0"/>
                        <a:t>ntercept</a:t>
                      </a:r>
                      <a:r>
                        <a:rPr lang="en-US" sz="1400" dirty="0"/>
                        <a:t>(LR </a:t>
                      </a:r>
                      <a:r>
                        <a:rPr lang="ko-KR" altLang="en-US" sz="1400" dirty="0"/>
                        <a:t>절편</a:t>
                      </a:r>
                      <a:r>
                        <a:rPr lang="en-US" sz="1400" dirty="0"/>
                        <a:t>)</a:t>
                      </a:r>
                      <a:endParaRPr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-2.9516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ABC264B1-4288-3E34-F029-AF4C93DB4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857500"/>
            <a:ext cx="7109401" cy="341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/>
              <a:t>Stage-1 TP vs FP AEC-128 </a:t>
            </a:r>
            <a:r>
              <a:rPr lang="ko-KR" altLang="en-US" sz="1500" b="1" dirty="0"/>
              <a:t>비교 </a:t>
            </a:r>
            <a:r>
              <a:rPr lang="en-US" altLang="ko-KR" sz="1500" b="1" dirty="0"/>
              <a:t>(Matched, Confound </a:t>
            </a:r>
            <a:r>
              <a:rPr lang="ko-KR" altLang="en-US" sz="1500" b="1" dirty="0"/>
              <a:t>통제</a:t>
            </a:r>
            <a:r>
              <a:rPr lang="en-US" altLang="ko-KR" sz="1500" b="1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500" b="1" dirty="0"/>
              <a:t>→ naive </a:t>
            </a:r>
            <a:r>
              <a:rPr lang="ko-KR" altLang="en-US" sz="1500" b="1" dirty="0"/>
              <a:t>신호는 주로 </a:t>
            </a:r>
            <a:r>
              <a:rPr lang="en-US" altLang="ko-KR" sz="1500" b="1" dirty="0"/>
              <a:t>BMI confound</a:t>
            </a:r>
            <a:endParaRPr sz="1500" b="1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219216"/>
              </p:ext>
            </p:extLst>
          </p:nvPr>
        </p:nvGraphicFramePr>
        <p:xfrm>
          <a:off x="3764159" y="1821709"/>
          <a:ext cx="4679923" cy="1341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12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87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4361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Matched 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Gangnam</a:t>
                      </a:r>
                    </a:p>
                    <a:p>
                      <a:pPr algn="ctr"/>
                      <a:r>
                        <a:rPr sz="1400" dirty="0"/>
                        <a:t>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0.0057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97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Sinchon</a:t>
                      </a:r>
                    </a:p>
                    <a:p>
                      <a:pPr algn="ctr"/>
                      <a:r>
                        <a:rPr sz="140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0.0422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0.0165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94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2" name="그룹 11">
            <a:extLst>
              <a:ext uri="{FF2B5EF4-FFF2-40B4-BE49-F238E27FC236}">
                <a16:creationId xmlns:a16="http://schemas.microsoft.com/office/drawing/2014/main" id="{7C38C2DF-B7CD-0288-0279-A7016A6CEFDB}"/>
              </a:ext>
            </a:extLst>
          </p:cNvPr>
          <p:cNvGrpSpPr/>
          <p:nvPr/>
        </p:nvGrpSpPr>
        <p:grpSpPr>
          <a:xfrm>
            <a:off x="1878741" y="3429000"/>
            <a:ext cx="8434517" cy="2875111"/>
            <a:chOff x="1424174" y="3429000"/>
            <a:chExt cx="8434517" cy="2875111"/>
          </a:xfrm>
        </p:grpSpPr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4174" y="3429001"/>
              <a:ext cx="4209137" cy="2875110"/>
            </a:xfrm>
            <a:prstGeom prst="rect">
              <a:avLst/>
            </a:prstGeom>
          </p:spPr>
        </p:pic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49554" y="3429000"/>
              <a:ext cx="4209137" cy="287511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Stage-2 Late Fusion </a:t>
            </a:r>
            <a:r>
              <a:rPr sz="2200" b="1" dirty="0" err="1"/>
              <a:t>모델</a:t>
            </a:r>
            <a:r>
              <a:rPr sz="2200" b="1" dirty="0"/>
              <a:t> </a:t>
            </a:r>
            <a:r>
              <a:rPr sz="2200" b="1" dirty="0" err="1"/>
              <a:t>구조</a:t>
            </a:r>
            <a:endParaRPr sz="22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2093977"/>
            <a:ext cx="4206240" cy="50292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Clinical input (4)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sex_m / age_std / height_std / weight_std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34640" y="2596897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734057"/>
            <a:ext cx="4206240" cy="694942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</a:rPr>
              <a:t>Stage-1 Logistic Regression (frozen)</a:t>
            </a:r>
          </a:p>
          <a:p>
            <a:pPr algn="ctr"/>
            <a:r>
              <a:rPr sz="1050" b="0" dirty="0">
                <a:solidFill>
                  <a:srgbClr val="FFFFFF"/>
                </a:solidFill>
              </a:rPr>
              <a:t>표준화(score) -&gt; </a:t>
            </a:r>
            <a:r>
              <a:rPr sz="1050" b="0" dirty="0" err="1">
                <a:solidFill>
                  <a:srgbClr val="FFFFFF"/>
                </a:solidFill>
              </a:rPr>
              <a:t>z_clin</a:t>
            </a:r>
            <a:r>
              <a:rPr sz="1050" b="0" dirty="0">
                <a:solidFill>
                  <a:srgbClr val="FFFFFF"/>
                </a:solidFill>
              </a:rPr>
              <a:t> (1), 0 </a:t>
            </a:r>
            <a:r>
              <a:rPr sz="1050" b="0" dirty="0" err="1">
                <a:solidFill>
                  <a:srgbClr val="FFFFFF"/>
                </a:solidFill>
              </a:rPr>
              <a:t>학습</a:t>
            </a:r>
            <a:r>
              <a:rPr sz="1050" b="0" dirty="0">
                <a:solidFill>
                  <a:srgbClr val="FFFFFF"/>
                </a:solidFill>
              </a:rPr>
              <a:t> </a:t>
            </a:r>
            <a:r>
              <a:rPr sz="1050" b="0" dirty="0" err="1">
                <a:solidFill>
                  <a:srgbClr val="FFFFFF"/>
                </a:solidFill>
              </a:rPr>
              <a:t>파라미터</a:t>
            </a:r>
            <a:endParaRPr sz="1050" b="0" dirty="0">
              <a:solidFill>
                <a:srgbClr val="FFFF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949440" y="2093977"/>
            <a:ext cx="4389120" cy="50292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AEC-128 input</a:t>
            </a:r>
          </a:p>
          <a:p>
            <a:pPr algn="ctr"/>
            <a:r>
              <a:rPr sz="1100" b="0" dirty="0">
                <a:solidFill>
                  <a:srgbClr val="FFFFFF"/>
                </a:solidFill>
              </a:rPr>
              <a:t>patient-normalized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0" y="2596897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949440" y="2734056"/>
            <a:ext cx="4389120" cy="694943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dirty="0">
                <a:solidFill>
                  <a:srgbClr val="FFFFFF"/>
                </a:solidFill>
              </a:rPr>
              <a:t>Conv1d 1→8, k=7 + </a:t>
            </a:r>
            <a:r>
              <a:rPr sz="1100" b="0" dirty="0" err="1">
                <a:solidFill>
                  <a:srgbClr val="FFFFFF"/>
                </a:solidFill>
              </a:rPr>
              <a:t>ReLU</a:t>
            </a:r>
            <a:endParaRPr lang="en-US" sz="1100" b="0" dirty="0">
              <a:solidFill>
                <a:srgbClr val="FFFFFF"/>
              </a:solidFill>
            </a:endParaRPr>
          </a:p>
          <a:p>
            <a:pPr algn="ctr"/>
            <a:r>
              <a:rPr lang="en-US" altLang="ko-KR" sz="1100" dirty="0">
                <a:solidFill>
                  <a:srgbClr val="FFFFFF"/>
                </a:solidFill>
              </a:rPr>
              <a:t>Conv1d 8→16, k=5 + </a:t>
            </a:r>
            <a:r>
              <a:rPr lang="en-US" altLang="ko-KR" sz="1100" dirty="0" err="1">
                <a:solidFill>
                  <a:srgbClr val="FFFFFF"/>
                </a:solidFill>
              </a:rPr>
              <a:t>ReLU</a:t>
            </a:r>
            <a:endParaRPr lang="en-US" altLang="ko-KR" sz="1100" dirty="0">
              <a:solidFill>
                <a:srgbClr val="FFFFFF"/>
              </a:solidFill>
            </a:endParaRPr>
          </a:p>
          <a:p>
            <a:pPr algn="ctr"/>
            <a:r>
              <a:rPr lang="en-US" altLang="ko-KR" sz="1100" b="1" dirty="0" err="1">
                <a:solidFill>
                  <a:srgbClr val="FFFFFF"/>
                </a:solidFill>
              </a:rPr>
              <a:t>GlobalAvgPool</a:t>
            </a:r>
            <a:r>
              <a:rPr lang="en-US" altLang="ko-KR" sz="1100" b="1" dirty="0">
                <a:solidFill>
                  <a:srgbClr val="FFFFFF"/>
                </a:solidFill>
              </a:rPr>
              <a:t>(1) → Linear 16→16 + </a:t>
            </a:r>
            <a:r>
              <a:rPr lang="en-US" altLang="ko-KR" sz="1100" b="1" dirty="0" err="1">
                <a:solidFill>
                  <a:srgbClr val="FFFFFF"/>
                </a:solidFill>
              </a:rPr>
              <a:t>ReLU</a:t>
            </a:r>
            <a:r>
              <a:rPr lang="en-US" altLang="ko-KR" sz="1100" b="1" dirty="0">
                <a:solidFill>
                  <a:srgbClr val="FFFFFF"/>
                </a:solidFill>
              </a:rPr>
              <a:t> → </a:t>
            </a:r>
            <a:r>
              <a:rPr lang="en-US" altLang="ko-KR" sz="1100" b="1" dirty="0" err="1">
                <a:solidFill>
                  <a:srgbClr val="FFFFFF"/>
                </a:solidFill>
              </a:rPr>
              <a:t>z_aec</a:t>
            </a:r>
            <a:r>
              <a:rPr lang="en-US" altLang="ko-KR" sz="1100" b="1" dirty="0">
                <a:solidFill>
                  <a:srgbClr val="FFFFFF"/>
                </a:solidFill>
              </a:rPr>
              <a:t> (16)</a:t>
            </a:r>
          </a:p>
        </p:txBody>
      </p:sp>
      <p:cxnSp>
        <p:nvCxnSpPr>
          <p:cNvPr id="14" name="Connector 13"/>
          <p:cNvCxnSpPr>
            <a:cxnSpLocks/>
            <a:stCxn id="6" idx="2"/>
            <a:endCxn id="16" idx="0"/>
          </p:cNvCxnSpPr>
          <p:nvPr/>
        </p:nvCxnSpPr>
        <p:spPr>
          <a:xfrm>
            <a:off x="2834640" y="3428999"/>
            <a:ext cx="3154680" cy="77724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9" idx="2"/>
            <a:endCxn id="16" idx="0"/>
          </p:cNvCxnSpPr>
          <p:nvPr/>
        </p:nvCxnSpPr>
        <p:spPr>
          <a:xfrm flipH="1">
            <a:off x="5989320" y="3428999"/>
            <a:ext cx="3154680" cy="77724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29000" y="420624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Concat [z_clin(1), z_aec(16)] (17)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89320" y="4709159"/>
            <a:ext cx="0" cy="13716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429000" y="484632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>
                <a:solidFill>
                  <a:srgbClr val="FFFFFF"/>
                </a:solidFill>
              </a:rPr>
              <a:t>Linear 17→16 + ReLU + Dropout → Linear 16→1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9320" y="5349240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429000" y="548640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logit → sigmoid → P(TP | screen-positive)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9656"/>
            <a:ext cx="4206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4472C4"/>
                </a:solidFill>
              </a:rPr>
              <a:t>ClinicalBranch</a:t>
            </a:r>
            <a:r>
              <a:rPr sz="1200" b="1" i="0" dirty="0">
                <a:solidFill>
                  <a:srgbClr val="4472C4"/>
                </a:solidFill>
              </a:rPr>
              <a:t> → frozen Stage-1 LR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819656"/>
            <a:ext cx="4389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ED7D31"/>
                </a:solidFill>
              </a:rPr>
              <a:t>A</a:t>
            </a:r>
            <a:r>
              <a:rPr lang="en-US" sz="1200" b="1" dirty="0" err="1">
                <a:solidFill>
                  <a:srgbClr val="ED7D31"/>
                </a:solidFill>
              </a:rPr>
              <a:t>EC</a:t>
            </a:r>
            <a:r>
              <a:rPr sz="1200" b="1" i="0" dirty="0" err="1">
                <a:solidFill>
                  <a:srgbClr val="ED7D31"/>
                </a:solidFill>
              </a:rPr>
              <a:t>Branch</a:t>
            </a:r>
            <a:r>
              <a:rPr sz="1200" b="1" i="0" dirty="0">
                <a:solidFill>
                  <a:srgbClr val="ED7D31"/>
                </a:solidFill>
              </a:rPr>
              <a:t> (1D-CNN, curve </a:t>
            </a:r>
            <a:r>
              <a:rPr sz="1200" b="1" i="0" dirty="0" err="1">
                <a:solidFill>
                  <a:srgbClr val="ED7D31"/>
                </a:solidFill>
              </a:rPr>
              <a:t>전체를</a:t>
            </a:r>
            <a:r>
              <a:rPr sz="1200" b="1" i="0" dirty="0">
                <a:solidFill>
                  <a:srgbClr val="ED7D31"/>
                </a:solidFill>
              </a:rPr>
              <a:t> </a:t>
            </a:r>
            <a:r>
              <a:rPr sz="1200" b="1" i="0" dirty="0" err="1">
                <a:solidFill>
                  <a:srgbClr val="ED7D31"/>
                </a:solidFill>
              </a:rPr>
              <a:t>GAP으로</a:t>
            </a:r>
            <a:r>
              <a:rPr sz="1200" b="1" i="0" dirty="0">
                <a:solidFill>
                  <a:srgbClr val="ED7D31"/>
                </a:solidFill>
              </a:rPr>
              <a:t> </a:t>
            </a:r>
            <a:r>
              <a:rPr sz="1200" b="1" i="0" dirty="0" err="1">
                <a:solidFill>
                  <a:srgbClr val="ED7D31"/>
                </a:solidFill>
              </a:rPr>
              <a:t>요약</a:t>
            </a:r>
            <a:r>
              <a:rPr sz="1200" b="1" i="0" dirty="0">
                <a:solidFill>
                  <a:srgbClr val="ED7D31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FE867-999D-E74B-26DA-5E08AC9C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8841-7808-5AD1-44DF-79F76087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983B-FA06-6CA4-C7D2-78C1F756A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 err="1"/>
              <a:t>개별</a:t>
            </a:r>
            <a:r>
              <a:rPr sz="2200" b="1" dirty="0"/>
              <a:t> </a:t>
            </a:r>
            <a:r>
              <a:rPr sz="2200" b="1" dirty="0" err="1"/>
              <a:t>feature는</a:t>
            </a:r>
            <a:r>
              <a:rPr sz="2200" b="1" dirty="0"/>
              <a:t> </a:t>
            </a:r>
            <a:r>
              <a:rPr sz="2200" b="1" dirty="0" err="1"/>
              <a:t>비유의</a:t>
            </a:r>
            <a:r>
              <a:rPr sz="2200" b="1" dirty="0"/>
              <a:t> → Stage-1 LR </a:t>
            </a:r>
            <a:r>
              <a:rPr sz="2200" b="1" dirty="0" err="1"/>
              <a:t>재사용</a:t>
            </a:r>
            <a:r>
              <a:rPr sz="2200" b="1" dirty="0"/>
              <a:t> </a:t>
            </a:r>
            <a:r>
              <a:rPr sz="2200" b="1" dirty="0" err="1"/>
              <a:t>fusion은</a:t>
            </a:r>
            <a:r>
              <a:rPr sz="2200" b="1" dirty="0"/>
              <a:t> </a:t>
            </a:r>
            <a:r>
              <a:rPr sz="2200" b="1" dirty="0" err="1"/>
              <a:t>유의한</a:t>
            </a:r>
            <a:r>
              <a:rPr sz="2200" b="1" dirty="0"/>
              <a:t> FP→TN</a:t>
            </a:r>
          </a:p>
          <a:p>
            <a:pPr lvl="1"/>
            <a:r>
              <a:rPr sz="1800" b="0" dirty="0"/>
              <a:t>Net NRI: internal +71 / external +34</a:t>
            </a:r>
          </a:p>
          <a:p>
            <a:pPr lvl="1"/>
            <a:r>
              <a:rPr sz="1800" b="0" dirty="0"/>
              <a:t>Stage-1 score </a:t>
            </a:r>
            <a:r>
              <a:rPr sz="1800" b="0" dirty="0" err="1"/>
              <a:t>표준화</a:t>
            </a:r>
            <a:r>
              <a:rPr sz="1800" b="0" dirty="0"/>
              <a:t> </a:t>
            </a:r>
            <a:r>
              <a:rPr sz="1800" b="0" dirty="0" err="1"/>
              <a:t>반영</a:t>
            </a:r>
            <a:r>
              <a:rPr sz="1800" b="0" dirty="0"/>
              <a:t> (raw log-odds </a:t>
            </a:r>
            <a:r>
              <a:rPr sz="1800" b="0" dirty="0" err="1"/>
              <a:t>그대로</a:t>
            </a:r>
            <a:r>
              <a:rPr sz="1800" b="0" dirty="0"/>
              <a:t> </a:t>
            </a:r>
            <a:r>
              <a:rPr sz="1800" b="0" dirty="0" err="1"/>
              <a:t>사용</a:t>
            </a:r>
            <a:r>
              <a:rPr sz="1800" b="0" dirty="0"/>
              <a:t> 시 external Net NRI 0 -&gt; </a:t>
            </a:r>
            <a:r>
              <a:rPr sz="1800" b="0" dirty="0" err="1"/>
              <a:t>표준화</a:t>
            </a:r>
            <a:r>
              <a:rPr sz="1800" b="0" dirty="0"/>
              <a:t> 후 +34)</a:t>
            </a:r>
          </a:p>
          <a:p>
            <a:pPr lvl="1"/>
            <a:r>
              <a:rPr lang="en-US" sz="1800" b="0" dirty="0"/>
              <a:t>Spec</a:t>
            </a:r>
            <a:r>
              <a:rPr sz="1800" b="0" dirty="0"/>
              <a:t> </a:t>
            </a:r>
            <a:r>
              <a:rPr sz="1800" b="0" dirty="0" err="1"/>
              <a:t>개선</a:t>
            </a:r>
            <a:r>
              <a:rPr sz="1800" b="0" dirty="0"/>
              <a:t> McNemar p&lt;0.001 (양 </a:t>
            </a:r>
            <a:r>
              <a:rPr sz="1800" b="0" dirty="0" err="1"/>
              <a:t>코호트</a:t>
            </a:r>
            <a:r>
              <a:rPr sz="1800" b="0" dirty="0"/>
              <a:t>)</a:t>
            </a:r>
            <a:r>
              <a:rPr lang="en-US" sz="1800" b="0" dirty="0"/>
              <a:t>, Sens</a:t>
            </a:r>
            <a:r>
              <a:rPr sz="1800" b="0" dirty="0"/>
              <a:t> </a:t>
            </a:r>
            <a:r>
              <a:rPr sz="1800" b="0" dirty="0" err="1"/>
              <a:t>손실</a:t>
            </a:r>
            <a:r>
              <a:rPr sz="1800" b="0" dirty="0"/>
              <a:t> NI margin </a:t>
            </a:r>
            <a:r>
              <a:rPr sz="1800" b="0" dirty="0" err="1"/>
              <a:t>이내</a:t>
            </a:r>
            <a:r>
              <a:rPr sz="1800" b="0" dirty="0"/>
              <a:t> → PASS</a:t>
            </a:r>
          </a:p>
        </p:txBody>
      </p:sp>
      <p:pic>
        <p:nvPicPr>
          <p:cNvPr id="4" name="Picture 3" descr="clinical_vs_aec_assisted_table.png"/>
          <p:cNvPicPr>
            <a:picLocks noChangeAspect="1"/>
          </p:cNvPicPr>
          <p:nvPr/>
        </p:nvPicPr>
        <p:blipFill>
          <a:blip r:embed="rId3"/>
          <a:srcRect t="14257"/>
          <a:stretch>
            <a:fillRect/>
          </a:stretch>
        </p:blipFill>
        <p:spPr>
          <a:xfrm>
            <a:off x="1531176" y="3232298"/>
            <a:ext cx="9129648" cy="298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50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lang="en-US" altLang="ko-KR" sz="1600"/>
              <a:t>AEC </a:t>
            </a:r>
            <a:r>
              <a:rPr lang="ko-KR" altLang="en-US" sz="1600"/>
              <a:t>고유 기여 분해 </a:t>
            </a:r>
            <a:r>
              <a:rPr lang="en-US" altLang="ko-KR" sz="1600"/>
              <a:t>+ Confound </a:t>
            </a:r>
            <a:r>
              <a:rPr lang="ko-KR" altLang="en-US" sz="1600"/>
              <a:t>제거 실험</a:t>
            </a:r>
          </a:p>
          <a:p>
            <a:r>
              <a:rPr lang="ko-KR" altLang="en-US" sz="1600"/>
              <a:t>앞선 </a:t>
            </a:r>
            <a:r>
              <a:rPr lang="en-US" altLang="ko-KR" sz="1600"/>
              <a:t>confound </a:t>
            </a:r>
            <a:r>
              <a:rPr lang="ko-KR" altLang="en-US" sz="1600"/>
              <a:t>검증과 일관</a:t>
            </a:r>
            <a:r>
              <a:rPr lang="en-US" altLang="ko-KR" sz="1600"/>
              <a:t>: </a:t>
            </a:r>
            <a:r>
              <a:rPr lang="ko-KR" altLang="en-US" sz="1600"/>
              <a:t>통제 시 </a:t>
            </a:r>
            <a:r>
              <a:rPr lang="en-US" altLang="ko-KR" sz="1600"/>
              <a:t>AEC </a:t>
            </a:r>
            <a:r>
              <a:rPr lang="ko-KR" altLang="en-US" sz="1600"/>
              <a:t>단독 신호 소실</a:t>
            </a:r>
          </a:p>
          <a:p>
            <a:r>
              <a:rPr lang="en-US" altLang="ko-KR" sz="1600"/>
              <a:t>raw AEC </a:t>
            </a:r>
            <a:r>
              <a:rPr lang="ko-KR" altLang="en-US" sz="1600"/>
              <a:t>기여 미미 </a:t>
            </a:r>
            <a:r>
              <a:rPr lang="en-US" altLang="ko-KR" sz="1600"/>
              <a:t>(+8/+14), Residualized</a:t>
            </a:r>
            <a:r>
              <a:rPr lang="ko-KR" altLang="en-US" sz="1600"/>
              <a:t>는 </a:t>
            </a:r>
            <a:r>
              <a:rPr lang="en-US" altLang="ko-KR" sz="1600"/>
              <a:t>+14/+32</a:t>
            </a:r>
            <a:r>
              <a:rPr lang="ko-KR" altLang="en-US" sz="1600"/>
              <a:t>로 확대 </a:t>
            </a:r>
            <a:r>
              <a:rPr lang="en-US" altLang="ko-KR" sz="1600"/>
              <a:t>(Net NRI +77/+52)</a:t>
            </a:r>
          </a:p>
          <a:p>
            <a:r>
              <a:rPr lang="ko-KR" altLang="en-US" sz="1600"/>
              <a:t>그러나 </a:t>
            </a:r>
            <a:r>
              <a:rPr lang="en-US" altLang="ko-KR" sz="1600"/>
              <a:t>External NI FAIL (sens 87.94% &lt; floor 88.26%)</a:t>
            </a:r>
          </a:p>
          <a:p>
            <a:r>
              <a:rPr lang="ko-KR" altLang="en-US" sz="1600"/>
              <a:t>결론</a:t>
            </a:r>
            <a:r>
              <a:rPr lang="en-US" altLang="ko-KR" sz="1600"/>
              <a:t>: Production</a:t>
            </a:r>
            <a:r>
              <a:rPr lang="ko-KR" altLang="en-US" sz="1600"/>
              <a:t>은 </a:t>
            </a:r>
            <a:r>
              <a:rPr lang="en-US" altLang="ko-KR" sz="1600"/>
              <a:t>raw AEC </a:t>
            </a:r>
            <a:r>
              <a:rPr lang="ko-KR" altLang="en-US" sz="1600"/>
              <a:t>유지</a:t>
            </a:r>
            <a:r>
              <a:rPr lang="en-US" altLang="ko-KR" sz="1600"/>
              <a:t>, Residualized</a:t>
            </a:r>
            <a:r>
              <a:rPr lang="ko-KR" altLang="en-US" sz="1600"/>
              <a:t>는 채택 보류</a:t>
            </a:r>
            <a:endParaRPr sz="160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91636"/>
              </p:ext>
            </p:extLst>
          </p:nvPr>
        </p:nvGraphicFramePr>
        <p:xfrm>
          <a:off x="1442644" y="4378932"/>
          <a:ext cx="9306711" cy="15816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354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3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0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8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54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>
                          <a:solidFill>
                            <a:sysClr val="windowText" lastClr="000000"/>
                          </a:solidFill>
                        </a:rPr>
                        <a:t>구성</a:t>
                      </a:r>
                      <a:endParaRPr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Net NRI (int/</a:t>
                      </a:r>
                      <a:r>
                        <a:rPr dirty="0" err="1">
                          <a:solidFill>
                            <a:sysClr val="windowText" lastClr="000000"/>
                          </a:solidFill>
                        </a:rPr>
                        <a:t>ext</a:t>
                      </a: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AEC </a:t>
                      </a:r>
                      <a:r>
                        <a:rPr dirty="0" err="1">
                          <a:solidFill>
                            <a:sysClr val="windowText" lastClr="000000"/>
                          </a:solidFill>
                        </a:rPr>
                        <a:t>고유</a:t>
                      </a: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ysClr val="windowText" lastClr="000000"/>
                          </a:solidFill>
                        </a:rPr>
                        <a:t>기여</a:t>
                      </a: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 (int/</a:t>
                      </a:r>
                      <a:r>
                        <a:rPr dirty="0" err="1">
                          <a:solidFill>
                            <a:sysClr val="windowText" lastClr="000000"/>
                          </a:solidFill>
                        </a:rPr>
                        <a:t>ext</a:t>
                      </a: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NI test (int/</a:t>
                      </a:r>
                      <a:r>
                        <a:rPr dirty="0" err="1">
                          <a:solidFill>
                            <a:sysClr val="windowText" lastClr="000000"/>
                          </a:solidFill>
                        </a:rPr>
                        <a:t>ext</a:t>
                      </a: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4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 err="1"/>
                        <a:t>z_clin</a:t>
                      </a:r>
                      <a:r>
                        <a:rPr dirty="0"/>
                        <a:t> only (AEC </a:t>
                      </a:r>
                      <a:r>
                        <a:rPr dirty="0" err="1"/>
                        <a:t>제거</a:t>
                      </a:r>
                      <a:r>
                        <a:rPr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/>
                        <a:t>+63 / +20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4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Raw AEC fusion (현재 채택)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+71 / +34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+8 / +14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/>
                        <a:t>PASS / PASS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4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Residualized AEC fusion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+77 / +52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/>
                        <a:t>+14 / +32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rPr dirty="0"/>
                        <a:t>PASS / FAIL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B4E5-8F3F-87A4-5FDB-5025F575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0E3D-B0CF-EE1C-1EAF-A2B3460F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Plans</a:t>
            </a:r>
            <a:endParaRPr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CFAC3E-E19A-9D86-DE71-14B244B9B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Confound 제거 고도화로 Residualized AEC 재검토</a:t>
            </a:r>
            <a:endParaRPr lang="ko-KR" altLang="en-US"/>
          </a:p>
          <a:p>
            <a:pPr lvl="1"/>
            <a:r>
              <a:t>① Cross-validated confound regression (fold별 재적합)</a:t>
            </a:r>
          </a:p>
          <a:p>
            <a:pPr lvl="1"/>
            <a:r>
              <a:t>② Counterfactual adjustment (Chaibub Neto 2021)</a:t>
            </a:r>
          </a:p>
          <a:p>
            <a:pPr lvl="1"/>
            <a:r>
              <a:t>③ Covariate-adjusted subspace projection (Li 2017)</a:t>
            </a:r>
          </a:p>
          <a:p>
            <a:pPr lvl="1"/>
            <a:r>
              <a:t>④ (낮은 우선순위) Late fusion → Cross-attention 비교</a:t>
            </a:r>
          </a:p>
          <a:p>
            <a:r>
              <a:t>목표 : External NI FAIL 격차(0.32%p) 해소 후 production 전환 검토</a:t>
            </a:r>
          </a:p>
        </p:txBody>
      </p:sp>
    </p:spTree>
    <p:extLst>
      <p:ext uri="{BB962C8B-B14F-4D97-AF65-F5344CB8AC3E}">
        <p14:creationId xmlns:p14="http://schemas.microsoft.com/office/powerpoint/2010/main" val="1324803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9866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Appendix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파이프라인 전 단계 방법론 근거 논문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498266"/>
              </p:ext>
            </p:extLst>
          </p:nvPr>
        </p:nvGraphicFramePr>
        <p:xfrm>
          <a:off x="508000" y="1750000"/>
          <a:ext cx="11176000" cy="410853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8181">
                <a:tc>
                  <a:txBody>
                    <a:bodyPr/>
                    <a:lstStyle/>
                    <a:p>
                      <a:r>
                        <a:rPr sz="1300" b="1"/>
                        <a:t>Method / 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/>
                        <a:t>Reference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Low-SMI 스크리닝 임상적 근거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Prado et al. 2008, Lancet Oncol; Martin et al. 2013, J Clin Oncol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Stage-1 Logistic Regression 판별력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Hosmer &amp; Lemeshow, Applied Logistic Regression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Propensity Score 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Rosenbaum &amp; Rubin 1983, Biometrika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최적 1:1 할당 (Hungarian algorithm)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Kuhn 1955, Naval Research Logistics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Confound 제거 후보 (CV confound regression / counterfactual adjustment / subspace projection)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Snoek et al. 2019, NeuroImage; Chaibub Neto 2021, ICML; Li et al. 2017, Comput Stat Data Anal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Stage-2 Multimodal Late Fusion 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Ramachandram &amp; Taylor 2017, IEEE Signal Process Mag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1D-CNN + Global Average Pooling (AEC branch)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Lin et al. 2013, Network in Network (arXiv:1312.4400)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Net Reclassification Improvement (NRI)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Pencina et al. 2008, Statistics in Medicine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AUC 비교(DeLong test) 및 한계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DeLong et al. 1988, Biometrics; Pepe et al. 2004, Am J Epidemiol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190">
                <a:tc>
                  <a:txBody>
                    <a:bodyPr/>
                    <a:lstStyle/>
                    <a:p>
                      <a:r>
                        <a:rPr sz="1100"/>
                        <a:t>Non-inferiority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 dirty="0"/>
                        <a:t>Piaggio et al. 2006, JAMA (CONSORT NI extension)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Appendix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72344"/>
              </p:ext>
            </p:extLst>
          </p:nvPr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420458"/>
              </p:ext>
            </p:extLst>
          </p:nvPr>
        </p:nvGraphicFramePr>
        <p:xfrm>
          <a:off x="1191369" y="3312042"/>
          <a:ext cx="980926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255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663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088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A45-53DB-1D03-067B-82EF4C5C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A5240-5DFE-FDF5-63B9-272153AD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Appendix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530162"/>
              </p:ext>
            </p:extLst>
          </p:nvPr>
        </p:nvGraphicFramePr>
        <p:xfrm>
          <a:off x="954628" y="2289797"/>
          <a:ext cx="3053533" cy="1431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1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</a:t>
                      </a:r>
                      <a:r>
                        <a:rPr lang="en-US" sz="1300" dirty="0"/>
                        <a:t>m</a:t>
                      </a:r>
                    </a:p>
                    <a:p>
                      <a:pPr algn="ctr"/>
                      <a:r>
                        <a:rPr sz="1300" dirty="0"/>
                        <a:t>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Sinchon</a:t>
                      </a:r>
                      <a:endParaRPr lang="en-US" sz="1300" dirty="0"/>
                    </a:p>
                    <a:p>
                      <a:pPr algn="ctr"/>
                      <a:r>
                        <a:rPr sz="1300" dirty="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B4C709C8-B4D6-D3DA-ED41-F356D9CE1067}"/>
              </a:ext>
            </a:extLst>
          </p:cNvPr>
          <p:cNvGrpSpPr/>
          <p:nvPr/>
        </p:nvGrpSpPr>
        <p:grpSpPr>
          <a:xfrm>
            <a:off x="4673601" y="1919627"/>
            <a:ext cx="6070600" cy="2171700"/>
            <a:chOff x="4627854" y="3428999"/>
            <a:chExt cx="6632024" cy="2318707"/>
          </a:xfrm>
        </p:grpSpPr>
        <p:pic>
          <p:nvPicPr>
            <p:cNvPr id="6" name="Picture 5" descr="18_aec_curve_tp_vs_t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7854" y="3428999"/>
              <a:ext cx="3394567" cy="2318707"/>
            </a:xfrm>
            <a:prstGeom prst="rect">
              <a:avLst/>
            </a:prstGeom>
          </p:spPr>
        </p:pic>
        <p:pic>
          <p:nvPicPr>
            <p:cNvPr id="7" name="Picture 6" descr="18_aec_curve_tp_vs_tn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65311" y="3428999"/>
              <a:ext cx="3394567" cy="2318707"/>
            </a:xfrm>
            <a:prstGeom prst="rect">
              <a:avLst/>
            </a:prstGeom>
          </p:spPr>
        </p:pic>
      </p:grp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BF4D3371-029E-CBE3-E038-FE8F04EF5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590504"/>
              </p:ext>
            </p:extLst>
          </p:nvPr>
        </p:nvGraphicFramePr>
        <p:xfrm>
          <a:off x="940230" y="4615547"/>
          <a:ext cx="3067931" cy="14325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5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Gangnam
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0.0287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Sinchon
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642C770-CC23-8B19-F687-EDD106359F7B}"/>
              </a:ext>
            </a:extLst>
          </p:cNvPr>
          <p:cNvGrpSpPr>
            <a:grpSpLocks noChangeAspect="1"/>
          </p:cNvGrpSpPr>
          <p:nvPr/>
        </p:nvGrpSpPr>
        <p:grpSpPr>
          <a:xfrm>
            <a:off x="4578599" y="4296777"/>
            <a:ext cx="6061219" cy="2070100"/>
            <a:chOff x="5185763" y="3550000"/>
            <a:chExt cx="6788238" cy="2318400"/>
          </a:xfrm>
        </p:grpSpPr>
        <p:pic>
          <p:nvPicPr>
            <p:cNvPr id="12" name="Picture 5" descr="17_aec_curve_fp_vs_tn.png">
              <a:extLst>
                <a:ext uri="{FF2B5EF4-FFF2-40B4-BE49-F238E27FC236}">
                  <a16:creationId xmlns:a16="http://schemas.microsoft.com/office/drawing/2014/main" id="{D8AEA2E2-E549-45E9-54B7-897ADFD59E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85763" y="3550000"/>
              <a:ext cx="3394119" cy="2318400"/>
            </a:xfrm>
            <a:prstGeom prst="rect">
              <a:avLst/>
            </a:prstGeom>
          </p:spPr>
        </p:pic>
        <p:pic>
          <p:nvPicPr>
            <p:cNvPr id="13" name="Picture 6" descr="17_aec_curve_fp_vs_tn.png">
              <a:extLst>
                <a:ext uri="{FF2B5EF4-FFF2-40B4-BE49-F238E27FC236}">
                  <a16:creationId xmlns:a16="http://schemas.microsoft.com/office/drawing/2014/main" id="{A067D7BC-8B07-4215-580C-7B547CD1E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79882" y="3550000"/>
              <a:ext cx="3394119" cy="2318400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E3CE72B-5F74-4979-D0F9-4FC1DCECCB27}"/>
              </a:ext>
            </a:extLst>
          </p:cNvPr>
          <p:cNvSpPr txBox="1"/>
          <p:nvPr/>
        </p:nvSpPr>
        <p:spPr>
          <a:xfrm>
            <a:off x="1814288" y="1866900"/>
            <a:ext cx="13104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TP vs TN </a:t>
            </a:r>
            <a:endParaRPr lang="ko-KR" altLang="en-US" sz="24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E32C4F-DDD1-2E8C-02C2-6F317C240BC8}"/>
              </a:ext>
            </a:extLst>
          </p:cNvPr>
          <p:cNvSpPr txBox="1"/>
          <p:nvPr/>
        </p:nvSpPr>
        <p:spPr>
          <a:xfrm>
            <a:off x="1807089" y="4127500"/>
            <a:ext cx="13104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FP vs TN </a:t>
            </a:r>
            <a:endParaRPr lang="ko-KR" altLang="en-US" sz="24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7" name="내용 개체 틀 3">
            <a:extLst>
              <a:ext uri="{FF2B5EF4-FFF2-40B4-BE49-F238E27FC236}">
                <a16:creationId xmlns:a16="http://schemas.microsoft.com/office/drawing/2014/main" id="{213DA017-BC77-8FC8-CC9F-A5957B4DA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/>
              <a:t>Stage-1 AEC-128 </a:t>
            </a:r>
            <a:r>
              <a:rPr lang="ko-KR" altLang="en-US" sz="1500" b="1" dirty="0"/>
              <a:t>곡선 비교 </a:t>
            </a:r>
            <a:r>
              <a:rPr lang="en-US" altLang="ko-KR" sz="1500" b="1" dirty="0"/>
              <a:t>(Naive, Unmatched): TP/FP vs TN </a:t>
            </a:r>
            <a:r>
              <a:rPr lang="ko-KR" altLang="en-US" sz="1500" b="1" dirty="0"/>
              <a:t>모두 유의 </a:t>
            </a:r>
            <a:r>
              <a:rPr lang="en-US" altLang="ko-KR" sz="1500" b="1" dirty="0"/>
              <a:t>(p&lt;0.01) → BMI confound </a:t>
            </a:r>
            <a:r>
              <a:rPr lang="ko-KR" altLang="en-US" sz="1500" b="1" dirty="0"/>
              <a:t>가능성 </a:t>
            </a:r>
            <a:endParaRPr lang="en-US" altLang="ko-KR" sz="1500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500" b="1" dirty="0"/>
              <a:t>→ 다음 슬라이드에서 통제 후 </a:t>
            </a:r>
            <a:r>
              <a:rPr lang="ko-KR" altLang="en-US" sz="1500" b="1" dirty="0" err="1"/>
              <a:t>재검증</a:t>
            </a:r>
            <a:endParaRPr sz="1500" dirty="0"/>
          </a:p>
        </p:txBody>
      </p:sp>
    </p:spTree>
    <p:extLst>
      <p:ext uri="{BB962C8B-B14F-4D97-AF65-F5344CB8AC3E}">
        <p14:creationId xmlns:p14="http://schemas.microsoft.com/office/powerpoint/2010/main" val="245595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Appendix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Stage-2 AEC Branch </a:t>
            </a:r>
            <a:r>
              <a:rPr sz="2200" b="1" dirty="0" err="1"/>
              <a:t>구조</a:t>
            </a:r>
            <a:r>
              <a:rPr sz="2200" b="1" dirty="0"/>
              <a:t> </a:t>
            </a:r>
            <a:r>
              <a:rPr sz="2200" b="1" dirty="0" err="1"/>
              <a:t>비교</a:t>
            </a:r>
            <a:r>
              <a:rPr sz="2200" b="1" dirty="0"/>
              <a:t> (</a:t>
            </a:r>
            <a:r>
              <a:rPr sz="2200" b="1" dirty="0" err="1"/>
              <a:t>convpool</a:t>
            </a:r>
            <a:r>
              <a:rPr sz="2200" b="1" dirty="0"/>
              <a:t> / </a:t>
            </a:r>
            <a:r>
              <a:rPr sz="2200" b="1" dirty="0" err="1"/>
              <a:t>convpool_avgmax</a:t>
            </a:r>
            <a:r>
              <a:rPr sz="2200" b="1" dirty="0"/>
              <a:t> / handcrafted / </a:t>
            </a:r>
            <a:r>
              <a:rPr sz="2200" b="1" dirty="0" err="1"/>
              <a:t>convflat</a:t>
            </a:r>
            <a:r>
              <a:rPr sz="2200" b="1" dirty="0"/>
              <a:t>)</a:t>
            </a:r>
          </a:p>
          <a:p>
            <a:pPr lvl="1"/>
            <a:r>
              <a:rPr sz="1800" b="0" dirty="0" err="1"/>
              <a:t>곡선</a:t>
            </a:r>
            <a:r>
              <a:rPr sz="1800" b="0" dirty="0"/>
              <a:t> </a:t>
            </a:r>
            <a:r>
              <a:rPr sz="1800" b="0" dirty="0" err="1"/>
              <a:t>국소</a:t>
            </a:r>
            <a:r>
              <a:rPr sz="1800" b="0" dirty="0"/>
              <a:t> </a:t>
            </a:r>
            <a:r>
              <a:rPr sz="1800" b="0" dirty="0" err="1"/>
              <a:t>shape는</a:t>
            </a:r>
            <a:r>
              <a:rPr sz="1800" b="0" dirty="0"/>
              <a:t> </a:t>
            </a:r>
            <a:r>
              <a:rPr sz="1800" b="0" dirty="0" err="1"/>
              <a:t>학습이</a:t>
            </a:r>
            <a:r>
              <a:rPr sz="1800" b="0" dirty="0"/>
              <a:t> </a:t>
            </a:r>
            <a:r>
              <a:rPr sz="1800" b="0" dirty="0" err="1"/>
              <a:t>필요</a:t>
            </a:r>
            <a:r>
              <a:rPr sz="1800" b="0" dirty="0"/>
              <a:t>, </a:t>
            </a:r>
            <a:r>
              <a:rPr sz="1800" b="0" dirty="0" err="1"/>
              <a:t>요약통계로</a:t>
            </a:r>
            <a:r>
              <a:rPr sz="1800" b="0" dirty="0"/>
              <a:t> </a:t>
            </a:r>
            <a:r>
              <a:rPr sz="1800" b="0" dirty="0" err="1"/>
              <a:t>대체</a:t>
            </a:r>
            <a:r>
              <a:rPr sz="1800" b="0" dirty="0"/>
              <a:t> </a:t>
            </a:r>
            <a:r>
              <a:rPr sz="1800" b="0" dirty="0" err="1"/>
              <a:t>불가</a:t>
            </a:r>
            <a:r>
              <a:rPr sz="1800" b="0" dirty="0"/>
              <a:t> → GAP </a:t>
            </a:r>
            <a:r>
              <a:rPr sz="1800" b="0" dirty="0" err="1"/>
              <a:t>CNN만</a:t>
            </a:r>
            <a:r>
              <a:rPr sz="1800" b="0" dirty="0"/>
              <a:t> </a:t>
            </a:r>
            <a:r>
              <a:rPr sz="1800" b="0" dirty="0" err="1"/>
              <a:t>과적합</a:t>
            </a:r>
            <a:r>
              <a:rPr sz="1800" b="0" dirty="0"/>
              <a:t> </a:t>
            </a:r>
            <a:r>
              <a:rPr sz="1800" b="0" dirty="0" err="1"/>
              <a:t>없이</a:t>
            </a:r>
            <a:r>
              <a:rPr sz="1800" b="0" dirty="0"/>
              <a:t> </a:t>
            </a:r>
            <a:r>
              <a:rPr sz="1800" b="0" dirty="0" err="1"/>
              <a:t>포착</a:t>
            </a:r>
            <a:r>
              <a:rPr sz="1800" b="0" dirty="0"/>
              <a:t>(internal n=564, TP=117)</a:t>
            </a:r>
          </a:p>
          <a:p>
            <a:pPr lvl="1"/>
            <a:r>
              <a:rPr sz="1800" b="0" dirty="0" err="1"/>
              <a:t>GlobalAvgPool</a:t>
            </a:r>
            <a:r>
              <a:rPr sz="1800" b="0" dirty="0"/>
              <a:t> 1D-CNN(</a:t>
            </a:r>
            <a:r>
              <a:rPr sz="1800" b="0" dirty="0" err="1"/>
              <a:t>현재</a:t>
            </a:r>
            <a:r>
              <a:rPr sz="1800" b="0" dirty="0"/>
              <a:t> </a:t>
            </a:r>
            <a:r>
              <a:rPr sz="1800" b="0" dirty="0" err="1"/>
              <a:t>구조</a:t>
            </a:r>
            <a:r>
              <a:rPr sz="1800" b="0" dirty="0"/>
              <a:t>)이 </a:t>
            </a:r>
            <a:r>
              <a:rPr sz="1800" b="0" dirty="0" err="1"/>
              <a:t>AUC·Net</a:t>
            </a:r>
            <a:r>
              <a:rPr sz="1800" b="0" dirty="0"/>
              <a:t> NRI </a:t>
            </a:r>
            <a:r>
              <a:rPr sz="1800" b="0" dirty="0" err="1"/>
              <a:t>모두</a:t>
            </a:r>
            <a:r>
              <a:rPr sz="1800" b="0" dirty="0"/>
              <a:t> </a:t>
            </a:r>
            <a:r>
              <a:rPr sz="1800" b="0" dirty="0" err="1"/>
              <a:t>최우수</a:t>
            </a:r>
            <a:r>
              <a:rPr sz="1800" b="0" dirty="0"/>
              <a:t> → </a:t>
            </a:r>
            <a:r>
              <a:rPr sz="1800" b="0" dirty="0" err="1"/>
              <a:t>최종</a:t>
            </a:r>
            <a:r>
              <a:rPr sz="1800" b="0" dirty="0"/>
              <a:t> </a:t>
            </a:r>
            <a:r>
              <a:rPr sz="1800" b="0" dirty="0" err="1"/>
              <a:t>채택</a:t>
            </a:r>
            <a:endParaRPr sz="1800" b="0" dirty="0"/>
          </a:p>
          <a:p>
            <a:pPr lvl="1"/>
            <a:r>
              <a:rPr sz="1800" b="0" dirty="0" err="1"/>
              <a:t>convpool_avgmax는</a:t>
            </a:r>
            <a:r>
              <a:rPr sz="1800" b="0" dirty="0"/>
              <a:t> external Net NRI +65로 </a:t>
            </a:r>
            <a:r>
              <a:rPr sz="1800" b="0" dirty="0" err="1"/>
              <a:t>최고이나</a:t>
            </a:r>
            <a:r>
              <a:rPr sz="1800" b="0" dirty="0"/>
              <a:t> NI FAIL(</a:t>
            </a:r>
            <a:r>
              <a:rPr sz="1800" b="0" dirty="0" err="1"/>
              <a:t>sens</a:t>
            </a:r>
            <a:r>
              <a:rPr sz="1800" b="0" dirty="0"/>
              <a:t> 87.9%&lt;floor 88.3%) → </a:t>
            </a:r>
            <a:r>
              <a:rPr sz="1800" b="0" dirty="0" err="1"/>
              <a:t>채택</a:t>
            </a:r>
            <a:r>
              <a:rPr sz="1800" b="0" dirty="0"/>
              <a:t> </a:t>
            </a:r>
            <a:r>
              <a:rPr sz="1800" b="0" dirty="0" err="1"/>
              <a:t>결론</a:t>
            </a:r>
            <a:r>
              <a:rPr sz="1800" b="0" dirty="0"/>
              <a:t> </a:t>
            </a:r>
            <a:r>
              <a:rPr sz="1800" b="0" dirty="0" err="1"/>
              <a:t>불변</a:t>
            </a:r>
            <a:endParaRPr sz="1800" b="0" dirty="0"/>
          </a:p>
          <a:p>
            <a:pPr lvl="1"/>
            <a:r>
              <a:rPr sz="1800" b="0" dirty="0"/>
              <a:t>pooling </a:t>
            </a:r>
            <a:r>
              <a:rPr sz="1800" b="0" dirty="0" err="1"/>
              <a:t>제거</a:t>
            </a:r>
            <a:r>
              <a:rPr sz="1800" b="0" dirty="0"/>
              <a:t>(</a:t>
            </a:r>
            <a:r>
              <a:rPr sz="1800" b="0" dirty="0" err="1"/>
              <a:t>convflat</a:t>
            </a:r>
            <a:r>
              <a:rPr sz="1800" b="0" dirty="0"/>
              <a:t>)·handcrafted </a:t>
            </a:r>
            <a:r>
              <a:rPr sz="1800" b="0" dirty="0" err="1"/>
              <a:t>통계량</a:t>
            </a:r>
            <a:r>
              <a:rPr sz="1800" b="0" dirty="0"/>
              <a:t> </a:t>
            </a:r>
            <a:r>
              <a:rPr sz="1800" b="0" dirty="0" err="1"/>
              <a:t>모두</a:t>
            </a:r>
            <a:r>
              <a:rPr sz="1800" b="0" dirty="0"/>
              <a:t> </a:t>
            </a:r>
            <a:r>
              <a:rPr sz="1800" b="0" dirty="0" err="1"/>
              <a:t>성능</a:t>
            </a:r>
            <a:r>
              <a:rPr sz="1800" b="0" dirty="0"/>
              <a:t> </a:t>
            </a:r>
            <a:r>
              <a:rPr sz="1800" b="0" dirty="0" err="1"/>
              <a:t>저하</a:t>
            </a:r>
            <a:r>
              <a:rPr sz="1800" b="0" dirty="0"/>
              <a:t> → </a:t>
            </a:r>
            <a:r>
              <a:rPr sz="1800" b="0" dirty="0" err="1"/>
              <a:t>현재</a:t>
            </a:r>
            <a:r>
              <a:rPr sz="1800" b="0" dirty="0"/>
              <a:t> </a:t>
            </a:r>
            <a:r>
              <a:rPr sz="1800" b="0" dirty="0" err="1"/>
              <a:t>구조</a:t>
            </a:r>
            <a:r>
              <a:rPr sz="1800" b="0" dirty="0"/>
              <a:t> </a:t>
            </a:r>
            <a:r>
              <a:rPr sz="1800" b="0" dirty="0" err="1"/>
              <a:t>유지</a:t>
            </a:r>
            <a:endParaRPr sz="1800" b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38044"/>
              </p:ext>
            </p:extLst>
          </p:nvPr>
        </p:nvGraphicFramePr>
        <p:xfrm>
          <a:off x="802417" y="4401879"/>
          <a:ext cx="10587166" cy="19201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50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2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9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2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32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AEC Branch variant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파라미터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AUC (internal/external)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Net NRI 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Net NRI (external)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1" dirty="0" err="1"/>
                        <a:t>convpool</a:t>
                      </a:r>
                      <a:r>
                        <a:rPr sz="1300" b="1" dirty="0"/>
                        <a:t> (</a:t>
                      </a:r>
                      <a:r>
                        <a:rPr sz="1300" b="1" dirty="0" err="1"/>
                        <a:t>GlobalAvgPool</a:t>
                      </a:r>
                      <a:r>
                        <a:rPr sz="1300" b="1" dirty="0"/>
                        <a:t>, </a:t>
                      </a:r>
                      <a:r>
                        <a:rPr sz="1300" b="1" dirty="0" err="1"/>
                        <a:t>채택</a:t>
                      </a:r>
                      <a:r>
                        <a:rPr sz="13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0.738 / 0.750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+71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+34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 err="1"/>
                        <a:t>convpool_avgmax</a:t>
                      </a:r>
                      <a:r>
                        <a:rPr sz="1300" b="0" dirty="0"/>
                        <a:t> (</a:t>
                      </a:r>
                      <a:r>
                        <a:rPr sz="1300" b="0" dirty="0" err="1"/>
                        <a:t>Avg+Max</a:t>
                      </a:r>
                      <a:r>
                        <a:rPr sz="1300" b="0" dirty="0"/>
                        <a:t> pool)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1,248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0.734 / 0.750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+65 (NI FAIL)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/>
                        <a:t>handcrafted (mean/std/slope/AUC/peak/curvature)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0.731 / 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 err="1"/>
                        <a:t>convflat</a:t>
                      </a:r>
                      <a:r>
                        <a:rPr sz="1300" b="0" dirty="0"/>
                        <a:t> (pooling </a:t>
                      </a:r>
                      <a:r>
                        <a:rPr sz="1300" b="0" dirty="0" err="1"/>
                        <a:t>없이</a:t>
                      </a:r>
                      <a:r>
                        <a:rPr sz="1300" b="0" dirty="0"/>
                        <a:t> flatten)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33,504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0.719 / 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+1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Appendix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Stage-2 Clinical Branch 구조 비교 (mlp / linear / frozen_lr)</a:t>
            </a:r>
          </a:p>
          <a:p>
            <a:pPr lvl="1"/>
            <a:r>
              <a:rPr sz="1800" b="0"/>
              <a:t>Stage-1 LR이 이미 AUC 0.828 확보 → 재학습은 AEC와 학습 용량만 경쟁, 정보 이득 없음</a:t>
            </a:r>
          </a:p>
          <a:p>
            <a:pPr lvl="1"/>
            <a:r>
              <a:rPr sz="1800" b="0"/>
              <a:t>frozen Stage-1 LR score 재사용이 Net NRI 기준 최종 채택</a:t>
            </a:r>
          </a:p>
          <a:p>
            <a:pPr lvl="1"/>
            <a:r>
              <a:rPr sz="1800" b="0"/>
              <a:t>학습 파라미터를 줄일수록(688→80→0) internal Net NRI 개선</a:t>
            </a:r>
          </a:p>
          <a:p>
            <a:pPr lvl="1"/>
            <a:r>
              <a:rPr sz="1800" b="0"/>
              <a:t>Stage-1 score 표준화 반영 후에도 external은 frozen_lr 최우수 (+34, linear +23 상회)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263565"/>
              </p:ext>
            </p:extLst>
          </p:nvPr>
        </p:nvGraphicFramePr>
        <p:xfrm>
          <a:off x="1299654" y="4131732"/>
          <a:ext cx="9592692" cy="18288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655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3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37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Clinical Branch variant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학습 파라미터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Net NRI 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Net NRI (external)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mlp</a:t>
                      </a:r>
                      <a:r>
                        <a:rPr sz="1400" b="0" dirty="0"/>
                        <a:t> (Linear(4,32)+</a:t>
                      </a:r>
                      <a:r>
                        <a:rPr sz="1400" b="0" dirty="0" err="1"/>
                        <a:t>ReLU+Dropout+Linear</a:t>
                      </a:r>
                      <a:r>
                        <a:rPr sz="1400" b="0" dirty="0"/>
                        <a:t>(32,16)+</a:t>
                      </a:r>
                      <a:r>
                        <a:rPr sz="1400" b="0" dirty="0" err="1"/>
                        <a:t>ReLU</a:t>
                      </a:r>
                      <a:r>
                        <a:rPr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linear (Linear(4,16), </a:t>
                      </a:r>
                      <a:r>
                        <a:rPr sz="1400" b="0" dirty="0" err="1"/>
                        <a:t>비선형</a:t>
                      </a:r>
                      <a:r>
                        <a:rPr sz="1400" b="0" dirty="0"/>
                        <a:t> </a:t>
                      </a:r>
                      <a:r>
                        <a:rPr sz="1400" b="0" dirty="0" err="1"/>
                        <a:t>없음</a:t>
                      </a:r>
                      <a:r>
                        <a:rPr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dirty="0" err="1"/>
                        <a:t>frozen_lr</a:t>
                      </a:r>
                      <a:r>
                        <a:rPr sz="1400" b="1" dirty="0"/>
                        <a:t> (Stage-1 LR score </a:t>
                      </a:r>
                      <a:r>
                        <a:rPr sz="1400" b="1" dirty="0" err="1"/>
                        <a:t>표준화</a:t>
                      </a:r>
                      <a:r>
                        <a:rPr sz="1400" b="1" dirty="0"/>
                        <a:t>, </a:t>
                      </a:r>
                      <a:r>
                        <a:rPr sz="1400" b="1" dirty="0" err="1"/>
                        <a:t>채택</a:t>
                      </a:r>
                      <a:r>
                        <a:rPr sz="14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+71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+34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Appendix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Stage-1 LR score </a:t>
            </a:r>
            <a:r>
              <a:rPr sz="2200" b="1" dirty="0" err="1"/>
              <a:t>표준화</a:t>
            </a:r>
            <a:r>
              <a:rPr sz="2200" b="1" dirty="0"/>
              <a:t> (Clinical Branch, </a:t>
            </a:r>
            <a:r>
              <a:rPr sz="2200" b="1" dirty="0" err="1"/>
              <a:t>frozen_lr</a:t>
            </a:r>
            <a:r>
              <a:rPr sz="2200" b="1" dirty="0"/>
              <a:t>)</a:t>
            </a:r>
          </a:p>
          <a:p>
            <a:pPr lvl="1"/>
            <a:r>
              <a:rPr sz="1800" b="0" dirty="0"/>
              <a:t>raw score(log-odds): </a:t>
            </a:r>
            <a:r>
              <a:rPr sz="1800" b="0" dirty="0" err="1"/>
              <a:t>척도가</a:t>
            </a:r>
            <a:r>
              <a:rPr sz="1800" b="0" dirty="0"/>
              <a:t> 문제 (mean=-1.57, std=0.92, 원점에서 크게 벗어남)</a:t>
            </a:r>
          </a:p>
          <a:p>
            <a:pPr lvl="1"/>
            <a:r>
              <a:rPr sz="1800" b="0" dirty="0" err="1"/>
              <a:t>표준화(z-score) 적용 (internal 기준 mean=-1.5704/std=0.9154 고정)</a:t>
            </a:r>
            <a:endParaRPr sz="1800" b="0" dirty="0"/>
          </a:p>
          <a:p>
            <a:pPr lvl="1"/>
            <a:r>
              <a:rPr sz="1800" b="0" dirty="0" err="1"/>
              <a:t>raw→표준화</a:t>
            </a:r>
            <a:r>
              <a:rPr sz="1800" b="0" dirty="0"/>
              <a:t> Net NRI: internal +49→+71, external 0→+34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245944"/>
              </p:ext>
            </p:extLst>
          </p:nvPr>
        </p:nvGraphicFramePr>
        <p:xfrm>
          <a:off x="3096000" y="3583171"/>
          <a:ext cx="6000000" cy="255303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/>
                        <a:t>raw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 err="1"/>
                        <a:t>z_clin</a:t>
                      </a:r>
                      <a:endParaRPr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threshold </a:t>
                      </a:r>
                      <a:r>
                        <a:rPr sz="1400" b="0" dirty="0" err="1"/>
                        <a:t>직후</a:t>
                      </a:r>
                      <a:r>
                        <a:rPr sz="1400" b="0" dirty="0"/>
                        <a:t>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-2.7083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-1.243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중앙값</a:t>
                      </a:r>
                      <a:endParaRPr sz="1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-1.8144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-0.267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75th pct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-1.0498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+0.569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최고점</a:t>
                      </a:r>
                      <a:r>
                        <a:rPr sz="1400" b="0" dirty="0"/>
                        <a:t> (max)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3.0610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+5.060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FP </a:t>
                      </a:r>
                      <a:r>
                        <a:rPr sz="1400" b="0" dirty="0" err="1"/>
                        <a:t>평균</a:t>
                      </a:r>
                      <a:r>
                        <a:rPr sz="1400" b="0" dirty="0"/>
                        <a:t> (n=447)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-1.7493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-0.195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TP </a:t>
                      </a:r>
                      <a:r>
                        <a:rPr sz="1400" b="0" dirty="0" err="1"/>
                        <a:t>평균</a:t>
                      </a:r>
                      <a:r>
                        <a:rPr sz="1400" b="0" dirty="0"/>
                        <a:t> (n=117)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-0.8873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+0.746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4AE58-49C0-127D-0C3F-3ACEC9D67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651000"/>
            <a:ext cx="5537200" cy="2768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CE49BF-7CF5-E58E-B5D1-591778ACB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Appendix</a:t>
            </a:r>
            <a:endParaRPr dirty="0"/>
          </a:p>
        </p:txBody>
      </p:sp>
      <p:pic>
        <p:nvPicPr>
          <p:cNvPr id="4" name="Picture 2" descr="confusion_matrix_final_pipeline.png">
            <a:extLst>
              <a:ext uri="{FF2B5EF4-FFF2-40B4-BE49-F238E27FC236}">
                <a16:creationId xmlns:a16="http://schemas.microsoft.com/office/drawing/2014/main" id="{08F38B53-EB94-27A4-BE7D-522B570904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1651000"/>
            <a:ext cx="5537200" cy="2768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8AC501-529A-8B21-A226-0AC97A2B24BC}"/>
              </a:ext>
            </a:extLst>
          </p:cNvPr>
          <p:cNvSpPr txBox="1"/>
          <p:nvPr/>
        </p:nvSpPr>
        <p:spPr>
          <a:xfrm>
            <a:off x="508000" y="1270000"/>
            <a:ext cx="55245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/>
              <a:t>Screen-positive only (Stage-2 fusion </a:t>
            </a:r>
            <a:r>
              <a:rPr lang="ko-KR" altLang="en-US"/>
              <a:t>단독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3C70C9-3985-F664-8A79-35B120D8E695}"/>
              </a:ext>
            </a:extLst>
          </p:cNvPr>
          <p:cNvSpPr txBox="1"/>
          <p:nvPr/>
        </p:nvSpPr>
        <p:spPr>
          <a:xfrm>
            <a:off x="6159500" y="1270000"/>
            <a:ext cx="55245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/>
              <a:t>Full Pipeline (Stage-1 </a:t>
            </a:r>
            <a:r>
              <a:rPr lang="ko-KR" altLang="en-US"/>
              <a:t>스크리닝 포함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DB718-46AA-EE42-68F3-BA26949282AD}"/>
              </a:ext>
            </a:extLst>
          </p:cNvPr>
          <p:cNvSpPr txBox="1"/>
          <p:nvPr/>
        </p:nvSpPr>
        <p:spPr>
          <a:xfrm>
            <a:off x="508000" y="901700"/>
            <a:ext cx="11176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/>
              <a:t>Stage-2 Confusion Matrix </a:t>
            </a:r>
            <a:r>
              <a:rPr lang="ko-KR" altLang="en-US"/>
              <a:t>비교</a:t>
            </a:r>
            <a:r>
              <a:rPr lang="en-US" altLang="ko-KR"/>
              <a:t>: Screen-positive only vs Full Pipeline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2055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5003</TotalTime>
  <Words>5586</Words>
  <Application>Microsoft Office PowerPoint</Application>
  <PresentationFormat>와이드스크린</PresentationFormat>
  <Paragraphs>351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KoPub돋움체 Bold</vt:lpstr>
      <vt:lpstr>Arial</vt:lpstr>
      <vt:lpstr>KoPub돋움체 Medium</vt:lpstr>
      <vt:lpstr>Office 테마</vt:lpstr>
      <vt:lpstr>PowerPoint 프레젠테이션</vt:lpstr>
      <vt:lpstr>Overall Workflow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  <vt:lpstr>Appendix</vt:lpstr>
      <vt:lpstr>Appendix</vt:lpstr>
      <vt:lpstr>Appendix</vt:lpstr>
      <vt:lpstr>Appendix</vt:lpstr>
      <vt:lpstr>Appendix</vt:lpstr>
      <vt:lpstr>Appendix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470</cp:revision>
  <dcterms:created xsi:type="dcterms:W3CDTF">2026-04-09T07:05:16Z</dcterms:created>
  <dcterms:modified xsi:type="dcterms:W3CDTF">2026-07-22T15:31:55Z</dcterms:modified>
</cp:coreProperties>
</file>