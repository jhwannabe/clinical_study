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95" r:id="rId3"/>
    <p:sldId id="507" r:id="rId4"/>
    <p:sldId id="481" r:id="rId5"/>
    <p:sldId id="509" r:id="rId6"/>
    <p:sldId id="510" r:id="rId7"/>
    <p:sldId id="511" r:id="rId8"/>
    <p:sldId id="493" r:id="rId9"/>
    <p:sldId id="479" r:id="rId10"/>
    <p:sldId id="512" r:id="rId11"/>
  </p:sldIdLst>
  <p:sldSz cx="12192000" cy="6858000"/>
  <p:notesSz cx="6858000" cy="9144000"/>
  <p:embeddedFontLst>
    <p:embeddedFont>
      <p:font typeface="KoPub돋움체 Bold" panose="00000800000000000000" pitchFamily="2" charset="-127"/>
      <p:bold r:id="rId13"/>
    </p:embeddedFont>
    <p:embeddedFont>
      <p:font typeface="KoPub돋움체 Medium" panose="00000600000000000000" pitchFamily="2" charset="-127"/>
      <p:regular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495"/>
            <p14:sldId id="507"/>
            <p14:sldId id="481"/>
            <p14:sldId id="509"/>
            <p14:sldId id="510"/>
            <p14:sldId id="511"/>
            <p14:sldId id="493"/>
            <p14:sldId id="479"/>
            <p14:sldId id="51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1576" autoAdjust="0"/>
  </p:normalViewPr>
  <p:slideViewPr>
    <p:cSldViewPr snapToGrid="0">
      <p:cViewPr varScale="1">
        <p:scale>
          <a:sx n="90" d="100"/>
          <a:sy n="90" d="100"/>
        </p:scale>
        <p:origin x="1332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1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/>
              <a:t>(</a:t>
            </a:r>
            <a:r>
              <a:rPr lang="ko-KR" altLang="ko-KR" sz="1800" dirty="0" err="1"/>
              <a:t>Pugh</a:t>
            </a:r>
            <a:r>
              <a:rPr lang="ko-KR" altLang="ko-KR" sz="1800" dirty="0"/>
              <a:t> 2024</a:t>
            </a:r>
            <a:r>
              <a:rPr lang="en-US" altLang="ko-KR" sz="1800" dirty="0"/>
              <a:t>) </a:t>
            </a:r>
            <a:r>
              <a:rPr lang="ko-KR" altLang="ko-KR" sz="1800" b="1" u="none" strike="noStrike" dirty="0">
                <a:effectLst/>
              </a:rPr>
              <a:t>순서 통계량(</a:t>
            </a:r>
            <a:r>
              <a:rPr lang="ko-KR" altLang="ko-KR" sz="1800" b="1" u="none" strike="noStrike" dirty="0" err="1">
                <a:effectLst/>
              </a:rPr>
              <a:t>Order</a:t>
            </a:r>
            <a:r>
              <a:rPr lang="ko-KR" altLang="ko-KR" sz="1800" b="1" u="none" strike="noStrike" dirty="0">
                <a:effectLst/>
              </a:rPr>
              <a:t> </a:t>
            </a:r>
            <a:r>
              <a:rPr lang="ko-KR" altLang="ko-KR" sz="1800" b="1" u="none" strike="noStrike" dirty="0" err="1">
                <a:effectLst/>
              </a:rPr>
              <a:t>Statistic</a:t>
            </a:r>
            <a:r>
              <a:rPr lang="ko-KR" altLang="ko-KR" sz="1800" b="1" u="none" strike="noStrike" dirty="0">
                <a:effectLst/>
              </a:rPr>
              <a:t>)</a:t>
            </a:r>
            <a:r>
              <a:rPr lang="en-US" altLang="ko-KR" sz="1800" b="0" u="none" strike="noStrike" dirty="0">
                <a:effectLst/>
              </a:rPr>
              <a:t>:</a:t>
            </a:r>
            <a:r>
              <a:rPr lang="ko-KR" altLang="ko-KR" sz="1800" b="0" u="none" strike="noStrike" dirty="0">
                <a:effectLst/>
              </a:rPr>
              <a:t> 표본(</a:t>
            </a:r>
            <a:r>
              <a:rPr lang="ko-KR" altLang="ko-KR" sz="1800" b="0" u="none" strike="noStrike" dirty="0" err="1">
                <a:effectLst/>
              </a:rPr>
              <a:t>Sample</a:t>
            </a:r>
            <a:r>
              <a:rPr lang="ko-KR" altLang="ko-KR" sz="1800" b="0" u="none" strike="noStrike" dirty="0">
                <a:effectLst/>
              </a:rPr>
              <a:t>) 데이터가 주어졌을 때, 이 값들을 크기 순서대로 정렬(오름차순)하여 얻은 통계량</a:t>
            </a:r>
            <a:endParaRPr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4738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S90으로 설정한 Confusion Matrix를 확인하고, Predicted Positive만 Stage 2로 사용한다. Negative:Positive = 961:129(internal)/785:141(external)의 불균형 데이터에 Sens90% cutoff를 적용하면 구조적으로 FP≫FN이 발생하며(설계상 예상된 결과), Predicted Negative군은 NPV 97.7%(internal)/97.5%(external)로 이미 충분히 신뢰 가능하여 제외한다. 따라서 PPV가 낮은(20.7%/24.8%) Predicted Positive군에 대해서만 Stage 2를 적용해 PPV를 높이고 FP 수를 줄이는 방향으로 가설을 세움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D699-EAA2-4175-E8AD-1D443EB8A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4025D9-388D-D75F-7B4D-EB72A368EF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5B4638-3F97-845F-3697-D3F031B3B9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Stage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모델은 사실상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'BMI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가 낮을수록 위험하다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'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고 판단하는 셈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(score–BMI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상관계수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r=-0.617,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강한 음의 상관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그래서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'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살은 쪘지만 근육이 적은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'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근감소성 비만 환자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(FN, 12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명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를 놓친다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정확히 잡은 환자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(TP, 117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명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보다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BMI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가 유의하게 높음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24.72 vs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20.62 (p=0.0006)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반대로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'</a:t>
            </a:r>
            <a:r>
              <a:rPr lang="ko-KR" altLang="en-US" sz="12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근육량과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무관하게 마른 체형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'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이면 정상인데도 양성으로 오판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(FP, 447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명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-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2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정상군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(TN, 514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명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보다 키가 크고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BMI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가 낮음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키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165.2 vs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158.5cm, BMI 21.95 vs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25.40 (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모두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p&lt;0.001)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</a:t>
            </a:r>
            <a:r>
              <a:rPr lang="ko-KR" altLang="en-US" sz="12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오분류는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남성에서 특히 심하다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2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정상군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(TN)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의 남성 비율은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18.9%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인데 </a:t>
            </a:r>
            <a:r>
              <a:rPr lang="ko-KR" altLang="en-US" sz="12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오분류군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(FP)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에서는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48.5%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로 급증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(p&lt;0.0001)</a:t>
            </a:r>
          </a:p>
          <a:p>
            <a:endParaRPr lang="ko-KR" altLang="en-US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5E4E-5F40-0CEB-73B2-5284055FC8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2234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EF80D-B9F0-6139-541C-F06089B2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64EA9D-D390-467C-C72F-B4C5DEBD2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4050C-17D7-8B53-9CE2-DED2E3CE6E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CB43D-2B6F-84CD-5F27-D008EE880E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30502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59C5E-27C0-95F8-561D-0FCB2281D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CD56F9-D0F3-8D3C-E8CA-210379DF6C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3DD7F-75CD-162D-EAA6-0E325C3DB1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6F44C-683E-F788-C4D8-977250D84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1529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84DDD-DB88-1198-AE20-99EE55842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975FB-D658-DC16-816D-FF3FDA948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142530-BB5E-9577-34FA-97B57F1BE2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3E6E2-A4F3-0543-FDD9-B032A1CF5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7553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 sz="1200" b="0" i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6070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/>
              </a:rPr>
              <a:t>Results of Residual Algorithm</a:t>
            </a:r>
            <a:endParaRPr sz="2400" b="1" dirty="0">
              <a:solidFill>
                <a:schemeClr val="bg1"/>
              </a:solidFill>
              <a:latin typeface="KoPub돋움체 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A5D661-D401-4CB0-58D2-9EAB3742C7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565" y="1149532"/>
            <a:ext cx="5060435" cy="5064034"/>
          </a:xfrm>
          <a:prstGeom prst="rect">
            <a:avLst/>
          </a:prstGeom>
        </p:spPr>
      </p:pic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6115565" cy="5063066"/>
          </a:xfrm>
        </p:spPr>
        <p:txBody>
          <a:bodyPr/>
          <a:lstStyle/>
          <a:p>
            <a:r>
              <a:rPr lang="en-US" altLang="ko-KR" dirty="0"/>
              <a:t>Stage 1</a:t>
            </a:r>
          </a:p>
          <a:p>
            <a:pPr lvl="1"/>
            <a:r>
              <a:rPr lang="en-US" altLang="ko-KR" dirty="0"/>
              <a:t>Clinic [Sex, Age, Height, Weight]</a:t>
            </a:r>
            <a:r>
              <a:rPr lang="ko-KR" altLang="en-US" dirty="0"/>
              <a:t>로 성별에 따른 </a:t>
            </a:r>
            <a:r>
              <a:rPr lang="en-US" altLang="ko-KR" dirty="0"/>
              <a:t>low-SMI </a:t>
            </a:r>
            <a:r>
              <a:rPr lang="ko-KR" altLang="en-US" dirty="0"/>
              <a:t>분류</a:t>
            </a:r>
            <a:r>
              <a:rPr lang="en-US" altLang="ko-KR" dirty="0"/>
              <a:t> (M: </a:t>
            </a:r>
            <a:r>
              <a:rPr lang="en-US" altLang="ko-KR" dirty="0" err="1"/>
              <a:t>smi</a:t>
            </a:r>
            <a:r>
              <a:rPr lang="ko-KR" altLang="en-US" dirty="0"/>
              <a:t> </a:t>
            </a:r>
            <a:r>
              <a:rPr lang="en-US" altLang="ko-KR" dirty="0"/>
              <a:t>&lt; 45.4, F: </a:t>
            </a:r>
            <a:r>
              <a:rPr lang="en-US" altLang="ko-KR" dirty="0" err="1"/>
              <a:t>smi</a:t>
            </a:r>
            <a:r>
              <a:rPr lang="en-US" altLang="ko-KR" dirty="0"/>
              <a:t> &lt; 34.4)</a:t>
            </a:r>
          </a:p>
          <a:p>
            <a:pPr lvl="1"/>
            <a:r>
              <a:rPr lang="en-US" altLang="ko-KR" dirty="0"/>
              <a:t>AUC = 0.828</a:t>
            </a:r>
            <a:r>
              <a:rPr lang="ko-KR" altLang="en-US" dirty="0"/>
              <a:t>로 높게 나옴</a:t>
            </a:r>
            <a:endParaRPr lang="en-US" altLang="ko-KR" dirty="0"/>
          </a:p>
          <a:p>
            <a:pPr lvl="1"/>
            <a:r>
              <a:rPr lang="en-US" altLang="ko-KR" dirty="0"/>
              <a:t>Sensitivity 90</a:t>
            </a:r>
            <a:r>
              <a:rPr lang="ko-KR" altLang="en-US" dirty="0"/>
              <a:t>인 </a:t>
            </a:r>
            <a:r>
              <a:rPr lang="en-US" altLang="ko-KR" dirty="0"/>
              <a:t>Cutoff</a:t>
            </a:r>
            <a:r>
              <a:rPr lang="ko-KR" altLang="en-US" dirty="0"/>
              <a:t>로 </a:t>
            </a:r>
            <a:r>
              <a:rPr lang="en-US" altLang="ko-KR" dirty="0"/>
              <a:t>Confusion Matrix </a:t>
            </a:r>
            <a:r>
              <a:rPr lang="ko-KR" altLang="en-US" dirty="0"/>
              <a:t>확인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25B4C6-D608-072E-D091-ADB0F2234A4A}"/>
              </a:ext>
            </a:extLst>
          </p:cNvPr>
          <p:cNvSpPr txBox="1"/>
          <p:nvPr/>
        </p:nvSpPr>
        <p:spPr>
          <a:xfrm>
            <a:off x="508000" y="3577523"/>
            <a:ext cx="5860902" cy="26360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1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dirty="0"/>
              <a:t>왜 </a:t>
            </a:r>
            <a:r>
              <a:rPr lang="en-US" altLang="ko-KR" sz="1400" b="1" dirty="0"/>
              <a:t>Sensitivity 90% </a:t>
            </a:r>
            <a:r>
              <a:rPr lang="ko-KR" altLang="en-US" sz="1400" b="1" dirty="0"/>
              <a:t>인가</a:t>
            </a:r>
            <a:r>
              <a:rPr lang="en-US" altLang="ko-KR" sz="1400" b="1" dirty="0"/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sz="1400" dirty="0"/>
              <a:t>100% </a:t>
            </a:r>
            <a:r>
              <a:rPr lang="ko-KR" altLang="ko-KR" sz="1400" dirty="0" err="1"/>
              <a:t>Se</a:t>
            </a:r>
            <a:r>
              <a:rPr lang="en-US" altLang="ko-KR" sz="1400" dirty="0"/>
              <a:t>ns</a:t>
            </a:r>
            <a:r>
              <a:rPr lang="ko-KR" altLang="ko-KR" sz="1400" dirty="0"/>
              <a:t> </a:t>
            </a:r>
            <a:r>
              <a:rPr lang="ko-KR" altLang="ko-KR" sz="1400" dirty="0" err="1"/>
              <a:t>threshold는</a:t>
            </a:r>
            <a:r>
              <a:rPr lang="ko-KR" altLang="ko-KR" sz="1400" dirty="0"/>
              <a:t> </a:t>
            </a:r>
            <a:r>
              <a:rPr lang="ko-KR" altLang="en-US" sz="1400" dirty="0"/>
              <a:t>양성 </a:t>
            </a:r>
            <a:r>
              <a:rPr lang="ko-KR" altLang="ko-KR" sz="1400" dirty="0" err="1"/>
              <a:t>n</a:t>
            </a:r>
            <a:r>
              <a:rPr lang="ko-KR" altLang="ko-KR" sz="1400" dirty="0"/>
              <a:t>=</a:t>
            </a:r>
            <a:r>
              <a:rPr lang="en-US" altLang="ko-KR" sz="1400" dirty="0"/>
              <a:t>129</a:t>
            </a:r>
            <a:r>
              <a:rPr lang="ko-KR" altLang="ko-KR" sz="1400" dirty="0"/>
              <a:t> 기준 표본 1개짜리 </a:t>
            </a:r>
            <a:r>
              <a:rPr lang="ko-KR" altLang="ko-KR" sz="1400" dirty="0" err="1"/>
              <a:t>order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statistic으로</a:t>
            </a:r>
            <a:r>
              <a:rPr lang="ko-KR" altLang="ko-KR" sz="1400" dirty="0"/>
              <a:t> 분산 추정 불가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sz="1400" dirty="0" err="1"/>
              <a:t>Se</a:t>
            </a:r>
            <a:r>
              <a:rPr lang="en-US" altLang="ko-KR" sz="1400" dirty="0"/>
              <a:t>ns</a:t>
            </a:r>
            <a:r>
              <a:rPr lang="ko-KR" altLang="ko-KR" sz="1400" dirty="0"/>
              <a:t> 90→95%p 구간 </a:t>
            </a:r>
            <a:r>
              <a:rPr lang="ko-KR" altLang="ko-KR" sz="1400" dirty="0" err="1"/>
              <a:t>Sp</a:t>
            </a:r>
            <a:r>
              <a:rPr lang="ko-KR" altLang="ko-KR" sz="1400" dirty="0"/>
              <a:t> 손실 기울기가 </a:t>
            </a:r>
            <a:r>
              <a:rPr lang="ko-KR" altLang="ko-KR" sz="1400" dirty="0" err="1"/>
              <a:t>Se</a:t>
            </a:r>
            <a:r>
              <a:rPr lang="en-US" altLang="ko-KR" sz="1400" dirty="0"/>
              <a:t>ns</a:t>
            </a:r>
            <a:r>
              <a:rPr lang="ko-KR" altLang="ko-KR" sz="1400" dirty="0"/>
              <a:t> 85→90%p 구간 대비 </a:t>
            </a:r>
            <a:r>
              <a:rPr lang="ko-KR" altLang="ko-KR" sz="1400" dirty="0" err="1"/>
              <a:t>internal</a:t>
            </a:r>
            <a:r>
              <a:rPr lang="ko-KR" altLang="ko-KR" sz="1400" dirty="0"/>
              <a:t> 1.17배/</a:t>
            </a:r>
            <a:r>
              <a:rPr lang="ko-KR" altLang="ko-KR" sz="1400" dirty="0" err="1"/>
              <a:t>external</a:t>
            </a:r>
            <a:r>
              <a:rPr lang="ko-KR" altLang="ko-KR" sz="1400" dirty="0"/>
              <a:t> 1.66배로 커짐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스크리닝 목적상 FN(low-SMI 누락) 비용이 FP보다 크다고 가정 → 한계비용이 급증하기 직전인 90%p까지 Sens 확보 (근거 수치는 다음 슬라이드 표 참고)</a:t>
            </a:r>
          </a:p>
        </p:txBody>
      </p:sp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72344"/>
              </p:ext>
            </p:extLst>
          </p:nvPr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165633"/>
              </p:ext>
            </p:extLst>
          </p:nvPr>
        </p:nvGraphicFramePr>
        <p:xfrm>
          <a:off x="884864" y="3312042"/>
          <a:ext cx="1042227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60556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6125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86968" y="5349240"/>
            <a:ext cx="10424160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 dirty="0"/>
              <a:t>FN 1명당 </a:t>
            </a:r>
            <a:r>
              <a:rPr sz="1400" dirty="0" err="1"/>
              <a:t>드는</a:t>
            </a:r>
            <a:r>
              <a:rPr sz="1400" dirty="0"/>
              <a:t> FP </a:t>
            </a:r>
            <a:r>
              <a:rPr sz="1400" dirty="0" err="1"/>
              <a:t>비용은</a:t>
            </a:r>
            <a:r>
              <a:rPr sz="1400" dirty="0"/>
              <a:t> 85→90%p </a:t>
            </a:r>
            <a:r>
              <a:rPr sz="1400" dirty="0" err="1"/>
              <a:t>구간보다</a:t>
            </a:r>
            <a:r>
              <a:rPr sz="1400" dirty="0"/>
              <a:t> 90→95%p </a:t>
            </a:r>
            <a:r>
              <a:rPr sz="1400" dirty="0" err="1"/>
              <a:t>구간에서</a:t>
            </a:r>
            <a:r>
              <a:rPr sz="1400" dirty="0"/>
              <a:t> 1.6~3배 </a:t>
            </a:r>
            <a:r>
              <a:rPr sz="1400" dirty="0" err="1"/>
              <a:t>증가</a:t>
            </a:r>
            <a:endParaRPr sz="1400" dirty="0"/>
          </a:p>
          <a:p>
            <a:pPr>
              <a:lnSpc>
                <a:spcPct val="150000"/>
              </a:lnSpc>
            </a:pPr>
            <a:r>
              <a:rPr sz="1400" b="1" dirty="0"/>
              <a:t>→ </a:t>
            </a:r>
            <a:r>
              <a:rPr sz="1400" b="1" dirty="0" err="1"/>
              <a:t>Sp</a:t>
            </a:r>
            <a:r>
              <a:rPr sz="1400" b="1" dirty="0"/>
              <a:t> </a:t>
            </a:r>
            <a:r>
              <a:rPr sz="1400" b="1" dirty="0" err="1"/>
              <a:t>손실이</a:t>
            </a:r>
            <a:r>
              <a:rPr sz="1400" b="1" dirty="0"/>
              <a:t> </a:t>
            </a:r>
            <a:r>
              <a:rPr sz="1400" b="1" dirty="0" err="1"/>
              <a:t>급격히</a:t>
            </a:r>
            <a:r>
              <a:rPr sz="1400" b="1" dirty="0"/>
              <a:t> </a:t>
            </a:r>
            <a:r>
              <a:rPr sz="1400" b="1" dirty="0" err="1"/>
              <a:t>커지기</a:t>
            </a:r>
            <a:r>
              <a:rPr sz="1400" b="1" dirty="0"/>
              <a:t> </a:t>
            </a:r>
            <a:r>
              <a:rPr sz="1400" b="1" dirty="0" err="1"/>
              <a:t>직전인</a:t>
            </a:r>
            <a:r>
              <a:rPr sz="1400" b="1" dirty="0"/>
              <a:t> 90%p가 </a:t>
            </a:r>
            <a:r>
              <a:rPr sz="1400" b="1" dirty="0" err="1"/>
              <a:t>비용</a:t>
            </a:r>
            <a:r>
              <a:rPr sz="1400" b="1" dirty="0"/>
              <a:t> </a:t>
            </a:r>
            <a:r>
              <a:rPr sz="1400" b="1" dirty="0" err="1"/>
              <a:t>대비</a:t>
            </a:r>
            <a:r>
              <a:rPr sz="1400" b="1" dirty="0"/>
              <a:t> </a:t>
            </a:r>
            <a:r>
              <a:rPr sz="1400" b="1" dirty="0" err="1"/>
              <a:t>효율적인</a:t>
            </a:r>
            <a:r>
              <a:rPr sz="1400" b="1" dirty="0"/>
              <a:t> cutoff</a:t>
            </a:r>
          </a:p>
        </p:txBody>
      </p:sp>
    </p:spTree>
    <p:extLst>
      <p:ext uri="{BB962C8B-B14F-4D97-AF65-F5344CB8AC3E}">
        <p14:creationId xmlns:p14="http://schemas.microsoft.com/office/powerpoint/2010/main" val="1940885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6DCEC8E8-4317-0294-C182-EAF0302E7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64" y="992773"/>
            <a:ext cx="10432872" cy="52164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2116183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66C5FC-2E65-1CFE-A413-1C916FE5DEE4}"/>
              </a:ext>
            </a:extLst>
          </p:cNvPr>
          <p:cNvSpPr/>
          <p:nvPr/>
        </p:nvSpPr>
        <p:spPr>
          <a:xfrm>
            <a:off x="7271657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4C23-0060-8DE8-67AB-82345D627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003B-96AD-9238-04FA-1A51E29C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2DAB41-2035-BDBA-E4F8-3F894B486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Stage 1 </a:t>
            </a:r>
            <a:r>
              <a:rPr lang="ko-KR" altLang="en-US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오류 패턴 분석 </a:t>
            </a:r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(Error Feature Analysis)</a:t>
            </a:r>
          </a:p>
          <a:p>
            <a:pPr lvl="1"/>
            <a:r>
              <a:rPr lang="ko-KR" altLang="en-US" dirty="0"/>
              <a:t>결론</a:t>
            </a:r>
            <a:r>
              <a:rPr lang="en-US" altLang="ko-KR" dirty="0"/>
              <a:t>: </a:t>
            </a:r>
            <a:r>
              <a:rPr lang="ko-KR" altLang="en-US" dirty="0"/>
              <a:t>키</a:t>
            </a:r>
            <a:r>
              <a:rPr lang="en-US" altLang="ko-KR" dirty="0"/>
              <a:t>/</a:t>
            </a:r>
            <a:r>
              <a:rPr lang="ko-KR" altLang="en-US" dirty="0"/>
              <a:t>몸무게 같은 </a:t>
            </a:r>
            <a:r>
              <a:rPr lang="en-US" altLang="ko-KR" dirty="0"/>
              <a:t>clinic </a:t>
            </a:r>
            <a:r>
              <a:rPr lang="ko-KR" altLang="en-US" dirty="0"/>
              <a:t>변수만으로는 체지방과 </a:t>
            </a:r>
            <a:r>
              <a:rPr lang="ko-KR" altLang="en-US" dirty="0" err="1"/>
              <a:t>근육량을</a:t>
            </a:r>
            <a:r>
              <a:rPr lang="ko-KR" altLang="en-US" dirty="0"/>
              <a:t> 구분할 수 없다</a:t>
            </a:r>
            <a:endParaRPr lang="en-US" altLang="ko-KR" dirty="0"/>
          </a:p>
          <a:p>
            <a:pPr lvl="1"/>
            <a:r>
              <a:rPr lang="ko-KR" altLang="en-US" dirty="0"/>
              <a:t>→ 실제 </a:t>
            </a:r>
            <a:r>
              <a:rPr lang="ko-KR" altLang="en-US" dirty="0" err="1"/>
              <a:t>근육량을</a:t>
            </a:r>
            <a:r>
              <a:rPr lang="ko-KR" altLang="en-US" dirty="0"/>
              <a:t> 보는 영상</a:t>
            </a:r>
            <a:r>
              <a:rPr lang="en-US" altLang="ko-KR" dirty="0"/>
              <a:t>(CT) </a:t>
            </a:r>
            <a:r>
              <a:rPr lang="ko-KR" altLang="en-US" dirty="0"/>
              <a:t>기반 </a:t>
            </a:r>
            <a:r>
              <a:rPr lang="en-US" altLang="ko-KR" dirty="0"/>
              <a:t>Stage 2</a:t>
            </a:r>
            <a:r>
              <a:rPr lang="ko-KR" altLang="en-US" dirty="0"/>
              <a:t>가 필요한 이유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8EFA6F-1755-6A57-6F33-7094CD62C7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317018"/>
              </p:ext>
            </p:extLst>
          </p:nvPr>
        </p:nvGraphicFramePr>
        <p:xfrm>
          <a:off x="731520" y="2831911"/>
          <a:ext cx="10698480" cy="156936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2342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/>
                        <a:t>비교</a:t>
                      </a:r>
                      <a:endParaRPr sz="13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Group A (mean)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Group B (mean)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diff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342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BMI: TP vs FN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20.62 (TP)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24.72 (FN)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-4.10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-4.50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342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BMI: TN vs FP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25.40 (TN)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21.95 (FP)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+3.45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22.09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342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Height: TN vs FP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158.48 (TN)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165.22 (FP)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-6.74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-14.12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2766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E937D-6F2B-E271-B97D-CE1B68D00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392E-C296-E36B-28CF-887B3D2DB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0725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572C7-1F73-D527-41F9-038003ABF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152C3-2171-A347-5161-58C8B4C5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2503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B4E5-8F3F-87A4-5FDB-5025F575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0E3D-B0CF-EE1C-1EAF-A2B3460F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Plans</a:t>
            </a:r>
            <a:endParaRPr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CFAC3E-E19A-9D86-DE71-14B244B9B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803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Stage 1 Clinical-only Logistic Regression </a:t>
            </a:r>
            <a:r>
              <a:rPr lang="ko-KR" altLang="en-US" b="1" dirty="0"/>
              <a:t>계수 </a:t>
            </a:r>
            <a:r>
              <a:rPr lang="en-US" altLang="ko-KR" b="1" dirty="0"/>
              <a:t>(</a:t>
            </a:r>
            <a:r>
              <a:rPr lang="ko-KR" altLang="en-US" b="1" dirty="0"/>
              <a:t>표준화 변수 기준</a:t>
            </a:r>
            <a:r>
              <a:rPr lang="en-US" altLang="ko-KR" b="1" dirty="0"/>
              <a:t>)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pPr marL="0" indent="0">
              <a:buNone/>
            </a:pPr>
            <a:endParaRPr lang="en-US" altLang="ko-KR" b="1" dirty="0"/>
          </a:p>
          <a:p>
            <a:r>
              <a:rPr lang="ko-KR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log-odds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</a:t>
            </a:r>
            <a:r>
              <a:rPr lang="ko-KR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low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-SMI) = 0.7805·age_z + 0.38·height_z + 1.5382·weight_z − 1.6348·sex_M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−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2.9516 </a:t>
            </a:r>
            <a:endParaRPr lang="en-US" altLang="ko-KR" sz="1600" dirty="0"/>
          </a:p>
          <a:p>
            <a:r>
              <a:rPr lang="ko-KR" altLang="en-US" sz="1600" dirty="0"/>
              <a:t>체중</a:t>
            </a:r>
            <a:r>
              <a:rPr lang="en-US" altLang="ko-KR" sz="1600" dirty="0"/>
              <a:t>·</a:t>
            </a:r>
            <a:r>
              <a:rPr lang="ko-KR" altLang="en-US" sz="1600" dirty="0"/>
              <a:t>나이</a:t>
            </a:r>
            <a:r>
              <a:rPr lang="en-US" altLang="ko-KR" sz="1600" dirty="0"/>
              <a:t>·</a:t>
            </a:r>
            <a:r>
              <a:rPr lang="ko-KR" altLang="en-US" sz="1600" dirty="0"/>
              <a:t>키가 클수록 </a:t>
            </a:r>
            <a:r>
              <a:rPr lang="en-US" altLang="ko-KR" sz="1600" dirty="0"/>
              <a:t>low-SMI </a:t>
            </a:r>
            <a:r>
              <a:rPr lang="ko-KR" altLang="en-US" sz="1600" dirty="0"/>
              <a:t>예측 위험도</a:t>
            </a:r>
            <a:r>
              <a:rPr lang="en-US" altLang="ko-KR" sz="1600" dirty="0"/>
              <a:t>(score) </a:t>
            </a:r>
            <a:r>
              <a:rPr lang="ko-KR" altLang="en-US" sz="1600" dirty="0"/>
              <a:t>증가</a:t>
            </a:r>
            <a:r>
              <a:rPr lang="en-US" altLang="ko-KR" sz="1600" dirty="0"/>
              <a:t>, </a:t>
            </a:r>
            <a:r>
              <a:rPr lang="ko-KR" altLang="en-US" sz="1600" dirty="0"/>
              <a:t>남성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sex_M</a:t>
            </a:r>
            <a:r>
              <a:rPr lang="en-US" altLang="ko-KR" sz="1600" dirty="0"/>
              <a:t>)</a:t>
            </a:r>
            <a:r>
              <a:rPr lang="ko-KR" altLang="en-US" sz="1600" dirty="0"/>
              <a:t>이면 감소 </a:t>
            </a:r>
            <a:r>
              <a:rPr lang="en-US" altLang="ko-KR" sz="1600" dirty="0"/>
              <a:t>(</a:t>
            </a:r>
            <a:r>
              <a:rPr lang="ko-KR" altLang="en-US" sz="1600" dirty="0"/>
              <a:t>성별 </a:t>
            </a:r>
            <a:r>
              <a:rPr lang="en-US" altLang="ko-KR" sz="1600" dirty="0"/>
              <a:t>cutoff </a:t>
            </a:r>
            <a:r>
              <a:rPr lang="ko-KR" altLang="en-US" sz="1600" dirty="0"/>
              <a:t>차이 반영</a:t>
            </a:r>
            <a:r>
              <a:rPr lang="en-US" altLang="ko-KR" sz="1600" dirty="0"/>
              <a:t>: M 45.4 vs F 34.4)</a:t>
            </a:r>
            <a:endParaRPr sz="1600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D9BD3D1-1A77-C55A-316D-FA0AF906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578879"/>
              </p:ext>
            </p:extLst>
          </p:nvPr>
        </p:nvGraphicFramePr>
        <p:xfrm>
          <a:off x="776177" y="1713968"/>
          <a:ext cx="3402419" cy="2103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782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변수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계수 (coefficient)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0.7805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0.3800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1.5382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sex_M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-1.6348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</a:t>
                      </a:r>
                      <a:r>
                        <a:rPr sz="1400" dirty="0"/>
                        <a:t>ntercept</a:t>
                      </a:r>
                      <a:r>
                        <a:rPr lang="en-US" sz="1400" dirty="0"/>
                        <a:t>(LR </a:t>
                      </a:r>
                      <a:r>
                        <a:rPr lang="ko-KR" altLang="en-US" sz="1400" dirty="0"/>
                        <a:t>절편</a:t>
                      </a:r>
                      <a:r>
                        <a:rPr lang="en-US" sz="1400" dirty="0"/>
                        <a:t>)</a:t>
                      </a:r>
                      <a:endParaRPr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-2.9516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4880</TotalTime>
  <Words>786</Words>
  <Application>Microsoft Office PowerPoint</Application>
  <PresentationFormat>와이드스크린</PresentationFormat>
  <Paragraphs>117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KoPub돋움체 Bold</vt:lpstr>
      <vt:lpstr>KoPub돋움체 Medium</vt:lpstr>
      <vt:lpstr>Arial</vt:lpstr>
      <vt:lpstr>Office 테마</vt:lpstr>
      <vt:lpstr>PowerPoint 프레젠테이션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  <vt:lpstr>Backup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412</cp:revision>
  <dcterms:created xsi:type="dcterms:W3CDTF">2026-04-09T07:05:16Z</dcterms:created>
  <dcterms:modified xsi:type="dcterms:W3CDTF">2026-07-21T08:53:50Z</dcterms:modified>
</cp:coreProperties>
</file>