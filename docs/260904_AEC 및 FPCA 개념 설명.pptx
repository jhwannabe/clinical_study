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493" r:id="rId4"/>
    <p:sldId id="494" r:id="rId5"/>
    <p:sldId id="488" r:id="rId6"/>
    <p:sldId id="263" r:id="rId7"/>
    <p:sldId id="490" r:id="rId8"/>
    <p:sldId id="492" r:id="rId9"/>
    <p:sldId id="262" r:id="rId10"/>
    <p:sldId id="487" r:id="rId11"/>
  </p:sldIdLst>
  <p:sldSz cx="12192000" cy="6858000"/>
  <p:notesSz cx="6858000" cy="9144000"/>
  <p:embeddedFontLst>
    <p:embeddedFont>
      <p:font typeface="KoPub돋움체 Bold" panose="00000800000000000000" pitchFamily="2" charset="-127"/>
      <p:bold r:id="rId13"/>
    </p:embeddedFont>
    <p:embeddedFont>
      <p:font typeface="KoPub돋움체 Medium" panose="00000600000000000000" pitchFamily="2" charset="-127"/>
      <p:regular r:id="rId1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257"/>
            <p14:sldId id="493"/>
            <p14:sldId id="494"/>
            <p14:sldId id="488"/>
            <p14:sldId id="263"/>
            <p14:sldId id="490"/>
            <p14:sldId id="492"/>
            <p14:sldId id="262"/>
            <p14:sldId id="48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152" autoAdjust="0"/>
  </p:normalViewPr>
  <p:slideViewPr>
    <p:cSldViewPr snapToGrid="0">
      <p:cViewPr varScale="1">
        <p:scale>
          <a:sx n="96" d="100"/>
          <a:sy n="96" d="100"/>
        </p:scale>
        <p:origin x="109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9-02T02:35:59.496" v="3664" actId="20577"/>
      <pc:docMkLst>
        <pc:docMk/>
      </pc:docMkLst>
      <pc:sldChg chg="modSp mod modNotes modNotesTx">
        <pc:chgData name="janghoon jun" userId="056a5883350c2f5e" providerId="LiveId" clId="{6DA654A6-03B0-40F7-A259-B276216985A6}" dt="2026-09-02T02:35:59.496" v="3664" actId="2057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9-02T02:35:59.496" v="3664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 chgLayout modNotesTx">
        <pc:chgData name="janghoon jun" userId="056a5883350c2f5e" providerId="LiveId" clId="{6DA654A6-03B0-40F7-A259-B276216985A6}" dt="2026-08-18T05:03:46.540" v="3577" actId="1076"/>
        <pc:sldMkLst>
          <pc:docMk/>
          <pc:sldMk cId="0" sldId="257"/>
        </pc:sldMkLst>
        <pc:spChg chg="mod ord">
          <ac:chgData name="janghoon jun" userId="056a5883350c2f5e" providerId="LiveId" clId="{6DA654A6-03B0-40F7-A259-B276216985A6}" dt="2026-08-18T04:49:35.279" v="3551" actId="700"/>
          <ac:spMkLst>
            <pc:docMk/>
            <pc:sldMk cId="0" sldId="25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8-18T04:48:46.196" v="3545" actId="404"/>
          <ac:spMkLst>
            <pc:docMk/>
            <pc:sldMk cId="0" sldId="257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8-18T04:48:46.196" v="3545" actId="404"/>
          <ac:spMkLst>
            <pc:docMk/>
            <pc:sldMk cId="0" sldId="257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8-18T04:48:46.196" v="3545" actId="404"/>
          <ac:spMkLst>
            <pc:docMk/>
            <pc:sldMk cId="0" sldId="257"/>
            <ac:spMk id="6" creationId="{00000000-0000-0000-0000-000000000000}"/>
          </ac:spMkLst>
        </pc:spChg>
        <pc:spChg chg="mod">
          <ac:chgData name="janghoon jun" userId="056a5883350c2f5e" providerId="LiveId" clId="{6DA654A6-03B0-40F7-A259-B276216985A6}" dt="2026-08-18T04:49:07.053" v="3546" actId="208"/>
          <ac:spMkLst>
            <pc:docMk/>
            <pc:sldMk cId="0" sldId="257"/>
            <ac:spMk id="7" creationId="{00000000-0000-0000-0000-000000000000}"/>
          </ac:spMkLst>
        </pc:spChg>
        <pc:spChg chg="mod">
          <ac:chgData name="janghoon jun" userId="056a5883350c2f5e" providerId="LiveId" clId="{6DA654A6-03B0-40F7-A259-B276216985A6}" dt="2026-08-18T04:48:46.196" v="3545" actId="404"/>
          <ac:spMkLst>
            <pc:docMk/>
            <pc:sldMk cId="0" sldId="257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8-18T04:48:46.196" v="3545" actId="404"/>
          <ac:spMkLst>
            <pc:docMk/>
            <pc:sldMk cId="0" sldId="257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8-18T04:48:46.196" v="3545" actId="404"/>
          <ac:spMkLst>
            <pc:docMk/>
            <pc:sldMk cId="0" sldId="257"/>
            <ac:spMk id="10" creationId="{00000000-0000-0000-0000-000000000000}"/>
          </ac:spMkLst>
        </pc:spChg>
        <pc:spChg chg="add mod ord">
          <ac:chgData name="janghoon jun" userId="056a5883350c2f5e" providerId="LiveId" clId="{6DA654A6-03B0-40F7-A259-B276216985A6}" dt="2026-08-18T04:49:37.737" v="3554" actId="20577"/>
          <ac:spMkLst>
            <pc:docMk/>
            <pc:sldMk cId="0" sldId="257"/>
            <ac:spMk id="12" creationId="{FB6B5539-CC2D-F932-DAA3-12E2A40E7236}"/>
          </ac:spMkLst>
        </pc:spChg>
        <pc:grpChg chg="add mod">
          <ac:chgData name="janghoon jun" userId="056a5883350c2f5e" providerId="LiveId" clId="{6DA654A6-03B0-40F7-A259-B276216985A6}" dt="2026-08-18T05:03:46.540" v="3577" actId="1076"/>
          <ac:grpSpMkLst>
            <pc:docMk/>
            <pc:sldMk cId="0" sldId="257"/>
            <ac:grpSpMk id="11" creationId="{1FA019A3-0AB6-2C56-8302-ED956B7043E1}"/>
          </ac:grpSpMkLst>
        </pc:grpChg>
        <pc:picChg chg="add mod modCrop">
          <ac:chgData name="janghoon jun" userId="056a5883350c2f5e" providerId="LiveId" clId="{6DA654A6-03B0-40F7-A259-B276216985A6}" dt="2026-08-18T05:03:40.185" v="3576" actId="1076"/>
          <ac:picMkLst>
            <pc:docMk/>
            <pc:sldMk cId="0" sldId="257"/>
            <ac:picMk id="3" creationId="{23CAF732-A9F9-BCFC-439A-A342776582FF}"/>
          </ac:picMkLst>
        </pc:picChg>
      </pc:sldChg>
      <pc:sldChg chg="add">
        <pc:chgData name="janghoon jun" userId="056a5883350c2f5e" providerId="LiveId" clId="{6DA654A6-03B0-40F7-A259-B276216985A6}" dt="2026-08-18T02:39:44.356" v="3240"/>
        <pc:sldMkLst>
          <pc:docMk/>
          <pc:sldMk cId="1147349972" sldId="262"/>
        </pc:sldMkLst>
      </pc:sldChg>
      <pc:sldChg chg="modSp add mod">
        <pc:chgData name="janghoon jun" userId="056a5883350c2f5e" providerId="LiveId" clId="{6DA654A6-03B0-40F7-A259-B276216985A6}" dt="2026-08-18T02:40:25.587" v="3307" actId="20577"/>
        <pc:sldMkLst>
          <pc:docMk/>
          <pc:sldMk cId="845412182" sldId="263"/>
        </pc:sldMkLst>
        <pc:spChg chg="mod">
          <ac:chgData name="janghoon jun" userId="056a5883350c2f5e" providerId="LiveId" clId="{6DA654A6-03B0-40F7-A259-B276216985A6}" dt="2026-08-18T02:40:25.587" v="3307" actId="20577"/>
          <ac:spMkLst>
            <pc:docMk/>
            <pc:sldMk cId="845412182" sldId="263"/>
            <ac:spMk id="2" creationId="{70A1FA35-F0A4-BB61-31D0-2D90E08819B9}"/>
          </ac:spMkLst>
        </pc:spChg>
      </pc:sldChg>
      <pc:sldChg chg="add">
        <pc:chgData name="janghoon jun" userId="056a5883350c2f5e" providerId="LiveId" clId="{6DA654A6-03B0-40F7-A259-B276216985A6}" dt="2026-08-18T02:40:57.970" v="3309"/>
        <pc:sldMkLst>
          <pc:docMk/>
          <pc:sldMk cId="0" sldId="487"/>
        </pc:sldMkLst>
      </pc:sldChg>
      <pc:sldChg chg="modSp mod ord">
        <pc:chgData name="janghoon jun" userId="056a5883350c2f5e" providerId="LiveId" clId="{6DA654A6-03B0-40F7-A259-B276216985A6}" dt="2026-08-18T04:53:34.737" v="3566"/>
        <pc:sldMkLst>
          <pc:docMk/>
          <pc:sldMk cId="0" sldId="488"/>
        </pc:sldMkLst>
        <pc:spChg chg="mod">
          <ac:chgData name="janghoon jun" userId="056a5883350c2f5e" providerId="LiveId" clId="{6DA654A6-03B0-40F7-A259-B276216985A6}" dt="2026-08-18T04:37:48.938" v="3494" actId="5793"/>
          <ac:spMkLst>
            <pc:docMk/>
            <pc:sldMk cId="0" sldId="488"/>
            <ac:spMk id="3" creationId="{00000000-0000-0000-0000-000000000000}"/>
          </ac:spMkLst>
        </pc:spChg>
      </pc:sldChg>
      <pc:sldChg chg="addSp delSp modSp mod modNotesTx">
        <pc:chgData name="janghoon jun" userId="056a5883350c2f5e" providerId="LiveId" clId="{6DA654A6-03B0-40F7-A259-B276216985A6}" dt="2026-08-18T08:12:48.212" v="3658" actId="1076"/>
        <pc:sldMkLst>
          <pc:docMk/>
          <pc:sldMk cId="0" sldId="492"/>
        </pc:sldMkLst>
        <pc:picChg chg="mod">
          <ac:chgData name="janghoon jun" userId="056a5883350c2f5e" providerId="LiveId" clId="{6DA654A6-03B0-40F7-A259-B276216985A6}" dt="2026-08-18T08:12:48.212" v="3658" actId="1076"/>
          <ac:picMkLst>
            <pc:docMk/>
            <pc:sldMk cId="0" sldId="492"/>
            <ac:picMk id="5" creationId="{00000000-0000-0000-0000-000000000000}"/>
          </ac:picMkLst>
        </pc:picChg>
      </pc:sldChg>
      <pc:sldChg chg="addSp delSp modSp add mod modNotesTx">
        <pc:chgData name="janghoon jun" userId="056a5883350c2f5e" providerId="LiveId" clId="{6DA654A6-03B0-40F7-A259-B276216985A6}" dt="2026-08-18T05:51:20.972" v="3631" actId="1076"/>
        <pc:sldMkLst>
          <pc:docMk/>
          <pc:sldMk cId="1069001619" sldId="493"/>
        </pc:sldMkLst>
        <pc:spChg chg="mod">
          <ac:chgData name="janghoon jun" userId="056a5883350c2f5e" providerId="LiveId" clId="{6DA654A6-03B0-40F7-A259-B276216985A6}" dt="2026-08-18T03:50:10.505" v="3345" actId="20577"/>
          <ac:spMkLst>
            <pc:docMk/>
            <pc:sldMk cId="1069001619" sldId="493"/>
            <ac:spMk id="2" creationId="{0DDC2A09-3A1A-7493-B64E-D35E857ED52A}"/>
          </ac:spMkLst>
        </pc:spChg>
        <pc:spChg chg="add mod">
          <ac:chgData name="janghoon jun" userId="056a5883350c2f5e" providerId="LiveId" clId="{6DA654A6-03B0-40F7-A259-B276216985A6}" dt="2026-08-18T05:13:38.921" v="3621" actId="20577"/>
          <ac:spMkLst>
            <pc:docMk/>
            <pc:sldMk cId="1069001619" sldId="493"/>
            <ac:spMk id="5" creationId="{1EBD6A0C-B971-FB3E-B42B-73CFA0A85FFF}"/>
          </ac:spMkLst>
        </pc:spChg>
        <pc:picChg chg="add">
          <ac:chgData name="janghoon jun" userId="056a5883350c2f5e" providerId="LiveId" clId="{6DA654A6-03B0-40F7-A259-B276216985A6}" dt="2026-08-18T04:36:20.471" v="3457" actId="22"/>
          <ac:picMkLst>
            <pc:docMk/>
            <pc:sldMk cId="1069001619" sldId="493"/>
            <ac:picMk id="4" creationId="{133215CC-56CD-E3FB-33C6-5D077D95C747}"/>
          </ac:picMkLst>
        </pc:picChg>
        <pc:picChg chg="add mod">
          <ac:chgData name="janghoon jun" userId="056a5883350c2f5e" providerId="LiveId" clId="{6DA654A6-03B0-40F7-A259-B276216985A6}" dt="2026-08-18T05:51:20.972" v="3631" actId="1076"/>
          <ac:picMkLst>
            <pc:docMk/>
            <pc:sldMk cId="1069001619" sldId="493"/>
            <ac:picMk id="6" creationId="{BD42C899-8AFB-F4A6-3169-C1DD0F23F156}"/>
          </ac:picMkLst>
        </pc:picChg>
      </pc:sldChg>
      <pc:sldChg chg="modSp mod">
        <pc:chgData name="janghoon jun" userId="056a5883350c2f5e" providerId="LiveId" clId="{6DA654A6-03B0-40F7-A259-B276216985A6}" dt="2026-08-18T05:47:04.510" v="3625" actId="20577"/>
        <pc:sldMkLst>
          <pc:docMk/>
          <pc:sldMk cId="0" sldId="494"/>
        </pc:sldMkLst>
        <pc:spChg chg="mod">
          <ac:chgData name="janghoon jun" userId="056a5883350c2f5e" providerId="LiveId" clId="{6DA654A6-03B0-40F7-A259-B276216985A6}" dt="2026-08-18T05:47:04.510" v="3625" actId="20577"/>
          <ac:spMkLst>
            <pc:docMk/>
            <pc:sldMk cId="0" sldId="49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2026-09-02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AEC(</a:t>
            </a:r>
            <a:r>
              <a:rPr dirty="0" err="1"/>
              <a:t>자동노출조절</a:t>
            </a:r>
            <a:r>
              <a:rPr dirty="0"/>
              <a:t>)를 </a:t>
            </a:r>
            <a:r>
              <a:rPr dirty="0" err="1"/>
              <a:t>아주</a:t>
            </a:r>
            <a:r>
              <a:rPr dirty="0"/>
              <a:t> </a:t>
            </a:r>
            <a:r>
              <a:rPr dirty="0" err="1"/>
              <a:t>쉽게</a:t>
            </a:r>
            <a:r>
              <a:rPr dirty="0"/>
              <a:t> </a:t>
            </a:r>
            <a:r>
              <a:rPr dirty="0" err="1"/>
              <a:t>풀어</a:t>
            </a:r>
            <a:r>
              <a:rPr dirty="0"/>
              <a:t> </a:t>
            </a:r>
            <a:r>
              <a:rPr dirty="0" err="1"/>
              <a:t>설명하면</a:t>
            </a:r>
            <a:r>
              <a:rPr dirty="0"/>
              <a:t> </a:t>
            </a:r>
            <a:r>
              <a:rPr dirty="0" err="1"/>
              <a:t>이렇습니다</a:t>
            </a:r>
            <a:r>
              <a:rPr dirty="0"/>
              <a:t>. </a:t>
            </a:r>
            <a:r>
              <a:rPr dirty="0" err="1"/>
              <a:t>CT는</a:t>
            </a:r>
            <a:r>
              <a:rPr dirty="0"/>
              <a:t> 본 </a:t>
            </a:r>
            <a:r>
              <a:rPr dirty="0" err="1"/>
              <a:t>촬영을</a:t>
            </a:r>
            <a:r>
              <a:rPr dirty="0"/>
              <a:t> </a:t>
            </a:r>
            <a:r>
              <a:rPr dirty="0" err="1"/>
              <a:t>하기</a:t>
            </a:r>
            <a:r>
              <a:rPr dirty="0"/>
              <a:t> </a:t>
            </a:r>
            <a:r>
              <a:rPr dirty="0" err="1"/>
              <a:t>전에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'scout' </a:t>
            </a:r>
            <a:r>
              <a:rPr dirty="0" err="1"/>
              <a:t>또는</a:t>
            </a:r>
            <a:r>
              <a:rPr dirty="0"/>
              <a:t> '</a:t>
            </a:r>
            <a:r>
              <a:rPr dirty="0" err="1"/>
              <a:t>localizer'라고</a:t>
            </a:r>
            <a:r>
              <a:rPr dirty="0"/>
              <a:t> </a:t>
            </a:r>
            <a:r>
              <a:rPr dirty="0" err="1"/>
              <a:t>부르는</a:t>
            </a:r>
            <a:r>
              <a:rPr dirty="0"/>
              <a:t> </a:t>
            </a:r>
            <a:r>
              <a:rPr dirty="0" err="1"/>
              <a:t>예비</a:t>
            </a:r>
            <a:r>
              <a:rPr dirty="0"/>
              <a:t> </a:t>
            </a:r>
            <a:r>
              <a:rPr dirty="0" err="1"/>
              <a:t>촬영을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 </a:t>
            </a:r>
            <a:r>
              <a:rPr dirty="0" err="1"/>
              <a:t>이건</a:t>
            </a:r>
            <a:r>
              <a:rPr dirty="0"/>
              <a:t> </a:t>
            </a:r>
            <a:r>
              <a:rPr dirty="0" err="1"/>
              <a:t>일반</a:t>
            </a:r>
            <a:r>
              <a:rPr dirty="0"/>
              <a:t> </a:t>
            </a:r>
            <a:r>
              <a:rPr dirty="0" err="1"/>
              <a:t>엑스레이</a:t>
            </a:r>
            <a:r>
              <a:rPr dirty="0"/>
              <a:t> 한 </a:t>
            </a:r>
            <a:r>
              <a:rPr dirty="0" err="1"/>
              <a:t>장을</a:t>
            </a:r>
            <a:r>
              <a:rPr dirty="0"/>
              <a:t> </a:t>
            </a:r>
            <a:r>
              <a:rPr dirty="0" err="1"/>
              <a:t>찍는</a:t>
            </a:r>
            <a:r>
              <a:rPr dirty="0"/>
              <a:t> </a:t>
            </a:r>
            <a:r>
              <a:rPr dirty="0" err="1"/>
              <a:t>것과</a:t>
            </a:r>
            <a:r>
              <a:rPr dirty="0"/>
              <a:t> </a:t>
            </a:r>
            <a:r>
              <a:rPr dirty="0" err="1"/>
              <a:t>비슷한</a:t>
            </a:r>
            <a:r>
              <a:rPr dirty="0"/>
              <a:t>, </a:t>
            </a:r>
            <a:r>
              <a:rPr dirty="0" err="1"/>
              <a:t>방사선량이</a:t>
            </a:r>
            <a:r>
              <a:rPr dirty="0"/>
              <a:t> </a:t>
            </a:r>
            <a:r>
              <a:rPr dirty="0" err="1"/>
              <a:t>아주</a:t>
            </a:r>
            <a:r>
              <a:rPr dirty="0"/>
              <a:t> </a:t>
            </a:r>
            <a:r>
              <a:rPr dirty="0" err="1"/>
              <a:t>적은</a:t>
            </a:r>
            <a:r>
              <a:rPr dirty="0"/>
              <a:t> </a:t>
            </a:r>
            <a:r>
              <a:rPr dirty="0" err="1"/>
              <a:t>저선량</a:t>
            </a:r>
            <a:r>
              <a:rPr dirty="0"/>
              <a:t> </a:t>
            </a:r>
            <a:r>
              <a:rPr dirty="0" err="1"/>
              <a:t>촬영이에요</a:t>
            </a:r>
            <a:r>
              <a:rPr dirty="0"/>
              <a:t>. 이 </a:t>
            </a:r>
            <a:r>
              <a:rPr dirty="0" err="1"/>
              <a:t>예비</a:t>
            </a:r>
            <a:r>
              <a:rPr dirty="0"/>
              <a:t> </a:t>
            </a:r>
            <a:r>
              <a:rPr dirty="0" err="1"/>
              <a:t>사진</a:t>
            </a:r>
            <a:r>
              <a:rPr dirty="0"/>
              <a:t> 한 </a:t>
            </a:r>
            <a:r>
              <a:rPr dirty="0" err="1"/>
              <a:t>장만</a:t>
            </a:r>
            <a:r>
              <a:rPr dirty="0"/>
              <a:t> </a:t>
            </a:r>
            <a:r>
              <a:rPr dirty="0" err="1"/>
              <a:t>봐도</a:t>
            </a:r>
            <a:r>
              <a:rPr dirty="0"/>
              <a:t> </a:t>
            </a:r>
            <a:r>
              <a:rPr dirty="0" err="1"/>
              <a:t>기계는</a:t>
            </a:r>
            <a:r>
              <a:rPr dirty="0"/>
              <a:t> </a:t>
            </a:r>
            <a:r>
              <a:rPr dirty="0" err="1"/>
              <a:t>환자의</a:t>
            </a:r>
            <a:r>
              <a:rPr dirty="0"/>
              <a:t> </a:t>
            </a:r>
            <a:r>
              <a:rPr dirty="0" err="1"/>
              <a:t>머리부터</a:t>
            </a:r>
            <a:r>
              <a:rPr dirty="0"/>
              <a:t> </a:t>
            </a:r>
            <a:r>
              <a:rPr dirty="0" err="1"/>
              <a:t>발끝까지</a:t>
            </a:r>
            <a:r>
              <a:rPr dirty="0"/>
              <a:t> </a:t>
            </a:r>
            <a:r>
              <a:rPr dirty="0" err="1"/>
              <a:t>구간별로</a:t>
            </a:r>
            <a:r>
              <a:rPr dirty="0"/>
              <a:t> </a:t>
            </a:r>
            <a:r>
              <a:rPr dirty="0" err="1"/>
              <a:t>몸이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두껍고</a:t>
            </a:r>
            <a:r>
              <a:rPr dirty="0"/>
              <a:t> </a:t>
            </a:r>
            <a:r>
              <a:rPr dirty="0" err="1"/>
              <a:t>X선을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흡수하는지</a:t>
            </a:r>
            <a:r>
              <a:rPr dirty="0"/>
              <a:t>(</a:t>
            </a:r>
            <a:r>
              <a:rPr dirty="0" err="1"/>
              <a:t>감쇠</a:t>
            </a:r>
            <a:r>
              <a:rPr dirty="0"/>
              <a:t>, attenuation)를 </a:t>
            </a:r>
            <a:r>
              <a:rPr dirty="0" err="1"/>
              <a:t>대략</a:t>
            </a:r>
            <a:r>
              <a:rPr dirty="0"/>
              <a:t> </a:t>
            </a:r>
            <a:r>
              <a:rPr dirty="0" err="1"/>
              <a:t>추정할</a:t>
            </a:r>
            <a:r>
              <a:rPr dirty="0"/>
              <a:t> 수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dirty="0" err="1"/>
              <a:t>그다음</a:t>
            </a:r>
            <a:r>
              <a:rPr dirty="0"/>
              <a:t> </a:t>
            </a:r>
            <a:r>
              <a:rPr dirty="0" err="1"/>
              <a:t>기계는</a:t>
            </a:r>
            <a:r>
              <a:rPr dirty="0"/>
              <a:t> </a:t>
            </a:r>
            <a:r>
              <a:rPr dirty="0" err="1"/>
              <a:t>검사자가</a:t>
            </a:r>
            <a:r>
              <a:rPr dirty="0"/>
              <a:t> </a:t>
            </a:r>
            <a:r>
              <a:rPr dirty="0" err="1"/>
              <a:t>미리</a:t>
            </a:r>
            <a:r>
              <a:rPr dirty="0"/>
              <a:t> </a:t>
            </a:r>
            <a:r>
              <a:rPr dirty="0" err="1"/>
              <a:t>지정해</a:t>
            </a:r>
            <a:r>
              <a:rPr dirty="0"/>
              <a:t> 둔 '</a:t>
            </a:r>
            <a:r>
              <a:rPr dirty="0" err="1"/>
              <a:t>원하는</a:t>
            </a:r>
            <a:r>
              <a:rPr dirty="0"/>
              <a:t> </a:t>
            </a:r>
            <a:r>
              <a:rPr dirty="0" err="1"/>
              <a:t>화질</a:t>
            </a:r>
            <a:r>
              <a:rPr dirty="0"/>
              <a:t> </a:t>
            </a:r>
            <a:r>
              <a:rPr dirty="0" err="1"/>
              <a:t>수준</a:t>
            </a:r>
            <a:r>
              <a:rPr dirty="0"/>
              <a:t>(</a:t>
            </a:r>
            <a:r>
              <a:rPr dirty="0" err="1"/>
              <a:t>노이즈</a:t>
            </a:r>
            <a:r>
              <a:rPr dirty="0"/>
              <a:t> </a:t>
            </a:r>
            <a:r>
              <a:rPr dirty="0" err="1"/>
              <a:t>지표</a:t>
            </a:r>
            <a:r>
              <a:rPr dirty="0"/>
              <a:t>)'과 이 </a:t>
            </a:r>
            <a:r>
              <a:rPr dirty="0" err="1"/>
              <a:t>예비</a:t>
            </a:r>
            <a:r>
              <a:rPr dirty="0"/>
              <a:t> </a:t>
            </a:r>
            <a:r>
              <a:rPr dirty="0" err="1"/>
              <a:t>추정치를</a:t>
            </a:r>
            <a:r>
              <a:rPr dirty="0"/>
              <a:t> </a:t>
            </a:r>
            <a:r>
              <a:rPr dirty="0" err="1"/>
              <a:t>조합해서</a:t>
            </a:r>
            <a:r>
              <a:rPr dirty="0"/>
              <a:t>, </a:t>
            </a:r>
            <a:r>
              <a:rPr dirty="0" err="1"/>
              <a:t>몸의</a:t>
            </a:r>
            <a:r>
              <a:rPr dirty="0"/>
              <a:t> 각 </a:t>
            </a:r>
            <a:r>
              <a:rPr dirty="0" err="1"/>
              <a:t>구간</a:t>
            </a:r>
            <a:r>
              <a:rPr dirty="0"/>
              <a:t>(</a:t>
            </a:r>
            <a:r>
              <a:rPr dirty="0" err="1"/>
              <a:t>z축</a:t>
            </a:r>
            <a:r>
              <a:rPr dirty="0"/>
              <a:t> </a:t>
            </a:r>
            <a:r>
              <a:rPr dirty="0" err="1"/>
              <a:t>위치</a:t>
            </a:r>
            <a:r>
              <a:rPr dirty="0"/>
              <a:t>)</a:t>
            </a:r>
            <a:r>
              <a:rPr dirty="0" err="1"/>
              <a:t>마다</a:t>
            </a:r>
            <a:r>
              <a:rPr dirty="0"/>
              <a:t> </a:t>
            </a:r>
            <a:r>
              <a:rPr dirty="0" err="1"/>
              <a:t>얼마의</a:t>
            </a:r>
            <a:r>
              <a:rPr dirty="0"/>
              <a:t> </a:t>
            </a:r>
            <a:r>
              <a:rPr dirty="0" err="1"/>
              <a:t>관전류</a:t>
            </a:r>
            <a:r>
              <a:rPr dirty="0"/>
              <a:t>(mA, </a:t>
            </a:r>
            <a:r>
              <a:rPr dirty="0" err="1"/>
              <a:t>X선을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많이</a:t>
            </a:r>
            <a:r>
              <a:rPr dirty="0"/>
              <a:t> </a:t>
            </a:r>
            <a:r>
              <a:rPr dirty="0" err="1"/>
              <a:t>쏠지</a:t>
            </a:r>
            <a:r>
              <a:rPr dirty="0"/>
              <a:t>)를 </a:t>
            </a:r>
            <a:r>
              <a:rPr dirty="0" err="1"/>
              <a:t>쓸지</a:t>
            </a:r>
            <a:r>
              <a:rPr dirty="0"/>
              <a:t> </a:t>
            </a:r>
            <a:r>
              <a:rPr dirty="0" err="1"/>
              <a:t>미리</a:t>
            </a:r>
            <a:r>
              <a:rPr dirty="0"/>
              <a:t> </a:t>
            </a:r>
            <a:r>
              <a:rPr dirty="0" err="1"/>
              <a:t>계산해</a:t>
            </a:r>
            <a:r>
              <a:rPr dirty="0"/>
              <a:t> </a:t>
            </a:r>
            <a:r>
              <a:rPr dirty="0" err="1"/>
              <a:t>둡니다</a:t>
            </a:r>
            <a:r>
              <a:rPr dirty="0"/>
              <a:t>. </a:t>
            </a:r>
            <a:r>
              <a:rPr dirty="0" err="1"/>
              <a:t>실제</a:t>
            </a:r>
            <a:r>
              <a:rPr dirty="0"/>
              <a:t> 본 </a:t>
            </a:r>
            <a:r>
              <a:rPr dirty="0" err="1"/>
              <a:t>촬영이</a:t>
            </a:r>
            <a:r>
              <a:rPr dirty="0"/>
              <a:t> </a:t>
            </a:r>
            <a:r>
              <a:rPr dirty="0" err="1"/>
              <a:t>시작되면</a:t>
            </a:r>
            <a:r>
              <a:rPr dirty="0"/>
              <a:t> </a:t>
            </a:r>
            <a:r>
              <a:rPr dirty="0" err="1"/>
              <a:t>기계는</a:t>
            </a:r>
            <a:r>
              <a:rPr dirty="0"/>
              <a:t> </a:t>
            </a:r>
            <a:r>
              <a:rPr dirty="0" err="1"/>
              <a:t>머리</a:t>
            </a:r>
            <a:r>
              <a:rPr dirty="0"/>
              <a:t> </a:t>
            </a:r>
            <a:r>
              <a:rPr dirty="0" err="1"/>
              <a:t>쪽에서</a:t>
            </a:r>
            <a:r>
              <a:rPr dirty="0"/>
              <a:t> 발 </a:t>
            </a:r>
            <a:r>
              <a:rPr dirty="0" err="1"/>
              <a:t>쪽으로</a:t>
            </a:r>
            <a:r>
              <a:rPr dirty="0"/>
              <a:t> </a:t>
            </a:r>
            <a:r>
              <a:rPr dirty="0" err="1"/>
              <a:t>이동하면서</a:t>
            </a:r>
            <a:r>
              <a:rPr dirty="0"/>
              <a:t> 이 </a:t>
            </a:r>
            <a:r>
              <a:rPr dirty="0" err="1"/>
              <a:t>계산된</a:t>
            </a:r>
            <a:r>
              <a:rPr dirty="0"/>
              <a:t> mA </a:t>
            </a:r>
            <a:r>
              <a:rPr dirty="0" err="1"/>
              <a:t>값을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,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최신</a:t>
            </a:r>
            <a:r>
              <a:rPr dirty="0"/>
              <a:t> </a:t>
            </a:r>
            <a:r>
              <a:rPr dirty="0" err="1"/>
              <a:t>장비의</a:t>
            </a:r>
            <a:r>
              <a:rPr dirty="0"/>
              <a:t> </a:t>
            </a:r>
            <a:r>
              <a:rPr dirty="0" err="1"/>
              <a:t>경우</a:t>
            </a:r>
            <a:r>
              <a:rPr dirty="0"/>
              <a:t> </a:t>
            </a:r>
            <a:r>
              <a:rPr dirty="0" err="1"/>
              <a:t>촬영</a:t>
            </a:r>
            <a:r>
              <a:rPr dirty="0"/>
              <a:t> </a:t>
            </a:r>
            <a:r>
              <a:rPr dirty="0" err="1"/>
              <a:t>초반</a:t>
            </a:r>
            <a:r>
              <a:rPr dirty="0"/>
              <a:t> </a:t>
            </a:r>
            <a:r>
              <a:rPr dirty="0" err="1"/>
              <a:t>실측값으로</a:t>
            </a:r>
            <a:r>
              <a:rPr dirty="0"/>
              <a:t> 한 번 더 </a:t>
            </a:r>
            <a:r>
              <a:rPr dirty="0" err="1"/>
              <a:t>미세</a:t>
            </a:r>
            <a:r>
              <a:rPr dirty="0"/>
              <a:t> </a:t>
            </a:r>
            <a:r>
              <a:rPr dirty="0" err="1"/>
              <a:t>보정하면서</a:t>
            </a:r>
            <a:r>
              <a:rPr dirty="0"/>
              <a:t> </a:t>
            </a:r>
            <a:r>
              <a:rPr dirty="0" err="1"/>
              <a:t>실시간으로</a:t>
            </a:r>
            <a:r>
              <a:rPr dirty="0"/>
              <a:t> </a:t>
            </a:r>
            <a:r>
              <a:rPr dirty="0" err="1"/>
              <a:t>관전류를</a:t>
            </a:r>
            <a:r>
              <a:rPr dirty="0"/>
              <a:t> </a:t>
            </a:r>
            <a:r>
              <a:rPr dirty="0" err="1"/>
              <a:t>바꿔가며</a:t>
            </a:r>
            <a:r>
              <a:rPr dirty="0"/>
              <a:t> </a:t>
            </a:r>
            <a:r>
              <a:rPr dirty="0" err="1"/>
              <a:t>찍습니다</a:t>
            </a:r>
            <a:r>
              <a:rPr dirty="0"/>
              <a:t>.</a:t>
            </a:r>
          </a:p>
          <a:p>
            <a:r>
              <a:rPr dirty="0" err="1"/>
              <a:t>이렇게</a:t>
            </a:r>
            <a:r>
              <a:rPr dirty="0"/>
              <a:t> </a:t>
            </a:r>
            <a:r>
              <a:rPr dirty="0" err="1"/>
              <a:t>촬영</a:t>
            </a:r>
            <a:r>
              <a:rPr dirty="0"/>
              <a:t> </a:t>
            </a:r>
            <a:r>
              <a:rPr dirty="0" err="1"/>
              <a:t>내내</a:t>
            </a:r>
            <a:r>
              <a:rPr dirty="0"/>
              <a:t> </a:t>
            </a:r>
            <a:r>
              <a:rPr dirty="0" err="1"/>
              <a:t>기록되는</a:t>
            </a:r>
            <a:r>
              <a:rPr dirty="0"/>
              <a:t> 'mA </a:t>
            </a:r>
            <a:r>
              <a:rPr dirty="0" err="1"/>
              <a:t>값이</a:t>
            </a:r>
            <a:r>
              <a:rPr dirty="0"/>
              <a:t> </a:t>
            </a:r>
            <a:r>
              <a:rPr dirty="0" err="1"/>
              <a:t>z축</a:t>
            </a:r>
            <a:r>
              <a:rPr dirty="0"/>
              <a:t> </a:t>
            </a:r>
            <a:r>
              <a:rPr dirty="0" err="1"/>
              <a:t>위치에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변했는지'의</a:t>
            </a:r>
            <a:r>
              <a:rPr dirty="0"/>
              <a:t> </a:t>
            </a:r>
            <a:r>
              <a:rPr dirty="0" err="1"/>
              <a:t>궤적이</a:t>
            </a:r>
            <a:r>
              <a:rPr dirty="0"/>
              <a:t> </a:t>
            </a:r>
            <a:r>
              <a:rPr dirty="0" err="1"/>
              <a:t>바로</a:t>
            </a:r>
            <a:r>
              <a:rPr dirty="0"/>
              <a:t> </a:t>
            </a:r>
            <a:r>
              <a:rPr dirty="0" err="1"/>
              <a:t>우리가</a:t>
            </a:r>
            <a:r>
              <a:rPr dirty="0"/>
              <a:t> AEC-128로 </a:t>
            </a:r>
            <a:r>
              <a:rPr dirty="0" err="1"/>
              <a:t>표준화해서</a:t>
            </a:r>
            <a:r>
              <a:rPr dirty="0"/>
              <a:t> </a:t>
            </a:r>
            <a:r>
              <a:rPr dirty="0" err="1"/>
              <a:t>쓰는</a:t>
            </a:r>
            <a:r>
              <a:rPr dirty="0"/>
              <a:t> </a:t>
            </a:r>
            <a:r>
              <a:rPr dirty="0" err="1"/>
              <a:t>원천</a:t>
            </a:r>
            <a:r>
              <a:rPr dirty="0"/>
              <a:t> </a:t>
            </a:r>
            <a:r>
              <a:rPr dirty="0" err="1"/>
              <a:t>신호입니다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D3839-1FCA-7832-1BD2-5B0D1244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C0D58-3EB7-E490-12F6-A73C0F7AD5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2B8FA-E4B3-B8A7-97BB-7B3E19A1C2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관전류를</a:t>
            </a:r>
            <a:r>
              <a:rPr dirty="0"/>
              <a:t> </a:t>
            </a:r>
            <a:r>
              <a:rPr dirty="0" err="1"/>
              <a:t>조절하는</a:t>
            </a:r>
            <a:r>
              <a:rPr dirty="0"/>
              <a:t> </a:t>
            </a:r>
            <a:r>
              <a:rPr dirty="0" err="1"/>
              <a:t>방식에는</a:t>
            </a:r>
            <a:r>
              <a:rPr dirty="0"/>
              <a:t> </a:t>
            </a:r>
            <a:r>
              <a:rPr dirty="0" err="1"/>
              <a:t>크게</a:t>
            </a:r>
            <a:r>
              <a:rPr dirty="0"/>
              <a:t> 세 </a:t>
            </a:r>
            <a:r>
              <a:rPr dirty="0" err="1"/>
              <a:t>가지가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첫째는</a:t>
            </a:r>
            <a:r>
              <a:rPr dirty="0"/>
              <a:t> '</a:t>
            </a:r>
            <a:r>
              <a:rPr dirty="0" err="1"/>
              <a:t>각도</a:t>
            </a:r>
            <a:r>
              <a:rPr dirty="0"/>
              <a:t> </a:t>
            </a:r>
            <a:r>
              <a:rPr dirty="0" err="1"/>
              <a:t>방향</a:t>
            </a:r>
            <a:r>
              <a:rPr dirty="0"/>
              <a:t>(Angular)' </a:t>
            </a:r>
            <a:r>
              <a:rPr dirty="0" err="1"/>
              <a:t>변조로</a:t>
            </a:r>
            <a:r>
              <a:rPr dirty="0"/>
              <a:t>, CT </a:t>
            </a:r>
            <a:r>
              <a:rPr dirty="0" err="1"/>
              <a:t>관구가</a:t>
            </a:r>
            <a:r>
              <a:rPr dirty="0"/>
              <a:t> 한 </a:t>
            </a:r>
            <a:r>
              <a:rPr dirty="0" err="1"/>
              <a:t>바퀴</a:t>
            </a:r>
            <a:r>
              <a:rPr dirty="0"/>
              <a:t> 돌 때 </a:t>
            </a:r>
            <a:r>
              <a:rPr dirty="0" err="1"/>
              <a:t>환자</a:t>
            </a:r>
            <a:r>
              <a:rPr dirty="0"/>
              <a:t> </a:t>
            </a:r>
            <a:r>
              <a:rPr dirty="0" err="1"/>
              <a:t>몸의</a:t>
            </a:r>
            <a:r>
              <a:rPr dirty="0"/>
              <a:t> </a:t>
            </a:r>
            <a:r>
              <a:rPr dirty="0" err="1"/>
              <a:t>두께가</a:t>
            </a:r>
            <a:r>
              <a:rPr dirty="0"/>
              <a:t> </a:t>
            </a:r>
            <a:r>
              <a:rPr dirty="0" err="1"/>
              <a:t>방향마다</a:t>
            </a:r>
            <a:r>
              <a:rPr dirty="0"/>
              <a:t> </a:t>
            </a:r>
            <a:r>
              <a:rPr dirty="0" err="1"/>
              <a:t>다르기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(예: </a:t>
            </a:r>
            <a:r>
              <a:rPr dirty="0" err="1"/>
              <a:t>어깨는</a:t>
            </a:r>
            <a:r>
              <a:rPr dirty="0"/>
              <a:t> </a:t>
            </a:r>
            <a:r>
              <a:rPr dirty="0" err="1"/>
              <a:t>좌우로</a:t>
            </a:r>
            <a:r>
              <a:rPr dirty="0"/>
              <a:t> </a:t>
            </a:r>
            <a:r>
              <a:rPr dirty="0" err="1"/>
              <a:t>넓고</a:t>
            </a:r>
            <a:r>
              <a:rPr dirty="0"/>
              <a:t> </a:t>
            </a:r>
            <a:r>
              <a:rPr dirty="0" err="1"/>
              <a:t>앞뒤로</a:t>
            </a:r>
            <a:r>
              <a:rPr dirty="0"/>
              <a:t> </a:t>
            </a:r>
            <a:r>
              <a:rPr dirty="0" err="1"/>
              <a:t>얇음</a:t>
            </a:r>
            <a:r>
              <a:rPr dirty="0"/>
              <a:t>) </a:t>
            </a:r>
            <a:r>
              <a:rPr dirty="0" err="1"/>
              <a:t>회전</a:t>
            </a:r>
            <a:r>
              <a:rPr dirty="0"/>
              <a:t> </a:t>
            </a:r>
            <a:r>
              <a:rPr dirty="0" err="1"/>
              <a:t>각도에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순간순간</a:t>
            </a:r>
            <a:r>
              <a:rPr dirty="0"/>
              <a:t> </a:t>
            </a:r>
            <a:r>
              <a:rPr dirty="0" err="1"/>
              <a:t>관전류를</a:t>
            </a:r>
            <a:r>
              <a:rPr dirty="0"/>
              <a:t> </a:t>
            </a:r>
            <a:r>
              <a:rPr dirty="0" err="1"/>
              <a:t>바꾸는</a:t>
            </a:r>
            <a:r>
              <a:rPr dirty="0"/>
              <a:t> </a:t>
            </a:r>
            <a:r>
              <a:rPr dirty="0" err="1"/>
              <a:t>방식입니다</a:t>
            </a:r>
            <a:r>
              <a:rPr dirty="0"/>
              <a:t>. </a:t>
            </a:r>
            <a:r>
              <a:rPr dirty="0" err="1"/>
              <a:t>둘째는</a:t>
            </a:r>
            <a:r>
              <a:rPr dirty="0"/>
              <a:t> '</a:t>
            </a:r>
            <a:r>
              <a:rPr dirty="0" err="1"/>
              <a:t>세로축</a:t>
            </a:r>
            <a:r>
              <a:rPr dirty="0"/>
              <a:t>(</a:t>
            </a:r>
            <a:r>
              <a:rPr dirty="0" err="1"/>
              <a:t>Z축</a:t>
            </a:r>
            <a:r>
              <a:rPr dirty="0"/>
              <a:t>, Longitudinal)' </a:t>
            </a:r>
            <a:r>
              <a:rPr dirty="0" err="1"/>
              <a:t>변조로</a:t>
            </a:r>
            <a:r>
              <a:rPr dirty="0"/>
              <a:t>, 앞 </a:t>
            </a:r>
            <a:r>
              <a:rPr dirty="0" err="1"/>
              <a:t>슬라이드에서</a:t>
            </a:r>
            <a:r>
              <a:rPr dirty="0"/>
              <a:t> </a:t>
            </a:r>
            <a:r>
              <a:rPr dirty="0" err="1"/>
              <a:t>설명한</a:t>
            </a:r>
            <a:r>
              <a:rPr dirty="0"/>
              <a:t> </a:t>
            </a:r>
            <a:r>
              <a:rPr dirty="0" err="1"/>
              <a:t>것처럼</a:t>
            </a:r>
            <a:r>
              <a:rPr dirty="0"/>
              <a:t> </a:t>
            </a:r>
            <a:r>
              <a:rPr dirty="0" err="1"/>
              <a:t>머리에서</a:t>
            </a:r>
            <a:r>
              <a:rPr dirty="0"/>
              <a:t> 발 </a:t>
            </a:r>
            <a:r>
              <a:rPr dirty="0" err="1"/>
              <a:t>쪽으로</a:t>
            </a:r>
            <a:r>
              <a:rPr dirty="0"/>
              <a:t> </a:t>
            </a:r>
            <a:r>
              <a:rPr dirty="0" err="1"/>
              <a:t>이동하며</a:t>
            </a:r>
            <a:r>
              <a:rPr dirty="0"/>
              <a:t> </a:t>
            </a:r>
            <a:r>
              <a:rPr dirty="0" err="1"/>
              <a:t>부위별</a:t>
            </a:r>
            <a:r>
              <a:rPr dirty="0"/>
              <a:t>(</a:t>
            </a:r>
            <a:r>
              <a:rPr dirty="0" err="1"/>
              <a:t>어깨</a:t>
            </a:r>
            <a:r>
              <a:rPr dirty="0"/>
              <a:t>/</a:t>
            </a:r>
            <a:r>
              <a:rPr dirty="0" err="1"/>
              <a:t>흉부</a:t>
            </a:r>
            <a:r>
              <a:rPr dirty="0"/>
              <a:t>/간 등) </a:t>
            </a:r>
            <a:r>
              <a:rPr dirty="0" err="1"/>
              <a:t>두께</a:t>
            </a:r>
            <a:r>
              <a:rPr dirty="0"/>
              <a:t> </a:t>
            </a:r>
            <a:r>
              <a:rPr dirty="0" err="1"/>
              <a:t>차이에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관전류를</a:t>
            </a:r>
            <a:r>
              <a:rPr dirty="0"/>
              <a:t> </a:t>
            </a:r>
            <a:r>
              <a:rPr dirty="0" err="1"/>
              <a:t>바꾸는</a:t>
            </a:r>
            <a:r>
              <a:rPr dirty="0"/>
              <a:t> </a:t>
            </a:r>
            <a:r>
              <a:rPr dirty="0" err="1"/>
              <a:t>방식입니다</a:t>
            </a:r>
            <a:r>
              <a:rPr dirty="0"/>
              <a:t>. </a:t>
            </a:r>
            <a:r>
              <a:rPr dirty="0" err="1"/>
              <a:t>셋째는</a:t>
            </a:r>
            <a:r>
              <a:rPr dirty="0"/>
              <a:t> 이 </a:t>
            </a:r>
            <a:r>
              <a:rPr dirty="0" err="1"/>
              <a:t>둘을</a:t>
            </a:r>
            <a:r>
              <a:rPr dirty="0"/>
              <a:t> </a:t>
            </a:r>
            <a:r>
              <a:rPr dirty="0" err="1"/>
              <a:t>합친</a:t>
            </a:r>
            <a:r>
              <a:rPr dirty="0"/>
              <a:t> 'Combined' </a:t>
            </a:r>
            <a:r>
              <a:rPr dirty="0" err="1"/>
              <a:t>변조로</a:t>
            </a:r>
            <a:r>
              <a:rPr dirty="0"/>
              <a:t>, </a:t>
            </a:r>
            <a:r>
              <a:rPr dirty="0" err="1"/>
              <a:t>회전</a:t>
            </a:r>
            <a:r>
              <a:rPr dirty="0"/>
              <a:t> </a:t>
            </a:r>
            <a:r>
              <a:rPr dirty="0" err="1"/>
              <a:t>각도와</a:t>
            </a:r>
            <a:r>
              <a:rPr dirty="0"/>
              <a:t> </a:t>
            </a:r>
            <a:r>
              <a:rPr dirty="0" err="1"/>
              <a:t>z축</a:t>
            </a:r>
            <a:r>
              <a:rPr dirty="0"/>
              <a:t> </a:t>
            </a:r>
            <a:r>
              <a:rPr dirty="0" err="1"/>
              <a:t>위치를</a:t>
            </a:r>
            <a:r>
              <a:rPr dirty="0"/>
              <a:t> </a:t>
            </a:r>
            <a:r>
              <a:rPr dirty="0" err="1"/>
              <a:t>동시에</a:t>
            </a:r>
            <a:r>
              <a:rPr dirty="0"/>
              <a:t> </a:t>
            </a:r>
            <a:r>
              <a:rPr dirty="0" err="1"/>
              <a:t>반영해</a:t>
            </a:r>
            <a:r>
              <a:rPr dirty="0"/>
              <a:t> </a:t>
            </a:r>
            <a:r>
              <a:rPr dirty="0" err="1"/>
              <a:t>관전류를</a:t>
            </a:r>
            <a:r>
              <a:rPr dirty="0"/>
              <a:t> </a:t>
            </a:r>
            <a:r>
              <a:rPr dirty="0" err="1"/>
              <a:t>조절하며</a:t>
            </a:r>
            <a:r>
              <a:rPr dirty="0"/>
              <a:t> </a:t>
            </a:r>
            <a:r>
              <a:rPr dirty="0" err="1"/>
              <a:t>최신</a:t>
            </a:r>
            <a:r>
              <a:rPr dirty="0"/>
              <a:t> CT </a:t>
            </a:r>
            <a:r>
              <a:rPr dirty="0" err="1"/>
              <a:t>대부분이</a:t>
            </a:r>
            <a:r>
              <a:rPr dirty="0"/>
              <a:t> </a:t>
            </a:r>
            <a:r>
              <a:rPr dirty="0" err="1"/>
              <a:t>기본으로</a:t>
            </a:r>
            <a:r>
              <a:rPr dirty="0"/>
              <a:t> </a:t>
            </a:r>
            <a:r>
              <a:rPr dirty="0" err="1"/>
              <a:t>쓰는</a:t>
            </a:r>
            <a:r>
              <a:rPr dirty="0"/>
              <a:t> </a:t>
            </a:r>
            <a:r>
              <a:rPr dirty="0" err="1"/>
              <a:t>방식입니다</a:t>
            </a:r>
            <a:r>
              <a:rPr dirty="0"/>
              <a:t> — </a:t>
            </a:r>
            <a:r>
              <a:rPr dirty="0" err="1"/>
              <a:t>뒤에서</a:t>
            </a:r>
            <a:r>
              <a:rPr dirty="0"/>
              <a:t> </a:t>
            </a:r>
            <a:r>
              <a:rPr dirty="0" err="1"/>
              <a:t>보듯</a:t>
            </a:r>
            <a:r>
              <a:rPr dirty="0"/>
              <a:t> </a:t>
            </a:r>
            <a:r>
              <a:rPr dirty="0" err="1"/>
              <a:t>우리가</a:t>
            </a:r>
            <a:r>
              <a:rPr dirty="0"/>
              <a:t> </a:t>
            </a:r>
            <a:r>
              <a:rPr dirty="0" err="1"/>
              <a:t>쓰는</a:t>
            </a:r>
            <a:r>
              <a:rPr dirty="0"/>
              <a:t> AEC-128 </a:t>
            </a:r>
            <a:r>
              <a:rPr dirty="0" err="1"/>
              <a:t>신호도</a:t>
            </a:r>
            <a:r>
              <a:rPr dirty="0"/>
              <a:t> </a:t>
            </a:r>
            <a:r>
              <a:rPr dirty="0" err="1"/>
              <a:t>실측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대부분</a:t>
            </a:r>
            <a:r>
              <a:rPr dirty="0"/>
              <a:t> 이 Combined(XYZ) </a:t>
            </a:r>
            <a:r>
              <a:rPr dirty="0" err="1"/>
              <a:t>변조로</a:t>
            </a:r>
            <a:r>
              <a:rPr dirty="0"/>
              <a:t> </a:t>
            </a:r>
            <a:r>
              <a:rPr dirty="0" err="1"/>
              <a:t>만들어진</a:t>
            </a:r>
            <a:r>
              <a:rPr dirty="0"/>
              <a:t> </a:t>
            </a:r>
            <a:r>
              <a:rPr dirty="0" err="1"/>
              <a:t>값입니다</a:t>
            </a:r>
            <a:r>
              <a:rPr dirty="0"/>
              <a:t>.</a:t>
            </a:r>
          </a:p>
          <a:p>
            <a:r>
              <a:rPr dirty="0" err="1"/>
              <a:t>그렇다면</a:t>
            </a:r>
            <a:r>
              <a:rPr dirty="0"/>
              <a:t> </a:t>
            </a:r>
            <a:r>
              <a:rPr dirty="0" err="1"/>
              <a:t>우리</a:t>
            </a:r>
            <a:r>
              <a:rPr dirty="0"/>
              <a:t> </a:t>
            </a:r>
            <a:r>
              <a:rPr dirty="0" err="1"/>
              <a:t>연구에</a:t>
            </a:r>
            <a:r>
              <a:rPr dirty="0"/>
              <a:t>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쓰인</a:t>
            </a:r>
            <a:r>
              <a:rPr dirty="0"/>
              <a:t> </a:t>
            </a:r>
            <a:r>
              <a:rPr dirty="0" err="1"/>
              <a:t>CT들은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방식이었을까요</a:t>
            </a:r>
            <a:r>
              <a:rPr dirty="0"/>
              <a:t>? </a:t>
            </a:r>
            <a:r>
              <a:rPr dirty="0" err="1"/>
              <a:t>이를</a:t>
            </a:r>
            <a:r>
              <a:rPr dirty="0"/>
              <a:t> </a:t>
            </a:r>
            <a:r>
              <a:rPr dirty="0" err="1"/>
              <a:t>확인하려고</a:t>
            </a:r>
            <a:r>
              <a:rPr dirty="0"/>
              <a:t> </a:t>
            </a:r>
            <a:r>
              <a:rPr dirty="0" err="1"/>
              <a:t>원본</a:t>
            </a:r>
            <a:r>
              <a:rPr dirty="0"/>
              <a:t> DICOM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헤더에서</a:t>
            </a:r>
            <a:r>
              <a:rPr dirty="0"/>
              <a:t> 'Exposure Modulation </a:t>
            </a:r>
            <a:r>
              <a:rPr dirty="0" err="1"/>
              <a:t>Type'이라는</a:t>
            </a:r>
            <a:r>
              <a:rPr dirty="0"/>
              <a:t> </a:t>
            </a:r>
            <a:r>
              <a:rPr dirty="0" err="1"/>
              <a:t>태그</a:t>
            </a:r>
            <a:r>
              <a:rPr dirty="0"/>
              <a:t>(0018,1156)를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읽어봤습니다</a:t>
            </a:r>
            <a:r>
              <a:rPr dirty="0"/>
              <a:t>. </a:t>
            </a:r>
            <a:r>
              <a:rPr dirty="0" err="1"/>
              <a:t>전체</a:t>
            </a:r>
            <a:r>
              <a:rPr dirty="0"/>
              <a:t> 2,016명 중 AEC </a:t>
            </a:r>
            <a:r>
              <a:rPr dirty="0" err="1"/>
              <a:t>추출에</a:t>
            </a:r>
            <a:r>
              <a:rPr dirty="0"/>
              <a:t>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쓰인</a:t>
            </a:r>
            <a:r>
              <a:rPr dirty="0"/>
              <a:t> </a:t>
            </a:r>
            <a:r>
              <a:rPr dirty="0" err="1"/>
              <a:t>series를</a:t>
            </a:r>
            <a:r>
              <a:rPr dirty="0"/>
              <a:t> 2,006명(99.5%)</a:t>
            </a:r>
            <a:r>
              <a:rPr dirty="0" err="1"/>
              <a:t>까지</a:t>
            </a:r>
            <a:r>
              <a:rPr dirty="0"/>
              <a:t> </a:t>
            </a:r>
            <a:r>
              <a:rPr dirty="0" err="1"/>
              <a:t>특정해서</a:t>
            </a:r>
            <a:r>
              <a:rPr dirty="0"/>
              <a:t> </a:t>
            </a:r>
            <a:r>
              <a:rPr dirty="0" err="1"/>
              <a:t>확인한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, </a:t>
            </a:r>
            <a:r>
              <a:rPr dirty="0" err="1"/>
              <a:t>태그값이</a:t>
            </a:r>
            <a:r>
              <a:rPr dirty="0"/>
              <a:t> </a:t>
            </a:r>
            <a:r>
              <a:rPr dirty="0" err="1"/>
              <a:t>남아있는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경우</a:t>
            </a:r>
            <a:r>
              <a:rPr dirty="0"/>
              <a:t>(</a:t>
            </a:r>
            <a:r>
              <a:rPr dirty="0" err="1"/>
              <a:t>Siemens는</a:t>
            </a:r>
            <a:r>
              <a:rPr dirty="0"/>
              <a:t> 'XYZ_EC', </a:t>
            </a:r>
            <a:r>
              <a:rPr dirty="0" err="1"/>
              <a:t>Philips는</a:t>
            </a:r>
            <a:r>
              <a:rPr dirty="0"/>
              <a:t> '3D MODULATION', </a:t>
            </a:r>
            <a:r>
              <a:rPr dirty="0" err="1"/>
              <a:t>Canon은</a:t>
            </a:r>
            <a:r>
              <a:rPr dirty="0"/>
              <a:t> '3D'로 </a:t>
            </a:r>
            <a:r>
              <a:rPr dirty="0" err="1"/>
              <a:t>표기</a:t>
            </a:r>
            <a:r>
              <a:rPr dirty="0"/>
              <a:t>)는 </a:t>
            </a:r>
            <a:r>
              <a:rPr dirty="0" err="1"/>
              <a:t>전부</a:t>
            </a:r>
            <a:r>
              <a:rPr dirty="0"/>
              <a:t> Combined(</a:t>
            </a:r>
            <a:r>
              <a:rPr dirty="0" err="1"/>
              <a:t>각도+z축</a:t>
            </a:r>
            <a:r>
              <a:rPr dirty="0"/>
              <a:t> </a:t>
            </a:r>
            <a:r>
              <a:rPr dirty="0" err="1"/>
              <a:t>동시</a:t>
            </a:r>
            <a:r>
              <a:rPr dirty="0"/>
              <a:t>) </a:t>
            </a:r>
            <a:r>
              <a:rPr dirty="0" err="1"/>
              <a:t>변조를</a:t>
            </a:r>
            <a:r>
              <a:rPr dirty="0"/>
              <a:t> </a:t>
            </a:r>
            <a:r>
              <a:rPr dirty="0" err="1"/>
              <a:t>뜻했고</a:t>
            </a:r>
            <a:r>
              <a:rPr dirty="0"/>
              <a:t>, </a:t>
            </a:r>
            <a:r>
              <a:rPr dirty="0" err="1"/>
              <a:t>z축만</a:t>
            </a:r>
            <a:r>
              <a:rPr dirty="0"/>
              <a:t> </a:t>
            </a:r>
            <a:r>
              <a:rPr dirty="0" err="1"/>
              <a:t>쓰는</a:t>
            </a:r>
            <a:r>
              <a:rPr dirty="0"/>
              <a:t> </a:t>
            </a:r>
            <a:r>
              <a:rPr dirty="0" err="1"/>
              <a:t>방식은</a:t>
            </a:r>
            <a:r>
              <a:rPr dirty="0"/>
              <a:t> 단 한 </a:t>
            </a:r>
            <a:r>
              <a:rPr dirty="0" err="1"/>
              <a:t>건도</a:t>
            </a:r>
            <a:r>
              <a:rPr dirty="0"/>
              <a:t> </a:t>
            </a:r>
            <a:r>
              <a:rPr dirty="0" err="1"/>
              <a:t>발견되지</a:t>
            </a:r>
            <a:r>
              <a:rPr dirty="0"/>
              <a:t> </a:t>
            </a:r>
            <a:r>
              <a:rPr dirty="0" err="1"/>
              <a:t>않았습니다</a:t>
            </a:r>
            <a:r>
              <a:rPr dirty="0"/>
              <a:t>. </a:t>
            </a:r>
            <a:r>
              <a:rPr dirty="0" err="1"/>
              <a:t>다만</a:t>
            </a:r>
            <a:r>
              <a:rPr dirty="0"/>
              <a:t> GE </a:t>
            </a:r>
            <a:r>
              <a:rPr dirty="0" err="1"/>
              <a:t>장비</a:t>
            </a:r>
            <a:r>
              <a:rPr dirty="0"/>
              <a:t>(</a:t>
            </a:r>
            <a:r>
              <a:rPr dirty="0" err="1"/>
              <a:t>전체의</a:t>
            </a:r>
            <a:r>
              <a:rPr dirty="0"/>
              <a:t> 26.8%, 537명)는 이 </a:t>
            </a:r>
            <a:r>
              <a:rPr dirty="0" err="1"/>
              <a:t>표준</a:t>
            </a:r>
            <a:r>
              <a:rPr dirty="0"/>
              <a:t> </a:t>
            </a:r>
            <a:r>
              <a:rPr dirty="0" err="1"/>
              <a:t>태그</a:t>
            </a:r>
            <a:r>
              <a:rPr dirty="0"/>
              <a:t> </a:t>
            </a:r>
            <a:r>
              <a:rPr dirty="0" err="1"/>
              <a:t>자체를</a:t>
            </a:r>
            <a:r>
              <a:rPr dirty="0"/>
              <a:t> </a:t>
            </a:r>
            <a:r>
              <a:rPr dirty="0" err="1"/>
              <a:t>기록하지</a:t>
            </a:r>
            <a:r>
              <a:rPr dirty="0"/>
              <a:t> </a:t>
            </a:r>
            <a:r>
              <a:rPr dirty="0" err="1"/>
              <a:t>않아서</a:t>
            </a:r>
            <a:r>
              <a:rPr dirty="0"/>
              <a:t> </a:t>
            </a:r>
            <a:r>
              <a:rPr dirty="0" err="1"/>
              <a:t>헤더만으로는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방식인지</a:t>
            </a:r>
            <a:r>
              <a:rPr dirty="0"/>
              <a:t> </a:t>
            </a:r>
            <a:r>
              <a:rPr dirty="0" err="1"/>
              <a:t>확인할</a:t>
            </a:r>
            <a:r>
              <a:rPr dirty="0"/>
              <a:t> 수 </a:t>
            </a:r>
            <a:r>
              <a:rPr dirty="0" err="1"/>
              <a:t>없었습니다</a:t>
            </a:r>
            <a:r>
              <a:rPr dirty="0"/>
              <a:t> — </a:t>
            </a:r>
            <a:r>
              <a:rPr dirty="0" err="1"/>
              <a:t>다만</a:t>
            </a:r>
            <a:r>
              <a:rPr dirty="0"/>
              <a:t> </a:t>
            </a:r>
            <a:r>
              <a:rPr dirty="0" err="1"/>
              <a:t>이는</a:t>
            </a:r>
            <a:r>
              <a:rPr dirty="0"/>
              <a:t> AEC-128 </a:t>
            </a:r>
            <a:r>
              <a:rPr dirty="0" err="1"/>
              <a:t>곡선</a:t>
            </a:r>
            <a:r>
              <a:rPr dirty="0"/>
              <a:t>(</a:t>
            </a:r>
            <a:r>
              <a:rPr dirty="0" err="1"/>
              <a:t>XRayTubeCurrent</a:t>
            </a:r>
            <a:r>
              <a:rPr dirty="0"/>
              <a:t> 값) </a:t>
            </a:r>
            <a:r>
              <a:rPr dirty="0" err="1"/>
              <a:t>자체와는</a:t>
            </a:r>
            <a:r>
              <a:rPr dirty="0"/>
              <a:t> </a:t>
            </a:r>
            <a:r>
              <a:rPr dirty="0" err="1"/>
              <a:t>무관한</a:t>
            </a:r>
            <a:r>
              <a:rPr dirty="0"/>
              <a:t> </a:t>
            </a:r>
            <a:r>
              <a:rPr dirty="0" err="1"/>
              <a:t>별개의</a:t>
            </a:r>
            <a:r>
              <a:rPr dirty="0"/>
              <a:t> </a:t>
            </a:r>
            <a:r>
              <a:rPr dirty="0" err="1"/>
              <a:t>태그이므로</a:t>
            </a:r>
            <a:r>
              <a:rPr dirty="0"/>
              <a:t>, GE </a:t>
            </a:r>
            <a:r>
              <a:rPr dirty="0" err="1"/>
              <a:t>환자들의</a:t>
            </a:r>
            <a:r>
              <a:rPr dirty="0"/>
              <a:t> AEC </a:t>
            </a:r>
            <a:r>
              <a:rPr dirty="0" err="1"/>
              <a:t>곡선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자체는</a:t>
            </a:r>
            <a:r>
              <a:rPr dirty="0"/>
              <a:t> </a:t>
            </a:r>
            <a:r>
              <a:rPr dirty="0" err="1"/>
              <a:t>문제</a:t>
            </a:r>
            <a:r>
              <a:rPr dirty="0"/>
              <a:t> </a:t>
            </a:r>
            <a:r>
              <a:rPr dirty="0" err="1"/>
              <a:t>없이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 </a:t>
            </a:r>
            <a:r>
              <a:rPr dirty="0" err="1"/>
              <a:t>가능합니다</a:t>
            </a:r>
            <a:r>
              <a:rPr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9A467-16DF-CDA9-9E37-DEAF157BE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07347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지금까지 앞 슬라이드에서는 mA를 '어느 방향으로' 조절하는지(각도/세로축/결합)를 봤는데, 이번 슬라이드는 '얼마로' 조절할지를 정하는 기준 자체가 제조사마다 다르다는 내용입니다. 이건 미국 의학물리학회(AAPM)가 낸 Report 96에서 세 가지로 분류해 정리한 내용입니다.</a:t>
            </a:r>
          </a:p>
          <a:p>
            <a:r>
              <a:t>첫째는 GE와 캐논(구 도시바)이 쓰는 방식으로, 사용자가 '이 정도 노이즈까지는 허용한다'는 목표 노이즈 수준(GE는 이를 Noise Index라고 부릅니다)을 지정하면, 기계가 그 노이즈 수준을 만들어내는 데 필요한 mA를 거꾸로 계산합니다. 둘째는 지멘스(Siemens)가 쓰는 CARE Dose4D 방식으로, '평균 체구 환자라면 이 정도 mAs를 쓴다'는 기준값(reference mAs)을 미리 정해두고, 실제 환자의 단면 크기를 스카웃 영상으로 추정해서 그 기준값에 비례해 올리거나 내립니다. 셋째는 필립스(Philips)가 쓰는 DoseRight 방식으로, '예전에 화질이 딱 적당했던 특정 영상'을 기준 영상으로 삼아두고, 지금 환자의 영상이 그 기준 영상과 비슷한 노이즈가 되도록 mA를 맞춥니다.</a:t>
            </a:r>
          </a:p>
          <a:p>
            <a:r>
              <a:t>중요한 건, 이 세 방식이 실제로 mA를 계산할 때 쓰는 정확한 수학 공식(계수나 지수 값)은 각 회사의 특허·영업비밀이라 학술 논문에도 원리 설명까지만 나오고 정확한 식은 공개된 적이 없다는 점입니다(AAPM Report 96, McCollough 2006 RadioGraphics, Söderberg &amp; Gunnarsson 2010 Acta Radiologica 등에서 확인).</a:t>
            </a:r>
          </a:p>
          <a:p>
            <a:r>
              <a:t>이게 우리 연구에 왜 중요하냐면, 지난 슬라이드에서 확인한 것처럼 Siemens는 XYZ_EC, Philips는 3D MODULATION처럼 '3축을 다 쓴다'는 점은 같아도, 그 mA를 정하는 기준 자체가 서로 다른 패러다임이기 때문에, 여러 제조사 장비가 섞여 있는 우리 코호트에서 AEC-128의 절대적인 mA 수치를 기종 간에 그대로 직접 비교하는 것은 완전히 동등하지 않을 수 있다는 뜻입니다. 이 점은 논문의 한계(Limitation)로 언급할 만한 부분입니다.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CT로</a:t>
            </a:r>
            <a:r>
              <a:rPr dirty="0"/>
              <a:t> </a:t>
            </a:r>
            <a:r>
              <a:rPr dirty="0" err="1"/>
              <a:t>찍을</a:t>
            </a:r>
            <a:r>
              <a:rPr dirty="0"/>
              <a:t> 때 </a:t>
            </a:r>
            <a:r>
              <a:rPr dirty="0" err="1"/>
              <a:t>화질을</a:t>
            </a:r>
            <a:r>
              <a:rPr dirty="0"/>
              <a:t> </a:t>
            </a:r>
            <a:r>
              <a:rPr dirty="0" err="1"/>
              <a:t>일정하게</a:t>
            </a:r>
            <a:r>
              <a:rPr dirty="0"/>
              <a:t> </a:t>
            </a:r>
            <a:r>
              <a:rPr dirty="0" err="1"/>
              <a:t>유지하려고</a:t>
            </a:r>
            <a:r>
              <a:rPr dirty="0"/>
              <a:t> </a:t>
            </a:r>
            <a:r>
              <a:rPr dirty="0" err="1"/>
              <a:t>조절할</a:t>
            </a:r>
            <a:r>
              <a:rPr dirty="0"/>
              <a:t> 수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값은</a:t>
            </a:r>
            <a:r>
              <a:rPr dirty="0"/>
              <a:t> </a:t>
            </a:r>
            <a:r>
              <a:rPr dirty="0" err="1"/>
              <a:t>사실</a:t>
            </a:r>
            <a:r>
              <a:rPr dirty="0"/>
              <a:t> mA(</a:t>
            </a:r>
            <a:r>
              <a:rPr dirty="0" err="1"/>
              <a:t>관전류</a:t>
            </a:r>
            <a:r>
              <a:rPr dirty="0"/>
              <a:t>) </a:t>
            </a:r>
            <a:r>
              <a:rPr dirty="0" err="1"/>
              <a:t>말고도</a:t>
            </a:r>
            <a:r>
              <a:rPr dirty="0"/>
              <a:t> </a:t>
            </a:r>
            <a:r>
              <a:rPr dirty="0" err="1"/>
              <a:t>kVp</a:t>
            </a:r>
            <a:r>
              <a:rPr dirty="0"/>
              <a:t>(</a:t>
            </a:r>
            <a:r>
              <a:rPr dirty="0" err="1"/>
              <a:t>관전압</a:t>
            </a:r>
            <a:r>
              <a:rPr dirty="0"/>
              <a:t>)나 </a:t>
            </a:r>
            <a:r>
              <a:rPr dirty="0" err="1"/>
              <a:t>노출시간</a:t>
            </a:r>
            <a:r>
              <a:rPr dirty="0"/>
              <a:t>(</a:t>
            </a:r>
            <a:r>
              <a:rPr dirty="0" err="1"/>
              <a:t>회전시간</a:t>
            </a:r>
            <a:r>
              <a:rPr dirty="0"/>
              <a:t>)도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그런데</a:t>
            </a:r>
            <a:r>
              <a:rPr dirty="0"/>
              <a:t> 왜 </a:t>
            </a:r>
            <a:r>
              <a:rPr dirty="0" err="1"/>
              <a:t>하필</a:t>
            </a:r>
            <a:r>
              <a:rPr dirty="0"/>
              <a:t> </a:t>
            </a:r>
            <a:r>
              <a:rPr dirty="0" err="1"/>
              <a:t>mA를</a:t>
            </a:r>
            <a:r>
              <a:rPr dirty="0"/>
              <a:t> </a:t>
            </a:r>
            <a:r>
              <a:rPr dirty="0" err="1"/>
              <a:t>바꾸는</a:t>
            </a:r>
            <a:r>
              <a:rPr dirty="0"/>
              <a:t> </a:t>
            </a:r>
            <a:r>
              <a:rPr dirty="0" err="1"/>
              <a:t>방식</a:t>
            </a:r>
            <a:r>
              <a:rPr dirty="0"/>
              <a:t>(AEC)이 </a:t>
            </a:r>
            <a:r>
              <a:rPr dirty="0" err="1"/>
              <a:t>표준으로</a:t>
            </a:r>
            <a:r>
              <a:rPr dirty="0"/>
              <a:t> </a:t>
            </a:r>
            <a:r>
              <a:rPr dirty="0" err="1"/>
              <a:t>쓰일까요</a:t>
            </a:r>
            <a:r>
              <a:rPr dirty="0"/>
              <a:t>?</a:t>
            </a:r>
          </a:p>
          <a:p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kVp를</a:t>
            </a:r>
            <a:r>
              <a:rPr dirty="0"/>
              <a:t> </a:t>
            </a:r>
            <a:r>
              <a:rPr dirty="0" err="1"/>
              <a:t>바꾸면</a:t>
            </a:r>
            <a:r>
              <a:rPr dirty="0"/>
              <a:t> </a:t>
            </a:r>
            <a:r>
              <a:rPr dirty="0" err="1"/>
              <a:t>X선의</a:t>
            </a:r>
            <a:r>
              <a:rPr dirty="0"/>
              <a:t>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자체</a:t>
            </a:r>
            <a:r>
              <a:rPr dirty="0"/>
              <a:t>, 즉 '</a:t>
            </a:r>
            <a:r>
              <a:rPr dirty="0" err="1"/>
              <a:t>빔의</a:t>
            </a:r>
            <a:r>
              <a:rPr dirty="0"/>
              <a:t> </a:t>
            </a:r>
            <a:r>
              <a:rPr dirty="0" err="1"/>
              <a:t>성질'이</a:t>
            </a:r>
            <a:r>
              <a:rPr dirty="0"/>
              <a:t> </a:t>
            </a:r>
            <a:r>
              <a:rPr dirty="0" err="1"/>
              <a:t>바뀝니다</a:t>
            </a:r>
            <a:r>
              <a:rPr dirty="0"/>
              <a:t>. </a:t>
            </a:r>
            <a:r>
              <a:rPr dirty="0" err="1"/>
              <a:t>에너지가</a:t>
            </a:r>
            <a:r>
              <a:rPr dirty="0"/>
              <a:t> </a:t>
            </a:r>
            <a:r>
              <a:rPr dirty="0" err="1"/>
              <a:t>바뀌면</a:t>
            </a:r>
            <a:r>
              <a:rPr dirty="0"/>
              <a:t> </a:t>
            </a:r>
            <a:r>
              <a:rPr dirty="0" err="1"/>
              <a:t>조영제가</a:t>
            </a:r>
            <a:r>
              <a:rPr dirty="0"/>
              <a:t> </a:t>
            </a:r>
            <a:r>
              <a:rPr dirty="0" err="1"/>
              <a:t>보이는</a:t>
            </a:r>
            <a:r>
              <a:rPr dirty="0"/>
              <a:t> </a:t>
            </a:r>
            <a:r>
              <a:rPr dirty="0" err="1"/>
              <a:t>정도</a:t>
            </a:r>
            <a:r>
              <a:rPr dirty="0"/>
              <a:t>, </a:t>
            </a:r>
            <a:r>
              <a:rPr dirty="0" err="1"/>
              <a:t>장기</a:t>
            </a:r>
            <a:r>
              <a:rPr dirty="0"/>
              <a:t> </a:t>
            </a:r>
            <a:r>
              <a:rPr dirty="0" err="1"/>
              <a:t>사이의</a:t>
            </a:r>
            <a:r>
              <a:rPr dirty="0"/>
              <a:t> </a:t>
            </a:r>
            <a:r>
              <a:rPr dirty="0" err="1"/>
              <a:t>대조도</a:t>
            </a:r>
            <a:r>
              <a:rPr dirty="0"/>
              <a:t>, </a:t>
            </a:r>
            <a:r>
              <a:rPr dirty="0" err="1"/>
              <a:t>금속·뼈</a:t>
            </a:r>
            <a:r>
              <a:rPr dirty="0"/>
              <a:t> </a:t>
            </a:r>
            <a:r>
              <a:rPr dirty="0" err="1"/>
              <a:t>주변에</a:t>
            </a:r>
            <a:r>
              <a:rPr dirty="0"/>
              <a:t> </a:t>
            </a:r>
            <a:r>
              <a:rPr dirty="0" err="1"/>
              <a:t>생기는</a:t>
            </a:r>
            <a:r>
              <a:rPr dirty="0"/>
              <a:t> </a:t>
            </a:r>
            <a:r>
              <a:rPr dirty="0" err="1"/>
              <a:t>빔경화</a:t>
            </a:r>
            <a:r>
              <a:rPr dirty="0"/>
              <a:t>(beam hardening) </a:t>
            </a:r>
            <a:r>
              <a:rPr dirty="0" err="1"/>
              <a:t>아티팩트까지</a:t>
            </a:r>
            <a:r>
              <a:rPr dirty="0"/>
              <a:t> </a:t>
            </a:r>
            <a:r>
              <a:rPr dirty="0" err="1"/>
              <a:t>전부</a:t>
            </a:r>
            <a:r>
              <a:rPr dirty="0"/>
              <a:t> </a:t>
            </a:r>
            <a:r>
              <a:rPr dirty="0" err="1"/>
              <a:t>달라집니다</a:t>
            </a:r>
            <a:r>
              <a:rPr dirty="0"/>
              <a:t>. </a:t>
            </a:r>
            <a:r>
              <a:rPr dirty="0" err="1"/>
              <a:t>그러면</a:t>
            </a:r>
            <a:r>
              <a:rPr dirty="0"/>
              <a:t> </a:t>
            </a:r>
            <a:r>
              <a:rPr dirty="0" err="1"/>
              <a:t>환자마다</a:t>
            </a:r>
            <a:r>
              <a:rPr dirty="0"/>
              <a:t> </a:t>
            </a:r>
            <a:r>
              <a:rPr dirty="0" err="1"/>
              <a:t>kVp가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영상은</a:t>
            </a:r>
            <a:r>
              <a:rPr dirty="0"/>
              <a:t> </a:t>
            </a:r>
            <a:r>
              <a:rPr dirty="0" err="1"/>
              <a:t>서로</a:t>
            </a:r>
            <a:r>
              <a:rPr dirty="0"/>
              <a:t> </a:t>
            </a:r>
            <a:r>
              <a:rPr dirty="0" err="1"/>
              <a:t>밝기·대조도</a:t>
            </a:r>
            <a:r>
              <a:rPr dirty="0"/>
              <a:t> </a:t>
            </a:r>
            <a:r>
              <a:rPr dirty="0" err="1"/>
              <a:t>기준이</a:t>
            </a:r>
            <a:r>
              <a:rPr dirty="0"/>
              <a:t> </a:t>
            </a:r>
            <a:r>
              <a:rPr dirty="0" err="1"/>
              <a:t>달라져서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기준으로</a:t>
            </a:r>
            <a:r>
              <a:rPr dirty="0"/>
              <a:t> </a:t>
            </a:r>
            <a:r>
              <a:rPr dirty="0" err="1"/>
              <a:t>비교하거나</a:t>
            </a:r>
            <a:r>
              <a:rPr dirty="0"/>
              <a:t> </a:t>
            </a:r>
            <a:r>
              <a:rPr dirty="0" err="1"/>
              <a:t>판독하기가</a:t>
            </a:r>
            <a:r>
              <a:rPr dirty="0"/>
              <a:t> </a:t>
            </a:r>
            <a:r>
              <a:rPr dirty="0" err="1"/>
              <a:t>어려워지고</a:t>
            </a:r>
            <a:r>
              <a:rPr dirty="0"/>
              <a:t>, </a:t>
            </a:r>
            <a:r>
              <a:rPr dirty="0" err="1"/>
              <a:t>조영제</a:t>
            </a:r>
            <a:r>
              <a:rPr dirty="0"/>
              <a:t> </a:t>
            </a:r>
            <a:r>
              <a:rPr dirty="0" err="1"/>
              <a:t>스캔</a:t>
            </a:r>
            <a:r>
              <a:rPr dirty="0"/>
              <a:t> </a:t>
            </a:r>
            <a:r>
              <a:rPr dirty="0" err="1"/>
              <a:t>타이밍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프로토콜도</a:t>
            </a:r>
            <a:r>
              <a:rPr dirty="0"/>
              <a:t> </a:t>
            </a:r>
            <a:r>
              <a:rPr dirty="0" err="1"/>
              <a:t>매번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맞춰야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</a:t>
            </a:r>
          </a:p>
          <a:p>
            <a:r>
              <a:rPr dirty="0" err="1"/>
              <a:t>노출시간</a:t>
            </a:r>
            <a:r>
              <a:rPr dirty="0"/>
              <a:t>(</a:t>
            </a:r>
            <a:r>
              <a:rPr dirty="0" err="1"/>
              <a:t>정확히는</a:t>
            </a:r>
            <a:r>
              <a:rPr dirty="0"/>
              <a:t> </a:t>
            </a:r>
            <a:r>
              <a:rPr dirty="0" err="1"/>
              <a:t>갠트리</a:t>
            </a:r>
            <a:r>
              <a:rPr dirty="0"/>
              <a:t> </a:t>
            </a:r>
            <a:r>
              <a:rPr dirty="0" err="1"/>
              <a:t>회전시간</a:t>
            </a:r>
            <a:r>
              <a:rPr dirty="0"/>
              <a:t>)을 </a:t>
            </a:r>
            <a:r>
              <a:rPr dirty="0" err="1"/>
              <a:t>바꾸는</a:t>
            </a:r>
            <a:r>
              <a:rPr dirty="0"/>
              <a:t> </a:t>
            </a:r>
            <a:r>
              <a:rPr dirty="0" err="1"/>
              <a:t>방법도</a:t>
            </a:r>
            <a:r>
              <a:rPr dirty="0"/>
              <a:t> </a:t>
            </a:r>
            <a:r>
              <a:rPr dirty="0" err="1"/>
              <a:t>있지만</a:t>
            </a:r>
            <a:r>
              <a:rPr dirty="0"/>
              <a:t>, </a:t>
            </a:r>
            <a:r>
              <a:rPr dirty="0" err="1"/>
              <a:t>회전을</a:t>
            </a:r>
            <a:r>
              <a:rPr dirty="0"/>
              <a:t> </a:t>
            </a:r>
            <a:r>
              <a:rPr dirty="0" err="1"/>
              <a:t>느리게</a:t>
            </a:r>
            <a:r>
              <a:rPr dirty="0"/>
              <a:t> </a:t>
            </a:r>
            <a:r>
              <a:rPr dirty="0" err="1"/>
              <a:t>하면</a:t>
            </a:r>
            <a:r>
              <a:rPr dirty="0"/>
              <a:t> </a:t>
            </a:r>
            <a:r>
              <a:rPr dirty="0" err="1"/>
              <a:t>그만큼</a:t>
            </a:r>
            <a:r>
              <a:rPr dirty="0"/>
              <a:t> </a:t>
            </a:r>
            <a:r>
              <a:rPr dirty="0" err="1"/>
              <a:t>촬영</a:t>
            </a:r>
            <a:r>
              <a:rPr dirty="0"/>
              <a:t> </a:t>
            </a:r>
            <a:r>
              <a:rPr dirty="0" err="1"/>
              <a:t>시간이</a:t>
            </a:r>
            <a:r>
              <a:rPr dirty="0"/>
              <a:t> </a:t>
            </a:r>
            <a:r>
              <a:rPr dirty="0" err="1"/>
              <a:t>길어져서</a:t>
            </a:r>
            <a:r>
              <a:rPr dirty="0"/>
              <a:t> </a:t>
            </a:r>
            <a:r>
              <a:rPr dirty="0" err="1"/>
              <a:t>환자가</a:t>
            </a:r>
            <a:r>
              <a:rPr dirty="0"/>
              <a:t> </a:t>
            </a:r>
            <a:r>
              <a:rPr dirty="0" err="1"/>
              <a:t>숨을</a:t>
            </a:r>
            <a:r>
              <a:rPr dirty="0"/>
              <a:t> </a:t>
            </a:r>
            <a:r>
              <a:rPr dirty="0" err="1"/>
              <a:t>참는</a:t>
            </a:r>
            <a:r>
              <a:rPr dirty="0"/>
              <a:t> </a:t>
            </a:r>
            <a:r>
              <a:rPr dirty="0" err="1"/>
              <a:t>동안에도</a:t>
            </a:r>
            <a:r>
              <a:rPr dirty="0"/>
              <a:t> </a:t>
            </a:r>
            <a:r>
              <a:rPr dirty="0" err="1"/>
              <a:t>미세한</a:t>
            </a:r>
            <a:r>
              <a:rPr dirty="0"/>
              <a:t> </a:t>
            </a:r>
            <a:r>
              <a:rPr dirty="0" err="1"/>
              <a:t>움직임이나</a:t>
            </a:r>
            <a:r>
              <a:rPr dirty="0"/>
              <a:t> </a:t>
            </a:r>
            <a:r>
              <a:rPr dirty="0" err="1"/>
              <a:t>장운동에</a:t>
            </a:r>
            <a:r>
              <a:rPr dirty="0"/>
              <a:t> </a:t>
            </a:r>
            <a:r>
              <a:rPr dirty="0" err="1"/>
              <a:t>의한</a:t>
            </a:r>
            <a:r>
              <a:rPr dirty="0"/>
              <a:t> </a:t>
            </a:r>
            <a:r>
              <a:rPr dirty="0" err="1"/>
              <a:t>흐림이</a:t>
            </a:r>
            <a:r>
              <a:rPr dirty="0"/>
              <a:t> </a:t>
            </a:r>
            <a:r>
              <a:rPr dirty="0" err="1"/>
              <a:t>생기기</a:t>
            </a:r>
            <a:r>
              <a:rPr dirty="0"/>
              <a:t> </a:t>
            </a:r>
            <a:r>
              <a:rPr dirty="0" err="1"/>
              <a:t>쉽고</a:t>
            </a:r>
            <a:r>
              <a:rPr dirty="0"/>
              <a:t>, </a:t>
            </a:r>
            <a:r>
              <a:rPr dirty="0" err="1"/>
              <a:t>장비마다</a:t>
            </a:r>
            <a:r>
              <a:rPr dirty="0"/>
              <a:t> </a:t>
            </a:r>
            <a:r>
              <a:rPr dirty="0" err="1"/>
              <a:t>회전</a:t>
            </a:r>
            <a:r>
              <a:rPr dirty="0"/>
              <a:t> </a:t>
            </a:r>
            <a:r>
              <a:rPr dirty="0" err="1"/>
              <a:t>속도에는</a:t>
            </a:r>
            <a:r>
              <a:rPr dirty="0"/>
              <a:t> </a:t>
            </a:r>
            <a:r>
              <a:rPr dirty="0" err="1"/>
              <a:t>기계적으로</a:t>
            </a:r>
            <a:r>
              <a:rPr dirty="0"/>
              <a:t> </a:t>
            </a:r>
            <a:r>
              <a:rPr dirty="0" err="1"/>
              <a:t>정해진</a:t>
            </a:r>
            <a:r>
              <a:rPr dirty="0"/>
              <a:t> </a:t>
            </a:r>
            <a:r>
              <a:rPr dirty="0" err="1"/>
              <a:t>한계가</a:t>
            </a:r>
            <a:r>
              <a:rPr dirty="0"/>
              <a:t> </a:t>
            </a:r>
            <a:r>
              <a:rPr dirty="0" err="1"/>
              <a:t>있어</a:t>
            </a:r>
            <a:r>
              <a:rPr dirty="0"/>
              <a:t> </a:t>
            </a:r>
            <a:r>
              <a:rPr dirty="0" err="1"/>
              <a:t>마음대로</a:t>
            </a:r>
            <a:r>
              <a:rPr dirty="0"/>
              <a:t> </a:t>
            </a:r>
            <a:r>
              <a:rPr dirty="0" err="1"/>
              <a:t>늘리거나</a:t>
            </a:r>
            <a:r>
              <a:rPr dirty="0"/>
              <a:t> </a:t>
            </a:r>
            <a:r>
              <a:rPr dirty="0" err="1"/>
              <a:t>줄이기도</a:t>
            </a:r>
            <a:r>
              <a:rPr dirty="0"/>
              <a:t> </a:t>
            </a:r>
            <a:r>
              <a:rPr dirty="0" err="1"/>
              <a:t>어렵습니다</a:t>
            </a:r>
            <a:r>
              <a:rPr dirty="0"/>
              <a:t>.</a:t>
            </a:r>
          </a:p>
          <a:p>
            <a:r>
              <a:rPr dirty="0" err="1"/>
              <a:t>반면</a:t>
            </a:r>
            <a:r>
              <a:rPr dirty="0"/>
              <a:t> mA(</a:t>
            </a:r>
            <a:r>
              <a:rPr dirty="0" err="1"/>
              <a:t>관전류</a:t>
            </a:r>
            <a:r>
              <a:rPr dirty="0"/>
              <a:t>)는 </a:t>
            </a:r>
            <a:r>
              <a:rPr dirty="0" err="1"/>
              <a:t>X선의</a:t>
            </a:r>
            <a:r>
              <a:rPr dirty="0"/>
              <a:t> </a:t>
            </a:r>
            <a:r>
              <a:rPr dirty="0" err="1"/>
              <a:t>에너지</a:t>
            </a:r>
            <a:r>
              <a:rPr dirty="0"/>
              <a:t>(</a:t>
            </a:r>
            <a:r>
              <a:rPr dirty="0" err="1"/>
              <a:t>빔의</a:t>
            </a:r>
            <a:r>
              <a:rPr dirty="0"/>
              <a:t> 질)나 </a:t>
            </a:r>
            <a:r>
              <a:rPr dirty="0" err="1"/>
              <a:t>촬영</a:t>
            </a:r>
            <a:r>
              <a:rPr dirty="0"/>
              <a:t> </a:t>
            </a:r>
            <a:r>
              <a:rPr dirty="0" err="1"/>
              <a:t>속도는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둔 </a:t>
            </a:r>
            <a:r>
              <a:rPr dirty="0" err="1"/>
              <a:t>채로</a:t>
            </a:r>
            <a:r>
              <a:rPr dirty="0"/>
              <a:t>, </a:t>
            </a:r>
            <a:r>
              <a:rPr dirty="0" err="1"/>
              <a:t>그냥</a:t>
            </a:r>
            <a:r>
              <a:rPr dirty="0"/>
              <a:t> '</a:t>
            </a:r>
            <a:r>
              <a:rPr dirty="0" err="1"/>
              <a:t>X선을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많이</a:t>
            </a:r>
            <a:r>
              <a:rPr dirty="0"/>
              <a:t> </a:t>
            </a:r>
            <a:r>
              <a:rPr dirty="0" err="1"/>
              <a:t>쏠지'만</a:t>
            </a:r>
            <a:r>
              <a:rPr dirty="0"/>
              <a:t> </a:t>
            </a:r>
            <a:r>
              <a:rPr dirty="0" err="1"/>
              <a:t>조절하는</a:t>
            </a:r>
            <a:r>
              <a:rPr dirty="0"/>
              <a:t> </a:t>
            </a:r>
            <a:r>
              <a:rPr dirty="0" err="1"/>
              <a:t>값입니다</a:t>
            </a:r>
            <a:r>
              <a:rPr dirty="0"/>
              <a:t>. </a:t>
            </a:r>
            <a:r>
              <a:rPr dirty="0" err="1"/>
              <a:t>mA를</a:t>
            </a:r>
            <a:r>
              <a:rPr dirty="0"/>
              <a:t> 두 </a:t>
            </a:r>
            <a:r>
              <a:rPr dirty="0" err="1"/>
              <a:t>배로</a:t>
            </a:r>
            <a:r>
              <a:rPr dirty="0"/>
              <a:t> </a:t>
            </a:r>
            <a:r>
              <a:rPr dirty="0" err="1"/>
              <a:t>올리면</a:t>
            </a:r>
            <a:r>
              <a:rPr dirty="0"/>
              <a:t> </a:t>
            </a:r>
            <a:r>
              <a:rPr dirty="0" err="1"/>
              <a:t>대략</a:t>
            </a:r>
            <a:r>
              <a:rPr dirty="0"/>
              <a:t> </a:t>
            </a:r>
            <a:r>
              <a:rPr dirty="0" err="1"/>
              <a:t>선량도</a:t>
            </a:r>
            <a:r>
              <a:rPr dirty="0"/>
              <a:t> 두 </a:t>
            </a:r>
            <a:r>
              <a:rPr dirty="0" err="1"/>
              <a:t>배가</a:t>
            </a:r>
            <a:r>
              <a:rPr dirty="0"/>
              <a:t> </a:t>
            </a:r>
            <a:r>
              <a:rPr dirty="0" err="1"/>
              <a:t>되는</a:t>
            </a:r>
            <a:r>
              <a:rPr dirty="0"/>
              <a:t> </a:t>
            </a:r>
            <a:r>
              <a:rPr dirty="0" err="1"/>
              <a:t>식으로</a:t>
            </a:r>
            <a:r>
              <a:rPr dirty="0"/>
              <a:t>,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특성을</a:t>
            </a:r>
            <a:r>
              <a:rPr dirty="0"/>
              <a:t> </a:t>
            </a:r>
            <a:r>
              <a:rPr dirty="0" err="1"/>
              <a:t>건드리지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노이즈</a:t>
            </a:r>
            <a:r>
              <a:rPr dirty="0"/>
              <a:t>(</a:t>
            </a:r>
            <a:r>
              <a:rPr dirty="0" err="1"/>
              <a:t>화질</a:t>
            </a:r>
            <a:r>
              <a:rPr dirty="0"/>
              <a:t>)만 </a:t>
            </a:r>
            <a:r>
              <a:rPr dirty="0" err="1"/>
              <a:t>선형적으로</a:t>
            </a:r>
            <a:r>
              <a:rPr dirty="0"/>
              <a:t> </a:t>
            </a:r>
            <a:r>
              <a:rPr dirty="0" err="1"/>
              <a:t>조절할</a:t>
            </a:r>
            <a:r>
              <a:rPr dirty="0"/>
              <a:t> 수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셈이죠</a:t>
            </a:r>
            <a:r>
              <a:rPr dirty="0"/>
              <a:t>. </a:t>
            </a:r>
            <a:r>
              <a:rPr dirty="0" err="1"/>
              <a:t>그래서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제조사</a:t>
            </a:r>
            <a:r>
              <a:rPr dirty="0"/>
              <a:t>(GE Auto mA, Siemens CARE Dose, Philips Z-DOM, Toshiba </a:t>
            </a:r>
            <a:r>
              <a:rPr dirty="0" err="1"/>
              <a:t>SureExposure</a:t>
            </a:r>
            <a:r>
              <a:rPr dirty="0"/>
              <a:t> 등)의 AEC </a:t>
            </a:r>
            <a:r>
              <a:rPr dirty="0" err="1"/>
              <a:t>기능은</a:t>
            </a:r>
            <a:r>
              <a:rPr dirty="0"/>
              <a:t> </a:t>
            </a:r>
            <a:r>
              <a:rPr dirty="0" err="1"/>
              <a:t>전부</a:t>
            </a:r>
            <a:r>
              <a:rPr dirty="0"/>
              <a:t> </a:t>
            </a:r>
            <a:r>
              <a:rPr dirty="0" err="1"/>
              <a:t>kVp나</a:t>
            </a:r>
            <a:r>
              <a:rPr dirty="0"/>
              <a:t> </a:t>
            </a:r>
            <a:r>
              <a:rPr dirty="0" err="1"/>
              <a:t>시간이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mA를</a:t>
            </a:r>
            <a:r>
              <a:rPr dirty="0"/>
              <a:t> </a:t>
            </a:r>
            <a:r>
              <a:rPr dirty="0" err="1"/>
              <a:t>바꾸는</a:t>
            </a:r>
            <a:r>
              <a:rPr dirty="0"/>
              <a:t> </a:t>
            </a:r>
            <a:r>
              <a:rPr dirty="0" err="1"/>
              <a:t>방식을</a:t>
            </a:r>
            <a:r>
              <a:rPr dirty="0"/>
              <a:t> </a:t>
            </a:r>
            <a:r>
              <a:rPr dirty="0" err="1"/>
              <a:t>씁니다</a:t>
            </a:r>
            <a:r>
              <a:rPr dirty="0"/>
              <a:t>.</a:t>
            </a:r>
          </a:p>
          <a:p>
            <a:r>
              <a:rPr dirty="0"/>
              <a:t>이 </a:t>
            </a:r>
            <a:r>
              <a:rPr dirty="0" err="1"/>
              <a:t>점은</a:t>
            </a:r>
            <a:r>
              <a:rPr dirty="0"/>
              <a:t> 이 </a:t>
            </a:r>
            <a:r>
              <a:rPr dirty="0" err="1"/>
              <a:t>연구에서도</a:t>
            </a:r>
            <a:r>
              <a:rPr dirty="0"/>
              <a:t> </a:t>
            </a:r>
            <a:r>
              <a:rPr dirty="0" err="1"/>
              <a:t>중요합니다</a:t>
            </a:r>
            <a:r>
              <a:rPr dirty="0"/>
              <a:t>. </a:t>
            </a:r>
            <a:r>
              <a:rPr dirty="0" err="1"/>
              <a:t>포함</a:t>
            </a:r>
            <a:r>
              <a:rPr dirty="0"/>
              <a:t> </a:t>
            </a:r>
            <a:r>
              <a:rPr dirty="0" err="1"/>
              <a:t>기준상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환자가</a:t>
            </a:r>
            <a:r>
              <a:rPr dirty="0"/>
              <a:t> 100 </a:t>
            </a:r>
            <a:r>
              <a:rPr dirty="0" err="1"/>
              <a:t>kVp로</a:t>
            </a:r>
            <a:r>
              <a:rPr dirty="0"/>
              <a:t> </a:t>
            </a:r>
            <a:r>
              <a:rPr dirty="0" err="1"/>
              <a:t>고정</a:t>
            </a:r>
            <a:r>
              <a:rPr dirty="0"/>
              <a:t> </a:t>
            </a:r>
            <a:r>
              <a:rPr dirty="0" err="1"/>
              <a:t>촬영되었기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, </a:t>
            </a:r>
            <a:r>
              <a:rPr dirty="0" err="1"/>
              <a:t>환자</a:t>
            </a:r>
            <a:r>
              <a:rPr dirty="0"/>
              <a:t> </a:t>
            </a:r>
            <a:r>
              <a:rPr dirty="0" err="1"/>
              <a:t>사이에</a:t>
            </a:r>
            <a:r>
              <a:rPr dirty="0"/>
              <a:t>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달라지는</a:t>
            </a:r>
            <a:r>
              <a:rPr dirty="0"/>
              <a:t> </a:t>
            </a:r>
            <a:r>
              <a:rPr dirty="0" err="1"/>
              <a:t>촬영</a:t>
            </a:r>
            <a:r>
              <a:rPr dirty="0"/>
              <a:t> </a:t>
            </a:r>
            <a:r>
              <a:rPr dirty="0" err="1"/>
              <a:t>변수는</a:t>
            </a:r>
            <a:r>
              <a:rPr dirty="0"/>
              <a:t> </a:t>
            </a:r>
            <a:r>
              <a:rPr dirty="0" err="1"/>
              <a:t>사실상</a:t>
            </a:r>
            <a:r>
              <a:rPr dirty="0"/>
              <a:t> mA </a:t>
            </a:r>
            <a:r>
              <a:rPr dirty="0" err="1"/>
              <a:t>하나뿐입니다</a:t>
            </a:r>
            <a:r>
              <a:rPr dirty="0"/>
              <a:t>. 즉 AEC </a:t>
            </a:r>
            <a:r>
              <a:rPr dirty="0" err="1"/>
              <a:t>곡선의</a:t>
            </a:r>
            <a:r>
              <a:rPr dirty="0"/>
              <a:t> </a:t>
            </a:r>
            <a:r>
              <a:rPr dirty="0" err="1"/>
              <a:t>모양</a:t>
            </a:r>
            <a:r>
              <a:rPr dirty="0"/>
              <a:t> </a:t>
            </a:r>
            <a:r>
              <a:rPr dirty="0" err="1"/>
              <a:t>차이는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촬영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섞이지</a:t>
            </a:r>
            <a:r>
              <a:rPr dirty="0"/>
              <a:t> </a:t>
            </a:r>
            <a:r>
              <a:rPr dirty="0" err="1"/>
              <a:t>않은</a:t>
            </a:r>
            <a:r>
              <a:rPr dirty="0"/>
              <a:t>, </a:t>
            </a:r>
            <a:r>
              <a:rPr dirty="0" err="1"/>
              <a:t>순수하게</a:t>
            </a:r>
            <a:r>
              <a:rPr dirty="0"/>
              <a:t> </a:t>
            </a:r>
            <a:r>
              <a:rPr dirty="0" err="1"/>
              <a:t>체형</a:t>
            </a:r>
            <a:r>
              <a:rPr dirty="0"/>
              <a:t>(</a:t>
            </a:r>
            <a:r>
              <a:rPr dirty="0" err="1"/>
              <a:t>몸의</a:t>
            </a:r>
            <a:r>
              <a:rPr dirty="0"/>
              <a:t> </a:t>
            </a:r>
            <a:r>
              <a:rPr dirty="0" err="1"/>
              <a:t>두께·조성</a:t>
            </a:r>
            <a:r>
              <a:rPr dirty="0"/>
              <a:t>) </a:t>
            </a:r>
            <a:r>
              <a:rPr dirty="0" err="1"/>
              <a:t>차이만</a:t>
            </a:r>
            <a:r>
              <a:rPr dirty="0"/>
              <a:t> </a:t>
            </a:r>
            <a:r>
              <a:rPr dirty="0" err="1"/>
              <a:t>반영한</a:t>
            </a:r>
            <a:r>
              <a:rPr dirty="0"/>
              <a:t> </a:t>
            </a:r>
            <a:r>
              <a:rPr dirty="0" err="1"/>
              <a:t>신호라고</a:t>
            </a:r>
            <a:r>
              <a:rPr dirty="0"/>
              <a:t> 볼 수 </a:t>
            </a:r>
            <a:r>
              <a:rPr dirty="0" err="1"/>
              <a:t>있습니다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4E0C6-E009-84BD-B7DD-432EE1EB3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EAD00-26D2-245F-2EC9-6BE8EC4110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6B45F-A338-D4D9-6B48-BD5117F4A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AEC-128 곡선은 128개의 숫자로 이루어져 있는데, 이 숫자들은 서로 완전히 독립적이지 않습니다. 바로 옆 지점끼리는 값이 비슷하게 움직이는 경향이 강해서(마치 날씨가 오늘과 내일이 비슷하듯), 이 128개를 그대로 128개의 독립된 변수처럼 통계 모델에 집어넣으면 변수끼리 서로 겹치는 정보가 너무 많아지고(다중공선성), 실제로는 의미 없는 우연한 잡음까지 모델이 학습해버리는 과적합 문제가 생기기 쉽습니다.</a:t>
            </a:r>
            <a:endParaRPr dirty="0"/>
          </a:p>
          <a:p>
            <a:r>
              <a:t>FPCA(함수주성분분석)는 이 문제를 '곡선의 핵심 패턴만 추려서 요약'하는 방식으로 해결합니다. 여러 환자의 곡선을 모아 놓고 보면, 사실 그 다양한 모양들이 무한히 제각각인 게 아니라 몇 가지 대표적인 '변형 패턴'의 조합으로 대부분 설명이 됩니다. FPCA는 바로 이 대표 패턴들(성분, PC)을 찾아내고, 각 환자의 곡선이 그 패턴을 얼마나 강하게 가지고 있는지를 숫자(성분점수) 하나로 표현합니다.</a:t>
            </a:r>
          </a:p>
          <a:p>
            <a:r>
              <a:t>그 결과 환자 한 명당 128개였던 숫자가 PC1, PC2, PC3라는 단 3개의 숫자로 압축되고, 이 3개만으로도 원래 곡선이 가진 정보(변동)의 97.4%를 유지할 수 있습니다. 이 97.4%라는 수치가 어떻게 계산되는지, 그리고 실제 데이터에서 이 성분들이 어떤 모양으로 나오는지는 다음 슬라이드들에서 순서대로 보여드립니다.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47019-F509-400D-68CB-B5203D499A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24207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계산 과정을 아주 쉬운 말로 순서대로 설명하면 이렇습니다.</a:t>
            </a:r>
          </a:p>
          <a:p>
            <a:r>
              <a:t>1단계, 먼저 내부 코호트에 있는 모든 환자의 곡선을 다 더해서 평균을 냅니다. 그러면 '평균적으로 이런 모양이다'라는 평균곡선 하나가 나옵니다.</a:t>
            </a:r>
          </a:p>
          <a:p>
            <a:r>
              <a:t>2단계, 각 환자의 원래 곡선에서 방금 구한 평균곡선을 빼줍니다. 그러면 남는 건 '이 환자가 평균과 비교해서 어디가 더 튀어나오고 어디가 더 들어갔는지'를 나타내는, 그 환자만의 고유한 편차 부분입니다.</a:t>
            </a:r>
          </a:p>
          <a:p>
            <a:r>
              <a:t>3단계가 핵심인데, 이렇게 구한 모든 환자의 '튀는 부분'들을 서로 비교해서, 여러 환자들 사이에서 공통적으로 함께 나타나는 튀는 패턴이 무엇인지를 찾아냅니다. 이걸 수학적으로는 128×128 공분산행렬을 고유분해(eigen-decomposition)한다고 표현하는데, 쉽게 말하면 '가장 많은 환자들에게서 가장 크게 나타나는 패턴 1등(PC1), 그다음으로 크게 나타나는 패턴 2등(PC2), 3등(PC3)...' 순서로 패턴을 뽑아내는 작업입니다. 이때 각 패턴이 전체 변동 중 몇 %를 차지하는지도 함께 계산되는데, 이 %가 바로 우리가 본 84.3%, 10.5%, 2.6% 같은 숫자입니다.</a:t>
            </a:r>
          </a:p>
          <a:p>
            <a:r>
              <a:t>4단계, 이제 각 환자의 튀는 부분이 방금 찾은 패턴들과 얼마나 닮았는지를 계산합니다(수학적으로는 내적/투영이라고 부릅니다). 많이 닮았으면 큰 점수, 반대 모양이면 음수, 별로 안 닮았으면 0에 가까운 점수가 나옵니다. 이렇게 나온 숫자 3개(PC1, PC2, PC3 점수)가 원래 128개의 숫자를 대신하게 됩니다.</a:t>
            </a:r>
          </a:p>
          <a:p>
            <a:r>
              <a:t>마지막으로, 이 패턴(φ_k) 자체는 내부 코호트로만 찾아내고 고정합니다. 외부 코호트(신촌) 환자의 곡선은 이 패턴을 다시 새로 찾지 않고, 이미 고정된 패턴에 그대로 투영만 해서 점수를 계산합니다. 이렇게 해야 두 코호트의 점수가 같은 기준으로 비교 가능해집니다.</a:t>
            </a:r>
          </a:p>
          <a:p>
            <a:r>
              <a:t>참고로 실제 구현(scikit-learn의 PCA)은 공분산행렬을 직접 고유분해하는 대신 특이값분해(SVD)라는 수학적으로 동등하지만 더 안정적인 방식으로 같은 결과를 계산합니다.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이 </a:t>
            </a:r>
            <a:r>
              <a:rPr dirty="0" err="1"/>
              <a:t>그림은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환자</a:t>
            </a:r>
            <a:r>
              <a:rPr dirty="0"/>
              <a:t> 1명(</a:t>
            </a:r>
            <a:r>
              <a:rPr dirty="0" err="1"/>
              <a:t>개인식별정보는</a:t>
            </a:r>
            <a:r>
              <a:rPr dirty="0"/>
              <a:t> </a:t>
            </a:r>
            <a:r>
              <a:rPr dirty="0" err="1"/>
              <a:t>제거하고</a:t>
            </a:r>
            <a:r>
              <a:rPr dirty="0"/>
              <a:t> </a:t>
            </a:r>
            <a:r>
              <a:rPr dirty="0" err="1"/>
              <a:t>익명</a:t>
            </a:r>
            <a:r>
              <a:rPr dirty="0"/>
              <a:t> </a:t>
            </a:r>
            <a:r>
              <a:rPr dirty="0" err="1"/>
              <a:t>사례로</a:t>
            </a:r>
            <a:r>
              <a:rPr dirty="0"/>
              <a:t> </a:t>
            </a:r>
            <a:r>
              <a:rPr dirty="0" err="1"/>
              <a:t>표시</a:t>
            </a:r>
            <a:r>
              <a:rPr dirty="0"/>
              <a:t>)의 AEC-128 </a:t>
            </a:r>
            <a:r>
              <a:rPr dirty="0" err="1"/>
              <a:t>곡선이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'</a:t>
            </a:r>
            <a:r>
              <a:rPr dirty="0" err="1"/>
              <a:t>평균곡선</a:t>
            </a:r>
            <a:r>
              <a:rPr dirty="0"/>
              <a:t> + </a:t>
            </a:r>
            <a:r>
              <a:rPr dirty="0" err="1"/>
              <a:t>성분</a:t>
            </a:r>
            <a:r>
              <a:rPr dirty="0"/>
              <a:t>(PC) 3개'로 </a:t>
            </a:r>
            <a:r>
              <a:rPr dirty="0" err="1"/>
              <a:t>정확하게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만들어지는지를</a:t>
            </a:r>
            <a:r>
              <a:rPr dirty="0"/>
              <a:t> </a:t>
            </a:r>
            <a:r>
              <a:rPr dirty="0" err="1"/>
              <a:t>보여줍니다</a:t>
            </a:r>
            <a:r>
              <a:rPr dirty="0"/>
              <a:t>. 이 </a:t>
            </a:r>
            <a:r>
              <a:rPr dirty="0" err="1"/>
              <a:t>환자는</a:t>
            </a:r>
            <a:r>
              <a:rPr dirty="0"/>
              <a:t> 세 </a:t>
            </a:r>
            <a:r>
              <a:rPr dirty="0" err="1"/>
              <a:t>성분</a:t>
            </a:r>
            <a:r>
              <a:rPr dirty="0"/>
              <a:t>(PC1, PC2, PC3) </a:t>
            </a:r>
            <a:r>
              <a:rPr dirty="0" err="1"/>
              <a:t>점수가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뚜렷하게</a:t>
            </a:r>
            <a:r>
              <a:rPr dirty="0"/>
              <a:t> </a:t>
            </a:r>
            <a:r>
              <a:rPr dirty="0" err="1"/>
              <a:t>크면서도</a:t>
            </a:r>
            <a:r>
              <a:rPr dirty="0"/>
              <a:t> </a:t>
            </a:r>
            <a:r>
              <a:rPr dirty="0" err="1"/>
              <a:t>재구성</a:t>
            </a:r>
            <a:r>
              <a:rPr dirty="0"/>
              <a:t> </a:t>
            </a:r>
            <a:r>
              <a:rPr dirty="0" err="1"/>
              <a:t>품질</a:t>
            </a:r>
            <a:r>
              <a:rPr dirty="0"/>
              <a:t>(R²)이 </a:t>
            </a:r>
            <a:r>
              <a:rPr dirty="0" err="1"/>
              <a:t>상위</a:t>
            </a:r>
            <a:r>
              <a:rPr dirty="0"/>
              <a:t> 25%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드는</a:t>
            </a:r>
            <a:r>
              <a:rPr dirty="0"/>
              <a:t> </a:t>
            </a:r>
            <a:r>
              <a:rPr dirty="0" err="1"/>
              <a:t>환자를</a:t>
            </a:r>
            <a:r>
              <a:rPr dirty="0"/>
              <a:t> </a:t>
            </a:r>
            <a:r>
              <a:rPr dirty="0" err="1"/>
              <a:t>골라</a:t>
            </a:r>
            <a:r>
              <a:rPr dirty="0"/>
              <a:t> 세 항 </a:t>
            </a:r>
            <a:r>
              <a:rPr dirty="0" err="1"/>
              <a:t>모두가</a:t>
            </a:r>
            <a:r>
              <a:rPr dirty="0"/>
              <a:t> </a:t>
            </a:r>
            <a:r>
              <a:rPr dirty="0" err="1"/>
              <a:t>눈에</a:t>
            </a:r>
            <a:r>
              <a:rPr dirty="0"/>
              <a:t> 잘 </a:t>
            </a:r>
            <a:r>
              <a:rPr dirty="0" err="1"/>
              <a:t>보이도록</a:t>
            </a:r>
            <a:r>
              <a:rPr dirty="0"/>
              <a:t> </a:t>
            </a:r>
            <a:r>
              <a:rPr dirty="0" err="1"/>
              <a:t>선택했습니다</a:t>
            </a:r>
            <a:r>
              <a:rPr dirty="0"/>
              <a:t> (</a:t>
            </a:r>
            <a:r>
              <a:rPr dirty="0" err="1"/>
              <a:t>극단적인</a:t>
            </a:r>
            <a:r>
              <a:rPr dirty="0"/>
              <a:t> </a:t>
            </a:r>
            <a:r>
              <a:rPr dirty="0" err="1"/>
              <a:t>이상치가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세 </a:t>
            </a:r>
            <a:r>
              <a:rPr dirty="0" err="1"/>
              <a:t>패턴이</a:t>
            </a:r>
            <a:r>
              <a:rPr dirty="0"/>
              <a:t> </a:t>
            </a:r>
            <a:r>
              <a:rPr dirty="0" err="1"/>
              <a:t>골고루</a:t>
            </a:r>
            <a:r>
              <a:rPr dirty="0"/>
              <a:t> </a:t>
            </a:r>
            <a:r>
              <a:rPr dirty="0" err="1"/>
              <a:t>섞여</a:t>
            </a:r>
            <a:r>
              <a:rPr dirty="0"/>
              <a:t> </a:t>
            </a:r>
            <a:r>
              <a:rPr dirty="0" err="1"/>
              <a:t>나타나는</a:t>
            </a:r>
            <a:r>
              <a:rPr dirty="0"/>
              <a:t> </a:t>
            </a:r>
            <a:r>
              <a:rPr dirty="0" err="1"/>
              <a:t>대표적인</a:t>
            </a:r>
            <a:r>
              <a:rPr dirty="0"/>
              <a:t> </a:t>
            </a:r>
            <a:r>
              <a:rPr dirty="0" err="1"/>
              <a:t>사례</a:t>
            </a:r>
            <a:r>
              <a:rPr dirty="0"/>
              <a:t>).</a:t>
            </a:r>
          </a:p>
          <a:p>
            <a:endParaRPr dirty="0"/>
          </a:p>
          <a:p>
            <a:r>
              <a:rPr dirty="0"/>
              <a:t>맨 </a:t>
            </a:r>
            <a:r>
              <a:rPr dirty="0" err="1"/>
              <a:t>왼쪽이</a:t>
            </a:r>
            <a:r>
              <a:rPr dirty="0"/>
              <a:t> 이 </a:t>
            </a:r>
            <a:r>
              <a:rPr dirty="0" err="1"/>
              <a:t>환자의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곡선</a:t>
            </a:r>
            <a:r>
              <a:rPr dirty="0"/>
              <a:t>(128개 값)</a:t>
            </a:r>
            <a:r>
              <a:rPr dirty="0" err="1"/>
              <a:t>입니다</a:t>
            </a:r>
            <a:r>
              <a:rPr dirty="0"/>
              <a:t>. </a:t>
            </a:r>
            <a:r>
              <a:rPr dirty="0" err="1"/>
              <a:t>이것이</a:t>
            </a:r>
            <a:r>
              <a:rPr dirty="0"/>
              <a:t> '</a:t>
            </a:r>
            <a:r>
              <a:rPr dirty="0" err="1"/>
              <a:t>평균곡선'과</a:t>
            </a:r>
            <a:r>
              <a:rPr dirty="0"/>
              <a:t> '</a:t>
            </a:r>
            <a:r>
              <a:rPr dirty="0" err="1"/>
              <a:t>성분×점수</a:t>
            </a:r>
            <a:r>
              <a:rPr dirty="0"/>
              <a:t>' 세 </a:t>
            </a:r>
            <a:r>
              <a:rPr dirty="0" err="1"/>
              <a:t>개를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더한</a:t>
            </a:r>
            <a:r>
              <a:rPr dirty="0"/>
              <a:t> </a:t>
            </a:r>
            <a:r>
              <a:rPr dirty="0" err="1"/>
              <a:t>것과</a:t>
            </a:r>
            <a:r>
              <a:rPr dirty="0"/>
              <a:t> </a:t>
            </a:r>
            <a:r>
              <a:rPr dirty="0" err="1"/>
              <a:t>같다</a:t>
            </a:r>
            <a:r>
              <a:rPr dirty="0"/>
              <a:t>(=)는 걸 </a:t>
            </a:r>
            <a:r>
              <a:rPr dirty="0" err="1"/>
              <a:t>보여주는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이 </a:t>
            </a:r>
            <a:r>
              <a:rPr dirty="0" err="1"/>
              <a:t>그림의</a:t>
            </a:r>
            <a:r>
              <a:rPr dirty="0"/>
              <a:t> </a:t>
            </a:r>
            <a:r>
              <a:rPr dirty="0" err="1"/>
              <a:t>핵심입니다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두 </a:t>
            </a:r>
            <a:r>
              <a:rPr dirty="0" err="1"/>
              <a:t>번째</a:t>
            </a:r>
            <a:r>
              <a:rPr dirty="0"/>
              <a:t> </a:t>
            </a:r>
            <a:r>
              <a:rPr dirty="0" err="1"/>
              <a:t>칸은</a:t>
            </a:r>
            <a:r>
              <a:rPr dirty="0"/>
              <a:t> </a:t>
            </a:r>
            <a:r>
              <a:rPr dirty="0" err="1"/>
              <a:t>평균곡선</a:t>
            </a:r>
            <a:r>
              <a:rPr dirty="0"/>
              <a:t>(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코호트</a:t>
            </a:r>
            <a:r>
              <a:rPr dirty="0"/>
              <a:t> </a:t>
            </a:r>
            <a:r>
              <a:rPr dirty="0" err="1"/>
              <a:t>전체의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모양</a:t>
            </a:r>
            <a:r>
              <a:rPr dirty="0"/>
              <a:t>)</a:t>
            </a:r>
            <a:r>
              <a:rPr dirty="0" err="1"/>
              <a:t>입니다</a:t>
            </a:r>
            <a:r>
              <a:rPr dirty="0"/>
              <a:t>. </a:t>
            </a:r>
            <a:r>
              <a:rPr dirty="0" err="1"/>
              <a:t>여기에</a:t>
            </a:r>
            <a:r>
              <a:rPr dirty="0"/>
              <a:t> </a:t>
            </a:r>
            <a:r>
              <a:rPr dirty="0" err="1"/>
              <a:t>오른쪽</a:t>
            </a:r>
            <a:r>
              <a:rPr dirty="0"/>
              <a:t> 세 </a:t>
            </a:r>
            <a:r>
              <a:rPr dirty="0" err="1"/>
              <a:t>칸을</a:t>
            </a:r>
            <a:r>
              <a:rPr dirty="0"/>
              <a:t> </a:t>
            </a:r>
            <a:r>
              <a:rPr dirty="0" err="1"/>
              <a:t>순서대로</a:t>
            </a:r>
            <a:r>
              <a:rPr dirty="0"/>
              <a:t> </a:t>
            </a:r>
            <a:r>
              <a:rPr dirty="0" err="1"/>
              <a:t>더해가면</a:t>
            </a:r>
            <a:r>
              <a:rPr dirty="0"/>
              <a:t> </a:t>
            </a:r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곡선이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세 </a:t>
            </a:r>
            <a:r>
              <a:rPr dirty="0" err="1"/>
              <a:t>번째</a:t>
            </a:r>
            <a:r>
              <a:rPr dirty="0"/>
              <a:t> </a:t>
            </a:r>
            <a:r>
              <a:rPr dirty="0" err="1"/>
              <a:t>칸부터는</a:t>
            </a:r>
            <a:r>
              <a:rPr dirty="0"/>
              <a:t> 'PC </a:t>
            </a:r>
            <a:r>
              <a:rPr dirty="0" err="1"/>
              <a:t>점수</a:t>
            </a:r>
            <a:r>
              <a:rPr dirty="0"/>
              <a:t> × 그 </a:t>
            </a:r>
            <a:r>
              <a:rPr dirty="0" err="1"/>
              <a:t>PC의</a:t>
            </a:r>
            <a:r>
              <a:rPr dirty="0"/>
              <a:t> </a:t>
            </a:r>
            <a:r>
              <a:rPr dirty="0" err="1"/>
              <a:t>성분모양</a:t>
            </a:r>
            <a:r>
              <a:rPr dirty="0"/>
              <a:t>(Shape)'</a:t>
            </a:r>
            <a:r>
              <a:rPr dirty="0" err="1"/>
              <a:t>입니다</a:t>
            </a:r>
            <a:r>
              <a:rPr dirty="0"/>
              <a:t>. Shape </a:t>
            </a:r>
            <a:r>
              <a:rPr dirty="0" err="1"/>
              <a:t>자체는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환자에게</a:t>
            </a:r>
            <a:r>
              <a:rPr dirty="0"/>
              <a:t> </a:t>
            </a:r>
            <a:r>
              <a:rPr dirty="0" err="1"/>
              <a:t>공통인</a:t>
            </a:r>
            <a:r>
              <a:rPr dirty="0"/>
              <a:t> </a:t>
            </a:r>
            <a:r>
              <a:rPr dirty="0" err="1"/>
              <a:t>고정된</a:t>
            </a:r>
            <a:r>
              <a:rPr dirty="0"/>
              <a:t> </a:t>
            </a:r>
            <a:r>
              <a:rPr dirty="0" err="1"/>
              <a:t>패턴이고</a:t>
            </a:r>
            <a:r>
              <a:rPr dirty="0"/>
              <a:t>, </a:t>
            </a:r>
            <a:r>
              <a:rPr dirty="0" err="1"/>
              <a:t>환자마다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건 그 </a:t>
            </a:r>
            <a:r>
              <a:rPr dirty="0" err="1"/>
              <a:t>패턴을</a:t>
            </a:r>
            <a:r>
              <a:rPr dirty="0"/>
              <a:t>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강하게</a:t>
            </a:r>
            <a:r>
              <a:rPr dirty="0"/>
              <a:t>(</a:t>
            </a:r>
            <a:r>
              <a:rPr dirty="0" err="1"/>
              <a:t>점수</a:t>
            </a:r>
            <a:r>
              <a:rPr dirty="0"/>
              <a:t>) </a:t>
            </a:r>
            <a:r>
              <a:rPr dirty="0" err="1"/>
              <a:t>곱해서</a:t>
            </a:r>
            <a:r>
              <a:rPr dirty="0"/>
              <a:t> </a:t>
            </a:r>
            <a:r>
              <a:rPr dirty="0" err="1"/>
              <a:t>쓰느냐입니다</a:t>
            </a:r>
            <a:r>
              <a:rPr dirty="0"/>
              <a:t>. 이 </a:t>
            </a:r>
            <a:r>
              <a:rPr dirty="0" err="1"/>
              <a:t>환자는</a:t>
            </a:r>
            <a:r>
              <a:rPr dirty="0"/>
              <a:t> PC1 </a:t>
            </a:r>
            <a:r>
              <a:rPr dirty="0" err="1"/>
              <a:t>점수가</a:t>
            </a:r>
            <a:r>
              <a:rPr dirty="0"/>
              <a:t> +1,318로 </a:t>
            </a:r>
            <a:r>
              <a:rPr dirty="0" err="1"/>
              <a:t>커서</a:t>
            </a:r>
            <a:r>
              <a:rPr dirty="0"/>
              <a:t> </a:t>
            </a:r>
            <a:r>
              <a:rPr dirty="0" err="1"/>
              <a:t>평균보다</a:t>
            </a:r>
            <a:r>
              <a:rPr dirty="0"/>
              <a:t> </a:t>
            </a:r>
            <a:r>
              <a:rPr dirty="0" err="1"/>
              <a:t>전체적으로</a:t>
            </a:r>
            <a:r>
              <a:rPr dirty="0"/>
              <a:t> </a:t>
            </a:r>
            <a:r>
              <a:rPr dirty="0" err="1"/>
              <a:t>훨씬</a:t>
            </a:r>
            <a:r>
              <a:rPr dirty="0"/>
              <a:t>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관전류</a:t>
            </a:r>
            <a:r>
              <a:rPr dirty="0"/>
              <a:t> </a:t>
            </a:r>
            <a:r>
              <a:rPr dirty="0" err="1"/>
              <a:t>수준을</a:t>
            </a:r>
            <a:r>
              <a:rPr dirty="0"/>
              <a:t> </a:t>
            </a:r>
            <a:r>
              <a:rPr dirty="0" err="1"/>
              <a:t>갖고</a:t>
            </a:r>
            <a:r>
              <a:rPr dirty="0"/>
              <a:t>(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곡선을</a:t>
            </a:r>
            <a:r>
              <a:rPr dirty="0"/>
              <a:t> </a:t>
            </a:r>
            <a:r>
              <a:rPr dirty="0" err="1"/>
              <a:t>보면</a:t>
            </a:r>
            <a:r>
              <a:rPr dirty="0"/>
              <a:t> </a:t>
            </a:r>
            <a:r>
              <a:rPr dirty="0" err="1"/>
              <a:t>초반</a:t>
            </a:r>
            <a:r>
              <a:rPr dirty="0"/>
              <a:t> </a:t>
            </a:r>
            <a:r>
              <a:rPr dirty="0" err="1"/>
              <a:t>관전류가</a:t>
            </a:r>
            <a:r>
              <a:rPr dirty="0"/>
              <a:t> 600 </a:t>
            </a:r>
            <a:r>
              <a:rPr dirty="0" err="1"/>
              <a:t>부근까지</a:t>
            </a:r>
            <a:r>
              <a:rPr dirty="0"/>
              <a:t> </a:t>
            </a:r>
            <a:r>
              <a:rPr dirty="0" err="1"/>
              <a:t>올라감</a:t>
            </a:r>
            <a:r>
              <a:rPr dirty="0"/>
              <a:t>), PC2 </a:t>
            </a:r>
            <a:r>
              <a:rPr dirty="0" err="1"/>
              <a:t>점수도</a:t>
            </a:r>
            <a:r>
              <a:rPr dirty="0"/>
              <a:t> +1,175로 </a:t>
            </a:r>
            <a:r>
              <a:rPr dirty="0" err="1"/>
              <a:t>커서</a:t>
            </a:r>
            <a:r>
              <a:rPr dirty="0"/>
              <a:t> </a:t>
            </a:r>
            <a:r>
              <a:rPr dirty="0" err="1"/>
              <a:t>앞뒤</a:t>
            </a:r>
            <a:r>
              <a:rPr dirty="0"/>
              <a:t> </a:t>
            </a:r>
            <a:r>
              <a:rPr dirty="0" err="1"/>
              <a:t>대비가</a:t>
            </a:r>
            <a:r>
              <a:rPr dirty="0"/>
              <a:t> </a:t>
            </a:r>
            <a:r>
              <a:rPr dirty="0" err="1"/>
              <a:t>뚜렷하며</a:t>
            </a:r>
            <a:r>
              <a:rPr dirty="0"/>
              <a:t>, PC3 </a:t>
            </a:r>
            <a:r>
              <a:rPr dirty="0" err="1"/>
              <a:t>점수는</a:t>
            </a:r>
            <a:r>
              <a:rPr dirty="0"/>
              <a:t> -247로 </a:t>
            </a:r>
            <a:r>
              <a:rPr dirty="0" err="1"/>
              <a:t>상대적으로</a:t>
            </a:r>
            <a:r>
              <a:rPr dirty="0"/>
              <a:t> </a:t>
            </a:r>
            <a:r>
              <a:rPr dirty="0" err="1"/>
              <a:t>작지만</a:t>
            </a:r>
            <a:r>
              <a:rPr dirty="0"/>
              <a:t> </a:t>
            </a:r>
            <a:r>
              <a:rPr dirty="0" err="1"/>
              <a:t>중간</a:t>
            </a:r>
            <a:r>
              <a:rPr dirty="0"/>
              <a:t> </a:t>
            </a:r>
            <a:r>
              <a:rPr dirty="0" err="1"/>
              <a:t>구간의</a:t>
            </a:r>
            <a:r>
              <a:rPr dirty="0"/>
              <a:t> </a:t>
            </a:r>
            <a:r>
              <a:rPr dirty="0" err="1"/>
              <a:t>국소적인</a:t>
            </a:r>
            <a:r>
              <a:rPr dirty="0"/>
              <a:t> </a:t>
            </a:r>
            <a:r>
              <a:rPr dirty="0" err="1"/>
              <a:t>굴곡을</a:t>
            </a:r>
            <a:r>
              <a:rPr dirty="0"/>
              <a:t> </a:t>
            </a:r>
            <a:r>
              <a:rPr dirty="0" err="1"/>
              <a:t>미세</a:t>
            </a:r>
            <a:r>
              <a:rPr dirty="0"/>
              <a:t> </a:t>
            </a:r>
            <a:r>
              <a:rPr dirty="0" err="1"/>
              <a:t>조정합니다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이 세 </a:t>
            </a:r>
            <a:r>
              <a:rPr dirty="0" err="1"/>
              <a:t>항을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더하면</a:t>
            </a:r>
            <a:r>
              <a:rPr dirty="0"/>
              <a:t> </a:t>
            </a:r>
            <a:r>
              <a:rPr dirty="0" err="1"/>
              <a:t>원본과</a:t>
            </a:r>
            <a:r>
              <a:rPr dirty="0"/>
              <a:t> R²=0.992(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분산의</a:t>
            </a:r>
            <a:r>
              <a:rPr dirty="0"/>
              <a:t> 99.2%)</a:t>
            </a:r>
            <a:r>
              <a:rPr dirty="0" err="1"/>
              <a:t>만큼</a:t>
            </a:r>
            <a:r>
              <a:rPr dirty="0"/>
              <a:t> </a:t>
            </a:r>
            <a:r>
              <a:rPr dirty="0" err="1"/>
              <a:t>일치합니다</a:t>
            </a:r>
            <a:r>
              <a:rPr dirty="0"/>
              <a:t> — 3개의 </a:t>
            </a:r>
            <a:r>
              <a:rPr dirty="0" err="1"/>
              <a:t>숫자</a:t>
            </a:r>
            <a:r>
              <a:rPr dirty="0"/>
              <a:t>(PC1, PC2, PC3 </a:t>
            </a:r>
            <a:r>
              <a:rPr dirty="0" err="1"/>
              <a:t>점수</a:t>
            </a:r>
            <a:r>
              <a:rPr dirty="0"/>
              <a:t>)</a:t>
            </a:r>
            <a:r>
              <a:rPr dirty="0" err="1"/>
              <a:t>만으로</a:t>
            </a:r>
            <a:r>
              <a:rPr dirty="0"/>
              <a:t> 128개의 </a:t>
            </a:r>
            <a:r>
              <a:rPr dirty="0" err="1"/>
              <a:t>원래</a:t>
            </a:r>
            <a:r>
              <a:rPr dirty="0"/>
              <a:t> </a:t>
            </a:r>
            <a:r>
              <a:rPr dirty="0" err="1"/>
              <a:t>값을</a:t>
            </a:r>
            <a:r>
              <a:rPr dirty="0"/>
              <a:t> </a:t>
            </a:r>
            <a:r>
              <a:rPr dirty="0" err="1"/>
              <a:t>사실상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복원할</a:t>
            </a:r>
            <a:r>
              <a:rPr dirty="0"/>
              <a:t> 수 </a:t>
            </a:r>
            <a:r>
              <a:rPr dirty="0" err="1"/>
              <a:t>있다는</a:t>
            </a:r>
            <a:r>
              <a:rPr dirty="0"/>
              <a:t> 걸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환자</a:t>
            </a:r>
            <a:r>
              <a:rPr dirty="0"/>
              <a:t> </a:t>
            </a:r>
            <a:r>
              <a:rPr dirty="0" err="1"/>
              <a:t>데이터로</a:t>
            </a:r>
            <a:r>
              <a:rPr dirty="0"/>
              <a:t> </a:t>
            </a:r>
            <a:r>
              <a:rPr dirty="0" err="1"/>
              <a:t>확인한</a:t>
            </a:r>
            <a:r>
              <a:rPr dirty="0"/>
              <a:t> </a:t>
            </a:r>
            <a:r>
              <a:rPr dirty="0" err="1"/>
              <a:t>것입니다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관련</a:t>
            </a:r>
            <a:r>
              <a:rPr dirty="0"/>
              <a:t> </a:t>
            </a:r>
            <a:r>
              <a:rPr dirty="0" err="1"/>
              <a:t>자료</a:t>
            </a:r>
            <a:r>
              <a:rPr lang="en-US"/>
              <a:t>: </a:t>
            </a:r>
            <a:r>
              <a:t>https</a:t>
            </a:r>
            <a:r>
              <a:rPr dirty="0"/>
              <a:t>://claude.ai/code/artifact/0ef09b35-c770-4293-86ef-432523cb39d6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C8808-266C-9E3E-528C-8D04FB3C7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2FBC5-8566-5DEE-A16B-DDE96AFA49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0F9F1C-011C-ED42-AB20-5E246E1C52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컴포넌트 개수를 몇 개 쓸지 정할 때, 예측 성능(AUC 등)을 보고 정하면 그 성능 자체가 이미 선택 과정에 유리하게 최적화돼서 실제보다 좋아 보이는 착시가 생길 수 있습니다. 그래서 라벨(고혈압·당뇨·만성콩팥병 여부)은 전혀 보지 않고, AEC 곡선 자체가 몇 개의 패턴으로 얼마나 잘 요약되는지만으로 개수를 정하는 방법을 썼습니다. 패턴을 하나씩 늘릴 때마다 새로 설명되는 분산의 비율을 그래프로 그리면 처음엔 가파르게 떨어지다 어느 지점부터 완만해지는데, 이 '꺾이는 지점'을 elbow라고 부릅니다. 눈으로 봐서 대충 꺾이는 곳을 짚으면 사람마다 판단이 달라질 수 있어서, 그래프의 첫 점과 끝 점을 잇는 직선을 긋고 그 직선에서 가장 멀리 떨어진 점을 자동으로 찾는 방식(Kneedle 알고리즘)을 썼습니다.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986B5-859E-7A2A-9102-3E36756FD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764734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여기부터는 부록입니다. STEP0 회귀 결과를 체성분 7종별로 더 자세히 뜯어본 진단 자료입니다.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068" y="2062806"/>
            <a:ext cx="11387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AEC 및 FPCA 개념 설명</a:t>
            </a:r>
            <a:endParaRPr sz="2400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68" y="3139177"/>
            <a:ext cx="7139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/>
                </a:solidFill>
                <a:latin typeface="KoPub돋움체 Medium"/>
              </a:rPr>
              <a:t>2026. 0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9</a:t>
            </a:r>
            <a:r>
              <a:rPr sz="1600" dirty="0">
                <a:solidFill>
                  <a:schemeClr val="bg1"/>
                </a:solidFill>
                <a:latin typeface="KoPub돋움체 Medium"/>
              </a:rPr>
              <a:t>. </a:t>
            </a:r>
            <a:r>
              <a:rPr lang="en-US" sz="1600">
                <a:solidFill>
                  <a:schemeClr val="bg1"/>
                </a:solidFill>
                <a:latin typeface="KoPub돋움체 Medium"/>
              </a:rPr>
              <a:t>04</a:t>
            </a:r>
            <a:endParaRPr sz="1600" dirty="0">
              <a:solidFill>
                <a:schemeClr val="bg1"/>
              </a:solidFill>
              <a:latin typeface="KoPub돋움체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KoPub돋움체 Medium"/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KoPub돋움체 Medium"/>
              </a:rPr>
              <a:t>Department of, Medical Device Engineering &amp; Management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Gangnam Severance Hospital,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AEC </a:t>
            </a:r>
            <a:r>
              <a:rPr lang="ko-KR" altLang="en-US" dirty="0"/>
              <a:t>작동 원리</a:t>
            </a:r>
            <a:endParaRPr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FB6B5539-CC2D-F932-DAA3-12E2A40E7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1F1F1F"/>
                </a:solidFill>
              </a:rPr>
              <a:t>목표 </a:t>
            </a:r>
            <a:r>
              <a:rPr lang="en-US" altLang="ko-KR" b="1" dirty="0">
                <a:solidFill>
                  <a:srgbClr val="1F1F1F"/>
                </a:solidFill>
              </a:rPr>
              <a:t>— </a:t>
            </a:r>
            <a:r>
              <a:rPr lang="ko-KR" altLang="en-US" b="1" dirty="0">
                <a:solidFill>
                  <a:srgbClr val="1F1F1F"/>
                </a:solidFill>
              </a:rPr>
              <a:t>검사 전 구간 영상잡음</a:t>
            </a:r>
            <a:r>
              <a:rPr lang="en-US" altLang="ko-KR" b="1" dirty="0">
                <a:solidFill>
                  <a:srgbClr val="1F1F1F"/>
                </a:solidFill>
              </a:rPr>
              <a:t>(noise) </a:t>
            </a:r>
            <a:r>
              <a:rPr lang="ko-KR" altLang="en-US" b="1" dirty="0">
                <a:solidFill>
                  <a:srgbClr val="1F1F1F"/>
                </a:solidFill>
              </a:rPr>
              <a:t>일정 유지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FA019A3-0AB6-2C56-8302-ED956B7043E1}"/>
              </a:ext>
            </a:extLst>
          </p:cNvPr>
          <p:cNvGrpSpPr/>
          <p:nvPr/>
        </p:nvGrpSpPr>
        <p:grpSpPr>
          <a:xfrm>
            <a:off x="508000" y="3592177"/>
            <a:ext cx="11174400" cy="1897670"/>
            <a:chOff x="507600" y="2563692"/>
            <a:chExt cx="11174400" cy="1897670"/>
          </a:xfrm>
        </p:grpSpPr>
        <p:sp>
          <p:nvSpPr>
            <p:cNvPr id="4" name="Rounded Rectangle 3"/>
            <p:cNvSpPr/>
            <p:nvPr/>
          </p:nvSpPr>
          <p:spPr>
            <a:xfrm>
              <a:off x="507600" y="2563692"/>
              <a:ext cx="2304000" cy="1897670"/>
            </a:xfrm>
            <a:prstGeom prst="roundRect">
              <a:avLst/>
            </a:prstGeom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72000" tIns="36000" rIns="72000" bIns="36000" rtlCol="0" anchor="ctr"/>
            <a:lstStyle/>
            <a:p>
              <a:pPr algn="ctr"/>
              <a:r>
                <a:rPr sz="1600" b="1" dirty="0">
                  <a:solidFill>
                    <a:sysClr val="windowText" lastClr="000000"/>
                  </a:solidFill>
                </a:rPr>
                <a:t>① Scout </a:t>
              </a:r>
              <a:r>
                <a:rPr sz="1600" b="1" dirty="0" err="1">
                  <a:solidFill>
                    <a:sysClr val="windowText" lastClr="000000"/>
                  </a:solidFill>
                </a:rPr>
                <a:t>촬영</a:t>
              </a:r>
              <a:endParaRPr lang="en-US" sz="1600" b="1" dirty="0">
                <a:solidFill>
                  <a:sysClr val="windowText" lastClr="000000"/>
                </a:solidFill>
              </a:endParaRPr>
            </a:p>
            <a:p>
              <a:pPr algn="ctr"/>
              <a:endParaRPr sz="1600" b="1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sz="1200" b="0" dirty="0" err="1">
                  <a:solidFill>
                    <a:sysClr val="windowText" lastClr="000000"/>
                  </a:solidFill>
                </a:rPr>
                <a:t>저선량</a:t>
              </a:r>
              <a:r>
                <a:rPr sz="1200" b="0" dirty="0">
                  <a:solidFill>
                    <a:sysClr val="windowText" lastClr="000000"/>
                  </a:solidFill>
                </a:rPr>
                <a:t> </a:t>
              </a:r>
              <a:r>
                <a:rPr sz="1200" b="0" dirty="0" err="1">
                  <a:solidFill>
                    <a:sysClr val="windowText" lastClr="000000"/>
                  </a:solidFill>
                </a:rPr>
                <a:t>예비영상</a:t>
              </a:r>
              <a:r>
                <a:rPr sz="1200" b="0" dirty="0">
                  <a:solidFill>
                    <a:sysClr val="windowText" lastClr="000000"/>
                  </a:solidFill>
                </a:rPr>
                <a:t> ·</a:t>
              </a:r>
            </a:p>
            <a:p>
              <a:pPr algn="ctr"/>
              <a:r>
                <a:rPr sz="1200" b="0" dirty="0" err="1">
                  <a:solidFill>
                    <a:sysClr val="windowText" lastClr="000000"/>
                  </a:solidFill>
                </a:rPr>
                <a:t>부위별</a:t>
              </a:r>
              <a:r>
                <a:rPr sz="1200" b="0" dirty="0">
                  <a:solidFill>
                    <a:sysClr val="windowText" lastClr="000000"/>
                  </a:solidFill>
                </a:rPr>
                <a:t> </a:t>
              </a:r>
              <a:r>
                <a:rPr sz="1200" b="0" dirty="0" err="1">
                  <a:solidFill>
                    <a:sysClr val="windowText" lastClr="000000"/>
                  </a:solidFill>
                </a:rPr>
                <a:t>감쇠</a:t>
              </a:r>
              <a:r>
                <a:rPr sz="1200" b="0" dirty="0">
                  <a:solidFill>
                    <a:sysClr val="windowText" lastClr="000000"/>
                  </a:solidFill>
                </a:rPr>
                <a:t> </a:t>
              </a:r>
              <a:r>
                <a:rPr sz="1200" b="0" dirty="0" err="1">
                  <a:solidFill>
                    <a:sysClr val="windowText" lastClr="000000"/>
                  </a:solidFill>
                </a:rPr>
                <a:t>추정</a:t>
              </a:r>
              <a:endParaRPr sz="1200" b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464400" y="2563692"/>
              <a:ext cx="2304000" cy="1897670"/>
            </a:xfrm>
            <a:prstGeom prst="roundRect">
              <a:avLst/>
            </a:prstGeom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72000" tIns="36000" rIns="72000" bIns="36000" rtlCol="0" anchor="ctr"/>
            <a:lstStyle/>
            <a:p>
              <a:pPr algn="ctr"/>
              <a:r>
                <a:rPr sz="1600" b="1" dirty="0">
                  <a:solidFill>
                    <a:sysClr val="windowText" lastClr="000000"/>
                  </a:solidFill>
                </a:rPr>
                <a:t>② mA </a:t>
              </a:r>
              <a:r>
                <a:rPr sz="1600" b="1" dirty="0" err="1">
                  <a:solidFill>
                    <a:sysClr val="windowText" lastClr="000000"/>
                  </a:solidFill>
                </a:rPr>
                <a:t>프로파일</a:t>
              </a:r>
              <a:r>
                <a:rPr sz="1600" b="1" dirty="0">
                  <a:solidFill>
                    <a:sysClr val="windowText" lastClr="000000"/>
                  </a:solidFill>
                </a:rPr>
                <a:t> </a:t>
              </a:r>
              <a:r>
                <a:rPr sz="1600" b="1" dirty="0" err="1">
                  <a:solidFill>
                    <a:sysClr val="windowText" lastClr="000000"/>
                  </a:solidFill>
                </a:rPr>
                <a:t>계산</a:t>
              </a:r>
              <a:endParaRPr lang="en-US" sz="1600" b="1" dirty="0">
                <a:solidFill>
                  <a:sysClr val="windowText" lastClr="000000"/>
                </a:solidFill>
              </a:endParaRPr>
            </a:p>
            <a:p>
              <a:pPr algn="ctr"/>
              <a:endParaRPr sz="1600" b="1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sz="1200" b="0" dirty="0" err="1">
                  <a:solidFill>
                    <a:sysClr val="windowText" lastClr="000000"/>
                  </a:solidFill>
                </a:rPr>
                <a:t>감쇠</a:t>
              </a:r>
              <a:r>
                <a:rPr sz="1200" b="0" dirty="0">
                  <a:solidFill>
                    <a:sysClr val="windowText" lastClr="000000"/>
                  </a:solidFill>
                </a:rPr>
                <a:t> + </a:t>
              </a:r>
              <a:r>
                <a:rPr sz="1200" b="0" dirty="0" err="1">
                  <a:solidFill>
                    <a:sysClr val="windowText" lastClr="000000"/>
                  </a:solidFill>
                </a:rPr>
                <a:t>목표화질</a:t>
              </a:r>
              <a:r>
                <a:rPr sz="1200" b="0" dirty="0">
                  <a:solidFill>
                    <a:sysClr val="windowText" lastClr="000000"/>
                  </a:solidFill>
                </a:rPr>
                <a:t> →</a:t>
              </a:r>
            </a:p>
            <a:p>
              <a:pPr algn="ctr"/>
              <a:r>
                <a:rPr sz="1200" b="0" dirty="0" err="1">
                  <a:solidFill>
                    <a:sysClr val="windowText" lastClr="000000"/>
                  </a:solidFill>
                </a:rPr>
                <a:t>z축별</a:t>
              </a:r>
              <a:r>
                <a:rPr sz="1200" b="0" dirty="0">
                  <a:solidFill>
                    <a:sysClr val="windowText" lastClr="000000"/>
                  </a:solidFill>
                </a:rPr>
                <a:t> mA </a:t>
              </a:r>
              <a:r>
                <a:rPr sz="1200" b="0" dirty="0" err="1">
                  <a:solidFill>
                    <a:sysClr val="windowText" lastClr="000000"/>
                  </a:solidFill>
                </a:rPr>
                <a:t>산출</a:t>
              </a:r>
              <a:endParaRPr sz="1200" b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21200" y="2563692"/>
              <a:ext cx="2304000" cy="1897670"/>
            </a:xfrm>
            <a:prstGeom prst="roundRect">
              <a:avLst/>
            </a:prstGeom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72000" tIns="36000" rIns="72000" bIns="36000" rtlCol="0" anchor="ctr"/>
            <a:lstStyle/>
            <a:p>
              <a:pPr algn="ctr"/>
              <a:r>
                <a:rPr sz="1600" b="1" dirty="0">
                  <a:solidFill>
                    <a:sysClr val="windowText" lastClr="000000"/>
                  </a:solidFill>
                </a:rPr>
                <a:t>③ </a:t>
              </a:r>
              <a:r>
                <a:rPr sz="1600" b="1" dirty="0" err="1">
                  <a:solidFill>
                    <a:sysClr val="windowText" lastClr="000000"/>
                  </a:solidFill>
                </a:rPr>
                <a:t>실시간</a:t>
              </a:r>
              <a:r>
                <a:rPr sz="1600" b="1" dirty="0">
                  <a:solidFill>
                    <a:sysClr val="windowText" lastClr="000000"/>
                  </a:solidFill>
                </a:rPr>
                <a:t> </a:t>
              </a:r>
              <a:r>
                <a:rPr sz="1600" b="1" dirty="0" err="1">
                  <a:solidFill>
                    <a:sysClr val="windowText" lastClr="000000"/>
                  </a:solidFill>
                </a:rPr>
                <a:t>변조</a:t>
              </a:r>
              <a:endParaRPr lang="en-US" sz="1600" b="1" dirty="0">
                <a:solidFill>
                  <a:sysClr val="windowText" lastClr="000000"/>
                </a:solidFill>
              </a:endParaRPr>
            </a:p>
            <a:p>
              <a:pPr algn="ctr"/>
              <a:endParaRPr sz="1600" b="1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ysClr val="windowText" lastClr="000000"/>
                  </a:solidFill>
                </a:rPr>
                <a:t>머리</a:t>
              </a:r>
              <a:r>
                <a:rPr sz="1200" b="0" dirty="0">
                  <a:solidFill>
                    <a:sysClr val="windowText" lastClr="000000"/>
                  </a:solidFill>
                </a:rPr>
                <a:t>→</a:t>
              </a:r>
              <a:r>
                <a:rPr lang="ko-KR" altLang="en-US" sz="1200" b="0" dirty="0">
                  <a:solidFill>
                    <a:sysClr val="windowText" lastClr="000000"/>
                  </a:solidFill>
                </a:rPr>
                <a:t>발</a:t>
              </a:r>
              <a:r>
                <a:rPr sz="1200" b="0" dirty="0">
                  <a:solidFill>
                    <a:sysClr val="windowText" lastClr="000000"/>
                  </a:solidFill>
                </a:rPr>
                <a:t> </a:t>
              </a:r>
              <a:r>
                <a:rPr sz="1200" b="0" dirty="0" err="1">
                  <a:solidFill>
                    <a:sysClr val="windowText" lastClr="000000"/>
                  </a:solidFill>
                </a:rPr>
                <a:t>이동하며</a:t>
              </a:r>
              <a:endParaRPr sz="1200" b="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sz="1200" b="0" dirty="0">
                  <a:solidFill>
                    <a:sysClr val="windowText" lastClr="000000"/>
                  </a:solidFill>
                </a:rPr>
                <a:t>mA </a:t>
              </a:r>
              <a:r>
                <a:rPr sz="1200" b="0" dirty="0" err="1">
                  <a:solidFill>
                    <a:sysClr val="windowText" lastClr="000000"/>
                  </a:solidFill>
                </a:rPr>
                <a:t>연속</a:t>
              </a:r>
              <a:r>
                <a:rPr sz="1200" b="0" dirty="0">
                  <a:solidFill>
                    <a:sysClr val="windowText" lastClr="000000"/>
                  </a:solidFill>
                </a:rPr>
                <a:t> </a:t>
              </a:r>
              <a:r>
                <a:rPr sz="1200" b="0" dirty="0" err="1">
                  <a:solidFill>
                    <a:sysClr val="windowText" lastClr="000000"/>
                  </a:solidFill>
                </a:rPr>
                <a:t>조정</a:t>
              </a:r>
              <a:endParaRPr sz="1200" b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378000" y="2563692"/>
              <a:ext cx="2304000" cy="1897670"/>
            </a:xfrm>
            <a:prstGeom prst="round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72000" tIns="36000" rIns="72000" bIns="36000" rtlCol="0" anchor="ctr"/>
            <a:lstStyle/>
            <a:p>
              <a:pPr algn="ctr"/>
              <a:r>
                <a:rPr sz="1600" b="1" dirty="0" err="1">
                  <a:solidFill>
                    <a:sysClr val="windowText" lastClr="000000"/>
                  </a:solidFill>
                </a:rPr>
                <a:t>결과물</a:t>
              </a:r>
              <a:r>
                <a:rPr sz="1600" b="1" dirty="0">
                  <a:solidFill>
                    <a:sysClr val="windowText" lastClr="000000"/>
                  </a:solidFill>
                </a:rPr>
                <a:t>: AEC-128</a:t>
              </a:r>
              <a:endParaRPr lang="en-US" sz="1600" b="1" dirty="0">
                <a:solidFill>
                  <a:sysClr val="windowText" lastClr="000000"/>
                </a:solidFill>
              </a:endParaRPr>
            </a:p>
            <a:p>
              <a:pPr algn="ctr"/>
              <a:endParaRPr sz="1600" b="1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sz="1200" b="0" dirty="0" err="1">
                  <a:solidFill>
                    <a:sysClr val="windowText" lastClr="000000"/>
                  </a:solidFill>
                </a:rPr>
                <a:t>mA의</a:t>
              </a:r>
              <a:r>
                <a:rPr sz="1200" b="0" dirty="0">
                  <a:solidFill>
                    <a:sysClr val="windowText" lastClr="000000"/>
                  </a:solidFill>
                </a:rPr>
                <a:t> </a:t>
              </a:r>
              <a:r>
                <a:rPr sz="1200" b="0" dirty="0" err="1">
                  <a:solidFill>
                    <a:sysClr val="windowText" lastClr="000000"/>
                  </a:solidFill>
                </a:rPr>
                <a:t>z축</a:t>
              </a:r>
              <a:r>
                <a:rPr sz="1200" b="0" dirty="0">
                  <a:solidFill>
                    <a:sysClr val="windowText" lastClr="000000"/>
                  </a:solidFill>
                </a:rPr>
                <a:t> </a:t>
              </a:r>
              <a:r>
                <a:rPr sz="1200" b="0" dirty="0" err="1">
                  <a:solidFill>
                    <a:sysClr val="windowText" lastClr="000000"/>
                  </a:solidFill>
                </a:rPr>
                <a:t>궤적</a:t>
              </a:r>
              <a:endParaRPr sz="1200" b="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sz="1200" b="0" dirty="0">
                  <a:solidFill>
                    <a:sysClr val="windowText" lastClr="000000"/>
                  </a:solidFill>
                </a:rPr>
                <a:t>(XYZ </a:t>
              </a:r>
              <a:r>
                <a:rPr sz="1200" b="0" dirty="0" err="1">
                  <a:solidFill>
                    <a:sysClr val="windowText" lastClr="000000"/>
                  </a:solidFill>
                </a:rPr>
                <a:t>결합변조</a:t>
              </a:r>
              <a:r>
                <a:rPr sz="1200" b="0" dirty="0">
                  <a:solidFill>
                    <a:sysClr val="windowText" lastClr="000000"/>
                  </a:solidFill>
                </a:rPr>
                <a:t> </a:t>
              </a:r>
              <a:r>
                <a:rPr sz="1200" b="0" dirty="0" err="1">
                  <a:solidFill>
                    <a:sysClr val="windowText" lastClr="000000"/>
                  </a:solidFill>
                </a:rPr>
                <a:t>반영값</a:t>
              </a:r>
              <a:r>
                <a:rPr sz="1200" b="0" dirty="0">
                  <a:solidFill>
                    <a:sysClr val="windowText" lastClr="000000"/>
                  </a:solidFill>
                </a:rPr>
                <a:t>)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2879755" y="3262977"/>
              <a:ext cx="515072" cy="499100"/>
            </a:xfrm>
            <a:prstGeom prst="rightArrow">
              <a:avLst/>
            </a:prstGeom>
            <a:solidFill>
              <a:srgbClr val="A5A5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9" name="Right Arrow 8"/>
            <p:cNvSpPr/>
            <p:nvPr/>
          </p:nvSpPr>
          <p:spPr>
            <a:xfrm>
              <a:off x="5836555" y="3262977"/>
              <a:ext cx="515072" cy="499100"/>
            </a:xfrm>
            <a:prstGeom prst="rightArrow">
              <a:avLst/>
            </a:prstGeom>
            <a:solidFill>
              <a:srgbClr val="A5A5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8793355" y="3262977"/>
              <a:ext cx="515072" cy="499100"/>
            </a:xfrm>
            <a:prstGeom prst="rightArrow">
              <a:avLst/>
            </a:prstGeom>
            <a:solidFill>
              <a:srgbClr val="A5A5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</p:grpSp>
      <p:pic>
        <p:nvPicPr>
          <p:cNvPr id="3" name="그림 2" descr="CT검사에서의 최적화 가이드라인 : 네이버 블로그">
            <a:extLst>
              <a:ext uri="{FF2B5EF4-FFF2-40B4-BE49-F238E27FC236}">
                <a16:creationId xmlns:a16="http://schemas.microsoft.com/office/drawing/2014/main" id="{23CAF732-A9F9-BCFC-439A-A342776582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25" r="18318"/>
          <a:stretch>
            <a:fillRect/>
          </a:stretch>
        </p:blipFill>
        <p:spPr>
          <a:xfrm>
            <a:off x="7192273" y="347645"/>
            <a:ext cx="3717235" cy="2773846"/>
          </a:xfrm>
          <a:prstGeom prst="rect">
            <a:avLst/>
          </a:prstGeom>
        </p:spPr>
      </p:pic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198F93A6-01E3-6057-1623-6A938A88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D839D-9B02-4E67-38BB-42530754E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C2A09-3A1A-7493-B64E-D35E857E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Tube Current Modulation</a:t>
            </a:r>
            <a:endParaRPr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EBD6A0C-B971-FB3E-B42B-73CFA0A85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Angular Modulation (XY-Plane) — </a:t>
            </a:r>
            <a:r>
              <a:rPr dirty="0" err="1"/>
              <a:t>회전</a:t>
            </a:r>
            <a:r>
              <a:rPr dirty="0"/>
              <a:t> 중 </a:t>
            </a:r>
            <a:r>
              <a:rPr dirty="0" err="1"/>
              <a:t>각도별</a:t>
            </a:r>
            <a:r>
              <a:rPr dirty="0"/>
              <a:t> </a:t>
            </a:r>
            <a:r>
              <a:rPr dirty="0" err="1"/>
              <a:t>감쇠</a:t>
            </a:r>
            <a:r>
              <a:rPr dirty="0"/>
              <a:t> </a:t>
            </a:r>
            <a:r>
              <a:rPr dirty="0" err="1"/>
              <a:t>차이에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관전류</a:t>
            </a:r>
            <a:r>
              <a:rPr dirty="0"/>
              <a:t> </a:t>
            </a:r>
            <a:r>
              <a:rPr dirty="0" err="1"/>
              <a:t>조정</a:t>
            </a:r>
            <a:endParaRPr lang="en-US" dirty="0"/>
          </a:p>
          <a:p>
            <a:r>
              <a:rPr dirty="0"/>
              <a:t>Z-Axis Modulation (Longitudinal) — </a:t>
            </a:r>
            <a:r>
              <a:rPr lang="ko-KR" altLang="en-US" dirty="0"/>
              <a:t>머리</a:t>
            </a:r>
            <a:r>
              <a:rPr dirty="0"/>
              <a:t>→</a:t>
            </a:r>
            <a:r>
              <a:rPr lang="ko-KR" altLang="en-US" dirty="0"/>
              <a:t>발</a:t>
            </a:r>
            <a:r>
              <a:rPr dirty="0"/>
              <a:t>(</a:t>
            </a:r>
            <a:r>
              <a:rPr dirty="0" err="1"/>
              <a:t>z축</a:t>
            </a:r>
            <a:r>
              <a:rPr dirty="0"/>
              <a:t>) </a:t>
            </a:r>
            <a:r>
              <a:rPr dirty="0" err="1"/>
              <a:t>이동에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관전류</a:t>
            </a:r>
            <a:r>
              <a:rPr dirty="0"/>
              <a:t> </a:t>
            </a:r>
            <a:r>
              <a:rPr dirty="0" err="1"/>
              <a:t>조정</a:t>
            </a:r>
            <a:endParaRPr dirty="0"/>
          </a:p>
          <a:p>
            <a:r>
              <a:rPr dirty="0"/>
              <a:t>Combined Modulation — Angular + Z-axis </a:t>
            </a:r>
            <a:r>
              <a:rPr dirty="0" err="1"/>
              <a:t>동시</a:t>
            </a:r>
            <a:r>
              <a:rPr dirty="0"/>
              <a:t> </a:t>
            </a:r>
            <a:r>
              <a:rPr dirty="0" err="1"/>
              <a:t>적용</a:t>
            </a:r>
            <a:r>
              <a:rPr dirty="0"/>
              <a:t>, </a:t>
            </a:r>
            <a:r>
              <a:rPr dirty="0" err="1"/>
              <a:t>최신</a:t>
            </a:r>
            <a:r>
              <a:rPr dirty="0"/>
              <a:t> CT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방식</a:t>
            </a:r>
            <a:r>
              <a:rPr dirty="0"/>
              <a:t>, AEC-128의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기반</a:t>
            </a:r>
            <a:endParaRPr dirty="0"/>
          </a:p>
        </p:txBody>
      </p:sp>
      <p:pic>
        <p:nvPicPr>
          <p:cNvPr id="4" name="그림 3" descr="EPOS&amp;trade;">
            <a:extLst>
              <a:ext uri="{FF2B5EF4-FFF2-40B4-BE49-F238E27FC236}">
                <a16:creationId xmlns:a16="http://schemas.microsoft.com/office/drawing/2014/main" id="{133215CC-56CD-E3FB-33C6-5D077D95C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206343"/>
            <a:ext cx="8316843" cy="299543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D42C899-8AFB-F4A6-3169-C1DD0F23F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2790" y="3852267"/>
            <a:ext cx="2725740" cy="1703587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D53703A-5D7D-CE6E-A643-F6C22FF5E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9001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제조사별 AEC 계산 방식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75949"/>
          </a:xfrm>
        </p:spPr>
        <p:txBody>
          <a:bodyPr>
            <a:normAutofit fontScale="92500"/>
          </a:bodyPr>
          <a:lstStyle/>
          <a:p>
            <a:r>
              <a:rPr sz="1800" dirty="0" err="1"/>
              <a:t>변조</a:t>
            </a:r>
            <a:r>
              <a:rPr sz="1800" dirty="0"/>
              <a:t> 축(Angular/Z/Combined)과 </a:t>
            </a:r>
            <a:r>
              <a:rPr sz="1800" dirty="0" err="1"/>
              <a:t>별개로</a:t>
            </a:r>
            <a:r>
              <a:rPr sz="1800" dirty="0"/>
              <a:t> </a:t>
            </a:r>
            <a:r>
              <a:rPr sz="1800" dirty="0" err="1"/>
              <a:t>mA를</a:t>
            </a:r>
            <a:r>
              <a:rPr sz="1800" dirty="0"/>
              <a:t> </a:t>
            </a:r>
            <a:r>
              <a:rPr sz="1800" dirty="0" err="1"/>
              <a:t>정하는</a:t>
            </a:r>
            <a:r>
              <a:rPr sz="1800" dirty="0"/>
              <a:t> </a:t>
            </a:r>
            <a:r>
              <a:rPr sz="1800" dirty="0" err="1"/>
              <a:t>목표화질</a:t>
            </a:r>
            <a:r>
              <a:rPr sz="1800" dirty="0"/>
              <a:t> </a:t>
            </a:r>
            <a:r>
              <a:rPr sz="1800" dirty="0" err="1"/>
              <a:t>기준</a:t>
            </a:r>
            <a:r>
              <a:rPr sz="1800" dirty="0"/>
              <a:t> </a:t>
            </a:r>
            <a:r>
              <a:rPr sz="1800" dirty="0" err="1"/>
              <a:t>자체가</a:t>
            </a:r>
            <a:r>
              <a:rPr sz="1800" dirty="0"/>
              <a:t> </a:t>
            </a:r>
            <a:r>
              <a:rPr sz="1800" dirty="0" err="1"/>
              <a:t>제조사마다</a:t>
            </a:r>
            <a:r>
              <a:rPr sz="1800" dirty="0"/>
              <a:t> </a:t>
            </a:r>
            <a:r>
              <a:rPr sz="1800" dirty="0" err="1"/>
              <a:t>다름</a:t>
            </a:r>
            <a:r>
              <a:rPr sz="1800" dirty="0"/>
              <a:t> (AAPM Report 96 </a:t>
            </a:r>
            <a:r>
              <a:rPr sz="1800" dirty="0" err="1"/>
              <a:t>분류</a:t>
            </a:r>
            <a:r>
              <a:rPr sz="1800" dirty="0"/>
              <a:t>)</a:t>
            </a:r>
          </a:p>
          <a:p>
            <a:pPr marL="0" indent="0">
              <a:buNone/>
            </a:pPr>
            <a:r>
              <a:rPr sz="1800" dirty="0"/>
              <a:t>① SD(</a:t>
            </a:r>
            <a:r>
              <a:rPr sz="1800" dirty="0" err="1"/>
              <a:t>노이즈</a:t>
            </a:r>
            <a:r>
              <a:rPr sz="1800" dirty="0"/>
              <a:t>) </a:t>
            </a:r>
            <a:r>
              <a:rPr sz="1800" dirty="0" err="1"/>
              <a:t>기반</a:t>
            </a:r>
            <a:endParaRPr lang="en-US" sz="1800" dirty="0"/>
          </a:p>
          <a:p>
            <a:pPr lvl="1"/>
            <a:r>
              <a:rPr sz="1600" dirty="0" err="1"/>
              <a:t>목표</a:t>
            </a:r>
            <a:r>
              <a:rPr sz="1600" dirty="0"/>
              <a:t> </a:t>
            </a:r>
            <a:r>
              <a:rPr sz="1600" dirty="0" err="1"/>
              <a:t>픽셀</a:t>
            </a:r>
            <a:r>
              <a:rPr sz="1600" dirty="0"/>
              <a:t> </a:t>
            </a:r>
            <a:r>
              <a:rPr sz="1600" dirty="0" err="1"/>
              <a:t>표준편차</a:t>
            </a:r>
            <a:r>
              <a:rPr sz="1600" dirty="0"/>
              <a:t>(Noise Index) </a:t>
            </a:r>
            <a:r>
              <a:rPr sz="1600" dirty="0" err="1"/>
              <a:t>지정</a:t>
            </a:r>
            <a:r>
              <a:rPr sz="1600" dirty="0"/>
              <a:t> → </a:t>
            </a:r>
            <a:r>
              <a:rPr sz="1600" dirty="0" err="1"/>
              <a:t>이를</a:t>
            </a:r>
            <a:r>
              <a:rPr sz="1600" dirty="0"/>
              <a:t> </a:t>
            </a:r>
            <a:r>
              <a:rPr sz="1600" dirty="0" err="1"/>
              <a:t>만족하는</a:t>
            </a:r>
            <a:r>
              <a:rPr sz="1600" dirty="0"/>
              <a:t> mA </a:t>
            </a:r>
            <a:r>
              <a:rPr sz="1600" dirty="0" err="1"/>
              <a:t>역산</a:t>
            </a:r>
            <a:r>
              <a:rPr sz="1600" dirty="0"/>
              <a:t> (GE </a:t>
            </a:r>
            <a:r>
              <a:rPr sz="1600" dirty="0" err="1"/>
              <a:t>AutomA</a:t>
            </a:r>
            <a:r>
              <a:rPr sz="1600" dirty="0"/>
              <a:t>/</a:t>
            </a:r>
            <a:r>
              <a:rPr sz="1600" dirty="0" err="1"/>
              <a:t>SmartmA</a:t>
            </a:r>
            <a:r>
              <a:rPr lang="en-US" sz="1600" dirty="0"/>
              <a:t>, </a:t>
            </a:r>
            <a:r>
              <a:rPr sz="1600" dirty="0"/>
              <a:t>Canon </a:t>
            </a:r>
            <a:r>
              <a:rPr sz="1600" dirty="0" err="1"/>
              <a:t>SUREExposure</a:t>
            </a:r>
            <a:r>
              <a:rPr sz="1600" dirty="0"/>
              <a:t> 3D)</a:t>
            </a:r>
          </a:p>
          <a:p>
            <a:pPr marL="0" indent="0">
              <a:buNone/>
            </a:pPr>
            <a:r>
              <a:rPr sz="1800" dirty="0"/>
              <a:t>② Reference </a:t>
            </a:r>
            <a:r>
              <a:rPr sz="1800" dirty="0" err="1"/>
              <a:t>mAs</a:t>
            </a:r>
            <a:r>
              <a:rPr sz="1800" dirty="0"/>
              <a:t> </a:t>
            </a:r>
            <a:r>
              <a:rPr sz="1800" dirty="0" err="1"/>
              <a:t>기반</a:t>
            </a:r>
            <a:endParaRPr lang="en-US" sz="1800" dirty="0"/>
          </a:p>
          <a:p>
            <a:pPr lvl="1"/>
            <a:r>
              <a:rPr sz="1600" dirty="0" err="1"/>
              <a:t>평균</a:t>
            </a:r>
            <a:r>
              <a:rPr sz="1600" dirty="0"/>
              <a:t> </a:t>
            </a:r>
            <a:r>
              <a:rPr sz="1600" dirty="0" err="1"/>
              <a:t>체구</a:t>
            </a:r>
            <a:r>
              <a:rPr sz="1600" dirty="0"/>
              <a:t> </a:t>
            </a:r>
            <a:r>
              <a:rPr sz="1600" dirty="0" err="1"/>
              <a:t>기준값</a:t>
            </a:r>
            <a:r>
              <a:rPr sz="1600" dirty="0"/>
              <a:t> </a:t>
            </a:r>
            <a:r>
              <a:rPr sz="1600" dirty="0" err="1"/>
              <a:t>지정</a:t>
            </a:r>
            <a:r>
              <a:rPr sz="1600" dirty="0"/>
              <a:t> → </a:t>
            </a:r>
            <a:r>
              <a:rPr sz="1600" dirty="0" err="1"/>
              <a:t>환자</a:t>
            </a:r>
            <a:r>
              <a:rPr sz="1600" dirty="0"/>
              <a:t> </a:t>
            </a:r>
            <a:r>
              <a:rPr sz="1600" dirty="0" err="1"/>
              <a:t>단면</a:t>
            </a:r>
            <a:r>
              <a:rPr sz="1600" dirty="0"/>
              <a:t> </a:t>
            </a:r>
            <a:r>
              <a:rPr sz="1600" dirty="0" err="1"/>
              <a:t>크기에</a:t>
            </a:r>
            <a:r>
              <a:rPr sz="1600" dirty="0"/>
              <a:t> </a:t>
            </a:r>
            <a:r>
              <a:rPr sz="1600" dirty="0" err="1"/>
              <a:t>비례</a:t>
            </a:r>
            <a:r>
              <a:rPr sz="1600" dirty="0"/>
              <a:t> </a:t>
            </a:r>
            <a:r>
              <a:rPr sz="1600" dirty="0" err="1"/>
              <a:t>조정</a:t>
            </a:r>
            <a:r>
              <a:rPr sz="1600" dirty="0"/>
              <a:t> (Siemens CARE Dose4D, Quality Reference </a:t>
            </a:r>
            <a:r>
              <a:rPr sz="1600" dirty="0" err="1"/>
              <a:t>mAs</a:t>
            </a:r>
            <a:r>
              <a:rPr sz="1600" dirty="0"/>
              <a:t>)</a:t>
            </a:r>
          </a:p>
          <a:p>
            <a:pPr marL="0" indent="0">
              <a:buNone/>
            </a:pPr>
            <a:r>
              <a:rPr sz="1800" dirty="0"/>
              <a:t>③ Reference image </a:t>
            </a:r>
            <a:r>
              <a:rPr sz="1800" dirty="0" err="1"/>
              <a:t>기반</a:t>
            </a:r>
            <a:r>
              <a:rPr sz="1800" dirty="0"/>
              <a:t> </a:t>
            </a:r>
            <a:endParaRPr lang="en-US" sz="1800" dirty="0"/>
          </a:p>
          <a:p>
            <a:pPr lvl="1"/>
            <a:r>
              <a:rPr sz="1600" dirty="0" err="1"/>
              <a:t>과거</a:t>
            </a:r>
            <a:r>
              <a:rPr sz="1600" dirty="0"/>
              <a:t> </a:t>
            </a:r>
            <a:r>
              <a:rPr sz="1600" dirty="0" err="1"/>
              <a:t>적정화질</a:t>
            </a:r>
            <a:r>
              <a:rPr sz="1600" dirty="0"/>
              <a:t> </a:t>
            </a:r>
            <a:r>
              <a:rPr sz="1600" dirty="0" err="1"/>
              <a:t>기준영상의</a:t>
            </a:r>
            <a:r>
              <a:rPr sz="1600" dirty="0"/>
              <a:t> </a:t>
            </a:r>
            <a:r>
              <a:rPr sz="1600" dirty="0" err="1"/>
              <a:t>노이즈에</a:t>
            </a:r>
            <a:r>
              <a:rPr sz="1600" dirty="0"/>
              <a:t> </a:t>
            </a:r>
            <a:r>
              <a:rPr sz="1600" dirty="0" err="1"/>
              <a:t>맞춰</a:t>
            </a:r>
            <a:r>
              <a:rPr sz="1600" dirty="0"/>
              <a:t> </a:t>
            </a:r>
            <a:r>
              <a:rPr sz="1600" dirty="0" err="1"/>
              <a:t>역산</a:t>
            </a:r>
            <a:r>
              <a:rPr sz="1600" dirty="0"/>
              <a:t> (Philips DoseRight)</a:t>
            </a:r>
          </a:p>
          <a:p>
            <a:r>
              <a:rPr sz="1800" dirty="0" err="1"/>
              <a:t>공식</a:t>
            </a:r>
            <a:r>
              <a:rPr sz="1800" dirty="0"/>
              <a:t> </a:t>
            </a:r>
            <a:r>
              <a:rPr sz="1800" dirty="0" err="1"/>
              <a:t>비공개</a:t>
            </a:r>
            <a:r>
              <a:rPr sz="1800" dirty="0"/>
              <a:t> — </a:t>
            </a:r>
            <a:r>
              <a:rPr sz="1800" dirty="0" err="1"/>
              <a:t>정확한</a:t>
            </a:r>
            <a:r>
              <a:rPr sz="1800" dirty="0"/>
              <a:t> </a:t>
            </a:r>
            <a:r>
              <a:rPr sz="1800" dirty="0" err="1"/>
              <a:t>변환계수·지수는</a:t>
            </a:r>
            <a:r>
              <a:rPr sz="1800" dirty="0"/>
              <a:t> </a:t>
            </a:r>
            <a:r>
              <a:rPr sz="1800" dirty="0" err="1"/>
              <a:t>특허·영업비밀</a:t>
            </a:r>
            <a:r>
              <a:rPr sz="1800" dirty="0"/>
              <a:t>, </a:t>
            </a:r>
            <a:r>
              <a:rPr sz="1800" dirty="0" err="1"/>
              <a:t>학술문헌엔</a:t>
            </a:r>
            <a:r>
              <a:rPr sz="1800" dirty="0"/>
              <a:t> </a:t>
            </a:r>
            <a:r>
              <a:rPr sz="1800" dirty="0" err="1"/>
              <a:t>원리만</a:t>
            </a:r>
            <a:r>
              <a:rPr sz="1800" dirty="0"/>
              <a:t> </a:t>
            </a:r>
            <a:r>
              <a:rPr sz="1800" dirty="0" err="1"/>
              <a:t>공개</a:t>
            </a:r>
            <a:endParaRPr sz="1800" dirty="0"/>
          </a:p>
          <a:p>
            <a:r>
              <a:rPr sz="1800" dirty="0"/>
              <a:t>본 </a:t>
            </a:r>
            <a:r>
              <a:rPr sz="1800" dirty="0" err="1"/>
              <a:t>연구</a:t>
            </a:r>
            <a:r>
              <a:rPr sz="1800" dirty="0"/>
              <a:t> </a:t>
            </a:r>
            <a:r>
              <a:rPr sz="1800" dirty="0" err="1"/>
              <a:t>시사점</a:t>
            </a:r>
            <a:r>
              <a:rPr sz="1800" dirty="0"/>
              <a:t> — </a:t>
            </a:r>
            <a:r>
              <a:rPr sz="1800" dirty="0" err="1"/>
              <a:t>변조축이</a:t>
            </a:r>
            <a:r>
              <a:rPr sz="1800" dirty="0"/>
              <a:t> </a:t>
            </a:r>
            <a:r>
              <a:rPr sz="1800" dirty="0" err="1"/>
              <a:t>같아도</a:t>
            </a:r>
            <a:r>
              <a:rPr sz="1800" dirty="0"/>
              <a:t> mA </a:t>
            </a:r>
            <a:r>
              <a:rPr sz="1800" dirty="0" err="1"/>
              <a:t>산출</a:t>
            </a:r>
            <a:r>
              <a:rPr sz="1800" dirty="0"/>
              <a:t> </a:t>
            </a:r>
            <a:r>
              <a:rPr sz="1800" dirty="0" err="1"/>
              <a:t>기준은</a:t>
            </a:r>
            <a:r>
              <a:rPr sz="1800" dirty="0"/>
              <a:t> </a:t>
            </a:r>
            <a:r>
              <a:rPr sz="1800" dirty="0" err="1"/>
              <a:t>벤더별로</a:t>
            </a:r>
            <a:r>
              <a:rPr sz="1800" dirty="0"/>
              <a:t> </a:t>
            </a:r>
            <a:r>
              <a:rPr sz="1800" dirty="0" err="1"/>
              <a:t>상이</a:t>
            </a:r>
            <a:r>
              <a:rPr sz="1800" dirty="0"/>
              <a:t> → </a:t>
            </a:r>
            <a:r>
              <a:rPr sz="1800" dirty="0" err="1"/>
              <a:t>기종</a:t>
            </a:r>
            <a:r>
              <a:rPr sz="1800" dirty="0"/>
              <a:t> 간 </a:t>
            </a:r>
            <a:r>
              <a:rPr sz="1800" dirty="0" err="1"/>
              <a:t>절대</a:t>
            </a:r>
            <a:r>
              <a:rPr sz="1800" dirty="0"/>
              <a:t> mA </a:t>
            </a:r>
            <a:r>
              <a:rPr sz="1800" dirty="0" err="1"/>
              <a:t>스케일</a:t>
            </a:r>
            <a:r>
              <a:rPr sz="1800" dirty="0"/>
              <a:t> </a:t>
            </a:r>
            <a:r>
              <a:rPr sz="1800" dirty="0" err="1"/>
              <a:t>비교</a:t>
            </a:r>
            <a:r>
              <a:rPr sz="1800" dirty="0"/>
              <a:t> 시 </a:t>
            </a:r>
            <a:r>
              <a:rPr sz="1800" dirty="0" err="1"/>
              <a:t>유의</a:t>
            </a:r>
            <a:endParaRPr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0207F5-EFF2-3C9B-334B-997C2F73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관전류(mA)를 바꾸는가 — kVp·노출시간과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관전압</a:t>
            </a:r>
            <a:r>
              <a:rPr dirty="0"/>
              <a:t>(</a:t>
            </a:r>
            <a:r>
              <a:rPr dirty="0" err="1"/>
              <a:t>kVp</a:t>
            </a:r>
            <a:r>
              <a:rPr dirty="0"/>
              <a:t>) </a:t>
            </a:r>
            <a:r>
              <a:rPr dirty="0" err="1"/>
              <a:t>변경</a:t>
            </a:r>
            <a:r>
              <a:rPr dirty="0"/>
              <a:t> 시</a:t>
            </a:r>
            <a:endParaRPr lang="en-US" dirty="0"/>
          </a:p>
          <a:p>
            <a:pPr lvl="1"/>
            <a:r>
              <a:rPr dirty="0" err="1"/>
              <a:t>X선</a:t>
            </a:r>
            <a:r>
              <a:rPr dirty="0"/>
              <a:t> </a:t>
            </a:r>
            <a:r>
              <a:rPr dirty="0" err="1"/>
              <a:t>에너지</a:t>
            </a:r>
            <a:r>
              <a:rPr dirty="0"/>
              <a:t>(</a:t>
            </a:r>
            <a:r>
              <a:rPr dirty="0" err="1"/>
              <a:t>빔의</a:t>
            </a:r>
            <a:r>
              <a:rPr dirty="0"/>
              <a:t> 질) </a:t>
            </a:r>
            <a:r>
              <a:rPr dirty="0" err="1"/>
              <a:t>자체가</a:t>
            </a:r>
            <a:r>
              <a:rPr dirty="0"/>
              <a:t> </a:t>
            </a:r>
            <a:r>
              <a:rPr dirty="0" err="1"/>
              <a:t>바뀜</a:t>
            </a:r>
            <a:r>
              <a:rPr dirty="0"/>
              <a:t>→ </a:t>
            </a:r>
            <a:r>
              <a:rPr dirty="0" err="1"/>
              <a:t>대조도·조영증강·빔경화</a:t>
            </a:r>
            <a:r>
              <a:rPr dirty="0"/>
              <a:t> </a:t>
            </a:r>
            <a:r>
              <a:rPr dirty="0" err="1"/>
              <a:t>특성까지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변해</a:t>
            </a:r>
            <a:r>
              <a:rPr dirty="0"/>
              <a:t> </a:t>
            </a:r>
            <a:r>
              <a:rPr dirty="0" err="1"/>
              <a:t>검사마다</a:t>
            </a:r>
            <a:r>
              <a:rPr dirty="0"/>
              <a:t> </a:t>
            </a:r>
            <a:r>
              <a:rPr dirty="0" err="1"/>
              <a:t>재보정</a:t>
            </a:r>
            <a:r>
              <a:rPr dirty="0"/>
              <a:t> </a:t>
            </a:r>
            <a:r>
              <a:rPr dirty="0" err="1"/>
              <a:t>필요</a:t>
            </a:r>
            <a:endParaRPr dirty="0"/>
          </a:p>
          <a:p>
            <a:r>
              <a:rPr dirty="0" err="1"/>
              <a:t>노출</a:t>
            </a:r>
            <a:r>
              <a:rPr dirty="0"/>
              <a:t>/</a:t>
            </a:r>
            <a:r>
              <a:rPr dirty="0" err="1"/>
              <a:t>회전시간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 시</a:t>
            </a:r>
            <a:endParaRPr lang="en-US" dirty="0"/>
          </a:p>
          <a:p>
            <a:pPr lvl="1"/>
            <a:r>
              <a:rPr dirty="0" err="1"/>
              <a:t>스캔</a:t>
            </a:r>
            <a:r>
              <a:rPr dirty="0"/>
              <a:t> </a:t>
            </a:r>
            <a:r>
              <a:rPr dirty="0" err="1"/>
              <a:t>속도가</a:t>
            </a:r>
            <a:r>
              <a:rPr dirty="0"/>
              <a:t> </a:t>
            </a:r>
            <a:r>
              <a:rPr dirty="0" err="1"/>
              <a:t>바뀌어</a:t>
            </a:r>
            <a:r>
              <a:rPr dirty="0"/>
              <a:t> </a:t>
            </a:r>
            <a:r>
              <a:rPr dirty="0" err="1"/>
              <a:t>호흡·연동운동에</a:t>
            </a:r>
            <a:r>
              <a:rPr dirty="0"/>
              <a:t> </a:t>
            </a:r>
            <a:r>
              <a:rPr dirty="0" err="1"/>
              <a:t>의한</a:t>
            </a:r>
            <a:r>
              <a:rPr dirty="0"/>
              <a:t> </a:t>
            </a:r>
            <a:r>
              <a:rPr dirty="0" err="1"/>
              <a:t>움직임</a:t>
            </a:r>
            <a:r>
              <a:rPr dirty="0"/>
              <a:t> </a:t>
            </a:r>
            <a:r>
              <a:rPr dirty="0" err="1"/>
              <a:t>흐림</a:t>
            </a:r>
            <a:r>
              <a:rPr dirty="0"/>
              <a:t>(motion blur) </a:t>
            </a:r>
            <a:r>
              <a:rPr dirty="0" err="1"/>
              <a:t>위험</a:t>
            </a:r>
            <a:r>
              <a:rPr dirty="0"/>
              <a:t> </a:t>
            </a:r>
            <a:r>
              <a:rPr dirty="0" err="1"/>
              <a:t>증가</a:t>
            </a:r>
            <a:r>
              <a:rPr dirty="0"/>
              <a:t>, </a:t>
            </a:r>
            <a:r>
              <a:rPr dirty="0" err="1"/>
              <a:t>기계적</a:t>
            </a:r>
            <a:r>
              <a:rPr dirty="0"/>
              <a:t> </a:t>
            </a:r>
            <a:r>
              <a:rPr dirty="0" err="1"/>
              <a:t>회전</a:t>
            </a:r>
            <a:r>
              <a:rPr dirty="0"/>
              <a:t> </a:t>
            </a:r>
            <a:r>
              <a:rPr dirty="0" err="1"/>
              <a:t>한계도</a:t>
            </a:r>
            <a:r>
              <a:rPr dirty="0"/>
              <a:t> </a:t>
            </a:r>
            <a:r>
              <a:rPr dirty="0" err="1"/>
              <a:t>존재</a:t>
            </a:r>
            <a:endParaRPr dirty="0"/>
          </a:p>
          <a:p>
            <a:r>
              <a:rPr dirty="0" err="1"/>
              <a:t>관전류</a:t>
            </a:r>
            <a:r>
              <a:rPr dirty="0"/>
              <a:t>(mA) </a:t>
            </a:r>
            <a:r>
              <a:rPr dirty="0" err="1"/>
              <a:t>변경</a:t>
            </a:r>
            <a:r>
              <a:rPr dirty="0"/>
              <a:t> 시</a:t>
            </a:r>
            <a:endParaRPr lang="en-US" dirty="0"/>
          </a:p>
          <a:p>
            <a:pPr lvl="1"/>
            <a:r>
              <a:rPr dirty="0" err="1"/>
              <a:t>빔의</a:t>
            </a:r>
            <a:r>
              <a:rPr dirty="0"/>
              <a:t> </a:t>
            </a:r>
            <a:r>
              <a:rPr dirty="0" err="1"/>
              <a:t>에너지·대조도는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두고</a:t>
            </a:r>
            <a:r>
              <a:rPr dirty="0"/>
              <a:t> </a:t>
            </a:r>
            <a:r>
              <a:rPr dirty="0" err="1"/>
              <a:t>광자</a:t>
            </a:r>
            <a:r>
              <a:rPr dirty="0"/>
              <a:t> 수(</a:t>
            </a:r>
            <a:r>
              <a:rPr dirty="0" err="1"/>
              <a:t>선량</a:t>
            </a:r>
            <a:r>
              <a:rPr dirty="0"/>
              <a:t>)만 </a:t>
            </a:r>
            <a:r>
              <a:rPr dirty="0" err="1"/>
              <a:t>선형적으로</a:t>
            </a:r>
            <a:r>
              <a:rPr dirty="0"/>
              <a:t> </a:t>
            </a:r>
            <a:r>
              <a:rPr dirty="0" err="1"/>
              <a:t>조절</a:t>
            </a:r>
            <a:endParaRPr dirty="0"/>
          </a:p>
          <a:p>
            <a:pPr marL="457200" lvl="1" indent="0">
              <a:buNone/>
            </a:pPr>
            <a:r>
              <a:rPr dirty="0"/>
              <a:t>→ </a:t>
            </a:r>
            <a:r>
              <a:rPr dirty="0" err="1"/>
              <a:t>화질</a:t>
            </a:r>
            <a:r>
              <a:rPr dirty="0"/>
              <a:t> </a:t>
            </a:r>
            <a:r>
              <a:rPr dirty="0" err="1"/>
              <a:t>특성·스캔</a:t>
            </a:r>
            <a:r>
              <a:rPr dirty="0"/>
              <a:t> </a:t>
            </a:r>
            <a:r>
              <a:rPr dirty="0" err="1"/>
              <a:t>속도를</a:t>
            </a:r>
            <a:r>
              <a:rPr dirty="0"/>
              <a:t> </a:t>
            </a:r>
            <a:r>
              <a:rPr dirty="0" err="1"/>
              <a:t>바꾸지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체형</a:t>
            </a:r>
            <a:r>
              <a:rPr dirty="0"/>
              <a:t> </a:t>
            </a:r>
            <a:r>
              <a:rPr dirty="0" err="1"/>
              <a:t>차이만</a:t>
            </a:r>
            <a:r>
              <a:rPr dirty="0"/>
              <a:t> </a:t>
            </a:r>
            <a:r>
              <a:rPr dirty="0" err="1"/>
              <a:t>보정하는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'</a:t>
            </a:r>
            <a:r>
              <a:rPr dirty="0" err="1"/>
              <a:t>깨끗한</a:t>
            </a:r>
            <a:r>
              <a:rPr dirty="0"/>
              <a:t>' </a:t>
            </a:r>
            <a:r>
              <a:rPr dirty="0" err="1"/>
              <a:t>조절</a:t>
            </a:r>
            <a:r>
              <a:rPr dirty="0"/>
              <a:t> </a:t>
            </a:r>
            <a:r>
              <a:rPr dirty="0" err="1"/>
              <a:t>변수</a:t>
            </a:r>
            <a:endParaRPr dirty="0"/>
          </a:p>
          <a:p>
            <a:r>
              <a:rPr dirty="0"/>
              <a:t>본 </a:t>
            </a:r>
            <a:r>
              <a:rPr dirty="0" err="1"/>
              <a:t>연구</a:t>
            </a:r>
            <a:r>
              <a:rPr dirty="0"/>
              <a:t> </a:t>
            </a:r>
            <a:r>
              <a:rPr dirty="0" err="1"/>
              <a:t>적용</a:t>
            </a:r>
            <a:r>
              <a:rPr dirty="0"/>
              <a:t> — 100 </a:t>
            </a:r>
            <a:r>
              <a:rPr dirty="0" err="1"/>
              <a:t>kVp·프로토콜</a:t>
            </a:r>
            <a:r>
              <a:rPr dirty="0"/>
              <a:t> </a:t>
            </a:r>
            <a:r>
              <a:rPr dirty="0" err="1"/>
              <a:t>고정</a:t>
            </a:r>
            <a:r>
              <a:rPr dirty="0"/>
              <a:t>, </a:t>
            </a:r>
            <a:r>
              <a:rPr dirty="0" err="1"/>
              <a:t>mA만</a:t>
            </a:r>
            <a:r>
              <a:rPr dirty="0"/>
              <a:t> </a:t>
            </a:r>
            <a:r>
              <a:rPr dirty="0" err="1"/>
              <a:t>환자별로</a:t>
            </a:r>
            <a:r>
              <a:rPr dirty="0"/>
              <a:t> </a:t>
            </a:r>
            <a:r>
              <a:rPr dirty="0" err="1"/>
              <a:t>변함</a:t>
            </a:r>
            <a:r>
              <a:rPr dirty="0"/>
              <a:t> → AEC </a:t>
            </a:r>
            <a:r>
              <a:rPr dirty="0" err="1"/>
              <a:t>곡선이</a:t>
            </a:r>
            <a:r>
              <a:rPr dirty="0"/>
              <a:t> </a:t>
            </a:r>
            <a:r>
              <a:rPr dirty="0" err="1"/>
              <a:t>체형</a:t>
            </a:r>
            <a:r>
              <a:rPr dirty="0"/>
              <a:t> </a:t>
            </a:r>
            <a:r>
              <a:rPr dirty="0" err="1"/>
              <a:t>정보만</a:t>
            </a:r>
            <a:r>
              <a:rPr dirty="0"/>
              <a:t> </a:t>
            </a:r>
            <a:r>
              <a:rPr dirty="0" err="1"/>
              <a:t>담은</a:t>
            </a:r>
            <a:r>
              <a:rPr dirty="0"/>
              <a:t> </a:t>
            </a:r>
            <a:r>
              <a:rPr dirty="0" err="1"/>
              <a:t>순수</a:t>
            </a:r>
            <a:r>
              <a:rPr dirty="0"/>
              <a:t> </a:t>
            </a:r>
            <a:r>
              <a:rPr dirty="0" err="1"/>
              <a:t>신호</a:t>
            </a:r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356FD2-AF18-A032-5B7A-5E4F8EF82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C911F-1C7D-09D5-E29F-864AF03E9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1FA35-F0A4-BB61-31D0-2D90E0881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FPCA </a:t>
            </a:r>
            <a:r>
              <a:rPr lang="ko-KR" altLang="en-US" dirty="0"/>
              <a:t>원리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F1D81-F012-59E4-80FD-C7F9006E2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문제 — AEC-128은 환자 1인당 128개의 서로 상관된(autocorrelated) 값 → 그대로 쓰면 다중공선성·과적합 위험</a:t>
            </a:r>
            <a:endParaRPr dirty="0"/>
          </a:p>
          <a:p>
            <a:r>
              <a:t>해결 — 128개 곡선 전체를 몇 개의 '대표 변동 패턴(성분)'으로 압축</a:t>
            </a:r>
          </a:p>
          <a:p>
            <a:r>
              <a:t>정의 — 여러 환자 곡선을 평균곡선 + 직교 성분(PC)들의 선형결합으로 근사 (곡선 자료에 적용한 PCA)</a:t>
            </a:r>
          </a:p>
          <a:p>
            <a:r>
              <a:t>산출물 — 환자 1인당 128개 값 → 성분점수(PC1, PC2, PC3) 단 3개 값으로 요약</a:t>
            </a:r>
          </a:p>
          <a:p>
            <a:r>
              <a:t>채택 근거 — PC1–PC3만으로 곡선 변동의 97.4% 설명 (구체적 계산·실데이터는 다음 슬라이드)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22430C-9EDE-405B-26B5-56C7B8A86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5412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FPCA 계산 4단계 — 128개 값이 3개로 압축되는 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 평균곡선 산출 — 내부 코호트 전체 곡선의 평균 μ(z), z = 1…128</a:t>
            </a:r>
          </a:p>
          <a:p>
            <a:r>
              <a:t>② 편차곡선 계산 — 각 환자 곡선에서 평균을 뺌: d_i(z) = x_i(z) − μ(z)  (그 환자만의 '튀는 부분')</a:t>
            </a:r>
          </a:p>
          <a:p>
            <a:r>
              <a:t>③ 공분산행렬 고유분해 — 128×128 공분산행렬을 eigen-decomposition → 고유벡터(성분 φ_k) + 고유값(λ_k = 설명분산)</a:t>
            </a:r>
          </a:p>
          <a:p>
            <a:r>
              <a:t>④ 투영(projection) — 편차곡선을 성분과 내적: scoreᵢₖ = Σ_z dᵢ(z)·φ_k(z) → 환자별 성분점수</a:t>
            </a:r>
          </a:p>
          <a:p>
            <a:r>
              <a:t>외부 코호트 적용 — 성분(φ_k)은 내부 코호트에서만 추정, 외부는 같은 φ_k에 재학습 없이 투영만 수행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957BE9-B675-708D-522B-D33FDCA54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데이터로</a:t>
            </a:r>
            <a:r>
              <a:rPr dirty="0"/>
              <a:t> </a:t>
            </a:r>
            <a:r>
              <a:rPr dirty="0" err="1"/>
              <a:t>보는</a:t>
            </a:r>
            <a:r>
              <a:rPr dirty="0"/>
              <a:t> </a:t>
            </a:r>
            <a:r>
              <a:rPr dirty="0" err="1"/>
              <a:t>곡선</a:t>
            </a:r>
            <a:r>
              <a:rPr dirty="0"/>
              <a:t> </a:t>
            </a:r>
            <a:r>
              <a:rPr dirty="0" err="1"/>
              <a:t>분해</a:t>
            </a:r>
            <a:r>
              <a:rPr dirty="0"/>
              <a:t> — </a:t>
            </a:r>
            <a:r>
              <a:rPr dirty="0" err="1"/>
              <a:t>원본</a:t>
            </a:r>
            <a:r>
              <a:rPr dirty="0"/>
              <a:t> = </a:t>
            </a:r>
            <a:r>
              <a:rPr dirty="0" err="1"/>
              <a:t>평균</a:t>
            </a:r>
            <a:r>
              <a:rPr dirty="0"/>
              <a:t> + </a:t>
            </a:r>
            <a:r>
              <a:rPr dirty="0" err="1"/>
              <a:t>점수×성분모양</a:t>
            </a:r>
            <a:endParaRPr dirty="0"/>
          </a:p>
        </p:txBody>
      </p:sp>
      <p:pic>
        <p:nvPicPr>
          <p:cNvPr id="5" name="Picture 4" descr="slide9_new_de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2" y="1040112"/>
            <a:ext cx="12035736" cy="4777775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5A53FF-E07E-9184-F39F-0B7D6C2EA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7C1E6-9497-5E35-0E78-DDAF3520F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13337-9F39-9B31-7C7C-C0508F27E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AEC 곡선 FPCA 컴포넌트 수 선택 근거 — Elbow(Kneedle) 방식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AC746-0FB2-0ABD-55F2-43B51244C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 Scree curve = 컴포넌트별 개별 explained variance ratio(누적의 1차 차분)</a:t>
            </a:r>
          </a:p>
          <a:p>
            <a:r>
              <a:t>② 축을 0~1 정규화 후 첫점-끝점 직선(chord)까지 수직거리 계산</a:t>
            </a:r>
          </a:p>
          <a:p>
            <a:r>
              <a:t>③ 거리 최대 지점 = elbow (Satopaa et al. 2011, Kneedle 알고리즘)</a:t>
            </a:r>
          </a:p>
          <a:p>
            <a:r>
              <a:t>④ 라벨(HTN/DM/CKD) 미사용 — AEC 곡선 분산 구조만으로 결정(outcome-blind)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554966-9160-C109-9110-22C49E5F3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7349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atch_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7101</TotalTime>
  <Words>2718</Words>
  <Application>Microsoft Office PowerPoint</Application>
  <PresentationFormat>와이드스크린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Arial</vt:lpstr>
      <vt:lpstr>KoPub돋움체 Medium</vt:lpstr>
      <vt:lpstr>KoPub돋움체 Bold</vt:lpstr>
      <vt:lpstr>Office 테마</vt:lpstr>
      <vt:lpstr>PowerPoint 프레젠테이션</vt:lpstr>
      <vt:lpstr>AEC 작동 원리</vt:lpstr>
      <vt:lpstr>Tube Current Modulation</vt:lpstr>
      <vt:lpstr>제조사별 AEC 계산 방식</vt:lpstr>
      <vt:lpstr>왜 관전류(mA)를 바꾸는가 — kVp·노출시간과 비교</vt:lpstr>
      <vt:lpstr>FPCA 원리</vt:lpstr>
      <vt:lpstr>FPCA 계산 4단계 — 128개 값이 3개로 압축되는 과정</vt:lpstr>
      <vt:lpstr>실제 데이터로 보는 곡선 분해 — 원본 = 평균 + 점수×성분모양</vt:lpstr>
      <vt:lpstr>AEC 곡선 FPCA 컴포넌트 수 선택 근거 — Elbow(Kneedle) 방식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686</cp:revision>
  <dcterms:created xsi:type="dcterms:W3CDTF">2026-04-09T07:05:16Z</dcterms:created>
  <dcterms:modified xsi:type="dcterms:W3CDTF">2026-09-02T02:38:49Z</dcterms:modified>
</cp:coreProperties>
</file>