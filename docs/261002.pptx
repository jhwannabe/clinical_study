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69" r:id="rId24"/>
    <p:sldId id="257" r:id="rId12"/>
    <p:sldId id="258" r:id="rId13"/>
    <p:sldId id="260" r:id="rId15"/>
    <p:sldId id="261" r:id="rId16"/>
    <p:sldId id="262" r:id="rId17"/>
    <p:sldId id="265" r:id="rId20"/>
    <p:sldId id="270" r:id="rId25"/>
    <p:sldId id="271" r:id="rId26"/>
    <p:sldId id="268" r:id="rId23"/>
    <p:sldId id="267" r:id="rId22"/>
    <p:sldId id="266" r:id="rId40"/>
    <p:sldId id="259" r:id="rId14"/>
    <p:sldId id="263" r:id="rId18"/>
    <p:sldId id="264" r:id="rId19"/>
    <p:sldId id="272" r:id="rId27"/>
  </p:sldIdLst>
  <p:sldSz cx="12192000" cy="6858000"/>
  <p:notesSz cx="6858000" cy="9144000"/>
  <p:embeddedFontLst>
    <p:embeddedFont>
      <p:font typeface="KoPub돋움체 Bold" panose="00000800000000000000" pitchFamily="2" charset="-127"/>
      <p:bold r:id="rId32"/>
    </p:embeddedFont>
    <p:embeddedFont>
      <p:font typeface="KoPub돋움체 Medium" panose="00000600000000000000" pitchFamily="2" charset="-127"/>
      <p:regular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70"/>
            <p14:sldId id="303"/>
            <p14:sldId id="258"/>
            <p14:sldId id="259"/>
            <p14:sldId id="260"/>
            <p14:sldId id="285"/>
            <p14:sldId id="286"/>
            <p14:sldId id="287"/>
            <p14:sldId id="288"/>
            <p14:sldId id="289"/>
            <p14:sldId id="272"/>
            <p14:sldId id="291"/>
            <p14:sldId id="298"/>
            <p14:sldId id="273"/>
            <p14:sldId id="292"/>
            <p14:sldId id="299"/>
            <p14:sldId id="274"/>
            <p14:sldId id="293"/>
            <p14:sldId id="300"/>
            <p14:sldId id="275"/>
            <p14:sldId id="294"/>
            <p14:sldId id="301"/>
            <p14:sldId id="283"/>
            <p14:sldId id="295"/>
            <p14:sldId id="302"/>
            <p14:sldId id="276"/>
            <p14:sldId id="281"/>
            <p14:sldId id="282"/>
            <p14:sldId id="266"/>
            <p14:sldId id="29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1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8.xml"/><Relationship Id="rId22" Type="http://schemas.openxmlformats.org/officeDocument/2006/relationships/slide" Target="slides/slide12.xml"/><Relationship Id="rId23" Type="http://schemas.openxmlformats.org/officeDocument/2006/relationships/slide" Target="slides/slide11.xml"/><Relationship Id="rId24" Type="http://schemas.openxmlformats.org/officeDocument/2006/relationships/slide" Target="slides/slide2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commentAuthors" Target="commentAuthors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Relationship Id="rId40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연구미팅용 발표자료. 0910 체성분 개별변수 vs AEC 성능비교 결과 발표 — 배경(AEC 신호 부재)→방법→결과→논의 순으로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672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bg1"/>
                </a:solidFill>
              </a:rPr>
              <a:t>AEC·체성분 곡선의 추가 기여와 한계 — Landmark 기반 체성분 연구로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2026. 10. 02</a:t>
            </a:r>
            <a:r>
              <a:rPr sz="1600">
                <a:solidFill>
                  <a:schemeClr val="bg1"/>
                </a:solidFill>
              </a:rPr>
              <a:t/>
            </a:r>
            <a:r>
              <a:rPr lang="en-US" sz="1600">
                <a:solidFill>
                  <a:schemeClr val="bg1"/>
                </a:solidFill>
              </a:rPr>
              <a:t/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Background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Clinic4(성별·나이·신장·체중)만으로 만성질환(HTN·DM·CKD)을 어느 정도 판별할 수 있는지 기준선을 만든다</a:t>
            </a:r>
          </a:p>
          <a:p>
            <a:r>
              <a:rPr sz="1800"/>
              <a:t>CT에서 얻는 AEC 곡선과 체성분(VAT/SAT/근육/근내지방) 곡선이 이 기준선을 넘어서는 추가 정보를 주는지 평가한다</a:t>
            </a:r>
          </a:p>
          <a:p>
            <a:r>
              <a:rPr sz="1800"/>
              <a:t>곡선은 liver→pubis로 crop한 128구간으로 표현하고, 전처리·FPCA·부위 조합을 바꿔가며 개선을 시도했다</a:t>
            </a:r>
          </a:p>
          <a:p>
            <a:r>
              <a:rPr sz="1800"/>
              <a:t>개발은 Gangnam, 외부검증은 Sinchon(둘 다 단면 데이터)에서 같은 프레임(Youden cutoff·DeLong)으로 평가한다</a:t>
            </a:r>
          </a:p>
          <a:p>
            <a:r>
              <a:rPr sz="1800"/>
              <a:t>목적: 곡선 기반 확장이 Baseline 대비 얼마나, 그리고 코호트 간 일관되게 성능을 올리는지 확인하고, 일관되지 않다면 원인과 다음 단계를 제시한다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Cohort: Internal(Gangnam, n=1,260) 개발·내부검증, External(Sinchon, n=1,123) 외부검증 — 둘 다 단면(cross-sectional). longitudinal인 New10000은 설계가 달라 제외</a:t>
            </a:r>
          </a:p>
          <a:p>
            <a:r>
              <a:rPr sz="2000"/>
              <a:t>Input: Clinic4 = Sex + Age + Height + Weight (age/height/weight는 Gangnam 기준 StandardScaler로 표준화)</a:t>
            </a:r>
          </a:p>
          <a:p>
            <a:r>
              <a:rPr sz="2000"/>
              <a:t>Outcome: HTN / DM / CKD 각각 독립적인 logistic regression (질병마다 별도 split)</a:t>
            </a:r>
          </a:p>
          <a:p>
            <a:r>
              <a:rPr sz="2000"/>
              <a:t>Split: 질병 라벨로 stratify한 patient-level train:valid:test = 7:1:2</a:t>
            </a:r>
          </a:p>
          <a:p>
            <a:r>
              <a:rPr sz="2000"/>
              <a:t>튜닝: GridSearchCV(C×penalty(l1/l2)×class_weight, solver=liblinear, scoring=roc_auc), valid를 단일 predefined fold로 사용</a:t>
            </a:r>
          </a:p>
          <a:p>
            <a:r>
              <a:rPr sz="2000"/>
              <a:t>성능: held-out test(20%) AUC 1회 산출. Cutoff은 valid ROC의 Youden index 최대점, 외부는 Gangnam에서 고정한 값을 그대로 적용</a:t>
            </a:r>
          </a:p>
          <a:p>
            <a:r>
              <a:rPr sz="2000"/>
              <a:t>외부검증: train+valid로 재학습한 frozen 모델(scaler 포함)을 Sinchon에 그대로 적용(재학습 없음)</a:t>
            </a:r>
          </a:p>
          <a:p>
            <a:r>
              <a:rPr sz="2000"/>
              <a:t>확장 입력: AEC(aec_128)와 체성분(VAT/SAT/LAMA/NAMA/IMATA) 128구간 곡선(liver→pubis crop, 전처리 없음)을 FPCA로 압축해 Clinic4에 추가</a:t>
            </a:r>
          </a:p>
          <a:p>
            <a:r>
              <a:rPr sz="2000"/>
              <a:t>비교: Baseline 대비 AUC 차이를 patient_id로 짝지은 paired DeLong test로 검정 (* p&lt;0.05). 계수 p-value는 보정 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1. Clinic4 Baseline 성능 (원본 유병률; Cutoff = Youden 최대점, Gangnam은 valid·Sinchon은 Gangnam train+valid 기준)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552"/>
                <a:gridCol w="1241552"/>
                <a:gridCol w="1241552"/>
                <a:gridCol w="1241552"/>
                <a:gridCol w="1241552"/>
                <a:gridCol w="1241552"/>
                <a:gridCol w="1241552"/>
                <a:gridCol w="1241552"/>
                <a:gridCol w="1241552"/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n (pos)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Best C (penalty, class_weight)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Valid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(77)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100 (l2, None)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(506)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0.578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0.01 (l2, balanced)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(335)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252 (21)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 (l2, None)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1123 (188)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2. Baseline 대비 확장모델 AUC (원본 유병률, * paired DeLong p&lt;0.05 vs Baseline)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/>
                <a:gridCol w="1862328"/>
                <a:gridCol w="1862328"/>
                <a:gridCol w="1862328"/>
                <a:gridCol w="1862328"/>
                <a:gridCol w="1862328"/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0.793*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0.736*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0.691*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0.670*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1. ROC Curve — Internal (Gangnam) vs External (Sinchon)</a:t>
            </a:r>
          </a:p>
        </p:txBody>
      </p:sp>
      <p:pic>
        <p:nvPicPr>
          <p:cNvPr id="3" name="Picture 2" descr="fig1_roc_gangnam_sinc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2. Baseline 대비 AUC 변화(ΔAUC) — AEC·체성분 확장모델 (Gangnam / Sinchon)</a:t>
            </a:r>
          </a:p>
        </p:txBody>
      </p:sp>
      <p:pic>
        <p:nvPicPr>
          <p:cNvPr id="3" name="Picture 2" descr="fig2_delta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3. FPCA 계수 역변환 - Slice별 logit 기여도 (FPCA-only, slice index 기준)</a:t>
            </a:r>
          </a:p>
        </p:txBody>
      </p:sp>
      <p:pic>
        <p:nvPicPr>
          <p:cNvPr id="3" name="Picture 2" descr="fpca_recovere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812276"/>
            <a:ext cx="11176000" cy="3806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Discussion — 체성분은 기여하지만 코호트 간 일관되지 않다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① AEC(FPCA) 추가는 ΔAUC -0.034~+0.039, 변형(FPCA+ratio·FPCA-only·ratio-only) 전체로 봐도 -0.034~+0.039로 전처리·파생 방식을 바꿔도 기여가 작다</a:t>
            </a:r>
          </a:p>
          <a:p>
            <a:r>
              <a:rPr sz="1800"/>
              <a:t>② 체성분은 기여한다 — AEC+체성분 ΔAUC +0.024~+0.071, 체성분만 +0.005~+0.057. Sinchon(n=1,123)은 3/3 질환에서 Baseline 대비 유의, Gangnam(test n=252)은 1/3 질환에 그친다</a:t>
            </a:r>
          </a:p>
          <a:p>
            <a:r>
              <a:rPr sz="1800"/>
              <a:t>③ 크기가 부위·질환·코호트마다 들쭉날쭉하다 (예: CKD Gangnam은 체성분만 +0.005, AEC(FPCA) -0.034) — 곡선 정보가 코호트에 걸쳐 안정적으로 재현되지 않는다</a:t>
            </a:r>
          </a:p>
          <a:p>
            <a:r>
              <a:rPr sz="1800"/>
              <a:t>해석(가설): crop 범위 안에서도 환자마다 해부학적 구성이 달라 같은 slice index가 같은 위치를 뜻하지 않는다 → FPCA·전처리는 위치 불일치를 교정하지 못해 개선의 크기와 일관성이 모두 제한된다</a:t>
            </a:r>
          </a:p>
          <a:p>
            <a:r>
              <a:rPr sz="1800"/>
              <a:t>한계: 위치 불일치를 직접 측정한 것은 아니며, landmark 정렬 후 같은 평가에서 개선이 안정화되는지로 검증해야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Future Work — Landmark별 Body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목표: Sinchon에서 확인된 체성분의 기여를 Gangnam에서도 재현되는, 코호트 간 일관된 개선으로 만든다</a:t>
            </a:r>
          </a:p>
          <a:p>
            <a:r>
              <a:rPr sz="1800"/>
              <a:t>환자별 해부학적 landmark를 기준으로 슬라이스를 정렬해, 같은 landmark에서 체성분(VAT·SAT·근육·근내지방)을 추출한다</a:t>
            </a:r>
          </a:p>
          <a:p>
            <a:r>
              <a:rPr sz="1800"/>
              <a:t>곡선 전체(128구간) 대신 landmark 단면 값을 입력으로 써서 crop range 의존성을 제거한다</a:t>
            </a:r>
          </a:p>
          <a:p>
            <a:r>
              <a:rPr sz="1800"/>
              <a:t>동일 평가 프레임(Gangnam 개발 / Sinchon 외부, Youden cutoff, paired DeLong)으로 Baseline·본 연구 결과와 직접 비교한다</a:t>
            </a:r>
          </a:p>
          <a:p>
            <a:r>
              <a:rPr sz="1800"/>
              <a:t>검증: 개선 크기가 커지고 코호트 간 편차가 줄어드는지로 range 불일치 가설을 확인한다 (New10000은 longitudinal이라 별도 설계로 분리)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sz="1800"/>
              <a:t>Clinic4(성별·나이·신장·체중)만으로 AUC Gangnam 0.66~0.77, Sinchon 0.61~0.71 수준의 판별력을 보인다</a:t>
            </a:r>
          </a:p>
          <a:p>
            <a:r>
              <a:rPr sz="1800"/>
              <a:t>AEC 곡선(FPCA)만 추가하면 ΔAUC -0.034~+0.039로 미미하거나 오히려 하락한다 (CKD Gangnam -0.034)</a:t>
            </a:r>
          </a:p>
          <a:p>
            <a:r>
              <a:rPr sz="1800"/>
              <a:t>체성분을 더하면 개선된다 — AEC+체성분 ΔAUC +0.024~+0.071, Sinchon 3/3 질환에서 유의. 다만 Gangnam은 1/3 질환뿐이고 부위·질환에 따라 편차가 커 코호트 간 일관되지 않다</a:t>
            </a:r>
          </a:p>
          <a:p>
            <a:r>
              <a:rPr sz="1800"/>
              <a:t>해석(가설): 환자마다 crop을 했더라도 range가 일정하지 않아 같은 slice index가 서로 다른 해부학적 위치를 가리킨다</a:t>
            </a:r>
          </a:p>
          <a:p>
            <a:r>
              <a:rPr sz="1800"/>
              <a:t>후속 연구: 해부학적 landmark별 body composition으로 range 의존성을 제거해 개선의 크기와 일관성을 다시 평가한다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S1. Undersampling 전후 비교 — AUC는 대체로 유지, Youden cutoff에서 Sens/Spec 균형</a:t>
            </a:r>
          </a:p>
        </p:txBody>
      </p:sp>
      <p:sp>
        <p:nvSpPr>
          <p:cNvPr id="4" name="Rationale Text"/>
          <p:cNvSpPr>
            <a:spLocks noGrp="1"/>
          </p:cNvSpPr>
          <p:nvPr/>
        </p:nvSpPr>
        <p:spPr>
          <a:xfrm>
            <a:off x="508000" y="975360"/>
            <a:ext cx="11176000" cy="19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sz="1300"/>
              <a:t>Cutoff을 valid ROC의 Youden index 최대점으로 잡으면 원본 유병률에서도 Sensitivity가 붕괴하지 않음 (Sens 0.53~0.77). 0.5 고정 cutoff에서는 Sens 0.01~0.05로 붕괴해 사용하지 않음</a:t>
            </a:r>
          </a:p>
          <a:p>
            <a:pPr marL="228600" indent="-228600">
              <a:buFont typeface="Arial"/>
              <a:buChar char="•"/>
            </a:pPr>
            <a:r>
              <a:rPr sz="1300"/>
              <a:t>AUC는 순위 기반 지표라 prevalence에 둔감 → 언더샘플링 전후 AUC 변화 -0.013~+0.100 (balanced test는 n=42~155로 작아 DM Gangnam 등 변동이 큼)</a:t>
            </a:r>
          </a:p>
          <a:p>
            <a:pPr marL="228600" indent="-228600">
              <a:buFont typeface="Arial"/>
              <a:buChar char="•"/>
            </a:pPr>
            <a:r>
              <a:rPr sz="1300"/>
              <a:t>음성군을 양성군 수만큼 1:1 랜덤 언더샘플링(balanced_idx, code/clinic4_logistic_regression.py) 후 재학습·재평가 — 평가 부분집합이 달라 두 설정의 AUC는 동일 표본 비교가 아님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3000000"/>
          <a:ext cx="11173968" cy="341999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/>
                <a:gridCol w="1862328"/>
                <a:gridCol w="1862328"/>
                <a:gridCol w="1862328"/>
                <a:gridCol w="1862328"/>
                <a:gridCol w="1862328"/>
              </a:tblGrid>
              <a:tr h="488571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Cutoff (orig→balanced)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(orig→balanced)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Sensitivity (orig→balanced)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Specificity (orig→balanced)</a:t>
                      </a:r>
                    </a:p>
                  </a:txBody>
                  <a:tcPr anchor="ctr"/>
                </a:tc>
              </a:tr>
              <a:tr h="488571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0.303→0.498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0.761→0.780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0.740→0.792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0.623→0.654</a:t>
                      </a:r>
                    </a:p>
                  </a:txBody>
                  <a:tcPr anchor="ctr"/>
                </a:tc>
              </a:tr>
              <a:tr h="48857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0.279→0.466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0.715→0.722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0.771→0.787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0.578→0.538</a:t>
                      </a:r>
                    </a:p>
                  </a:txBody>
                  <a:tcPr anchor="ctr"/>
                </a:tc>
              </a:tr>
              <a:tr h="488571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0.545→0.395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0.661→0.761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0.532→0.915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0.698→0.447</a:t>
                      </a:r>
                    </a:p>
                  </a:txBody>
                  <a:tcPr anchor="ctr"/>
                </a:tc>
              </a:tr>
              <a:tr h="48857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0.527→0.445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0.649→0.682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0.609→0.773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0.615→0.478</a:t>
                      </a:r>
                    </a:p>
                  </a:txBody>
                  <a:tcPr anchor="ctr"/>
                </a:tc>
              </a:tr>
              <a:tr h="488571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0.087→0.545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0.765→0.794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0.667→0.429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0.641→0.857</a:t>
                      </a:r>
                    </a:p>
                  </a:txBody>
                  <a:tcPr anchor="ctr"/>
                </a:tc>
              </a:tr>
              <a:tr h="48857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0.071→0.529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0.613→0.600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0.638→0.473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0.528→0.649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S2. Clinic4 Coefficient / Odds Ratio (Internal train+valid)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8000" y="975360"/>
          <a:ext cx="11175997" cy="5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790"/>
                <a:gridCol w="2599069"/>
                <a:gridCol w="2599069"/>
                <a:gridCol w="2599069"/>
              </a:tblGrid>
              <a:tr h="42153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Odds Ratio</a:t>
                      </a:r>
                    </a:p>
                  </a:txBody>
                  <a:tcPr/>
                </a:tc>
              </a:tr>
              <a:tr h="421538">
                <a:tc rowSpan="4"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Sex(M)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2.962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2.832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-0.460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0.631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1.886</a:t>
                      </a:r>
                    </a:p>
                  </a:txBody>
                  <a:tcPr/>
                </a:tc>
              </a:tr>
              <a:tr h="421538">
                <a:tc rowSpan="4"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Sex(M)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1.824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1.692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-0.346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0.707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1.999</a:t>
                      </a:r>
                    </a:p>
                  </a:txBody>
                  <a:tcPr/>
                </a:tc>
              </a:tr>
              <a:tr h="421538">
                <a:tc rowSpan="4"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Sex(M)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5.221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1.785</a:t>
                      </a:r>
                    </a:p>
                  </a:txBody>
                  <a:tcPr/>
                </a:tc>
              </a:tr>
              <a:tr h="42153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-0.551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0.576</a:t>
                      </a:r>
                    </a:p>
                  </a:txBody>
                  <a:tcPr/>
                </a:tc>
              </a:tr>
              <a:tr h="421544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0.566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 b="0"/>
                        <a:t>1.761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S3. AEC 변형 비교 - FPCA+ratio vs FPCA-only vs ratio-only (VIF 다중공선성 확인)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5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34793"/>
                <a:gridCol w="2234793"/>
                <a:gridCol w="2234793"/>
                <a:gridCol w="2234793"/>
                <a:gridCol w="2234793"/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(FPCA+ratio)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(FPCA-only)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(ratio-only)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0.726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0.656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0.650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0.750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0.635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S4. +AEC FPCA-only Coefficient (Internal, * p&lt;0.05, 보정 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8000" y="975360"/>
          <a:ext cx="11176000" cy="5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  <a:gridCol w="2235200"/>
                <a:gridCol w="2235200"/>
              </a:tblGrid>
              <a:tr h="548000">
                <a:tc>
                  <a:txBody>
                    <a:bodyPr/>
                    <a:lstStyle/>
                    <a:p>
                      <a:r>
                        <a:rPr sz="1100" b="1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p-value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>고혈압(HTN)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6.31e-04 *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-0.493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4.51e-06 *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0.337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>당뇨병(DM)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0.216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-0.520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9.23e-06 *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1.136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0.173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>만성신장질환(CKD)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0.450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-0.371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0.018 *</a:t>
                      </a:r>
                    </a:p>
                  </a:txBody>
                  <a:tcPr/>
                </a:tc>
              </a:tr>
              <a:tr h="548000">
                <a:tc>
                  <a:txBody>
                    <a:bodyPr/>
                    <a:lstStyle/>
                    <a:p>
                      <a:r>
                        <a:rPr sz="1100" b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aec_fpca_pc3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-0.077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0.540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t>Table S5. Baseline 대비 확장모델 AUC (1:1 Balanced, * paired DeLong p&lt;0.05 vs Baseline)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12064" y="978408"/>
          <a:ext cx="1117396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2328"/>
                <a:gridCol w="1862328"/>
                <a:gridCol w="1862328"/>
                <a:gridCol w="1862328"/>
                <a:gridCol w="1862328"/>
                <a:gridCol w="1862328"/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 (FPCA)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+AEC+체성분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체성분만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고혈압(HTN)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0.821*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0.827*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0.817*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0.739*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0.736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당뇨병(DM)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0.755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0.687</a:t>
                      </a:r>
                    </a:p>
                  </a:txBody>
                  <a:tcPr anchor="ctr"/>
                </a:tc>
              </a:tr>
              <a:tr h="732090">
                <a:tc rowSpan="2">
                  <a:txBody>
                    <a:bodyPr/>
                    <a:lstStyle/>
                    <a:p>
                      <a:pPr algn="ctr"/>
                      <a:r>
                        <a:rPr sz="1200" b="0"/>
                        <a:t>만성신장질환(CKD)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Internal (Gangnam)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</a:t>
                      </a:r>
                    </a:p>
                  </a:txBody>
                  <a:tcPr anchor="ctr"/>
                </a:tc>
              </a:tr>
              <a:tr h="73209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External (Sinchon)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0.667*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0.664*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7225</TotalTime>
  <Words>2813</Words>
  <Application>Microsoft Office PowerPoint</Application>
  <PresentationFormat>와이드스크린</PresentationFormat>
  <Paragraphs>182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KoPub돋움체 Bold</vt:lpstr>
      <vt:lpstr>Arial</vt:lpstr>
      <vt:lpstr>KoPub돋움체 Medium</vt:lpstr>
      <vt:lpstr>Office 테마</vt:lpstr>
      <vt:lpstr>PowerPoint 프레젠테이션</vt:lpstr>
      <vt:lpstr>연구 배경 및 목적</vt:lpstr>
      <vt:lpstr>Research Summary</vt:lpstr>
      <vt:lpstr>실험설계 ① 모델 정의</vt:lpstr>
      <vt:lpstr>실험설계 ② 검증 원칙</vt:lpstr>
      <vt:lpstr>실험설계 ③-0 VIF — 체성분 스칼라 9종 동시 투입 시</vt:lpstr>
      <vt:lpstr>실험설계 ③-1 개별모델 VIF — 체성분 스칼라 8종</vt:lpstr>
      <vt:lpstr>실험설계 ③-2 개별모델 VIF — 변수간 비율 3종</vt:lpstr>
      <vt:lpstr>실험설계 ③-3 개별모델 VIF — 곡선 FPCA(elbow n) 7종</vt:lpstr>
      <vt:lpstr>실험설계 ③-4 개별모델 VIF — 곡선 Upper/Lower ratio 7종</vt:lpstr>
      <vt:lpstr>실험설계 ③-5 개별모델 VIF — 곡선 slope 7종</vt:lpstr>
      <vt:lpstr>실험설계 ③-6 개별모델 VIF 종합 (32개 전체 한눈에)</vt:lpstr>
      <vt:lpstr>결과 ① AUC 요약 — 체성분 스칼라 8종</vt:lpstr>
      <vt:lpstr>결과 ①-보충: ROC·Calibration·DCA — 체성분 스칼라 8종</vt:lpstr>
      <vt:lpstr>결과 ② AUC 요약 — 변수간 비율 3종</vt:lpstr>
      <vt:lpstr>결과 ②-보충: ROC·Calibration·DCA — 변수간 비율 3종</vt:lpstr>
      <vt:lpstr>결과 ③ AUC 요약 — 곡선 FPCA(elbow n)</vt:lpstr>
      <vt:lpstr>결과 ③-보충: ROC·Calibration·DCA — 곡선 FPCA(elbow n)</vt:lpstr>
      <vt:lpstr>결과 ④ AUC 요약 — 곡선 Upper/Lower ratio</vt:lpstr>
      <vt:lpstr>결과 ④-보충: ROC·Calibration·DCA — 곡선 Upper/Lower ratio</vt:lpstr>
      <vt:lpstr>결과 ⑤ AUC 요약 — 곡선 slope (liver→pubis 선형추세)</vt:lpstr>
      <vt:lpstr>결과 ⑤-보충: ROC·Calibration·DCA — 곡선 slope</vt:lpstr>
      <vt:lpstr>결과 ⑥ Top5 종합 비교 (3질환 한눈에)</vt:lpstr>
      <vt:lpstr>결과 ⑦ Top 5 교차비교 — HTN</vt:lpstr>
      <vt:lpstr>결과 ⑦ Top 5 교차비교 — DM</vt:lpstr>
      <vt:lpstr>결과 ⑦ Top 5 교차비교 — CKD</vt:lpstr>
      <vt:lpstr>결과 ⑧ DeLong·BH-FDR 유의 결과 (external, q&lt;0.05)</vt:lpstr>
      <vt:lpstr>결과 ⑨ 3번째 검증 코호트(new10000) AUC 비교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700</cp:revision>
  <dcterms:created xsi:type="dcterms:W3CDTF">2026-04-09T07:05:16Z</dcterms:created>
  <dcterms:modified xsi:type="dcterms:W3CDTF">2026-09-17T03:19:59Z</dcterms:modified>
</cp:coreProperties>
</file>