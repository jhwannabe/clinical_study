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0"/>
  </p:notesMasterIdLst>
  <p:sldIdLst>
    <p:sldId id="331" r:id="rId39"/>
    <p:sldId id="332" r:id="rId40"/>
    <p:sldId id="333" r:id="rId41"/>
    <p:sldId id="334" r:id="rId42"/>
    <p:sldId id="335" r:id="rId43"/>
    <p:sldId id="336" r:id="rId44"/>
    <p:sldId id="337" r:id="rId45"/>
    <p:sldId id="338" r:id="rId46"/>
    <p:sldId id="339" r:id="rId47"/>
    <p:sldId id="340" r:id="rId48"/>
    <p:sldId id="341" r:id="rId49"/>
    <p:sldId id="342" r:id="rId50"/>
    <p:sldId id="343" r:id="rId51"/>
    <p:sldId id="344" r:id="rId52"/>
    <p:sldId id="345" r:id="rId53"/>
    <p:sldId id="346" r:id="rId54"/>
    <p:sldId id="347" r:id="rId55"/>
    <p:sldId id="348" r:id="rId56"/>
    <p:sldId id="349" r:id="rId57"/>
    <p:sldId id="350" r:id="rId58"/>
    <p:sldId id="351" r:id="rId59"/>
    <p:sldId id="352" r:id="rId60"/>
    <p:sldId id="353" r:id="rId61"/>
    <p:sldId id="354" r:id="rId62"/>
    <p:sldId id="355" r:id="rId63"/>
    <p:sldId id="356" r:id="rId64"/>
    <p:sldId id="357" r:id="rId65"/>
    <p:sldId id="358" r:id="rId66"/>
    <p:sldId id="359" r:id="rId67"/>
    <p:sldId id="360" r:id="rId68"/>
    <p:sldId id="361" r:id="rId69"/>
    <p:sldId id="362" r:id="rId70"/>
    <p:sldId id="363" r:id="rId71"/>
    <p:sldId id="364" r:id="rId72"/>
    <p:sldId id="365" r:id="rId73"/>
    <p:sldId id="366" r:id="rId74"/>
    <p:sldId id="367" r:id="rId75"/>
    <p:sldId id="368" r:id="rId76"/>
    <p:sldId id="369" r:id="rId77"/>
    <p:sldId id="370" r:id="rId78"/>
    <p:sldId id="371" r:id="rId79"/>
    <p:sldId id="372" r:id="rId80"/>
    <p:sldId id="373" r:id="rId81"/>
    <p:sldId id="374" r:id="rId82"/>
    <p:sldId id="375" r:id="rId83"/>
    <p:sldId id="376" r:id="rId84"/>
    <p:sldId id="377" r:id="rId85"/>
    <p:sldId id="378" r:id="rId86"/>
    <p:sldId id="379" r:id="rId87"/>
    <p:sldId id="380" r:id="rId88"/>
    <p:sldId id="381" r:id="rId89"/>
    <p:sldId id="382" r:id="rId90"/>
    <p:sldId id="383" r:id="rId91"/>
    <p:sldId id="384" r:id="rId92"/>
    <p:sldId id="385" r:id="rId93"/>
  </p:sldIdLst>
  <p:sldSz cx="12192000" cy="6858000"/>
  <p:notesSz cx="6858000" cy="9144000"/>
  <p:embeddedFontLst>
    <p:embeddedFont>
      <p:font typeface="KoPub돋움체 Bold" panose="00000800000000000000" pitchFamily="2" charset="-127"/>
      <p:bold r:id="rId31"/>
    </p:embeddedFont>
    <p:embeddedFont>
      <p:font typeface="KoPub돋움체 Medium" panose="00000600000000000000" pitchFamily="2" charset="-127"/>
      <p:regular r:id="rId3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301"/>
            <p14:sldId id="302"/>
            <p14:sldId id="303"/>
            <p14:sldId id="304"/>
            <p14:sldId id="305"/>
            <p14:sldId id="306"/>
            <p14:sldId id="307"/>
            <p14:sldId id="308"/>
            <p14:sldId id="309"/>
            <p14:sldId id="310"/>
            <p14:sldId id="311"/>
            <p14:sldId id="312"/>
            <p14:sldId id="314"/>
            <p14:sldId id="315"/>
            <p14:sldId id="316"/>
            <p14:sldId id="318"/>
            <p14:sldId id="319"/>
            <p14:sldId id="320"/>
            <p14:sldId id="321"/>
            <p14:sldId id="323"/>
            <p14:sldId id="324"/>
            <p14:sldId id="325"/>
            <p14:sldId id="326"/>
            <p14:sldId id="327"/>
            <p14:sldId id="328"/>
            <p14:sldId id="329"/>
            <p14:sldId id="33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152" autoAdjust="0"/>
  </p:normalViewPr>
  <p:slideViewPr>
    <p:cSldViewPr snapToGrid="0">
      <p:cViewPr varScale="1">
        <p:scale>
          <a:sx n="96" d="100"/>
          <a:sy n="96" d="100"/>
        </p:scale>
        <p:origin x="1092" y="90"/>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commentAuthors" Target="commentAuthors.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microsoft.com/office/2016/11/relationships/changesInfo" Target="changesInfos/changesInfo1.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sldOrd modSection">
      <pc:chgData name="janghoon jun" userId="056a5883350c2f5e" providerId="LiveId" clId="{6DA654A6-03B0-40F7-A259-B276216985A6}" dt="2026-09-10T05:04:12.456" v="4648" actId="403"/>
      <pc:docMkLst>
        <pc:docMk/>
      </pc:docMkLst>
      <pc:sldChg chg="modSp mod modNotes modNotesTx">
        <pc:chgData name="janghoon jun" userId="056a5883350c2f5e" providerId="LiveId" clId="{6DA654A6-03B0-40F7-A259-B276216985A6}" dt="2026-09-10T04:59:39.505" v="4550" actId="207"/>
        <pc:sldMkLst>
          <pc:docMk/>
          <pc:sldMk cId="0" sldId="256"/>
        </pc:sldMkLst>
        <pc:spChg chg="mod">
          <ac:chgData name="janghoon jun" userId="056a5883350c2f5e" providerId="LiveId" clId="{6DA654A6-03B0-40F7-A259-B276216985A6}" dt="2026-09-10T04:59:39.505" v="4550" actId="207"/>
          <ac:spMkLst>
            <pc:docMk/>
            <pc:sldMk cId="0" sldId="256"/>
            <ac:spMk id="2" creationId="{00000000-0000-0000-0000-000000000000}"/>
          </ac:spMkLst>
        </pc:spChg>
        <pc:spChg chg="mod">
          <ac:chgData name="janghoon jun" userId="056a5883350c2f5e" providerId="LiveId" clId="{6DA654A6-03B0-40F7-A259-B276216985A6}" dt="2026-09-10T04:59:39.505" v="4550" actId="207"/>
          <ac:spMkLst>
            <pc:docMk/>
            <pc:sldMk cId="0" sldId="256"/>
            <ac:spMk id="3" creationId="{00000000-0000-0000-0000-000000000000}"/>
          </ac:spMkLst>
        </pc:spChg>
        <pc:spChg chg="mod">
          <ac:chgData name="janghoon jun" userId="056a5883350c2f5e" providerId="LiveId" clId="{6DA654A6-03B0-40F7-A259-B276216985A6}" dt="2026-09-10T04:59:39.505" v="4550" actId="207"/>
          <ac:spMkLst>
            <pc:docMk/>
            <pc:sldMk cId="0" sldId="256"/>
            <ac:spMk id="4" creationId="{00000000-0000-0000-0000-000000000000}"/>
          </ac:spMkLst>
        </pc:spChg>
        <pc:spChg chg="mod">
          <ac:chgData name="janghoon jun" userId="056a5883350c2f5e" providerId="LiveId" clId="{6DA654A6-03B0-40F7-A259-B276216985A6}" dt="2026-09-10T04:59:39.505" v="4550" actId="207"/>
          <ac:spMkLst>
            <pc:docMk/>
            <pc:sldMk cId="0" sldId="256"/>
            <ac:spMk id="5" creationId="{00000000-0000-0000-0000-000000000000}"/>
          </ac:spMkLst>
        </pc:spChg>
      </pc:sldChg>
      <pc:sldChg chg="addSp delSp modSp mod chgLayout modNotes modNotesTx">
        <pc:chgData name="janghoon jun" userId="056a5883350c2f5e" providerId="LiveId" clId="{6DA654A6-03B0-40F7-A259-B276216985A6}" dt="2026-09-10T05:04:12.456" v="4648" actId="403"/>
        <pc:sldMkLst>
          <pc:docMk/>
          <pc:sldMk cId="0" sldId="257"/>
        </pc:sldMkLst>
        <pc:spChg chg="mod ord">
          <ac:chgData name="janghoon jun" userId="056a5883350c2f5e" providerId="LiveId" clId="{6DA654A6-03B0-40F7-A259-B276216985A6}" dt="2026-09-02T02:37:45.894" v="3728" actId="6549"/>
          <ac:spMkLst>
            <pc:docMk/>
            <pc:sldMk cId="0" sldId="257"/>
            <ac:spMk id="2" creationId="{00000000-0000-0000-0000-000000000000}"/>
          </ac:spMkLst>
        </pc:spChg>
        <pc:spChg chg="mod">
          <ac:chgData name="janghoon jun" userId="056a5883350c2f5e" providerId="LiveId" clId="{6DA654A6-03B0-40F7-A259-B276216985A6}" dt="2026-09-10T05:04:12.456" v="4648" actId="403"/>
          <ac:spMkLst>
            <pc:docMk/>
            <pc:sldMk cId="0" sldId="257"/>
            <ac:spMk id="3" creationId="{00000000-0000-0000-0000-000000000000}"/>
          </ac:spMkLst>
        </pc:spChg>
      </pc:sldChg>
      <pc:sldChg chg="modSp mod">
        <pc:chgData name="janghoon jun" userId="056a5883350c2f5e" providerId="LiveId" clId="{6DA654A6-03B0-40F7-A259-B276216985A6}" dt="2026-09-10T03:16:00.971" v="4488" actId="404"/>
        <pc:sldMkLst>
          <pc:docMk/>
          <pc:sldMk cId="0" sldId="258"/>
        </pc:sldMkLst>
        <pc:spChg chg="mod">
          <ac:chgData name="janghoon jun" userId="056a5883350c2f5e" providerId="LiveId" clId="{6DA654A6-03B0-40F7-A259-B276216985A6}" dt="2026-09-10T03:16:00.971" v="4488" actId="404"/>
          <ac:spMkLst>
            <pc:docMk/>
            <pc:sldMk cId="0" sldId="258"/>
            <ac:spMk id="3" creationId="{00000000-0000-0000-0000-000000000000}"/>
          </ac:spMkLst>
        </pc:spChg>
      </pc:sldChg>
      <pc:sldChg chg="modSp mod">
        <pc:chgData name="janghoon jun" userId="056a5883350c2f5e" providerId="LiveId" clId="{6DA654A6-03B0-40F7-A259-B276216985A6}" dt="2026-09-08T03:15:38.775" v="4423" actId="2062"/>
        <pc:sldMkLst>
          <pc:docMk/>
          <pc:sldMk cId="0" sldId="259"/>
        </pc:sldMkLst>
      </pc:sldChg>
      <pc:sldChg chg="delSp modSp del mod">
        <pc:chgData name="janghoon jun" userId="056a5883350c2f5e" providerId="LiveId" clId="{6DA654A6-03B0-40F7-A259-B276216985A6}" dt="2026-09-10T05:01:31.864" v="4601" actId="47"/>
        <pc:sldMkLst>
          <pc:docMk/>
          <pc:sldMk cId="0" sldId="261"/>
        </pc:sldMkLst>
        <pc:spChg chg="mod">
          <ac:chgData name="janghoon jun" userId="056a5883350c2f5e" providerId="LiveId" clId="{6DA654A6-03B0-40F7-A259-B276216985A6}" dt="2026-09-10T05:01:04.719" v="4595" actId="21"/>
          <ac:spMkLst>
            <pc:docMk/>
            <pc:sldMk cId="0" sldId="261"/>
            <ac:spMk id="2" creationId="{00000000-0000-0000-0000-000000000000}"/>
          </ac:spMkLst>
        </pc:spChg>
        <pc:picChg chg="del mod">
          <ac:chgData name="janghoon jun" userId="056a5883350c2f5e" providerId="LiveId" clId="{6DA654A6-03B0-40F7-A259-B276216985A6}" dt="2026-09-10T05:01:08.538" v="4597" actId="21"/>
          <ac:picMkLst>
            <pc:docMk/>
            <pc:sldMk cId="0" sldId="261"/>
            <ac:picMk id="3" creationId="{00000000-0000-0000-0000-000000000000}"/>
          </ac:picMkLst>
        </pc:picChg>
      </pc:sldChg>
      <pc:sldChg chg="delSp modSp del mod">
        <pc:chgData name="janghoon jun" userId="056a5883350c2f5e" providerId="LiveId" clId="{6DA654A6-03B0-40F7-A259-B276216985A6}" dt="2026-09-10T05:01:46.958" v="4608" actId="47"/>
        <pc:sldMkLst>
          <pc:docMk/>
          <pc:sldMk cId="0" sldId="262"/>
        </pc:sldMkLst>
        <pc:spChg chg="mod">
          <ac:chgData name="janghoon jun" userId="056a5883350c2f5e" providerId="LiveId" clId="{6DA654A6-03B0-40F7-A259-B276216985A6}" dt="2026-09-10T05:01:37.563" v="4603" actId="21"/>
          <ac:spMkLst>
            <pc:docMk/>
            <pc:sldMk cId="0" sldId="262"/>
            <ac:spMk id="2" creationId="{00000000-0000-0000-0000-000000000000}"/>
          </ac:spMkLst>
        </pc:spChg>
        <pc:picChg chg="del">
          <ac:chgData name="janghoon jun" userId="056a5883350c2f5e" providerId="LiveId" clId="{6DA654A6-03B0-40F7-A259-B276216985A6}" dt="2026-09-10T05:01:41.989" v="4605" actId="21"/>
          <ac:picMkLst>
            <pc:docMk/>
            <pc:sldMk cId="0" sldId="262"/>
            <ac:picMk id="3" creationId="{00000000-0000-0000-0000-000000000000}"/>
          </ac:picMkLst>
        </pc:picChg>
      </pc:sldChg>
      <pc:sldChg chg="delSp modSp del mod">
        <pc:chgData name="janghoon jun" userId="056a5883350c2f5e" providerId="LiveId" clId="{6DA654A6-03B0-40F7-A259-B276216985A6}" dt="2026-09-10T05:02:01.467" v="4615" actId="47"/>
        <pc:sldMkLst>
          <pc:docMk/>
          <pc:sldMk cId="0" sldId="263"/>
        </pc:sldMkLst>
        <pc:spChg chg="mod">
          <ac:chgData name="janghoon jun" userId="056a5883350c2f5e" providerId="LiveId" clId="{6DA654A6-03B0-40F7-A259-B276216985A6}" dt="2026-09-10T05:01:54.745" v="4611" actId="21"/>
          <ac:spMkLst>
            <pc:docMk/>
            <pc:sldMk cId="0" sldId="263"/>
            <ac:spMk id="2" creationId="{00000000-0000-0000-0000-000000000000}"/>
          </ac:spMkLst>
        </pc:spChg>
        <pc:picChg chg="del">
          <ac:chgData name="janghoon jun" userId="056a5883350c2f5e" providerId="LiveId" clId="{6DA654A6-03B0-40F7-A259-B276216985A6}" dt="2026-09-10T05:01:59.021" v="4613" actId="21"/>
          <ac:picMkLst>
            <pc:docMk/>
            <pc:sldMk cId="0" sldId="263"/>
            <ac:picMk id="3" creationId="{00000000-0000-0000-0000-000000000000}"/>
          </ac:picMkLst>
        </pc:picChg>
      </pc:sldChg>
      <pc:sldChg chg="delSp modSp del mod">
        <pc:chgData name="janghoon jun" userId="056a5883350c2f5e" providerId="LiveId" clId="{6DA654A6-03B0-40F7-A259-B276216985A6}" dt="2026-09-10T05:02:33.552" v="4626" actId="47"/>
        <pc:sldMkLst>
          <pc:docMk/>
          <pc:sldMk cId="0" sldId="264"/>
        </pc:sldMkLst>
        <pc:spChg chg="mod">
          <ac:chgData name="janghoon jun" userId="056a5883350c2f5e" providerId="LiveId" clId="{6DA654A6-03B0-40F7-A259-B276216985A6}" dt="2026-09-10T05:02:07.183" v="4617" actId="21"/>
          <ac:spMkLst>
            <pc:docMk/>
            <pc:sldMk cId="0" sldId="264"/>
            <ac:spMk id="2" creationId="{00000000-0000-0000-0000-000000000000}"/>
          </ac:spMkLst>
        </pc:spChg>
        <pc:picChg chg="del mod">
          <ac:chgData name="janghoon jun" userId="056a5883350c2f5e" providerId="LiveId" clId="{6DA654A6-03B0-40F7-A259-B276216985A6}" dt="2026-09-10T05:02:10.641" v="4619" actId="21"/>
          <ac:picMkLst>
            <pc:docMk/>
            <pc:sldMk cId="0" sldId="264"/>
            <ac:picMk id="3" creationId="{00000000-0000-0000-0000-000000000000}"/>
          </ac:picMkLst>
        </pc:picChg>
      </pc:sldChg>
      <pc:sldChg chg="delSp modSp del mod">
        <pc:chgData name="janghoon jun" userId="056a5883350c2f5e" providerId="LiveId" clId="{6DA654A6-03B0-40F7-A259-B276216985A6}" dt="2026-09-10T05:03:04.881" v="4633" actId="47"/>
        <pc:sldMkLst>
          <pc:docMk/>
          <pc:sldMk cId="0" sldId="265"/>
        </pc:sldMkLst>
        <pc:spChg chg="mod">
          <ac:chgData name="janghoon jun" userId="056a5883350c2f5e" providerId="LiveId" clId="{6DA654A6-03B0-40F7-A259-B276216985A6}" dt="2026-09-10T05:02:38.758" v="4628" actId="21"/>
          <ac:spMkLst>
            <pc:docMk/>
            <pc:sldMk cId="0" sldId="265"/>
            <ac:spMk id="2" creationId="{00000000-0000-0000-0000-000000000000}"/>
          </ac:spMkLst>
        </pc:spChg>
        <pc:graphicFrameChg chg="modGraphic">
          <ac:chgData name="janghoon jun" userId="056a5883350c2f5e" providerId="LiveId" clId="{6DA654A6-03B0-40F7-A259-B276216985A6}" dt="2026-09-10T03:22:54.047" v="4543" actId="255"/>
          <ac:graphicFrameMkLst>
            <pc:docMk/>
            <pc:sldMk cId="0" sldId="265"/>
            <ac:graphicFrameMk id="3" creationId="{00000000-0000-0000-0000-000000000000}"/>
          </ac:graphicFrameMkLst>
        </pc:graphicFrameChg>
        <pc:picChg chg="del">
          <ac:chgData name="janghoon jun" userId="056a5883350c2f5e" providerId="LiveId" clId="{6DA654A6-03B0-40F7-A259-B276216985A6}" dt="2026-09-10T05:02:42.851" v="4630" actId="21"/>
          <ac:picMkLst>
            <pc:docMk/>
            <pc:sldMk cId="0" sldId="265"/>
            <ac:picMk id="3" creationId="{00000000-0000-0000-0000-000000000000}"/>
          </ac:picMkLst>
        </pc:picChg>
      </pc:sldChg>
      <pc:sldChg chg="delSp modSp mod">
        <pc:chgData name="janghoon jun" userId="056a5883350c2f5e" providerId="LiveId" clId="{6DA654A6-03B0-40F7-A259-B276216985A6}" dt="2026-09-10T05:03:31.457" v="4640" actId="1076"/>
        <pc:sldMkLst>
          <pc:docMk/>
          <pc:sldMk cId="0" sldId="266"/>
        </pc:sldMkLst>
        <pc:spChg chg="mod">
          <ac:chgData name="janghoon jun" userId="056a5883350c2f5e" providerId="LiveId" clId="{6DA654A6-03B0-40F7-A259-B276216985A6}" dt="2026-09-10T03:16:18.752" v="4490" actId="404"/>
          <ac:spMkLst>
            <pc:docMk/>
            <pc:sldMk cId="0" sldId="266"/>
            <ac:spMk id="3" creationId="{00000000-0000-0000-0000-000000000000}"/>
          </ac:spMkLst>
        </pc:spChg>
        <pc:spChg chg="mod">
          <ac:chgData name="janghoon jun" userId="056a5883350c2f5e" providerId="LiveId" clId="{6DA654A6-03B0-40F7-A259-B276216985A6}" dt="2026-09-10T05:03:31.457" v="4640" actId="1076"/>
          <ac:spMkLst>
            <pc:docMk/>
            <pc:sldMk cId="0" sldId="266"/>
            <ac:spMk id="5" creationId="{00000000-0000-0000-0000-000000000000}"/>
          </ac:spMkLst>
        </pc:spChg>
        <pc:graphicFrameChg chg="mod modGraphic">
          <ac:chgData name="janghoon jun" userId="056a5883350c2f5e" providerId="LiveId" clId="{6DA654A6-03B0-40F7-A259-B276216985A6}" dt="2026-09-10T05:03:27.249" v="4639" actId="1076"/>
          <ac:graphicFrameMkLst>
            <pc:docMk/>
            <pc:sldMk cId="0" sldId="266"/>
            <ac:graphicFrameMk id="4" creationId="{00000000-0000-0000-0000-000000000000}"/>
          </ac:graphicFrameMkLst>
        </pc:graphicFrameChg>
      </pc:sldChg>
      <pc:sldChg chg="delSp modSp del mod">
        <pc:chgData name="janghoon jun" userId="056a5883350c2f5e" providerId="LiveId" clId="{6DA654A6-03B0-40F7-A259-B276216985A6}" dt="2026-09-10T05:00:59.834" v="4593" actId="27636"/>
        <pc:sldMkLst>
          <pc:docMk/>
          <pc:sldMk cId="0" sldId="267"/>
        </pc:sldMkLst>
        <pc:spChg chg="mod">
          <ac:chgData name="janghoon jun" userId="056a5883350c2f5e" providerId="LiveId" clId="{6DA654A6-03B0-40F7-A259-B276216985A6}" dt="2026-09-08T03:22:06.514" v="4485" actId="20577"/>
          <ac:spMkLst>
            <pc:docMk/>
            <pc:sldMk cId="0" sldId="267"/>
            <ac:spMk id="2" creationId="{00000000-0000-0000-0000-000000000000}"/>
          </ac:spMkLst>
        </pc:spChg>
        <pc:spChg chg="mod">
          <ac:chgData name="janghoon jun" userId="056a5883350c2f5e" providerId="LiveId" clId="{6DA654A6-03B0-40F7-A259-B276216985A6}" dt="2026-09-10T05:00:59.834" v="4593" actId="27636"/>
          <ac:spMkLst>
            <pc:docMk/>
            <pc:sldMk cId="0" sldId="267"/>
            <ac:spMk id="3" creationId="{00000000-0000-0000-0000-000000000000}"/>
          </ac:spMkLst>
        </pc:spChg>
      </pc:sldChg>
      <pc:sldChg chg="modSp del mod">
        <pc:chgData name="janghoon jun" userId="056a5883350c2f5e" providerId="LiveId" clId="{6DA654A6-03B0-40F7-A259-B276216985A6}" dt="2026-09-10T05:04:04.780" v="4641" actId="47"/>
        <pc:sldMkLst>
          <pc:docMk/>
          <pc:sldMk cId="0" sldId="269"/>
        </pc:sldMkLst>
        <pc:graphicFrameChg chg="modGraphic">
          <ac:chgData name="janghoon jun" userId="056a5883350c2f5e" providerId="LiveId" clId="{6DA654A6-03B0-40F7-A259-B276216985A6}" dt="2026-09-10T03:22:45.138" v="4542" actId="255"/>
          <ac:graphicFrameMkLst>
            <pc:docMk/>
            <pc:sldMk cId="0" sldId="269"/>
            <ac:graphicFrameMk id="6" creationId="{E510CECF-189E-7B95-A7D1-8CF39243907A}"/>
          </ac:graphicFrameMkLst>
        </pc:graphicFrameChg>
      </pc:sldChg>
      <pc:sldChg chg="modSp mod">
        <pc:chgData name="janghoon jun" userId="056a5883350c2f5e" providerId="LiveId" clId="{6DA654A6-03B0-40F7-A259-B276216985A6}" dt="2026-09-10T03:22:37.115" v="4541" actId="255"/>
        <pc:sldMkLst>
          <pc:docMk/>
          <pc:sldMk cId="0" sldId="270"/>
        </pc:sldMkLst>
        <pc:spChg chg="mod">
          <ac:chgData name="janghoon jun" userId="056a5883350c2f5e" providerId="LiveId" clId="{6DA654A6-03B0-40F7-A259-B276216985A6}" dt="2026-09-10T03:22:37.115" v="4541" actId="255"/>
          <ac:spMkLst>
            <pc:docMk/>
            <pc:sldMk cId="0" sldId="270"/>
            <ac:spMk id="4" creationId="{00000000-0000-0000-0000-000000000000}"/>
          </ac:spMkLst>
        </pc:spChg>
        <pc:graphicFrameChg chg="modGraphic">
          <ac:chgData name="janghoon jun" userId="056a5883350c2f5e" providerId="LiveId" clId="{6DA654A6-03B0-40F7-A259-B276216985A6}" dt="2026-09-10T03:22:33.054" v="4540" actId="255"/>
          <ac:graphicFrameMkLst>
            <pc:docMk/>
            <pc:sldMk cId="0" sldId="270"/>
            <ac:graphicFrameMk id="3" creationId="{00000000-0000-0000-0000-000000000000}"/>
          </ac:graphicFrameMkLst>
        </pc:graphicFrameChg>
      </pc:sldChg>
      <pc:sldChg chg="modSp mod">
        <pc:chgData name="janghoon jun" userId="056a5883350c2f5e" providerId="LiveId" clId="{6DA654A6-03B0-40F7-A259-B276216985A6}" dt="2026-09-10T03:23:12.656" v="4546" actId="2710"/>
        <pc:sldMkLst>
          <pc:docMk/>
          <pc:sldMk cId="0" sldId="271"/>
        </pc:sldMkLst>
        <pc:spChg chg="mod">
          <ac:chgData name="janghoon jun" userId="056a5883350c2f5e" providerId="LiveId" clId="{6DA654A6-03B0-40F7-A259-B276216985A6}" dt="2026-09-10T03:23:12.656" v="4546" actId="2710"/>
          <ac:spMkLst>
            <pc:docMk/>
            <pc:sldMk cId="0" sldId="271"/>
            <ac:spMk id="4" creationId="{00000000-0000-0000-0000-000000000000}"/>
          </ac:spMkLst>
        </pc:spChg>
      </pc:sldChg>
      <pc:sldChg chg="modSp mod">
        <pc:chgData name="janghoon jun" userId="056a5883350c2f5e" providerId="LiveId" clId="{6DA654A6-03B0-40F7-A259-B276216985A6}" dt="2026-09-10T03:22:18.743" v="4536" actId="255"/>
        <pc:sldMkLst>
          <pc:docMk/>
          <pc:sldMk cId="0" sldId="272"/>
        </pc:sldMkLst>
        <pc:graphicFrameChg chg="modGraphic">
          <ac:chgData name="janghoon jun" userId="056a5883350c2f5e" providerId="LiveId" clId="{6DA654A6-03B0-40F7-A259-B276216985A6}" dt="2026-09-10T03:22:18.743" v="4536" actId="255"/>
          <ac:graphicFrameMkLst>
            <pc:docMk/>
            <pc:sldMk cId="0" sldId="272"/>
            <ac:graphicFrameMk id="3" creationId="{00000000-0000-0000-0000-000000000000}"/>
          </ac:graphicFrameMkLst>
        </pc:graphicFrameChg>
      </pc:sldChg>
      <pc:sldChg chg="addSp delSp modSp add mod">
        <pc:chgData name="janghoon jun" userId="056a5883350c2f5e" providerId="LiveId" clId="{6DA654A6-03B0-40F7-A259-B276216985A6}" dt="2026-09-10T05:01:14.195" v="4600" actId="1076"/>
        <pc:sldMkLst>
          <pc:docMk/>
          <pc:sldMk cId="2755278307" sldId="272"/>
        </pc:sldMkLst>
        <pc:spChg chg="mod">
          <ac:chgData name="janghoon jun" userId="056a5883350c2f5e" providerId="LiveId" clId="{6DA654A6-03B0-40F7-A259-B276216985A6}" dt="2026-09-10T05:01:06.801" v="4596"/>
          <ac:spMkLst>
            <pc:docMk/>
            <pc:sldMk cId="2755278307" sldId="272"/>
            <ac:spMk id="2" creationId="{47399A34-AE2B-4CC6-8304-596321EC9448}"/>
          </ac:spMkLst>
        </pc:spChg>
        <pc:spChg chg="del">
          <ac:chgData name="janghoon jun" userId="056a5883350c2f5e" providerId="LiveId" clId="{6DA654A6-03B0-40F7-A259-B276216985A6}" dt="2026-09-10T05:01:02.342" v="4594" actId="478"/>
          <ac:spMkLst>
            <pc:docMk/>
            <pc:sldMk cId="2755278307" sldId="272"/>
            <ac:spMk id="3" creationId="{8C665CBB-843D-1473-C103-8CBA53FCFA04}"/>
          </ac:spMkLst>
        </pc:spChg>
        <pc:spChg chg="add del mod">
          <ac:chgData name="janghoon jun" userId="056a5883350c2f5e" providerId="LiveId" clId="{6DA654A6-03B0-40F7-A259-B276216985A6}" dt="2026-09-10T05:01:11.596" v="4598" actId="478"/>
          <ac:spMkLst>
            <pc:docMk/>
            <pc:sldMk cId="2755278307" sldId="272"/>
            <ac:spMk id="5" creationId="{093EABBB-1335-B701-D6E0-0A3678A54285}"/>
          </ac:spMkLst>
        </pc:spChg>
        <pc:picChg chg="add mod">
          <ac:chgData name="janghoon jun" userId="056a5883350c2f5e" providerId="LiveId" clId="{6DA654A6-03B0-40F7-A259-B276216985A6}" dt="2026-09-10T05:01:14.195" v="4600" actId="1076"/>
          <ac:picMkLst>
            <pc:docMk/>
            <pc:sldMk cId="2755278307" sldId="272"/>
            <ac:picMk id="7" creationId="{DB5C9DB1-2489-F3D0-1976-537E15A9259F}"/>
          </ac:picMkLst>
        </pc:picChg>
      </pc:sldChg>
      <pc:sldChg chg="modSp mod">
        <pc:chgData name="janghoon jun" userId="056a5883350c2f5e" providerId="LiveId" clId="{6DA654A6-03B0-40F7-A259-B276216985A6}" dt="2026-09-10T03:21:38.729" v="4528" actId="255"/>
        <pc:sldMkLst>
          <pc:docMk/>
          <pc:sldMk cId="0" sldId="273"/>
        </pc:sldMkLst>
        <pc:graphicFrameChg chg="modGraphic">
          <ac:chgData name="janghoon jun" userId="056a5883350c2f5e" providerId="LiveId" clId="{6DA654A6-03B0-40F7-A259-B276216985A6}" dt="2026-09-10T03:21:38.729" v="4528" actId="255"/>
          <ac:graphicFrameMkLst>
            <pc:docMk/>
            <pc:sldMk cId="0" sldId="273"/>
            <ac:graphicFrameMk id="6" creationId="{E510CECF-189E-7B95-A7D1-8CF39243907A}"/>
          </ac:graphicFrameMkLst>
        </pc:graphicFrameChg>
      </pc:sldChg>
      <pc:sldChg chg="addSp delSp modSp add mod">
        <pc:chgData name="janghoon jun" userId="056a5883350c2f5e" providerId="LiveId" clId="{6DA654A6-03B0-40F7-A259-B276216985A6}" dt="2026-09-10T05:01:44.278" v="4607" actId="22"/>
        <pc:sldMkLst>
          <pc:docMk/>
          <pc:sldMk cId="3764616405" sldId="273"/>
        </pc:sldMkLst>
        <pc:spChg chg="mod">
          <ac:chgData name="janghoon jun" userId="056a5883350c2f5e" providerId="LiveId" clId="{6DA654A6-03B0-40F7-A259-B276216985A6}" dt="2026-09-10T05:01:39.369" v="4604"/>
          <ac:spMkLst>
            <pc:docMk/>
            <pc:sldMk cId="3764616405" sldId="273"/>
            <ac:spMk id="2" creationId="{81756DD1-59E1-2584-8E19-3E1B59037185}"/>
          </ac:spMkLst>
        </pc:spChg>
        <pc:picChg chg="add">
          <ac:chgData name="janghoon jun" userId="056a5883350c2f5e" providerId="LiveId" clId="{6DA654A6-03B0-40F7-A259-B276216985A6}" dt="2026-09-10T05:01:44.278" v="4607" actId="22"/>
          <ac:picMkLst>
            <pc:docMk/>
            <pc:sldMk cId="3764616405" sldId="273"/>
            <ac:picMk id="4" creationId="{4D791A2B-D934-61D3-05BA-457321A70678}"/>
          </ac:picMkLst>
        </pc:picChg>
        <pc:picChg chg="del">
          <ac:chgData name="janghoon jun" userId="056a5883350c2f5e" providerId="LiveId" clId="{6DA654A6-03B0-40F7-A259-B276216985A6}" dt="2026-09-10T05:01:43.956" v="4606" actId="478"/>
          <ac:picMkLst>
            <pc:docMk/>
            <pc:sldMk cId="3764616405" sldId="273"/>
            <ac:picMk id="7" creationId="{C0C8C0CA-19F3-5E89-D747-E613365C3187}"/>
          </ac:picMkLst>
        </pc:picChg>
      </pc:sldChg>
      <pc:sldChg chg="modSp mod">
        <pc:chgData name="janghoon jun" userId="056a5883350c2f5e" providerId="LiveId" clId="{6DA654A6-03B0-40F7-A259-B276216985A6}" dt="2026-09-10T03:21:46.220" v="4529" actId="255"/>
        <pc:sldMkLst>
          <pc:docMk/>
          <pc:sldMk cId="0" sldId="274"/>
        </pc:sldMkLst>
        <pc:graphicFrameChg chg="modGraphic">
          <ac:chgData name="janghoon jun" userId="056a5883350c2f5e" providerId="LiveId" clId="{6DA654A6-03B0-40F7-A259-B276216985A6}" dt="2026-09-10T03:21:46.220" v="4529" actId="255"/>
          <ac:graphicFrameMkLst>
            <pc:docMk/>
            <pc:sldMk cId="0" sldId="274"/>
            <ac:graphicFrameMk id="3" creationId="{00000000-0000-0000-0000-000000000000}"/>
          </ac:graphicFrameMkLst>
        </pc:graphicFrameChg>
      </pc:sldChg>
      <pc:sldChg chg="addSp delSp modSp add mod">
        <pc:chgData name="janghoon jun" userId="056a5883350c2f5e" providerId="LiveId" clId="{6DA654A6-03B0-40F7-A259-B276216985A6}" dt="2026-09-10T05:01:59.785" v="4614" actId="22"/>
        <pc:sldMkLst>
          <pc:docMk/>
          <pc:sldMk cId="2820107391" sldId="274"/>
        </pc:sldMkLst>
        <pc:spChg chg="mod">
          <ac:chgData name="janghoon jun" userId="056a5883350c2f5e" providerId="LiveId" clId="{6DA654A6-03B0-40F7-A259-B276216985A6}" dt="2026-09-10T05:01:56.743" v="4612"/>
          <ac:spMkLst>
            <pc:docMk/>
            <pc:sldMk cId="2820107391" sldId="274"/>
            <ac:spMk id="2" creationId="{96BE39D2-BACD-9BFA-6BEF-E23EB76F52A3}"/>
          </ac:spMkLst>
        </pc:spChg>
        <pc:picChg chg="del">
          <ac:chgData name="janghoon jun" userId="056a5883350c2f5e" providerId="LiveId" clId="{6DA654A6-03B0-40F7-A259-B276216985A6}" dt="2026-09-10T05:01:51.432" v="4610" actId="478"/>
          <ac:picMkLst>
            <pc:docMk/>
            <pc:sldMk cId="2820107391" sldId="274"/>
            <ac:picMk id="4" creationId="{44560D41-702E-22B7-E44B-6688B87607EB}"/>
          </ac:picMkLst>
        </pc:picChg>
        <pc:picChg chg="add">
          <ac:chgData name="janghoon jun" userId="056a5883350c2f5e" providerId="LiveId" clId="{6DA654A6-03B0-40F7-A259-B276216985A6}" dt="2026-09-10T05:01:59.785" v="4614" actId="22"/>
          <ac:picMkLst>
            <pc:docMk/>
            <pc:sldMk cId="2820107391" sldId="274"/>
            <ac:picMk id="5" creationId="{789B8AA2-C797-6A65-8F18-1F3D8565FBA8}"/>
          </ac:picMkLst>
        </pc:picChg>
      </pc:sldChg>
      <pc:sldChg chg="modSp mod">
        <pc:chgData name="janghoon jun" userId="056a5883350c2f5e" providerId="LiveId" clId="{6DA654A6-03B0-40F7-A259-B276216985A6}" dt="2026-09-10T03:23:26.413" v="4549" actId="2710"/>
        <pc:sldMkLst>
          <pc:docMk/>
          <pc:sldMk cId="0" sldId="275"/>
        </pc:sldMkLst>
        <pc:spChg chg="mod">
          <ac:chgData name="janghoon jun" userId="056a5883350c2f5e" providerId="LiveId" clId="{6DA654A6-03B0-40F7-A259-B276216985A6}" dt="2026-09-10T03:23:26.413" v="4549" actId="2710"/>
          <ac:spMkLst>
            <pc:docMk/>
            <pc:sldMk cId="0" sldId="275"/>
            <ac:spMk id="4" creationId="{00000000-0000-0000-0000-000000000000}"/>
          </ac:spMkLst>
        </pc:spChg>
      </pc:sldChg>
      <pc:sldChg chg="addSp delSp modSp add mod">
        <pc:chgData name="janghoon jun" userId="056a5883350c2f5e" providerId="LiveId" clId="{6DA654A6-03B0-40F7-A259-B276216985A6}" dt="2026-09-10T05:02:27.064" v="4625" actId="1076"/>
        <pc:sldMkLst>
          <pc:docMk/>
          <pc:sldMk cId="1751739855" sldId="275"/>
        </pc:sldMkLst>
        <pc:spChg chg="mod">
          <ac:chgData name="janghoon jun" userId="056a5883350c2f5e" providerId="LiveId" clId="{6DA654A6-03B0-40F7-A259-B276216985A6}" dt="2026-09-10T05:02:08.939" v="4618"/>
          <ac:spMkLst>
            <pc:docMk/>
            <pc:sldMk cId="1751739855" sldId="275"/>
            <ac:spMk id="2" creationId="{6F7E1DCF-9740-40AC-B307-1426493A0AC5}"/>
          </ac:spMkLst>
        </pc:spChg>
        <pc:picChg chg="add mod">
          <ac:chgData name="janghoon jun" userId="056a5883350c2f5e" providerId="LiveId" clId="{6DA654A6-03B0-40F7-A259-B276216985A6}" dt="2026-09-10T05:02:27.064" v="4625" actId="1076"/>
          <ac:picMkLst>
            <pc:docMk/>
            <pc:sldMk cId="1751739855" sldId="275"/>
            <ac:picMk id="4" creationId="{84710ACD-2049-27DA-4399-427001462009}"/>
          </ac:picMkLst>
        </pc:picChg>
        <pc:picChg chg="del">
          <ac:chgData name="janghoon jun" userId="056a5883350c2f5e" providerId="LiveId" clId="{6DA654A6-03B0-40F7-A259-B276216985A6}" dt="2026-09-10T05:02:12.860" v="4620" actId="478"/>
          <ac:picMkLst>
            <pc:docMk/>
            <pc:sldMk cId="1751739855" sldId="275"/>
            <ac:picMk id="5" creationId="{9575D779-2B9E-87D3-6075-E635B5824B4E}"/>
          </ac:picMkLst>
        </pc:picChg>
      </pc:sldChg>
      <pc:sldChg chg="modSp mod">
        <pc:chgData name="janghoon jun" userId="056a5883350c2f5e" providerId="LiveId" clId="{6DA654A6-03B0-40F7-A259-B276216985A6}" dt="2026-09-10T03:21:51.722" v="4530" actId="255"/>
        <pc:sldMkLst>
          <pc:docMk/>
          <pc:sldMk cId="0" sldId="276"/>
        </pc:sldMkLst>
        <pc:graphicFrameChg chg="modGraphic">
          <ac:chgData name="janghoon jun" userId="056a5883350c2f5e" providerId="LiveId" clId="{6DA654A6-03B0-40F7-A259-B276216985A6}" dt="2026-09-10T03:21:51.722" v="4530" actId="255"/>
          <ac:graphicFrameMkLst>
            <pc:docMk/>
            <pc:sldMk cId="0" sldId="276"/>
            <ac:graphicFrameMk id="3" creationId="{00000000-0000-0000-0000-000000000000}"/>
          </ac:graphicFrameMkLst>
        </pc:graphicFrameChg>
      </pc:sldChg>
      <pc:sldChg chg="addSp delSp modSp add mod">
        <pc:chgData name="janghoon jun" userId="056a5883350c2f5e" providerId="LiveId" clId="{6DA654A6-03B0-40F7-A259-B276216985A6}" dt="2026-09-10T05:02:45.534" v="4632" actId="22"/>
        <pc:sldMkLst>
          <pc:docMk/>
          <pc:sldMk cId="1504938630" sldId="276"/>
        </pc:sldMkLst>
        <pc:spChg chg="mod">
          <ac:chgData name="janghoon jun" userId="056a5883350c2f5e" providerId="LiveId" clId="{6DA654A6-03B0-40F7-A259-B276216985A6}" dt="2026-09-10T05:02:40.704" v="4629"/>
          <ac:spMkLst>
            <pc:docMk/>
            <pc:sldMk cId="1504938630" sldId="276"/>
            <ac:spMk id="2" creationId="{913683FB-DF95-E126-F2AF-437AEE942621}"/>
          </ac:spMkLst>
        </pc:spChg>
        <pc:picChg chg="del">
          <ac:chgData name="janghoon jun" userId="056a5883350c2f5e" providerId="LiveId" clId="{6DA654A6-03B0-40F7-A259-B276216985A6}" dt="2026-09-10T05:02:45.004" v="4631" actId="478"/>
          <ac:picMkLst>
            <pc:docMk/>
            <pc:sldMk cId="1504938630" sldId="276"/>
            <ac:picMk id="4" creationId="{46693135-C301-9F06-2589-F08988C88813}"/>
          </ac:picMkLst>
        </pc:picChg>
        <pc:picChg chg="add">
          <ac:chgData name="janghoon jun" userId="056a5883350c2f5e" providerId="LiveId" clId="{6DA654A6-03B0-40F7-A259-B276216985A6}" dt="2026-09-10T05:02:45.534" v="4632" actId="22"/>
          <ac:picMkLst>
            <pc:docMk/>
            <pc:sldMk cId="1504938630" sldId="276"/>
            <ac:picMk id="5" creationId="{D4DA04F9-B60D-B9E9-17B8-B1E936BB0517}"/>
          </ac:picMkLst>
        </pc:picChg>
      </pc:sldChg>
      <pc:sldChg chg="add del">
        <pc:chgData name="janghoon jun" userId="056a5883350c2f5e" providerId="LiveId" clId="{6DA654A6-03B0-40F7-A259-B276216985A6}" dt="2026-09-10T05:03:12.292" v="4635" actId="47"/>
        <pc:sldMkLst>
          <pc:docMk/>
          <pc:sldMk cId="2410116862"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2026-10-01</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발표는 몸통 CT 한 장에서 잴 수 있는 지방·근육 수치가 고혈압, 당뇨, 만성콩팥병이 있는 사람과 없는 사람 사이에 얼마나 다른지, 그리고 그 차이가 선행연구와 맞는지를 정리한 것입니다. 모든 결과는 두 병원(강남, 신촌) 자료로 확인했고, 근거 문헌이 없는 분석은 슬라이드에 그렇게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목적은 두 가지입니다. 첫째, CT의 어느 높이에서 잰 어떤 수치(내장지방, 피하지방, 근육, 촬영 전류)가 질환 유무와 가장 뚜렷하게 연결되는지 찾는 것. 둘째, 그 결과가 이미 발표된 연구와 같은 방향인지 확인하는 것입니다. [용어 풀이] landmark = 몸통 CT에서 척추뼈 높이를 기준으로 정한 위치(예: L3은 허리뼈 3번 높이). VAT = 내장지방, SAT = 피하지방, TAMA = 근육, AEC = CT를 찍을 때 환자 몸 두께에 맞춰 장비가 자동으로 조절하는 X선 세기. OR(오즈비) = 지표가 표준편차 하나만큼 클 때 질환이 있을 가능성이 몇 배인지(1이면 관계 없음). AUC = 질환이 있는 사람과 없는 사람을 구분하는 정도(0.5는 동전 던지기, 1.0은 완벽). 보정 = 나이·성별·BMI의 영향을 빼고 보는 것.</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방법은 두 단계입니다. 먼저 질환이 있는 군과 없는 군의 평균 차이를 크기(Cohen d)로 보고, 다음으로 나이·성별·BMI의 영향을 뺀 뒤 같은 질문을 다시 확인합니다. 수치를 수백 개 비교하면 우연히 유의해 보이는 것이 섞이므로 그 부분을 걸러내는 보정(FDR)을 했습니다. '일관됨'이라는 말은 두 병원 모두에서 유의하고 방향도 같다는 뜻으로, 가장 엄격한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분석 단계마다 '이 방법을 써도 된다는 문헌이 있는가'를 정리한 것입니다. 근거 있음은 예전 연구가 같은 방법을 썼다는 뜻이고, '없음(탐색적)'은 문헌을 못 찾았다는 뜻입니다. 환자 곡선을 자기 평균으로 나누는 방식과 촬영 전류(AEC)를 질환 지표로 읽는 것은 문헌 근거가 없어서, 그 결과는 확정이 아니라 단서로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 환자의 특성입니다. CT에서 위치 표시가 순서가 맞지 않는 환자는 제외하고 강남 1,436명, 신촌 1,129명이 남았습니다. 고혈압은 강남 469명, 신촌 492명, 당뇨는 291명과 338명, 콩팥병은 135명과 171명입니다. 콩팥병은 환자 수가 적어 결과가 불안정할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질환이 있는 군과 없는 군의 평균 차이를 '얼마나 큰가'로 나타낸 표입니다(숫자가 클수록 차이가 큼, 별표는 우연이 아닐 가능성이 높다는 뜻). 내장지방(VAT)의 차이가 질환 세 가지 모두에서 가장 크고, 피하지방·근육·촬영 전류는 훨씬 작습니다. 다만 이 단계는 나이나 체격의 영향을 뺀 것이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표를 모든 높이와 모든 지표로 넓혀 색으로 보여주는 그림입니다. 빨간색일수록 질환이 있는 군이 더 큰 값을 가집니다. 내장지방 열이 전반적으로 붉고, 높이로는 가슴과 허리 사이(T11~L2 부근)가 가장 뚜렷합니다. 두 병원 모두에서 비슷한 모양입니다.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나이·성별·BMI의 영향을 뺀 결과입니다. 표의 숫자는 오즈비로, 1보다 클수록 그 수치가 높은 사람이 질환을 가졌을 가능성이 큽니다. 이 엄격한 기준에서 두 병원 모두 유의한 것은 고혈압의 내장지방뿐입니다(예: L2에서 강남 1.74, 신촌 1.35). 당뇨의 내장지방은 강남에서만, 콩팥병은 어디서도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보정 후 결과를 전체 그림으로 본 것입니다. 보정 전보다 대부분의 효과가 줄어드는 것을 볼 수 있습니다. 당뇨에서는 피하지방이 오히려 1보다 작은 값(질환과 반대 방향)으로 나오기도 합니다. 체격(BMI)을 같이 맞추면 방향이 바뀌는 현상으로, 지방의 위치가 중요하다는 해석과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남성과 여성을 나눠 L2 높이 내장지방을 본 결과입니다. 방향은 대체로 같지만 신촌에서는 대부분 통계적으로 유의하지 않습니다. 나누면 사람 수가 줄어 결과가 불안정해지는 점을 감안해야 합니다. 선행연구(Framingham 등)에서는 여성에서 내장지방의 영향이 더 크다고 보고했습니다.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피하지방, 근육, 촬영 전류를 여러 방식(단면 값, 높이 간 비율, 구간 평균, 구간 비율, 조직 간 비율)으로 만들어 두 병원에서 일관된 것이 몇 개인지 센 표입니다. 분수는 '일관된 수 / 전체 수'입니다. 단면 값 하나로는 거의 없지만, 비율로 바꾸면 일부가 일관되게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표에서 질환·조직별로 가장 일관된 대표 지표를 뽑은 것입니다. 피하지방 대표(SAT/(SAT+VAT))는 사실 '내장지방 비중'을 뒤집은 값이라 피하지방만의 정보가 아닙니다. 촬영 전류 지표는 장비와 환자 체격의 영향이 섞였을 수 있어 해석에 주의가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몸통을 간에서 치골까지 128개 위치로 나누고 각 위치에서 보정 오즈비를 그린 곡선입니다. 선이 1 위쪽에 있으면 그 위치의 값이 클수록 질환 가능성이 큽니다. 점은 우연이라고 보기 어려운 위치입니다. 지표마다, 질환마다 의미 있는 위치가 다름을 한눈에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환자마다 몸 크기와 장비가 달라서 절대값 비교가 어렵습니다. 그래서 환자 자신의 값으로 곡선을 나눠 '자기 평균 대비 모양'만 남기는 방식(patient-wise)을 시도했습니다. 숫자는 두 병원에서 일관된 위치의 수(128개 중)입니다. 원래 값(raw)에서는 촬영 전류가 0개인데, 환자 평균으로 나누면 고혈압 111개, 당뇨 94개로 크게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일관된 위치가 많다고 해서 실제 판별력이 좋아지는 건 아닙니다. 이 표는 그 위치 하나를 기본 정보(나이·성별·BMI)에 더했을 때 다른 병원에서 AUC가 얼마나 변하는지입니다. 변화는 최대 +0.023으로 매우 작습니다. 통계적으로는 차이가 있어도 환자를 가려내는 힘은 거의 늘지 않는다는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촬영 전류(AEC)를 여러 방식으로 정규화했을 때의 위치별 오즈비 곡선입니다. 정규화 방식(행)에 따라 결과가 크게 달라지는 것을 볼 수 있습니다. 환자 평균으로 나눈 방식에서 신호가 가장 분명합니다. 이 방식이 옳다는 문헌 근거는 찾지 못했습니다.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강남 병원의 촬영 전류 곡선을, 환자 자기 평균으로 나눈 상대 값으로 비교한 그림입니다. 질환이 있는 사람(실선)은 윗배에서 상대 전류가 높고 아랫배에서 낮습니다. 곡선 전체의 모양 차이를 하나의 점수(PC1)로 요약해 검정했습니다.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신촌 병원의 같은 그림입니다. 강남과 같은 방향의 차이가 보여, 한 병원만의 우연은 아닐 가능성을 시사합니다. 다만 이것이 질환의 원인이나 몸의 변화를 뜻하는지는 설명하는 문헌이 없습니다.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 장비 종류마다 환자 수와 질환 비율이 다릅니다. 예를 들어 강남의 Revolution CT는 여성이 78%이고 고혈압 비율이 20%로 낮습니다. 촬영 전류는 장비의 영향을 받는 값이라, 장비가 질환과 얽혀 있으면 가짜 신호가 생길 수 있습니다. 그래서 장비를 보정해야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장비 종류를 같이 보정해도 환자 평균 대비 촬영 전류 신호가 남는지 본 표입니다. 화살표 앞은 보정 전, 뒤는 장비 보정 후 일관된 위치 수입니다. 고혈압·당뇨의 신호는 대부분 유지되지만, 콩팥병 신호는 사라집니다. 슬래시 뒤는 가장 많이 쓴 장비 한 종류만 따로 본 값인데, 두 병원의 장비가 달라서 직접 비교하기 어렵고 환자 수도 적어 약한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위치별로 128번 검정하는 대신 곡선 모양 전체를 점수 하나(PC1)로 요약해 한 번만 검정한 결과입니다. 검정 횟수가 적어 더 민감합니다. 촬영 전류는 두 병원 모두 고혈압·당뇨에서 나이·성별·BMI·장비를 보정한 뒤에도 유의합니다. 콩팥병은 신촌에서만 유의합니다.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곡선을 점수 하나가 아니라 구간별 평균으로 요약해 본 것입니다. 원래 값의 구간 평균(raw)에서는 촬영 전류 신호가 없고, 환자 평균 대비(pw_mean)로 바꿀 때만 두 병원 모두 유의합니다. 즉 촬영 전류의 '크기'가 아니라 윗배와 아랫배 사이의 '상대적인 모양'이 질환과 연결됩니다. 피하지방과 근육은 어떤 방식에서도 신호가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높이의 지표를 조합해 보았습니다. Tier 1은 같은 높이 안에서 지방·근육의 비율(문헌 근거 있음)이고, Tier 2는 서로 다른 높이와 조직을 섞은 탐색적 조합입니다. 같은 높이의 비율은 고혈압 25개, 당뇨 7개가 일관됩니다. Tier 2는 개수는 많지만 거의 내장지방/피하지방 비의 변형이거나 A/B와 B/A처럼 같은 정보가 중복된 것이라 독립적인 근거로 보면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지표를 한꺼번에 넣은 모델이 다른 병원 환자를 얼마나 잘 가려내는지(외부 AUC) 비교한 표입니다. 기본 정보(나이·성별·BMI)만 쓴 것에 비해 개선은 대부분 0.01 안팎입니다. 통계적으로 유의한 개선은 당뇨의 '같은 높이 비율' 세트 하나(+0.016)뿐입니다. 연관성이 있다고 해서 판별 성능이 크게 오르는 것은 아니라는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더 복잡한 인공지능(신경망, MLP)을 쓰면 성능이 오를지 확인한 표입니다. 각 칸은 로지스틱 회귀 / MLP 순서입니다. 평균 차이가 -0.001로 사실상 같고, 임상 예측 연구들을 모은 선행 분석(2019)에서도 인공지능이 로지스틱 회귀보다 낫지 않다는 결론이 나왔습니다. 처음에는 설정 오류로 MLP가 크게 나쁘게 나왔다가 정정한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성별, 나이대, BMI대, 장비별로 나눠서 지표가 AUC를 올리는 효과가 큰 그룹이 있는지 본 표입니다. 전체 그룹에서도 효과는 0 근처이고, 일부 방향에서만 약하게 유의합니다. 한 병원으로 학습하고 다른 병원에서 평가하는 방식이며 범위는 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그룹별로 효과가 큰 사례를 두 방향(강남→신촌, 신촌→강남)으로 비교한 표입니다. 한 방향에서는 커 보여도(+0.08) 반대 방향에서는 사라집니다(-0.01). 두 방향 모두 유의하고 부호도 같은 그룹은 162개 중 0개입니다. 그룹을 많이 나누면 우연히 큰 효과가 나오기 쉬우므로, 재현되지 않는 결과는 믿지 않는 것이 원칙입니다.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허리뼈 위치를 여러 개 골라 조합했을 때 더 좋은 조합이 있는지 찾아본 결과입니다. 간 위쪽과 치골 위치는 제외했고 10개 위치의 1~5개 조합 638개를 시험했습니다. 한 병원에서 고른 최적 조합이 다른 병원에서는 성능이 오르지 않았고, 질환과 방향마다 선택된 조합이 달랐습니다. L3 한 곳만 써도 충분하다는 선행연구와 맞습니다.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모든 종류의 지표 1,226개를 한 곳에 넣고 하나씩 더해 가며 가장 좋은 조합을 고른 결과입니다. 선택에 쓴 병원에서는 성능이 올라가 보이지만, 다른 병원에서는 오르지 않습니다(평균 -0.006). 후보가 너무 많으면 우연히 잘 맞는 조합이 골라지는 '과적합' 때문입니다. 그래서 안정적인 최적 조합은 확인되지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선행연구와 우리 결과를 비교한 표입니다. 내장지방이 피하지방보다 질환과 더 강하게 연결되고 여성에서 더 강하다는 점은 두 대규모 연구와 같은 방향입니다. 다만 선행연구는 부피나 면적 기준이고 우리는 CT 한 장의 단면이라 직접 비교에는 한계가 있습니다. 피하지방, 근육, 촬영 전류 행은 근거가 부족한 부분을 그대로 적었습니다.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정리입니다. 내장지방이 질환 유무와 가장 뚜렷하게 연결되고, 고혈압에서만 보정 후에도 두 병원 모두에서 일관됩니다. 같은 높이의 내장/피하지방 비도 고혈압·당뇨에서 일관됩니다. 촬영 전류의 환자 평균 대비 모양도 단서가 되지만 해석 근거는 없습니다. 어떤 방법으로 지표를 더해도 다른 병원에서의 판별 성능은 거의 오르지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본문에서 인용한 문헌 목록입니다. 모두 의학 논문 검색(PubMed)에서 확인한 것입니다. 일부는 초록이 제공되지 않아 제목과 일반 내용을 바탕으로 인용했습니다.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여기까지가 본문이고, 다음부터는 질문에 답하기 위한 부록(Appendix)입니다.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 병원에서 질환 유무와 성별로 나눠 높이별 내장지방 분포를 상자그림으로 그린 것입니다. 상자는 대부분의 환자가 속한 범위이고 가운데 선이 중앙값입니다.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 병원의 같은 상자그림입니다. 강남과 비교해 분포 모양이 비슷한지 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내장지방을 환자 평균 대비로 정규화했을 때의 위치별 오즈비 곡선입니다. 점이 있는 위치는 우연으로 보기 어려운 곳입니다.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피하지방의 같은 곡선입니다. 일부 정규화 방식(pw_z, pw_L3)에서 당뇨·콩팥병의 일부 위치가 두 병원에서 일관되지만, 내장지방이나 촬영 전류보다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근육의 같은 곡선입니다. 어떤 정규화에서도 질환과 뚜렷한 연결이 보이지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강남에서 내장지방을 환자 평균 대비로 바꾼 곡선을 질환 유무와 성별로 나눠 비교했습니다.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강남의 피하지방 환자 평균 대비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강남의 근육 환자 평균 대비 곡선입니다. 질환 유무에 따른 차이가 거의 없습니다.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신촌에서 내장지방을 환자 평균 대비로 바꾼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피하지방 환자 평균 대비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근육 환자 평균 대비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강남에서 내장지방(원래 값, 정규화 없음)의 곡선을 질환 유무와 성별로 비교했습니다. 질환이 있는 사람의 내장지방이 대체로 더 많습니다.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강남의 피하지방 원래 값 곡선입니다. 성별 차이가 크고 질환 유무에 따른 차이는 작습니다.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강남의 근육 원래 값 곡선입니다. 남녀 차이는 크지만 질환 유무 차이는 거의 없습니다.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강남의 촬영 전류(AEC) 원래 값 곡선입니다. 질환이 있는 사람의 전류가 상대적으로 높은 구간이 있습니다. 절대값이라 체격과 장비의 영향이 섞여 있습니다.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강남에서 근육과 피하지방의 비율(TAMA/SAT, 로그 값) 곡선입니다. 근육이 피하지방에 비해 얼마나 많은지를 나타냅니다.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내장지방 원래 값 곡선입니다. 강남과 같은 방향의 차이입니다.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피하지방 원래 값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근육 원래 값 곡선입니다. 질환 유무 차이가 거의 없습니다.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신촌의 촬영 전류(AEC) 원래 값 곡선입니다. 절대값이라 체격과 장비의 영향이 섞여 있습니다.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신촌에서 근육과 피하지방의 비율(TAMA/SAT, 로그 값) 곡선입니다. 곡선 그림 읽는 법: 가로축은 간에서 치골까지 몸통을 따라 내려가는 위치, 세로축은 평균 값입니다. 실선은 질환이 있는 사람, 점선은 없는 사람이고 색이 성별입니다. 음영은 평균의 불확실한 범위(95% 신뢰구간)입니다.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부록입니다. 성별로 나눈 보정 오즈비의 상세 표로, 내장지방을 T12·L1·L2·L3 높이별로 강남/신촌 순서로 적었습니다. 별표는 우연이 아닐 가능성이 높다는 표시입니다. 남성과 여성 모두 방향은 같지만 신촌에서는 유의하지 않은 경우가 많습니다.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47299"/>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dirty="0"/>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dirty="0"/>
              <a:t>마스터 텍스트 스타일을 편집하려면 클릭</a:t>
            </a:r>
          </a:p>
        </p:txBody>
      </p:sp>
      <p:grpSp>
        <p:nvGrpSpPr>
          <p:cNvPr id="6" name="그룹 5">
            <a:extLst>
              <a:ext uri="{FF2B5EF4-FFF2-40B4-BE49-F238E27FC236}">
                <a16:creationId xmlns:a16="http://schemas.microsoft.com/office/drawing/2014/main" id="{8C805716-8EA2-F96C-6391-4B494B09C9B5}"/>
              </a:ext>
            </a:extLst>
          </p:cNvPr>
          <p:cNvGrpSpPr/>
          <p:nvPr userDrawn="1"/>
        </p:nvGrpSpPr>
        <p:grpSpPr>
          <a:xfrm>
            <a:off x="-8467" y="6463089"/>
            <a:ext cx="12200467" cy="403574"/>
            <a:chOff x="-8467" y="6470661"/>
            <a:chExt cx="12200467" cy="390527"/>
          </a:xfrm>
        </p:grpSpPr>
        <p:sp>
          <p:nvSpPr>
            <p:cNvPr id="8" name="직사각형 7">
              <a:extLst>
                <a:ext uri="{FF2B5EF4-FFF2-40B4-BE49-F238E27FC236}">
                  <a16:creationId xmlns:a16="http://schemas.microsoft.com/office/drawing/2014/main" id="{322D1BE4-CC80-395F-A3E1-FE44D5712B27}"/>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9" name="직선 연결선 8">
              <a:extLst>
                <a:ext uri="{FF2B5EF4-FFF2-40B4-BE49-F238E27FC236}">
                  <a16:creationId xmlns:a16="http://schemas.microsoft.com/office/drawing/2014/main" id="{CE9517A2-1316-4B4A-E808-9A2569162BE6}"/>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0" name="그림 9">
            <a:extLst>
              <a:ext uri="{FF2B5EF4-FFF2-40B4-BE49-F238E27FC236}">
                <a16:creationId xmlns:a16="http://schemas.microsoft.com/office/drawing/2014/main" id="{F546DEDA-3287-A635-3738-AAC0A1C0A478}"/>
              </a:ext>
            </a:extLst>
          </p:cNvPr>
          <p:cNvPicPr>
            <a:picLocks noChangeAspect="1"/>
          </p:cNvPicPr>
          <p:nvPr userDrawn="1"/>
        </p:nvPicPr>
        <p:blipFill rotWithShape="1">
          <a:blip r:embed="rId2"/>
          <a:srcRect t="-583" b="3459"/>
          <a:stretch/>
        </p:blipFill>
        <p:spPr>
          <a:xfrm>
            <a:off x="5452198" y="6510701"/>
            <a:ext cx="1279135" cy="347299"/>
          </a:xfrm>
          <a:prstGeom prst="rect">
            <a:avLst/>
          </a:prstGeom>
          <a:solidFill>
            <a:srgbClr val="1F346B"/>
          </a:solidFill>
        </p:spPr>
      </p:pic>
      <p:sp>
        <p:nvSpPr>
          <p:cNvPr id="11" name="슬라이드 번호 개체 틀 5">
            <a:extLst>
              <a:ext uri="{FF2B5EF4-FFF2-40B4-BE49-F238E27FC236}">
                <a16:creationId xmlns:a16="http://schemas.microsoft.com/office/drawing/2014/main" id="{C3C743F5-8336-C697-B8DF-D7A33CDC2B9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2" name="그림 11">
            <a:extLst>
              <a:ext uri="{FF2B5EF4-FFF2-40B4-BE49-F238E27FC236}">
                <a16:creationId xmlns:a16="http://schemas.microsoft.com/office/drawing/2014/main" id="{367C93B8-5C18-BB4D-C2B0-B88DA3F6D447}"/>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3" name="날짜 개체 틀 3">
            <a:extLst>
              <a:ext uri="{FF2B5EF4-FFF2-40B4-BE49-F238E27FC236}">
                <a16:creationId xmlns:a16="http://schemas.microsoft.com/office/drawing/2014/main" id="{61557C19-3D62-A133-C407-C968F16ACC90}"/>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4" name="바닥글 개체 틀 4">
            <a:extLst>
              <a:ext uri="{FF2B5EF4-FFF2-40B4-BE49-F238E27FC236}">
                <a16:creationId xmlns:a16="http://schemas.microsoft.com/office/drawing/2014/main" id="{5E32A29C-2DD8-CE83-BA54-12AE02B7E853}"/>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1074" y="2203269"/>
            <a:ext cx="8437053" cy="707886"/>
          </a:xfrm>
          <a:prstGeom prst="rect">
            <a:avLst/>
          </a:prstGeom>
          <a:noFill/>
        </p:spPr>
        <p:txBody>
          <a:bodyPr wrap="none">
            <a:spAutoFit/>
          </a:bodyPr>
          <a:lstStyle/>
          <a:p>
            <a:r>
              <a:rPr lang="ko-KR" altLang="ko-KR" sz="2000" b="1" dirty="0">
                <a:solidFill>
                  <a:schemeClr val="bg1"/>
                </a:solidFill>
              </a:rPr>
              <a:t>Landmark 단면 체성분의</a:t>
            </a:r>
            <a:endParaRPr lang="en-US" altLang="ko-KR" sz="2000" b="1" dirty="0">
              <a:solidFill>
                <a:schemeClr val="bg1"/>
              </a:solidFill>
            </a:endParaRPr>
          </a:p>
          <a:p>
            <a:r>
              <a:rPr lang="ko-KR" altLang="ko-KR" sz="2000" b="1" dirty="0">
                <a:solidFill>
                  <a:schemeClr val="bg1"/>
                </a:solidFill>
              </a:rPr>
              <a:t>질환 유무 차이 분석</a:t>
            </a:r>
            <a:endParaRPr sz="3600" b="1" dirty="0">
              <a:solidFill>
                <a:schemeClr val="bg1"/>
              </a:solidFill>
            </a:endParaRPr>
          </a:p>
        </p:txBody>
      </p:sp>
      <p:sp>
        <p:nvSpPr>
          <p:cNvPr id="3" name="TextBox 2"/>
          <p:cNvSpPr txBox="1"/>
          <p:nvPr/>
        </p:nvSpPr>
        <p:spPr>
          <a:xfrm>
            <a:off x="431074" y="3091544"/>
            <a:ext cx="1329210" cy="338554"/>
          </a:xfrm>
          <a:prstGeom prst="rect">
            <a:avLst/>
          </a:prstGeom>
          <a:noFill/>
        </p:spPr>
        <p:txBody>
          <a:bodyPr wrap="none">
            <a:spAutoFit/>
          </a:bodyPr>
          <a:lstStyle/>
          <a:p>
            <a:r>
              <a:rPr sz="1600" dirty="0">
                <a:solidFill>
                  <a:schemeClr val="bg1"/>
                </a:solidFill>
              </a:rPr>
              <a:t>2026.10.06</a:t>
            </a:r>
          </a:p>
        </p:txBody>
      </p:sp>
      <p:sp>
        <p:nvSpPr>
          <p:cNvPr id="4" name="TextBox 3"/>
          <p:cNvSpPr txBox="1"/>
          <p:nvPr/>
        </p:nvSpPr>
        <p:spPr>
          <a:xfrm>
            <a:off x="431074" y="3548744"/>
            <a:ext cx="1946880" cy="369332"/>
          </a:xfrm>
          <a:prstGeom prst="rect">
            <a:avLst/>
          </a:prstGeom>
          <a:noFill/>
        </p:spPr>
        <p:txBody>
          <a:bodyPr wrap="none">
            <a:spAutoFit/>
          </a:bodyPr>
          <a:lstStyle/>
          <a:p>
            <a:r>
              <a:rPr sz="1800" b="1">
                <a:solidFill>
                  <a:schemeClr val="bg1"/>
                </a:solidFill>
              </a:rPr>
              <a:t>JangHoon Chun</a:t>
            </a:r>
          </a:p>
        </p:txBody>
      </p:sp>
      <p:sp>
        <p:nvSpPr>
          <p:cNvPr id="5" name="TextBox 4"/>
          <p:cNvSpPr txBox="1"/>
          <p:nvPr/>
        </p:nvSpPr>
        <p:spPr>
          <a:xfrm>
            <a:off x="431074" y="4005944"/>
            <a:ext cx="5093254" cy="738664"/>
          </a:xfrm>
          <a:prstGeom prst="rect">
            <a:avLst/>
          </a:prstGeom>
          <a:noFill/>
        </p:spPr>
        <p:txBody>
          <a:bodyPr wrap="none">
            <a:spAutoFit/>
          </a:bodyPr>
          <a:lstStyle/>
          <a:p>
            <a:r>
              <a:rPr sz="1400">
                <a:solidFill>
                  <a:schemeClr val="bg1"/>
                </a:solidFill>
              </a:rPr>
              <a:t>Department of Medical Device Engineering &amp; Management</a:t>
            </a:r>
          </a:p>
          <a:p>
            <a:r>
              <a:rPr sz="1400">
                <a:solidFill>
                  <a:schemeClr val="bg1"/>
                </a:solidFill>
              </a:rPr>
              <a:t>Gangnam Severance Hospital,</a:t>
            </a:r>
          </a:p>
          <a:p>
            <a:r>
              <a:rPr sz="1400">
                <a:solidFill>
                  <a:schemeClr val="bg1"/>
                </a:solidFill>
              </a:rPr>
              <a:t>Yonsei University College of Medicine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연구 목적</a:t>
            </a:r>
          </a:p>
        </p:txBody>
      </p:sp>
      <p:sp>
        <p:nvSpPr>
          <p:cNvPr id="3" name="Content Placeholder 2"/>
          <p:cNvSpPr>
            <a:spLocks noGrp="1"/>
          </p:cNvSpPr>
          <p:nvPr>
            <p:ph idx="1"/>
          </p:nvPr>
        </p:nvSpPr>
        <p:spPr>
          <a:xfrm>
            <a:off x="508000" y="1050000"/>
            <a:ext cx="11176000" cy="1700000"/>
          </a:xfrm>
        </p:spPr>
        <p:txBody>
          <a:bodyPr/>
          <a:lstStyle/>
          <a:p>
            <a:r>
              <a:rPr sz="1800" b="0">
                <a:solidFill>
                  <a:srgbClr val="333F4D"/>
                </a:solidFill>
              </a:rPr>
              <a:t>VAT·SAT·TAMA·AEC의 landmark 단면 값 중 HTN/DM/CKD 유무를 뚜렷이 구분하는 위치·조직을 찾는다</a:t>
            </a:r>
          </a:p>
          <a:p>
            <a:r>
              <a:rPr sz="1800" b="0">
                <a:solidFill>
                  <a:srgbClr val="333F4D"/>
                </a:solidFill>
              </a:rPr>
              <a:t>선행연구(Framingham, Jackson Heart 등)와 방향·크기를 비교한다</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Introduction</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데이터와 분석 방법</a:t>
            </a:r>
          </a:p>
        </p:txBody>
      </p:sp>
      <p:sp>
        <p:nvSpPr>
          <p:cNvPr id="3" name="Content Placeholder 2"/>
          <p:cNvSpPr>
            <a:spLocks noGrp="1"/>
          </p:cNvSpPr>
          <p:nvPr>
            <p:ph idx="1"/>
          </p:nvPr>
        </p:nvSpPr>
        <p:spPr>
          <a:xfrm>
            <a:off x="508000" y="1050000"/>
            <a:ext cx="11176000" cy="1700000"/>
          </a:xfrm>
        </p:spPr>
        <p:txBody>
          <a:bodyPr/>
          <a:lstStyle/>
          <a:p>
            <a:r>
              <a:rPr sz="1600" b="0">
                <a:solidFill>
                  <a:srgbClr val="333F4D"/>
                </a:solidFill>
              </a:rPr>
              <a:t>Gangnam 1,443명 / Sinchon 1,145명 (QC 후 1,436 / 1,129명), landmark 12곳 × 조직 4종</a:t>
            </a:r>
          </a:p>
          <a:p>
            <a:r>
              <a:rPr sz="1600" b="0">
                <a:solidFill>
                  <a:srgbClr val="333F4D"/>
                </a:solidFill>
              </a:rPr>
              <a:t>1) 미보정 Cohen d, Mann-Whitney, BH-FDR   2) 나이·성별·BMI 보정 로지스틱 OR(+1SD)</a:t>
            </a:r>
          </a:p>
          <a:p>
            <a:r>
              <a:rPr sz="1600" b="0">
                <a:solidFill>
                  <a:srgbClr val="333F4D"/>
                </a:solidFill>
              </a:rPr>
              <a:t>두 코호트 모두 FDR&lt;0.05 &amp; 같은 방향이면 일관된 결과</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Methods</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분석 단계별 문헌 근거</a:t>
            </a:r>
          </a:p>
        </p:txBody>
      </p:sp>
      <p:sp>
        <p:nvSpPr>
          <p:cNvPr id="3" name="Content Placeholder 2"/>
          <p:cNvSpPr>
            <a:spLocks noGrp="1"/>
          </p:cNvSpPr>
          <p:nvPr>
            <p:ph idx="1"/>
          </p:nvPr>
        </p:nvSpPr>
        <p:spPr>
          <a:xfrm>
            <a:off x="508000" y="1050000"/>
            <a:ext cx="11176000" cy="600000"/>
          </a:xfrm>
        </p:spPr>
        <p:txBody>
          <a:bodyPr/>
          <a:lstStyle/>
          <a:p>
            <a:r>
              <a:rPr sz="1400" b="0">
                <a:solidFill>
                  <a:srgbClr val="333F4D"/>
                </a:solidFill>
              </a:rPr>
              <a:t>PubMed에서 확인한 문헌 기준. 근거가 없는 단계는 탐색적 분석으로 표시</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Methods</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700000"/>
          <a:ext cx="11175998" cy="5100000"/>
        </p:xfrm>
        <a:graphic>
          <a:graphicData uri="http://schemas.openxmlformats.org/drawingml/2006/table">
            <a:tbl>
              <a:tblPr firstRow="1" bandRow="1">
                <a:tableStyleId>{C083E6E3-FA7D-4D7B-A595-EF9225AFEA82}</a:tableStyleId>
              </a:tblPr>
              <a:tblGrid>
                <a:gridCol w="2967079"/>
                <a:gridCol w="6428672"/>
                <a:gridCol w="1780247"/>
              </a:tblGrid>
              <a:tr h="340000">
                <a:tc>
                  <a:txBody>
                    <a:bodyPr/>
                    <a:lstStyle/>
                    <a:p>
                      <a:pPr algn="ctr"/>
                      <a:r>
                        <a:rPr sz="1400" b="1"/>
                        <a:t>분석 단계</a:t>
                      </a:r>
                    </a:p>
                  </a:txBody>
                  <a:tcPr anchor="ctr"/>
                </a:tc>
                <a:tc>
                  <a:txBody>
                    <a:bodyPr/>
                    <a:lstStyle/>
                    <a:p>
                      <a:pPr algn="ctr"/>
                      <a:r>
                        <a:rPr sz="1400" b="1"/>
                        <a:t>근거 (PubMed 확인)</a:t>
                      </a:r>
                    </a:p>
                  </a:txBody>
                  <a:tcPr anchor="ctr"/>
                </a:tc>
                <a:tc>
                  <a:txBody>
                    <a:bodyPr/>
                    <a:lstStyle/>
                    <a:p>
                      <a:pPr algn="ctr"/>
                      <a:r>
                        <a:rPr sz="1400" b="1"/>
                        <a:t>근거 수준</a:t>
                      </a:r>
                    </a:p>
                  </a:txBody>
                  <a:tcPr anchor="ctr"/>
                </a:tc>
              </a:tr>
              <a:tr h="340000">
                <a:tc>
                  <a:txBody>
                    <a:bodyPr/>
                    <a:lstStyle/>
                    <a:p>
                      <a:pPr algn="ctr"/>
                      <a:r>
                        <a:rPr sz="900" b="0"/>
                        <a:t>질환 유무와 VAT/SAT 연관, 성별 층화</a:t>
                      </a:r>
                    </a:p>
                  </a:txBody>
                  <a:tcPr anchor="ctr"/>
                </a:tc>
                <a:tc>
                  <a:txBody>
                    <a:bodyPr/>
                    <a:lstStyle/>
                    <a:p>
                      <a:pPr algn="ctr"/>
                      <a:r>
                        <a:rPr sz="900" b="0"/>
                        <a:t>Framingham(Circulation 2007), Jackson Heart(JCEM 2010), Sci Rep 2026</a:t>
                      </a:r>
                    </a:p>
                  </a:txBody>
                  <a:tcPr anchor="ctr"/>
                </a:tc>
                <a:tc>
                  <a:txBody>
                    <a:bodyPr/>
                    <a:lstStyle/>
                    <a:p>
                      <a:pPr algn="ctr"/>
                      <a:r>
                        <a:rPr sz="900" b="0"/>
                        <a:t>있음</a:t>
                      </a:r>
                    </a:p>
                  </a:txBody>
                  <a:tcPr anchor="ctr"/>
                </a:tc>
              </a:tr>
              <a:tr h="340000">
                <a:tc>
                  <a:txBody>
                    <a:bodyPr/>
                    <a:lstStyle/>
                    <a:p>
                      <a:pPr algn="ctr"/>
                      <a:r>
                        <a:rPr sz="900" b="0"/>
                        <a:t>나이·성별·BMI 보정</a:t>
                      </a:r>
                    </a:p>
                  </a:txBody>
                  <a:tcPr anchor="ctr"/>
                </a:tc>
                <a:tc>
                  <a:txBody>
                    <a:bodyPr/>
                    <a:lstStyle/>
                    <a:p>
                      <a:pPr algn="ctr"/>
                      <a:r>
                        <a:rPr sz="900" b="0"/>
                        <a:t>Framingham: BMI·허리둘레 보정 후에도 VAT 연관 유지</a:t>
                      </a:r>
                    </a:p>
                  </a:txBody>
                  <a:tcPr anchor="ctr"/>
                </a:tc>
                <a:tc>
                  <a:txBody>
                    <a:bodyPr/>
                    <a:lstStyle/>
                    <a:p>
                      <a:pPr algn="ctr"/>
                      <a:r>
                        <a:rPr sz="900" b="0"/>
                        <a:t>있음</a:t>
                      </a:r>
                    </a:p>
                  </a:txBody>
                  <a:tcPr anchor="ctr"/>
                </a:tc>
              </a:tr>
              <a:tr h="340000">
                <a:tc>
                  <a:txBody>
                    <a:bodyPr/>
                    <a:lstStyle/>
                    <a:p>
                      <a:pPr algn="ctr"/>
                      <a:r>
                        <a:rPr sz="900" b="0"/>
                        <a:t>같은 landmark 조직 비율(VAT/SAT, VAT/근육)</a:t>
                      </a:r>
                    </a:p>
                  </a:txBody>
                  <a:tcPr anchor="ctr"/>
                </a:tc>
                <a:tc>
                  <a:txBody>
                    <a:bodyPr/>
                    <a:lstStyle/>
                    <a:p>
                      <a:pPr algn="ctr"/>
                      <a:r>
                        <a:rPr sz="900" b="0"/>
                        <a:t>Matsuzawa 1995(V/S), Acad Radiol 2026·Minerva 2025(VAT/SAT, 대사 위험), Surg Today 2026(L3 VAT/psoas, 암 예후)</a:t>
                      </a:r>
                    </a:p>
                  </a:txBody>
                  <a:tcPr anchor="ctr"/>
                </a:tc>
                <a:tc>
                  <a:txBody>
                    <a:bodyPr/>
                    <a:lstStyle/>
                    <a:p>
                      <a:pPr algn="ctr"/>
                      <a:r>
                        <a:rPr sz="900" b="0"/>
                        <a:t>있음 (근육 비는 암 환자)</a:t>
                      </a:r>
                    </a:p>
                  </a:txBody>
                  <a:tcPr anchor="ctr"/>
                </a:tc>
              </a:tr>
              <a:tr h="340000">
                <a:tc>
                  <a:txBody>
                    <a:bodyPr/>
                    <a:lstStyle/>
                    <a:p>
                      <a:pPr algn="ctr"/>
                      <a:r>
                        <a:rPr sz="900" b="0"/>
                        <a:t>다른 landmark·조직 교차 조합(AEC 포함)</a:t>
                      </a:r>
                    </a:p>
                  </a:txBody>
                  <a:tcPr anchor="ctr"/>
                </a:tc>
                <a:tc>
                  <a:txBody>
                    <a:bodyPr/>
                    <a:lstStyle/>
                    <a:p>
                      <a:pPr algn="ctr"/>
                      <a:r>
                        <a:rPr sz="900" b="0"/>
                        <a:t>직접 근거 못 찾음</a:t>
                      </a:r>
                    </a:p>
                  </a:txBody>
                  <a:tcPr anchor="ctr"/>
                </a:tc>
                <a:tc>
                  <a:txBody>
                    <a:bodyPr/>
                    <a:lstStyle/>
                    <a:p>
                      <a:pPr algn="ctr"/>
                      <a:r>
                        <a:rPr sz="900" b="0"/>
                        <a:t>없음 (탐색적)</a:t>
                      </a:r>
                    </a:p>
                  </a:txBody>
                  <a:tcPr anchor="ctr"/>
                </a:tc>
              </a:tr>
              <a:tr h="340000">
                <a:tc>
                  <a:txBody>
                    <a:bodyPr/>
                    <a:lstStyle/>
                    <a:p>
                      <a:pPr algn="ctr"/>
                      <a:r>
                        <a:rPr sz="900" b="0"/>
                        <a:t>L3 등 단일 slice 사용</a:t>
                      </a:r>
                    </a:p>
                  </a:txBody>
                  <a:tcPr anchor="ctr"/>
                </a:tc>
                <a:tc>
                  <a:txBody>
                    <a:bodyPr/>
                    <a:lstStyle/>
                    <a:p>
                      <a:pPr algn="ctr"/>
                      <a:r>
                        <a:rPr sz="900" b="0"/>
                        <a:t>L3 = 근육 기준 표준(Eur J Radiol 2021, Clin Nutr 2019), T4도 유사(JCM 2023)</a:t>
                      </a:r>
                    </a:p>
                  </a:txBody>
                  <a:tcPr anchor="ctr"/>
                </a:tc>
                <a:tc>
                  <a:txBody>
                    <a:bodyPr/>
                    <a:lstStyle/>
                    <a:p>
                      <a:pPr algn="ctr"/>
                      <a:r>
                        <a:rPr sz="900" b="0"/>
                        <a:t>부분 (근육 중심)</a:t>
                      </a:r>
                    </a:p>
                  </a:txBody>
                  <a:tcPr anchor="ctr"/>
                </a:tc>
              </a:tr>
              <a:tr h="340000">
                <a:tc>
                  <a:txBody>
                    <a:bodyPr/>
                    <a:lstStyle/>
                    <a:p>
                      <a:pPr algn="ctr"/>
                      <a:r>
                        <a:rPr sz="900" b="0"/>
                        <a:t>체격 정규화</a:t>
                      </a:r>
                    </a:p>
                  </a:txBody>
                  <a:tcPr anchor="ctr"/>
                </a:tc>
                <a:tc>
                  <a:txBody>
                    <a:bodyPr/>
                    <a:lstStyle/>
                    <a:p>
                      <a:pPr algn="ctr"/>
                      <a:r>
                        <a:rPr sz="900" b="0"/>
                        <a:t>SMI/VFI를 키² 또는 BSA로 나눔(JCM 2025). 환자 곡선 평균/L3 값으로 나누는 방식은 아님</a:t>
                      </a:r>
                    </a:p>
                  </a:txBody>
                  <a:tcPr anchor="ctr"/>
                </a:tc>
                <a:tc>
                  <a:txBody>
                    <a:bodyPr/>
                    <a:lstStyle/>
                    <a:p>
                      <a:pPr algn="ctr"/>
                      <a:r>
                        <a:rPr sz="900" b="0"/>
                        <a:t>부분</a:t>
                      </a:r>
                    </a:p>
                  </a:txBody>
                  <a:tcPr anchor="ctr"/>
                </a:tc>
              </a:tr>
              <a:tr h="340000">
                <a:tc>
                  <a:txBody>
                    <a:bodyPr/>
                    <a:lstStyle/>
                    <a:p>
                      <a:pPr algn="ctr"/>
                      <a:r>
                        <a:rPr sz="900" b="0"/>
                        <a:t>Patient-wise 곡선 정규화 (mean, z, min-max, L3)</a:t>
                      </a:r>
                    </a:p>
                  </a:txBody>
                  <a:tcPr anchor="ctr"/>
                </a:tc>
                <a:tc>
                  <a:txBody>
                    <a:bodyPr/>
                    <a:lstStyle/>
                    <a:p>
                      <a:pPr algn="ctr"/>
                      <a:r>
                        <a:rPr sz="900" b="0"/>
                        <a:t>직접 근거 못 찾음. 체격 정규화 개념과 L3 기준 개념만 간접 연결</a:t>
                      </a:r>
                    </a:p>
                  </a:txBody>
                  <a:tcPr anchor="ctr"/>
                </a:tc>
                <a:tc>
                  <a:txBody>
                    <a:bodyPr/>
                    <a:lstStyle/>
                    <a:p>
                      <a:pPr algn="ctr"/>
                      <a:r>
                        <a:rPr sz="900" b="0"/>
                        <a:t>없음 (탐색적)</a:t>
                      </a:r>
                    </a:p>
                  </a:txBody>
                  <a:tcPr anchor="ctr"/>
                </a:tc>
              </a:tr>
              <a:tr h="340000">
                <a:tc>
                  <a:txBody>
                    <a:bodyPr/>
                    <a:lstStyle/>
                    <a:p>
                      <a:pPr algn="ctr"/>
                      <a:r>
                        <a:rPr sz="900" b="0"/>
                        <a:t>부분군 분석 (사전 지정, 전체 보고, 코호트 간 재현)</a:t>
                      </a:r>
                    </a:p>
                  </a:txBody>
                  <a:tcPr anchor="ctr"/>
                </a:tc>
                <a:tc>
                  <a:txBody>
                    <a:bodyPr/>
                    <a:lstStyle/>
                    <a:p>
                      <a:pPr algn="ctr"/>
                      <a:r>
                        <a:rPr sz="900" b="0"/>
                        <a:t>Wang NEJM 2007(보고 지침), Sun BMJ 2010(신뢰도 기준). 초록 미제공이라 제목과 일반 내용에 근거</a:t>
                      </a:r>
                    </a:p>
                  </a:txBody>
                  <a:tcPr anchor="ctr"/>
                </a:tc>
                <a:tc>
                  <a:txBody>
                    <a:bodyPr/>
                    <a:lstStyle/>
                    <a:p>
                      <a:pPr algn="ctr"/>
                      <a:r>
                        <a:rPr sz="900" b="0"/>
                        <a:t>부분</a:t>
                      </a:r>
                    </a:p>
                  </a:txBody>
                  <a:tcPr anchor="ctr"/>
                </a:tc>
              </a:tr>
              <a:tr h="340000">
                <a:tc>
                  <a:txBody>
                    <a:bodyPr/>
                    <a:lstStyle/>
                    <a:p>
                      <a:pPr algn="ctr"/>
                      <a:r>
                        <a:rPr sz="900" b="0"/>
                        <a:t>MLP vs LR 모델 비교</a:t>
                      </a:r>
                    </a:p>
                  </a:txBody>
                  <a:tcPr anchor="ctr"/>
                </a:tc>
                <a:tc>
                  <a:txBody>
                    <a:bodyPr/>
                    <a:lstStyle/>
                    <a:p>
                      <a:pPr algn="ctr"/>
                      <a:r>
                        <a:rPr sz="900" b="0"/>
                        <a:t>J Clin Epidemiol 2019: 편향 위험이 낮은 비교에서 ML과 LR의 AUC 차이 0.00</a:t>
                      </a:r>
                    </a:p>
                  </a:txBody>
                  <a:tcPr anchor="ctr"/>
                </a:tc>
                <a:tc>
                  <a:txBody>
                    <a:bodyPr/>
                    <a:lstStyle/>
                    <a:p>
                      <a:pPr algn="ctr"/>
                      <a:r>
                        <a:rPr sz="900" b="0"/>
                        <a:t>있음</a:t>
                      </a:r>
                    </a:p>
                  </a:txBody>
                  <a:tcPr anchor="ctr"/>
                </a:tc>
              </a:tr>
              <a:tr h="340000">
                <a:tc>
                  <a:txBody>
                    <a:bodyPr/>
                    <a:lstStyle/>
                    <a:p>
                      <a:pPr algn="ctr"/>
                      <a:r>
                        <a:rPr sz="900" b="0"/>
                        <a:t>landmark 단일 단면 대표성(L3, L2~L3)</a:t>
                      </a:r>
                    </a:p>
                  </a:txBody>
                  <a:tcPr anchor="ctr"/>
                </a:tc>
                <a:tc>
                  <a:txBody>
                    <a:bodyPr/>
                    <a:lstStyle/>
                    <a:p>
                      <a:pPr algn="ctr"/>
                      <a:r>
                        <a:rPr sz="900" b="0"/>
                        <a:t>L3가 전체 VAT·SAT·근육 부피를 가장 잘 대표(Am J Clin Nutr 2015, MRI), VAT는 L2~L3 단면이 예측력 최고(Eur J Clin Nutr 1996)</a:t>
                      </a:r>
                    </a:p>
                  </a:txBody>
                  <a:tcPr anchor="ctr"/>
                </a:tc>
                <a:tc>
                  <a:txBody>
                    <a:bodyPr/>
                    <a:lstStyle/>
                    <a:p>
                      <a:pPr algn="ctr"/>
                      <a:r>
                        <a:rPr sz="900" b="0"/>
                        <a:t>부분 (건강인·부피 대표성)</a:t>
                      </a:r>
                    </a:p>
                  </a:txBody>
                  <a:tcPr anchor="ctr"/>
                </a:tc>
              </a:tr>
              <a:tr h="340000">
                <a:tc>
                  <a:txBody>
                    <a:bodyPr/>
                    <a:lstStyle/>
                    <a:p>
                      <a:pPr algn="ctr"/>
                      <a:r>
                        <a:rPr sz="900" b="0"/>
                        <a:t>전진 선택, CV와 외부 검증 분리</a:t>
                      </a:r>
                    </a:p>
                  </a:txBody>
                  <a:tcPr anchor="ctr"/>
                </a:tc>
                <a:tc>
                  <a:txBody>
                    <a:bodyPr/>
                    <a:lstStyle/>
                    <a:p>
                      <a:pPr algn="ctr"/>
                      <a:r>
                        <a:rPr sz="900" b="0"/>
                        <a:t>Steyerberg 2001: 구축 표본 성능은 과대평가되므로 CV/bootstrap 필요, TRIPOD: 보고 기준. 선택 대상 형태(교차 비율, 구간 평균, AEC 등)는 문헌 근거 없음</a:t>
                      </a:r>
                    </a:p>
                  </a:txBody>
                  <a:tcPr anchor="ctr"/>
                </a:tc>
                <a:tc>
                  <a:txBody>
                    <a:bodyPr/>
                    <a:lstStyle/>
                    <a:p>
                      <a:pPr algn="ctr"/>
                      <a:r>
                        <a:rPr sz="900" b="0"/>
                        <a:t>방법 있음 / feature 없음</a:t>
                      </a:r>
                    </a:p>
                  </a:txBody>
                  <a:tcPr anchor="ctr"/>
                </a:tc>
              </a:tr>
              <a:tr h="340000">
                <a:tc>
                  <a:txBody>
                    <a:bodyPr/>
                    <a:lstStyle/>
                    <a:p>
                      <a:pPr algn="ctr"/>
                      <a:r>
                        <a:rPr sz="900" b="0"/>
                        <a:t>스캐너 보정</a:t>
                      </a:r>
                    </a:p>
                  </a:txBody>
                  <a:tcPr anchor="ctr"/>
                </a:tc>
                <a:tc>
                  <a:txBody>
                    <a:bodyPr/>
                    <a:lstStyle/>
                    <a:p>
                      <a:pPr algn="ctr"/>
                      <a:r>
                        <a:rPr sz="900" b="0"/>
                        <a:t>스캐너·촬영 조건이 CT 특징에 영향(Sci Rep 2024), ComBat 보정(Front Oncol 2026). radiomics 대상</a:t>
                      </a:r>
                    </a:p>
                  </a:txBody>
                  <a:tcPr anchor="ctr"/>
                </a:tc>
                <a:tc>
                  <a:txBody>
                    <a:bodyPr/>
                    <a:lstStyle/>
                    <a:p>
                      <a:pPr algn="ctr"/>
                      <a:r>
                        <a:rPr sz="900" b="0"/>
                        <a:t>부분</a:t>
                      </a:r>
                    </a:p>
                  </a:txBody>
                  <a:tcPr anchor="ctr"/>
                </a:tc>
              </a:tr>
              <a:tr h="340000">
                <a:tc>
                  <a:txBody>
                    <a:bodyPr/>
                    <a:lstStyle/>
                    <a:p>
                      <a:pPr algn="ctr"/>
                      <a:r>
                        <a:rPr sz="900" b="0"/>
                        <a:t>AEC를 질환 지표로 해석</a:t>
                      </a:r>
                    </a:p>
                  </a:txBody>
                  <a:tcPr anchor="ctr"/>
                </a:tc>
                <a:tc>
                  <a:txBody>
                    <a:bodyPr/>
                    <a:lstStyle/>
                    <a:p>
                      <a:pPr algn="ctr"/>
                      <a:r>
                        <a:rPr sz="900" b="0"/>
                        <a:t>AEC를 질환 지표로 다룬 문헌 못 찾음 (TCM 문헌은 선량·체격 중심)</a:t>
                      </a:r>
                    </a:p>
                  </a:txBody>
                  <a:tcPr anchor="ctr"/>
                </a:tc>
                <a:tc>
                  <a:txBody>
                    <a:bodyPr/>
                    <a:lstStyle/>
                    <a:p>
                      <a:pPr algn="ctr"/>
                      <a:r>
                        <a:rPr sz="900" b="0"/>
                        <a:t>없음 (탐색적)</a:t>
                      </a:r>
                    </a:p>
                  </a:txBody>
                  <a:tcPr anchor="ctr"/>
                </a:tc>
              </a:tr>
              <a:tr h="340000">
                <a:tc>
                  <a:txBody>
                    <a:bodyPr/>
                    <a:lstStyle/>
                    <a:p>
                      <a:pPr algn="ctr"/>
                      <a:r>
                        <a:rPr sz="900" b="0"/>
                        <a:t>통계: BH-FDR, Cohen d, Mann-Whitney</a:t>
                      </a:r>
                    </a:p>
                  </a:txBody>
                  <a:tcPr anchor="ctr"/>
                </a:tc>
                <a:tc>
                  <a:txBody>
                    <a:bodyPr/>
                    <a:lstStyle/>
                    <a:p>
                      <a:pPr algn="ctr"/>
                      <a:r>
                        <a:rPr sz="900" b="0"/>
                        <a:t>표준 통계 방법. PubMed 검색으로는 원 논문을 확인하지 못함 (고전 통계 문헌)</a:t>
                      </a:r>
                    </a:p>
                  </a:txBody>
                  <a:tcPr anchor="ctr"/>
                </a:tc>
                <a:tc>
                  <a:txBody>
                    <a:bodyPr/>
                    <a:lstStyle/>
                    <a:p>
                      <a:pPr algn="ctr"/>
                      <a:r>
                        <a:rPr sz="900" b="0"/>
                        <a:t>확인 못 함</a:t>
                      </a:r>
                    </a:p>
                  </a:txBody>
                  <a:tcPr anchor="ct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코호트 특성</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100000"/>
          <a:ext cx="11175999" cy="4700000"/>
        </p:xfrm>
        <a:graphic>
          <a:graphicData uri="http://schemas.openxmlformats.org/drawingml/2006/table">
            <a:tbl>
              <a:tblPr firstRow="1" bandRow="1">
                <a:tableStyleId>{C083E6E3-FA7D-4D7B-A595-EF9225AFEA82}</a:tableStyleId>
              </a:tblPr>
              <a:tblGrid>
                <a:gridCol w="3725333"/>
                <a:gridCol w="3725333"/>
                <a:gridCol w="3725333"/>
              </a:tblGrid>
              <a:tr h="587500">
                <a:tc>
                  <a:txBody>
                    <a:bodyPr/>
                    <a:lstStyle/>
                    <a:p>
                      <a:pPr algn="ctr"/>
                      <a:r>
                        <a:rPr sz="1400" b="1"/>
                        <a:t>Variable</a:t>
                      </a:r>
                    </a:p>
                  </a:txBody>
                  <a:tcPr anchor="ctr"/>
                </a:tc>
                <a:tc>
                  <a:txBody>
                    <a:bodyPr/>
                    <a:lstStyle/>
                    <a:p>
                      <a:pPr algn="ctr"/>
                      <a:r>
                        <a:rPr sz="1400" b="1"/>
                        <a:t>Gangnam</a:t>
                      </a:r>
                    </a:p>
                  </a:txBody>
                  <a:tcPr anchor="ctr"/>
                </a:tc>
                <a:tc>
                  <a:txBody>
                    <a:bodyPr/>
                    <a:lstStyle/>
                    <a:p>
                      <a:pPr algn="ctr"/>
                      <a:r>
                        <a:rPr sz="1400" b="1"/>
                        <a:t>Sinchon</a:t>
                      </a:r>
                    </a:p>
                  </a:txBody>
                  <a:tcPr anchor="ctr"/>
                </a:tc>
              </a:tr>
              <a:tr h="587500">
                <a:tc>
                  <a:txBody>
                    <a:bodyPr/>
                    <a:lstStyle/>
                    <a:p>
                      <a:pPr algn="ctr"/>
                      <a:r>
                        <a:rPr sz="1200" b="0"/>
                        <a:t>N (QC 후)</a:t>
                      </a:r>
                    </a:p>
                  </a:txBody>
                  <a:tcPr anchor="ctr"/>
                </a:tc>
                <a:tc>
                  <a:txBody>
                    <a:bodyPr/>
                    <a:lstStyle/>
                    <a:p>
                      <a:pPr algn="ctr"/>
                      <a:r>
                        <a:rPr sz="1200" b="0"/>
                        <a:t>1,436</a:t>
                      </a:r>
                    </a:p>
                  </a:txBody>
                  <a:tcPr anchor="ctr"/>
                </a:tc>
                <a:tc>
                  <a:txBody>
                    <a:bodyPr/>
                    <a:lstStyle/>
                    <a:p>
                      <a:pPr algn="ctr"/>
                      <a:r>
                        <a:rPr sz="1200" b="0"/>
                        <a:t>1,129</a:t>
                      </a:r>
                    </a:p>
                  </a:txBody>
                  <a:tcPr anchor="ctr"/>
                </a:tc>
              </a:tr>
              <a:tr h="587500">
                <a:tc>
                  <a:txBody>
                    <a:bodyPr/>
                    <a:lstStyle/>
                    <a:p>
                      <a:pPr algn="ctr"/>
                      <a:r>
                        <a:rPr sz="1200" b="0"/>
                        <a:t>여성 비율</a:t>
                      </a:r>
                    </a:p>
                  </a:txBody>
                  <a:tcPr anchor="ctr"/>
                </a:tc>
                <a:tc>
                  <a:txBody>
                    <a:bodyPr/>
                    <a:lstStyle/>
                    <a:p>
                      <a:pPr algn="ctr"/>
                      <a:r>
                        <a:rPr sz="1200" b="0"/>
                        <a:t>61.4%</a:t>
                      </a:r>
                    </a:p>
                  </a:txBody>
                  <a:tcPr anchor="ctr"/>
                </a:tc>
                <a:tc>
                  <a:txBody>
                    <a:bodyPr/>
                    <a:lstStyle/>
                    <a:p>
                      <a:pPr algn="ctr"/>
                      <a:r>
                        <a:rPr sz="1200" b="0"/>
                        <a:t>48.7%</a:t>
                      </a:r>
                    </a:p>
                  </a:txBody>
                  <a:tcPr anchor="ctr"/>
                </a:tc>
              </a:tr>
              <a:tr h="587500">
                <a:tc>
                  <a:txBody>
                    <a:bodyPr/>
                    <a:lstStyle/>
                    <a:p>
                      <a:pPr algn="ctr"/>
                      <a:r>
                        <a:rPr sz="1200" b="0"/>
                        <a:t>나이 (mean ± SD)</a:t>
                      </a:r>
                    </a:p>
                  </a:txBody>
                  <a:tcPr anchor="ctr"/>
                </a:tc>
                <a:tc>
                  <a:txBody>
                    <a:bodyPr/>
                    <a:lstStyle/>
                    <a:p>
                      <a:pPr algn="ctr"/>
                      <a:r>
                        <a:rPr sz="1200" b="0"/>
                        <a:t>57.7 ± 12.6</a:t>
                      </a:r>
                    </a:p>
                  </a:txBody>
                  <a:tcPr anchor="ctr"/>
                </a:tc>
                <a:tc>
                  <a:txBody>
                    <a:bodyPr/>
                    <a:lstStyle/>
                    <a:p>
                      <a:pPr algn="ctr"/>
                      <a:r>
                        <a:rPr sz="1200" b="0"/>
                        <a:t>59.6 ± 12.4</a:t>
                      </a:r>
                    </a:p>
                  </a:txBody>
                  <a:tcPr anchor="ctr"/>
                </a:tc>
              </a:tr>
              <a:tr h="587500">
                <a:tc>
                  <a:txBody>
                    <a:bodyPr/>
                    <a:lstStyle/>
                    <a:p>
                      <a:pPr algn="ctr"/>
                      <a:r>
                        <a:rPr sz="1200" b="0"/>
                        <a:t>BMI (mean ± SD)</a:t>
                      </a:r>
                    </a:p>
                  </a:txBody>
                  <a:tcPr anchor="ctr"/>
                </a:tc>
                <a:tc>
                  <a:txBody>
                    <a:bodyPr/>
                    <a:lstStyle/>
                    <a:p>
                      <a:pPr algn="ctr"/>
                      <a:r>
                        <a:rPr sz="1200" b="0"/>
                        <a:t>23.6 ± 3.2</a:t>
                      </a:r>
                    </a:p>
                  </a:txBody>
                  <a:tcPr anchor="ctr"/>
                </a:tc>
                <a:tc>
                  <a:txBody>
                    <a:bodyPr/>
                    <a:lstStyle/>
                    <a:p>
                      <a:pPr algn="ctr"/>
                      <a:r>
                        <a:rPr sz="1200" b="0"/>
                        <a:t>23.5 ± 3.1</a:t>
                      </a:r>
                    </a:p>
                  </a:txBody>
                  <a:tcPr anchor="ctr"/>
                </a:tc>
              </a:tr>
              <a:tr h="587500">
                <a:tc>
                  <a:txBody>
                    <a:bodyPr/>
                    <a:lstStyle/>
                    <a:p>
                      <a:pPr algn="ctr"/>
                      <a:r>
                        <a:rPr sz="1200" b="0"/>
                        <a:t>HTN</a:t>
                      </a:r>
                    </a:p>
                  </a:txBody>
                  <a:tcPr anchor="ctr"/>
                </a:tc>
                <a:tc>
                  <a:txBody>
                    <a:bodyPr/>
                    <a:lstStyle/>
                    <a:p>
                      <a:pPr algn="ctr"/>
                      <a:r>
                        <a:rPr sz="1200" b="0"/>
                        <a:t>469 (32.7%)</a:t>
                      </a:r>
                    </a:p>
                  </a:txBody>
                  <a:tcPr anchor="ctr"/>
                </a:tc>
                <a:tc>
                  <a:txBody>
                    <a:bodyPr/>
                    <a:lstStyle/>
                    <a:p>
                      <a:pPr algn="ctr"/>
                      <a:r>
                        <a:rPr sz="1200" b="0"/>
                        <a:t>492 (43.6%)</a:t>
                      </a:r>
                    </a:p>
                  </a:txBody>
                  <a:tcPr anchor="ctr"/>
                </a:tc>
              </a:tr>
              <a:tr h="587500">
                <a:tc>
                  <a:txBody>
                    <a:bodyPr/>
                    <a:lstStyle/>
                    <a:p>
                      <a:pPr algn="ctr"/>
                      <a:r>
                        <a:rPr sz="1200" b="0"/>
                        <a:t>DM</a:t>
                      </a:r>
                    </a:p>
                  </a:txBody>
                  <a:tcPr anchor="ctr"/>
                </a:tc>
                <a:tc>
                  <a:txBody>
                    <a:bodyPr/>
                    <a:lstStyle/>
                    <a:p>
                      <a:pPr algn="ctr"/>
                      <a:r>
                        <a:rPr sz="1200" b="0"/>
                        <a:t>291 (20.3%)</a:t>
                      </a:r>
                    </a:p>
                  </a:txBody>
                  <a:tcPr anchor="ctr"/>
                </a:tc>
                <a:tc>
                  <a:txBody>
                    <a:bodyPr/>
                    <a:lstStyle/>
                    <a:p>
                      <a:pPr algn="ctr"/>
                      <a:r>
                        <a:rPr sz="1200" b="0"/>
                        <a:t>338 (29.9%)</a:t>
                      </a:r>
                    </a:p>
                  </a:txBody>
                  <a:tcPr anchor="ctr"/>
                </a:tc>
              </a:tr>
              <a:tr h="587500">
                <a:tc>
                  <a:txBody>
                    <a:bodyPr/>
                    <a:lstStyle/>
                    <a:p>
                      <a:pPr algn="ctr"/>
                      <a:r>
                        <a:rPr sz="1200" b="0"/>
                        <a:t>CKD</a:t>
                      </a:r>
                    </a:p>
                  </a:txBody>
                  <a:tcPr anchor="ctr"/>
                </a:tc>
                <a:tc>
                  <a:txBody>
                    <a:bodyPr/>
                    <a:lstStyle/>
                    <a:p>
                      <a:pPr algn="ctr"/>
                      <a:r>
                        <a:rPr sz="1200" b="0"/>
                        <a:t>135 (9.4%)</a:t>
                      </a:r>
                    </a:p>
                  </a:txBody>
                  <a:tcPr anchor="ctr"/>
                </a:tc>
                <a:tc>
                  <a:txBody>
                    <a:bodyPr/>
                    <a:lstStyle/>
                    <a:p>
                      <a:pPr algn="ctr"/>
                      <a:r>
                        <a:rPr sz="1200" b="0"/>
                        <a:t>171 (15.1%)</a:t>
                      </a:r>
                    </a:p>
                  </a:txBody>
                  <a:tcPr anchor="ct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질환 유무 차이: 미보정 Cohen d</a:t>
            </a:r>
          </a:p>
        </p:txBody>
      </p:sp>
      <p:sp>
        <p:nvSpPr>
          <p:cNvPr id="3" name="Content Placeholder 2"/>
          <p:cNvSpPr>
            <a:spLocks noGrp="1"/>
          </p:cNvSpPr>
          <p:nvPr>
            <p:ph idx="1"/>
          </p:nvPr>
        </p:nvSpPr>
        <p:spPr>
          <a:xfrm>
            <a:off x="508000" y="1050000"/>
            <a:ext cx="11176000" cy="500000"/>
          </a:xfrm>
        </p:spPr>
        <p:txBody>
          <a:bodyPr/>
          <a:lstStyle/>
          <a:p>
            <a:r>
              <a:rPr sz="1600" b="0">
                <a:solidFill>
                  <a:srgbClr val="333F4D"/>
                </a:solidFill>
              </a:rPr>
              <a:t>VAT가 전 질환에서 가장 크다. * = FDR&lt;0.05</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2</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700000"/>
          <a:ext cx="11175994" cy="4299995"/>
        </p:xfrm>
        <a:graphic>
          <a:graphicData uri="http://schemas.openxmlformats.org/drawingml/2006/table">
            <a:tbl>
              <a:tblPr firstRow="1" bandRow="1">
                <a:tableStyleId>{C083E6E3-FA7D-4D7B-A595-EF9225AFEA82}</a:tableStyleId>
              </a:tblPr>
              <a:tblGrid>
                <a:gridCol w="1564639"/>
                <a:gridCol w="1788160"/>
                <a:gridCol w="1564639"/>
                <a:gridCol w="1564639"/>
                <a:gridCol w="1564639"/>
                <a:gridCol w="1564639"/>
                <a:gridCol w="1564639"/>
              </a:tblGrid>
              <a:tr h="614285">
                <a:tc>
                  <a:txBody>
                    <a:bodyPr/>
                    <a:lstStyle/>
                    <a:p>
                      <a:pPr algn="ctr"/>
                      <a:r>
                        <a:rPr sz="1400" b="1"/>
                        <a:t>Disease</a:t>
                      </a:r>
                    </a:p>
                  </a:txBody>
                  <a:tcPr anchor="ctr"/>
                </a:tc>
                <a:tc>
                  <a:txBody>
                    <a:bodyPr/>
                    <a:lstStyle/>
                    <a:p>
                      <a:pPr algn="ctr"/>
                      <a:r>
                        <a:rPr sz="1400" b="1"/>
                        <a:t>Cohort</a:t>
                      </a:r>
                    </a:p>
                  </a:txBody>
                  <a:tcPr anchor="ctr"/>
                </a:tc>
                <a:tc>
                  <a:txBody>
                    <a:bodyPr/>
                    <a:lstStyle/>
                    <a:p>
                      <a:pPr algn="ctr"/>
                      <a:r>
                        <a:rPr sz="1400" b="1"/>
                        <a:t>VAT@L1</a:t>
                      </a:r>
                    </a:p>
                  </a:txBody>
                  <a:tcPr anchor="ctr"/>
                </a:tc>
                <a:tc>
                  <a:txBody>
                    <a:bodyPr/>
                    <a:lstStyle/>
                    <a:p>
                      <a:pPr algn="ctr"/>
                      <a:r>
                        <a:rPr sz="1400" b="1"/>
                        <a:t>VAT@L3</a:t>
                      </a:r>
                    </a:p>
                  </a:txBody>
                  <a:tcPr anchor="ctr"/>
                </a:tc>
                <a:tc>
                  <a:txBody>
                    <a:bodyPr/>
                    <a:lstStyle/>
                    <a:p>
                      <a:pPr algn="ctr"/>
                      <a:r>
                        <a:rPr sz="1400" b="1"/>
                        <a:t>SAT@L3</a:t>
                      </a:r>
                    </a:p>
                  </a:txBody>
                  <a:tcPr anchor="ctr"/>
                </a:tc>
                <a:tc>
                  <a:txBody>
                    <a:bodyPr/>
                    <a:lstStyle/>
                    <a:p>
                      <a:pPr algn="ctr"/>
                      <a:r>
                        <a:rPr sz="1400" b="1"/>
                        <a:t>TAMA@L3</a:t>
                      </a:r>
                    </a:p>
                  </a:txBody>
                  <a:tcPr anchor="ctr"/>
                </a:tc>
                <a:tc>
                  <a:txBody>
                    <a:bodyPr/>
                    <a:lstStyle/>
                    <a:p>
                      <a:pPr algn="ctr"/>
                      <a:r>
                        <a:rPr sz="1400" b="1"/>
                        <a:t>AEC@L3</a:t>
                      </a:r>
                    </a:p>
                  </a:txBody>
                  <a:tcPr anchor="ctr"/>
                </a:tc>
              </a:tr>
              <a:tr h="614285">
                <a:tc rowSpan="2">
                  <a:txBody>
                    <a:bodyPr/>
                    <a:lstStyle/>
                    <a:p>
                      <a:pPr algn="ctr"/>
                      <a:r>
                        <a:rPr sz="1200" b="0"/>
                        <a:t>HTN</a:t>
                      </a:r>
                    </a:p>
                  </a:txBody>
                  <a:tcPr anchor="ctr"/>
                </a:tc>
                <a:tc>
                  <a:txBody>
                    <a:bodyPr/>
                    <a:lstStyle/>
                    <a:p>
                      <a:pPr algn="ctr"/>
                      <a:r>
                        <a:rPr sz="1200" b="0"/>
                        <a:t>Gangnam</a:t>
                      </a:r>
                    </a:p>
                  </a:txBody>
                  <a:tcPr anchor="ctr"/>
                </a:tc>
                <a:tc>
                  <a:txBody>
                    <a:bodyPr/>
                    <a:lstStyle/>
                    <a:p>
                      <a:pPr algn="ctr"/>
                      <a:r>
                        <a:rPr sz="1200" b="0"/>
                        <a:t>0.91*</a:t>
                      </a:r>
                    </a:p>
                  </a:txBody>
                  <a:tcPr anchor="ctr"/>
                </a:tc>
                <a:tc>
                  <a:txBody>
                    <a:bodyPr/>
                    <a:lstStyle/>
                    <a:p>
                      <a:pPr algn="ctr"/>
                      <a:r>
                        <a:rPr sz="1200" b="0"/>
                        <a:t>0.91*</a:t>
                      </a:r>
                    </a:p>
                  </a:txBody>
                  <a:tcPr anchor="ctr"/>
                </a:tc>
                <a:tc>
                  <a:txBody>
                    <a:bodyPr/>
                    <a:lstStyle/>
                    <a:p>
                      <a:pPr algn="ctr"/>
                      <a:r>
                        <a:rPr sz="1200" b="0"/>
                        <a:t>0.23*</a:t>
                      </a:r>
                    </a:p>
                  </a:txBody>
                  <a:tcPr anchor="ctr"/>
                </a:tc>
                <a:tc>
                  <a:txBody>
                    <a:bodyPr/>
                    <a:lstStyle/>
                    <a:p>
                      <a:pPr algn="ctr"/>
                      <a:r>
                        <a:rPr sz="1200" b="0"/>
                        <a:t>0.26*</a:t>
                      </a:r>
                    </a:p>
                  </a:txBody>
                  <a:tcPr anchor="ctr"/>
                </a:tc>
                <a:tc>
                  <a:txBody>
                    <a:bodyPr/>
                    <a:lstStyle/>
                    <a:p>
                      <a:pPr algn="ctr"/>
                      <a:r>
                        <a:rPr sz="1200" b="0"/>
                        <a:t>0.67*</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0.61*</a:t>
                      </a:r>
                    </a:p>
                  </a:txBody>
                  <a:tcPr anchor="ctr"/>
                </a:tc>
                <a:tc>
                  <a:txBody>
                    <a:bodyPr/>
                    <a:lstStyle/>
                    <a:p>
                      <a:pPr algn="ctr"/>
                      <a:r>
                        <a:rPr sz="1200" b="0"/>
                        <a:t>0.57*</a:t>
                      </a:r>
                    </a:p>
                  </a:txBody>
                  <a:tcPr anchor="ctr"/>
                </a:tc>
                <a:tc>
                  <a:txBody>
                    <a:bodyPr/>
                    <a:lstStyle/>
                    <a:p>
                      <a:pPr algn="ctr"/>
                      <a:r>
                        <a:rPr sz="1200" b="0"/>
                        <a:t>0.14*</a:t>
                      </a:r>
                    </a:p>
                  </a:txBody>
                  <a:tcPr anchor="ctr"/>
                </a:tc>
                <a:tc>
                  <a:txBody>
                    <a:bodyPr/>
                    <a:lstStyle/>
                    <a:p>
                      <a:pPr algn="ctr"/>
                      <a:r>
                        <a:rPr sz="1200" b="0"/>
                        <a:t>0.09</a:t>
                      </a:r>
                    </a:p>
                  </a:txBody>
                  <a:tcPr anchor="ctr"/>
                </a:tc>
                <a:tc>
                  <a:txBody>
                    <a:bodyPr/>
                    <a:lstStyle/>
                    <a:p>
                      <a:pPr algn="ctr"/>
                      <a:r>
                        <a:rPr sz="1200" b="0"/>
                        <a:t>0.25*</a:t>
                      </a:r>
                    </a:p>
                  </a:txBody>
                  <a:tcPr anchor="ctr"/>
                </a:tc>
              </a:tr>
              <a:tr h="614285">
                <a:tc rowSpan="2">
                  <a:txBody>
                    <a:bodyPr/>
                    <a:lstStyle/>
                    <a:p>
                      <a:pPr algn="ctr"/>
                      <a:r>
                        <a:rPr sz="1200" b="0"/>
                        <a:t>DM</a:t>
                      </a:r>
                    </a:p>
                  </a:txBody>
                  <a:tcPr anchor="ctr"/>
                </a:tc>
                <a:tc>
                  <a:txBody>
                    <a:bodyPr/>
                    <a:lstStyle/>
                    <a:p>
                      <a:pPr algn="ctr"/>
                      <a:r>
                        <a:rPr sz="1200" b="0"/>
                        <a:t>Gangnam</a:t>
                      </a:r>
                    </a:p>
                  </a:txBody>
                  <a:tcPr anchor="ctr"/>
                </a:tc>
                <a:tc>
                  <a:txBody>
                    <a:bodyPr/>
                    <a:lstStyle/>
                    <a:p>
                      <a:pPr algn="ctr"/>
                      <a:r>
                        <a:rPr sz="1200" b="0"/>
                        <a:t>0.76*</a:t>
                      </a:r>
                    </a:p>
                  </a:txBody>
                  <a:tcPr anchor="ctr"/>
                </a:tc>
                <a:tc>
                  <a:txBody>
                    <a:bodyPr/>
                    <a:lstStyle/>
                    <a:p>
                      <a:pPr algn="ctr"/>
                      <a:r>
                        <a:rPr sz="1200" b="0"/>
                        <a:t>0.79*</a:t>
                      </a:r>
                    </a:p>
                  </a:txBody>
                  <a:tcPr anchor="ctr"/>
                </a:tc>
                <a:tc>
                  <a:txBody>
                    <a:bodyPr/>
                    <a:lstStyle/>
                    <a:p>
                      <a:pPr algn="ctr"/>
                      <a:r>
                        <a:rPr sz="1200" b="0"/>
                        <a:t>0.17*</a:t>
                      </a:r>
                    </a:p>
                  </a:txBody>
                  <a:tcPr anchor="ctr"/>
                </a:tc>
                <a:tc>
                  <a:txBody>
                    <a:bodyPr/>
                    <a:lstStyle/>
                    <a:p>
                      <a:pPr algn="ctr"/>
                      <a:r>
                        <a:rPr sz="1200" b="0"/>
                        <a:t>0.33*</a:t>
                      </a:r>
                    </a:p>
                  </a:txBody>
                  <a:tcPr anchor="ctr"/>
                </a:tc>
                <a:tc>
                  <a:txBody>
                    <a:bodyPr/>
                    <a:lstStyle/>
                    <a:p>
                      <a:pPr algn="ctr"/>
                      <a:r>
                        <a:rPr sz="1200" b="0"/>
                        <a:t>0.64*</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0.46*</a:t>
                      </a:r>
                    </a:p>
                  </a:txBody>
                  <a:tcPr anchor="ctr"/>
                </a:tc>
                <a:tc>
                  <a:txBody>
                    <a:bodyPr/>
                    <a:lstStyle/>
                    <a:p>
                      <a:pPr algn="ctr"/>
                      <a:r>
                        <a:rPr sz="1200" b="0"/>
                        <a:t>0.47*</a:t>
                      </a:r>
                    </a:p>
                  </a:txBody>
                  <a:tcPr anchor="ctr"/>
                </a:tc>
                <a:tc>
                  <a:txBody>
                    <a:bodyPr/>
                    <a:lstStyle/>
                    <a:p>
                      <a:pPr algn="ctr"/>
                      <a:r>
                        <a:rPr sz="1200" b="0"/>
                        <a:t>-0.04</a:t>
                      </a:r>
                    </a:p>
                  </a:txBody>
                  <a:tcPr anchor="ctr"/>
                </a:tc>
                <a:tc>
                  <a:txBody>
                    <a:bodyPr/>
                    <a:lstStyle/>
                    <a:p>
                      <a:pPr algn="ctr"/>
                      <a:r>
                        <a:rPr sz="1200" b="0"/>
                        <a:t>0.07</a:t>
                      </a:r>
                    </a:p>
                  </a:txBody>
                  <a:tcPr anchor="ctr"/>
                </a:tc>
                <a:tc>
                  <a:txBody>
                    <a:bodyPr/>
                    <a:lstStyle/>
                    <a:p>
                      <a:pPr algn="ctr"/>
                      <a:r>
                        <a:rPr sz="1200" b="0"/>
                        <a:t>0.20*</a:t>
                      </a:r>
                    </a:p>
                  </a:txBody>
                  <a:tcPr anchor="ctr"/>
                </a:tc>
              </a:tr>
              <a:tr h="614285">
                <a:tc rowSpan="2">
                  <a:txBody>
                    <a:bodyPr/>
                    <a:lstStyle/>
                    <a:p>
                      <a:pPr algn="ctr"/>
                      <a:r>
                        <a:rPr sz="1200" b="0"/>
                        <a:t>CKD</a:t>
                      </a:r>
                    </a:p>
                  </a:txBody>
                  <a:tcPr anchor="ctr"/>
                </a:tc>
                <a:tc>
                  <a:txBody>
                    <a:bodyPr/>
                    <a:lstStyle/>
                    <a:p>
                      <a:pPr algn="ctr"/>
                      <a:r>
                        <a:rPr sz="1200" b="0"/>
                        <a:t>Gangnam</a:t>
                      </a:r>
                    </a:p>
                  </a:txBody>
                  <a:tcPr anchor="ctr"/>
                </a:tc>
                <a:tc>
                  <a:txBody>
                    <a:bodyPr/>
                    <a:lstStyle/>
                    <a:p>
                      <a:pPr algn="ctr"/>
                      <a:r>
                        <a:rPr sz="1200" b="0"/>
                        <a:t>0.75*</a:t>
                      </a:r>
                    </a:p>
                  </a:txBody>
                  <a:tcPr anchor="ctr"/>
                </a:tc>
                <a:tc>
                  <a:txBody>
                    <a:bodyPr/>
                    <a:lstStyle/>
                    <a:p>
                      <a:pPr algn="ctr"/>
                      <a:r>
                        <a:rPr sz="1200" b="0"/>
                        <a:t>0.61*</a:t>
                      </a:r>
                    </a:p>
                  </a:txBody>
                  <a:tcPr anchor="ctr"/>
                </a:tc>
                <a:tc>
                  <a:txBody>
                    <a:bodyPr/>
                    <a:lstStyle/>
                    <a:p>
                      <a:pPr algn="ctr"/>
                      <a:r>
                        <a:rPr sz="1200" b="0"/>
                        <a:t>0.02</a:t>
                      </a:r>
                    </a:p>
                  </a:txBody>
                  <a:tcPr anchor="ctr"/>
                </a:tc>
                <a:tc>
                  <a:txBody>
                    <a:bodyPr/>
                    <a:lstStyle/>
                    <a:p>
                      <a:pPr algn="ctr"/>
                      <a:r>
                        <a:rPr sz="1200" b="0"/>
                        <a:t>0.45*</a:t>
                      </a:r>
                    </a:p>
                  </a:txBody>
                  <a:tcPr anchor="ctr"/>
                </a:tc>
                <a:tc>
                  <a:txBody>
                    <a:bodyPr/>
                    <a:lstStyle/>
                    <a:p>
                      <a:pPr algn="ctr"/>
                      <a:r>
                        <a:rPr sz="1200" b="0"/>
                        <a:t>0.54*</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0.41*</a:t>
                      </a:r>
                    </a:p>
                  </a:txBody>
                  <a:tcPr anchor="ctr"/>
                </a:tc>
                <a:tc>
                  <a:txBody>
                    <a:bodyPr/>
                    <a:lstStyle/>
                    <a:p>
                      <a:pPr algn="ctr"/>
                      <a:r>
                        <a:rPr sz="1200" b="0"/>
                        <a:t>0.37*</a:t>
                      </a:r>
                    </a:p>
                  </a:txBody>
                  <a:tcPr anchor="ctr"/>
                </a:tc>
                <a:tc>
                  <a:txBody>
                    <a:bodyPr/>
                    <a:lstStyle/>
                    <a:p>
                      <a:pPr algn="ctr"/>
                      <a:r>
                        <a:rPr sz="1200" b="0"/>
                        <a:t>-0.01</a:t>
                      </a:r>
                    </a:p>
                  </a:txBody>
                  <a:tcPr anchor="ctr"/>
                </a:tc>
                <a:tc>
                  <a:txBody>
                    <a:bodyPr/>
                    <a:lstStyle/>
                    <a:p>
                      <a:pPr algn="ctr"/>
                      <a:r>
                        <a:rPr sz="1200" b="0"/>
                        <a:t>0.07</a:t>
                      </a:r>
                    </a:p>
                  </a:txBody>
                  <a:tcPr anchor="ctr"/>
                </a:tc>
                <a:tc>
                  <a:txBody>
                    <a:bodyPr/>
                    <a:lstStyle/>
                    <a:p>
                      <a:pPr algn="ctr"/>
                      <a:r>
                        <a:rPr sz="1200" b="0"/>
                        <a:t>0.11</a:t>
                      </a:r>
                    </a:p>
                  </a:txBody>
                  <a:tcPr anchor="ct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질환 유무 차이: 전체 landmark 개요</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1</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ppt_unadjusted_d_heatmap.png"/>
          <p:cNvPicPr>
            <a:picLocks noChangeAspect="1"/>
          </p:cNvPicPr>
          <p:nvPr/>
        </p:nvPicPr>
        <p:blipFill>
          <a:blip r:embed="rId2"/>
          <a:stretch>
            <a:fillRect/>
          </a:stretch>
        </p:blipFill>
        <p:spPr>
          <a:xfrm>
            <a:off x="508000" y="1050000"/>
            <a:ext cx="11176000" cy="4736353"/>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나이·성별·BMI 보정 후 OR (+1SD)</a:t>
            </a:r>
          </a:p>
        </p:txBody>
      </p:sp>
      <p:sp>
        <p:nvSpPr>
          <p:cNvPr id="3" name="Content Placeholder 2"/>
          <p:cNvSpPr>
            <a:spLocks noGrp="1"/>
          </p:cNvSpPr>
          <p:nvPr>
            <p:ph idx="1"/>
          </p:nvPr>
        </p:nvSpPr>
        <p:spPr>
          <a:xfrm>
            <a:off x="508000" y="1050000"/>
            <a:ext cx="11176000" cy="500000"/>
          </a:xfrm>
        </p:spPr>
        <p:txBody>
          <a:bodyPr/>
          <a:lstStyle/>
          <a:p>
            <a:r>
              <a:rPr sz="1600" b="0">
                <a:solidFill>
                  <a:srgbClr val="333F4D"/>
                </a:solidFill>
              </a:rPr>
              <a:t>보정 후 일관된 결과는 HTN의 VAT뿐이다. * = FDR&lt;0.05</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3</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700000"/>
          <a:ext cx="11175996" cy="4299995"/>
        </p:xfrm>
        <a:graphic>
          <a:graphicData uri="http://schemas.openxmlformats.org/drawingml/2006/table">
            <a:tbl>
              <a:tblPr firstRow="1" bandRow="1">
                <a:tableStyleId>{C083E6E3-FA7D-4D7B-A595-EF9225AFEA82}</a:tableStyleId>
              </a:tblPr>
              <a:tblGrid>
                <a:gridCol w="1370641"/>
                <a:gridCol w="1581509"/>
                <a:gridCol w="1370641"/>
                <a:gridCol w="1370641"/>
                <a:gridCol w="1370641"/>
                <a:gridCol w="1370641"/>
                <a:gridCol w="1370641"/>
                <a:gridCol w="1370641"/>
              </a:tblGrid>
              <a:tr h="614285">
                <a:tc>
                  <a:txBody>
                    <a:bodyPr/>
                    <a:lstStyle/>
                    <a:p>
                      <a:pPr algn="ctr"/>
                      <a:r>
                        <a:rPr sz="1400" b="1"/>
                        <a:t>Disease</a:t>
                      </a:r>
                    </a:p>
                  </a:txBody>
                  <a:tcPr anchor="ctr"/>
                </a:tc>
                <a:tc>
                  <a:txBody>
                    <a:bodyPr/>
                    <a:lstStyle/>
                    <a:p>
                      <a:pPr algn="ctr"/>
                      <a:r>
                        <a:rPr sz="1400" b="1"/>
                        <a:t>Cohort</a:t>
                      </a:r>
                    </a:p>
                  </a:txBody>
                  <a:tcPr anchor="ctr"/>
                </a:tc>
                <a:tc>
                  <a:txBody>
                    <a:bodyPr/>
                    <a:lstStyle/>
                    <a:p>
                      <a:pPr algn="ctr"/>
                      <a:r>
                        <a:rPr sz="1400" b="1"/>
                        <a:t>VAT@L1</a:t>
                      </a:r>
                    </a:p>
                  </a:txBody>
                  <a:tcPr anchor="ctr"/>
                </a:tc>
                <a:tc>
                  <a:txBody>
                    <a:bodyPr/>
                    <a:lstStyle/>
                    <a:p>
                      <a:pPr algn="ctr"/>
                      <a:r>
                        <a:rPr sz="1400" b="1"/>
                        <a:t>VAT@L2</a:t>
                      </a:r>
                    </a:p>
                  </a:txBody>
                  <a:tcPr anchor="ctr"/>
                </a:tc>
                <a:tc>
                  <a:txBody>
                    <a:bodyPr/>
                    <a:lstStyle/>
                    <a:p>
                      <a:pPr algn="ctr"/>
                      <a:r>
                        <a:rPr sz="1400" b="1"/>
                        <a:t>VAT@L3</a:t>
                      </a:r>
                    </a:p>
                  </a:txBody>
                  <a:tcPr anchor="ctr"/>
                </a:tc>
                <a:tc>
                  <a:txBody>
                    <a:bodyPr/>
                    <a:lstStyle/>
                    <a:p>
                      <a:pPr algn="ctr"/>
                      <a:r>
                        <a:rPr sz="1400" b="1"/>
                        <a:t>SAT@L3</a:t>
                      </a:r>
                    </a:p>
                  </a:txBody>
                  <a:tcPr anchor="ctr"/>
                </a:tc>
                <a:tc>
                  <a:txBody>
                    <a:bodyPr/>
                    <a:lstStyle/>
                    <a:p>
                      <a:pPr algn="ctr"/>
                      <a:r>
                        <a:rPr sz="1400" b="1"/>
                        <a:t>TAMA@L3</a:t>
                      </a:r>
                    </a:p>
                  </a:txBody>
                  <a:tcPr anchor="ctr"/>
                </a:tc>
                <a:tc>
                  <a:txBody>
                    <a:bodyPr/>
                    <a:lstStyle/>
                    <a:p>
                      <a:pPr algn="ctr"/>
                      <a:r>
                        <a:rPr sz="1400" b="1"/>
                        <a:t>AEC@L3</a:t>
                      </a:r>
                    </a:p>
                  </a:txBody>
                  <a:tcPr anchor="ctr"/>
                </a:tc>
              </a:tr>
              <a:tr h="614285">
                <a:tc rowSpan="2">
                  <a:txBody>
                    <a:bodyPr/>
                    <a:lstStyle/>
                    <a:p>
                      <a:pPr algn="ctr"/>
                      <a:r>
                        <a:rPr sz="1200" b="0"/>
                        <a:t>HTN</a:t>
                      </a:r>
                    </a:p>
                  </a:txBody>
                  <a:tcPr anchor="ctr"/>
                </a:tc>
                <a:tc>
                  <a:txBody>
                    <a:bodyPr/>
                    <a:lstStyle/>
                    <a:p>
                      <a:pPr algn="ctr"/>
                      <a:r>
                        <a:rPr sz="1200" b="0"/>
                        <a:t>Gangnam</a:t>
                      </a:r>
                    </a:p>
                  </a:txBody>
                  <a:tcPr anchor="ctr"/>
                </a:tc>
                <a:tc>
                  <a:txBody>
                    <a:bodyPr/>
                    <a:lstStyle/>
                    <a:p>
                      <a:pPr algn="ctr"/>
                      <a:r>
                        <a:rPr sz="1200" b="0"/>
                        <a:t>1.69*</a:t>
                      </a:r>
                    </a:p>
                  </a:txBody>
                  <a:tcPr anchor="ctr"/>
                </a:tc>
                <a:tc>
                  <a:txBody>
                    <a:bodyPr/>
                    <a:lstStyle/>
                    <a:p>
                      <a:pPr algn="ctr"/>
                      <a:r>
                        <a:rPr sz="1200" b="0"/>
                        <a:t>1.74*</a:t>
                      </a:r>
                    </a:p>
                  </a:txBody>
                  <a:tcPr anchor="ctr"/>
                </a:tc>
                <a:tc>
                  <a:txBody>
                    <a:bodyPr/>
                    <a:lstStyle/>
                    <a:p>
                      <a:pPr algn="ctr"/>
                      <a:r>
                        <a:rPr sz="1200" b="0"/>
                        <a:t>1.77*</a:t>
                      </a:r>
                    </a:p>
                  </a:txBody>
                  <a:tcPr anchor="ctr"/>
                </a:tc>
                <a:tc>
                  <a:txBody>
                    <a:bodyPr/>
                    <a:lstStyle/>
                    <a:p>
                      <a:pPr algn="ctr"/>
                      <a:r>
                        <a:rPr sz="1200" b="0"/>
                        <a:t>1.46*</a:t>
                      </a:r>
                    </a:p>
                  </a:txBody>
                  <a:tcPr anchor="ctr"/>
                </a:tc>
                <a:tc>
                  <a:txBody>
                    <a:bodyPr/>
                    <a:lstStyle/>
                    <a:p>
                      <a:pPr algn="ctr"/>
                      <a:r>
                        <a:rPr sz="1200" b="0"/>
                        <a:t>0.89</a:t>
                      </a:r>
                    </a:p>
                  </a:txBody>
                  <a:tcPr anchor="ctr"/>
                </a:tc>
                <a:tc>
                  <a:txBody>
                    <a:bodyPr/>
                    <a:lstStyle/>
                    <a:p>
                      <a:pPr algn="ctr"/>
                      <a:r>
                        <a:rPr sz="1200" b="0"/>
                        <a:t>1.46*</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1.39*</a:t>
                      </a:r>
                    </a:p>
                  </a:txBody>
                  <a:tcPr anchor="ctr"/>
                </a:tc>
                <a:tc>
                  <a:txBody>
                    <a:bodyPr/>
                    <a:lstStyle/>
                    <a:p>
                      <a:pPr algn="ctr"/>
                      <a:r>
                        <a:rPr sz="1200" b="0"/>
                        <a:t>1.35*</a:t>
                      </a:r>
                    </a:p>
                  </a:txBody>
                  <a:tcPr anchor="ctr"/>
                </a:tc>
                <a:tc>
                  <a:txBody>
                    <a:bodyPr/>
                    <a:lstStyle/>
                    <a:p>
                      <a:pPr algn="ctr"/>
                      <a:r>
                        <a:rPr sz="1200" b="0"/>
                        <a:t>1.29*</a:t>
                      </a:r>
                    </a:p>
                  </a:txBody>
                  <a:tcPr anchor="ctr"/>
                </a:tc>
                <a:tc>
                  <a:txBody>
                    <a:bodyPr/>
                    <a:lstStyle/>
                    <a:p>
                      <a:pPr algn="ctr"/>
                      <a:r>
                        <a:rPr sz="1200" b="0"/>
                        <a:t>0.93</a:t>
                      </a:r>
                    </a:p>
                  </a:txBody>
                  <a:tcPr anchor="ctr"/>
                </a:tc>
                <a:tc>
                  <a:txBody>
                    <a:bodyPr/>
                    <a:lstStyle/>
                    <a:p>
                      <a:pPr algn="ctr"/>
                      <a:r>
                        <a:rPr sz="1200" b="0"/>
                        <a:t>0.95</a:t>
                      </a:r>
                    </a:p>
                  </a:txBody>
                  <a:tcPr anchor="ctr"/>
                </a:tc>
                <a:tc>
                  <a:txBody>
                    <a:bodyPr/>
                    <a:lstStyle/>
                    <a:p>
                      <a:pPr algn="ctr"/>
                      <a:r>
                        <a:rPr sz="1200" b="0"/>
                        <a:t>1.05</a:t>
                      </a:r>
                    </a:p>
                  </a:txBody>
                  <a:tcPr anchor="ctr"/>
                </a:tc>
              </a:tr>
              <a:tr h="614285">
                <a:tc rowSpan="2">
                  <a:txBody>
                    <a:bodyPr/>
                    <a:lstStyle/>
                    <a:p>
                      <a:pPr algn="ctr"/>
                      <a:r>
                        <a:rPr sz="1200" b="0"/>
                        <a:t>DM</a:t>
                      </a:r>
                    </a:p>
                  </a:txBody>
                  <a:tcPr anchor="ctr"/>
                </a:tc>
                <a:tc>
                  <a:txBody>
                    <a:bodyPr/>
                    <a:lstStyle/>
                    <a:p>
                      <a:pPr algn="ctr"/>
                      <a:r>
                        <a:rPr sz="1200" b="0"/>
                        <a:t>Gangnam</a:t>
                      </a:r>
                    </a:p>
                  </a:txBody>
                  <a:tcPr anchor="ctr"/>
                </a:tc>
                <a:tc>
                  <a:txBody>
                    <a:bodyPr/>
                    <a:lstStyle/>
                    <a:p>
                      <a:pPr algn="ctr"/>
                      <a:r>
                        <a:rPr sz="1200" b="0"/>
                        <a:t>1.39*</a:t>
                      </a:r>
                    </a:p>
                  </a:txBody>
                  <a:tcPr anchor="ctr"/>
                </a:tc>
                <a:tc>
                  <a:txBody>
                    <a:bodyPr/>
                    <a:lstStyle/>
                    <a:p>
                      <a:pPr algn="ctr"/>
                      <a:r>
                        <a:rPr sz="1200" b="0"/>
                        <a:t>1.49*</a:t>
                      </a:r>
                    </a:p>
                  </a:txBody>
                  <a:tcPr anchor="ctr"/>
                </a:tc>
                <a:tc>
                  <a:txBody>
                    <a:bodyPr/>
                    <a:lstStyle/>
                    <a:p>
                      <a:pPr algn="ctr"/>
                      <a:r>
                        <a:rPr sz="1200" b="0"/>
                        <a:t>1.48*</a:t>
                      </a:r>
                    </a:p>
                  </a:txBody>
                  <a:tcPr anchor="ctr"/>
                </a:tc>
                <a:tc>
                  <a:txBody>
                    <a:bodyPr/>
                    <a:lstStyle/>
                    <a:p>
                      <a:pPr algn="ctr"/>
                      <a:r>
                        <a:rPr sz="1200" b="0"/>
                        <a:t>0.99</a:t>
                      </a:r>
                    </a:p>
                  </a:txBody>
                  <a:tcPr anchor="ctr"/>
                </a:tc>
                <a:tc>
                  <a:txBody>
                    <a:bodyPr/>
                    <a:lstStyle/>
                    <a:p>
                      <a:pPr algn="ctr"/>
                      <a:r>
                        <a:rPr sz="1200" b="0"/>
                        <a:t>1.11</a:t>
                      </a:r>
                    </a:p>
                  </a:txBody>
                  <a:tcPr anchor="ctr"/>
                </a:tc>
                <a:tc>
                  <a:txBody>
                    <a:bodyPr/>
                    <a:lstStyle/>
                    <a:p>
                      <a:pPr algn="ctr"/>
                      <a:r>
                        <a:rPr sz="1200" b="0"/>
                        <a:t>1.34*</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1.09</a:t>
                      </a:r>
                    </a:p>
                  </a:txBody>
                  <a:tcPr anchor="ctr"/>
                </a:tc>
                <a:tc>
                  <a:txBody>
                    <a:bodyPr/>
                    <a:lstStyle/>
                    <a:p>
                      <a:pPr algn="ctr"/>
                      <a:r>
                        <a:rPr sz="1200" b="0"/>
                        <a:t>1.09</a:t>
                      </a:r>
                    </a:p>
                  </a:txBody>
                  <a:tcPr anchor="ctr"/>
                </a:tc>
                <a:tc>
                  <a:txBody>
                    <a:bodyPr/>
                    <a:lstStyle/>
                    <a:p>
                      <a:pPr algn="ctr"/>
                      <a:r>
                        <a:rPr sz="1200" b="0"/>
                        <a:t>1.12</a:t>
                      </a:r>
                    </a:p>
                  </a:txBody>
                  <a:tcPr anchor="ctr"/>
                </a:tc>
                <a:tc>
                  <a:txBody>
                    <a:bodyPr/>
                    <a:lstStyle/>
                    <a:p>
                      <a:pPr algn="ctr"/>
                      <a:r>
                        <a:rPr sz="1200" b="0"/>
                        <a:t>0.69*</a:t>
                      </a:r>
                    </a:p>
                  </a:txBody>
                  <a:tcPr anchor="ctr"/>
                </a:tc>
                <a:tc>
                  <a:txBody>
                    <a:bodyPr/>
                    <a:lstStyle/>
                    <a:p>
                      <a:pPr algn="ctr"/>
                      <a:r>
                        <a:rPr sz="1200" b="0"/>
                        <a:t>0.80</a:t>
                      </a:r>
                    </a:p>
                  </a:txBody>
                  <a:tcPr anchor="ctr"/>
                </a:tc>
                <a:tc>
                  <a:txBody>
                    <a:bodyPr/>
                    <a:lstStyle/>
                    <a:p>
                      <a:pPr algn="ctr"/>
                      <a:r>
                        <a:rPr sz="1200" b="0"/>
                        <a:t>1.02</a:t>
                      </a:r>
                    </a:p>
                  </a:txBody>
                  <a:tcPr anchor="ctr"/>
                </a:tc>
              </a:tr>
              <a:tr h="614285">
                <a:tc rowSpan="2">
                  <a:txBody>
                    <a:bodyPr/>
                    <a:lstStyle/>
                    <a:p>
                      <a:pPr algn="ctr"/>
                      <a:r>
                        <a:rPr sz="1200" b="0"/>
                        <a:t>CKD</a:t>
                      </a:r>
                    </a:p>
                  </a:txBody>
                  <a:tcPr anchor="ctr"/>
                </a:tc>
                <a:tc>
                  <a:txBody>
                    <a:bodyPr/>
                    <a:lstStyle/>
                    <a:p>
                      <a:pPr algn="ctr"/>
                      <a:r>
                        <a:rPr sz="1200" b="0"/>
                        <a:t>Gangnam</a:t>
                      </a:r>
                    </a:p>
                  </a:txBody>
                  <a:tcPr anchor="ctr"/>
                </a:tc>
                <a:tc>
                  <a:txBody>
                    <a:bodyPr/>
                    <a:lstStyle/>
                    <a:p>
                      <a:pPr algn="ctr"/>
                      <a:r>
                        <a:rPr sz="1200" b="0"/>
                        <a:t>1.18</a:t>
                      </a:r>
                    </a:p>
                  </a:txBody>
                  <a:tcPr anchor="ctr"/>
                </a:tc>
                <a:tc>
                  <a:txBody>
                    <a:bodyPr/>
                    <a:lstStyle/>
                    <a:p>
                      <a:pPr algn="ctr"/>
                      <a:r>
                        <a:rPr sz="1200" b="0"/>
                        <a:t>1.09</a:t>
                      </a:r>
                    </a:p>
                  </a:txBody>
                  <a:tcPr anchor="ctr"/>
                </a:tc>
                <a:tc>
                  <a:txBody>
                    <a:bodyPr/>
                    <a:lstStyle/>
                    <a:p>
                      <a:pPr algn="ctr"/>
                      <a:r>
                        <a:rPr sz="1200" b="0"/>
                        <a:t>0.98</a:t>
                      </a:r>
                    </a:p>
                  </a:txBody>
                  <a:tcPr anchor="ctr"/>
                </a:tc>
                <a:tc>
                  <a:txBody>
                    <a:bodyPr/>
                    <a:lstStyle/>
                    <a:p>
                      <a:pPr algn="ctr"/>
                      <a:r>
                        <a:rPr sz="1200" b="0"/>
                        <a:t>1.10</a:t>
                      </a:r>
                    </a:p>
                  </a:txBody>
                  <a:tcPr anchor="ctr"/>
                </a:tc>
                <a:tc>
                  <a:txBody>
                    <a:bodyPr/>
                    <a:lstStyle/>
                    <a:p>
                      <a:pPr algn="ctr"/>
                      <a:r>
                        <a:rPr sz="1200" b="0"/>
                        <a:t>1.27</a:t>
                      </a:r>
                    </a:p>
                  </a:txBody>
                  <a:tcPr anchor="ctr"/>
                </a:tc>
                <a:tc>
                  <a:txBody>
                    <a:bodyPr/>
                    <a:lstStyle/>
                    <a:p>
                      <a:pPr algn="ctr"/>
                      <a:r>
                        <a:rPr sz="1200" b="0"/>
                        <a:t>1.19</a:t>
                      </a:r>
                    </a:p>
                  </a:txBody>
                  <a:tcPr anchor="ctr"/>
                </a:tc>
              </a:tr>
              <a:tr h="614285">
                <a:tc vMerge="1">
                  <a:txBody>
                    <a:bodyPr/>
                    <a:lstStyle/>
                    <a:p/>
                  </a:txBody>
                  <a:tcPr/>
                </a:tc>
                <a:tc>
                  <a:txBody>
                    <a:bodyPr/>
                    <a:lstStyle/>
                    <a:p>
                      <a:pPr algn="ctr"/>
                      <a:r>
                        <a:rPr sz="1200" b="0"/>
                        <a:t>Sinchon</a:t>
                      </a:r>
                    </a:p>
                  </a:txBody>
                  <a:tcPr anchor="ctr"/>
                </a:tc>
                <a:tc>
                  <a:txBody>
                    <a:bodyPr/>
                    <a:lstStyle/>
                    <a:p>
                      <a:pPr algn="ctr"/>
                      <a:r>
                        <a:rPr sz="1200" b="0"/>
                        <a:t>1.32</a:t>
                      </a:r>
                    </a:p>
                  </a:txBody>
                  <a:tcPr anchor="ctr"/>
                </a:tc>
                <a:tc>
                  <a:txBody>
                    <a:bodyPr/>
                    <a:lstStyle/>
                    <a:p>
                      <a:pPr algn="ctr"/>
                      <a:r>
                        <a:rPr sz="1200" b="0"/>
                        <a:t>1.30</a:t>
                      </a:r>
                    </a:p>
                  </a:txBody>
                  <a:tcPr anchor="ctr"/>
                </a:tc>
                <a:tc>
                  <a:txBody>
                    <a:bodyPr/>
                    <a:lstStyle/>
                    <a:p>
                      <a:pPr algn="ctr"/>
                      <a:r>
                        <a:rPr sz="1200" b="0"/>
                        <a:t>1.23</a:t>
                      </a:r>
                    </a:p>
                  </a:txBody>
                  <a:tcPr anchor="ctr"/>
                </a:tc>
                <a:tc>
                  <a:txBody>
                    <a:bodyPr/>
                    <a:lstStyle/>
                    <a:p>
                      <a:pPr algn="ctr"/>
                      <a:r>
                        <a:rPr sz="1200" b="0"/>
                        <a:t>0.88</a:t>
                      </a:r>
                    </a:p>
                  </a:txBody>
                  <a:tcPr anchor="ctr"/>
                </a:tc>
                <a:tc>
                  <a:txBody>
                    <a:bodyPr/>
                    <a:lstStyle/>
                    <a:p>
                      <a:pPr algn="ctr"/>
                      <a:r>
                        <a:rPr sz="1200" b="0"/>
                        <a:t>0.86</a:t>
                      </a:r>
                    </a:p>
                  </a:txBody>
                  <a:tcPr anchor="ctr"/>
                </a:tc>
                <a:tc>
                  <a:txBody>
                    <a:bodyPr/>
                    <a:lstStyle/>
                    <a:p>
                      <a:pPr algn="ctr"/>
                      <a:r>
                        <a:rPr sz="1200" b="0"/>
                        <a:t>0.98</a:t>
                      </a:r>
                    </a:p>
                  </a:txBody>
                  <a:tcPr anchor="ct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보정 OR 개요</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2</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ppt_adjusted_or_heatmap.png"/>
          <p:cNvPicPr>
            <a:picLocks noChangeAspect="1"/>
          </p:cNvPicPr>
          <p:nvPr/>
        </p:nvPicPr>
        <p:blipFill>
          <a:blip r:embed="rId2"/>
          <a:stretch>
            <a:fillRect/>
          </a:stretch>
        </p:blipFill>
        <p:spPr>
          <a:xfrm>
            <a:off x="508000" y="1050000"/>
            <a:ext cx="11176000" cy="4736353"/>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성별 층화 보정 OR: VAT@L2</a:t>
            </a:r>
          </a:p>
        </p:txBody>
      </p:sp>
      <p:sp>
        <p:nvSpPr>
          <p:cNvPr id="3" name="Content Placeholder 2"/>
          <p:cNvSpPr>
            <a:spLocks noGrp="1"/>
          </p:cNvSpPr>
          <p:nvPr>
            <p:ph idx="1"/>
          </p:nvPr>
        </p:nvSpPr>
        <p:spPr>
          <a:xfrm>
            <a:off x="508000" y="1050000"/>
            <a:ext cx="11176000" cy="500000"/>
          </a:xfrm>
        </p:spPr>
        <p:txBody>
          <a:bodyPr/>
          <a:lstStyle/>
          <a:p>
            <a:r>
              <a:rPr sz="1600" b="0">
                <a:solidFill>
                  <a:srgbClr val="333F4D"/>
                </a:solidFill>
              </a:rPr>
              <a:t>남성은 코호트 간 차이가 크다. * = FDR&lt;0.05</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4</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700000"/>
          <a:ext cx="11175998" cy="3999996"/>
        </p:xfrm>
        <a:graphic>
          <a:graphicData uri="http://schemas.openxmlformats.org/drawingml/2006/table">
            <a:tbl>
              <a:tblPr firstRow="1" bandRow="1">
                <a:tableStyleId>{C083E6E3-FA7D-4D7B-A595-EF9225AFEA82}</a:tableStyleId>
              </a:tblPr>
              <a:tblGrid>
                <a:gridCol w="2483555"/>
                <a:gridCol w="2483555"/>
                <a:gridCol w="3104444"/>
                <a:gridCol w="3104444"/>
              </a:tblGrid>
              <a:tr h="571428">
                <a:tc>
                  <a:txBody>
                    <a:bodyPr/>
                    <a:lstStyle/>
                    <a:p>
                      <a:pPr algn="ctr"/>
                      <a:r>
                        <a:rPr sz="1400" b="1"/>
                        <a:t>Disease</a:t>
                      </a:r>
                    </a:p>
                  </a:txBody>
                  <a:tcPr anchor="ctr"/>
                </a:tc>
                <a:tc>
                  <a:txBody>
                    <a:bodyPr/>
                    <a:lstStyle/>
                    <a:p>
                      <a:pPr algn="ctr"/>
                      <a:r>
                        <a:rPr sz="1400" b="1"/>
                        <a:t>Sex</a:t>
                      </a:r>
                    </a:p>
                  </a:txBody>
                  <a:tcPr anchor="ctr"/>
                </a:tc>
                <a:tc>
                  <a:txBody>
                    <a:bodyPr/>
                    <a:lstStyle/>
                    <a:p>
                      <a:pPr algn="ctr"/>
                      <a:r>
                        <a:rPr sz="1400" b="1"/>
                        <a:t>Gangnam</a:t>
                      </a:r>
                    </a:p>
                  </a:txBody>
                  <a:tcPr anchor="ctr"/>
                </a:tc>
                <a:tc>
                  <a:txBody>
                    <a:bodyPr/>
                    <a:lstStyle/>
                    <a:p>
                      <a:pPr algn="ctr"/>
                      <a:r>
                        <a:rPr sz="1400" b="1"/>
                        <a:t>Sinchon</a:t>
                      </a:r>
                    </a:p>
                  </a:txBody>
                  <a:tcPr anchor="ctr"/>
                </a:tc>
              </a:tr>
              <a:tr h="571428">
                <a:tc rowSpan="2">
                  <a:txBody>
                    <a:bodyPr/>
                    <a:lstStyle/>
                    <a:p>
                      <a:pPr algn="ctr"/>
                      <a:r>
                        <a:rPr sz="1200" b="0"/>
                        <a:t>HTN</a:t>
                      </a:r>
                    </a:p>
                  </a:txBody>
                  <a:tcPr anchor="ctr"/>
                </a:tc>
                <a:tc>
                  <a:txBody>
                    <a:bodyPr/>
                    <a:lstStyle/>
                    <a:p>
                      <a:pPr algn="ctr"/>
                      <a:r>
                        <a:rPr sz="1200" b="0"/>
                        <a:t>M</a:t>
                      </a:r>
                    </a:p>
                  </a:txBody>
                  <a:tcPr anchor="ctr"/>
                </a:tc>
                <a:tc>
                  <a:txBody>
                    <a:bodyPr/>
                    <a:lstStyle/>
                    <a:p>
                      <a:pPr algn="ctr"/>
                      <a:r>
                        <a:rPr sz="1200" b="0"/>
                        <a:t>1.93*</a:t>
                      </a:r>
                    </a:p>
                  </a:txBody>
                  <a:tcPr anchor="ctr"/>
                </a:tc>
                <a:tc>
                  <a:txBody>
                    <a:bodyPr/>
                    <a:lstStyle/>
                    <a:p>
                      <a:pPr algn="ctr"/>
                      <a:r>
                        <a:rPr sz="1200" b="0"/>
                        <a:t>1.35</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1.40*</a:t>
                      </a:r>
                    </a:p>
                  </a:txBody>
                  <a:tcPr anchor="ctr"/>
                </a:tc>
                <a:tc>
                  <a:txBody>
                    <a:bodyPr/>
                    <a:lstStyle/>
                    <a:p>
                      <a:pPr algn="ctr"/>
                      <a:r>
                        <a:rPr sz="1200" b="0"/>
                        <a:t>1.32</a:t>
                      </a:r>
                    </a:p>
                  </a:txBody>
                  <a:tcPr anchor="ctr"/>
                </a:tc>
              </a:tr>
              <a:tr h="571428">
                <a:tc rowSpan="2">
                  <a:txBody>
                    <a:bodyPr/>
                    <a:lstStyle/>
                    <a:p>
                      <a:pPr algn="ctr"/>
                      <a:r>
                        <a:rPr sz="1200" b="0"/>
                        <a:t>DM</a:t>
                      </a:r>
                    </a:p>
                  </a:txBody>
                  <a:tcPr anchor="ctr"/>
                </a:tc>
                <a:tc>
                  <a:txBody>
                    <a:bodyPr/>
                    <a:lstStyle/>
                    <a:p>
                      <a:pPr algn="ctr"/>
                      <a:r>
                        <a:rPr sz="1200" b="0"/>
                        <a:t>M</a:t>
                      </a:r>
                    </a:p>
                  </a:txBody>
                  <a:tcPr anchor="ctr"/>
                </a:tc>
                <a:tc>
                  <a:txBody>
                    <a:bodyPr/>
                    <a:lstStyle/>
                    <a:p>
                      <a:pPr algn="ctr"/>
                      <a:r>
                        <a:rPr sz="1200" b="0"/>
                        <a:t>1.47*</a:t>
                      </a:r>
                    </a:p>
                  </a:txBody>
                  <a:tcPr anchor="ctr"/>
                </a:tc>
                <a:tc>
                  <a:txBody>
                    <a:bodyPr/>
                    <a:lstStyle/>
                    <a:p>
                      <a:pPr algn="ctr"/>
                      <a:r>
                        <a:rPr sz="1200" b="0"/>
                        <a:t>1.05</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1.43</a:t>
                      </a:r>
                    </a:p>
                  </a:txBody>
                  <a:tcPr anchor="ctr"/>
                </a:tc>
                <a:tc>
                  <a:txBody>
                    <a:bodyPr/>
                    <a:lstStyle/>
                    <a:p>
                      <a:pPr algn="ctr"/>
                      <a:r>
                        <a:rPr sz="1200" b="0"/>
                        <a:t>1.23</a:t>
                      </a:r>
                    </a:p>
                  </a:txBody>
                  <a:tcPr anchor="ctr"/>
                </a:tc>
              </a:tr>
              <a:tr h="571428">
                <a:tc rowSpan="2">
                  <a:txBody>
                    <a:bodyPr/>
                    <a:lstStyle/>
                    <a:p>
                      <a:pPr algn="ctr"/>
                      <a:r>
                        <a:rPr sz="1200" b="0"/>
                        <a:t>CKD</a:t>
                      </a:r>
                    </a:p>
                  </a:txBody>
                  <a:tcPr anchor="ctr"/>
                </a:tc>
                <a:tc>
                  <a:txBody>
                    <a:bodyPr/>
                    <a:lstStyle/>
                    <a:p>
                      <a:pPr algn="ctr"/>
                      <a:r>
                        <a:rPr sz="1200" b="0"/>
                        <a:t>M</a:t>
                      </a:r>
                    </a:p>
                  </a:txBody>
                  <a:tcPr anchor="ctr"/>
                </a:tc>
                <a:tc>
                  <a:txBody>
                    <a:bodyPr/>
                    <a:lstStyle/>
                    <a:p>
                      <a:pPr algn="ctr"/>
                      <a:r>
                        <a:rPr sz="1200" b="0"/>
                        <a:t>1.12</a:t>
                      </a:r>
                    </a:p>
                  </a:txBody>
                  <a:tcPr anchor="ctr"/>
                </a:tc>
                <a:tc>
                  <a:txBody>
                    <a:bodyPr/>
                    <a:lstStyle/>
                    <a:p>
                      <a:pPr algn="ctr"/>
                      <a:r>
                        <a:rPr sz="1200" b="0"/>
                        <a:t>1.20</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1.12</a:t>
                      </a:r>
                    </a:p>
                  </a:txBody>
                  <a:tcPr anchor="ctr"/>
                </a:tc>
                <a:tc>
                  <a:txBody>
                    <a:bodyPr/>
                    <a:lstStyle/>
                    <a:p>
                      <a:pPr algn="ctr"/>
                      <a:r>
                        <a:rPr sz="1200" b="0"/>
                        <a:t>1.58</a:t>
                      </a:r>
                    </a:p>
                  </a:txBody>
                  <a:tcPr anchor="ct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SAT·TAMA·AEC 여러 case 분석: 일관된 feature 수</a:t>
            </a:r>
          </a:p>
        </p:txBody>
      </p:sp>
      <p:sp>
        <p:nvSpPr>
          <p:cNvPr id="3" name="Content Placeholder 2"/>
          <p:cNvSpPr>
            <a:spLocks noGrp="1"/>
          </p:cNvSpPr>
          <p:nvPr>
            <p:ph idx="1"/>
          </p:nvPr>
        </p:nvSpPr>
        <p:spPr>
          <a:xfrm>
            <a:off x="508000" y="1050000"/>
            <a:ext cx="11176000" cy="800000"/>
          </a:xfrm>
        </p:spPr>
        <p:txBody>
          <a:bodyPr/>
          <a:lstStyle/>
          <a:p>
            <a:r>
              <a:rPr sz="1400" b="0">
                <a:solidFill>
                  <a:srgbClr val="333F4D"/>
                </a:solidFill>
              </a:rPr>
              <a:t>두 코호트 모두 FDR&lt;0.05 &amp; 같은 방향인 feature 수 / 전체 (보정 OR). 조직 비율 = TAMA/SAT, TAMA/(SAT+VAT), SAT/(SAT+VAT)</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5</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7" cy="4300000"/>
        </p:xfrm>
        <a:graphic>
          <a:graphicData uri="http://schemas.openxmlformats.org/drawingml/2006/table">
            <a:tbl>
              <a:tblPr firstRow="1" bandRow="1">
                <a:tableStyleId>{C083E6E3-FA7D-4D7B-A595-EF9225AFEA82}</a:tableStyleId>
              </a:tblPr>
              <a:tblGrid>
                <a:gridCol w="1265207"/>
                <a:gridCol w="1265207"/>
                <a:gridCol w="1686943"/>
                <a:gridCol w="1897811"/>
                <a:gridCol w="1581509"/>
                <a:gridCol w="1897811"/>
                <a:gridCol w="1581509"/>
              </a:tblGrid>
              <a:tr h="430000">
                <a:tc>
                  <a:txBody>
                    <a:bodyPr/>
                    <a:lstStyle/>
                    <a:p>
                      <a:pPr algn="ctr"/>
                      <a:r>
                        <a:rPr sz="1400" b="1"/>
                        <a:t>Disease</a:t>
                      </a:r>
                    </a:p>
                  </a:txBody>
                  <a:tcPr anchor="ctr"/>
                </a:tc>
                <a:tc>
                  <a:txBody>
                    <a:bodyPr/>
                    <a:lstStyle/>
                    <a:p>
                      <a:pPr algn="ctr"/>
                      <a:r>
                        <a:rPr sz="1400" b="1"/>
                        <a:t>Tissue</a:t>
                      </a:r>
                    </a:p>
                  </a:txBody>
                  <a:tcPr anchor="ctr"/>
                </a:tc>
                <a:tc>
                  <a:txBody>
                    <a:bodyPr/>
                    <a:lstStyle/>
                    <a:p>
                      <a:pPr algn="ctr"/>
                      <a:r>
                        <a:rPr sz="1400" b="1"/>
                        <a:t>Landmark 단면</a:t>
                      </a:r>
                    </a:p>
                  </a:txBody>
                  <a:tcPr anchor="ctr"/>
                </a:tc>
                <a:tc>
                  <a:txBody>
                    <a:bodyPr/>
                    <a:lstStyle/>
                    <a:p>
                      <a:pPr algn="ctr"/>
                      <a:r>
                        <a:rPr sz="1400" b="1"/>
                        <a:t>Landmark 간 비율</a:t>
                      </a:r>
                    </a:p>
                  </a:txBody>
                  <a:tcPr anchor="ctr"/>
                </a:tc>
                <a:tc>
                  <a:txBody>
                    <a:bodyPr/>
                    <a:lstStyle/>
                    <a:p>
                      <a:pPr algn="ctr"/>
                      <a:r>
                        <a:rPr sz="1400" b="1"/>
                        <a:t>구간 평균</a:t>
                      </a:r>
                    </a:p>
                  </a:txBody>
                  <a:tcPr anchor="ctr"/>
                </a:tc>
                <a:tc>
                  <a:txBody>
                    <a:bodyPr/>
                    <a:lstStyle/>
                    <a:p>
                      <a:pPr algn="ctr"/>
                      <a:r>
                        <a:rPr sz="1400" b="1"/>
                        <a:t>구간/전체 비율</a:t>
                      </a:r>
                    </a:p>
                  </a:txBody>
                  <a:tcPr anchor="ctr"/>
                </a:tc>
                <a:tc>
                  <a:txBody>
                    <a:bodyPr/>
                    <a:lstStyle/>
                    <a:p>
                      <a:pPr algn="ctr"/>
                      <a:r>
                        <a:rPr sz="1400" b="1"/>
                        <a:t>조직 비율</a:t>
                      </a:r>
                    </a:p>
                  </a:txBody>
                  <a:tcPr anchor="ctr"/>
                </a:tc>
              </a:tr>
              <a:tr h="430000">
                <a:tc rowSpan="3">
                  <a:txBody>
                    <a:bodyPr/>
                    <a:lstStyle/>
                    <a:p>
                      <a:pPr algn="ctr"/>
                      <a:r>
                        <a:rPr sz="1200" b="0"/>
                        <a:t>HTN</a:t>
                      </a:r>
                    </a:p>
                  </a:txBody>
                  <a:tcPr anchor="ctr"/>
                </a:tc>
                <a:tc>
                  <a:txBody>
                    <a:bodyPr/>
                    <a:lstStyle/>
                    <a:p>
                      <a:pPr algn="ctr"/>
                      <a:r>
                        <a:rPr sz="1200" b="0"/>
                        <a:t>SAT</a:t>
                      </a:r>
                    </a:p>
                  </a:txBody>
                  <a:tcPr anchor="ctr"/>
                </a:tc>
                <a:tc>
                  <a:txBody>
                    <a:bodyPr/>
                    <a:lstStyle/>
                    <a:p>
                      <a:pPr algn="ctr"/>
                      <a:r>
                        <a:rPr sz="1200" b="0"/>
                        <a:t>0 / 12</a:t>
                      </a:r>
                    </a:p>
                  </a:txBody>
                  <a:tcPr anchor="ctr"/>
                </a:tc>
                <a:tc>
                  <a:txBody>
                    <a:bodyPr/>
                    <a:lstStyle/>
                    <a:p>
                      <a:pPr algn="ctr"/>
                      <a:r>
                        <a:rPr sz="1200" b="0"/>
                        <a:t>2 / 66</a:t>
                      </a:r>
                    </a:p>
                  </a:txBody>
                  <a:tcPr anchor="ctr"/>
                </a:tc>
                <a:tc>
                  <a:txBody>
                    <a:bodyPr/>
                    <a:lstStyle/>
                    <a:p>
                      <a:pPr algn="ctr"/>
                      <a:r>
                        <a:rPr sz="1200" b="0"/>
                        <a:t>0 / 66</a:t>
                      </a:r>
                    </a:p>
                  </a:txBody>
                  <a:tcPr anchor="ctr"/>
                </a:tc>
                <a:tc>
                  <a:txBody>
                    <a:bodyPr/>
                    <a:lstStyle/>
                    <a:p>
                      <a:pPr algn="ctr"/>
                      <a:r>
                        <a:rPr sz="1200" b="0"/>
                        <a:t>0 / 65</a:t>
                      </a:r>
                    </a:p>
                  </a:txBody>
                  <a:tcPr anchor="ctr"/>
                </a:tc>
                <a:tc>
                  <a:txBody>
                    <a:bodyPr/>
                    <a:lstStyle/>
                    <a:p>
                      <a:pPr algn="ctr"/>
                      <a:r>
                        <a:rPr sz="1200" b="0"/>
                        <a:t>73 / 78</a:t>
                      </a:r>
                    </a:p>
                  </a:txBody>
                  <a:tcPr anchor="ctr"/>
                </a:tc>
              </a:tr>
              <a:tr h="430000">
                <a:tc vMerge="1">
                  <a:txBody>
                    <a:bodyPr/>
                    <a:lstStyle/>
                    <a:p/>
                  </a:txBody>
                  <a:tcPr/>
                </a:tc>
                <a:tc>
                  <a:txBody>
                    <a:bodyPr/>
                    <a:lstStyle/>
                    <a:p>
                      <a:pPr algn="ctr"/>
                      <a:r>
                        <a:rPr sz="1200" b="0"/>
                        <a:t>TAMA</a:t>
                      </a:r>
                    </a:p>
                  </a:txBody>
                  <a:tcPr anchor="ctr"/>
                </a:tc>
                <a:tc>
                  <a:txBody>
                    <a:bodyPr/>
                    <a:lstStyle/>
                    <a:p>
                      <a:pPr algn="ctr"/>
                      <a:r>
                        <a:rPr sz="1200" b="0"/>
                        <a:t>0 / 12</a:t>
                      </a:r>
                    </a:p>
                  </a:txBody>
                  <a:tcPr anchor="ctr"/>
                </a:tc>
                <a:tc>
                  <a:txBody>
                    <a:bodyPr/>
                    <a:lstStyle/>
                    <a:p>
                      <a:pPr algn="ctr"/>
                      <a:r>
                        <a:rPr sz="1200" b="0"/>
                        <a:t>0 / 66</a:t>
                      </a:r>
                    </a:p>
                  </a:txBody>
                  <a:tcPr anchor="ctr"/>
                </a:tc>
                <a:tc>
                  <a:txBody>
                    <a:bodyPr/>
                    <a:lstStyle/>
                    <a:p>
                      <a:pPr algn="ctr"/>
                      <a:r>
                        <a:rPr sz="1200" b="0"/>
                        <a:t>0 / 66</a:t>
                      </a:r>
                    </a:p>
                  </a:txBody>
                  <a:tcPr anchor="ctr"/>
                </a:tc>
                <a:tc>
                  <a:txBody>
                    <a:bodyPr/>
                    <a:lstStyle/>
                    <a:p>
                      <a:pPr algn="ctr"/>
                      <a:r>
                        <a:rPr sz="1200" b="0"/>
                        <a:t>0 / 65</a:t>
                      </a:r>
                    </a:p>
                  </a:txBody>
                  <a:tcPr anchor="ctr"/>
                </a:tc>
                <a:tc>
                  <a:txBody>
                    <a:bodyPr/>
                    <a:lstStyle/>
                    <a:p>
                      <a:pPr algn="ctr"/>
                      <a:r>
                        <a:rPr sz="1200" b="0"/>
                        <a:t>1 / 156</a:t>
                      </a:r>
                    </a:p>
                  </a:txBody>
                  <a:tcPr anchor="ctr"/>
                </a:tc>
              </a:tr>
              <a:tr h="430000">
                <a:tc vMerge="1">
                  <a:txBody>
                    <a:bodyPr/>
                    <a:lstStyle/>
                    <a:p/>
                  </a:txBody>
                  <a:tcPr/>
                </a:tc>
                <a:tc>
                  <a:txBody>
                    <a:bodyPr/>
                    <a:lstStyle/>
                    <a:p>
                      <a:pPr algn="ctr"/>
                      <a:r>
                        <a:rPr sz="1200" b="0"/>
                        <a:t>AEC</a:t>
                      </a:r>
                    </a:p>
                  </a:txBody>
                  <a:tcPr anchor="ctr"/>
                </a:tc>
                <a:tc>
                  <a:txBody>
                    <a:bodyPr/>
                    <a:lstStyle/>
                    <a:p>
                      <a:pPr algn="ctr"/>
                      <a:r>
                        <a:rPr sz="1200" b="0"/>
                        <a:t>0 / 12</a:t>
                      </a:r>
                    </a:p>
                  </a:txBody>
                  <a:tcPr anchor="ctr"/>
                </a:tc>
                <a:tc>
                  <a:txBody>
                    <a:bodyPr/>
                    <a:lstStyle/>
                    <a:p>
                      <a:pPr algn="ctr"/>
                      <a:r>
                        <a:rPr sz="1200" b="0"/>
                        <a:t>29 / 66</a:t>
                      </a:r>
                    </a:p>
                  </a:txBody>
                  <a:tcPr anchor="ctr"/>
                </a:tc>
                <a:tc>
                  <a:txBody>
                    <a:bodyPr/>
                    <a:lstStyle/>
                    <a:p>
                      <a:pPr algn="ctr"/>
                      <a:r>
                        <a:rPr sz="1200" b="0"/>
                        <a:t>0 / 66</a:t>
                      </a:r>
                    </a:p>
                  </a:txBody>
                  <a:tcPr anchor="ctr"/>
                </a:tc>
                <a:tc>
                  <a:txBody>
                    <a:bodyPr/>
                    <a:lstStyle/>
                    <a:p>
                      <a:pPr algn="ctr"/>
                      <a:r>
                        <a:rPr sz="1200" b="0"/>
                        <a:t>50 / 65</a:t>
                      </a:r>
                    </a:p>
                  </a:txBody>
                  <a:tcPr anchor="ctr"/>
                </a:tc>
                <a:tc>
                  <a:txBody>
                    <a:bodyPr/>
                    <a:lstStyle/>
                    <a:p>
                      <a:pPr algn="ctr"/>
                      <a:r>
                        <a:rPr sz="1200" b="0"/>
                        <a:t>0 / 0</a:t>
                      </a:r>
                    </a:p>
                  </a:txBody>
                  <a:tcPr anchor="ctr"/>
                </a:tc>
              </a:tr>
              <a:tr h="430000">
                <a:tc rowSpan="3">
                  <a:txBody>
                    <a:bodyPr/>
                    <a:lstStyle/>
                    <a:p>
                      <a:pPr algn="ctr"/>
                      <a:r>
                        <a:rPr sz="1200" b="0"/>
                        <a:t>DM</a:t>
                      </a:r>
                    </a:p>
                  </a:txBody>
                  <a:tcPr anchor="ctr"/>
                </a:tc>
                <a:tc>
                  <a:txBody>
                    <a:bodyPr/>
                    <a:lstStyle/>
                    <a:p>
                      <a:pPr algn="ctr"/>
                      <a:r>
                        <a:rPr sz="1200" b="0"/>
                        <a:t>SAT</a:t>
                      </a:r>
                    </a:p>
                  </a:txBody>
                  <a:tcPr anchor="ctr"/>
                </a:tc>
                <a:tc>
                  <a:txBody>
                    <a:bodyPr/>
                    <a:lstStyle/>
                    <a:p>
                      <a:pPr algn="ctr"/>
                      <a:r>
                        <a:rPr sz="1200" b="0"/>
                        <a:t>0 / 12</a:t>
                      </a:r>
                    </a:p>
                  </a:txBody>
                  <a:tcPr anchor="ctr"/>
                </a:tc>
                <a:tc>
                  <a:txBody>
                    <a:bodyPr/>
                    <a:lstStyle/>
                    <a:p>
                      <a:pPr algn="ctr"/>
                      <a:r>
                        <a:rPr sz="1200" b="0"/>
                        <a:t>2 / 66</a:t>
                      </a:r>
                    </a:p>
                  </a:txBody>
                  <a:tcPr anchor="ctr"/>
                </a:tc>
                <a:tc>
                  <a:txBody>
                    <a:bodyPr/>
                    <a:lstStyle/>
                    <a:p>
                      <a:pPr algn="ctr"/>
                      <a:r>
                        <a:rPr sz="1200" b="0"/>
                        <a:t>0 / 66</a:t>
                      </a:r>
                    </a:p>
                  </a:txBody>
                  <a:tcPr anchor="ctr"/>
                </a:tc>
                <a:tc>
                  <a:txBody>
                    <a:bodyPr/>
                    <a:lstStyle/>
                    <a:p>
                      <a:pPr algn="ctr"/>
                      <a:r>
                        <a:rPr sz="1200" b="0"/>
                        <a:t>0 / 65</a:t>
                      </a:r>
                    </a:p>
                  </a:txBody>
                  <a:tcPr anchor="ctr"/>
                </a:tc>
                <a:tc>
                  <a:txBody>
                    <a:bodyPr/>
                    <a:lstStyle/>
                    <a:p>
                      <a:pPr algn="ctr"/>
                      <a:r>
                        <a:rPr sz="1200" b="0"/>
                        <a:t>55 / 78</a:t>
                      </a:r>
                    </a:p>
                  </a:txBody>
                  <a:tcPr anchor="ctr"/>
                </a:tc>
              </a:tr>
              <a:tr h="430000">
                <a:tc vMerge="1">
                  <a:txBody>
                    <a:bodyPr/>
                    <a:lstStyle/>
                    <a:p/>
                  </a:txBody>
                  <a:tcPr/>
                </a:tc>
                <a:tc>
                  <a:txBody>
                    <a:bodyPr/>
                    <a:lstStyle/>
                    <a:p>
                      <a:pPr algn="ctr"/>
                      <a:r>
                        <a:rPr sz="1200" b="0"/>
                        <a:t>TAMA</a:t>
                      </a:r>
                    </a:p>
                  </a:txBody>
                  <a:tcPr anchor="ctr"/>
                </a:tc>
                <a:tc>
                  <a:txBody>
                    <a:bodyPr/>
                    <a:lstStyle/>
                    <a:p>
                      <a:pPr algn="ctr"/>
                      <a:r>
                        <a:rPr sz="1200" b="0"/>
                        <a:t>0 / 12</a:t>
                      </a:r>
                    </a:p>
                  </a:txBody>
                  <a:tcPr anchor="ctr"/>
                </a:tc>
                <a:tc>
                  <a:txBody>
                    <a:bodyPr/>
                    <a:lstStyle/>
                    <a:p>
                      <a:pPr algn="ctr"/>
                      <a:r>
                        <a:rPr sz="1200" b="0"/>
                        <a:t>0 / 66</a:t>
                      </a:r>
                    </a:p>
                  </a:txBody>
                  <a:tcPr anchor="ctr"/>
                </a:tc>
                <a:tc>
                  <a:txBody>
                    <a:bodyPr/>
                    <a:lstStyle/>
                    <a:p>
                      <a:pPr algn="ctr"/>
                      <a:r>
                        <a:rPr sz="1200" b="0"/>
                        <a:t>0 / 66</a:t>
                      </a:r>
                    </a:p>
                  </a:txBody>
                  <a:tcPr anchor="ctr"/>
                </a:tc>
                <a:tc>
                  <a:txBody>
                    <a:bodyPr/>
                    <a:lstStyle/>
                    <a:p>
                      <a:pPr algn="ctr"/>
                      <a:r>
                        <a:rPr sz="1200" b="0"/>
                        <a:t>5 / 65</a:t>
                      </a:r>
                    </a:p>
                  </a:txBody>
                  <a:tcPr anchor="ctr"/>
                </a:tc>
                <a:tc>
                  <a:txBody>
                    <a:bodyPr/>
                    <a:lstStyle/>
                    <a:p>
                      <a:pPr algn="ctr"/>
                      <a:r>
                        <a:rPr sz="1200" b="0"/>
                        <a:t>0 / 156</a:t>
                      </a:r>
                    </a:p>
                  </a:txBody>
                  <a:tcPr anchor="ctr"/>
                </a:tc>
              </a:tr>
              <a:tr h="430000">
                <a:tc vMerge="1">
                  <a:txBody>
                    <a:bodyPr/>
                    <a:lstStyle/>
                    <a:p/>
                  </a:txBody>
                  <a:tcPr/>
                </a:tc>
                <a:tc>
                  <a:txBody>
                    <a:bodyPr/>
                    <a:lstStyle/>
                    <a:p>
                      <a:pPr algn="ctr"/>
                      <a:r>
                        <a:rPr sz="1200" b="0"/>
                        <a:t>AEC</a:t>
                      </a:r>
                    </a:p>
                  </a:txBody>
                  <a:tcPr anchor="ctr"/>
                </a:tc>
                <a:tc>
                  <a:txBody>
                    <a:bodyPr/>
                    <a:lstStyle/>
                    <a:p>
                      <a:pPr algn="ctr"/>
                      <a:r>
                        <a:rPr sz="1200" b="0"/>
                        <a:t>0 / 12</a:t>
                      </a:r>
                    </a:p>
                  </a:txBody>
                  <a:tcPr anchor="ctr"/>
                </a:tc>
                <a:tc>
                  <a:txBody>
                    <a:bodyPr/>
                    <a:lstStyle/>
                    <a:p>
                      <a:pPr algn="ctr"/>
                      <a:r>
                        <a:rPr sz="1200" b="0"/>
                        <a:t>23 / 66</a:t>
                      </a:r>
                    </a:p>
                  </a:txBody>
                  <a:tcPr anchor="ctr"/>
                </a:tc>
                <a:tc>
                  <a:txBody>
                    <a:bodyPr/>
                    <a:lstStyle/>
                    <a:p>
                      <a:pPr algn="ctr"/>
                      <a:r>
                        <a:rPr sz="1200" b="0"/>
                        <a:t>0 / 66</a:t>
                      </a:r>
                    </a:p>
                  </a:txBody>
                  <a:tcPr anchor="ctr"/>
                </a:tc>
                <a:tc>
                  <a:txBody>
                    <a:bodyPr/>
                    <a:lstStyle/>
                    <a:p>
                      <a:pPr algn="ctr"/>
                      <a:r>
                        <a:rPr sz="1200" b="0"/>
                        <a:t>42 / 65</a:t>
                      </a:r>
                    </a:p>
                  </a:txBody>
                  <a:tcPr anchor="ctr"/>
                </a:tc>
                <a:tc>
                  <a:txBody>
                    <a:bodyPr/>
                    <a:lstStyle/>
                    <a:p>
                      <a:pPr algn="ctr"/>
                      <a:r>
                        <a:rPr sz="1200" b="0"/>
                        <a:t>0 / 0</a:t>
                      </a:r>
                    </a:p>
                  </a:txBody>
                  <a:tcPr anchor="ctr"/>
                </a:tc>
              </a:tr>
              <a:tr h="430000">
                <a:tc rowSpan="3">
                  <a:txBody>
                    <a:bodyPr/>
                    <a:lstStyle/>
                    <a:p>
                      <a:pPr algn="ctr"/>
                      <a:r>
                        <a:rPr sz="1200" b="0"/>
                        <a:t>CKD</a:t>
                      </a:r>
                    </a:p>
                  </a:txBody>
                  <a:tcPr anchor="ctr"/>
                </a:tc>
                <a:tc>
                  <a:txBody>
                    <a:bodyPr/>
                    <a:lstStyle/>
                    <a:p>
                      <a:pPr algn="ctr"/>
                      <a:r>
                        <a:rPr sz="1200" b="0"/>
                        <a:t>SAT</a:t>
                      </a:r>
                    </a:p>
                  </a:txBody>
                  <a:tcPr anchor="ctr"/>
                </a:tc>
                <a:tc>
                  <a:txBody>
                    <a:bodyPr/>
                    <a:lstStyle/>
                    <a:p>
                      <a:pPr algn="ctr"/>
                      <a:r>
                        <a:rPr sz="1200" b="0"/>
                        <a:t>0 / 12</a:t>
                      </a:r>
                    </a:p>
                  </a:txBody>
                  <a:tcPr anchor="ctr"/>
                </a:tc>
                <a:tc>
                  <a:txBody>
                    <a:bodyPr/>
                    <a:lstStyle/>
                    <a:p>
                      <a:pPr algn="ctr"/>
                      <a:r>
                        <a:rPr sz="1200" b="0"/>
                        <a:t>0 / 66</a:t>
                      </a:r>
                    </a:p>
                  </a:txBody>
                  <a:tcPr anchor="ctr"/>
                </a:tc>
                <a:tc>
                  <a:txBody>
                    <a:bodyPr/>
                    <a:lstStyle/>
                    <a:p>
                      <a:pPr algn="ctr"/>
                      <a:r>
                        <a:rPr sz="1200" b="0"/>
                        <a:t>0 / 66</a:t>
                      </a:r>
                    </a:p>
                  </a:txBody>
                  <a:tcPr anchor="ctr"/>
                </a:tc>
                <a:tc>
                  <a:txBody>
                    <a:bodyPr/>
                    <a:lstStyle/>
                    <a:p>
                      <a:pPr algn="ctr"/>
                      <a:r>
                        <a:rPr sz="1200" b="0"/>
                        <a:t>0 / 65</a:t>
                      </a:r>
                    </a:p>
                  </a:txBody>
                  <a:tcPr anchor="ctr"/>
                </a:tc>
                <a:tc>
                  <a:txBody>
                    <a:bodyPr/>
                    <a:lstStyle/>
                    <a:p>
                      <a:pPr algn="ctr"/>
                      <a:r>
                        <a:rPr sz="1200" b="0"/>
                        <a:t>0 / 78</a:t>
                      </a:r>
                    </a:p>
                  </a:txBody>
                  <a:tcPr anchor="ctr"/>
                </a:tc>
              </a:tr>
              <a:tr h="430000">
                <a:tc vMerge="1">
                  <a:txBody>
                    <a:bodyPr/>
                    <a:lstStyle/>
                    <a:p/>
                  </a:txBody>
                  <a:tcPr/>
                </a:tc>
                <a:tc>
                  <a:txBody>
                    <a:bodyPr/>
                    <a:lstStyle/>
                    <a:p>
                      <a:pPr algn="ctr"/>
                      <a:r>
                        <a:rPr sz="1200" b="0"/>
                        <a:t>TAMA</a:t>
                      </a:r>
                    </a:p>
                  </a:txBody>
                  <a:tcPr anchor="ctr"/>
                </a:tc>
                <a:tc>
                  <a:txBody>
                    <a:bodyPr/>
                    <a:lstStyle/>
                    <a:p>
                      <a:pPr algn="ctr"/>
                      <a:r>
                        <a:rPr sz="1200" b="0"/>
                        <a:t>0 / 12</a:t>
                      </a:r>
                    </a:p>
                  </a:txBody>
                  <a:tcPr anchor="ctr"/>
                </a:tc>
                <a:tc>
                  <a:txBody>
                    <a:bodyPr/>
                    <a:lstStyle/>
                    <a:p>
                      <a:pPr algn="ctr"/>
                      <a:r>
                        <a:rPr sz="1200" b="0"/>
                        <a:t>0 / 66</a:t>
                      </a:r>
                    </a:p>
                  </a:txBody>
                  <a:tcPr anchor="ctr"/>
                </a:tc>
                <a:tc>
                  <a:txBody>
                    <a:bodyPr/>
                    <a:lstStyle/>
                    <a:p>
                      <a:pPr algn="ctr"/>
                      <a:r>
                        <a:rPr sz="1200" b="0"/>
                        <a:t>0 / 66</a:t>
                      </a:r>
                    </a:p>
                  </a:txBody>
                  <a:tcPr anchor="ctr"/>
                </a:tc>
                <a:tc>
                  <a:txBody>
                    <a:bodyPr/>
                    <a:lstStyle/>
                    <a:p>
                      <a:pPr algn="ctr"/>
                      <a:r>
                        <a:rPr sz="1200" b="0"/>
                        <a:t>1 / 65</a:t>
                      </a:r>
                    </a:p>
                  </a:txBody>
                  <a:tcPr anchor="ctr"/>
                </a:tc>
                <a:tc>
                  <a:txBody>
                    <a:bodyPr/>
                    <a:lstStyle/>
                    <a:p>
                      <a:pPr algn="ctr"/>
                      <a:r>
                        <a:rPr sz="1200" b="0"/>
                        <a:t>0 / 156</a:t>
                      </a:r>
                    </a:p>
                  </a:txBody>
                  <a:tcPr anchor="ctr"/>
                </a:tc>
              </a:tr>
              <a:tr h="430000">
                <a:tc vMerge="1">
                  <a:txBody>
                    <a:bodyPr/>
                    <a:lstStyle/>
                    <a:p/>
                  </a:txBody>
                  <a:tcPr/>
                </a:tc>
                <a:tc>
                  <a:txBody>
                    <a:bodyPr/>
                    <a:lstStyle/>
                    <a:p>
                      <a:pPr algn="ctr"/>
                      <a:r>
                        <a:rPr sz="1200" b="0"/>
                        <a:t>AEC</a:t>
                      </a:r>
                    </a:p>
                  </a:txBody>
                  <a:tcPr anchor="ctr"/>
                </a:tc>
                <a:tc>
                  <a:txBody>
                    <a:bodyPr/>
                    <a:lstStyle/>
                    <a:p>
                      <a:pPr algn="ctr"/>
                      <a:r>
                        <a:rPr sz="1200" b="0"/>
                        <a:t>0 / 12</a:t>
                      </a:r>
                    </a:p>
                  </a:txBody>
                  <a:tcPr anchor="ctr"/>
                </a:tc>
                <a:tc>
                  <a:txBody>
                    <a:bodyPr/>
                    <a:lstStyle/>
                    <a:p>
                      <a:pPr algn="ctr"/>
                      <a:r>
                        <a:rPr sz="1200" b="0"/>
                        <a:t>0 / 66</a:t>
                      </a:r>
                    </a:p>
                  </a:txBody>
                  <a:tcPr anchor="ctr"/>
                </a:tc>
                <a:tc>
                  <a:txBody>
                    <a:bodyPr/>
                    <a:lstStyle/>
                    <a:p>
                      <a:pPr algn="ctr"/>
                      <a:r>
                        <a:rPr sz="1200" b="0"/>
                        <a:t>0 / 66</a:t>
                      </a:r>
                    </a:p>
                  </a:txBody>
                  <a:tcPr anchor="ctr"/>
                </a:tc>
                <a:tc>
                  <a:txBody>
                    <a:bodyPr/>
                    <a:lstStyle/>
                    <a:p>
                      <a:pPr algn="ctr"/>
                      <a:r>
                        <a:rPr sz="1200" b="0"/>
                        <a:t>0 / 65</a:t>
                      </a:r>
                    </a:p>
                  </a:txBody>
                  <a:tcPr anchor="ctr"/>
                </a:tc>
                <a:tc>
                  <a:txBody>
                    <a:bodyPr/>
                    <a:lstStyle/>
                    <a:p>
                      <a:pPr algn="ctr"/>
                      <a:r>
                        <a:rPr sz="1200" b="0"/>
                        <a:t>0 / 0</a:t>
                      </a:r>
                    </a:p>
                  </a:txBody>
                  <a:tcPr anchor="ct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SAT·TAMA·AEC: 질환별 best 일관 feature</a:t>
            </a:r>
          </a:p>
        </p:txBody>
      </p:sp>
      <p:sp>
        <p:nvSpPr>
          <p:cNvPr id="3" name="Content Placeholder 2"/>
          <p:cNvSpPr>
            <a:spLocks noGrp="1"/>
          </p:cNvSpPr>
          <p:nvPr>
            <p:ph idx="1"/>
          </p:nvPr>
        </p:nvSpPr>
        <p:spPr>
          <a:xfrm>
            <a:off x="508000" y="1050000"/>
            <a:ext cx="11176000" cy="800000"/>
          </a:xfrm>
        </p:spPr>
        <p:txBody>
          <a:bodyPr/>
          <a:lstStyle/>
          <a:p>
            <a:r>
              <a:rPr sz="1400" b="0">
                <a:solidFill>
                  <a:srgbClr val="333F4D"/>
                </a:solidFill>
              </a:rPr>
              <a:t>SAT/(SAT+VAT)는 VAT 비중의 역수라 VAT 정보가 들어 있다. AEC 비율은 체격·장비 영향 가능</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6</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7" cy="4300000"/>
        </p:xfrm>
        <a:graphic>
          <a:graphicData uri="http://schemas.openxmlformats.org/drawingml/2006/table">
            <a:tbl>
              <a:tblPr firstRow="1" bandRow="1">
                <a:tableStyleId>{C083E6E3-FA7D-4D7B-A595-EF9225AFEA82}</a:tableStyleId>
              </a:tblPr>
              <a:tblGrid>
                <a:gridCol w="1085048"/>
                <a:gridCol w="1085048"/>
                <a:gridCol w="1627572"/>
                <a:gridCol w="4557203"/>
                <a:gridCol w="1410563"/>
                <a:gridCol w="1410563"/>
              </a:tblGrid>
              <a:tr h="430000">
                <a:tc>
                  <a:txBody>
                    <a:bodyPr/>
                    <a:lstStyle/>
                    <a:p>
                      <a:pPr algn="ctr"/>
                      <a:r>
                        <a:rPr sz="1400" b="1"/>
                        <a:t>Disease</a:t>
                      </a:r>
                    </a:p>
                  </a:txBody>
                  <a:tcPr anchor="ctr"/>
                </a:tc>
                <a:tc>
                  <a:txBody>
                    <a:bodyPr/>
                    <a:lstStyle/>
                    <a:p>
                      <a:pPr algn="ctr"/>
                      <a:r>
                        <a:rPr sz="1400" b="1"/>
                        <a:t>Tissue</a:t>
                      </a:r>
                    </a:p>
                  </a:txBody>
                  <a:tcPr anchor="ctr"/>
                </a:tc>
                <a:tc>
                  <a:txBody>
                    <a:bodyPr/>
                    <a:lstStyle/>
                    <a:p>
                      <a:pPr algn="ctr"/>
                      <a:r>
                        <a:rPr sz="1400" b="1"/>
                        <a:t>Case</a:t>
                      </a:r>
                    </a:p>
                  </a:txBody>
                  <a:tcPr anchor="ctr"/>
                </a:tc>
                <a:tc>
                  <a:txBody>
                    <a:bodyPr/>
                    <a:lstStyle/>
                    <a:p>
                      <a:pPr algn="ctr"/>
                      <a:r>
                        <a:rPr sz="1400" b="1"/>
                        <a:t>Feature</a:t>
                      </a:r>
                    </a:p>
                  </a:txBody>
                  <a:tcPr anchor="ctr"/>
                </a:tc>
                <a:tc>
                  <a:txBody>
                    <a:bodyPr/>
                    <a:lstStyle/>
                    <a:p>
                      <a:pPr algn="ctr"/>
                      <a:r>
                        <a:rPr sz="1400" b="1"/>
                        <a:t>OR Gangnam</a:t>
                      </a:r>
                    </a:p>
                  </a:txBody>
                  <a:tcPr anchor="ctr"/>
                </a:tc>
                <a:tc>
                  <a:txBody>
                    <a:bodyPr/>
                    <a:lstStyle/>
                    <a:p>
                      <a:pPr algn="ctr"/>
                      <a:r>
                        <a:rPr sz="1400" b="1"/>
                        <a:t>OR Sinchon</a:t>
                      </a:r>
                    </a:p>
                  </a:txBody>
                  <a:tcPr anchor="ctr"/>
                </a:tc>
              </a:tr>
              <a:tr h="430000">
                <a:tc rowSpan="3">
                  <a:txBody>
                    <a:bodyPr/>
                    <a:lstStyle/>
                    <a:p>
                      <a:pPr algn="ctr"/>
                      <a:r>
                        <a:rPr sz="1100" b="0"/>
                        <a:t>HTN</a:t>
                      </a:r>
                    </a:p>
                  </a:txBody>
                  <a:tcPr anchor="ctr"/>
                </a:tc>
                <a:tc>
                  <a:txBody>
                    <a:bodyPr/>
                    <a:lstStyle/>
                    <a:p>
                      <a:pPr algn="ctr"/>
                      <a:r>
                        <a:rPr sz="1100" b="0"/>
                        <a:t>SAT</a:t>
                      </a:r>
                    </a:p>
                  </a:txBody>
                  <a:tcPr anchor="ctr"/>
                </a:tc>
                <a:tc>
                  <a:txBody>
                    <a:bodyPr/>
                    <a:lstStyle/>
                    <a:p>
                      <a:pPr algn="ctr"/>
                      <a:r>
                        <a:rPr sz="1100" b="0"/>
                        <a:t>range_ratio</a:t>
                      </a:r>
                    </a:p>
                  </a:txBody>
                  <a:tcPr anchor="ctr"/>
                </a:tc>
                <a:tc>
                  <a:txBody>
                    <a:bodyPr/>
                    <a:lstStyle/>
                    <a:p>
                      <a:pPr algn="ctr"/>
                      <a:r>
                        <a:rPr sz="1100" b="0"/>
                        <a:t>SAT/(SAT+VAT)[T10~inferior_pubic_margin]</a:t>
                      </a:r>
                    </a:p>
                  </a:txBody>
                  <a:tcPr anchor="ctr"/>
                </a:tc>
                <a:tc>
                  <a:txBody>
                    <a:bodyPr/>
                    <a:lstStyle/>
                    <a:p>
                      <a:pPr algn="ctr"/>
                      <a:r>
                        <a:rPr sz="1100" b="0"/>
                        <a:t>0.60</a:t>
                      </a:r>
                    </a:p>
                  </a:txBody>
                  <a:tcPr anchor="ctr"/>
                </a:tc>
                <a:tc>
                  <a:txBody>
                    <a:bodyPr/>
                    <a:lstStyle/>
                    <a:p>
                      <a:pPr algn="ctr"/>
                      <a:r>
                        <a:rPr sz="1100" b="0"/>
                        <a:t>0.61</a:t>
                      </a:r>
                    </a:p>
                  </a:txBody>
                  <a:tcPr anchor="ctr"/>
                </a:tc>
              </a:tr>
              <a:tr h="430000">
                <a:tc vMerge="1">
                  <a:txBody>
                    <a:bodyPr/>
                    <a:lstStyle/>
                    <a:p/>
                  </a:txBody>
                  <a:tcPr/>
                </a:tc>
                <a:tc>
                  <a:txBody>
                    <a:bodyPr/>
                    <a:lstStyle/>
                    <a:p>
                      <a:pPr algn="ctr"/>
                      <a:r>
                        <a:rPr sz="1100" b="0"/>
                        <a:t>TAMA</a:t>
                      </a:r>
                    </a:p>
                  </a:txBody>
                  <a:tcPr anchor="ctr"/>
                </a:tc>
                <a:tc>
                  <a:txBody>
                    <a:bodyPr/>
                    <a:lstStyle/>
                    <a:p>
                      <a:pPr algn="ctr"/>
                      <a:r>
                        <a:rPr sz="1100" b="0"/>
                        <a:t>tissue_ratio_pt</a:t>
                      </a:r>
                    </a:p>
                  </a:txBody>
                  <a:tcPr anchor="ctr"/>
                </a:tc>
                <a:tc>
                  <a:txBody>
                    <a:bodyPr/>
                    <a:lstStyle/>
                    <a:p>
                      <a:pPr algn="ctr"/>
                      <a:r>
                        <a:rPr sz="1100" b="0"/>
                        <a:t>TAMA/(SAT+VAT)@T12</a:t>
                      </a:r>
                    </a:p>
                  </a:txBody>
                  <a:tcPr anchor="ctr"/>
                </a:tc>
                <a:tc>
                  <a:txBody>
                    <a:bodyPr/>
                    <a:lstStyle/>
                    <a:p>
                      <a:pPr algn="ctr"/>
                      <a:r>
                        <a:rPr sz="1100" b="0"/>
                        <a:t>0.55</a:t>
                      </a:r>
                    </a:p>
                  </a:txBody>
                  <a:tcPr anchor="ctr"/>
                </a:tc>
                <a:tc>
                  <a:txBody>
                    <a:bodyPr/>
                    <a:lstStyle/>
                    <a:p>
                      <a:pPr algn="ctr"/>
                      <a:r>
                        <a:rPr sz="1100" b="0"/>
                        <a:t>0.79</a:t>
                      </a:r>
                    </a:p>
                  </a:txBody>
                  <a:tcPr anchor="ctr"/>
                </a:tc>
              </a:tr>
              <a:tr h="430000">
                <a:tc vMerge="1">
                  <a:txBody>
                    <a:bodyPr/>
                    <a:lstStyle/>
                    <a:p/>
                  </a:txBody>
                  <a:tcPr/>
                </a:tc>
                <a:tc>
                  <a:txBody>
                    <a:bodyPr/>
                    <a:lstStyle/>
                    <a:p>
                      <a:pPr algn="ctr"/>
                      <a:r>
                        <a:rPr sz="1100" b="0"/>
                        <a:t>AEC</a:t>
                      </a:r>
                    </a:p>
                  </a:txBody>
                  <a:tcPr anchor="ctr"/>
                </a:tc>
                <a:tc>
                  <a:txBody>
                    <a:bodyPr/>
                    <a:lstStyle/>
                    <a:p>
                      <a:pPr algn="ctr"/>
                      <a:r>
                        <a:rPr sz="1100" b="0"/>
                        <a:t>range_frac</a:t>
                      </a:r>
                    </a:p>
                  </a:txBody>
                  <a:tcPr anchor="ctr"/>
                </a:tc>
                <a:tc>
                  <a:txBody>
                    <a:bodyPr/>
                    <a:lstStyle/>
                    <a:p>
                      <a:pPr algn="ctr"/>
                      <a:r>
                        <a:rPr sz="1100" b="0"/>
                        <a:t>AEC[T10~L4]/whole</a:t>
                      </a:r>
                    </a:p>
                  </a:txBody>
                  <a:tcPr anchor="ctr"/>
                </a:tc>
                <a:tc>
                  <a:txBody>
                    <a:bodyPr/>
                    <a:lstStyle/>
                    <a:p>
                      <a:pPr algn="ctr"/>
                      <a:r>
                        <a:rPr sz="1100" b="0"/>
                        <a:t>1.59</a:t>
                      </a:r>
                    </a:p>
                  </a:txBody>
                  <a:tcPr anchor="ctr"/>
                </a:tc>
                <a:tc>
                  <a:txBody>
                    <a:bodyPr/>
                    <a:lstStyle/>
                    <a:p>
                      <a:pPr algn="ctr"/>
                      <a:r>
                        <a:rPr sz="1100" b="0"/>
                        <a:t>1.43</a:t>
                      </a:r>
                    </a:p>
                  </a:txBody>
                  <a:tcPr anchor="ctr"/>
                </a:tc>
              </a:tr>
              <a:tr h="430000">
                <a:tc rowSpan="3">
                  <a:txBody>
                    <a:bodyPr/>
                    <a:lstStyle/>
                    <a:p>
                      <a:pPr algn="ctr"/>
                      <a:r>
                        <a:rPr sz="1100" b="0"/>
                        <a:t>DM</a:t>
                      </a:r>
                    </a:p>
                  </a:txBody>
                  <a:tcPr anchor="ctr"/>
                </a:tc>
                <a:tc>
                  <a:txBody>
                    <a:bodyPr/>
                    <a:lstStyle/>
                    <a:p>
                      <a:pPr algn="ctr"/>
                      <a:r>
                        <a:rPr sz="1100" b="0"/>
                        <a:t>SAT</a:t>
                      </a:r>
                    </a:p>
                  </a:txBody>
                  <a:tcPr anchor="ctr"/>
                </a:tc>
                <a:tc>
                  <a:txBody>
                    <a:bodyPr/>
                    <a:lstStyle/>
                    <a:p>
                      <a:pPr algn="ctr"/>
                      <a:r>
                        <a:rPr sz="1100" b="0"/>
                        <a:t>range_ratio</a:t>
                      </a:r>
                    </a:p>
                  </a:txBody>
                  <a:tcPr anchor="ctr"/>
                </a:tc>
                <a:tc>
                  <a:txBody>
                    <a:bodyPr/>
                    <a:lstStyle/>
                    <a:p>
                      <a:pPr algn="ctr"/>
                      <a:r>
                        <a:rPr sz="1100" b="0"/>
                        <a:t>SAT/(SAT+VAT)[T12~L4]</a:t>
                      </a:r>
                    </a:p>
                  </a:txBody>
                  <a:tcPr anchor="ctr"/>
                </a:tc>
                <a:tc>
                  <a:txBody>
                    <a:bodyPr/>
                    <a:lstStyle/>
                    <a:p>
                      <a:pPr algn="ctr"/>
                      <a:r>
                        <a:rPr sz="1100" b="0"/>
                        <a:t>0.63</a:t>
                      </a:r>
                    </a:p>
                  </a:txBody>
                  <a:tcPr anchor="ctr"/>
                </a:tc>
                <a:tc>
                  <a:txBody>
                    <a:bodyPr/>
                    <a:lstStyle/>
                    <a:p>
                      <a:pPr algn="ctr"/>
                      <a:r>
                        <a:rPr sz="1100" b="0"/>
                        <a:t>0.63</a:t>
                      </a:r>
                    </a:p>
                  </a:txBody>
                  <a:tcPr anchor="ctr"/>
                </a:tc>
              </a:tr>
              <a:tr h="430000">
                <a:tc vMerge="1">
                  <a:txBody>
                    <a:bodyPr/>
                    <a:lstStyle/>
                    <a:p/>
                  </a:txBody>
                  <a:tcPr/>
                </a:tc>
                <a:tc>
                  <a:txBody>
                    <a:bodyPr/>
                    <a:lstStyle/>
                    <a:p>
                      <a:pPr algn="ctr"/>
                      <a:r>
                        <a:rPr sz="1100" b="0"/>
                        <a:t>TAMA</a:t>
                      </a:r>
                    </a:p>
                  </a:txBody>
                  <a:tcPr anchor="ctr"/>
                </a:tc>
                <a:tc>
                  <a:txBody>
                    <a:bodyPr/>
                    <a:lstStyle/>
                    <a:p>
                      <a:pPr algn="ctr"/>
                      <a:r>
                        <a:rPr sz="1100" b="0"/>
                        <a:t>range_frac</a:t>
                      </a:r>
                    </a:p>
                  </a:txBody>
                  <a:tcPr anchor="ctr"/>
                </a:tc>
                <a:tc>
                  <a:txBody>
                    <a:bodyPr/>
                    <a:lstStyle/>
                    <a:p>
                      <a:pPr algn="ctr"/>
                      <a:r>
                        <a:rPr sz="1100" b="0"/>
                        <a:t>TAMA[T11~S1]/whole</a:t>
                      </a:r>
                    </a:p>
                  </a:txBody>
                  <a:tcPr anchor="ctr"/>
                </a:tc>
                <a:tc>
                  <a:txBody>
                    <a:bodyPr/>
                    <a:lstStyle/>
                    <a:p>
                      <a:pPr algn="ctr"/>
                      <a:r>
                        <a:rPr sz="1100" b="0"/>
                        <a:t>1.44</a:t>
                      </a:r>
                    </a:p>
                  </a:txBody>
                  <a:tcPr anchor="ctr"/>
                </a:tc>
                <a:tc>
                  <a:txBody>
                    <a:bodyPr/>
                    <a:lstStyle/>
                    <a:p>
                      <a:pPr algn="ctr"/>
                      <a:r>
                        <a:rPr sz="1100" b="0"/>
                        <a:t>1.24</a:t>
                      </a:r>
                    </a:p>
                  </a:txBody>
                  <a:tcPr anchor="ctr"/>
                </a:tc>
              </a:tr>
              <a:tr h="430000">
                <a:tc vMerge="1">
                  <a:txBody>
                    <a:bodyPr/>
                    <a:lstStyle/>
                    <a:p/>
                  </a:txBody>
                  <a:tcPr/>
                </a:tc>
                <a:tc>
                  <a:txBody>
                    <a:bodyPr/>
                    <a:lstStyle/>
                    <a:p>
                      <a:pPr algn="ctr"/>
                      <a:r>
                        <a:rPr sz="1100" b="0"/>
                        <a:t>AEC</a:t>
                      </a:r>
                    </a:p>
                  </a:txBody>
                  <a:tcPr anchor="ctr"/>
                </a:tc>
                <a:tc>
                  <a:txBody>
                    <a:bodyPr/>
                    <a:lstStyle/>
                    <a:p>
                      <a:pPr algn="ctr"/>
                      <a:r>
                        <a:rPr sz="1100" b="0"/>
                        <a:t>lm_ratio</a:t>
                      </a:r>
                    </a:p>
                  </a:txBody>
                  <a:tcPr anchor="ctr"/>
                </a:tc>
                <a:tc>
                  <a:txBody>
                    <a:bodyPr/>
                    <a:lstStyle/>
                    <a:p>
                      <a:pPr algn="ctr"/>
                      <a:r>
                        <a:rPr sz="1100" b="0"/>
                        <a:t>AEC@T10/inferior_pubic_margin</a:t>
                      </a:r>
                    </a:p>
                  </a:txBody>
                  <a:tcPr anchor="ctr"/>
                </a:tc>
                <a:tc>
                  <a:txBody>
                    <a:bodyPr/>
                    <a:lstStyle/>
                    <a:p>
                      <a:pPr algn="ctr"/>
                      <a:r>
                        <a:rPr sz="1100" b="0"/>
                        <a:t>1.49</a:t>
                      </a:r>
                    </a:p>
                  </a:txBody>
                  <a:tcPr anchor="ctr"/>
                </a:tc>
                <a:tc>
                  <a:txBody>
                    <a:bodyPr/>
                    <a:lstStyle/>
                    <a:p>
                      <a:pPr algn="ctr"/>
                      <a:r>
                        <a:rPr sz="1100" b="0"/>
                        <a:t>1.47</a:t>
                      </a:r>
                    </a:p>
                  </a:txBody>
                  <a:tcPr anchor="ctr"/>
                </a:tc>
              </a:tr>
              <a:tr h="430000">
                <a:tc rowSpan="3">
                  <a:txBody>
                    <a:bodyPr/>
                    <a:lstStyle/>
                    <a:p>
                      <a:pPr algn="ctr"/>
                      <a:r>
                        <a:rPr sz="1100" b="0"/>
                        <a:t>CKD</a:t>
                      </a:r>
                    </a:p>
                  </a:txBody>
                  <a:tcPr anchor="ctr"/>
                </a:tc>
                <a:tc>
                  <a:txBody>
                    <a:bodyPr/>
                    <a:lstStyle/>
                    <a:p>
                      <a:pPr algn="ctr"/>
                      <a:r>
                        <a:rPr sz="1100" b="0"/>
                        <a:t>SAT</a:t>
                      </a:r>
                    </a:p>
                  </a:txBody>
                  <a:tcPr anchor="ctr"/>
                </a:tc>
                <a:tc>
                  <a:txBody>
                    <a:bodyPr/>
                    <a:lstStyle/>
                    <a:p>
                      <a:pPr algn="ctr"/>
                      <a:r>
                        <a:rPr sz="1100" b="0"/>
                        <a:t>-</a:t>
                      </a:r>
                    </a:p>
                  </a:txBody>
                  <a:tcPr anchor="ctr"/>
                </a:tc>
                <a:tc>
                  <a:txBody>
                    <a:bodyPr/>
                    <a:lstStyle/>
                    <a:p>
                      <a:pPr algn="ctr"/>
                      <a:r>
                        <a:rPr sz="1100" b="0"/>
                        <a:t>일관된 feature 없음</a:t>
                      </a:r>
                    </a:p>
                  </a:txBody>
                  <a:tcPr anchor="ctr"/>
                </a:tc>
                <a:tc>
                  <a:txBody>
                    <a:bodyPr/>
                    <a:lstStyle/>
                    <a:p>
                      <a:pPr algn="ctr"/>
                      <a:r>
                        <a:rPr sz="1100" b="0"/>
                        <a:t>-</a:t>
                      </a:r>
                    </a:p>
                  </a:txBody>
                  <a:tcPr anchor="ctr"/>
                </a:tc>
                <a:tc>
                  <a:txBody>
                    <a:bodyPr/>
                    <a:lstStyle/>
                    <a:p>
                      <a:pPr algn="ctr"/>
                      <a:r>
                        <a:rPr sz="1100" b="0"/>
                        <a:t>-</a:t>
                      </a:r>
                    </a:p>
                  </a:txBody>
                  <a:tcPr anchor="ctr"/>
                </a:tc>
              </a:tr>
              <a:tr h="430000">
                <a:tc vMerge="1">
                  <a:txBody>
                    <a:bodyPr/>
                    <a:lstStyle/>
                    <a:p/>
                  </a:txBody>
                  <a:tcPr/>
                </a:tc>
                <a:tc>
                  <a:txBody>
                    <a:bodyPr/>
                    <a:lstStyle/>
                    <a:p>
                      <a:pPr algn="ctr"/>
                      <a:r>
                        <a:rPr sz="1100" b="0"/>
                        <a:t>TAMA</a:t>
                      </a:r>
                    </a:p>
                  </a:txBody>
                  <a:tcPr anchor="ctr"/>
                </a:tc>
                <a:tc>
                  <a:txBody>
                    <a:bodyPr/>
                    <a:lstStyle/>
                    <a:p>
                      <a:pPr algn="ctr"/>
                      <a:r>
                        <a:rPr sz="1100" b="0"/>
                        <a:t>range_frac</a:t>
                      </a:r>
                    </a:p>
                  </a:txBody>
                  <a:tcPr anchor="ctr"/>
                </a:tc>
                <a:tc>
                  <a:txBody>
                    <a:bodyPr/>
                    <a:lstStyle/>
                    <a:p>
                      <a:pPr algn="ctr"/>
                      <a:r>
                        <a:rPr sz="1100" b="0"/>
                        <a:t>TAMA[L4~L5]/whole</a:t>
                      </a:r>
                    </a:p>
                  </a:txBody>
                  <a:tcPr anchor="ctr"/>
                </a:tc>
                <a:tc>
                  <a:txBody>
                    <a:bodyPr/>
                    <a:lstStyle/>
                    <a:p>
                      <a:pPr algn="ctr"/>
                      <a:r>
                        <a:rPr sz="1100" b="0"/>
                        <a:t>1.51</a:t>
                      </a:r>
                    </a:p>
                  </a:txBody>
                  <a:tcPr anchor="ctr"/>
                </a:tc>
                <a:tc>
                  <a:txBody>
                    <a:bodyPr/>
                    <a:lstStyle/>
                    <a:p>
                      <a:pPr algn="ctr"/>
                      <a:r>
                        <a:rPr sz="1100" b="0"/>
                        <a:t>1.35</a:t>
                      </a:r>
                    </a:p>
                  </a:txBody>
                  <a:tcPr anchor="ctr"/>
                </a:tc>
              </a:tr>
              <a:tr h="430000">
                <a:tc vMerge="1">
                  <a:txBody>
                    <a:bodyPr/>
                    <a:lstStyle/>
                    <a:p/>
                  </a:txBody>
                  <a:tcPr/>
                </a:tc>
                <a:tc>
                  <a:txBody>
                    <a:bodyPr/>
                    <a:lstStyle/>
                    <a:p>
                      <a:pPr algn="ctr"/>
                      <a:r>
                        <a:rPr sz="1100" b="0"/>
                        <a:t>AEC</a:t>
                      </a:r>
                    </a:p>
                  </a:txBody>
                  <a:tcPr anchor="ctr"/>
                </a:tc>
                <a:tc>
                  <a:txBody>
                    <a:bodyPr/>
                    <a:lstStyle/>
                    <a:p>
                      <a:pPr algn="ctr"/>
                      <a:r>
                        <a:rPr sz="1100" b="0"/>
                        <a:t>-</a:t>
                      </a:r>
                    </a:p>
                  </a:txBody>
                  <a:tcPr anchor="ctr"/>
                </a:tc>
                <a:tc>
                  <a:txBody>
                    <a:bodyPr/>
                    <a:lstStyle/>
                    <a:p>
                      <a:pPr algn="ctr"/>
                      <a:r>
                        <a:rPr sz="1100" b="0"/>
                        <a:t>일관된 feature 없음</a:t>
                      </a:r>
                    </a:p>
                  </a:txBody>
                  <a:tcPr anchor="ctr"/>
                </a:tc>
                <a:tc>
                  <a:txBody>
                    <a:bodyPr/>
                    <a:lstStyle/>
                    <a:p>
                      <a:pPr algn="ctr"/>
                      <a:r>
                        <a:rPr sz="1100" b="0"/>
                        <a:t>-</a:t>
                      </a:r>
                    </a:p>
                  </a:txBody>
                  <a:tcPr anchor="ctr"/>
                </a:tc>
                <a:tc>
                  <a:txBody>
                    <a:bodyPr/>
                    <a:lstStyle/>
                    <a:p>
                      <a:pPr algn="ctr"/>
                      <a:r>
                        <a:rPr sz="1100" b="0"/>
                        <a:t>-</a:t>
                      </a:r>
                    </a:p>
                  </a:txBody>
                  <a:tcPr anchor="ct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정규화 위치별 OR 곡선</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3</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landmark_pos_or_curves.png"/>
          <p:cNvPicPr>
            <a:picLocks noChangeAspect="1"/>
          </p:cNvPicPr>
          <p:nvPr/>
        </p:nvPicPr>
        <p:blipFill>
          <a:blip r:embed="rId2"/>
          <a:stretch>
            <a:fillRect/>
          </a:stretch>
        </p:blipFill>
        <p:spPr>
          <a:xfrm>
            <a:off x="508000" y="900000"/>
            <a:ext cx="14700000" cy="5600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전처리 비교: 일관된 위치 수</a:t>
            </a:r>
          </a:p>
        </p:txBody>
      </p:sp>
      <p:sp>
        <p:nvSpPr>
          <p:cNvPr id="3" name="Content Placeholder 2"/>
          <p:cNvSpPr>
            <a:spLocks noGrp="1"/>
          </p:cNvSpPr>
          <p:nvPr>
            <p:ph idx="1"/>
          </p:nvPr>
        </p:nvSpPr>
        <p:spPr>
          <a:xfrm>
            <a:off x="508000" y="1050000"/>
            <a:ext cx="11176000" cy="1100000"/>
          </a:xfrm>
        </p:spPr>
        <p:txBody>
          <a:bodyPr/>
          <a:lstStyle/>
          <a:p>
            <a:r>
              <a:rPr sz="1300" b="0">
                <a:solidFill>
                  <a:srgbClr val="333F4D"/>
                </a:solidFill>
              </a:rPr>
              <a:t>liver_dome~pubis 128 위치 중 두 코호트 FDR&lt;0.05 &amp; 같은 방향인 위치 수. 환자 자신의 값으로 정규화 (pw_mean=환자 평균으로 나눔, pw_z=환자 내 z-score, pw_minmax=환자 내 0~1, pw_L3=L3 값으로 나눔)</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7</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300000"/>
          <a:ext cx="11175995" cy="3999996"/>
        </p:xfrm>
        <a:graphic>
          <a:graphicData uri="http://schemas.openxmlformats.org/drawingml/2006/table">
            <a:tbl>
              <a:tblPr firstRow="1" bandRow="1">
                <a:tableStyleId>{C083E6E3-FA7D-4D7B-A595-EF9225AFEA82}</a:tableStyleId>
              </a:tblPr>
              <a:tblGrid>
                <a:gridCol w="1771804"/>
                <a:gridCol w="1771804"/>
                <a:gridCol w="1362926"/>
                <a:gridCol w="1635512"/>
                <a:gridCol w="1362926"/>
                <a:gridCol w="1771804"/>
                <a:gridCol w="1499219"/>
              </a:tblGrid>
              <a:tr h="307692">
                <a:tc>
                  <a:txBody>
                    <a:bodyPr/>
                    <a:lstStyle/>
                    <a:p>
                      <a:pPr algn="ctr"/>
                      <a:r>
                        <a:rPr sz="1400" b="1"/>
                        <a:t>Measure</a:t>
                      </a:r>
                    </a:p>
                  </a:txBody>
                  <a:tcPr anchor="ctr"/>
                </a:tc>
                <a:tc>
                  <a:txBody>
                    <a:bodyPr/>
                    <a:lstStyle/>
                    <a:p>
                      <a:pPr algn="ctr"/>
                      <a:r>
                        <a:rPr sz="1400" b="1"/>
                        <a:t>Disease</a:t>
                      </a:r>
                    </a:p>
                  </a:txBody>
                  <a:tcPr anchor="ctr"/>
                </a:tc>
                <a:tc>
                  <a:txBody>
                    <a:bodyPr/>
                    <a:lstStyle/>
                    <a:p>
                      <a:pPr algn="ctr"/>
                      <a:r>
                        <a:rPr sz="1400" b="1"/>
                        <a:t>raw</a:t>
                      </a:r>
                    </a:p>
                  </a:txBody>
                  <a:tcPr anchor="ctr"/>
                </a:tc>
                <a:tc>
                  <a:txBody>
                    <a:bodyPr/>
                    <a:lstStyle/>
                    <a:p>
                      <a:pPr algn="ctr"/>
                      <a:r>
                        <a:rPr sz="1400" b="1"/>
                        <a:t>pw_mean</a:t>
                      </a:r>
                    </a:p>
                  </a:txBody>
                  <a:tcPr anchor="ctr"/>
                </a:tc>
                <a:tc>
                  <a:txBody>
                    <a:bodyPr/>
                    <a:lstStyle/>
                    <a:p>
                      <a:pPr algn="ctr"/>
                      <a:r>
                        <a:rPr sz="1400" b="1"/>
                        <a:t>pw_z</a:t>
                      </a:r>
                    </a:p>
                  </a:txBody>
                  <a:tcPr anchor="ctr"/>
                </a:tc>
                <a:tc>
                  <a:txBody>
                    <a:bodyPr/>
                    <a:lstStyle/>
                    <a:p>
                      <a:pPr algn="ctr"/>
                      <a:r>
                        <a:rPr sz="1400" b="1"/>
                        <a:t>pw_minmax</a:t>
                      </a:r>
                    </a:p>
                  </a:txBody>
                  <a:tcPr anchor="ctr"/>
                </a:tc>
                <a:tc>
                  <a:txBody>
                    <a:bodyPr/>
                    <a:lstStyle/>
                    <a:p>
                      <a:pPr algn="ctr"/>
                      <a:r>
                        <a:rPr sz="1400" b="1"/>
                        <a:t>pw_L3</a:t>
                      </a:r>
                    </a:p>
                  </a:txBody>
                  <a:tcPr anchor="ctr"/>
                </a:tc>
              </a:tr>
              <a:tr h="307692">
                <a:tc rowSpan="3">
                  <a:txBody>
                    <a:bodyPr/>
                    <a:lstStyle/>
                    <a:p>
                      <a:pPr algn="ctr"/>
                      <a:r>
                        <a:rPr sz="1100" b="0"/>
                        <a:t>VAT</a:t>
                      </a:r>
                    </a:p>
                  </a:txBody>
                  <a:tcPr anchor="ctr"/>
                </a:tc>
                <a:tc>
                  <a:txBody>
                    <a:bodyPr/>
                    <a:lstStyle/>
                    <a:p>
                      <a:pPr algn="ctr"/>
                      <a:r>
                        <a:rPr sz="1100" b="0"/>
                        <a:t>HTN</a:t>
                      </a:r>
                    </a:p>
                  </a:txBody>
                  <a:tcPr anchor="ctr"/>
                </a:tc>
                <a:tc>
                  <a:txBody>
                    <a:bodyPr/>
                    <a:lstStyle/>
                    <a:p>
                      <a:pPr algn="ctr"/>
                      <a:r>
                        <a:rPr sz="1100" b="0"/>
                        <a:t>84</a:t>
                      </a:r>
                    </a:p>
                  </a:txBody>
                  <a:tcPr anchor="ctr"/>
                </a:tc>
                <a:tc>
                  <a:txBody>
                    <a:bodyPr/>
                    <a:lstStyle/>
                    <a:p>
                      <a:pPr algn="ctr"/>
                      <a:r>
                        <a:rPr sz="1100" b="0"/>
                        <a:t>13</a:t>
                      </a:r>
                    </a:p>
                  </a:txBody>
                  <a:tcPr anchor="ctr"/>
                </a:tc>
                <a:tc>
                  <a:txBody>
                    <a:bodyPr/>
                    <a:lstStyle/>
                    <a:p>
                      <a:pPr algn="ctr"/>
                      <a:r>
                        <a:rPr sz="1100" b="0"/>
                        <a:t>13</a:t>
                      </a:r>
                    </a:p>
                  </a:txBody>
                  <a:tcPr anchor="ctr"/>
                </a:tc>
                <a:tc>
                  <a:txBody>
                    <a:bodyPr/>
                    <a:lstStyle/>
                    <a:p>
                      <a:pPr algn="ctr"/>
                      <a:r>
                        <a:rPr sz="1100" b="0"/>
                        <a:t>0</a:t>
                      </a:r>
                    </a:p>
                  </a:txBody>
                  <a:tcPr anchor="ctr"/>
                </a:tc>
                <a:tc>
                  <a:txBody>
                    <a:bodyPr/>
                    <a:lstStyle/>
                    <a:p>
                      <a:pPr algn="ctr"/>
                      <a:r>
                        <a:rPr sz="1100" b="0"/>
                        <a:t>0</a:t>
                      </a:r>
                    </a:p>
                  </a:txBody>
                  <a:tcPr anchor="ctr"/>
                </a:tc>
              </a:tr>
              <a:tr h="307692">
                <a:tc vMerge="1">
                  <a:txBody>
                    <a:bodyPr/>
                    <a:lstStyle/>
                    <a:p/>
                  </a:txBody>
                  <a:tcPr/>
                </a:tc>
                <a:tc>
                  <a:txBody>
                    <a:bodyPr/>
                    <a:lstStyle/>
                    <a:p>
                      <a:pPr algn="ctr"/>
                      <a:r>
                        <a:rPr sz="1100" b="0"/>
                        <a:t>DM</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6</a:t>
                      </a:r>
                    </a:p>
                  </a:txBody>
                  <a:tcPr anchor="ctr"/>
                </a:tc>
                <a:tc>
                  <a:txBody>
                    <a:bodyPr/>
                    <a:lstStyle/>
                    <a:p>
                      <a:pPr algn="ctr"/>
                      <a:r>
                        <a:rPr sz="1100" b="0"/>
                        <a:t>0</a:t>
                      </a:r>
                    </a:p>
                  </a:txBody>
                  <a:tcPr anchor="ctr"/>
                </a:tc>
              </a:tr>
              <a:tr h="307692">
                <a:tc vMerge="1">
                  <a:txBody>
                    <a:bodyPr/>
                    <a:lstStyle/>
                    <a:p/>
                  </a:txBody>
                  <a:tcPr/>
                </a:tc>
                <a:tc>
                  <a:txBody>
                    <a:bodyPr/>
                    <a:lstStyle/>
                    <a:p>
                      <a:pPr algn="ctr"/>
                      <a:r>
                        <a:rPr sz="1100" b="0"/>
                        <a:t>CKD</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r>
              <a:tr h="307692">
                <a:tc rowSpan="3">
                  <a:txBody>
                    <a:bodyPr/>
                    <a:lstStyle/>
                    <a:p>
                      <a:pPr algn="ctr"/>
                      <a:r>
                        <a:rPr sz="1100" b="0"/>
                        <a:t>SAT</a:t>
                      </a:r>
                    </a:p>
                  </a:txBody>
                  <a:tcPr anchor="ctr"/>
                </a:tc>
                <a:tc>
                  <a:txBody>
                    <a:bodyPr/>
                    <a:lstStyle/>
                    <a:p>
                      <a:pPr algn="ctr"/>
                      <a:r>
                        <a:rPr sz="1100" b="0"/>
                        <a:t>HTN</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r>
              <a:tr h="307692">
                <a:tc vMerge="1">
                  <a:txBody>
                    <a:bodyPr/>
                    <a:lstStyle/>
                    <a:p/>
                  </a:txBody>
                  <a:tcPr/>
                </a:tc>
                <a:tc>
                  <a:txBody>
                    <a:bodyPr/>
                    <a:lstStyle/>
                    <a:p>
                      <a:pPr algn="ctr"/>
                      <a:r>
                        <a:rPr sz="1100" b="0"/>
                        <a:t>DM</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7</a:t>
                      </a:r>
                    </a:p>
                  </a:txBody>
                  <a:tcPr anchor="ctr"/>
                </a:tc>
                <a:tc>
                  <a:txBody>
                    <a:bodyPr/>
                    <a:lstStyle/>
                    <a:p>
                      <a:pPr algn="ctr"/>
                      <a:r>
                        <a:rPr sz="1100" b="0"/>
                        <a:t>0</a:t>
                      </a:r>
                    </a:p>
                  </a:txBody>
                  <a:tcPr anchor="ctr"/>
                </a:tc>
                <a:tc>
                  <a:txBody>
                    <a:bodyPr/>
                    <a:lstStyle/>
                    <a:p>
                      <a:pPr algn="ctr"/>
                      <a:r>
                        <a:rPr sz="1100" b="0"/>
                        <a:t>23</a:t>
                      </a:r>
                    </a:p>
                  </a:txBody>
                  <a:tcPr anchor="ctr"/>
                </a:tc>
              </a:tr>
              <a:tr h="307692">
                <a:tc vMerge="1">
                  <a:txBody>
                    <a:bodyPr/>
                    <a:lstStyle/>
                    <a:p/>
                  </a:txBody>
                  <a:tcPr/>
                </a:tc>
                <a:tc>
                  <a:txBody>
                    <a:bodyPr/>
                    <a:lstStyle/>
                    <a:p>
                      <a:pPr algn="ctr"/>
                      <a:r>
                        <a:rPr sz="1100" b="0"/>
                        <a:t>CKD</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18</a:t>
                      </a:r>
                    </a:p>
                  </a:txBody>
                  <a:tcPr anchor="ctr"/>
                </a:tc>
                <a:tc>
                  <a:txBody>
                    <a:bodyPr/>
                    <a:lstStyle/>
                    <a:p>
                      <a:pPr algn="ctr"/>
                      <a:r>
                        <a:rPr sz="1100" b="0"/>
                        <a:t>0</a:t>
                      </a:r>
                    </a:p>
                  </a:txBody>
                  <a:tcPr anchor="ctr"/>
                </a:tc>
                <a:tc>
                  <a:txBody>
                    <a:bodyPr/>
                    <a:lstStyle/>
                    <a:p>
                      <a:pPr algn="ctr"/>
                      <a:r>
                        <a:rPr sz="1100" b="0"/>
                        <a:t>0</a:t>
                      </a:r>
                    </a:p>
                  </a:txBody>
                  <a:tcPr anchor="ctr"/>
                </a:tc>
              </a:tr>
              <a:tr h="307692">
                <a:tc rowSpan="3">
                  <a:txBody>
                    <a:bodyPr/>
                    <a:lstStyle/>
                    <a:p>
                      <a:pPr algn="ctr"/>
                      <a:r>
                        <a:rPr sz="1100" b="0"/>
                        <a:t>TAMA</a:t>
                      </a:r>
                    </a:p>
                  </a:txBody>
                  <a:tcPr anchor="ctr"/>
                </a:tc>
                <a:tc>
                  <a:txBody>
                    <a:bodyPr/>
                    <a:lstStyle/>
                    <a:p>
                      <a:pPr algn="ctr"/>
                      <a:r>
                        <a:rPr sz="1100" b="0"/>
                        <a:t>HTN</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r>
              <a:tr h="307692">
                <a:tc vMerge="1">
                  <a:txBody>
                    <a:bodyPr/>
                    <a:lstStyle/>
                    <a:p/>
                  </a:txBody>
                  <a:tcPr/>
                </a:tc>
                <a:tc>
                  <a:txBody>
                    <a:bodyPr/>
                    <a:lstStyle/>
                    <a:p>
                      <a:pPr algn="ctr"/>
                      <a:r>
                        <a:rPr sz="1100" b="0"/>
                        <a:t>DM</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c>
                  <a:txBody>
                    <a:bodyPr/>
                    <a:lstStyle/>
                    <a:p>
                      <a:pPr algn="ctr"/>
                      <a:r>
                        <a:rPr sz="1100" b="0"/>
                        <a:t>0</a:t>
                      </a:r>
                    </a:p>
                  </a:txBody>
                  <a:tcPr anchor="ctr"/>
                </a:tc>
              </a:tr>
              <a:tr h="307692">
                <a:tc vMerge="1">
                  <a:txBody>
                    <a:bodyPr/>
                    <a:lstStyle/>
                    <a:p/>
                  </a:txBody>
                  <a:tcPr/>
                </a:tc>
                <a:tc>
                  <a:txBody>
                    <a:bodyPr/>
                    <a:lstStyle/>
                    <a:p>
                      <a:pPr algn="ctr"/>
                      <a:r>
                        <a:rPr sz="1100" b="0"/>
                        <a:t>CKD</a:t>
                      </a:r>
                    </a:p>
                  </a:txBody>
                  <a:tcPr anchor="ctr"/>
                </a:tc>
                <a:tc>
                  <a:txBody>
                    <a:bodyPr/>
                    <a:lstStyle/>
                    <a:p>
                      <a:pPr algn="ctr"/>
                      <a:r>
                        <a:rPr sz="1100" b="0"/>
                        <a:t>0</a:t>
                      </a:r>
                    </a:p>
                  </a:txBody>
                  <a:tcPr anchor="ctr"/>
                </a:tc>
                <a:tc>
                  <a:txBody>
                    <a:bodyPr/>
                    <a:lstStyle/>
                    <a:p>
                      <a:pPr algn="ctr"/>
                      <a:r>
                        <a:rPr sz="1100" b="0"/>
                        <a:t>4</a:t>
                      </a:r>
                    </a:p>
                  </a:txBody>
                  <a:tcPr anchor="ctr"/>
                </a:tc>
                <a:tc>
                  <a:txBody>
                    <a:bodyPr/>
                    <a:lstStyle/>
                    <a:p>
                      <a:pPr algn="ctr"/>
                      <a:r>
                        <a:rPr sz="1100" b="0"/>
                        <a:t>6</a:t>
                      </a:r>
                    </a:p>
                  </a:txBody>
                  <a:tcPr anchor="ctr"/>
                </a:tc>
                <a:tc>
                  <a:txBody>
                    <a:bodyPr/>
                    <a:lstStyle/>
                    <a:p>
                      <a:pPr algn="ctr"/>
                      <a:r>
                        <a:rPr sz="1100" b="0"/>
                        <a:t>0</a:t>
                      </a:r>
                    </a:p>
                  </a:txBody>
                  <a:tcPr anchor="ctr"/>
                </a:tc>
                <a:tc>
                  <a:txBody>
                    <a:bodyPr/>
                    <a:lstStyle/>
                    <a:p>
                      <a:pPr algn="ctr"/>
                      <a:r>
                        <a:rPr sz="1100" b="0"/>
                        <a:t>0</a:t>
                      </a:r>
                    </a:p>
                  </a:txBody>
                  <a:tcPr anchor="ctr"/>
                </a:tc>
              </a:tr>
              <a:tr h="307692">
                <a:tc rowSpan="3">
                  <a:txBody>
                    <a:bodyPr/>
                    <a:lstStyle/>
                    <a:p>
                      <a:pPr algn="ctr"/>
                      <a:r>
                        <a:rPr sz="1100" b="0"/>
                        <a:t>AEC</a:t>
                      </a:r>
                    </a:p>
                  </a:txBody>
                  <a:tcPr anchor="ctr"/>
                </a:tc>
                <a:tc>
                  <a:txBody>
                    <a:bodyPr/>
                    <a:lstStyle/>
                    <a:p>
                      <a:pPr algn="ctr"/>
                      <a:r>
                        <a:rPr sz="1100" b="0"/>
                        <a:t>HTN</a:t>
                      </a:r>
                    </a:p>
                  </a:txBody>
                  <a:tcPr anchor="ctr"/>
                </a:tc>
                <a:tc>
                  <a:txBody>
                    <a:bodyPr/>
                    <a:lstStyle/>
                    <a:p>
                      <a:pPr algn="ctr"/>
                      <a:r>
                        <a:rPr sz="1100" b="0"/>
                        <a:t>0</a:t>
                      </a:r>
                    </a:p>
                  </a:txBody>
                  <a:tcPr anchor="ctr"/>
                </a:tc>
                <a:tc>
                  <a:txBody>
                    <a:bodyPr/>
                    <a:lstStyle/>
                    <a:p>
                      <a:pPr algn="ctr"/>
                      <a:r>
                        <a:rPr sz="1100" b="0"/>
                        <a:t>111</a:t>
                      </a:r>
                    </a:p>
                  </a:txBody>
                  <a:tcPr anchor="ctr"/>
                </a:tc>
                <a:tc>
                  <a:txBody>
                    <a:bodyPr/>
                    <a:lstStyle/>
                    <a:p>
                      <a:pPr algn="ctr"/>
                      <a:r>
                        <a:rPr sz="1100" b="0"/>
                        <a:t>63</a:t>
                      </a:r>
                    </a:p>
                  </a:txBody>
                  <a:tcPr anchor="ctr"/>
                </a:tc>
                <a:tc>
                  <a:txBody>
                    <a:bodyPr/>
                    <a:lstStyle/>
                    <a:p>
                      <a:pPr algn="ctr"/>
                      <a:r>
                        <a:rPr sz="1100" b="0"/>
                        <a:t>69</a:t>
                      </a:r>
                    </a:p>
                  </a:txBody>
                  <a:tcPr anchor="ctr"/>
                </a:tc>
                <a:tc>
                  <a:txBody>
                    <a:bodyPr/>
                    <a:lstStyle/>
                    <a:p>
                      <a:pPr algn="ctr"/>
                      <a:r>
                        <a:rPr sz="1100" b="0"/>
                        <a:t>61</a:t>
                      </a:r>
                    </a:p>
                  </a:txBody>
                  <a:tcPr anchor="ctr"/>
                </a:tc>
              </a:tr>
              <a:tr h="307692">
                <a:tc vMerge="1">
                  <a:txBody>
                    <a:bodyPr/>
                    <a:lstStyle/>
                    <a:p/>
                  </a:txBody>
                  <a:tcPr/>
                </a:tc>
                <a:tc>
                  <a:txBody>
                    <a:bodyPr/>
                    <a:lstStyle/>
                    <a:p>
                      <a:pPr algn="ctr"/>
                      <a:r>
                        <a:rPr sz="1100" b="0"/>
                        <a:t>DM</a:t>
                      </a:r>
                    </a:p>
                  </a:txBody>
                  <a:tcPr anchor="ctr"/>
                </a:tc>
                <a:tc>
                  <a:txBody>
                    <a:bodyPr/>
                    <a:lstStyle/>
                    <a:p>
                      <a:pPr algn="ctr"/>
                      <a:r>
                        <a:rPr sz="1100" b="0"/>
                        <a:t>0</a:t>
                      </a:r>
                    </a:p>
                  </a:txBody>
                  <a:tcPr anchor="ctr"/>
                </a:tc>
                <a:tc>
                  <a:txBody>
                    <a:bodyPr/>
                    <a:lstStyle/>
                    <a:p>
                      <a:pPr algn="ctr"/>
                      <a:r>
                        <a:rPr sz="1100" b="0"/>
                        <a:t>94</a:t>
                      </a:r>
                    </a:p>
                  </a:txBody>
                  <a:tcPr anchor="ctr"/>
                </a:tc>
                <a:tc>
                  <a:txBody>
                    <a:bodyPr/>
                    <a:lstStyle/>
                    <a:p>
                      <a:pPr algn="ctr"/>
                      <a:r>
                        <a:rPr sz="1100" b="0"/>
                        <a:t>23</a:t>
                      </a:r>
                    </a:p>
                  </a:txBody>
                  <a:tcPr anchor="ctr"/>
                </a:tc>
                <a:tc>
                  <a:txBody>
                    <a:bodyPr/>
                    <a:lstStyle/>
                    <a:p>
                      <a:pPr algn="ctr"/>
                      <a:r>
                        <a:rPr sz="1100" b="0"/>
                        <a:t>18</a:t>
                      </a:r>
                    </a:p>
                  </a:txBody>
                  <a:tcPr anchor="ctr"/>
                </a:tc>
                <a:tc>
                  <a:txBody>
                    <a:bodyPr/>
                    <a:lstStyle/>
                    <a:p>
                      <a:pPr algn="ctr"/>
                      <a:r>
                        <a:rPr sz="1100" b="0"/>
                        <a:t>69</a:t>
                      </a:r>
                    </a:p>
                  </a:txBody>
                  <a:tcPr anchor="ctr"/>
                </a:tc>
              </a:tr>
              <a:tr h="307692">
                <a:tc vMerge="1">
                  <a:txBody>
                    <a:bodyPr/>
                    <a:lstStyle/>
                    <a:p/>
                  </a:txBody>
                  <a:tcPr/>
                </a:tc>
                <a:tc>
                  <a:txBody>
                    <a:bodyPr/>
                    <a:lstStyle/>
                    <a:p>
                      <a:pPr algn="ctr"/>
                      <a:r>
                        <a:rPr sz="1100" b="0"/>
                        <a:t>CKD</a:t>
                      </a:r>
                    </a:p>
                  </a:txBody>
                  <a:tcPr anchor="ctr"/>
                </a:tc>
                <a:tc>
                  <a:txBody>
                    <a:bodyPr/>
                    <a:lstStyle/>
                    <a:p>
                      <a:pPr algn="ctr"/>
                      <a:r>
                        <a:rPr sz="1100" b="0"/>
                        <a:t>0</a:t>
                      </a:r>
                    </a:p>
                  </a:txBody>
                  <a:tcPr anchor="ctr"/>
                </a:tc>
                <a:tc>
                  <a:txBody>
                    <a:bodyPr/>
                    <a:lstStyle/>
                    <a:p>
                      <a:pPr algn="ctr"/>
                      <a:r>
                        <a:rPr sz="1100" b="0"/>
                        <a:t>47</a:t>
                      </a:r>
                    </a:p>
                  </a:txBody>
                  <a:tcPr anchor="ctr"/>
                </a:tc>
                <a:tc>
                  <a:txBody>
                    <a:bodyPr/>
                    <a:lstStyle/>
                    <a:p>
                      <a:pPr algn="ctr"/>
                      <a:r>
                        <a:rPr sz="1100" b="0"/>
                        <a:t>25</a:t>
                      </a:r>
                    </a:p>
                  </a:txBody>
                  <a:tcPr anchor="ctr"/>
                </a:tc>
                <a:tc>
                  <a:txBody>
                    <a:bodyPr/>
                    <a:lstStyle/>
                    <a:p>
                      <a:pPr algn="ctr"/>
                      <a:r>
                        <a:rPr sz="1100" b="0"/>
                        <a:t>27</a:t>
                      </a:r>
                    </a:p>
                  </a:txBody>
                  <a:tcPr anchor="ctr"/>
                </a:tc>
                <a:tc>
                  <a:txBody>
                    <a:bodyPr/>
                    <a:lstStyle/>
                    <a:p>
                      <a:pPr algn="ctr"/>
                      <a:r>
                        <a:rPr sz="1100" b="0"/>
                        <a:t>0</a:t>
                      </a:r>
                    </a:p>
                  </a:txBody>
                  <a:tcPr anchor="ct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전처리 비교: 외부 AUC 변화</a:t>
            </a:r>
          </a:p>
        </p:txBody>
      </p:sp>
      <p:sp>
        <p:nvSpPr>
          <p:cNvPr id="3" name="Content Placeholder 2"/>
          <p:cNvSpPr>
            <a:spLocks noGrp="1"/>
          </p:cNvSpPr>
          <p:nvPr>
            <p:ph idx="1"/>
          </p:nvPr>
        </p:nvSpPr>
        <p:spPr>
          <a:xfrm>
            <a:off x="508000" y="1050000"/>
            <a:ext cx="11176000" cy="800000"/>
          </a:xfrm>
        </p:spPr>
        <p:txBody>
          <a:bodyPr/>
          <a:lstStyle/>
          <a:p>
            <a:r>
              <a:rPr sz="1400" b="0">
                <a:solidFill>
                  <a:srgbClr val="333F4D"/>
                </a:solidFill>
              </a:rPr>
              <a:t>Gangnam에서 p가 가장 작은 위치 1개를 골라 clinical(나이·성별·BMI)에 더한 모델의 Sinchon AUC 변화 (선택은 Gangnam만 사용)</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8</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5" cy="4299997"/>
        </p:xfrm>
        <a:graphic>
          <a:graphicData uri="http://schemas.openxmlformats.org/drawingml/2006/table">
            <a:tbl>
              <a:tblPr firstRow="1" bandRow="1">
                <a:tableStyleId>{C083E6E3-FA7D-4D7B-A595-EF9225AFEA82}</a:tableStyleId>
              </a:tblPr>
              <a:tblGrid>
                <a:gridCol w="1771804"/>
                <a:gridCol w="1771804"/>
                <a:gridCol w="1362926"/>
                <a:gridCol w="1635512"/>
                <a:gridCol w="1362926"/>
                <a:gridCol w="1771804"/>
                <a:gridCol w="1499219"/>
              </a:tblGrid>
              <a:tr h="330769">
                <a:tc>
                  <a:txBody>
                    <a:bodyPr/>
                    <a:lstStyle/>
                    <a:p>
                      <a:pPr algn="ctr"/>
                      <a:r>
                        <a:rPr sz="1400" b="1"/>
                        <a:t>Measure</a:t>
                      </a:r>
                    </a:p>
                  </a:txBody>
                  <a:tcPr anchor="ctr"/>
                </a:tc>
                <a:tc>
                  <a:txBody>
                    <a:bodyPr/>
                    <a:lstStyle/>
                    <a:p>
                      <a:pPr algn="ctr"/>
                      <a:r>
                        <a:rPr sz="1400" b="1"/>
                        <a:t>Disease</a:t>
                      </a:r>
                    </a:p>
                  </a:txBody>
                  <a:tcPr anchor="ctr"/>
                </a:tc>
                <a:tc>
                  <a:txBody>
                    <a:bodyPr/>
                    <a:lstStyle/>
                    <a:p>
                      <a:pPr algn="ctr"/>
                      <a:r>
                        <a:rPr sz="1400" b="1"/>
                        <a:t>raw</a:t>
                      </a:r>
                    </a:p>
                  </a:txBody>
                  <a:tcPr anchor="ctr"/>
                </a:tc>
                <a:tc>
                  <a:txBody>
                    <a:bodyPr/>
                    <a:lstStyle/>
                    <a:p>
                      <a:pPr algn="ctr"/>
                      <a:r>
                        <a:rPr sz="1400" b="1"/>
                        <a:t>pw_mean</a:t>
                      </a:r>
                    </a:p>
                  </a:txBody>
                  <a:tcPr anchor="ctr"/>
                </a:tc>
                <a:tc>
                  <a:txBody>
                    <a:bodyPr/>
                    <a:lstStyle/>
                    <a:p>
                      <a:pPr algn="ctr"/>
                      <a:r>
                        <a:rPr sz="1400" b="1"/>
                        <a:t>pw_z</a:t>
                      </a:r>
                    </a:p>
                  </a:txBody>
                  <a:tcPr anchor="ctr"/>
                </a:tc>
                <a:tc>
                  <a:txBody>
                    <a:bodyPr/>
                    <a:lstStyle/>
                    <a:p>
                      <a:pPr algn="ctr"/>
                      <a:r>
                        <a:rPr sz="1400" b="1"/>
                        <a:t>pw_minmax</a:t>
                      </a:r>
                    </a:p>
                  </a:txBody>
                  <a:tcPr anchor="ctr"/>
                </a:tc>
                <a:tc>
                  <a:txBody>
                    <a:bodyPr/>
                    <a:lstStyle/>
                    <a:p>
                      <a:pPr algn="ctr"/>
                      <a:r>
                        <a:rPr sz="1400" b="1"/>
                        <a:t>pw_L3</a:t>
                      </a:r>
                    </a:p>
                  </a:txBody>
                  <a:tcPr anchor="ctr"/>
                </a:tc>
              </a:tr>
              <a:tr h="330769">
                <a:tc rowSpan="3">
                  <a:txBody>
                    <a:bodyPr/>
                    <a:lstStyle/>
                    <a:p>
                      <a:pPr algn="ctr"/>
                      <a:r>
                        <a:rPr sz="1100" b="0"/>
                        <a:t>VAT</a:t>
                      </a:r>
                    </a:p>
                  </a:txBody>
                  <a:tcPr anchor="ctr"/>
                </a:tc>
                <a:tc>
                  <a:txBody>
                    <a:bodyPr/>
                    <a:lstStyle/>
                    <a:p>
                      <a:pPr algn="ctr"/>
                      <a:r>
                        <a:rPr sz="1100" b="0"/>
                        <a:t>HTN</a:t>
                      </a:r>
                    </a:p>
                  </a:txBody>
                  <a:tcPr anchor="ctr"/>
                </a:tc>
                <a:tc>
                  <a:txBody>
                    <a:bodyPr/>
                    <a:lstStyle/>
                    <a:p>
                      <a:pPr algn="ctr"/>
                      <a:r>
                        <a:rPr sz="1100" b="0"/>
                        <a:t>+0.002</a:t>
                      </a:r>
                    </a:p>
                  </a:txBody>
                  <a:tcPr anchor="ctr"/>
                </a:tc>
                <a:tc>
                  <a:txBody>
                    <a:bodyPr/>
                    <a:lstStyle/>
                    <a:p>
                      <a:pPr algn="ctr"/>
                      <a:r>
                        <a:rPr sz="1100" b="0"/>
                        <a:t>+0.007</a:t>
                      </a:r>
                    </a:p>
                  </a:txBody>
                  <a:tcPr anchor="ctr"/>
                </a:tc>
                <a:tc>
                  <a:txBody>
                    <a:bodyPr/>
                    <a:lstStyle/>
                    <a:p>
                      <a:pPr algn="ctr"/>
                      <a:r>
                        <a:rPr sz="1100" b="0"/>
                        <a:t>+0.006</a:t>
                      </a:r>
                    </a:p>
                  </a:txBody>
                  <a:tcPr anchor="ctr"/>
                </a:tc>
                <a:tc>
                  <a:txBody>
                    <a:bodyPr/>
                    <a:lstStyle/>
                    <a:p>
                      <a:pPr algn="ctr"/>
                      <a:r>
                        <a:rPr sz="1100" b="0"/>
                        <a:t>-0.006</a:t>
                      </a:r>
                    </a:p>
                  </a:txBody>
                  <a:tcPr anchor="ctr"/>
                </a:tc>
                <a:tc>
                  <a:txBody>
                    <a:bodyPr/>
                    <a:lstStyle/>
                    <a:p>
                      <a:pPr algn="ctr"/>
                      <a:r>
                        <a:rPr sz="1100" b="0"/>
                        <a:t>+0.005</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-0.004</a:t>
                      </a:r>
                    </a:p>
                  </a:txBody>
                  <a:tcPr anchor="ctr"/>
                </a:tc>
                <a:tc>
                  <a:txBody>
                    <a:bodyPr/>
                    <a:lstStyle/>
                    <a:p>
                      <a:pPr algn="ctr"/>
                      <a:r>
                        <a:rPr sz="1100" b="0"/>
                        <a:t>+0.011</a:t>
                      </a:r>
                    </a:p>
                  </a:txBody>
                  <a:tcPr anchor="ctr"/>
                </a:tc>
                <a:tc>
                  <a:txBody>
                    <a:bodyPr/>
                    <a:lstStyle/>
                    <a:p>
                      <a:pPr algn="ctr"/>
                      <a:r>
                        <a:rPr sz="1100" b="0"/>
                        <a:t>+0.006</a:t>
                      </a:r>
                    </a:p>
                  </a:txBody>
                  <a:tcPr anchor="ctr"/>
                </a:tc>
                <a:tc>
                  <a:txBody>
                    <a:bodyPr/>
                    <a:lstStyle/>
                    <a:p>
                      <a:pPr algn="ctr"/>
                      <a:r>
                        <a:rPr sz="1100" b="0"/>
                        <a:t>+0.007</a:t>
                      </a:r>
                    </a:p>
                  </a:txBody>
                  <a:tcPr anchor="ctr"/>
                </a:tc>
                <a:tc>
                  <a:txBody>
                    <a:bodyPr/>
                    <a:lstStyle/>
                    <a:p>
                      <a:pPr algn="ctr"/>
                      <a:r>
                        <a:rPr sz="1100" b="0"/>
                        <a:t>-0.009</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+0.008</a:t>
                      </a:r>
                    </a:p>
                  </a:txBody>
                  <a:tcPr anchor="ctr"/>
                </a:tc>
                <a:tc>
                  <a:txBody>
                    <a:bodyPr/>
                    <a:lstStyle/>
                    <a:p>
                      <a:pPr algn="ctr"/>
                      <a:r>
                        <a:rPr sz="1100" b="0"/>
                        <a:t>+0.001</a:t>
                      </a:r>
                    </a:p>
                  </a:txBody>
                  <a:tcPr anchor="ctr"/>
                </a:tc>
                <a:tc>
                  <a:txBody>
                    <a:bodyPr/>
                    <a:lstStyle/>
                    <a:p>
                      <a:pPr algn="ctr"/>
                      <a:r>
                        <a:rPr sz="1100" b="0"/>
                        <a:t>+0.003</a:t>
                      </a:r>
                    </a:p>
                  </a:txBody>
                  <a:tcPr anchor="ctr"/>
                </a:tc>
                <a:tc>
                  <a:txBody>
                    <a:bodyPr/>
                    <a:lstStyle/>
                    <a:p>
                      <a:pPr algn="ctr"/>
                      <a:r>
                        <a:rPr sz="1100" b="0"/>
                        <a:t>-0.003</a:t>
                      </a:r>
                    </a:p>
                  </a:txBody>
                  <a:tcPr anchor="ctr"/>
                </a:tc>
                <a:tc>
                  <a:txBody>
                    <a:bodyPr/>
                    <a:lstStyle/>
                    <a:p>
                      <a:pPr algn="ctr"/>
                      <a:r>
                        <a:rPr sz="1100" b="0"/>
                        <a:t>+0.006</a:t>
                      </a:r>
                    </a:p>
                  </a:txBody>
                  <a:tcPr anchor="ctr"/>
                </a:tc>
              </a:tr>
              <a:tr h="330769">
                <a:tc rowSpan="3">
                  <a:txBody>
                    <a:bodyPr/>
                    <a:lstStyle/>
                    <a:p>
                      <a:pPr algn="ctr"/>
                      <a:r>
                        <a:rPr sz="1100" b="0"/>
                        <a:t>SAT</a:t>
                      </a:r>
                    </a:p>
                  </a:txBody>
                  <a:tcPr anchor="ctr"/>
                </a:tc>
                <a:tc>
                  <a:txBody>
                    <a:bodyPr/>
                    <a:lstStyle/>
                    <a:p>
                      <a:pPr algn="ctr"/>
                      <a:r>
                        <a:rPr sz="1100" b="0"/>
                        <a:t>HTN</a:t>
                      </a:r>
                    </a:p>
                  </a:txBody>
                  <a:tcPr anchor="ctr"/>
                </a:tc>
                <a:tc>
                  <a:txBody>
                    <a:bodyPr/>
                    <a:lstStyle/>
                    <a:p>
                      <a:pPr algn="ctr"/>
                      <a:r>
                        <a:rPr sz="1100" b="0"/>
                        <a:t>-0.007</a:t>
                      </a:r>
                    </a:p>
                  </a:txBody>
                  <a:tcPr anchor="ctr"/>
                </a:tc>
                <a:tc>
                  <a:txBody>
                    <a:bodyPr/>
                    <a:lstStyle/>
                    <a:p>
                      <a:pPr algn="ctr"/>
                      <a:r>
                        <a:rPr sz="1100" b="0"/>
                        <a:t>+0.001</a:t>
                      </a:r>
                    </a:p>
                  </a:txBody>
                  <a:tcPr anchor="ctr"/>
                </a:tc>
                <a:tc>
                  <a:txBody>
                    <a:bodyPr/>
                    <a:lstStyle/>
                    <a:p>
                      <a:pPr algn="ctr"/>
                      <a:r>
                        <a:rPr sz="1100" b="0"/>
                        <a:t>-0.000</a:t>
                      </a:r>
                    </a:p>
                  </a:txBody>
                  <a:tcPr anchor="ctr"/>
                </a:tc>
                <a:tc>
                  <a:txBody>
                    <a:bodyPr/>
                    <a:lstStyle/>
                    <a:p>
                      <a:pPr algn="ctr"/>
                      <a:r>
                        <a:rPr sz="1100" b="0"/>
                        <a:t>+0.003</a:t>
                      </a:r>
                    </a:p>
                  </a:txBody>
                  <a:tcPr anchor="ctr"/>
                </a:tc>
                <a:tc>
                  <a:txBody>
                    <a:bodyPr/>
                    <a:lstStyle/>
                    <a:p>
                      <a:pPr algn="ctr"/>
                      <a:r>
                        <a:rPr sz="1100" b="0"/>
                        <a:t>-0.003</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-0.009</a:t>
                      </a:r>
                    </a:p>
                  </a:txBody>
                  <a:tcPr anchor="ctr"/>
                </a:tc>
                <a:tc>
                  <a:txBody>
                    <a:bodyPr/>
                    <a:lstStyle/>
                    <a:p>
                      <a:pPr algn="ctr"/>
                      <a:r>
                        <a:rPr sz="1100" b="0"/>
                        <a:t>+0.001</a:t>
                      </a:r>
                    </a:p>
                  </a:txBody>
                  <a:tcPr anchor="ctr"/>
                </a:tc>
                <a:tc>
                  <a:txBody>
                    <a:bodyPr/>
                    <a:lstStyle/>
                    <a:p>
                      <a:pPr algn="ctr"/>
                      <a:r>
                        <a:rPr sz="1100" b="0"/>
                        <a:t>-0.003</a:t>
                      </a:r>
                    </a:p>
                  </a:txBody>
                  <a:tcPr anchor="ctr"/>
                </a:tc>
                <a:tc>
                  <a:txBody>
                    <a:bodyPr/>
                    <a:lstStyle/>
                    <a:p>
                      <a:pPr algn="ctr"/>
                      <a:r>
                        <a:rPr sz="1100" b="0"/>
                        <a:t>-0.001</a:t>
                      </a:r>
                    </a:p>
                  </a:txBody>
                  <a:tcPr anchor="ctr"/>
                </a:tc>
                <a:tc>
                  <a:txBody>
                    <a:bodyPr/>
                    <a:lstStyle/>
                    <a:p>
                      <a:pPr algn="ctr"/>
                      <a:r>
                        <a:rPr sz="1100" b="0"/>
                        <a:t>+0.006</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+0.005</a:t>
                      </a:r>
                    </a:p>
                  </a:txBody>
                  <a:tcPr anchor="ctr"/>
                </a:tc>
                <a:tc>
                  <a:txBody>
                    <a:bodyPr/>
                    <a:lstStyle/>
                    <a:p>
                      <a:pPr algn="ctr"/>
                      <a:r>
                        <a:rPr sz="1100" b="0"/>
                        <a:t>+0.015</a:t>
                      </a:r>
                    </a:p>
                  </a:txBody>
                  <a:tcPr anchor="ctr"/>
                </a:tc>
                <a:tc>
                  <a:txBody>
                    <a:bodyPr/>
                    <a:lstStyle/>
                    <a:p>
                      <a:pPr algn="ctr"/>
                      <a:r>
                        <a:rPr sz="1100" b="0"/>
                        <a:t>+0.023</a:t>
                      </a:r>
                    </a:p>
                  </a:txBody>
                  <a:tcPr anchor="ctr"/>
                </a:tc>
                <a:tc>
                  <a:txBody>
                    <a:bodyPr/>
                    <a:lstStyle/>
                    <a:p>
                      <a:pPr algn="ctr"/>
                      <a:r>
                        <a:rPr sz="1100" b="0"/>
                        <a:t>+0.020</a:t>
                      </a:r>
                    </a:p>
                  </a:txBody>
                  <a:tcPr anchor="ctr"/>
                </a:tc>
                <a:tc>
                  <a:txBody>
                    <a:bodyPr/>
                    <a:lstStyle/>
                    <a:p>
                      <a:pPr algn="ctr"/>
                      <a:r>
                        <a:rPr sz="1100" b="0"/>
                        <a:t>-0.005</a:t>
                      </a:r>
                    </a:p>
                  </a:txBody>
                  <a:tcPr anchor="ctr"/>
                </a:tc>
              </a:tr>
              <a:tr h="330769">
                <a:tc rowSpan="3">
                  <a:txBody>
                    <a:bodyPr/>
                    <a:lstStyle/>
                    <a:p>
                      <a:pPr algn="ctr"/>
                      <a:r>
                        <a:rPr sz="1100" b="0"/>
                        <a:t>TAMA</a:t>
                      </a:r>
                    </a:p>
                  </a:txBody>
                  <a:tcPr anchor="ctr"/>
                </a:tc>
                <a:tc>
                  <a:txBody>
                    <a:bodyPr/>
                    <a:lstStyle/>
                    <a:p>
                      <a:pPr algn="ctr"/>
                      <a:r>
                        <a:rPr sz="1100" b="0"/>
                        <a:t>HTN</a:t>
                      </a:r>
                    </a:p>
                  </a:txBody>
                  <a:tcPr anchor="ctr"/>
                </a:tc>
                <a:tc>
                  <a:txBody>
                    <a:bodyPr/>
                    <a:lstStyle/>
                    <a:p>
                      <a:pPr algn="ctr"/>
                      <a:r>
                        <a:rPr sz="1100" b="0"/>
                        <a:t>-0.001</a:t>
                      </a:r>
                    </a:p>
                  </a:txBody>
                  <a:tcPr anchor="ctr"/>
                </a:tc>
                <a:tc>
                  <a:txBody>
                    <a:bodyPr/>
                    <a:lstStyle/>
                    <a:p>
                      <a:pPr algn="ctr"/>
                      <a:r>
                        <a:rPr sz="1100" b="0"/>
                        <a:t>+0.000</a:t>
                      </a:r>
                    </a:p>
                  </a:txBody>
                  <a:tcPr anchor="ctr"/>
                </a:tc>
                <a:tc>
                  <a:txBody>
                    <a:bodyPr/>
                    <a:lstStyle/>
                    <a:p>
                      <a:pPr algn="ctr"/>
                      <a:r>
                        <a:rPr sz="1100" b="0"/>
                        <a:t>-0.006</a:t>
                      </a:r>
                    </a:p>
                  </a:txBody>
                  <a:tcPr anchor="ctr"/>
                </a:tc>
                <a:tc>
                  <a:txBody>
                    <a:bodyPr/>
                    <a:lstStyle/>
                    <a:p>
                      <a:pPr algn="ctr"/>
                      <a:r>
                        <a:rPr sz="1100" b="0"/>
                        <a:t>-0.003</a:t>
                      </a:r>
                    </a:p>
                  </a:txBody>
                  <a:tcPr anchor="ctr"/>
                </a:tc>
                <a:tc>
                  <a:txBody>
                    <a:bodyPr/>
                    <a:lstStyle/>
                    <a:p>
                      <a:pPr algn="ctr"/>
                      <a:r>
                        <a:rPr sz="1100" b="0"/>
                        <a:t>-0.001</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+0.011</a:t>
                      </a:r>
                    </a:p>
                  </a:txBody>
                  <a:tcPr anchor="ctr"/>
                </a:tc>
                <a:tc>
                  <a:txBody>
                    <a:bodyPr/>
                    <a:lstStyle/>
                    <a:p>
                      <a:pPr algn="ctr"/>
                      <a:r>
                        <a:rPr sz="1100" b="0"/>
                        <a:t>+0.001</a:t>
                      </a:r>
                    </a:p>
                  </a:txBody>
                  <a:tcPr anchor="ctr"/>
                </a:tc>
                <a:tc>
                  <a:txBody>
                    <a:bodyPr/>
                    <a:lstStyle/>
                    <a:p>
                      <a:pPr algn="ctr"/>
                      <a:r>
                        <a:rPr sz="1100" b="0"/>
                        <a:t>-0.002</a:t>
                      </a:r>
                    </a:p>
                  </a:txBody>
                  <a:tcPr anchor="ctr"/>
                </a:tc>
                <a:tc>
                  <a:txBody>
                    <a:bodyPr/>
                    <a:lstStyle/>
                    <a:p>
                      <a:pPr algn="ctr"/>
                      <a:r>
                        <a:rPr sz="1100" b="0"/>
                        <a:t>-0.005</a:t>
                      </a:r>
                    </a:p>
                  </a:txBody>
                  <a:tcPr anchor="ctr"/>
                </a:tc>
                <a:tc>
                  <a:txBody>
                    <a:bodyPr/>
                    <a:lstStyle/>
                    <a:p>
                      <a:pPr algn="ctr"/>
                      <a:r>
                        <a:rPr sz="1100" b="0"/>
                        <a:t>+0.004</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-0.003</a:t>
                      </a:r>
                    </a:p>
                  </a:txBody>
                  <a:tcPr anchor="ctr"/>
                </a:tc>
                <a:tc>
                  <a:txBody>
                    <a:bodyPr/>
                    <a:lstStyle/>
                    <a:p>
                      <a:pPr algn="ctr"/>
                      <a:r>
                        <a:rPr sz="1100" b="0"/>
                        <a:t>+0.005</a:t>
                      </a:r>
                    </a:p>
                  </a:txBody>
                  <a:tcPr anchor="ctr"/>
                </a:tc>
                <a:tc>
                  <a:txBody>
                    <a:bodyPr/>
                    <a:lstStyle/>
                    <a:p>
                      <a:pPr algn="ctr"/>
                      <a:r>
                        <a:rPr sz="1100" b="0"/>
                        <a:t>+0.007</a:t>
                      </a:r>
                    </a:p>
                  </a:txBody>
                  <a:tcPr anchor="ctr"/>
                </a:tc>
                <a:tc>
                  <a:txBody>
                    <a:bodyPr/>
                    <a:lstStyle/>
                    <a:p>
                      <a:pPr algn="ctr"/>
                      <a:r>
                        <a:rPr sz="1100" b="0"/>
                        <a:t>-0.001</a:t>
                      </a:r>
                    </a:p>
                  </a:txBody>
                  <a:tcPr anchor="ctr"/>
                </a:tc>
                <a:tc>
                  <a:txBody>
                    <a:bodyPr/>
                    <a:lstStyle/>
                    <a:p>
                      <a:pPr algn="ctr"/>
                      <a:r>
                        <a:rPr sz="1100" b="0"/>
                        <a:t>-0.003</a:t>
                      </a:r>
                    </a:p>
                  </a:txBody>
                  <a:tcPr anchor="ctr"/>
                </a:tc>
              </a:tr>
              <a:tr h="330769">
                <a:tc rowSpan="3">
                  <a:txBody>
                    <a:bodyPr/>
                    <a:lstStyle/>
                    <a:p>
                      <a:pPr algn="ctr"/>
                      <a:r>
                        <a:rPr sz="1100" b="0"/>
                        <a:t>AEC</a:t>
                      </a:r>
                    </a:p>
                  </a:txBody>
                  <a:tcPr anchor="ctr"/>
                </a:tc>
                <a:tc>
                  <a:txBody>
                    <a:bodyPr/>
                    <a:lstStyle/>
                    <a:p>
                      <a:pPr algn="ctr"/>
                      <a:r>
                        <a:rPr sz="1100" b="0"/>
                        <a:t>HTN</a:t>
                      </a:r>
                    </a:p>
                  </a:txBody>
                  <a:tcPr anchor="ctr"/>
                </a:tc>
                <a:tc>
                  <a:txBody>
                    <a:bodyPr/>
                    <a:lstStyle/>
                    <a:p>
                      <a:pPr algn="ctr"/>
                      <a:r>
                        <a:rPr sz="1100" b="0"/>
                        <a:t>-0.013</a:t>
                      </a:r>
                    </a:p>
                  </a:txBody>
                  <a:tcPr anchor="ctr"/>
                </a:tc>
                <a:tc>
                  <a:txBody>
                    <a:bodyPr/>
                    <a:lstStyle/>
                    <a:p>
                      <a:pPr algn="ctr"/>
                      <a:r>
                        <a:rPr sz="1100" b="0"/>
                        <a:t>+0.003</a:t>
                      </a:r>
                    </a:p>
                  </a:txBody>
                  <a:tcPr anchor="ctr"/>
                </a:tc>
                <a:tc>
                  <a:txBody>
                    <a:bodyPr/>
                    <a:lstStyle/>
                    <a:p>
                      <a:pPr algn="ctr"/>
                      <a:r>
                        <a:rPr sz="1100" b="0"/>
                        <a:t>+0.007</a:t>
                      </a:r>
                    </a:p>
                  </a:txBody>
                  <a:tcPr anchor="ctr"/>
                </a:tc>
                <a:tc>
                  <a:txBody>
                    <a:bodyPr/>
                    <a:lstStyle/>
                    <a:p>
                      <a:pPr algn="ctr"/>
                      <a:r>
                        <a:rPr sz="1100" b="0"/>
                        <a:t>+0.006</a:t>
                      </a:r>
                    </a:p>
                  </a:txBody>
                  <a:tcPr anchor="ctr"/>
                </a:tc>
                <a:tc>
                  <a:txBody>
                    <a:bodyPr/>
                    <a:lstStyle/>
                    <a:p>
                      <a:pPr algn="ctr"/>
                      <a:r>
                        <a:rPr sz="1100" b="0"/>
                        <a:t>+0.008</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-0.007</a:t>
                      </a:r>
                    </a:p>
                  </a:txBody>
                  <a:tcPr anchor="ctr"/>
                </a:tc>
                <a:tc>
                  <a:txBody>
                    <a:bodyPr/>
                    <a:lstStyle/>
                    <a:p>
                      <a:pPr algn="ctr"/>
                      <a:r>
                        <a:rPr sz="1100" b="0"/>
                        <a:t>+0.008</a:t>
                      </a:r>
                    </a:p>
                  </a:txBody>
                  <a:tcPr anchor="ctr"/>
                </a:tc>
                <a:tc>
                  <a:txBody>
                    <a:bodyPr/>
                    <a:lstStyle/>
                    <a:p>
                      <a:pPr algn="ctr"/>
                      <a:r>
                        <a:rPr sz="1100" b="0"/>
                        <a:t>-0.009</a:t>
                      </a:r>
                    </a:p>
                  </a:txBody>
                  <a:tcPr anchor="ctr"/>
                </a:tc>
                <a:tc>
                  <a:txBody>
                    <a:bodyPr/>
                    <a:lstStyle/>
                    <a:p>
                      <a:pPr algn="ctr"/>
                      <a:r>
                        <a:rPr sz="1100" b="0"/>
                        <a:t>-0.007</a:t>
                      </a:r>
                    </a:p>
                  </a:txBody>
                  <a:tcPr anchor="ctr"/>
                </a:tc>
                <a:tc>
                  <a:txBody>
                    <a:bodyPr/>
                    <a:lstStyle/>
                    <a:p>
                      <a:pPr algn="ctr"/>
                      <a:r>
                        <a:rPr sz="1100" b="0"/>
                        <a:t>+0.007</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-0.006</a:t>
                      </a:r>
                    </a:p>
                  </a:txBody>
                  <a:tcPr anchor="ctr"/>
                </a:tc>
                <a:tc>
                  <a:txBody>
                    <a:bodyPr/>
                    <a:lstStyle/>
                    <a:p>
                      <a:pPr algn="ctr"/>
                      <a:r>
                        <a:rPr sz="1100" b="0"/>
                        <a:t>+0.017</a:t>
                      </a:r>
                    </a:p>
                  </a:txBody>
                  <a:tcPr anchor="ctr"/>
                </a:tc>
                <a:tc>
                  <a:txBody>
                    <a:bodyPr/>
                    <a:lstStyle/>
                    <a:p>
                      <a:pPr algn="ctr"/>
                      <a:r>
                        <a:rPr sz="1100" b="0"/>
                        <a:t>+0.004</a:t>
                      </a:r>
                    </a:p>
                  </a:txBody>
                  <a:tcPr anchor="ctr"/>
                </a:tc>
                <a:tc>
                  <a:txBody>
                    <a:bodyPr/>
                    <a:lstStyle/>
                    <a:p>
                      <a:pPr algn="ctr"/>
                      <a:r>
                        <a:rPr sz="1100" b="0"/>
                        <a:t>+0.013</a:t>
                      </a:r>
                    </a:p>
                  </a:txBody>
                  <a:tcPr anchor="ctr"/>
                </a:tc>
                <a:tc>
                  <a:txBody>
                    <a:bodyPr/>
                    <a:lstStyle/>
                    <a:p>
                      <a:pPr algn="ctr"/>
                      <a:r>
                        <a:rPr sz="1100" b="0"/>
                        <a:t>+0.021</a:t>
                      </a:r>
                    </a:p>
                  </a:txBody>
                  <a:tcPr anchor="ct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전처리별 위치 OR 곡선: AEC</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4</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landmark_patientwise_or_curves_AEC.png"/>
          <p:cNvPicPr>
            <a:picLocks noChangeAspect="1"/>
          </p:cNvPicPr>
          <p:nvPr/>
        </p:nvPicPr>
        <p:blipFill>
          <a:blip r:embed="rId2"/>
          <a:stretch>
            <a:fillRect/>
          </a:stretch>
        </p:blipFill>
        <p:spPr>
          <a:xfrm>
            <a:off x="3177818" y="1050000"/>
            <a:ext cx="5836363" cy="5350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AEC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5</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AEC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AEC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Figure 6</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AEC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스캐너 분포와 질환 유병률</a:t>
            </a:r>
          </a:p>
        </p:txBody>
      </p:sp>
      <p:sp>
        <p:nvSpPr>
          <p:cNvPr id="3" name="Content Placeholder 2"/>
          <p:cNvSpPr>
            <a:spLocks noGrp="1"/>
          </p:cNvSpPr>
          <p:nvPr>
            <p:ph idx="1"/>
          </p:nvPr>
        </p:nvSpPr>
        <p:spPr>
          <a:xfrm>
            <a:off x="508000" y="1050000"/>
            <a:ext cx="11176000" cy="800000"/>
          </a:xfrm>
        </p:spPr>
        <p:txBody>
          <a:bodyPr/>
          <a:lstStyle/>
          <a:p>
            <a:r>
              <a:rPr sz="1400" b="0">
                <a:solidFill>
                  <a:srgbClr val="333F4D"/>
                </a:solidFill>
              </a:rPr>
              <a:t>장비에 따라 질환 유병률이 달라 AEC 신호의 교란 가능성이 있다 (예: Gangnam Revolution CT는 여성 78%, HTN 20%)</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10</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6" cy="4299999"/>
        </p:xfrm>
        <a:graphic>
          <a:graphicData uri="http://schemas.openxmlformats.org/drawingml/2006/table">
            <a:tbl>
              <a:tblPr firstRow="1" bandRow="1">
                <a:tableStyleId>{C083E6E3-FA7D-4D7B-A595-EF9225AFEA82}</a:tableStyleId>
              </a:tblPr>
              <a:tblGrid>
                <a:gridCol w="1579217"/>
                <a:gridCol w="3644347"/>
                <a:gridCol w="1093304"/>
                <a:gridCol w="1214782"/>
                <a:gridCol w="1214782"/>
                <a:gridCol w="1214782"/>
                <a:gridCol w="1214782"/>
              </a:tblGrid>
              <a:tr h="390909">
                <a:tc>
                  <a:txBody>
                    <a:bodyPr/>
                    <a:lstStyle/>
                    <a:p>
                      <a:pPr algn="ctr"/>
                      <a:r>
                        <a:rPr sz="1400" b="1"/>
                        <a:t>Cohort</a:t>
                      </a:r>
                    </a:p>
                  </a:txBody>
                  <a:tcPr anchor="ctr"/>
                </a:tc>
                <a:tc>
                  <a:txBody>
                    <a:bodyPr/>
                    <a:lstStyle/>
                    <a:p>
                      <a:pPr algn="ctr"/>
                      <a:r>
                        <a:rPr sz="1400" b="1"/>
                        <a:t>Scanner</a:t>
                      </a:r>
                    </a:p>
                  </a:txBody>
                  <a:tcPr anchor="ctr"/>
                </a:tc>
                <a:tc>
                  <a:txBody>
                    <a:bodyPr/>
                    <a:lstStyle/>
                    <a:p>
                      <a:pPr algn="ctr"/>
                      <a:r>
                        <a:rPr sz="1400" b="1"/>
                        <a:t>N</a:t>
                      </a:r>
                    </a:p>
                  </a:txBody>
                  <a:tcPr anchor="ctr"/>
                </a:tc>
                <a:tc>
                  <a:txBody>
                    <a:bodyPr/>
                    <a:lstStyle/>
                    <a:p>
                      <a:pPr algn="ctr"/>
                      <a:r>
                        <a:rPr sz="1400" b="1"/>
                        <a:t>여성</a:t>
                      </a:r>
                    </a:p>
                  </a:txBody>
                  <a:tcPr anchor="ctr"/>
                </a:tc>
                <a:tc>
                  <a:txBody>
                    <a:bodyPr/>
                    <a:lstStyle/>
                    <a:p>
                      <a:pPr algn="ctr"/>
                      <a:r>
                        <a:rPr sz="1400" b="1"/>
                        <a:t>HTN</a:t>
                      </a:r>
                    </a:p>
                  </a:txBody>
                  <a:tcPr anchor="ctr"/>
                </a:tc>
                <a:tc>
                  <a:txBody>
                    <a:bodyPr/>
                    <a:lstStyle/>
                    <a:p>
                      <a:pPr algn="ctr"/>
                      <a:r>
                        <a:rPr sz="1400" b="1"/>
                        <a:t>DM</a:t>
                      </a:r>
                    </a:p>
                  </a:txBody>
                  <a:tcPr anchor="ctr"/>
                </a:tc>
                <a:tc>
                  <a:txBody>
                    <a:bodyPr/>
                    <a:lstStyle/>
                    <a:p>
                      <a:pPr algn="ctr"/>
                      <a:r>
                        <a:rPr sz="1400" b="1"/>
                        <a:t>CKD</a:t>
                      </a:r>
                    </a:p>
                  </a:txBody>
                  <a:tcPr anchor="ctr"/>
                </a:tc>
              </a:tr>
              <a:tr h="390909">
                <a:tc rowSpan="5">
                  <a:txBody>
                    <a:bodyPr/>
                    <a:lstStyle/>
                    <a:p>
                      <a:pPr algn="ctr"/>
                      <a:r>
                        <a:rPr sz="1100" b="0"/>
                        <a:t>Gangnam</a:t>
                      </a:r>
                    </a:p>
                  </a:txBody>
                  <a:tcPr anchor="ctr"/>
                </a:tc>
                <a:tc>
                  <a:txBody>
                    <a:bodyPr/>
                    <a:lstStyle/>
                    <a:p>
                      <a:pPr algn="ctr"/>
                      <a:r>
                        <a:rPr sz="1100" b="0"/>
                        <a:t>Ingenuity Core 128</a:t>
                      </a:r>
                    </a:p>
                  </a:txBody>
                  <a:tcPr anchor="ctr"/>
                </a:tc>
                <a:tc>
                  <a:txBody>
                    <a:bodyPr/>
                    <a:lstStyle/>
                    <a:p>
                      <a:pPr algn="ctr"/>
                      <a:r>
                        <a:rPr sz="1100" b="0"/>
                        <a:t>242</a:t>
                      </a:r>
                    </a:p>
                  </a:txBody>
                  <a:tcPr anchor="ctr"/>
                </a:tc>
                <a:tc>
                  <a:txBody>
                    <a:bodyPr/>
                    <a:lstStyle/>
                    <a:p>
                      <a:pPr algn="ctr"/>
                      <a:r>
                        <a:rPr sz="1100" b="0"/>
                        <a:t>45%</a:t>
                      </a:r>
                    </a:p>
                  </a:txBody>
                  <a:tcPr anchor="ctr"/>
                </a:tc>
                <a:tc>
                  <a:txBody>
                    <a:bodyPr/>
                    <a:lstStyle/>
                    <a:p>
                      <a:pPr algn="ctr"/>
                      <a:r>
                        <a:rPr sz="1100" b="0"/>
                        <a:t>35%</a:t>
                      </a:r>
                    </a:p>
                  </a:txBody>
                  <a:tcPr anchor="ctr"/>
                </a:tc>
                <a:tc>
                  <a:txBody>
                    <a:bodyPr/>
                    <a:lstStyle/>
                    <a:p>
                      <a:pPr algn="ctr"/>
                      <a:r>
                        <a:rPr sz="1100" b="0"/>
                        <a:t>21%</a:t>
                      </a:r>
                    </a:p>
                  </a:txBody>
                  <a:tcPr anchor="ctr"/>
                </a:tc>
                <a:tc>
                  <a:txBody>
                    <a:bodyPr/>
                    <a:lstStyle/>
                    <a:p>
                      <a:pPr algn="ctr"/>
                      <a:r>
                        <a:rPr sz="1100" b="0"/>
                        <a:t>7%</a:t>
                      </a:r>
                    </a:p>
                  </a:txBody>
                  <a:tcPr anchor="ctr"/>
                </a:tc>
              </a:tr>
              <a:tr h="390909">
                <a:tc vMerge="1">
                  <a:txBody>
                    <a:bodyPr/>
                    <a:lstStyle/>
                    <a:p/>
                  </a:txBody>
                  <a:tcPr/>
                </a:tc>
                <a:tc>
                  <a:txBody>
                    <a:bodyPr/>
                    <a:lstStyle/>
                    <a:p>
                      <a:pPr algn="ctr"/>
                      <a:r>
                        <a:rPr sz="1100" b="0"/>
                        <a:t>Revolution CT</a:t>
                      </a:r>
                    </a:p>
                  </a:txBody>
                  <a:tcPr anchor="ctr"/>
                </a:tc>
                <a:tc>
                  <a:txBody>
                    <a:bodyPr/>
                    <a:lstStyle/>
                    <a:p>
                      <a:pPr algn="ctr"/>
                      <a:r>
                        <a:rPr sz="1100" b="0"/>
                        <a:t>363</a:t>
                      </a:r>
                    </a:p>
                  </a:txBody>
                  <a:tcPr anchor="ctr"/>
                </a:tc>
                <a:tc>
                  <a:txBody>
                    <a:bodyPr/>
                    <a:lstStyle/>
                    <a:p>
                      <a:pPr algn="ctr"/>
                      <a:r>
                        <a:rPr sz="1100" b="0"/>
                        <a:t>78%</a:t>
                      </a:r>
                    </a:p>
                  </a:txBody>
                  <a:tcPr anchor="ctr"/>
                </a:tc>
                <a:tc>
                  <a:txBody>
                    <a:bodyPr/>
                    <a:lstStyle/>
                    <a:p>
                      <a:pPr algn="ctr"/>
                      <a:r>
                        <a:rPr sz="1100" b="0"/>
                        <a:t>20%</a:t>
                      </a:r>
                    </a:p>
                  </a:txBody>
                  <a:tcPr anchor="ctr"/>
                </a:tc>
                <a:tc>
                  <a:txBody>
                    <a:bodyPr/>
                    <a:lstStyle/>
                    <a:p>
                      <a:pPr algn="ctr"/>
                      <a:r>
                        <a:rPr sz="1100" b="0"/>
                        <a:t>16%</a:t>
                      </a:r>
                    </a:p>
                  </a:txBody>
                  <a:tcPr anchor="ctr"/>
                </a:tc>
                <a:tc>
                  <a:txBody>
                    <a:bodyPr/>
                    <a:lstStyle/>
                    <a:p>
                      <a:pPr algn="ctr"/>
                      <a:r>
                        <a:rPr sz="1100" b="0"/>
                        <a:t>4%</a:t>
                      </a:r>
                    </a:p>
                  </a:txBody>
                  <a:tcPr anchor="ctr"/>
                </a:tc>
              </a:tr>
              <a:tr h="390909">
                <a:tc vMerge="1">
                  <a:txBody>
                    <a:bodyPr/>
                    <a:lstStyle/>
                    <a:p/>
                  </a:txBody>
                  <a:tcPr/>
                </a:tc>
                <a:tc>
                  <a:txBody>
                    <a:bodyPr/>
                    <a:lstStyle/>
                    <a:p>
                      <a:pPr algn="ctr"/>
                      <a:r>
                        <a:rPr sz="1100" b="0"/>
                        <a:t>SOMATOM Definition AS+</a:t>
                      </a:r>
                    </a:p>
                  </a:txBody>
                  <a:tcPr anchor="ctr"/>
                </a:tc>
                <a:tc>
                  <a:txBody>
                    <a:bodyPr/>
                    <a:lstStyle/>
                    <a:p>
                      <a:pPr algn="ctr"/>
                      <a:r>
                        <a:rPr sz="1100" b="0"/>
                        <a:t>258</a:t>
                      </a:r>
                    </a:p>
                  </a:txBody>
                  <a:tcPr anchor="ctr"/>
                </a:tc>
                <a:tc>
                  <a:txBody>
                    <a:bodyPr/>
                    <a:lstStyle/>
                    <a:p>
                      <a:pPr algn="ctr"/>
                      <a:r>
                        <a:rPr sz="1100" b="0"/>
                        <a:t>54%</a:t>
                      </a:r>
                    </a:p>
                  </a:txBody>
                  <a:tcPr anchor="ctr"/>
                </a:tc>
                <a:tc>
                  <a:txBody>
                    <a:bodyPr/>
                    <a:lstStyle/>
                    <a:p>
                      <a:pPr algn="ctr"/>
                      <a:r>
                        <a:rPr sz="1100" b="0"/>
                        <a:t>45%</a:t>
                      </a:r>
                    </a:p>
                  </a:txBody>
                  <a:tcPr anchor="ctr"/>
                </a:tc>
                <a:tc>
                  <a:txBody>
                    <a:bodyPr/>
                    <a:lstStyle/>
                    <a:p>
                      <a:pPr algn="ctr"/>
                      <a:r>
                        <a:rPr sz="1100" b="0"/>
                        <a:t>28%</a:t>
                      </a:r>
                    </a:p>
                  </a:txBody>
                  <a:tcPr anchor="ctr"/>
                </a:tc>
                <a:tc>
                  <a:txBody>
                    <a:bodyPr/>
                    <a:lstStyle/>
                    <a:p>
                      <a:pPr algn="ctr"/>
                      <a:r>
                        <a:rPr sz="1100" b="0"/>
                        <a:t>19%</a:t>
                      </a:r>
                    </a:p>
                  </a:txBody>
                  <a:tcPr anchor="ctr"/>
                </a:tc>
              </a:tr>
              <a:tr h="390909">
                <a:tc vMerge="1">
                  <a:txBody>
                    <a:bodyPr/>
                    <a:lstStyle/>
                    <a:p/>
                  </a:txBody>
                  <a:tcPr/>
                </a:tc>
                <a:tc>
                  <a:txBody>
                    <a:bodyPr/>
                    <a:lstStyle/>
                    <a:p>
                      <a:pPr algn="ctr"/>
                      <a:r>
                        <a:rPr sz="1100" b="0"/>
                        <a:t>Sensation 64</a:t>
                      </a:r>
                    </a:p>
                  </a:txBody>
                  <a:tcPr anchor="ctr"/>
                </a:tc>
                <a:tc>
                  <a:txBody>
                    <a:bodyPr/>
                    <a:lstStyle/>
                    <a:p>
                      <a:pPr algn="ctr"/>
                      <a:r>
                        <a:rPr sz="1100" b="0"/>
                        <a:t>492</a:t>
                      </a:r>
                    </a:p>
                  </a:txBody>
                  <a:tcPr anchor="ctr"/>
                </a:tc>
                <a:tc>
                  <a:txBody>
                    <a:bodyPr/>
                    <a:lstStyle/>
                    <a:p>
                      <a:pPr algn="ctr"/>
                      <a:r>
                        <a:rPr sz="1100" b="0"/>
                        <a:t>64%</a:t>
                      </a:r>
                    </a:p>
                  </a:txBody>
                  <a:tcPr anchor="ctr"/>
                </a:tc>
                <a:tc>
                  <a:txBody>
                    <a:bodyPr/>
                    <a:lstStyle/>
                    <a:p>
                      <a:pPr algn="ctr"/>
                      <a:r>
                        <a:rPr sz="1100" b="0"/>
                        <a:t>35%</a:t>
                      </a:r>
                    </a:p>
                  </a:txBody>
                  <a:tcPr anchor="ctr"/>
                </a:tc>
                <a:tc>
                  <a:txBody>
                    <a:bodyPr/>
                    <a:lstStyle/>
                    <a:p>
                      <a:pPr algn="ctr"/>
                      <a:r>
                        <a:rPr sz="1100" b="0"/>
                        <a:t>21%</a:t>
                      </a:r>
                    </a:p>
                  </a:txBody>
                  <a:tcPr anchor="ctr"/>
                </a:tc>
                <a:tc>
                  <a:txBody>
                    <a:bodyPr/>
                    <a:lstStyle/>
                    <a:p>
                      <a:pPr algn="ctr"/>
                      <a:r>
                        <a:rPr sz="1100" b="0"/>
                        <a:t>9%</a:t>
                      </a:r>
                    </a:p>
                  </a:txBody>
                  <a:tcPr anchor="ctr"/>
                </a:tc>
              </a:tr>
              <a:tr h="390909">
                <a:tc vMerge="1">
                  <a:txBody>
                    <a:bodyPr/>
                    <a:lstStyle/>
                    <a:p/>
                  </a:txBody>
                  <a:tcPr/>
                </a:tc>
                <a:tc>
                  <a:txBody>
                    <a:bodyPr/>
                    <a:lstStyle/>
                    <a:p>
                      <a:pPr algn="ctr"/>
                      <a:r>
                        <a:rPr sz="1100" b="0"/>
                        <a:t>other</a:t>
                      </a:r>
                    </a:p>
                  </a:txBody>
                  <a:tcPr anchor="ctr"/>
                </a:tc>
                <a:tc>
                  <a:txBody>
                    <a:bodyPr/>
                    <a:lstStyle/>
                    <a:p>
                      <a:pPr algn="ctr"/>
                      <a:r>
                        <a:rPr sz="1100" b="0"/>
                        <a:t>81</a:t>
                      </a:r>
                    </a:p>
                  </a:txBody>
                  <a:tcPr anchor="ctr"/>
                </a:tc>
                <a:tc>
                  <a:txBody>
                    <a:bodyPr/>
                    <a:lstStyle/>
                    <a:p>
                      <a:pPr algn="ctr"/>
                      <a:r>
                        <a:rPr sz="1100" b="0"/>
                        <a:t>47%</a:t>
                      </a:r>
                    </a:p>
                  </a:txBody>
                  <a:tcPr anchor="ctr"/>
                </a:tc>
                <a:tc>
                  <a:txBody>
                    <a:bodyPr/>
                    <a:lstStyle/>
                    <a:p>
                      <a:pPr algn="ctr"/>
                      <a:r>
                        <a:rPr sz="1100" b="0"/>
                        <a:t>32%</a:t>
                      </a:r>
                    </a:p>
                  </a:txBody>
                  <a:tcPr anchor="ctr"/>
                </a:tc>
                <a:tc>
                  <a:txBody>
                    <a:bodyPr/>
                    <a:lstStyle/>
                    <a:p>
                      <a:pPr algn="ctr"/>
                      <a:r>
                        <a:rPr sz="1100" b="0"/>
                        <a:t>10%</a:t>
                      </a:r>
                    </a:p>
                  </a:txBody>
                  <a:tcPr anchor="ctr"/>
                </a:tc>
                <a:tc>
                  <a:txBody>
                    <a:bodyPr/>
                    <a:lstStyle/>
                    <a:p>
                      <a:pPr algn="ctr"/>
                      <a:r>
                        <a:rPr sz="1100" b="0"/>
                        <a:t>14%</a:t>
                      </a:r>
                    </a:p>
                  </a:txBody>
                  <a:tcPr anchor="ctr"/>
                </a:tc>
              </a:tr>
              <a:tr h="390909">
                <a:tc rowSpan="5">
                  <a:txBody>
                    <a:bodyPr/>
                    <a:lstStyle/>
                    <a:p>
                      <a:pPr algn="ctr"/>
                      <a:r>
                        <a:rPr sz="1100" b="0"/>
                        <a:t>Sinchon</a:t>
                      </a:r>
                    </a:p>
                  </a:txBody>
                  <a:tcPr anchor="ctr"/>
                </a:tc>
                <a:tc>
                  <a:txBody>
                    <a:bodyPr/>
                    <a:lstStyle/>
                    <a:p>
                      <a:pPr algn="ctr"/>
                      <a:r>
                        <a:rPr sz="1100" b="0"/>
                        <a:t>SOMATOM Definition AS+</a:t>
                      </a:r>
                    </a:p>
                  </a:txBody>
                  <a:tcPr anchor="ctr"/>
                </a:tc>
                <a:tc>
                  <a:txBody>
                    <a:bodyPr/>
                    <a:lstStyle/>
                    <a:p>
                      <a:pPr algn="ctr"/>
                      <a:r>
                        <a:rPr sz="1100" b="0"/>
                        <a:t>193</a:t>
                      </a:r>
                    </a:p>
                  </a:txBody>
                  <a:tcPr anchor="ctr"/>
                </a:tc>
                <a:tc>
                  <a:txBody>
                    <a:bodyPr/>
                    <a:lstStyle/>
                    <a:p>
                      <a:pPr algn="ctr"/>
                      <a:r>
                        <a:rPr sz="1100" b="0"/>
                        <a:t>45%</a:t>
                      </a:r>
                    </a:p>
                  </a:txBody>
                  <a:tcPr anchor="ctr"/>
                </a:tc>
                <a:tc>
                  <a:txBody>
                    <a:bodyPr/>
                    <a:lstStyle/>
                    <a:p>
                      <a:pPr algn="ctr"/>
                      <a:r>
                        <a:rPr sz="1100" b="0"/>
                        <a:t>40%</a:t>
                      </a:r>
                    </a:p>
                  </a:txBody>
                  <a:tcPr anchor="ctr"/>
                </a:tc>
                <a:tc>
                  <a:txBody>
                    <a:bodyPr/>
                    <a:lstStyle/>
                    <a:p>
                      <a:pPr algn="ctr"/>
                      <a:r>
                        <a:rPr sz="1100" b="0"/>
                        <a:t>23%</a:t>
                      </a:r>
                    </a:p>
                  </a:txBody>
                  <a:tcPr anchor="ctr"/>
                </a:tc>
                <a:tc>
                  <a:txBody>
                    <a:bodyPr/>
                    <a:lstStyle/>
                    <a:p>
                      <a:pPr algn="ctr"/>
                      <a:r>
                        <a:rPr sz="1100" b="0"/>
                        <a:t>9%</a:t>
                      </a:r>
                    </a:p>
                  </a:txBody>
                  <a:tcPr anchor="ctr"/>
                </a:tc>
              </a:tr>
              <a:tr h="390909">
                <a:tc vMerge="1">
                  <a:txBody>
                    <a:bodyPr/>
                    <a:lstStyle/>
                    <a:p/>
                  </a:txBody>
                  <a:tcPr/>
                </a:tc>
                <a:tc>
                  <a:txBody>
                    <a:bodyPr/>
                    <a:lstStyle/>
                    <a:p>
                      <a:pPr algn="ctr"/>
                      <a:r>
                        <a:rPr sz="1100" b="0"/>
                        <a:t>SOMATOM Definition Flash</a:t>
                      </a:r>
                    </a:p>
                  </a:txBody>
                  <a:tcPr anchor="ctr"/>
                </a:tc>
                <a:tc>
                  <a:txBody>
                    <a:bodyPr/>
                    <a:lstStyle/>
                    <a:p>
                      <a:pPr algn="ctr"/>
                      <a:r>
                        <a:rPr sz="1100" b="0"/>
                        <a:t>259</a:t>
                      </a:r>
                    </a:p>
                  </a:txBody>
                  <a:tcPr anchor="ctr"/>
                </a:tc>
                <a:tc>
                  <a:txBody>
                    <a:bodyPr/>
                    <a:lstStyle/>
                    <a:p>
                      <a:pPr algn="ctr"/>
                      <a:r>
                        <a:rPr sz="1100" b="0"/>
                        <a:t>46%</a:t>
                      </a:r>
                    </a:p>
                  </a:txBody>
                  <a:tcPr anchor="ctr"/>
                </a:tc>
                <a:tc>
                  <a:txBody>
                    <a:bodyPr/>
                    <a:lstStyle/>
                    <a:p>
                      <a:pPr algn="ctr"/>
                      <a:r>
                        <a:rPr sz="1100" b="0"/>
                        <a:t>42%</a:t>
                      </a:r>
                    </a:p>
                  </a:txBody>
                  <a:tcPr anchor="ctr"/>
                </a:tc>
                <a:tc>
                  <a:txBody>
                    <a:bodyPr/>
                    <a:lstStyle/>
                    <a:p>
                      <a:pPr algn="ctr"/>
                      <a:r>
                        <a:rPr sz="1100" b="0"/>
                        <a:t>34%</a:t>
                      </a:r>
                    </a:p>
                  </a:txBody>
                  <a:tcPr anchor="ctr"/>
                </a:tc>
                <a:tc>
                  <a:txBody>
                    <a:bodyPr/>
                    <a:lstStyle/>
                    <a:p>
                      <a:pPr algn="ctr"/>
                      <a:r>
                        <a:rPr sz="1100" b="0"/>
                        <a:t>17%</a:t>
                      </a:r>
                    </a:p>
                  </a:txBody>
                  <a:tcPr anchor="ctr"/>
                </a:tc>
              </a:tr>
              <a:tr h="390909">
                <a:tc vMerge="1">
                  <a:txBody>
                    <a:bodyPr/>
                    <a:lstStyle/>
                    <a:p/>
                  </a:txBody>
                  <a:tcPr/>
                </a:tc>
                <a:tc>
                  <a:txBody>
                    <a:bodyPr/>
                    <a:lstStyle/>
                    <a:p>
                      <a:pPr algn="ctr"/>
                      <a:r>
                        <a:rPr sz="1100" b="0"/>
                        <a:t>SOMATOM Force</a:t>
                      </a:r>
                    </a:p>
                  </a:txBody>
                  <a:tcPr anchor="ctr"/>
                </a:tc>
                <a:tc>
                  <a:txBody>
                    <a:bodyPr/>
                    <a:lstStyle/>
                    <a:p>
                      <a:pPr algn="ctr"/>
                      <a:r>
                        <a:rPr sz="1100" b="0"/>
                        <a:t>170</a:t>
                      </a:r>
                    </a:p>
                  </a:txBody>
                  <a:tcPr anchor="ctr"/>
                </a:tc>
                <a:tc>
                  <a:txBody>
                    <a:bodyPr/>
                    <a:lstStyle/>
                    <a:p>
                      <a:pPr algn="ctr"/>
                      <a:r>
                        <a:rPr sz="1100" b="0"/>
                        <a:t>47%</a:t>
                      </a:r>
                    </a:p>
                  </a:txBody>
                  <a:tcPr anchor="ctr"/>
                </a:tc>
                <a:tc>
                  <a:txBody>
                    <a:bodyPr/>
                    <a:lstStyle/>
                    <a:p>
                      <a:pPr algn="ctr"/>
                      <a:r>
                        <a:rPr sz="1100" b="0"/>
                        <a:t>48%</a:t>
                      </a:r>
                    </a:p>
                  </a:txBody>
                  <a:tcPr anchor="ctr"/>
                </a:tc>
                <a:tc>
                  <a:txBody>
                    <a:bodyPr/>
                    <a:lstStyle/>
                    <a:p>
                      <a:pPr algn="ctr"/>
                      <a:r>
                        <a:rPr sz="1100" b="0"/>
                        <a:t>32%</a:t>
                      </a:r>
                    </a:p>
                  </a:txBody>
                  <a:tcPr anchor="ctr"/>
                </a:tc>
                <a:tc>
                  <a:txBody>
                    <a:bodyPr/>
                    <a:lstStyle/>
                    <a:p>
                      <a:pPr algn="ctr"/>
                      <a:r>
                        <a:rPr sz="1100" b="0"/>
                        <a:t>19%</a:t>
                      </a:r>
                    </a:p>
                  </a:txBody>
                  <a:tcPr anchor="ctr"/>
                </a:tc>
              </a:tr>
              <a:tr h="390909">
                <a:tc vMerge="1">
                  <a:txBody>
                    <a:bodyPr/>
                    <a:lstStyle/>
                    <a:p/>
                  </a:txBody>
                  <a:tcPr/>
                </a:tc>
                <a:tc>
                  <a:txBody>
                    <a:bodyPr/>
                    <a:lstStyle/>
                    <a:p>
                      <a:pPr algn="ctr"/>
                      <a:r>
                        <a:rPr sz="1100" b="0"/>
                        <a:t>iCT 256</a:t>
                      </a:r>
                    </a:p>
                  </a:txBody>
                  <a:tcPr anchor="ctr"/>
                </a:tc>
                <a:tc>
                  <a:txBody>
                    <a:bodyPr/>
                    <a:lstStyle/>
                    <a:p>
                      <a:pPr algn="ctr"/>
                      <a:r>
                        <a:rPr sz="1100" b="0"/>
                        <a:t>295</a:t>
                      </a:r>
                    </a:p>
                  </a:txBody>
                  <a:tcPr anchor="ctr"/>
                </a:tc>
                <a:tc>
                  <a:txBody>
                    <a:bodyPr/>
                    <a:lstStyle/>
                    <a:p>
                      <a:pPr algn="ctr"/>
                      <a:r>
                        <a:rPr sz="1100" b="0"/>
                        <a:t>56%</a:t>
                      </a:r>
                    </a:p>
                  </a:txBody>
                  <a:tcPr anchor="ctr"/>
                </a:tc>
                <a:tc>
                  <a:txBody>
                    <a:bodyPr/>
                    <a:lstStyle/>
                    <a:p>
                      <a:pPr algn="ctr"/>
                      <a:r>
                        <a:rPr sz="1100" b="0"/>
                        <a:t>40%</a:t>
                      </a:r>
                    </a:p>
                  </a:txBody>
                  <a:tcPr anchor="ctr"/>
                </a:tc>
                <a:tc>
                  <a:txBody>
                    <a:bodyPr/>
                    <a:lstStyle/>
                    <a:p>
                      <a:pPr algn="ctr"/>
                      <a:r>
                        <a:rPr sz="1100" b="0"/>
                        <a:t>30%</a:t>
                      </a:r>
                    </a:p>
                  </a:txBody>
                  <a:tcPr anchor="ctr"/>
                </a:tc>
                <a:tc>
                  <a:txBody>
                    <a:bodyPr/>
                    <a:lstStyle/>
                    <a:p>
                      <a:pPr algn="ctr"/>
                      <a:r>
                        <a:rPr sz="1100" b="0"/>
                        <a:t>13%</a:t>
                      </a:r>
                    </a:p>
                  </a:txBody>
                  <a:tcPr anchor="ctr"/>
                </a:tc>
              </a:tr>
              <a:tr h="390909">
                <a:tc vMerge="1">
                  <a:txBody>
                    <a:bodyPr/>
                    <a:lstStyle/>
                    <a:p/>
                  </a:txBody>
                  <a:tcPr/>
                </a:tc>
                <a:tc>
                  <a:txBody>
                    <a:bodyPr/>
                    <a:lstStyle/>
                    <a:p>
                      <a:pPr algn="ctr"/>
                      <a:r>
                        <a:rPr sz="1100" b="0"/>
                        <a:t>other</a:t>
                      </a:r>
                    </a:p>
                  </a:txBody>
                  <a:tcPr anchor="ctr"/>
                </a:tc>
                <a:tc>
                  <a:txBody>
                    <a:bodyPr/>
                    <a:lstStyle/>
                    <a:p>
                      <a:pPr algn="ctr"/>
                      <a:r>
                        <a:rPr sz="1100" b="0"/>
                        <a:t>212</a:t>
                      </a:r>
                    </a:p>
                  </a:txBody>
                  <a:tcPr anchor="ctr"/>
                </a:tc>
                <a:tc>
                  <a:txBody>
                    <a:bodyPr/>
                    <a:lstStyle/>
                    <a:p>
                      <a:pPr algn="ctr"/>
                      <a:r>
                        <a:rPr sz="1100" b="0"/>
                        <a:t>47%</a:t>
                      </a:r>
                    </a:p>
                  </a:txBody>
                  <a:tcPr anchor="ctr"/>
                </a:tc>
                <a:tc>
                  <a:txBody>
                    <a:bodyPr/>
                    <a:lstStyle/>
                    <a:p>
                      <a:pPr algn="ctr"/>
                      <a:r>
                        <a:rPr sz="1100" b="0"/>
                        <a:t>50%</a:t>
                      </a:r>
                    </a:p>
                  </a:txBody>
                  <a:tcPr anchor="ctr"/>
                </a:tc>
                <a:tc>
                  <a:txBody>
                    <a:bodyPr/>
                    <a:lstStyle/>
                    <a:p>
                      <a:pPr algn="ctr"/>
                      <a:r>
                        <a:rPr sz="1100" b="0"/>
                        <a:t>30%</a:t>
                      </a:r>
                    </a:p>
                  </a:txBody>
                  <a:tcPr anchor="ctr"/>
                </a:tc>
                <a:tc>
                  <a:txBody>
                    <a:bodyPr/>
                    <a:lstStyle/>
                    <a:p>
                      <a:pPr algn="ctr"/>
                      <a:r>
                        <a:rPr sz="1100" b="0"/>
                        <a:t>18%</a:t>
                      </a:r>
                    </a:p>
                  </a:txBody>
                  <a:tcPr anchor="ct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스캐너 보정 후에도 patient-wise 신호가 남는가</a:t>
            </a:r>
          </a:p>
        </p:txBody>
      </p:sp>
      <p:sp>
        <p:nvSpPr>
          <p:cNvPr id="3" name="Content Placeholder 2"/>
          <p:cNvSpPr>
            <a:spLocks noGrp="1"/>
          </p:cNvSpPr>
          <p:nvPr>
            <p:ph idx="1"/>
          </p:nvPr>
        </p:nvSpPr>
        <p:spPr>
          <a:xfrm>
            <a:off x="508000" y="1050000"/>
            <a:ext cx="11176000" cy="800000"/>
          </a:xfrm>
        </p:spPr>
        <p:txBody>
          <a:bodyPr/>
          <a:lstStyle/>
          <a:p>
            <a:r>
              <a:rPr sz="1400" b="0">
                <a:solidFill>
                  <a:srgbClr val="333F4D"/>
                </a:solidFill>
              </a:rPr>
              <a:t>일관된 위치 수: 보정 전 → 장비 더미 보정 후 / 최다 장비 1종만 (Gangnam Sensation 64, Sinchon iCT 256)</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11</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7" cy="4299997"/>
        </p:xfrm>
        <a:graphic>
          <a:graphicData uri="http://schemas.openxmlformats.org/drawingml/2006/table">
            <a:tbl>
              <a:tblPr firstRow="1" bandRow="1">
                <a:tableStyleId>{C083E6E3-FA7D-4D7B-A595-EF9225AFEA82}</a:tableStyleId>
              </a:tblPr>
              <a:tblGrid>
                <a:gridCol w="1689395"/>
                <a:gridCol w="1689395"/>
                <a:gridCol w="2599069"/>
                <a:gridCol w="2599069"/>
                <a:gridCol w="2599069"/>
              </a:tblGrid>
              <a:tr h="330769">
                <a:tc>
                  <a:txBody>
                    <a:bodyPr/>
                    <a:lstStyle/>
                    <a:p>
                      <a:pPr algn="ctr"/>
                      <a:r>
                        <a:rPr sz="1400" b="1"/>
                        <a:t>Measure</a:t>
                      </a:r>
                    </a:p>
                  </a:txBody>
                  <a:tcPr anchor="ctr"/>
                </a:tc>
                <a:tc>
                  <a:txBody>
                    <a:bodyPr/>
                    <a:lstStyle/>
                    <a:p>
                      <a:pPr algn="ctr"/>
                      <a:r>
                        <a:rPr sz="1400" b="1"/>
                        <a:t>Disease</a:t>
                      </a:r>
                    </a:p>
                  </a:txBody>
                  <a:tcPr anchor="ctr"/>
                </a:tc>
                <a:tc>
                  <a:txBody>
                    <a:bodyPr/>
                    <a:lstStyle/>
                    <a:p>
                      <a:pPr algn="ctr"/>
                      <a:r>
                        <a:rPr sz="1400" b="1"/>
                        <a:t>pw_mean</a:t>
                      </a:r>
                    </a:p>
                  </a:txBody>
                  <a:tcPr anchor="ctr"/>
                </a:tc>
                <a:tc>
                  <a:txBody>
                    <a:bodyPr/>
                    <a:lstStyle/>
                    <a:p>
                      <a:pPr algn="ctr"/>
                      <a:r>
                        <a:rPr sz="1400" b="1"/>
                        <a:t>pw_z</a:t>
                      </a:r>
                    </a:p>
                  </a:txBody>
                  <a:tcPr anchor="ctr"/>
                </a:tc>
                <a:tc>
                  <a:txBody>
                    <a:bodyPr/>
                    <a:lstStyle/>
                    <a:p>
                      <a:pPr algn="ctr"/>
                      <a:r>
                        <a:rPr sz="1400" b="1"/>
                        <a:t>pw_L3</a:t>
                      </a:r>
                    </a:p>
                  </a:txBody>
                  <a:tcPr anchor="ctr"/>
                </a:tc>
              </a:tr>
              <a:tr h="330769">
                <a:tc rowSpan="3">
                  <a:txBody>
                    <a:bodyPr/>
                    <a:lstStyle/>
                    <a:p>
                      <a:pPr algn="ctr"/>
                      <a:r>
                        <a:rPr sz="1100" b="0"/>
                        <a:t>VAT</a:t>
                      </a:r>
                    </a:p>
                  </a:txBody>
                  <a:tcPr anchor="ctr"/>
                </a:tc>
                <a:tc>
                  <a:txBody>
                    <a:bodyPr/>
                    <a:lstStyle/>
                    <a:p>
                      <a:pPr algn="ctr"/>
                      <a:r>
                        <a:rPr sz="1100" b="0"/>
                        <a:t>HTN</a:t>
                      </a:r>
                    </a:p>
                  </a:txBody>
                  <a:tcPr anchor="ctr"/>
                </a:tc>
                <a:tc>
                  <a:txBody>
                    <a:bodyPr/>
                    <a:lstStyle/>
                    <a:p>
                      <a:pPr algn="ctr"/>
                      <a:r>
                        <a:rPr sz="1100" b="0"/>
                        <a:t>13 → 10 / 0</a:t>
                      </a:r>
                    </a:p>
                  </a:txBody>
                  <a:tcPr anchor="ctr"/>
                </a:tc>
                <a:tc>
                  <a:txBody>
                    <a:bodyPr/>
                    <a:lstStyle/>
                    <a:p>
                      <a:pPr algn="ctr"/>
                      <a:r>
                        <a:rPr sz="1100" b="0"/>
                        <a:t>13 → 8 / 0</a:t>
                      </a:r>
                    </a:p>
                  </a:txBody>
                  <a:tcPr anchor="ctr"/>
                </a:tc>
                <a:tc>
                  <a:txBody>
                    <a:bodyPr/>
                    <a:lstStyle/>
                    <a:p>
                      <a:pPr algn="ctr"/>
                      <a:r>
                        <a:rPr sz="1100" b="0"/>
                        <a:t>0 → 0 / 0</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 → 7 / 0</a:t>
                      </a:r>
                    </a:p>
                  </a:txBody>
                  <a:tcPr anchor="ctr"/>
                </a:tc>
                <a:tc>
                  <a:txBody>
                    <a:bodyPr/>
                    <a:lstStyle/>
                    <a:p>
                      <a:pPr algn="ctr"/>
                      <a:r>
                        <a:rPr sz="1100" b="0"/>
                        <a:t>0 → 2 / 0</a:t>
                      </a:r>
                    </a:p>
                  </a:txBody>
                  <a:tcPr anchor="ctr"/>
                </a:tc>
                <a:tc>
                  <a:txBody>
                    <a:bodyPr/>
                    <a:lstStyle/>
                    <a:p>
                      <a:pPr algn="ctr"/>
                      <a:r>
                        <a:rPr sz="1100" b="0"/>
                        <a:t>0 → 0 / 0</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 → 0 / 0</a:t>
                      </a:r>
                    </a:p>
                  </a:txBody>
                  <a:tcPr anchor="ctr"/>
                </a:tc>
                <a:tc>
                  <a:txBody>
                    <a:bodyPr/>
                    <a:lstStyle/>
                    <a:p>
                      <a:pPr algn="ctr"/>
                      <a:r>
                        <a:rPr sz="1100" b="0"/>
                        <a:t>0 → 0 / 0</a:t>
                      </a:r>
                    </a:p>
                  </a:txBody>
                  <a:tcPr anchor="ctr"/>
                </a:tc>
                <a:tc>
                  <a:txBody>
                    <a:bodyPr/>
                    <a:lstStyle/>
                    <a:p>
                      <a:pPr algn="ctr"/>
                      <a:r>
                        <a:rPr sz="1100" b="0"/>
                        <a:t>0 → 0 / 0</a:t>
                      </a:r>
                    </a:p>
                  </a:txBody>
                  <a:tcPr anchor="ctr"/>
                </a:tc>
              </a:tr>
              <a:tr h="330769">
                <a:tc rowSpan="3">
                  <a:txBody>
                    <a:bodyPr/>
                    <a:lstStyle/>
                    <a:p>
                      <a:pPr algn="ctr"/>
                      <a:r>
                        <a:rPr sz="1100" b="0"/>
                        <a:t>SAT</a:t>
                      </a:r>
                    </a:p>
                  </a:txBody>
                  <a:tcPr anchor="ctr"/>
                </a:tc>
                <a:tc>
                  <a:txBody>
                    <a:bodyPr/>
                    <a:lstStyle/>
                    <a:p>
                      <a:pPr algn="ctr"/>
                      <a:r>
                        <a:rPr sz="1100" b="0"/>
                        <a:t>HTN</a:t>
                      </a:r>
                    </a:p>
                  </a:txBody>
                  <a:tcPr anchor="ctr"/>
                </a:tc>
                <a:tc>
                  <a:txBody>
                    <a:bodyPr/>
                    <a:lstStyle/>
                    <a:p>
                      <a:pPr algn="ctr"/>
                      <a:r>
                        <a:rPr sz="1100" b="0"/>
                        <a:t>0 → 0 / 0</a:t>
                      </a:r>
                    </a:p>
                  </a:txBody>
                  <a:tcPr anchor="ctr"/>
                </a:tc>
                <a:tc>
                  <a:txBody>
                    <a:bodyPr/>
                    <a:lstStyle/>
                    <a:p>
                      <a:pPr algn="ctr"/>
                      <a:r>
                        <a:rPr sz="1100" b="0"/>
                        <a:t>0 → 0 / 0</a:t>
                      </a:r>
                    </a:p>
                  </a:txBody>
                  <a:tcPr anchor="ctr"/>
                </a:tc>
                <a:tc>
                  <a:txBody>
                    <a:bodyPr/>
                    <a:lstStyle/>
                    <a:p>
                      <a:pPr algn="ctr"/>
                      <a:r>
                        <a:rPr sz="1100" b="0"/>
                        <a:t>0 → 0 / 0</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 → 0 / 0</a:t>
                      </a:r>
                    </a:p>
                  </a:txBody>
                  <a:tcPr anchor="ctr"/>
                </a:tc>
                <a:tc>
                  <a:txBody>
                    <a:bodyPr/>
                    <a:lstStyle/>
                    <a:p>
                      <a:pPr algn="ctr"/>
                      <a:r>
                        <a:rPr sz="1100" b="0"/>
                        <a:t>7 → 7 / 0</a:t>
                      </a:r>
                    </a:p>
                  </a:txBody>
                  <a:tcPr anchor="ctr"/>
                </a:tc>
                <a:tc>
                  <a:txBody>
                    <a:bodyPr/>
                    <a:lstStyle/>
                    <a:p>
                      <a:pPr algn="ctr"/>
                      <a:r>
                        <a:rPr sz="1100" b="0"/>
                        <a:t>23 → 24 / 0</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 → 0 / 0</a:t>
                      </a:r>
                    </a:p>
                  </a:txBody>
                  <a:tcPr anchor="ctr"/>
                </a:tc>
                <a:tc>
                  <a:txBody>
                    <a:bodyPr/>
                    <a:lstStyle/>
                    <a:p>
                      <a:pPr algn="ctr"/>
                      <a:r>
                        <a:rPr sz="1100" b="0"/>
                        <a:t>18 → 15 / 0</a:t>
                      </a:r>
                    </a:p>
                  </a:txBody>
                  <a:tcPr anchor="ctr"/>
                </a:tc>
                <a:tc>
                  <a:txBody>
                    <a:bodyPr/>
                    <a:lstStyle/>
                    <a:p>
                      <a:pPr algn="ctr"/>
                      <a:r>
                        <a:rPr sz="1100" b="0"/>
                        <a:t>0 → 0 / 0</a:t>
                      </a:r>
                    </a:p>
                  </a:txBody>
                  <a:tcPr anchor="ctr"/>
                </a:tc>
              </a:tr>
              <a:tr h="330769">
                <a:tc rowSpan="3">
                  <a:txBody>
                    <a:bodyPr/>
                    <a:lstStyle/>
                    <a:p>
                      <a:pPr algn="ctr"/>
                      <a:r>
                        <a:rPr sz="1100" b="0"/>
                        <a:t>TAMA</a:t>
                      </a:r>
                    </a:p>
                  </a:txBody>
                  <a:tcPr anchor="ctr"/>
                </a:tc>
                <a:tc>
                  <a:txBody>
                    <a:bodyPr/>
                    <a:lstStyle/>
                    <a:p>
                      <a:pPr algn="ctr"/>
                      <a:r>
                        <a:rPr sz="1100" b="0"/>
                        <a:t>HTN</a:t>
                      </a:r>
                    </a:p>
                  </a:txBody>
                  <a:tcPr anchor="ctr"/>
                </a:tc>
                <a:tc>
                  <a:txBody>
                    <a:bodyPr/>
                    <a:lstStyle/>
                    <a:p>
                      <a:pPr algn="ctr"/>
                      <a:r>
                        <a:rPr sz="1100" b="0"/>
                        <a:t>0 → 0 / 0</a:t>
                      </a:r>
                    </a:p>
                  </a:txBody>
                  <a:tcPr anchor="ctr"/>
                </a:tc>
                <a:tc>
                  <a:txBody>
                    <a:bodyPr/>
                    <a:lstStyle/>
                    <a:p>
                      <a:pPr algn="ctr"/>
                      <a:r>
                        <a:rPr sz="1100" b="0"/>
                        <a:t>0 → 0 / 0</a:t>
                      </a:r>
                    </a:p>
                  </a:txBody>
                  <a:tcPr anchor="ctr"/>
                </a:tc>
                <a:tc>
                  <a:txBody>
                    <a:bodyPr/>
                    <a:lstStyle/>
                    <a:p>
                      <a:pPr algn="ctr"/>
                      <a:r>
                        <a:rPr sz="1100" b="0"/>
                        <a:t>0 → 0 / 0</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 → 0 / 0</a:t>
                      </a:r>
                    </a:p>
                  </a:txBody>
                  <a:tcPr anchor="ctr"/>
                </a:tc>
                <a:tc>
                  <a:txBody>
                    <a:bodyPr/>
                    <a:lstStyle/>
                    <a:p>
                      <a:pPr algn="ctr"/>
                      <a:r>
                        <a:rPr sz="1100" b="0"/>
                        <a:t>0 → 0 / 0</a:t>
                      </a:r>
                    </a:p>
                  </a:txBody>
                  <a:tcPr anchor="ctr"/>
                </a:tc>
                <a:tc>
                  <a:txBody>
                    <a:bodyPr/>
                    <a:lstStyle/>
                    <a:p>
                      <a:pPr algn="ctr"/>
                      <a:r>
                        <a:rPr sz="1100" b="0"/>
                        <a:t>0 → 0 / 0</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4 → 0 / 0</a:t>
                      </a:r>
                    </a:p>
                  </a:txBody>
                  <a:tcPr anchor="ctr"/>
                </a:tc>
                <a:tc>
                  <a:txBody>
                    <a:bodyPr/>
                    <a:lstStyle/>
                    <a:p>
                      <a:pPr algn="ctr"/>
                      <a:r>
                        <a:rPr sz="1100" b="0"/>
                        <a:t>6 → 0 / 0</a:t>
                      </a:r>
                    </a:p>
                  </a:txBody>
                  <a:tcPr anchor="ctr"/>
                </a:tc>
                <a:tc>
                  <a:txBody>
                    <a:bodyPr/>
                    <a:lstStyle/>
                    <a:p>
                      <a:pPr algn="ctr"/>
                      <a:r>
                        <a:rPr sz="1100" b="0"/>
                        <a:t>0 → 0 / 0</a:t>
                      </a:r>
                    </a:p>
                  </a:txBody>
                  <a:tcPr anchor="ctr"/>
                </a:tc>
              </a:tr>
              <a:tr h="330769">
                <a:tc rowSpan="3">
                  <a:txBody>
                    <a:bodyPr/>
                    <a:lstStyle/>
                    <a:p>
                      <a:pPr algn="ctr"/>
                      <a:r>
                        <a:rPr sz="1100" b="0"/>
                        <a:t>AEC</a:t>
                      </a:r>
                    </a:p>
                  </a:txBody>
                  <a:tcPr anchor="ctr"/>
                </a:tc>
                <a:tc>
                  <a:txBody>
                    <a:bodyPr/>
                    <a:lstStyle/>
                    <a:p>
                      <a:pPr algn="ctr"/>
                      <a:r>
                        <a:rPr sz="1100" b="0"/>
                        <a:t>HTN</a:t>
                      </a:r>
                    </a:p>
                  </a:txBody>
                  <a:tcPr anchor="ctr"/>
                </a:tc>
                <a:tc>
                  <a:txBody>
                    <a:bodyPr/>
                    <a:lstStyle/>
                    <a:p>
                      <a:pPr algn="ctr"/>
                      <a:r>
                        <a:rPr sz="1100" b="0"/>
                        <a:t>111 → 101 / 0</a:t>
                      </a:r>
                    </a:p>
                  </a:txBody>
                  <a:tcPr anchor="ctr"/>
                </a:tc>
                <a:tc>
                  <a:txBody>
                    <a:bodyPr/>
                    <a:lstStyle/>
                    <a:p>
                      <a:pPr algn="ctr"/>
                      <a:r>
                        <a:rPr sz="1100" b="0"/>
                        <a:t>63 → 19 / 0</a:t>
                      </a:r>
                    </a:p>
                  </a:txBody>
                  <a:tcPr anchor="ctr"/>
                </a:tc>
                <a:tc>
                  <a:txBody>
                    <a:bodyPr/>
                    <a:lstStyle/>
                    <a:p>
                      <a:pPr algn="ctr"/>
                      <a:r>
                        <a:rPr sz="1100" b="0"/>
                        <a:t>61 → 59 / 0</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94 → 92 / 52</a:t>
                      </a:r>
                    </a:p>
                  </a:txBody>
                  <a:tcPr anchor="ctr"/>
                </a:tc>
                <a:tc>
                  <a:txBody>
                    <a:bodyPr/>
                    <a:lstStyle/>
                    <a:p>
                      <a:pPr algn="ctr"/>
                      <a:r>
                        <a:rPr sz="1100" b="0"/>
                        <a:t>23 → 23 / 0</a:t>
                      </a:r>
                    </a:p>
                  </a:txBody>
                  <a:tcPr anchor="ctr"/>
                </a:tc>
                <a:tc>
                  <a:txBody>
                    <a:bodyPr/>
                    <a:lstStyle/>
                    <a:p>
                      <a:pPr algn="ctr"/>
                      <a:r>
                        <a:rPr sz="1100" b="0"/>
                        <a:t>69 → 49 / 0</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47 → 0 / 0</a:t>
                      </a:r>
                    </a:p>
                  </a:txBody>
                  <a:tcPr anchor="ctr"/>
                </a:tc>
                <a:tc>
                  <a:txBody>
                    <a:bodyPr/>
                    <a:lstStyle/>
                    <a:p>
                      <a:pPr algn="ctr"/>
                      <a:r>
                        <a:rPr sz="1100" b="0"/>
                        <a:t>25 → 0 / 0</a:t>
                      </a:r>
                    </a:p>
                  </a:txBody>
                  <a:tcPr anchor="ctr"/>
                </a:tc>
                <a:tc>
                  <a:txBody>
                    <a:bodyPr/>
                    <a:lstStyle/>
                    <a:p>
                      <a:pPr algn="ctr"/>
                      <a:r>
                        <a:rPr sz="1100" b="0"/>
                        <a:t>0 → 0 / 0</a:t>
                      </a:r>
                    </a:p>
                  </a:txBody>
                  <a:tcPr anchor="ct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Patient-wise 곡선 전체(PC1) 비교: 보정 후</a:t>
            </a:r>
          </a:p>
        </p:txBody>
      </p:sp>
      <p:sp>
        <p:nvSpPr>
          <p:cNvPr id="3" name="Content Placeholder 2"/>
          <p:cNvSpPr>
            <a:spLocks noGrp="1"/>
          </p:cNvSpPr>
          <p:nvPr>
            <p:ph idx="1"/>
          </p:nvPr>
        </p:nvSpPr>
        <p:spPr>
          <a:xfrm>
            <a:off x="508000" y="1050000"/>
            <a:ext cx="11176000" cy="900000"/>
          </a:xfrm>
        </p:spPr>
        <p:txBody>
          <a:bodyPr/>
          <a:lstStyle/>
          <a:p>
            <a:r>
              <a:rPr sz="1300" b="0">
                <a:solidFill>
                  <a:srgbClr val="333F4D"/>
                </a:solidFill>
              </a:rPr>
              <a:t>곡선 전체를 PC1 점수 1개로 요약해 질환과 비교 (+1SD당 OR, 괄호 = p). 나이·성별·BMI 보정 / +스캐너 보정. AEC는 두 코호트 모두 HTN·DM에서 유지, CKD는 Sinchon에서 유지</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12</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100000"/>
          <a:ext cx="11175996" cy="4299997"/>
        </p:xfrm>
        <a:graphic>
          <a:graphicData uri="http://schemas.openxmlformats.org/drawingml/2006/table">
            <a:tbl>
              <a:tblPr firstRow="1" bandRow="1">
                <a:tableStyleId>{C083E6E3-FA7D-4D7B-A595-EF9225AFEA82}</a:tableStyleId>
              </a:tblPr>
              <a:tblGrid>
                <a:gridCol w="1289538"/>
                <a:gridCol w="1289538"/>
                <a:gridCol w="2149230"/>
                <a:gridCol w="2149230"/>
                <a:gridCol w="2149230"/>
                <a:gridCol w="2149230"/>
              </a:tblGrid>
              <a:tr h="330769">
                <a:tc>
                  <a:txBody>
                    <a:bodyPr/>
                    <a:lstStyle/>
                    <a:p>
                      <a:pPr algn="ctr"/>
                      <a:r>
                        <a:rPr sz="1400" b="1"/>
                        <a:t>Measure</a:t>
                      </a:r>
                    </a:p>
                  </a:txBody>
                  <a:tcPr anchor="ctr"/>
                </a:tc>
                <a:tc>
                  <a:txBody>
                    <a:bodyPr/>
                    <a:lstStyle/>
                    <a:p>
                      <a:pPr algn="ctr"/>
                      <a:r>
                        <a:rPr sz="1400" b="1"/>
                        <a:t>Disease</a:t>
                      </a:r>
                    </a:p>
                  </a:txBody>
                  <a:tcPr anchor="ctr"/>
                </a:tc>
                <a:tc>
                  <a:txBody>
                    <a:bodyPr/>
                    <a:lstStyle/>
                    <a:p>
                      <a:pPr algn="ctr"/>
                      <a:r>
                        <a:rPr sz="1400" b="1"/>
                        <a:t>Gangnam 보정</a:t>
                      </a:r>
                    </a:p>
                  </a:txBody>
                  <a:tcPr anchor="ctr"/>
                </a:tc>
                <a:tc>
                  <a:txBody>
                    <a:bodyPr/>
                    <a:lstStyle/>
                    <a:p>
                      <a:pPr algn="ctr"/>
                      <a:r>
                        <a:rPr sz="1400" b="1"/>
                        <a:t>Gangnam +장비</a:t>
                      </a:r>
                    </a:p>
                  </a:txBody>
                  <a:tcPr anchor="ctr"/>
                </a:tc>
                <a:tc>
                  <a:txBody>
                    <a:bodyPr/>
                    <a:lstStyle/>
                    <a:p>
                      <a:pPr algn="ctr"/>
                      <a:r>
                        <a:rPr sz="1400" b="1"/>
                        <a:t>Sinchon 보정</a:t>
                      </a:r>
                    </a:p>
                  </a:txBody>
                  <a:tcPr anchor="ctr"/>
                </a:tc>
                <a:tc>
                  <a:txBody>
                    <a:bodyPr/>
                    <a:lstStyle/>
                    <a:p>
                      <a:pPr algn="ctr"/>
                      <a:r>
                        <a:rPr sz="1400" b="1"/>
                        <a:t>Sinchon +장비</a:t>
                      </a:r>
                    </a:p>
                  </a:txBody>
                  <a:tcPr anchor="ctr"/>
                </a:tc>
              </a:tr>
              <a:tr h="330769">
                <a:tc rowSpan="3">
                  <a:txBody>
                    <a:bodyPr/>
                    <a:lstStyle/>
                    <a:p>
                      <a:pPr algn="ctr"/>
                      <a:r>
                        <a:rPr sz="1100" b="0"/>
                        <a:t>AEC</a:t>
                      </a:r>
                    </a:p>
                  </a:txBody>
                  <a:tcPr anchor="ctr"/>
                </a:tc>
                <a:tc>
                  <a:txBody>
                    <a:bodyPr/>
                    <a:lstStyle/>
                    <a:p>
                      <a:pPr algn="ctr"/>
                      <a:r>
                        <a:rPr sz="1100" b="0"/>
                        <a:t>HTN</a:t>
                      </a:r>
                    </a:p>
                  </a:txBody>
                  <a:tcPr anchor="ctr"/>
                </a:tc>
                <a:tc>
                  <a:txBody>
                    <a:bodyPr/>
                    <a:lstStyle/>
                    <a:p>
                      <a:pPr algn="ctr"/>
                      <a:r>
                        <a:rPr sz="1100" b="0"/>
                        <a:t>0.61 (&lt;0.001)</a:t>
                      </a:r>
                    </a:p>
                  </a:txBody>
                  <a:tcPr anchor="ctr"/>
                </a:tc>
                <a:tc>
                  <a:txBody>
                    <a:bodyPr/>
                    <a:lstStyle/>
                    <a:p>
                      <a:pPr algn="ctr"/>
                      <a:r>
                        <a:rPr sz="1100" b="0"/>
                        <a:t>0.61 (&lt;0.001)</a:t>
                      </a:r>
                    </a:p>
                  </a:txBody>
                  <a:tcPr anchor="ctr"/>
                </a:tc>
                <a:tc>
                  <a:txBody>
                    <a:bodyPr/>
                    <a:lstStyle/>
                    <a:p>
                      <a:pPr algn="ctr"/>
                      <a:r>
                        <a:rPr sz="1100" b="0"/>
                        <a:t>0.72 (&lt;0.001)</a:t>
                      </a:r>
                    </a:p>
                  </a:txBody>
                  <a:tcPr anchor="ctr"/>
                </a:tc>
                <a:tc>
                  <a:txBody>
                    <a:bodyPr/>
                    <a:lstStyle/>
                    <a:p>
                      <a:pPr algn="ctr"/>
                      <a:r>
                        <a:rPr sz="1100" b="0"/>
                        <a:t>0.74 (&lt;0.001)</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0.56 (&lt;0.001)</a:t>
                      </a:r>
                    </a:p>
                  </a:txBody>
                  <a:tcPr anchor="ctr"/>
                </a:tc>
                <a:tc>
                  <a:txBody>
                    <a:bodyPr/>
                    <a:lstStyle/>
                    <a:p>
                      <a:pPr algn="ctr"/>
                      <a:r>
                        <a:rPr sz="1100" b="0"/>
                        <a:t>0.51 (&lt;0.001)</a:t>
                      </a:r>
                    </a:p>
                  </a:txBody>
                  <a:tcPr anchor="ctr"/>
                </a:tc>
                <a:tc>
                  <a:txBody>
                    <a:bodyPr/>
                    <a:lstStyle/>
                    <a:p>
                      <a:pPr algn="ctr"/>
                      <a:r>
                        <a:rPr sz="1100" b="0"/>
                        <a:t>0.71 (&lt;0.001)</a:t>
                      </a:r>
                    </a:p>
                  </a:txBody>
                  <a:tcPr anchor="ctr"/>
                </a:tc>
                <a:tc>
                  <a:txBody>
                    <a:bodyPr/>
                    <a:lstStyle/>
                    <a:p>
                      <a:pPr algn="ctr"/>
                      <a:r>
                        <a:rPr sz="1100" b="0"/>
                        <a:t>0.70 (&lt;0.001)</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0.67 (0.005)</a:t>
                      </a:r>
                    </a:p>
                  </a:txBody>
                  <a:tcPr anchor="ctr"/>
                </a:tc>
                <a:tc>
                  <a:txBody>
                    <a:bodyPr/>
                    <a:lstStyle/>
                    <a:p>
                      <a:pPr algn="ctr"/>
                      <a:r>
                        <a:rPr sz="1100" b="0"/>
                        <a:t>0.80 (0.132)</a:t>
                      </a:r>
                    </a:p>
                  </a:txBody>
                  <a:tcPr anchor="ctr"/>
                </a:tc>
                <a:tc>
                  <a:txBody>
                    <a:bodyPr/>
                    <a:lstStyle/>
                    <a:p>
                      <a:pPr algn="ctr"/>
                      <a:r>
                        <a:rPr sz="1100" b="0"/>
                        <a:t>0.62 (&lt;0.001)</a:t>
                      </a:r>
                    </a:p>
                  </a:txBody>
                  <a:tcPr anchor="ctr"/>
                </a:tc>
                <a:tc>
                  <a:txBody>
                    <a:bodyPr/>
                    <a:lstStyle/>
                    <a:p>
                      <a:pPr algn="ctr"/>
                      <a:r>
                        <a:rPr sz="1100" b="0"/>
                        <a:t>0.64 (&lt;0.001)</a:t>
                      </a:r>
                    </a:p>
                  </a:txBody>
                  <a:tcPr anchor="ctr"/>
                </a:tc>
              </a:tr>
              <a:tr h="330769">
                <a:tc rowSpan="3">
                  <a:txBody>
                    <a:bodyPr/>
                    <a:lstStyle/>
                    <a:p>
                      <a:pPr algn="ctr"/>
                      <a:r>
                        <a:rPr sz="1100" b="0"/>
                        <a:t>VAT</a:t>
                      </a:r>
                    </a:p>
                  </a:txBody>
                  <a:tcPr anchor="ctr"/>
                </a:tc>
                <a:tc>
                  <a:txBody>
                    <a:bodyPr/>
                    <a:lstStyle/>
                    <a:p>
                      <a:pPr algn="ctr"/>
                      <a:r>
                        <a:rPr sz="1100" b="0"/>
                        <a:t>HTN</a:t>
                      </a:r>
                    </a:p>
                  </a:txBody>
                  <a:tcPr anchor="ctr"/>
                </a:tc>
                <a:tc>
                  <a:txBody>
                    <a:bodyPr/>
                    <a:lstStyle/>
                    <a:p>
                      <a:pPr algn="ctr"/>
                      <a:r>
                        <a:rPr sz="1100" b="0"/>
                        <a:t>0.62 (&lt;0.001)</a:t>
                      </a:r>
                    </a:p>
                  </a:txBody>
                  <a:tcPr anchor="ctr"/>
                </a:tc>
                <a:tc>
                  <a:txBody>
                    <a:bodyPr/>
                    <a:lstStyle/>
                    <a:p>
                      <a:pPr algn="ctr"/>
                      <a:r>
                        <a:rPr sz="1100" b="0"/>
                        <a:t>0.61 (&lt;0.001)</a:t>
                      </a:r>
                    </a:p>
                  </a:txBody>
                  <a:tcPr anchor="ctr"/>
                </a:tc>
                <a:tc>
                  <a:txBody>
                    <a:bodyPr/>
                    <a:lstStyle/>
                    <a:p>
                      <a:pPr algn="ctr"/>
                      <a:r>
                        <a:rPr sz="1100" b="0"/>
                        <a:t>0.75 (0.004)</a:t>
                      </a:r>
                    </a:p>
                  </a:txBody>
                  <a:tcPr anchor="ctr"/>
                </a:tc>
                <a:tc>
                  <a:txBody>
                    <a:bodyPr/>
                    <a:lstStyle/>
                    <a:p>
                      <a:pPr algn="ctr"/>
                      <a:r>
                        <a:rPr sz="1100" b="0"/>
                        <a:t>0.76 (0.005)</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0.80 (0.058)</a:t>
                      </a:r>
                    </a:p>
                  </a:txBody>
                  <a:tcPr anchor="ctr"/>
                </a:tc>
                <a:tc>
                  <a:txBody>
                    <a:bodyPr/>
                    <a:lstStyle/>
                    <a:p>
                      <a:pPr algn="ctr"/>
                      <a:r>
                        <a:rPr sz="1100" b="0"/>
                        <a:t>0.78 (0.037)</a:t>
                      </a:r>
                    </a:p>
                  </a:txBody>
                  <a:tcPr anchor="ctr"/>
                </a:tc>
                <a:tc>
                  <a:txBody>
                    <a:bodyPr/>
                    <a:lstStyle/>
                    <a:p>
                      <a:pPr algn="ctr"/>
                      <a:r>
                        <a:rPr sz="1100" b="0"/>
                        <a:t>0.72 (0.003)</a:t>
                      </a:r>
                    </a:p>
                  </a:txBody>
                  <a:tcPr anchor="ctr"/>
                </a:tc>
                <a:tc>
                  <a:txBody>
                    <a:bodyPr/>
                    <a:lstStyle/>
                    <a:p>
                      <a:pPr algn="ctr"/>
                      <a:r>
                        <a:rPr sz="1100" b="0"/>
                        <a:t>0.71 (0.002)</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0.76 (0.089)</a:t>
                      </a:r>
                    </a:p>
                  </a:txBody>
                  <a:tcPr anchor="ctr"/>
                </a:tc>
                <a:tc>
                  <a:txBody>
                    <a:bodyPr/>
                    <a:lstStyle/>
                    <a:p>
                      <a:pPr algn="ctr"/>
                      <a:r>
                        <a:rPr sz="1100" b="0"/>
                        <a:t>0.76 (0.085)</a:t>
                      </a:r>
                    </a:p>
                  </a:txBody>
                  <a:tcPr anchor="ctr"/>
                </a:tc>
                <a:tc>
                  <a:txBody>
                    <a:bodyPr/>
                    <a:lstStyle/>
                    <a:p>
                      <a:pPr algn="ctr"/>
                      <a:r>
                        <a:rPr sz="1100" b="0"/>
                        <a:t>0.81 (0.123)</a:t>
                      </a:r>
                    </a:p>
                  </a:txBody>
                  <a:tcPr anchor="ctr"/>
                </a:tc>
                <a:tc>
                  <a:txBody>
                    <a:bodyPr/>
                    <a:lstStyle/>
                    <a:p>
                      <a:pPr algn="ctr"/>
                      <a:r>
                        <a:rPr sz="1100" b="0"/>
                        <a:t>0.81 (0.129)</a:t>
                      </a:r>
                    </a:p>
                  </a:txBody>
                  <a:tcPr anchor="ctr"/>
                </a:tc>
              </a:tr>
              <a:tr h="330769">
                <a:tc rowSpan="3">
                  <a:txBody>
                    <a:bodyPr/>
                    <a:lstStyle/>
                    <a:p>
                      <a:pPr algn="ctr"/>
                      <a:r>
                        <a:rPr sz="1100" b="0"/>
                        <a:t>SAT</a:t>
                      </a:r>
                    </a:p>
                  </a:txBody>
                  <a:tcPr anchor="ctr"/>
                </a:tc>
                <a:tc>
                  <a:txBody>
                    <a:bodyPr/>
                    <a:lstStyle/>
                    <a:p>
                      <a:pPr algn="ctr"/>
                      <a:r>
                        <a:rPr sz="1100" b="0"/>
                        <a:t>HTN</a:t>
                      </a:r>
                    </a:p>
                  </a:txBody>
                  <a:tcPr anchor="ctr"/>
                </a:tc>
                <a:tc>
                  <a:txBody>
                    <a:bodyPr/>
                    <a:lstStyle/>
                    <a:p>
                      <a:pPr algn="ctr"/>
                      <a:r>
                        <a:rPr sz="1100" b="0"/>
                        <a:t>0.65 (&lt;0.001)</a:t>
                      </a:r>
                    </a:p>
                  </a:txBody>
                  <a:tcPr anchor="ctr"/>
                </a:tc>
                <a:tc>
                  <a:txBody>
                    <a:bodyPr/>
                    <a:lstStyle/>
                    <a:p>
                      <a:pPr algn="ctr"/>
                      <a:r>
                        <a:rPr sz="1100" b="0"/>
                        <a:t>0.63 (&lt;0.001)</a:t>
                      </a:r>
                    </a:p>
                  </a:txBody>
                  <a:tcPr anchor="ctr"/>
                </a:tc>
                <a:tc>
                  <a:txBody>
                    <a:bodyPr/>
                    <a:lstStyle/>
                    <a:p>
                      <a:pPr algn="ctr"/>
                      <a:r>
                        <a:rPr sz="1100" b="0"/>
                        <a:t>0.99 (0.879)</a:t>
                      </a:r>
                    </a:p>
                  </a:txBody>
                  <a:tcPr anchor="ctr"/>
                </a:tc>
                <a:tc>
                  <a:txBody>
                    <a:bodyPr/>
                    <a:lstStyle/>
                    <a:p>
                      <a:pPr algn="ctr"/>
                      <a:r>
                        <a:rPr sz="1100" b="0"/>
                        <a:t>1.00 (0.978)</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0.77 (0.009)</a:t>
                      </a:r>
                    </a:p>
                  </a:txBody>
                  <a:tcPr anchor="ctr"/>
                </a:tc>
                <a:tc>
                  <a:txBody>
                    <a:bodyPr/>
                    <a:lstStyle/>
                    <a:p>
                      <a:pPr algn="ctr"/>
                      <a:r>
                        <a:rPr sz="1100" b="0"/>
                        <a:t>0.76 (0.005)</a:t>
                      </a:r>
                    </a:p>
                  </a:txBody>
                  <a:tcPr anchor="ctr"/>
                </a:tc>
                <a:tc>
                  <a:txBody>
                    <a:bodyPr/>
                    <a:lstStyle/>
                    <a:p>
                      <a:pPr algn="ctr"/>
                      <a:r>
                        <a:rPr sz="1100" b="0"/>
                        <a:t>1.00 (0.978)</a:t>
                      </a:r>
                    </a:p>
                  </a:txBody>
                  <a:tcPr anchor="ctr"/>
                </a:tc>
                <a:tc>
                  <a:txBody>
                    <a:bodyPr/>
                    <a:lstStyle/>
                    <a:p>
                      <a:pPr algn="ctr"/>
                      <a:r>
                        <a:rPr sz="1100" b="0"/>
                        <a:t>0.99 (0.927)</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0.95 (0.684)</a:t>
                      </a:r>
                    </a:p>
                  </a:txBody>
                  <a:tcPr anchor="ctr"/>
                </a:tc>
                <a:tc>
                  <a:txBody>
                    <a:bodyPr/>
                    <a:lstStyle/>
                    <a:p>
                      <a:pPr algn="ctr"/>
                      <a:r>
                        <a:rPr sz="1100" b="0"/>
                        <a:t>0.92 (0.509)</a:t>
                      </a:r>
                    </a:p>
                  </a:txBody>
                  <a:tcPr anchor="ctr"/>
                </a:tc>
                <a:tc>
                  <a:txBody>
                    <a:bodyPr/>
                    <a:lstStyle/>
                    <a:p>
                      <a:pPr algn="ctr"/>
                      <a:r>
                        <a:rPr sz="1100" b="0"/>
                        <a:t>1.13 (0.239)</a:t>
                      </a:r>
                    </a:p>
                  </a:txBody>
                  <a:tcPr anchor="ctr"/>
                </a:tc>
                <a:tc>
                  <a:txBody>
                    <a:bodyPr/>
                    <a:lstStyle/>
                    <a:p>
                      <a:pPr algn="ctr"/>
                      <a:r>
                        <a:rPr sz="1100" b="0"/>
                        <a:t>1.13 (0.235)</a:t>
                      </a:r>
                    </a:p>
                  </a:txBody>
                  <a:tcPr anchor="ctr"/>
                </a:tc>
              </a:tr>
              <a:tr h="330769">
                <a:tc rowSpan="3">
                  <a:txBody>
                    <a:bodyPr/>
                    <a:lstStyle/>
                    <a:p>
                      <a:pPr algn="ctr"/>
                      <a:r>
                        <a:rPr sz="1100" b="0"/>
                        <a:t>TAMA</a:t>
                      </a:r>
                    </a:p>
                  </a:txBody>
                  <a:tcPr anchor="ctr"/>
                </a:tc>
                <a:tc>
                  <a:txBody>
                    <a:bodyPr/>
                    <a:lstStyle/>
                    <a:p>
                      <a:pPr algn="ctr"/>
                      <a:r>
                        <a:rPr sz="1100" b="0"/>
                        <a:t>HTN</a:t>
                      </a:r>
                    </a:p>
                  </a:txBody>
                  <a:tcPr anchor="ctr"/>
                </a:tc>
                <a:tc>
                  <a:txBody>
                    <a:bodyPr/>
                    <a:lstStyle/>
                    <a:p>
                      <a:pPr algn="ctr"/>
                      <a:r>
                        <a:rPr sz="1100" b="0"/>
                        <a:t>1.16 (0.044)</a:t>
                      </a:r>
                    </a:p>
                  </a:txBody>
                  <a:tcPr anchor="ctr"/>
                </a:tc>
                <a:tc>
                  <a:txBody>
                    <a:bodyPr/>
                    <a:lstStyle/>
                    <a:p>
                      <a:pPr algn="ctr"/>
                      <a:r>
                        <a:rPr sz="1100" b="0"/>
                        <a:t>1.19 (0.023)</a:t>
                      </a:r>
                    </a:p>
                  </a:txBody>
                  <a:tcPr anchor="ctr"/>
                </a:tc>
                <a:tc>
                  <a:txBody>
                    <a:bodyPr/>
                    <a:lstStyle/>
                    <a:p>
                      <a:pPr algn="ctr"/>
                      <a:r>
                        <a:rPr sz="1100" b="0"/>
                        <a:t>1.07 (0.420)</a:t>
                      </a:r>
                    </a:p>
                  </a:txBody>
                  <a:tcPr anchor="ctr"/>
                </a:tc>
                <a:tc>
                  <a:txBody>
                    <a:bodyPr/>
                    <a:lstStyle/>
                    <a:p>
                      <a:pPr algn="ctr"/>
                      <a:r>
                        <a:rPr sz="1100" b="0"/>
                        <a:t>1.07 (0.441)</a:t>
                      </a:r>
                    </a:p>
                  </a:txBody>
                  <a:tcPr anchor="ctr"/>
                </a:tc>
              </a:tr>
              <a:tr h="330769">
                <a:tc vMerge="1">
                  <a:txBody>
                    <a:bodyPr/>
                    <a:lstStyle/>
                    <a:p/>
                  </a:txBody>
                  <a:tcPr/>
                </a:tc>
                <a:tc>
                  <a:txBody>
                    <a:bodyPr/>
                    <a:lstStyle/>
                    <a:p>
                      <a:pPr algn="ctr"/>
                      <a:r>
                        <a:rPr sz="1100" b="0"/>
                        <a:t>DM</a:t>
                      </a:r>
                    </a:p>
                  </a:txBody>
                  <a:tcPr anchor="ctr"/>
                </a:tc>
                <a:tc>
                  <a:txBody>
                    <a:bodyPr/>
                    <a:lstStyle/>
                    <a:p>
                      <a:pPr algn="ctr"/>
                      <a:r>
                        <a:rPr sz="1100" b="0"/>
                        <a:t>0.96 (0.622)</a:t>
                      </a:r>
                    </a:p>
                  </a:txBody>
                  <a:tcPr anchor="ctr"/>
                </a:tc>
                <a:tc>
                  <a:txBody>
                    <a:bodyPr/>
                    <a:lstStyle/>
                    <a:p>
                      <a:pPr algn="ctr"/>
                      <a:r>
                        <a:rPr sz="1100" b="0"/>
                        <a:t>0.96 (0.627)</a:t>
                      </a:r>
                    </a:p>
                  </a:txBody>
                  <a:tcPr anchor="ctr"/>
                </a:tc>
                <a:tc>
                  <a:txBody>
                    <a:bodyPr/>
                    <a:lstStyle/>
                    <a:p>
                      <a:pPr algn="ctr"/>
                      <a:r>
                        <a:rPr sz="1100" b="0"/>
                        <a:t>1.03 (0.727)</a:t>
                      </a:r>
                    </a:p>
                  </a:txBody>
                  <a:tcPr anchor="ctr"/>
                </a:tc>
                <a:tc>
                  <a:txBody>
                    <a:bodyPr/>
                    <a:lstStyle/>
                    <a:p>
                      <a:pPr algn="ctr"/>
                      <a:r>
                        <a:rPr sz="1100" b="0"/>
                        <a:t>1.02 (0.793)</a:t>
                      </a:r>
                    </a:p>
                  </a:txBody>
                  <a:tcPr anchor="ctr"/>
                </a:tc>
              </a:tr>
              <a:tr h="330769">
                <a:tc vMerge="1">
                  <a:txBody>
                    <a:bodyPr/>
                    <a:lstStyle/>
                    <a:p/>
                  </a:txBody>
                  <a:tcPr/>
                </a:tc>
                <a:tc>
                  <a:txBody>
                    <a:bodyPr/>
                    <a:lstStyle/>
                    <a:p>
                      <a:pPr algn="ctr"/>
                      <a:r>
                        <a:rPr sz="1100" b="0"/>
                        <a:t>CKD</a:t>
                      </a:r>
                    </a:p>
                  </a:txBody>
                  <a:tcPr anchor="ctr"/>
                </a:tc>
                <a:tc>
                  <a:txBody>
                    <a:bodyPr/>
                    <a:lstStyle/>
                    <a:p>
                      <a:pPr algn="ctr"/>
                      <a:r>
                        <a:rPr sz="1100" b="0"/>
                        <a:t>0.94 (0.616)</a:t>
                      </a:r>
                    </a:p>
                  </a:txBody>
                  <a:tcPr anchor="ctr"/>
                </a:tc>
                <a:tc>
                  <a:txBody>
                    <a:bodyPr/>
                    <a:lstStyle/>
                    <a:p>
                      <a:pPr algn="ctr"/>
                      <a:r>
                        <a:rPr sz="1100" b="0"/>
                        <a:t>0.92 (0.494)</a:t>
                      </a:r>
                    </a:p>
                  </a:txBody>
                  <a:tcPr anchor="ctr"/>
                </a:tc>
                <a:tc>
                  <a:txBody>
                    <a:bodyPr/>
                    <a:lstStyle/>
                    <a:p>
                      <a:pPr algn="ctr"/>
                      <a:r>
                        <a:rPr sz="1100" b="0"/>
                        <a:t>1.16 (0.177)</a:t>
                      </a:r>
                    </a:p>
                  </a:txBody>
                  <a:tcPr anchor="ctr"/>
                </a:tc>
                <a:tc>
                  <a:txBody>
                    <a:bodyPr/>
                    <a:lstStyle/>
                    <a:p>
                      <a:pPr algn="ctr"/>
                      <a:r>
                        <a:rPr sz="1100" b="0"/>
                        <a:t>1.16 (0.190)</a:t>
                      </a:r>
                    </a:p>
                  </a:txBody>
                  <a:tcPr anchor="ct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곡선 요약을 구간 평균으로: raw vs patient-wise</a:t>
            </a:r>
          </a:p>
        </p:txBody>
      </p:sp>
      <p:sp>
        <p:nvSpPr>
          <p:cNvPr id="3" name="Content Placeholder 2"/>
          <p:cNvSpPr>
            <a:spLocks noGrp="1"/>
          </p:cNvSpPr>
          <p:nvPr>
            <p:ph idx="1"/>
          </p:nvPr>
        </p:nvSpPr>
        <p:spPr>
          <a:xfrm>
            <a:off x="508000" y="1050000"/>
            <a:ext cx="11176000" cy="900000"/>
          </a:xfrm>
        </p:spPr>
        <p:txBody>
          <a:bodyPr/>
          <a:lstStyle/>
          <a:p>
            <a:r>
              <a:rPr sz="1300" b="0">
                <a:solidFill>
                  <a:srgbClr val="333F4D"/>
                </a:solidFill>
              </a:rPr>
              <a:t>구간 평균(raw)에서는 AEC 신호가 없고, 환자 평균 대비 구간 평균(pw_mean)에서만 두 코호트 모두 유의 (장비 보정 OR). 상복부는 상대 전류가 높고 하복부는 낮다. SAT·TAMA는 어떤 구간·전처리에서도 없음</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13</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100000"/>
          <a:ext cx="11175999" cy="4299996"/>
        </p:xfrm>
        <a:graphic>
          <a:graphicData uri="http://schemas.openxmlformats.org/drawingml/2006/table">
            <a:tbl>
              <a:tblPr firstRow="1" bandRow="1">
                <a:tableStyleId>{C083E6E3-FA7D-4D7B-A595-EF9225AFEA82}</a:tableStyleId>
              </a:tblPr>
              <a:tblGrid>
                <a:gridCol w="2352842"/>
                <a:gridCol w="2352842"/>
                <a:gridCol w="2941052"/>
                <a:gridCol w="3529263"/>
              </a:tblGrid>
              <a:tr h="358333">
                <a:tc>
                  <a:txBody>
                    <a:bodyPr/>
                    <a:lstStyle/>
                    <a:p>
                      <a:pPr algn="ctr"/>
                      <a:r>
                        <a:rPr sz="1400" b="1"/>
                        <a:t>구간</a:t>
                      </a:r>
                    </a:p>
                  </a:txBody>
                  <a:tcPr anchor="ctr"/>
                </a:tc>
                <a:tc>
                  <a:txBody>
                    <a:bodyPr/>
                    <a:lstStyle/>
                    <a:p>
                      <a:pPr algn="ctr"/>
                      <a:r>
                        <a:rPr sz="1400" b="1"/>
                        <a:t>측정값 / 질환</a:t>
                      </a:r>
                    </a:p>
                  </a:txBody>
                  <a:tcPr anchor="ctr"/>
                </a:tc>
                <a:tc>
                  <a:txBody>
                    <a:bodyPr/>
                    <a:lstStyle/>
                    <a:p>
                      <a:pPr algn="ctr"/>
                      <a:r>
                        <a:rPr sz="1400" b="1"/>
                        <a:t>raw 구간 평균</a:t>
                      </a:r>
                    </a:p>
                  </a:txBody>
                  <a:tcPr anchor="ctr"/>
                </a:tc>
                <a:tc>
                  <a:txBody>
                    <a:bodyPr/>
                    <a:lstStyle/>
                    <a:p>
                      <a:pPr algn="ctr"/>
                      <a:r>
                        <a:rPr sz="1400" b="1"/>
                        <a:t>pw_mean (구간/환자 전체 평균)</a:t>
                      </a:r>
                    </a:p>
                  </a:txBody>
                  <a:tcPr anchor="ctr"/>
                </a:tc>
              </a:tr>
              <a:tr h="358333">
                <a:tc rowSpan="3">
                  <a:txBody>
                    <a:bodyPr/>
                    <a:lstStyle/>
                    <a:p>
                      <a:pPr algn="ctr"/>
                      <a:r>
                        <a:rPr sz="1100" b="0"/>
                        <a:t>liver_dome~L1</a:t>
                      </a:r>
                    </a:p>
                  </a:txBody>
                  <a:tcPr anchor="ctr"/>
                </a:tc>
                <a:tc>
                  <a:txBody>
                    <a:bodyPr/>
                    <a:lstStyle/>
                    <a:p>
                      <a:pPr algn="ctr"/>
                      <a:r>
                        <a:rPr sz="1100" b="0"/>
                        <a:t>AEC / HTN</a:t>
                      </a:r>
                    </a:p>
                  </a:txBody>
                  <a:tcPr anchor="ctr"/>
                </a:tc>
                <a:tc>
                  <a:txBody>
                    <a:bodyPr/>
                    <a:lstStyle/>
                    <a:p>
                      <a:pPr algn="ctr"/>
                      <a:r>
                        <a:rPr sz="1100" b="0"/>
                        <a:t>1.50 / 1.04</a:t>
                      </a:r>
                    </a:p>
                  </a:txBody>
                  <a:tcPr anchor="ctr"/>
                </a:tc>
                <a:tc>
                  <a:txBody>
                    <a:bodyPr/>
                    <a:lstStyle/>
                    <a:p>
                      <a:pPr algn="ctr"/>
                      <a:r>
                        <a:rPr sz="1100" b="0"/>
                        <a:t>1.33 / 1.27*</a:t>
                      </a:r>
                    </a:p>
                  </a:txBody>
                  <a:tcPr anchor="ctr"/>
                </a:tc>
              </a:tr>
              <a:tr h="358333">
                <a:tc vMerge="1">
                  <a:txBody>
                    <a:bodyPr/>
                    <a:lstStyle/>
                    <a:p/>
                  </a:txBody>
                  <a:tcPr/>
                </a:tc>
                <a:tc>
                  <a:txBody>
                    <a:bodyPr/>
                    <a:lstStyle/>
                    <a:p>
                      <a:pPr algn="ctr"/>
                      <a:r>
                        <a:rPr sz="1100" b="0"/>
                        <a:t>AEC / DM</a:t>
                      </a:r>
                    </a:p>
                  </a:txBody>
                  <a:tcPr anchor="ctr"/>
                </a:tc>
                <a:tc>
                  <a:txBody>
                    <a:bodyPr/>
                    <a:lstStyle/>
                    <a:p>
                      <a:pPr algn="ctr"/>
                      <a:r>
                        <a:rPr sz="1100" b="0"/>
                        <a:t>1.22 / 1.09</a:t>
                      </a:r>
                    </a:p>
                  </a:txBody>
                  <a:tcPr anchor="ctr"/>
                </a:tc>
                <a:tc>
                  <a:txBody>
                    <a:bodyPr/>
                    <a:lstStyle/>
                    <a:p>
                      <a:pPr algn="ctr"/>
                      <a:r>
                        <a:rPr sz="1100" b="0"/>
                        <a:t>1.35 / 1.44*</a:t>
                      </a:r>
                    </a:p>
                  </a:txBody>
                  <a:tcPr anchor="ctr"/>
                </a:tc>
              </a:tr>
              <a:tr h="358333">
                <a:tc vMerge="1">
                  <a:txBody>
                    <a:bodyPr/>
                    <a:lstStyle/>
                    <a:p/>
                  </a:txBody>
                  <a:tcPr/>
                </a:tc>
                <a:tc>
                  <a:txBody>
                    <a:bodyPr/>
                    <a:lstStyle/>
                    <a:p>
                      <a:pPr algn="ctr"/>
                      <a:r>
                        <a:rPr sz="1100" b="0"/>
                        <a:t>VAT / HTN</a:t>
                      </a:r>
                    </a:p>
                  </a:txBody>
                  <a:tcPr anchor="ctr"/>
                </a:tc>
                <a:tc>
                  <a:txBody>
                    <a:bodyPr/>
                    <a:lstStyle/>
                    <a:p>
                      <a:pPr algn="ctr"/>
                      <a:r>
                        <a:rPr sz="1100" b="0"/>
                        <a:t>1.74 / 1.34*</a:t>
                      </a:r>
                    </a:p>
                  </a:txBody>
                  <a:tcPr anchor="ctr"/>
                </a:tc>
                <a:tc>
                  <a:txBody>
                    <a:bodyPr/>
                    <a:lstStyle/>
                    <a:p>
                      <a:pPr algn="ctr"/>
                      <a:r>
                        <a:rPr sz="1100" b="0"/>
                        <a:t>1.25 / 1.18</a:t>
                      </a:r>
                    </a:p>
                  </a:txBody>
                  <a:tcPr anchor="ctr"/>
                </a:tc>
              </a:tr>
              <a:tr h="358333">
                <a:tc rowSpan="3">
                  <a:txBody>
                    <a:bodyPr/>
                    <a:lstStyle/>
                    <a:p>
                      <a:pPr algn="ctr"/>
                      <a:r>
                        <a:rPr sz="1100" b="0"/>
                        <a:t>L1~L3</a:t>
                      </a:r>
                    </a:p>
                  </a:txBody>
                  <a:tcPr anchor="ctr"/>
                </a:tc>
                <a:tc>
                  <a:txBody>
                    <a:bodyPr/>
                    <a:lstStyle/>
                    <a:p>
                      <a:pPr algn="ctr"/>
                      <a:r>
                        <a:rPr sz="1100" b="0"/>
                        <a:t>AEC / HTN</a:t>
                      </a:r>
                    </a:p>
                  </a:txBody>
                  <a:tcPr anchor="ctr"/>
                </a:tc>
                <a:tc>
                  <a:txBody>
                    <a:bodyPr/>
                    <a:lstStyle/>
                    <a:p>
                      <a:pPr algn="ctr"/>
                      <a:r>
                        <a:rPr sz="1100" b="0"/>
                        <a:t>1.48 / 1.04</a:t>
                      </a:r>
                    </a:p>
                  </a:txBody>
                  <a:tcPr anchor="ctr"/>
                </a:tc>
                <a:tc>
                  <a:txBody>
                    <a:bodyPr/>
                    <a:lstStyle/>
                    <a:p>
                      <a:pPr algn="ctr"/>
                      <a:r>
                        <a:rPr sz="1100" b="0"/>
                        <a:t>1.49 / 1.31*</a:t>
                      </a:r>
                    </a:p>
                  </a:txBody>
                  <a:tcPr anchor="ctr"/>
                </a:tc>
              </a:tr>
              <a:tr h="358333">
                <a:tc vMerge="1">
                  <a:txBody>
                    <a:bodyPr/>
                    <a:lstStyle/>
                    <a:p/>
                  </a:txBody>
                  <a:tcPr/>
                </a:tc>
                <a:tc>
                  <a:txBody>
                    <a:bodyPr/>
                    <a:lstStyle/>
                    <a:p>
                      <a:pPr algn="ctr"/>
                      <a:r>
                        <a:rPr sz="1100" b="0"/>
                        <a:t>AEC / DM</a:t>
                      </a:r>
                    </a:p>
                  </a:txBody>
                  <a:tcPr anchor="ctr"/>
                </a:tc>
                <a:tc>
                  <a:txBody>
                    <a:bodyPr/>
                    <a:lstStyle/>
                    <a:p>
                      <a:pPr algn="ctr"/>
                      <a:r>
                        <a:rPr sz="1100" b="0"/>
                        <a:t>1.31 / 1.06</a:t>
                      </a:r>
                    </a:p>
                  </a:txBody>
                  <a:tcPr anchor="ctr"/>
                </a:tc>
                <a:tc>
                  <a:txBody>
                    <a:bodyPr/>
                    <a:lstStyle/>
                    <a:p>
                      <a:pPr algn="ctr"/>
                      <a:r>
                        <a:rPr sz="1100" b="0"/>
                        <a:t>1.79 / 1.29*</a:t>
                      </a:r>
                    </a:p>
                  </a:txBody>
                  <a:tcPr anchor="ctr"/>
                </a:tc>
              </a:tr>
              <a:tr h="358333">
                <a:tc vMerge="1">
                  <a:txBody>
                    <a:bodyPr/>
                    <a:lstStyle/>
                    <a:p/>
                  </a:txBody>
                  <a:tcPr/>
                </a:tc>
                <a:tc>
                  <a:txBody>
                    <a:bodyPr/>
                    <a:lstStyle/>
                    <a:p>
                      <a:pPr algn="ctr"/>
                      <a:r>
                        <a:rPr sz="1100" b="0"/>
                        <a:t>VAT / HTN</a:t>
                      </a:r>
                    </a:p>
                  </a:txBody>
                  <a:tcPr anchor="ctr"/>
                </a:tc>
                <a:tc>
                  <a:txBody>
                    <a:bodyPr/>
                    <a:lstStyle/>
                    <a:p>
                      <a:pPr algn="ctr"/>
                      <a:r>
                        <a:rPr sz="1100" b="0"/>
                        <a:t>1.77 / 1.32*</a:t>
                      </a:r>
                    </a:p>
                  </a:txBody>
                  <a:tcPr anchor="ctr"/>
                </a:tc>
                <a:tc>
                  <a:txBody>
                    <a:bodyPr/>
                    <a:lstStyle/>
                    <a:p>
                      <a:pPr algn="ctr"/>
                      <a:r>
                        <a:rPr sz="1100" b="0"/>
                        <a:t>1.43 / 1.20</a:t>
                      </a:r>
                    </a:p>
                  </a:txBody>
                  <a:tcPr anchor="ctr"/>
                </a:tc>
              </a:tr>
              <a:tr h="358333">
                <a:tc rowSpan="3">
                  <a:txBody>
                    <a:bodyPr/>
                    <a:lstStyle/>
                    <a:p>
                      <a:pPr algn="ctr"/>
                      <a:r>
                        <a:rPr sz="1100" b="0"/>
                        <a:t>L3~L5</a:t>
                      </a:r>
                    </a:p>
                  </a:txBody>
                  <a:tcPr anchor="ctr"/>
                </a:tc>
                <a:tc>
                  <a:txBody>
                    <a:bodyPr/>
                    <a:lstStyle/>
                    <a:p>
                      <a:pPr algn="ctr"/>
                      <a:r>
                        <a:rPr sz="1100" b="0"/>
                        <a:t>AEC / HTN</a:t>
                      </a:r>
                    </a:p>
                  </a:txBody>
                  <a:tcPr anchor="ctr"/>
                </a:tc>
                <a:tc>
                  <a:txBody>
                    <a:bodyPr/>
                    <a:lstStyle/>
                    <a:p>
                      <a:pPr algn="ctr"/>
                      <a:r>
                        <a:rPr sz="1100" b="0"/>
                        <a:t>1.41 / 1.00</a:t>
                      </a:r>
                    </a:p>
                  </a:txBody>
                  <a:tcPr anchor="ctr"/>
                </a:tc>
                <a:tc>
                  <a:txBody>
                    <a:bodyPr/>
                    <a:lstStyle/>
                    <a:p>
                      <a:pPr algn="ctr"/>
                      <a:r>
                        <a:rPr sz="1100" b="0"/>
                        <a:t>1.39 / 1.05</a:t>
                      </a:r>
                    </a:p>
                  </a:txBody>
                  <a:tcPr anchor="ctr"/>
                </a:tc>
              </a:tr>
              <a:tr h="358333">
                <a:tc vMerge="1">
                  <a:txBody>
                    <a:bodyPr/>
                    <a:lstStyle/>
                    <a:p/>
                  </a:txBody>
                  <a:tcPr/>
                </a:tc>
                <a:tc>
                  <a:txBody>
                    <a:bodyPr/>
                    <a:lstStyle/>
                    <a:p>
                      <a:pPr algn="ctr"/>
                      <a:r>
                        <a:rPr sz="1100" b="0"/>
                        <a:t>AEC / DM</a:t>
                      </a:r>
                    </a:p>
                  </a:txBody>
                  <a:tcPr anchor="ctr"/>
                </a:tc>
                <a:tc>
                  <a:txBody>
                    <a:bodyPr/>
                    <a:lstStyle/>
                    <a:p>
                      <a:pPr algn="ctr"/>
                      <a:r>
                        <a:rPr sz="1100" b="0"/>
                        <a:t>1.22 / 0.97</a:t>
                      </a:r>
                    </a:p>
                  </a:txBody>
                  <a:tcPr anchor="ctr"/>
                </a:tc>
                <a:tc>
                  <a:txBody>
                    <a:bodyPr/>
                    <a:lstStyle/>
                    <a:p>
                      <a:pPr algn="ctr"/>
                      <a:r>
                        <a:rPr sz="1100" b="0"/>
                        <a:t>1.44 / 0.97</a:t>
                      </a:r>
                    </a:p>
                  </a:txBody>
                  <a:tcPr anchor="ctr"/>
                </a:tc>
              </a:tr>
              <a:tr h="358333">
                <a:tc vMerge="1">
                  <a:txBody>
                    <a:bodyPr/>
                    <a:lstStyle/>
                    <a:p/>
                  </a:txBody>
                  <a:tcPr/>
                </a:tc>
                <a:tc>
                  <a:txBody>
                    <a:bodyPr/>
                    <a:lstStyle/>
                    <a:p>
                      <a:pPr algn="ctr"/>
                      <a:r>
                        <a:rPr sz="1100" b="0"/>
                        <a:t>VAT / HTN</a:t>
                      </a:r>
                    </a:p>
                  </a:txBody>
                  <a:tcPr anchor="ctr"/>
                </a:tc>
                <a:tc>
                  <a:txBody>
                    <a:bodyPr/>
                    <a:lstStyle/>
                    <a:p>
                      <a:pPr algn="ctr"/>
                      <a:r>
                        <a:rPr sz="1100" b="0"/>
                        <a:t>1.70 / 1.25</a:t>
                      </a:r>
                    </a:p>
                  </a:txBody>
                  <a:tcPr anchor="ctr"/>
                </a:tc>
                <a:tc>
                  <a:txBody>
                    <a:bodyPr/>
                    <a:lstStyle/>
                    <a:p>
                      <a:pPr algn="ctr"/>
                      <a:r>
                        <a:rPr sz="1100" b="0"/>
                        <a:t>1.05 / 1.01</a:t>
                      </a:r>
                    </a:p>
                  </a:txBody>
                  <a:tcPr anchor="ctr"/>
                </a:tc>
              </a:tr>
              <a:tr h="358333">
                <a:tc rowSpan="2">
                  <a:txBody>
                    <a:bodyPr/>
                    <a:lstStyle/>
                    <a:p>
                      <a:pPr algn="ctr"/>
                      <a:r>
                        <a:rPr sz="1100" b="0"/>
                        <a:t>L5~pubis</a:t>
                      </a:r>
                    </a:p>
                  </a:txBody>
                  <a:tcPr anchor="ctr"/>
                </a:tc>
                <a:tc>
                  <a:txBody>
                    <a:bodyPr/>
                    <a:lstStyle/>
                    <a:p>
                      <a:pPr algn="ctr"/>
                      <a:r>
                        <a:rPr sz="1100" b="0"/>
                        <a:t>AEC / HTN</a:t>
                      </a:r>
                    </a:p>
                  </a:txBody>
                  <a:tcPr anchor="ctr"/>
                </a:tc>
                <a:tc>
                  <a:txBody>
                    <a:bodyPr/>
                    <a:lstStyle/>
                    <a:p>
                      <a:pPr algn="ctr"/>
                      <a:r>
                        <a:rPr sz="1100" b="0"/>
                        <a:t>1.11 / 0.91</a:t>
                      </a:r>
                    </a:p>
                  </a:txBody>
                  <a:tcPr anchor="ctr"/>
                </a:tc>
                <a:tc>
                  <a:txBody>
                    <a:bodyPr/>
                    <a:lstStyle/>
                    <a:p>
                      <a:pPr algn="ctr"/>
                      <a:r>
                        <a:rPr sz="1100" b="0"/>
                        <a:t>0.62 / 0.75*</a:t>
                      </a:r>
                    </a:p>
                  </a:txBody>
                  <a:tcPr anchor="ctr"/>
                </a:tc>
              </a:tr>
              <a:tr h="358333">
                <a:tc vMerge="1">
                  <a:txBody>
                    <a:bodyPr/>
                    <a:lstStyle/>
                    <a:p/>
                  </a:txBody>
                  <a:tcPr/>
                </a:tc>
                <a:tc>
                  <a:txBody>
                    <a:bodyPr/>
                    <a:lstStyle/>
                    <a:p>
                      <a:pPr algn="ctr"/>
                      <a:r>
                        <a:rPr sz="1100" b="0"/>
                        <a:t>AEC / DM</a:t>
                      </a:r>
                    </a:p>
                  </a:txBody>
                  <a:tcPr anchor="ctr"/>
                </a:tc>
                <a:tc>
                  <a:txBody>
                    <a:bodyPr/>
                    <a:lstStyle/>
                    <a:p>
                      <a:pPr algn="ctr"/>
                      <a:r>
                        <a:rPr sz="1100" b="0"/>
                        <a:t>0.92 / 0.89</a:t>
                      </a:r>
                    </a:p>
                  </a:txBody>
                  <a:tcPr anchor="ctr"/>
                </a:tc>
                <a:tc>
                  <a:txBody>
                    <a:bodyPr/>
                    <a:lstStyle/>
                    <a:p>
                      <a:pPr algn="ctr"/>
                      <a:r>
                        <a:rPr sz="1100" b="0"/>
                        <a:t>0.55 / 0.71*</a:t>
                      </a:r>
                    </a:p>
                  </a:txBody>
                  <a:tcPr anchor="ct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landmark 지표 조합 feature</a:t>
            </a:r>
          </a:p>
        </p:txBody>
      </p:sp>
      <p:sp>
        <p:nvSpPr>
          <p:cNvPr id="3" name="Content Placeholder 2"/>
          <p:cNvSpPr>
            <a:spLocks noGrp="1"/>
          </p:cNvSpPr>
          <p:nvPr>
            <p:ph idx="1"/>
          </p:nvPr>
        </p:nvSpPr>
        <p:spPr>
          <a:xfrm>
            <a:off x="508000" y="1050000"/>
            <a:ext cx="11176000" cy="1000000"/>
          </a:xfrm>
        </p:spPr>
        <p:txBody>
          <a:bodyPr/>
          <a:lstStyle/>
          <a:p>
            <a:r>
              <a:rPr sz="1300" b="0">
                <a:solidFill>
                  <a:srgbClr val="333F4D"/>
                </a:solidFill>
              </a:rPr>
              <a:t>Tier 1 = 같은 landmark 안의 조직 비율 (VAT/SAT, VAT/TAMA, TAMA/(VAT+SAT)), Tier 2 = 다른 landmark·조직(AEC 포함) 교차 로그 비. 일관 = 두 코호트 FDR&lt;0.05 &amp; 같은 방향 (OR Gangnam /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14</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200000"/>
          <a:ext cx="11175998" cy="4099998"/>
        </p:xfrm>
        <a:graphic>
          <a:graphicData uri="http://schemas.openxmlformats.org/drawingml/2006/table">
            <a:tbl>
              <a:tblPr firstRow="1" bandRow="1">
                <a:tableStyleId>{C083E6E3-FA7D-4D7B-A595-EF9225AFEA82}</a:tableStyleId>
              </a:tblPr>
              <a:tblGrid>
                <a:gridCol w="2108679"/>
                <a:gridCol w="1265207"/>
                <a:gridCol w="1476075"/>
                <a:gridCol w="1054339"/>
                <a:gridCol w="5271698"/>
              </a:tblGrid>
              <a:tr h="585714">
                <a:tc>
                  <a:txBody>
                    <a:bodyPr/>
                    <a:lstStyle/>
                    <a:p>
                      <a:pPr algn="ctr"/>
                      <a:r>
                        <a:rPr sz="1400" b="1"/>
                        <a:t>Tier</a:t>
                      </a:r>
                    </a:p>
                  </a:txBody>
                  <a:tcPr anchor="ctr"/>
                </a:tc>
                <a:tc>
                  <a:txBody>
                    <a:bodyPr/>
                    <a:lstStyle/>
                    <a:p>
                      <a:pPr algn="ctr"/>
                      <a:r>
                        <a:rPr sz="1400" b="1"/>
                        <a:t>Disease</a:t>
                      </a:r>
                    </a:p>
                  </a:txBody>
                  <a:tcPr anchor="ctr"/>
                </a:tc>
                <a:tc>
                  <a:txBody>
                    <a:bodyPr/>
                    <a:lstStyle/>
                    <a:p>
                      <a:pPr algn="ctr"/>
                      <a:r>
                        <a:rPr sz="1400" b="1"/>
                        <a:t>전체 feature</a:t>
                      </a:r>
                    </a:p>
                  </a:txBody>
                  <a:tcPr anchor="ctr"/>
                </a:tc>
                <a:tc>
                  <a:txBody>
                    <a:bodyPr/>
                    <a:lstStyle/>
                    <a:p>
                      <a:pPr algn="ctr"/>
                      <a:r>
                        <a:rPr sz="1400" b="1"/>
                        <a:t>일관</a:t>
                      </a:r>
                    </a:p>
                  </a:txBody>
                  <a:tcPr anchor="ctr"/>
                </a:tc>
                <a:tc>
                  <a:txBody>
                    <a:bodyPr/>
                    <a:lstStyle/>
                    <a:p>
                      <a:pPr algn="ctr"/>
                      <a:r>
                        <a:rPr sz="1400" b="1"/>
                        <a:t>best feature (OR)</a:t>
                      </a:r>
                    </a:p>
                  </a:txBody>
                  <a:tcPr anchor="ctr"/>
                </a:tc>
              </a:tr>
              <a:tr h="585714">
                <a:tc rowSpan="3">
                  <a:txBody>
                    <a:bodyPr/>
                    <a:lstStyle/>
                    <a:p>
                      <a:pPr algn="ctr"/>
                      <a:r>
                        <a:rPr sz="1100" b="0"/>
                        <a:t>Tier 1 (근거 있음)</a:t>
                      </a:r>
                    </a:p>
                  </a:txBody>
                  <a:tcPr anchor="ctr"/>
                </a:tc>
                <a:tc>
                  <a:txBody>
                    <a:bodyPr/>
                    <a:lstStyle/>
                    <a:p>
                      <a:pPr algn="ctr"/>
                      <a:r>
                        <a:rPr sz="1100" b="0"/>
                        <a:t>HTN</a:t>
                      </a:r>
                    </a:p>
                  </a:txBody>
                  <a:tcPr anchor="ctr"/>
                </a:tc>
                <a:tc>
                  <a:txBody>
                    <a:bodyPr/>
                    <a:lstStyle/>
                    <a:p>
                      <a:pPr algn="ctr"/>
                      <a:r>
                        <a:rPr sz="1100" b="0"/>
                        <a:t>33</a:t>
                      </a:r>
                    </a:p>
                  </a:txBody>
                  <a:tcPr anchor="ctr"/>
                </a:tc>
                <a:tc>
                  <a:txBody>
                    <a:bodyPr/>
                    <a:lstStyle/>
                    <a:p>
                      <a:pPr algn="ctr"/>
                      <a:r>
                        <a:rPr sz="1100" b="0"/>
                        <a:t>25</a:t>
                      </a:r>
                    </a:p>
                  </a:txBody>
                  <a:tcPr anchor="ctr"/>
                </a:tc>
                <a:tc>
                  <a:txBody>
                    <a:bodyPr/>
                    <a:lstStyle/>
                    <a:p>
                      <a:pPr algn="ctr"/>
                      <a:r>
                        <a:rPr sz="1100" b="0"/>
                        <a:t>VAT/SAT@L2 (1.50 / 1.59)</a:t>
                      </a:r>
                    </a:p>
                  </a:txBody>
                  <a:tcPr anchor="ctr"/>
                </a:tc>
              </a:tr>
              <a:tr h="585714">
                <a:tc vMerge="1">
                  <a:txBody>
                    <a:bodyPr/>
                    <a:lstStyle/>
                    <a:p/>
                  </a:txBody>
                  <a:tcPr/>
                </a:tc>
                <a:tc>
                  <a:txBody>
                    <a:bodyPr/>
                    <a:lstStyle/>
                    <a:p>
                      <a:pPr algn="ctr"/>
                      <a:r>
                        <a:rPr sz="1100" b="0"/>
                        <a:t>DM</a:t>
                      </a:r>
                    </a:p>
                  </a:txBody>
                  <a:tcPr anchor="ctr"/>
                </a:tc>
                <a:tc>
                  <a:txBody>
                    <a:bodyPr/>
                    <a:lstStyle/>
                    <a:p>
                      <a:pPr algn="ctr"/>
                      <a:r>
                        <a:rPr sz="1100" b="0"/>
                        <a:t>33</a:t>
                      </a:r>
                    </a:p>
                  </a:txBody>
                  <a:tcPr anchor="ctr"/>
                </a:tc>
                <a:tc>
                  <a:txBody>
                    <a:bodyPr/>
                    <a:lstStyle/>
                    <a:p>
                      <a:pPr algn="ctr"/>
                      <a:r>
                        <a:rPr sz="1100" b="0"/>
                        <a:t>7</a:t>
                      </a:r>
                    </a:p>
                  </a:txBody>
                  <a:tcPr anchor="ctr"/>
                </a:tc>
                <a:tc>
                  <a:txBody>
                    <a:bodyPr/>
                    <a:lstStyle/>
                    <a:p>
                      <a:pPr algn="ctr"/>
                      <a:r>
                        <a:rPr sz="1100" b="0"/>
                        <a:t>VAT/SAT@L3 (1.58 / 1.51)</a:t>
                      </a:r>
                    </a:p>
                  </a:txBody>
                  <a:tcPr anchor="ctr"/>
                </a:tc>
              </a:tr>
              <a:tr h="585714">
                <a:tc vMerge="1">
                  <a:txBody>
                    <a:bodyPr/>
                    <a:lstStyle/>
                    <a:p/>
                  </a:txBody>
                  <a:tcPr/>
                </a:tc>
                <a:tc>
                  <a:txBody>
                    <a:bodyPr/>
                    <a:lstStyle/>
                    <a:p>
                      <a:pPr algn="ctr"/>
                      <a:r>
                        <a:rPr sz="1100" b="0"/>
                        <a:t>CKD</a:t>
                      </a:r>
                    </a:p>
                  </a:txBody>
                  <a:tcPr anchor="ctr"/>
                </a:tc>
                <a:tc>
                  <a:txBody>
                    <a:bodyPr/>
                    <a:lstStyle/>
                    <a:p>
                      <a:pPr algn="ctr"/>
                      <a:r>
                        <a:rPr sz="1100" b="0"/>
                        <a:t>33</a:t>
                      </a:r>
                    </a:p>
                  </a:txBody>
                  <a:tcPr anchor="ctr"/>
                </a:tc>
                <a:tc>
                  <a:txBody>
                    <a:bodyPr/>
                    <a:lstStyle/>
                    <a:p>
                      <a:pPr algn="ctr"/>
                      <a:r>
                        <a:rPr sz="1100" b="0"/>
                        <a:t>0</a:t>
                      </a:r>
                    </a:p>
                  </a:txBody>
                  <a:tcPr anchor="ctr"/>
                </a:tc>
                <a:tc>
                  <a:txBody>
                    <a:bodyPr/>
                    <a:lstStyle/>
                    <a:p>
                      <a:pPr algn="ctr"/>
                      <a:r>
                        <a:rPr sz="1100" b="0"/>
                        <a:t>-</a:t>
                      </a:r>
                    </a:p>
                  </a:txBody>
                  <a:tcPr anchor="ctr"/>
                </a:tc>
              </a:tr>
              <a:tr h="585714">
                <a:tc rowSpan="3">
                  <a:txBody>
                    <a:bodyPr/>
                    <a:lstStyle/>
                    <a:p>
                      <a:pPr algn="ctr"/>
                      <a:r>
                        <a:rPr sz="1100" b="0"/>
                        <a:t>Tier 2 (탐색적)</a:t>
                      </a:r>
                    </a:p>
                  </a:txBody>
                  <a:tcPr anchor="ctr"/>
                </a:tc>
                <a:tc>
                  <a:txBody>
                    <a:bodyPr/>
                    <a:lstStyle/>
                    <a:p>
                      <a:pPr algn="ctr"/>
                      <a:r>
                        <a:rPr sz="1100" b="0"/>
                        <a:t>HTN</a:t>
                      </a:r>
                    </a:p>
                  </a:txBody>
                  <a:tcPr anchor="ctr"/>
                </a:tc>
                <a:tc>
                  <a:txBody>
                    <a:bodyPr/>
                    <a:lstStyle/>
                    <a:p>
                      <a:pPr algn="ctr"/>
                      <a:r>
                        <a:rPr sz="1100" b="0"/>
                        <a:t>1518</a:t>
                      </a:r>
                    </a:p>
                  </a:txBody>
                  <a:tcPr anchor="ctr"/>
                </a:tc>
                <a:tc>
                  <a:txBody>
                    <a:bodyPr/>
                    <a:lstStyle/>
                    <a:p>
                      <a:pPr algn="ctr"/>
                      <a:r>
                        <a:rPr sz="1100" b="0"/>
                        <a:t>562</a:t>
                      </a:r>
                    </a:p>
                  </a:txBody>
                  <a:tcPr anchor="ctr"/>
                </a:tc>
                <a:tc>
                  <a:txBody>
                    <a:bodyPr/>
                    <a:lstStyle/>
                    <a:p>
                      <a:pPr algn="ctr"/>
                      <a:r>
                        <a:rPr sz="1100" b="0"/>
                        <a:t>SAT@S1/VAT@L1 (0.59 / 0.60)</a:t>
                      </a:r>
                    </a:p>
                  </a:txBody>
                  <a:tcPr anchor="ctr"/>
                </a:tc>
              </a:tr>
              <a:tr h="585714">
                <a:tc vMerge="1">
                  <a:txBody>
                    <a:bodyPr/>
                    <a:lstStyle/>
                    <a:p/>
                  </a:txBody>
                  <a:tcPr/>
                </a:tc>
                <a:tc>
                  <a:txBody>
                    <a:bodyPr/>
                    <a:lstStyle/>
                    <a:p>
                      <a:pPr algn="ctr"/>
                      <a:r>
                        <a:rPr sz="1100" b="0"/>
                        <a:t>DM</a:t>
                      </a:r>
                    </a:p>
                  </a:txBody>
                  <a:tcPr anchor="ctr"/>
                </a:tc>
                <a:tc>
                  <a:txBody>
                    <a:bodyPr/>
                    <a:lstStyle/>
                    <a:p>
                      <a:pPr algn="ctr"/>
                      <a:r>
                        <a:rPr sz="1100" b="0"/>
                        <a:t>1518</a:t>
                      </a:r>
                    </a:p>
                  </a:txBody>
                  <a:tcPr anchor="ctr"/>
                </a:tc>
                <a:tc>
                  <a:txBody>
                    <a:bodyPr/>
                    <a:lstStyle/>
                    <a:p>
                      <a:pPr algn="ctr"/>
                      <a:r>
                        <a:rPr sz="1100" b="0"/>
                        <a:t>222</a:t>
                      </a:r>
                    </a:p>
                  </a:txBody>
                  <a:tcPr anchor="ctr"/>
                </a:tc>
                <a:tc>
                  <a:txBody>
                    <a:bodyPr/>
                    <a:lstStyle/>
                    <a:p>
                      <a:pPr algn="ctr"/>
                      <a:r>
                        <a:rPr sz="1100" b="0"/>
                        <a:t>VAT@L1/SAT@S1 (1.56 / 1.59)</a:t>
                      </a:r>
                    </a:p>
                  </a:txBody>
                  <a:tcPr anchor="ctr"/>
                </a:tc>
              </a:tr>
              <a:tr h="585714">
                <a:tc vMerge="1">
                  <a:txBody>
                    <a:bodyPr/>
                    <a:lstStyle/>
                    <a:p/>
                  </a:txBody>
                  <a:tcPr/>
                </a:tc>
                <a:tc>
                  <a:txBody>
                    <a:bodyPr/>
                    <a:lstStyle/>
                    <a:p>
                      <a:pPr algn="ctr"/>
                      <a:r>
                        <a:rPr sz="1100" b="0"/>
                        <a:t>CKD</a:t>
                      </a:r>
                    </a:p>
                  </a:txBody>
                  <a:tcPr anchor="ctr"/>
                </a:tc>
                <a:tc>
                  <a:txBody>
                    <a:bodyPr/>
                    <a:lstStyle/>
                    <a:p>
                      <a:pPr algn="ctr"/>
                      <a:r>
                        <a:rPr sz="1100" b="0"/>
                        <a:t>1518</a:t>
                      </a:r>
                    </a:p>
                  </a:txBody>
                  <a:tcPr anchor="ctr"/>
                </a:tc>
                <a:tc>
                  <a:txBody>
                    <a:bodyPr/>
                    <a:lstStyle/>
                    <a:p>
                      <a:pPr algn="ctr"/>
                      <a:r>
                        <a:rPr sz="1100" b="0"/>
                        <a:t>0</a:t>
                      </a:r>
                    </a:p>
                  </a:txBody>
                  <a:tcPr anchor="ctr"/>
                </a:tc>
                <a:tc>
                  <a:txBody>
                    <a:bodyPr/>
                    <a:lstStyle/>
                    <a:p>
                      <a:pPr algn="ctr"/>
                      <a:r>
                        <a:rPr sz="1100" b="0"/>
                        <a:t>-</a:t>
                      </a:r>
                    </a:p>
                  </a:txBody>
                  <a:tcPr anchor="ct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조합 세트 모델: 외부 AUC</a:t>
            </a:r>
          </a:p>
        </p:txBody>
      </p:sp>
      <p:sp>
        <p:nvSpPr>
          <p:cNvPr id="3" name="Content Placeholder 2"/>
          <p:cNvSpPr>
            <a:spLocks noGrp="1"/>
          </p:cNvSpPr>
          <p:nvPr>
            <p:ph idx="1"/>
          </p:nvPr>
        </p:nvSpPr>
        <p:spPr>
          <a:xfrm>
            <a:off x="508000" y="1050000"/>
            <a:ext cx="11176000" cy="800000"/>
          </a:xfrm>
        </p:spPr>
        <p:txBody>
          <a:bodyPr/>
          <a:lstStyle/>
          <a:p>
            <a:r>
              <a:rPr sz="1300" b="0">
                <a:solidFill>
                  <a:srgbClr val="333F4D"/>
                </a:solidFill>
              </a:rPr>
              <a:t>clinical(나이·성별·BMI)에 landmark 지표 세트를 더한 로지스틱. Gangnam 5-fold CV AUC, Gangnam 학습 → Sinchon 외부 AUC, DeLong p는 clinical 대비</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15</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900000"/>
          <a:ext cx="11175997" cy="4499998"/>
        </p:xfrm>
        <a:graphic>
          <a:graphicData uri="http://schemas.openxmlformats.org/drawingml/2006/table">
            <a:tbl>
              <a:tblPr firstRow="1" bandRow="1">
                <a:tableStyleId>{C083E6E3-FA7D-4D7B-A595-EF9225AFEA82}</a:tableStyleId>
              </a:tblPr>
              <a:tblGrid>
                <a:gridCol w="1186831"/>
                <a:gridCol w="3956106"/>
                <a:gridCol w="890123"/>
                <a:gridCol w="1384637"/>
                <a:gridCol w="1384637"/>
                <a:gridCol w="2373663"/>
              </a:tblGrid>
              <a:tr h="236842">
                <a:tc>
                  <a:txBody>
                    <a:bodyPr/>
                    <a:lstStyle/>
                    <a:p>
                      <a:pPr algn="ctr"/>
                      <a:r>
                        <a:rPr sz="1400" b="1"/>
                        <a:t>Disease</a:t>
                      </a:r>
                    </a:p>
                  </a:txBody>
                  <a:tcPr anchor="ctr"/>
                </a:tc>
                <a:tc>
                  <a:txBody>
                    <a:bodyPr/>
                    <a:lstStyle/>
                    <a:p>
                      <a:pPr algn="ctr"/>
                      <a:r>
                        <a:rPr sz="1400" b="1"/>
                        <a:t>Set</a:t>
                      </a:r>
                    </a:p>
                  </a:txBody>
                  <a:tcPr anchor="ctr"/>
                </a:tc>
                <a:tc>
                  <a:txBody>
                    <a:bodyPr/>
                    <a:lstStyle/>
                    <a:p>
                      <a:pPr algn="ctr"/>
                      <a:r>
                        <a:rPr sz="1400" b="1"/>
                        <a:t># Feat</a:t>
                      </a:r>
                    </a:p>
                  </a:txBody>
                  <a:tcPr anchor="ctr"/>
                </a:tc>
                <a:tc>
                  <a:txBody>
                    <a:bodyPr/>
                    <a:lstStyle/>
                    <a:p>
                      <a:pPr algn="ctr"/>
                      <a:r>
                        <a:rPr sz="1400" b="1"/>
                        <a:t>CV AUC (G)</a:t>
                      </a:r>
                    </a:p>
                  </a:txBody>
                  <a:tcPr anchor="ctr"/>
                </a:tc>
                <a:tc>
                  <a:txBody>
                    <a:bodyPr/>
                    <a:lstStyle/>
                    <a:p>
                      <a:pPr algn="ctr"/>
                      <a:r>
                        <a:rPr sz="1400" b="1"/>
                        <a:t>Ext AUC (S)</a:t>
                      </a:r>
                    </a:p>
                  </a:txBody>
                  <a:tcPr anchor="ctr"/>
                </a:tc>
                <a:tc>
                  <a:txBody>
                    <a:bodyPr/>
                    <a:lstStyle/>
                    <a:p>
                      <a:pPr algn="ctr"/>
                      <a:r>
                        <a:rPr sz="1400" b="1"/>
                        <a:t>Δ vs clinical</a:t>
                      </a:r>
                    </a:p>
                  </a:txBody>
                  <a:tcPr anchor="ctr"/>
                </a:tc>
              </a:tr>
              <a:tr h="236842">
                <a:tc rowSpan="6">
                  <a:txBody>
                    <a:bodyPr/>
                    <a:lstStyle/>
                    <a:p>
                      <a:pPr algn="ctr"/>
                      <a:r>
                        <a:rPr sz="1000" b="0"/>
                        <a:t>HTN</a:t>
                      </a:r>
                    </a:p>
                  </a:txBody>
                  <a:tcPr anchor="ctr"/>
                </a:tc>
                <a:tc>
                  <a:txBody>
                    <a:bodyPr/>
                    <a:lstStyle/>
                    <a:p>
                      <a:pPr algn="ctr"/>
                      <a:r>
                        <a:rPr sz="1000" b="0"/>
                        <a:t>clinical</a:t>
                      </a:r>
                    </a:p>
                  </a:txBody>
                  <a:tcPr anchor="ctr"/>
                </a:tc>
                <a:tc>
                  <a:txBody>
                    <a:bodyPr/>
                    <a:lstStyle/>
                    <a:p>
                      <a:pPr algn="ctr"/>
                      <a:r>
                        <a:rPr sz="1000" b="0"/>
                        <a:t>3</a:t>
                      </a:r>
                    </a:p>
                  </a:txBody>
                  <a:tcPr anchor="ctr"/>
                </a:tc>
                <a:tc>
                  <a:txBody>
                    <a:bodyPr/>
                    <a:lstStyle/>
                    <a:p>
                      <a:pPr algn="ctr"/>
                      <a:r>
                        <a:rPr sz="1000" b="0"/>
                        <a:t>0.782</a:t>
                      </a:r>
                    </a:p>
                  </a:txBody>
                  <a:tcPr anchor="ctr"/>
                </a:tc>
                <a:tc>
                  <a:txBody>
                    <a:bodyPr/>
                    <a:lstStyle/>
                    <a:p>
                      <a:pPr algn="ctr"/>
                      <a:r>
                        <a:rPr sz="1000" b="0"/>
                        <a:t>0.717</a:t>
                      </a:r>
                    </a:p>
                  </a:txBody>
                  <a:tcPr anchor="ctr"/>
                </a:tc>
                <a:tc>
                  <a:txBody>
                    <a:bodyPr/>
                    <a:lstStyle/>
                    <a:p>
                      <a:pPr algn="ctr"/>
                      <a:r>
                        <a:rPr sz="1000" b="0"/>
                        <a:t>-</a:t>
                      </a:r>
                    </a:p>
                  </a:txBody>
                  <a:tcPr anchor="ctr"/>
                </a:tc>
              </a:tr>
              <a:tr h="236842">
                <a:tc vMerge="1">
                  <a:txBody>
                    <a:bodyPr/>
                    <a:lstStyle/>
                    <a:p/>
                  </a:txBody>
                  <a:tcPr/>
                </a:tc>
                <a:tc>
                  <a:txBody>
                    <a:bodyPr/>
                    <a:lstStyle/>
                    <a:p>
                      <a:pPr algn="ctr"/>
                      <a:r>
                        <a:rPr sz="1000" b="0"/>
                        <a:t>VAT@L3</a:t>
                      </a:r>
                    </a:p>
                  </a:txBody>
                  <a:tcPr anchor="ctr"/>
                </a:tc>
                <a:tc>
                  <a:txBody>
                    <a:bodyPr/>
                    <a:lstStyle/>
                    <a:p>
                      <a:pPr algn="ctr"/>
                      <a:r>
                        <a:rPr sz="1000" b="0"/>
                        <a:t>4</a:t>
                      </a:r>
                    </a:p>
                  </a:txBody>
                  <a:tcPr anchor="ctr"/>
                </a:tc>
                <a:tc>
                  <a:txBody>
                    <a:bodyPr/>
                    <a:lstStyle/>
                    <a:p>
                      <a:pPr algn="ctr"/>
                      <a:r>
                        <a:rPr sz="1000" b="0"/>
                        <a:t>0.799</a:t>
                      </a:r>
                    </a:p>
                  </a:txBody>
                  <a:tcPr anchor="ctr"/>
                </a:tc>
                <a:tc>
                  <a:txBody>
                    <a:bodyPr/>
                    <a:lstStyle/>
                    <a:p>
                      <a:pPr algn="ctr"/>
                      <a:r>
                        <a:rPr sz="1000" b="0"/>
                        <a:t>0.721</a:t>
                      </a:r>
                    </a:p>
                  </a:txBody>
                  <a:tcPr anchor="ctr"/>
                </a:tc>
                <a:tc>
                  <a:txBody>
                    <a:bodyPr/>
                    <a:lstStyle/>
                    <a:p>
                      <a:pPr algn="ctr"/>
                      <a:r>
                        <a:rPr sz="1000" b="0"/>
                        <a:t>+0.004 (p=0.525)</a:t>
                      </a:r>
                    </a:p>
                  </a:txBody>
                  <a:tcPr anchor="ctr"/>
                </a:tc>
              </a:tr>
              <a:tr h="236842">
                <a:tc vMerge="1">
                  <a:txBody>
                    <a:bodyPr/>
                    <a:lstStyle/>
                    <a:p/>
                  </a:txBody>
                  <a:tcPr/>
                </a:tc>
                <a:tc>
                  <a:txBody>
                    <a:bodyPr/>
                    <a:lstStyle/>
                    <a:p>
                      <a:pPr algn="ctr"/>
                      <a:r>
                        <a:rPr sz="1000" b="0"/>
                        <a:t>VAT,SAT,TAMA@L3</a:t>
                      </a:r>
                    </a:p>
                  </a:txBody>
                  <a:tcPr anchor="ctr"/>
                </a:tc>
                <a:tc>
                  <a:txBody>
                    <a:bodyPr/>
                    <a:lstStyle/>
                    <a:p>
                      <a:pPr algn="ctr"/>
                      <a:r>
                        <a:rPr sz="1000" b="0"/>
                        <a:t>6</a:t>
                      </a:r>
                    </a:p>
                  </a:txBody>
                  <a:tcPr anchor="ctr"/>
                </a:tc>
                <a:tc>
                  <a:txBody>
                    <a:bodyPr/>
                    <a:lstStyle/>
                    <a:p>
                      <a:pPr algn="ctr"/>
                      <a:r>
                        <a:rPr sz="1000" b="0"/>
                        <a:t>0.797</a:t>
                      </a:r>
                    </a:p>
                  </a:txBody>
                  <a:tcPr anchor="ctr"/>
                </a:tc>
                <a:tc>
                  <a:txBody>
                    <a:bodyPr/>
                    <a:lstStyle/>
                    <a:p>
                      <a:pPr algn="ctr"/>
                      <a:r>
                        <a:rPr sz="1000" b="0"/>
                        <a:t>0.717</a:t>
                      </a:r>
                    </a:p>
                  </a:txBody>
                  <a:tcPr anchor="ctr"/>
                </a:tc>
                <a:tc>
                  <a:txBody>
                    <a:bodyPr/>
                    <a:lstStyle/>
                    <a:p>
                      <a:pPr algn="ctr"/>
                      <a:r>
                        <a:rPr sz="1000" b="0"/>
                        <a:t>-0.001 (p=0.917)</a:t>
                      </a:r>
                    </a:p>
                  </a:txBody>
                  <a:tcPr anchor="ctr"/>
                </a:tc>
              </a:tr>
              <a:tr h="236842">
                <a:tc vMerge="1">
                  <a:txBody>
                    <a:bodyPr/>
                    <a:lstStyle/>
                    <a:p/>
                  </a:txBody>
                  <a:tcPr/>
                </a:tc>
                <a:tc>
                  <a:txBody>
                    <a:bodyPr/>
                    <a:lstStyle/>
                    <a:p>
                      <a:pPr algn="ctr"/>
                      <a:r>
                        <a:rPr sz="1000" b="0"/>
                        <a:t>Tier1 ratios@L3</a:t>
                      </a:r>
                    </a:p>
                  </a:txBody>
                  <a:tcPr anchor="ctr"/>
                </a:tc>
                <a:tc>
                  <a:txBody>
                    <a:bodyPr/>
                    <a:lstStyle/>
                    <a:p>
                      <a:pPr algn="ctr"/>
                      <a:r>
                        <a:rPr sz="1000" b="0"/>
                        <a:t>6</a:t>
                      </a:r>
                    </a:p>
                  </a:txBody>
                  <a:tcPr anchor="ctr"/>
                </a:tc>
                <a:tc>
                  <a:txBody>
                    <a:bodyPr/>
                    <a:lstStyle/>
                    <a:p>
                      <a:pPr algn="ctr"/>
                      <a:r>
                        <a:rPr sz="1000" b="0"/>
                        <a:t>0.795</a:t>
                      </a:r>
                    </a:p>
                  </a:txBody>
                  <a:tcPr anchor="ctr"/>
                </a:tc>
                <a:tc>
                  <a:txBody>
                    <a:bodyPr/>
                    <a:lstStyle/>
                    <a:p>
                      <a:pPr algn="ctr"/>
                      <a:r>
                        <a:rPr sz="1000" b="0"/>
                        <a:t>0.719</a:t>
                      </a:r>
                    </a:p>
                  </a:txBody>
                  <a:tcPr anchor="ctr"/>
                </a:tc>
                <a:tc>
                  <a:txBody>
                    <a:bodyPr/>
                    <a:lstStyle/>
                    <a:p>
                      <a:pPr algn="ctr"/>
                      <a:r>
                        <a:rPr sz="1000" b="0"/>
                        <a:t>+0.001 (p=0.854)</a:t>
                      </a:r>
                    </a:p>
                  </a:txBody>
                  <a:tcPr anchor="ctr"/>
                </a:tc>
              </a:tr>
              <a:tr h="236842">
                <a:tc vMerge="1">
                  <a:txBody>
                    <a:bodyPr/>
                    <a:lstStyle/>
                    <a:p/>
                  </a:txBody>
                  <a:tcPr/>
                </a:tc>
                <a:tc>
                  <a:txBody>
                    <a:bodyPr/>
                    <a:lstStyle/>
                    <a:p>
                      <a:pPr algn="ctr"/>
                      <a:r>
                        <a:rPr sz="1000" b="0"/>
                        <a:t>Tier1 ratios@all landmarks</a:t>
                      </a:r>
                    </a:p>
                  </a:txBody>
                  <a:tcPr anchor="ctr"/>
                </a:tc>
                <a:tc>
                  <a:txBody>
                    <a:bodyPr/>
                    <a:lstStyle/>
                    <a:p>
                      <a:pPr algn="ctr"/>
                      <a:r>
                        <a:rPr sz="1000" b="0"/>
                        <a:t>36</a:t>
                      </a:r>
                    </a:p>
                  </a:txBody>
                  <a:tcPr anchor="ctr"/>
                </a:tc>
                <a:tc>
                  <a:txBody>
                    <a:bodyPr/>
                    <a:lstStyle/>
                    <a:p>
                      <a:pPr algn="ctr"/>
                      <a:r>
                        <a:rPr sz="1000" b="0"/>
                        <a:t>0.791</a:t>
                      </a:r>
                    </a:p>
                  </a:txBody>
                  <a:tcPr anchor="ctr"/>
                </a:tc>
                <a:tc>
                  <a:txBody>
                    <a:bodyPr/>
                    <a:lstStyle/>
                    <a:p>
                      <a:pPr algn="ctr"/>
                      <a:r>
                        <a:rPr sz="1000" b="0"/>
                        <a:t>0.727</a:t>
                      </a:r>
                    </a:p>
                  </a:txBody>
                  <a:tcPr anchor="ctr"/>
                </a:tc>
                <a:tc>
                  <a:txBody>
                    <a:bodyPr/>
                    <a:lstStyle/>
                    <a:p>
                      <a:pPr algn="ctr"/>
                      <a:r>
                        <a:rPr sz="1000" b="0"/>
                        <a:t>+0.010 (p=0.216)</a:t>
                      </a:r>
                    </a:p>
                  </a:txBody>
                  <a:tcPr anchor="ctr"/>
                </a:tc>
              </a:tr>
              <a:tr h="236842">
                <a:tc vMerge="1">
                  <a:txBody>
                    <a:bodyPr/>
                    <a:lstStyle/>
                    <a:p/>
                  </a:txBody>
                  <a:tcPr/>
                </a:tc>
                <a:tc>
                  <a:txBody>
                    <a:bodyPr/>
                    <a:lstStyle/>
                    <a:p>
                      <a:pPr algn="ctr"/>
                      <a:r>
                        <a:rPr sz="1000" b="0"/>
                        <a:t>VAT,SAT,TAMA@all landmarks</a:t>
                      </a:r>
                    </a:p>
                  </a:txBody>
                  <a:tcPr anchor="ctr"/>
                </a:tc>
                <a:tc>
                  <a:txBody>
                    <a:bodyPr/>
                    <a:lstStyle/>
                    <a:p>
                      <a:pPr algn="ctr"/>
                      <a:r>
                        <a:rPr sz="1000" b="0"/>
                        <a:t>38</a:t>
                      </a:r>
                    </a:p>
                  </a:txBody>
                  <a:tcPr anchor="ctr"/>
                </a:tc>
                <a:tc>
                  <a:txBody>
                    <a:bodyPr/>
                    <a:lstStyle/>
                    <a:p>
                      <a:pPr algn="ctr"/>
                      <a:r>
                        <a:rPr sz="1000" b="0"/>
                        <a:t>0.782</a:t>
                      </a:r>
                    </a:p>
                  </a:txBody>
                  <a:tcPr anchor="ctr"/>
                </a:tc>
                <a:tc>
                  <a:txBody>
                    <a:bodyPr/>
                    <a:lstStyle/>
                    <a:p>
                      <a:pPr algn="ctr"/>
                      <a:r>
                        <a:rPr sz="1000" b="0"/>
                        <a:t>0.716</a:t>
                      </a:r>
                    </a:p>
                  </a:txBody>
                  <a:tcPr anchor="ctr"/>
                </a:tc>
                <a:tc>
                  <a:txBody>
                    <a:bodyPr/>
                    <a:lstStyle/>
                    <a:p>
                      <a:pPr algn="ctr"/>
                      <a:r>
                        <a:rPr sz="1000" b="0"/>
                        <a:t>-0.001 (p=0.894)</a:t>
                      </a:r>
                    </a:p>
                  </a:txBody>
                  <a:tcPr anchor="ctr"/>
                </a:tc>
              </a:tr>
              <a:tr h="236842">
                <a:tc rowSpan="6">
                  <a:txBody>
                    <a:bodyPr/>
                    <a:lstStyle/>
                    <a:p>
                      <a:pPr algn="ctr"/>
                      <a:r>
                        <a:rPr sz="1000" b="0"/>
                        <a:t>DM</a:t>
                      </a:r>
                    </a:p>
                  </a:txBody>
                  <a:tcPr anchor="ctr"/>
                </a:tc>
                <a:tc>
                  <a:txBody>
                    <a:bodyPr/>
                    <a:lstStyle/>
                    <a:p>
                      <a:pPr algn="ctr"/>
                      <a:r>
                        <a:rPr sz="1000" b="0"/>
                        <a:t>clinical</a:t>
                      </a:r>
                    </a:p>
                  </a:txBody>
                  <a:tcPr anchor="ctr"/>
                </a:tc>
                <a:tc>
                  <a:txBody>
                    <a:bodyPr/>
                    <a:lstStyle/>
                    <a:p>
                      <a:pPr algn="ctr"/>
                      <a:r>
                        <a:rPr sz="1000" b="0"/>
                        <a:t>3</a:t>
                      </a:r>
                    </a:p>
                  </a:txBody>
                  <a:tcPr anchor="ctr"/>
                </a:tc>
                <a:tc>
                  <a:txBody>
                    <a:bodyPr/>
                    <a:lstStyle/>
                    <a:p>
                      <a:pPr algn="ctr"/>
                      <a:r>
                        <a:rPr sz="1000" b="0"/>
                        <a:t>0.721</a:t>
                      </a:r>
                    </a:p>
                  </a:txBody>
                  <a:tcPr anchor="ctr"/>
                </a:tc>
                <a:tc>
                  <a:txBody>
                    <a:bodyPr/>
                    <a:lstStyle/>
                    <a:p>
                      <a:pPr algn="ctr"/>
                      <a:r>
                        <a:rPr sz="1000" b="0"/>
                        <a:t>0.687</a:t>
                      </a:r>
                    </a:p>
                  </a:txBody>
                  <a:tcPr anchor="ctr"/>
                </a:tc>
                <a:tc>
                  <a:txBody>
                    <a:bodyPr/>
                    <a:lstStyle/>
                    <a:p>
                      <a:pPr algn="ctr"/>
                      <a:r>
                        <a:rPr sz="1000" b="0"/>
                        <a:t>-</a:t>
                      </a:r>
                    </a:p>
                  </a:txBody>
                  <a:tcPr anchor="ctr"/>
                </a:tc>
              </a:tr>
              <a:tr h="236842">
                <a:tc vMerge="1">
                  <a:txBody>
                    <a:bodyPr/>
                    <a:lstStyle/>
                    <a:p/>
                  </a:txBody>
                  <a:tcPr/>
                </a:tc>
                <a:tc>
                  <a:txBody>
                    <a:bodyPr/>
                    <a:lstStyle/>
                    <a:p>
                      <a:pPr algn="ctr"/>
                      <a:r>
                        <a:rPr sz="1000" b="0"/>
                        <a:t>VAT@L3</a:t>
                      </a:r>
                    </a:p>
                  </a:txBody>
                  <a:tcPr anchor="ctr"/>
                </a:tc>
                <a:tc>
                  <a:txBody>
                    <a:bodyPr/>
                    <a:lstStyle/>
                    <a:p>
                      <a:pPr algn="ctr"/>
                      <a:r>
                        <a:rPr sz="1000" b="0"/>
                        <a:t>4</a:t>
                      </a:r>
                    </a:p>
                  </a:txBody>
                  <a:tcPr anchor="ctr"/>
                </a:tc>
                <a:tc>
                  <a:txBody>
                    <a:bodyPr/>
                    <a:lstStyle/>
                    <a:p>
                      <a:pPr algn="ctr"/>
                      <a:r>
                        <a:rPr sz="1000" b="0"/>
                        <a:t>0.730</a:t>
                      </a:r>
                    </a:p>
                  </a:txBody>
                  <a:tcPr anchor="ctr"/>
                </a:tc>
                <a:tc>
                  <a:txBody>
                    <a:bodyPr/>
                    <a:lstStyle/>
                    <a:p>
                      <a:pPr algn="ctr"/>
                      <a:r>
                        <a:rPr sz="1000" b="0"/>
                        <a:t>0.686</a:t>
                      </a:r>
                    </a:p>
                  </a:txBody>
                  <a:tcPr anchor="ctr"/>
                </a:tc>
                <a:tc>
                  <a:txBody>
                    <a:bodyPr/>
                    <a:lstStyle/>
                    <a:p>
                      <a:pPr algn="ctr"/>
                      <a:r>
                        <a:rPr sz="1000" b="0"/>
                        <a:t>-0.001 (p=0.904)</a:t>
                      </a:r>
                    </a:p>
                  </a:txBody>
                  <a:tcPr anchor="ctr"/>
                </a:tc>
              </a:tr>
              <a:tr h="236842">
                <a:tc vMerge="1">
                  <a:txBody>
                    <a:bodyPr/>
                    <a:lstStyle/>
                    <a:p/>
                  </a:txBody>
                  <a:tcPr/>
                </a:tc>
                <a:tc>
                  <a:txBody>
                    <a:bodyPr/>
                    <a:lstStyle/>
                    <a:p>
                      <a:pPr algn="ctr"/>
                      <a:r>
                        <a:rPr sz="1000" b="0"/>
                        <a:t>VAT,SAT,TAMA@L3</a:t>
                      </a:r>
                    </a:p>
                  </a:txBody>
                  <a:tcPr anchor="ctr"/>
                </a:tc>
                <a:tc>
                  <a:txBody>
                    <a:bodyPr/>
                    <a:lstStyle/>
                    <a:p>
                      <a:pPr algn="ctr"/>
                      <a:r>
                        <a:rPr sz="1000" b="0"/>
                        <a:t>6</a:t>
                      </a:r>
                    </a:p>
                  </a:txBody>
                  <a:tcPr anchor="ctr"/>
                </a:tc>
                <a:tc>
                  <a:txBody>
                    <a:bodyPr/>
                    <a:lstStyle/>
                    <a:p>
                      <a:pPr algn="ctr"/>
                      <a:r>
                        <a:rPr sz="1000" b="0"/>
                        <a:t>0.728</a:t>
                      </a:r>
                    </a:p>
                  </a:txBody>
                  <a:tcPr anchor="ctr"/>
                </a:tc>
                <a:tc>
                  <a:txBody>
                    <a:bodyPr/>
                    <a:lstStyle/>
                    <a:p>
                      <a:pPr algn="ctr"/>
                      <a:r>
                        <a:rPr sz="1000" b="0"/>
                        <a:t>0.693</a:t>
                      </a:r>
                    </a:p>
                  </a:txBody>
                  <a:tcPr anchor="ctr"/>
                </a:tc>
                <a:tc>
                  <a:txBody>
                    <a:bodyPr/>
                    <a:lstStyle/>
                    <a:p>
                      <a:pPr algn="ctr"/>
                      <a:r>
                        <a:rPr sz="1000" b="0"/>
                        <a:t>+0.005 (p=0.409)</a:t>
                      </a:r>
                    </a:p>
                  </a:txBody>
                  <a:tcPr anchor="ctr"/>
                </a:tc>
              </a:tr>
              <a:tr h="236842">
                <a:tc vMerge="1">
                  <a:txBody>
                    <a:bodyPr/>
                    <a:lstStyle/>
                    <a:p/>
                  </a:txBody>
                  <a:tcPr/>
                </a:tc>
                <a:tc>
                  <a:txBody>
                    <a:bodyPr/>
                    <a:lstStyle/>
                    <a:p>
                      <a:pPr algn="ctr"/>
                      <a:r>
                        <a:rPr sz="1000" b="0"/>
                        <a:t>Tier1 ratios@L3</a:t>
                      </a:r>
                    </a:p>
                  </a:txBody>
                  <a:tcPr anchor="ctr"/>
                </a:tc>
                <a:tc>
                  <a:txBody>
                    <a:bodyPr/>
                    <a:lstStyle/>
                    <a:p>
                      <a:pPr algn="ctr"/>
                      <a:r>
                        <a:rPr sz="1000" b="0"/>
                        <a:t>6</a:t>
                      </a:r>
                    </a:p>
                  </a:txBody>
                  <a:tcPr anchor="ctr"/>
                </a:tc>
                <a:tc>
                  <a:txBody>
                    <a:bodyPr/>
                    <a:lstStyle/>
                    <a:p>
                      <a:pPr algn="ctr"/>
                      <a:r>
                        <a:rPr sz="1000" b="0"/>
                        <a:t>0.727</a:t>
                      </a:r>
                    </a:p>
                  </a:txBody>
                  <a:tcPr anchor="ctr"/>
                </a:tc>
                <a:tc>
                  <a:txBody>
                    <a:bodyPr/>
                    <a:lstStyle/>
                    <a:p>
                      <a:pPr algn="ctr"/>
                      <a:r>
                        <a:rPr sz="1000" b="0"/>
                        <a:t>0.704</a:t>
                      </a:r>
                    </a:p>
                  </a:txBody>
                  <a:tcPr anchor="ctr"/>
                </a:tc>
                <a:tc>
                  <a:txBody>
                    <a:bodyPr/>
                    <a:lstStyle/>
                    <a:p>
                      <a:pPr algn="ctr"/>
                      <a:r>
                        <a:rPr sz="1000" b="0"/>
                        <a:t>+0.017 (p=0.022)</a:t>
                      </a:r>
                    </a:p>
                  </a:txBody>
                  <a:tcPr anchor="ctr"/>
                </a:tc>
              </a:tr>
              <a:tr h="236842">
                <a:tc vMerge="1">
                  <a:txBody>
                    <a:bodyPr/>
                    <a:lstStyle/>
                    <a:p/>
                  </a:txBody>
                  <a:tcPr/>
                </a:tc>
                <a:tc>
                  <a:txBody>
                    <a:bodyPr/>
                    <a:lstStyle/>
                    <a:p>
                      <a:pPr algn="ctr"/>
                      <a:r>
                        <a:rPr sz="1000" b="0"/>
                        <a:t>Tier1 ratios@all landmarks</a:t>
                      </a:r>
                    </a:p>
                  </a:txBody>
                  <a:tcPr anchor="ctr"/>
                </a:tc>
                <a:tc>
                  <a:txBody>
                    <a:bodyPr/>
                    <a:lstStyle/>
                    <a:p>
                      <a:pPr algn="ctr"/>
                      <a:r>
                        <a:rPr sz="1000" b="0"/>
                        <a:t>36</a:t>
                      </a:r>
                    </a:p>
                  </a:txBody>
                  <a:tcPr anchor="ctr"/>
                </a:tc>
                <a:tc>
                  <a:txBody>
                    <a:bodyPr/>
                    <a:lstStyle/>
                    <a:p>
                      <a:pPr algn="ctr"/>
                      <a:r>
                        <a:rPr sz="1000" b="0"/>
                        <a:t>0.722</a:t>
                      </a:r>
                    </a:p>
                  </a:txBody>
                  <a:tcPr anchor="ctr"/>
                </a:tc>
                <a:tc>
                  <a:txBody>
                    <a:bodyPr/>
                    <a:lstStyle/>
                    <a:p>
                      <a:pPr algn="ctr"/>
                      <a:r>
                        <a:rPr sz="1000" b="0"/>
                        <a:t>0.696</a:t>
                      </a:r>
                    </a:p>
                  </a:txBody>
                  <a:tcPr anchor="ctr"/>
                </a:tc>
                <a:tc>
                  <a:txBody>
                    <a:bodyPr/>
                    <a:lstStyle/>
                    <a:p>
                      <a:pPr algn="ctr"/>
                      <a:r>
                        <a:rPr sz="1000" b="0"/>
                        <a:t>+0.009 (p=0.440)</a:t>
                      </a:r>
                    </a:p>
                  </a:txBody>
                  <a:tcPr anchor="ctr"/>
                </a:tc>
              </a:tr>
              <a:tr h="236842">
                <a:tc vMerge="1">
                  <a:txBody>
                    <a:bodyPr/>
                    <a:lstStyle/>
                    <a:p/>
                  </a:txBody>
                  <a:tcPr/>
                </a:tc>
                <a:tc>
                  <a:txBody>
                    <a:bodyPr/>
                    <a:lstStyle/>
                    <a:p>
                      <a:pPr algn="ctr"/>
                      <a:r>
                        <a:rPr sz="1000" b="0"/>
                        <a:t>VAT,SAT,TAMA@all landmarks</a:t>
                      </a:r>
                    </a:p>
                  </a:txBody>
                  <a:tcPr anchor="ctr"/>
                </a:tc>
                <a:tc>
                  <a:txBody>
                    <a:bodyPr/>
                    <a:lstStyle/>
                    <a:p>
                      <a:pPr algn="ctr"/>
                      <a:r>
                        <a:rPr sz="1000" b="0"/>
                        <a:t>38</a:t>
                      </a:r>
                    </a:p>
                  </a:txBody>
                  <a:tcPr anchor="ctr"/>
                </a:tc>
                <a:tc>
                  <a:txBody>
                    <a:bodyPr/>
                    <a:lstStyle/>
                    <a:p>
                      <a:pPr algn="ctr"/>
                      <a:r>
                        <a:rPr sz="1000" b="0"/>
                        <a:t>0.738</a:t>
                      </a:r>
                    </a:p>
                  </a:txBody>
                  <a:tcPr anchor="ctr"/>
                </a:tc>
                <a:tc>
                  <a:txBody>
                    <a:bodyPr/>
                    <a:lstStyle/>
                    <a:p>
                      <a:pPr algn="ctr"/>
                      <a:r>
                        <a:rPr sz="1000" b="0"/>
                        <a:t>0.694</a:t>
                      </a:r>
                    </a:p>
                  </a:txBody>
                  <a:tcPr anchor="ctr"/>
                </a:tc>
                <a:tc>
                  <a:txBody>
                    <a:bodyPr/>
                    <a:lstStyle/>
                    <a:p>
                      <a:pPr algn="ctr"/>
                      <a:r>
                        <a:rPr sz="1000" b="0"/>
                        <a:t>+0.007 (p=0.606)</a:t>
                      </a:r>
                    </a:p>
                  </a:txBody>
                  <a:tcPr anchor="ctr"/>
                </a:tc>
              </a:tr>
              <a:tr h="236842">
                <a:tc rowSpan="6">
                  <a:txBody>
                    <a:bodyPr/>
                    <a:lstStyle/>
                    <a:p>
                      <a:pPr algn="ctr"/>
                      <a:r>
                        <a:rPr sz="1000" b="0"/>
                        <a:t>CKD</a:t>
                      </a:r>
                    </a:p>
                  </a:txBody>
                  <a:tcPr anchor="ctr"/>
                </a:tc>
                <a:tc>
                  <a:txBody>
                    <a:bodyPr/>
                    <a:lstStyle/>
                    <a:p>
                      <a:pPr algn="ctr"/>
                      <a:r>
                        <a:rPr sz="1000" b="0"/>
                        <a:t>clinical</a:t>
                      </a:r>
                    </a:p>
                  </a:txBody>
                  <a:tcPr anchor="ctr"/>
                </a:tc>
                <a:tc>
                  <a:txBody>
                    <a:bodyPr/>
                    <a:lstStyle/>
                    <a:p>
                      <a:pPr algn="ctr"/>
                      <a:r>
                        <a:rPr sz="1000" b="0"/>
                        <a:t>3</a:t>
                      </a:r>
                    </a:p>
                  </a:txBody>
                  <a:tcPr anchor="ctr"/>
                </a:tc>
                <a:tc>
                  <a:txBody>
                    <a:bodyPr/>
                    <a:lstStyle/>
                    <a:p>
                      <a:pPr algn="ctr"/>
                      <a:r>
                        <a:rPr sz="1000" b="0"/>
                        <a:t>0.766</a:t>
                      </a:r>
                    </a:p>
                  </a:txBody>
                  <a:tcPr anchor="ctr"/>
                </a:tc>
                <a:tc>
                  <a:txBody>
                    <a:bodyPr/>
                    <a:lstStyle/>
                    <a:p>
                      <a:pPr algn="ctr"/>
                      <a:r>
                        <a:rPr sz="1000" b="0"/>
                        <a:t>0.616</a:t>
                      </a:r>
                    </a:p>
                  </a:txBody>
                  <a:tcPr anchor="ctr"/>
                </a:tc>
                <a:tc>
                  <a:txBody>
                    <a:bodyPr/>
                    <a:lstStyle/>
                    <a:p>
                      <a:pPr algn="ctr"/>
                      <a:r>
                        <a:rPr sz="1000" b="0"/>
                        <a:t>-</a:t>
                      </a:r>
                    </a:p>
                  </a:txBody>
                  <a:tcPr anchor="ctr"/>
                </a:tc>
              </a:tr>
              <a:tr h="236842">
                <a:tc vMerge="1">
                  <a:txBody>
                    <a:bodyPr/>
                    <a:lstStyle/>
                    <a:p/>
                  </a:txBody>
                  <a:tcPr/>
                </a:tc>
                <a:tc>
                  <a:txBody>
                    <a:bodyPr/>
                    <a:lstStyle/>
                    <a:p>
                      <a:pPr algn="ctr"/>
                      <a:r>
                        <a:rPr sz="1000" b="0"/>
                        <a:t>VAT@L3</a:t>
                      </a:r>
                    </a:p>
                  </a:txBody>
                  <a:tcPr anchor="ctr"/>
                </a:tc>
                <a:tc>
                  <a:txBody>
                    <a:bodyPr/>
                    <a:lstStyle/>
                    <a:p>
                      <a:pPr algn="ctr"/>
                      <a:r>
                        <a:rPr sz="1000" b="0"/>
                        <a:t>4</a:t>
                      </a:r>
                    </a:p>
                  </a:txBody>
                  <a:tcPr anchor="ctr"/>
                </a:tc>
                <a:tc>
                  <a:txBody>
                    <a:bodyPr/>
                    <a:lstStyle/>
                    <a:p>
                      <a:pPr algn="ctr"/>
                      <a:r>
                        <a:rPr sz="1000" b="0"/>
                        <a:t>0.765</a:t>
                      </a:r>
                    </a:p>
                  </a:txBody>
                  <a:tcPr anchor="ctr"/>
                </a:tc>
                <a:tc>
                  <a:txBody>
                    <a:bodyPr/>
                    <a:lstStyle/>
                    <a:p>
                      <a:pPr algn="ctr"/>
                      <a:r>
                        <a:rPr sz="1000" b="0"/>
                        <a:t>0.615</a:t>
                      </a:r>
                    </a:p>
                  </a:txBody>
                  <a:tcPr anchor="ctr"/>
                </a:tc>
                <a:tc>
                  <a:txBody>
                    <a:bodyPr/>
                    <a:lstStyle/>
                    <a:p>
                      <a:pPr algn="ctr"/>
                      <a:r>
                        <a:rPr sz="1000" b="0"/>
                        <a:t>-0.001 (p=0.092)</a:t>
                      </a:r>
                    </a:p>
                  </a:txBody>
                  <a:tcPr anchor="ctr"/>
                </a:tc>
              </a:tr>
              <a:tr h="236842">
                <a:tc vMerge="1">
                  <a:txBody>
                    <a:bodyPr/>
                    <a:lstStyle/>
                    <a:p/>
                  </a:txBody>
                  <a:tcPr/>
                </a:tc>
                <a:tc>
                  <a:txBody>
                    <a:bodyPr/>
                    <a:lstStyle/>
                    <a:p>
                      <a:pPr algn="ctr"/>
                      <a:r>
                        <a:rPr sz="1000" b="0"/>
                        <a:t>VAT,SAT,TAMA@L3</a:t>
                      </a:r>
                    </a:p>
                  </a:txBody>
                  <a:tcPr anchor="ctr"/>
                </a:tc>
                <a:tc>
                  <a:txBody>
                    <a:bodyPr/>
                    <a:lstStyle/>
                    <a:p>
                      <a:pPr algn="ctr"/>
                      <a:r>
                        <a:rPr sz="1000" b="0"/>
                        <a:t>6</a:t>
                      </a:r>
                    </a:p>
                  </a:txBody>
                  <a:tcPr anchor="ctr"/>
                </a:tc>
                <a:tc>
                  <a:txBody>
                    <a:bodyPr/>
                    <a:lstStyle/>
                    <a:p>
                      <a:pPr algn="ctr"/>
                      <a:r>
                        <a:rPr sz="1000" b="0"/>
                        <a:t>0.760</a:t>
                      </a:r>
                    </a:p>
                  </a:txBody>
                  <a:tcPr anchor="ctr"/>
                </a:tc>
                <a:tc>
                  <a:txBody>
                    <a:bodyPr/>
                    <a:lstStyle/>
                    <a:p>
                      <a:pPr algn="ctr"/>
                      <a:r>
                        <a:rPr sz="1000" b="0"/>
                        <a:t>0.609</a:t>
                      </a:r>
                    </a:p>
                  </a:txBody>
                  <a:tcPr anchor="ctr"/>
                </a:tc>
                <a:tc>
                  <a:txBody>
                    <a:bodyPr/>
                    <a:lstStyle/>
                    <a:p>
                      <a:pPr algn="ctr"/>
                      <a:r>
                        <a:rPr sz="1000" b="0"/>
                        <a:t>-0.007 (p=0.117)</a:t>
                      </a:r>
                    </a:p>
                  </a:txBody>
                  <a:tcPr anchor="ctr"/>
                </a:tc>
              </a:tr>
              <a:tr h="236842">
                <a:tc vMerge="1">
                  <a:txBody>
                    <a:bodyPr/>
                    <a:lstStyle/>
                    <a:p/>
                  </a:txBody>
                  <a:tcPr/>
                </a:tc>
                <a:tc>
                  <a:txBody>
                    <a:bodyPr/>
                    <a:lstStyle/>
                    <a:p>
                      <a:pPr algn="ctr"/>
                      <a:r>
                        <a:rPr sz="1000" b="0"/>
                        <a:t>Tier1 ratios@L3</a:t>
                      </a:r>
                    </a:p>
                  </a:txBody>
                  <a:tcPr anchor="ctr"/>
                </a:tc>
                <a:tc>
                  <a:txBody>
                    <a:bodyPr/>
                    <a:lstStyle/>
                    <a:p>
                      <a:pPr algn="ctr"/>
                      <a:r>
                        <a:rPr sz="1000" b="0"/>
                        <a:t>6</a:t>
                      </a:r>
                    </a:p>
                  </a:txBody>
                  <a:tcPr anchor="ctr"/>
                </a:tc>
                <a:tc>
                  <a:txBody>
                    <a:bodyPr/>
                    <a:lstStyle/>
                    <a:p>
                      <a:pPr algn="ctr"/>
                      <a:r>
                        <a:rPr sz="1000" b="0"/>
                        <a:t>0.760</a:t>
                      </a:r>
                    </a:p>
                  </a:txBody>
                  <a:tcPr anchor="ctr"/>
                </a:tc>
                <a:tc>
                  <a:txBody>
                    <a:bodyPr/>
                    <a:lstStyle/>
                    <a:p>
                      <a:pPr algn="ctr"/>
                      <a:r>
                        <a:rPr sz="1000" b="0"/>
                        <a:t>0.617</a:t>
                      </a:r>
                    </a:p>
                  </a:txBody>
                  <a:tcPr anchor="ctr"/>
                </a:tc>
                <a:tc>
                  <a:txBody>
                    <a:bodyPr/>
                    <a:lstStyle/>
                    <a:p>
                      <a:pPr algn="ctr"/>
                      <a:r>
                        <a:rPr sz="1000" b="0"/>
                        <a:t>+0.001 (p=0.781)</a:t>
                      </a:r>
                    </a:p>
                  </a:txBody>
                  <a:tcPr anchor="ctr"/>
                </a:tc>
              </a:tr>
              <a:tr h="236842">
                <a:tc vMerge="1">
                  <a:txBody>
                    <a:bodyPr/>
                    <a:lstStyle/>
                    <a:p/>
                  </a:txBody>
                  <a:tcPr/>
                </a:tc>
                <a:tc>
                  <a:txBody>
                    <a:bodyPr/>
                    <a:lstStyle/>
                    <a:p>
                      <a:pPr algn="ctr"/>
                      <a:r>
                        <a:rPr sz="1000" b="0"/>
                        <a:t>Tier1 ratios@all landmarks</a:t>
                      </a:r>
                    </a:p>
                  </a:txBody>
                  <a:tcPr anchor="ctr"/>
                </a:tc>
                <a:tc>
                  <a:txBody>
                    <a:bodyPr/>
                    <a:lstStyle/>
                    <a:p>
                      <a:pPr algn="ctr"/>
                      <a:r>
                        <a:rPr sz="1000" b="0"/>
                        <a:t>36</a:t>
                      </a:r>
                    </a:p>
                  </a:txBody>
                  <a:tcPr anchor="ctr"/>
                </a:tc>
                <a:tc>
                  <a:txBody>
                    <a:bodyPr/>
                    <a:lstStyle/>
                    <a:p>
                      <a:pPr algn="ctr"/>
                      <a:r>
                        <a:rPr sz="1000" b="0"/>
                        <a:t>0.745</a:t>
                      </a:r>
                    </a:p>
                  </a:txBody>
                  <a:tcPr anchor="ctr"/>
                </a:tc>
                <a:tc>
                  <a:txBody>
                    <a:bodyPr/>
                    <a:lstStyle/>
                    <a:p>
                      <a:pPr algn="ctr"/>
                      <a:r>
                        <a:rPr sz="1000" b="0"/>
                        <a:t>0.628</a:t>
                      </a:r>
                    </a:p>
                  </a:txBody>
                  <a:tcPr anchor="ctr"/>
                </a:tc>
                <a:tc>
                  <a:txBody>
                    <a:bodyPr/>
                    <a:lstStyle/>
                    <a:p>
                      <a:pPr algn="ctr"/>
                      <a:r>
                        <a:rPr sz="1000" b="0"/>
                        <a:t>+0.012 (p=0.290)</a:t>
                      </a:r>
                    </a:p>
                  </a:txBody>
                  <a:tcPr anchor="ctr"/>
                </a:tc>
              </a:tr>
              <a:tr h="236842">
                <a:tc vMerge="1">
                  <a:txBody>
                    <a:bodyPr/>
                    <a:lstStyle/>
                    <a:p/>
                  </a:txBody>
                  <a:tcPr/>
                </a:tc>
                <a:tc>
                  <a:txBody>
                    <a:bodyPr/>
                    <a:lstStyle/>
                    <a:p>
                      <a:pPr algn="ctr"/>
                      <a:r>
                        <a:rPr sz="1000" b="0"/>
                        <a:t>VAT,SAT,TAMA@all landmarks</a:t>
                      </a:r>
                    </a:p>
                  </a:txBody>
                  <a:tcPr anchor="ctr"/>
                </a:tc>
                <a:tc>
                  <a:txBody>
                    <a:bodyPr/>
                    <a:lstStyle/>
                    <a:p>
                      <a:pPr algn="ctr"/>
                      <a:r>
                        <a:rPr sz="1000" b="0"/>
                        <a:t>38</a:t>
                      </a:r>
                    </a:p>
                  </a:txBody>
                  <a:tcPr anchor="ctr"/>
                </a:tc>
                <a:tc>
                  <a:txBody>
                    <a:bodyPr/>
                    <a:lstStyle/>
                    <a:p>
                      <a:pPr algn="ctr"/>
                      <a:r>
                        <a:rPr sz="1000" b="0"/>
                        <a:t>0.769</a:t>
                      </a:r>
                    </a:p>
                  </a:txBody>
                  <a:tcPr anchor="ctr"/>
                </a:tc>
                <a:tc>
                  <a:txBody>
                    <a:bodyPr/>
                    <a:lstStyle/>
                    <a:p>
                      <a:pPr algn="ctr"/>
                      <a:r>
                        <a:rPr sz="1000" b="0"/>
                        <a:t>0.642</a:t>
                      </a:r>
                    </a:p>
                  </a:txBody>
                  <a:tcPr anchor="ctr"/>
                </a:tc>
                <a:tc>
                  <a:txBody>
                    <a:bodyPr/>
                    <a:lstStyle/>
                    <a:p>
                      <a:pPr algn="ctr"/>
                      <a:r>
                        <a:rPr sz="1000" b="0"/>
                        <a:t>+0.026 (p=0.074)</a:t>
                      </a:r>
                    </a:p>
                  </a:txBody>
                  <a:tcPr anchor="ct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모델 비교: MLP vs 로지스틱 회귀</a:t>
            </a:r>
          </a:p>
        </p:txBody>
      </p:sp>
      <p:sp>
        <p:nvSpPr>
          <p:cNvPr id="3" name="Content Placeholder 2"/>
          <p:cNvSpPr>
            <a:spLocks noGrp="1"/>
          </p:cNvSpPr>
          <p:nvPr>
            <p:ph idx="1"/>
          </p:nvPr>
        </p:nvSpPr>
        <p:spPr>
          <a:xfrm>
            <a:off x="508000" y="1050000"/>
            <a:ext cx="11176000" cy="900000"/>
          </a:xfrm>
        </p:spPr>
        <p:txBody>
          <a:bodyPr/>
          <a:lstStyle/>
          <a:p>
            <a:r>
              <a:rPr sz="1300" b="0">
                <a:solidFill>
                  <a:srgbClr val="333F4D"/>
                </a:solidFill>
              </a:rPr>
              <a:t>clinical에 landmark 지표 세트를 더한 모델. 값은 LR / MLP. MLP는 inner CV로 하이퍼파라미터 선택. 전체 21개 세트 평균 외부 AUC 차이(MLP−LR) -0.001, 개별 차이 모두 |0.012| 이하</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17</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100000"/>
          <a:ext cx="11175998" cy="4299997"/>
        </p:xfrm>
        <a:graphic>
          <a:graphicData uri="http://schemas.openxmlformats.org/drawingml/2006/table">
            <a:tbl>
              <a:tblPr firstRow="1" bandRow="1">
                <a:tableStyleId>{C083E6E3-FA7D-4D7B-A595-EF9225AFEA82}</a:tableStyleId>
              </a:tblPr>
              <a:tblGrid>
                <a:gridCol w="1099278"/>
                <a:gridCol w="3297836"/>
                <a:gridCol w="2198557"/>
                <a:gridCol w="2198557"/>
                <a:gridCol w="2381770"/>
              </a:tblGrid>
              <a:tr h="330769">
                <a:tc>
                  <a:txBody>
                    <a:bodyPr/>
                    <a:lstStyle/>
                    <a:p>
                      <a:pPr algn="ctr"/>
                      <a:r>
                        <a:rPr sz="1400" b="1"/>
                        <a:t>Disease</a:t>
                      </a:r>
                    </a:p>
                  </a:txBody>
                  <a:tcPr anchor="ctr"/>
                </a:tc>
                <a:tc>
                  <a:txBody>
                    <a:bodyPr/>
                    <a:lstStyle/>
                    <a:p>
                      <a:pPr algn="ctr"/>
                      <a:r>
                        <a:rPr sz="1400" b="1"/>
                        <a:t>Set</a:t>
                      </a:r>
                    </a:p>
                  </a:txBody>
                  <a:tcPr anchor="ctr"/>
                </a:tc>
                <a:tc>
                  <a:txBody>
                    <a:bodyPr/>
                    <a:lstStyle/>
                    <a:p>
                      <a:pPr algn="ctr"/>
                      <a:r>
                        <a:rPr sz="1400" b="1"/>
                        <a:t>Gangnam CV AUC (LR / MLP)</a:t>
                      </a:r>
                    </a:p>
                  </a:txBody>
                  <a:tcPr anchor="ctr"/>
                </a:tc>
                <a:tc>
                  <a:txBody>
                    <a:bodyPr/>
                    <a:lstStyle/>
                    <a:p>
                      <a:pPr algn="ctr"/>
                      <a:r>
                        <a:rPr sz="1400" b="1"/>
                        <a:t>Sinchon 외부 AUC (LR / MLP)</a:t>
                      </a:r>
                    </a:p>
                  </a:txBody>
                  <a:tcPr anchor="ctr"/>
                </a:tc>
                <a:tc>
                  <a:txBody>
                    <a:bodyPr/>
                    <a:lstStyle/>
                    <a:p>
                      <a:pPr algn="ctr"/>
                      <a:r>
                        <a:rPr sz="1400" b="1"/>
                        <a:t>MLP − LR (DeLong)</a:t>
                      </a:r>
                    </a:p>
                  </a:txBody>
                  <a:tcPr anchor="ctr"/>
                </a:tc>
              </a:tr>
              <a:tr h="330769">
                <a:tc rowSpan="4">
                  <a:txBody>
                    <a:bodyPr/>
                    <a:lstStyle/>
                    <a:p>
                      <a:pPr algn="ctr"/>
                      <a:r>
                        <a:rPr sz="1100" b="0"/>
                        <a:t>HTN</a:t>
                      </a:r>
                    </a:p>
                  </a:txBody>
                  <a:tcPr anchor="ctr"/>
                </a:tc>
                <a:tc>
                  <a:txBody>
                    <a:bodyPr/>
                    <a:lstStyle/>
                    <a:p>
                      <a:pPr algn="ctr"/>
                      <a:r>
                        <a:rPr sz="1100" b="0"/>
                        <a:t>clinical</a:t>
                      </a:r>
                    </a:p>
                  </a:txBody>
                  <a:tcPr anchor="ctr"/>
                </a:tc>
                <a:tc>
                  <a:txBody>
                    <a:bodyPr/>
                    <a:lstStyle/>
                    <a:p>
                      <a:pPr algn="ctr"/>
                      <a:r>
                        <a:rPr sz="1100" b="0"/>
                        <a:t>0.782 / 0.779</a:t>
                      </a:r>
                    </a:p>
                  </a:txBody>
                  <a:tcPr anchor="ctr"/>
                </a:tc>
                <a:tc>
                  <a:txBody>
                    <a:bodyPr/>
                    <a:lstStyle/>
                    <a:p>
                      <a:pPr algn="ctr"/>
                      <a:r>
                        <a:rPr sz="1100" b="0"/>
                        <a:t>0.717 / 0.721</a:t>
                      </a:r>
                    </a:p>
                  </a:txBody>
                  <a:tcPr anchor="ctr"/>
                </a:tc>
                <a:tc>
                  <a:txBody>
                    <a:bodyPr/>
                    <a:lstStyle/>
                    <a:p>
                      <a:pPr algn="ctr"/>
                      <a:r>
                        <a:rPr sz="1100" b="0"/>
                        <a:t>+0.004 (p=0.014)</a:t>
                      </a:r>
                    </a:p>
                  </a:txBody>
                  <a:tcPr anchor="ctr"/>
                </a:tc>
              </a:tr>
              <a:tr h="330769">
                <a:tc vMerge="1">
                  <a:txBody>
                    <a:bodyPr/>
                    <a:lstStyle/>
                    <a:p/>
                  </a:txBody>
                  <a:tcPr/>
                </a:tc>
                <a:tc>
                  <a:txBody>
                    <a:bodyPr/>
                    <a:lstStyle/>
                    <a:p>
                      <a:pPr algn="ctr"/>
                      <a:r>
                        <a:rPr sz="1100" b="0"/>
                        <a:t>VAT@L3</a:t>
                      </a:r>
                    </a:p>
                  </a:txBody>
                  <a:tcPr anchor="ctr"/>
                </a:tc>
                <a:tc>
                  <a:txBody>
                    <a:bodyPr/>
                    <a:lstStyle/>
                    <a:p>
                      <a:pPr algn="ctr"/>
                      <a:r>
                        <a:rPr sz="1100" b="0"/>
                        <a:t>0.799 / 0.798</a:t>
                      </a:r>
                    </a:p>
                  </a:txBody>
                  <a:tcPr anchor="ctr"/>
                </a:tc>
                <a:tc>
                  <a:txBody>
                    <a:bodyPr/>
                    <a:lstStyle/>
                    <a:p>
                      <a:pPr algn="ctr"/>
                      <a:r>
                        <a:rPr sz="1100" b="0"/>
                        <a:t>0.721 / 0.722</a:t>
                      </a:r>
                    </a:p>
                  </a:txBody>
                  <a:tcPr anchor="ctr"/>
                </a:tc>
                <a:tc>
                  <a:txBody>
                    <a:bodyPr/>
                    <a:lstStyle/>
                    <a:p>
                      <a:pPr algn="ctr"/>
                      <a:r>
                        <a:rPr sz="1100" b="0"/>
                        <a:t>+0.001 (p=0.536)</a:t>
                      </a:r>
                    </a:p>
                  </a:txBody>
                  <a:tcPr anchor="ctr"/>
                </a:tc>
              </a:tr>
              <a:tr h="330769">
                <a:tc vMerge="1">
                  <a:txBody>
                    <a:bodyPr/>
                    <a:lstStyle/>
                    <a:p/>
                  </a:txBody>
                  <a:tcPr/>
                </a:tc>
                <a:tc>
                  <a:txBody>
                    <a:bodyPr/>
                    <a:lstStyle/>
                    <a:p>
                      <a:pPr algn="ctr"/>
                      <a:r>
                        <a:rPr sz="1100" b="0"/>
                        <a:t>Tier1 ratios@L3</a:t>
                      </a:r>
                    </a:p>
                  </a:txBody>
                  <a:tcPr anchor="ctr"/>
                </a:tc>
                <a:tc>
                  <a:txBody>
                    <a:bodyPr/>
                    <a:lstStyle/>
                    <a:p>
                      <a:pPr algn="ctr"/>
                      <a:r>
                        <a:rPr sz="1100" b="0"/>
                        <a:t>0.795 / 0.796</a:t>
                      </a:r>
                    </a:p>
                  </a:txBody>
                  <a:tcPr anchor="ctr"/>
                </a:tc>
                <a:tc>
                  <a:txBody>
                    <a:bodyPr/>
                    <a:lstStyle/>
                    <a:p>
                      <a:pPr algn="ctr"/>
                      <a:r>
                        <a:rPr sz="1100" b="0"/>
                        <a:t>0.719 / 0.718</a:t>
                      </a:r>
                    </a:p>
                  </a:txBody>
                  <a:tcPr anchor="ctr"/>
                </a:tc>
                <a:tc>
                  <a:txBody>
                    <a:bodyPr/>
                    <a:lstStyle/>
                    <a:p>
                      <a:pPr algn="ctr"/>
                      <a:r>
                        <a:rPr sz="1100" b="0"/>
                        <a:t>-0.001 (p=0.816)</a:t>
                      </a:r>
                    </a:p>
                  </a:txBody>
                  <a:tcPr anchor="ctr"/>
                </a:tc>
              </a:tr>
              <a:tr h="330769">
                <a:tc vMerge="1">
                  <a:txBody>
                    <a:bodyPr/>
                    <a:lstStyle/>
                    <a:p/>
                  </a:txBody>
                  <a:tcPr/>
                </a:tc>
                <a:tc>
                  <a:txBody>
                    <a:bodyPr/>
                    <a:lstStyle/>
                    <a:p>
                      <a:pPr algn="ctr"/>
                      <a:r>
                        <a:rPr sz="1100" b="0"/>
                        <a:t>VAT,SAT,TAMA@all landmarks</a:t>
                      </a:r>
                    </a:p>
                  </a:txBody>
                  <a:tcPr anchor="ctr"/>
                </a:tc>
                <a:tc>
                  <a:txBody>
                    <a:bodyPr/>
                    <a:lstStyle/>
                    <a:p>
                      <a:pPr algn="ctr"/>
                      <a:r>
                        <a:rPr sz="1100" b="0"/>
                        <a:t>0.782 / 0.783</a:t>
                      </a:r>
                    </a:p>
                  </a:txBody>
                  <a:tcPr anchor="ctr"/>
                </a:tc>
                <a:tc>
                  <a:txBody>
                    <a:bodyPr/>
                    <a:lstStyle/>
                    <a:p>
                      <a:pPr algn="ctr"/>
                      <a:r>
                        <a:rPr sz="1100" b="0"/>
                        <a:t>0.716 / 0.715</a:t>
                      </a:r>
                    </a:p>
                  </a:txBody>
                  <a:tcPr anchor="ctr"/>
                </a:tc>
                <a:tc>
                  <a:txBody>
                    <a:bodyPr/>
                    <a:lstStyle/>
                    <a:p>
                      <a:pPr algn="ctr"/>
                      <a:r>
                        <a:rPr sz="1100" b="0"/>
                        <a:t>-0.001 (p=0.875)</a:t>
                      </a:r>
                    </a:p>
                  </a:txBody>
                  <a:tcPr anchor="ctr"/>
                </a:tc>
              </a:tr>
              <a:tr h="330769">
                <a:tc rowSpan="4">
                  <a:txBody>
                    <a:bodyPr/>
                    <a:lstStyle/>
                    <a:p>
                      <a:pPr algn="ctr"/>
                      <a:r>
                        <a:rPr sz="1100" b="0"/>
                        <a:t>DM</a:t>
                      </a:r>
                    </a:p>
                  </a:txBody>
                  <a:tcPr anchor="ctr"/>
                </a:tc>
                <a:tc>
                  <a:txBody>
                    <a:bodyPr/>
                    <a:lstStyle/>
                    <a:p>
                      <a:pPr algn="ctr"/>
                      <a:r>
                        <a:rPr sz="1100" b="0"/>
                        <a:t>clinical</a:t>
                      </a:r>
                    </a:p>
                  </a:txBody>
                  <a:tcPr anchor="ctr"/>
                </a:tc>
                <a:tc>
                  <a:txBody>
                    <a:bodyPr/>
                    <a:lstStyle/>
                    <a:p>
                      <a:pPr algn="ctr"/>
                      <a:r>
                        <a:rPr sz="1100" b="0"/>
                        <a:t>0.721 / 0.724</a:t>
                      </a:r>
                    </a:p>
                  </a:txBody>
                  <a:tcPr anchor="ctr"/>
                </a:tc>
                <a:tc>
                  <a:txBody>
                    <a:bodyPr/>
                    <a:lstStyle/>
                    <a:p>
                      <a:pPr algn="ctr"/>
                      <a:r>
                        <a:rPr sz="1100" b="0"/>
                        <a:t>0.687 / 0.687</a:t>
                      </a:r>
                    </a:p>
                  </a:txBody>
                  <a:tcPr anchor="ctr"/>
                </a:tc>
                <a:tc>
                  <a:txBody>
                    <a:bodyPr/>
                    <a:lstStyle/>
                    <a:p>
                      <a:pPr algn="ctr"/>
                      <a:r>
                        <a:rPr sz="1100" b="0"/>
                        <a:t>-0.001 (p=0.875)</a:t>
                      </a:r>
                    </a:p>
                  </a:txBody>
                  <a:tcPr anchor="ctr"/>
                </a:tc>
              </a:tr>
              <a:tr h="330769">
                <a:tc vMerge="1">
                  <a:txBody>
                    <a:bodyPr/>
                    <a:lstStyle/>
                    <a:p/>
                  </a:txBody>
                  <a:tcPr/>
                </a:tc>
                <a:tc>
                  <a:txBody>
                    <a:bodyPr/>
                    <a:lstStyle/>
                    <a:p>
                      <a:pPr algn="ctr"/>
                      <a:r>
                        <a:rPr sz="1100" b="0"/>
                        <a:t>VAT@L3</a:t>
                      </a:r>
                    </a:p>
                  </a:txBody>
                  <a:tcPr anchor="ctr"/>
                </a:tc>
                <a:tc>
                  <a:txBody>
                    <a:bodyPr/>
                    <a:lstStyle/>
                    <a:p>
                      <a:pPr algn="ctr"/>
                      <a:r>
                        <a:rPr sz="1100" b="0"/>
                        <a:t>0.730 / 0.729</a:t>
                      </a:r>
                    </a:p>
                  </a:txBody>
                  <a:tcPr anchor="ctr"/>
                </a:tc>
                <a:tc>
                  <a:txBody>
                    <a:bodyPr/>
                    <a:lstStyle/>
                    <a:p>
                      <a:pPr algn="ctr"/>
                      <a:r>
                        <a:rPr sz="1100" b="0"/>
                        <a:t>0.686 / 0.682</a:t>
                      </a:r>
                    </a:p>
                  </a:txBody>
                  <a:tcPr anchor="ctr"/>
                </a:tc>
                <a:tc>
                  <a:txBody>
                    <a:bodyPr/>
                    <a:lstStyle/>
                    <a:p>
                      <a:pPr algn="ctr"/>
                      <a:r>
                        <a:rPr sz="1100" b="0"/>
                        <a:t>-0.005 (p=0.115)</a:t>
                      </a:r>
                    </a:p>
                  </a:txBody>
                  <a:tcPr anchor="ctr"/>
                </a:tc>
              </a:tr>
              <a:tr h="330769">
                <a:tc vMerge="1">
                  <a:txBody>
                    <a:bodyPr/>
                    <a:lstStyle/>
                    <a:p/>
                  </a:txBody>
                  <a:tcPr/>
                </a:tc>
                <a:tc>
                  <a:txBody>
                    <a:bodyPr/>
                    <a:lstStyle/>
                    <a:p>
                      <a:pPr algn="ctr"/>
                      <a:r>
                        <a:rPr sz="1100" b="0"/>
                        <a:t>Tier1 ratios@L3</a:t>
                      </a:r>
                    </a:p>
                  </a:txBody>
                  <a:tcPr anchor="ctr"/>
                </a:tc>
                <a:tc>
                  <a:txBody>
                    <a:bodyPr/>
                    <a:lstStyle/>
                    <a:p>
                      <a:pPr algn="ctr"/>
                      <a:r>
                        <a:rPr sz="1100" b="0"/>
                        <a:t>0.727 / 0.733</a:t>
                      </a:r>
                    </a:p>
                  </a:txBody>
                  <a:tcPr anchor="ctr"/>
                </a:tc>
                <a:tc>
                  <a:txBody>
                    <a:bodyPr/>
                    <a:lstStyle/>
                    <a:p>
                      <a:pPr algn="ctr"/>
                      <a:r>
                        <a:rPr sz="1100" b="0"/>
                        <a:t>0.704 / 0.692</a:t>
                      </a:r>
                    </a:p>
                  </a:txBody>
                  <a:tcPr anchor="ctr"/>
                </a:tc>
                <a:tc>
                  <a:txBody>
                    <a:bodyPr/>
                    <a:lstStyle/>
                    <a:p>
                      <a:pPr algn="ctr"/>
                      <a:r>
                        <a:rPr sz="1100" b="0"/>
                        <a:t>-0.012 (p=0.000)</a:t>
                      </a:r>
                    </a:p>
                  </a:txBody>
                  <a:tcPr anchor="ctr"/>
                </a:tc>
              </a:tr>
              <a:tr h="330769">
                <a:tc vMerge="1">
                  <a:txBody>
                    <a:bodyPr/>
                    <a:lstStyle/>
                    <a:p/>
                  </a:txBody>
                  <a:tcPr/>
                </a:tc>
                <a:tc>
                  <a:txBody>
                    <a:bodyPr/>
                    <a:lstStyle/>
                    <a:p>
                      <a:pPr algn="ctr"/>
                      <a:r>
                        <a:rPr sz="1100" b="0"/>
                        <a:t>VAT,SAT,TAMA@all landmarks</a:t>
                      </a:r>
                    </a:p>
                  </a:txBody>
                  <a:tcPr anchor="ctr"/>
                </a:tc>
                <a:tc>
                  <a:txBody>
                    <a:bodyPr/>
                    <a:lstStyle/>
                    <a:p>
                      <a:pPr algn="ctr"/>
                      <a:r>
                        <a:rPr sz="1100" b="0"/>
                        <a:t>0.738 / 0.736</a:t>
                      </a:r>
                    </a:p>
                  </a:txBody>
                  <a:tcPr anchor="ctr"/>
                </a:tc>
                <a:tc>
                  <a:txBody>
                    <a:bodyPr/>
                    <a:lstStyle/>
                    <a:p>
                      <a:pPr algn="ctr"/>
                      <a:r>
                        <a:rPr sz="1100" b="0"/>
                        <a:t>0.694 / 0.693</a:t>
                      </a:r>
                    </a:p>
                  </a:txBody>
                  <a:tcPr anchor="ctr"/>
                </a:tc>
                <a:tc>
                  <a:txBody>
                    <a:bodyPr/>
                    <a:lstStyle/>
                    <a:p>
                      <a:pPr algn="ctr"/>
                      <a:r>
                        <a:rPr sz="1100" b="0"/>
                        <a:t>-0.001 (p=0.908)</a:t>
                      </a:r>
                    </a:p>
                  </a:txBody>
                  <a:tcPr anchor="ctr"/>
                </a:tc>
              </a:tr>
              <a:tr h="330769">
                <a:tc rowSpan="4">
                  <a:txBody>
                    <a:bodyPr/>
                    <a:lstStyle/>
                    <a:p>
                      <a:pPr algn="ctr"/>
                      <a:r>
                        <a:rPr sz="1100" b="0"/>
                        <a:t>CKD</a:t>
                      </a:r>
                    </a:p>
                  </a:txBody>
                  <a:tcPr anchor="ctr"/>
                </a:tc>
                <a:tc>
                  <a:txBody>
                    <a:bodyPr/>
                    <a:lstStyle/>
                    <a:p>
                      <a:pPr algn="ctr"/>
                      <a:r>
                        <a:rPr sz="1100" b="0"/>
                        <a:t>clinical</a:t>
                      </a:r>
                    </a:p>
                  </a:txBody>
                  <a:tcPr anchor="ctr"/>
                </a:tc>
                <a:tc>
                  <a:txBody>
                    <a:bodyPr/>
                    <a:lstStyle/>
                    <a:p>
                      <a:pPr algn="ctr"/>
                      <a:r>
                        <a:rPr sz="1100" b="0"/>
                        <a:t>0.766 / 0.768</a:t>
                      </a:r>
                    </a:p>
                  </a:txBody>
                  <a:tcPr anchor="ctr"/>
                </a:tc>
                <a:tc>
                  <a:txBody>
                    <a:bodyPr/>
                    <a:lstStyle/>
                    <a:p>
                      <a:pPr algn="ctr"/>
                      <a:r>
                        <a:rPr sz="1100" b="0"/>
                        <a:t>0.616 / 0.617</a:t>
                      </a:r>
                    </a:p>
                  </a:txBody>
                  <a:tcPr anchor="ctr"/>
                </a:tc>
                <a:tc>
                  <a:txBody>
                    <a:bodyPr/>
                    <a:lstStyle/>
                    <a:p>
                      <a:pPr algn="ctr"/>
                      <a:r>
                        <a:rPr sz="1100" b="0"/>
                        <a:t>+0.001 (p=0.459)</a:t>
                      </a:r>
                    </a:p>
                  </a:txBody>
                  <a:tcPr anchor="ctr"/>
                </a:tc>
              </a:tr>
              <a:tr h="330769">
                <a:tc vMerge="1">
                  <a:txBody>
                    <a:bodyPr/>
                    <a:lstStyle/>
                    <a:p/>
                  </a:txBody>
                  <a:tcPr/>
                </a:tc>
                <a:tc>
                  <a:txBody>
                    <a:bodyPr/>
                    <a:lstStyle/>
                    <a:p>
                      <a:pPr algn="ctr"/>
                      <a:r>
                        <a:rPr sz="1100" b="0"/>
                        <a:t>VAT@L3</a:t>
                      </a:r>
                    </a:p>
                  </a:txBody>
                  <a:tcPr anchor="ctr"/>
                </a:tc>
                <a:tc>
                  <a:txBody>
                    <a:bodyPr/>
                    <a:lstStyle/>
                    <a:p>
                      <a:pPr algn="ctr"/>
                      <a:r>
                        <a:rPr sz="1100" b="0"/>
                        <a:t>0.765 / 0.760</a:t>
                      </a:r>
                    </a:p>
                  </a:txBody>
                  <a:tcPr anchor="ctr"/>
                </a:tc>
                <a:tc>
                  <a:txBody>
                    <a:bodyPr/>
                    <a:lstStyle/>
                    <a:p>
                      <a:pPr algn="ctr"/>
                      <a:r>
                        <a:rPr sz="1100" b="0"/>
                        <a:t>0.615 / 0.619</a:t>
                      </a:r>
                    </a:p>
                  </a:txBody>
                  <a:tcPr anchor="ctr"/>
                </a:tc>
                <a:tc>
                  <a:txBody>
                    <a:bodyPr/>
                    <a:lstStyle/>
                    <a:p>
                      <a:pPr algn="ctr"/>
                      <a:r>
                        <a:rPr sz="1100" b="0"/>
                        <a:t>+0.004 (p=0.294)</a:t>
                      </a:r>
                    </a:p>
                  </a:txBody>
                  <a:tcPr anchor="ctr"/>
                </a:tc>
              </a:tr>
              <a:tr h="330769">
                <a:tc vMerge="1">
                  <a:txBody>
                    <a:bodyPr/>
                    <a:lstStyle/>
                    <a:p/>
                  </a:txBody>
                  <a:tcPr/>
                </a:tc>
                <a:tc>
                  <a:txBody>
                    <a:bodyPr/>
                    <a:lstStyle/>
                    <a:p>
                      <a:pPr algn="ctr"/>
                      <a:r>
                        <a:rPr sz="1100" b="0"/>
                        <a:t>Tier1 ratios@L3</a:t>
                      </a:r>
                    </a:p>
                  </a:txBody>
                  <a:tcPr anchor="ctr"/>
                </a:tc>
                <a:tc>
                  <a:txBody>
                    <a:bodyPr/>
                    <a:lstStyle/>
                    <a:p>
                      <a:pPr algn="ctr"/>
                      <a:r>
                        <a:rPr sz="1100" b="0"/>
                        <a:t>0.760 / 0.754</a:t>
                      </a:r>
                    </a:p>
                  </a:txBody>
                  <a:tcPr anchor="ctr"/>
                </a:tc>
                <a:tc>
                  <a:txBody>
                    <a:bodyPr/>
                    <a:lstStyle/>
                    <a:p>
                      <a:pPr algn="ctr"/>
                      <a:r>
                        <a:rPr sz="1100" b="0"/>
                        <a:t>0.617 / 0.623</a:t>
                      </a:r>
                    </a:p>
                  </a:txBody>
                  <a:tcPr anchor="ctr"/>
                </a:tc>
                <a:tc>
                  <a:txBody>
                    <a:bodyPr/>
                    <a:lstStyle/>
                    <a:p>
                      <a:pPr algn="ctr"/>
                      <a:r>
                        <a:rPr sz="1100" b="0"/>
                        <a:t>+0.006 (p=0.045)</a:t>
                      </a:r>
                    </a:p>
                  </a:txBody>
                  <a:tcPr anchor="ctr"/>
                </a:tc>
              </a:tr>
              <a:tr h="330769">
                <a:tc vMerge="1">
                  <a:txBody>
                    <a:bodyPr/>
                    <a:lstStyle/>
                    <a:p/>
                  </a:txBody>
                  <a:tcPr/>
                </a:tc>
                <a:tc>
                  <a:txBody>
                    <a:bodyPr/>
                    <a:lstStyle/>
                    <a:p>
                      <a:pPr algn="ctr"/>
                      <a:r>
                        <a:rPr sz="1100" b="0"/>
                        <a:t>VAT,SAT,TAMA@all landmarks</a:t>
                      </a:r>
                    </a:p>
                  </a:txBody>
                  <a:tcPr anchor="ctr"/>
                </a:tc>
                <a:tc>
                  <a:txBody>
                    <a:bodyPr/>
                    <a:lstStyle/>
                    <a:p>
                      <a:pPr algn="ctr"/>
                      <a:r>
                        <a:rPr sz="1100" b="0"/>
                        <a:t>0.769 / 0.753</a:t>
                      </a:r>
                    </a:p>
                  </a:txBody>
                  <a:tcPr anchor="ctr"/>
                </a:tc>
                <a:tc>
                  <a:txBody>
                    <a:bodyPr/>
                    <a:lstStyle/>
                    <a:p>
                      <a:pPr algn="ctr"/>
                      <a:r>
                        <a:rPr sz="1100" b="0"/>
                        <a:t>0.642 / 0.632</a:t>
                      </a:r>
                    </a:p>
                  </a:txBody>
                  <a:tcPr anchor="ctr"/>
                </a:tc>
                <a:tc>
                  <a:txBody>
                    <a:bodyPr/>
                    <a:lstStyle/>
                    <a:p>
                      <a:pPr algn="ctr"/>
                      <a:r>
                        <a:rPr sz="1100" b="0"/>
                        <a:t>-0.010 (p=0.227)</a:t>
                      </a:r>
                    </a:p>
                  </a:txBody>
                  <a:tcPr anchor="ct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부분군 분석: 전체 그룹의 ΔAUC</a:t>
            </a:r>
          </a:p>
        </p:txBody>
      </p:sp>
      <p:sp>
        <p:nvSpPr>
          <p:cNvPr id="3" name="Content Placeholder 2"/>
          <p:cNvSpPr>
            <a:spLocks noGrp="1"/>
          </p:cNvSpPr>
          <p:nvPr>
            <p:ph idx="1"/>
          </p:nvPr>
        </p:nvSpPr>
        <p:spPr>
          <a:xfrm>
            <a:off x="508000" y="1050000"/>
            <a:ext cx="11176000" cy="700000"/>
          </a:xfrm>
        </p:spPr>
        <p:txBody>
          <a:bodyPr/>
          <a:lstStyle/>
          <a:p>
            <a:r>
              <a:rPr sz="1400" b="0">
                <a:solidFill>
                  <a:srgbClr val="333F4D"/>
                </a:solidFill>
              </a:rPr>
              <a:t>clinical 대비 landmark 지표 세트의 ΔAUC (한 코호트로 학습, 다른 코호트에서 평가, 95% 부트스트랩 CI)</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18</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800000"/>
          <a:ext cx="11175997" cy="4500000"/>
        </p:xfrm>
        <a:graphic>
          <a:graphicData uri="http://schemas.openxmlformats.org/drawingml/2006/table">
            <a:tbl>
              <a:tblPr firstRow="1" bandRow="1">
                <a:tableStyleId>{C083E6E3-FA7D-4D7B-A595-EF9225AFEA82}</a:tableStyleId>
              </a:tblPr>
              <a:tblGrid>
                <a:gridCol w="1314823"/>
                <a:gridCol w="3287058"/>
                <a:gridCol w="3287058"/>
                <a:gridCol w="3287058"/>
              </a:tblGrid>
              <a:tr h="450000">
                <a:tc>
                  <a:txBody>
                    <a:bodyPr/>
                    <a:lstStyle/>
                    <a:p>
                      <a:pPr algn="ctr"/>
                      <a:r>
                        <a:rPr sz="1400" b="1"/>
                        <a:t>Disease</a:t>
                      </a:r>
                    </a:p>
                  </a:txBody>
                  <a:tcPr anchor="ctr"/>
                </a:tc>
                <a:tc>
                  <a:txBody>
                    <a:bodyPr/>
                    <a:lstStyle/>
                    <a:p>
                      <a:pPr algn="ctr"/>
                      <a:r>
                        <a:rPr sz="1400" b="1"/>
                        <a:t>Set</a:t>
                      </a:r>
                    </a:p>
                  </a:txBody>
                  <a:tcPr anchor="ctr"/>
                </a:tc>
                <a:tc>
                  <a:txBody>
                    <a:bodyPr/>
                    <a:lstStyle/>
                    <a:p>
                      <a:pPr algn="ctr"/>
                      <a:r>
                        <a:rPr sz="1400" b="1"/>
                        <a:t>Gangnam→Sinchon</a:t>
                      </a:r>
                    </a:p>
                  </a:txBody>
                  <a:tcPr anchor="ctr"/>
                </a:tc>
                <a:tc>
                  <a:txBody>
                    <a:bodyPr/>
                    <a:lstStyle/>
                    <a:p>
                      <a:pPr algn="ctr"/>
                      <a:r>
                        <a:rPr sz="1400" b="1"/>
                        <a:t>Sinchon→Gangnam</a:t>
                      </a:r>
                    </a:p>
                  </a:txBody>
                  <a:tcPr anchor="ctr"/>
                </a:tc>
              </a:tr>
              <a:tr h="450000">
                <a:tc rowSpan="3">
                  <a:txBody>
                    <a:bodyPr/>
                    <a:lstStyle/>
                    <a:p>
                      <a:pPr algn="ctr"/>
                      <a:r>
                        <a:rPr sz="1100" b="0"/>
                        <a:t>HTN</a:t>
                      </a:r>
                    </a:p>
                  </a:txBody>
                  <a:tcPr anchor="ctr"/>
                </a:tc>
                <a:tc>
                  <a:txBody>
                    <a:bodyPr/>
                    <a:lstStyle/>
                    <a:p>
                      <a:pPr algn="ctr"/>
                      <a:r>
                        <a:rPr sz="1100" b="0"/>
                        <a:t>VAT@L3</a:t>
                      </a:r>
                    </a:p>
                  </a:txBody>
                  <a:tcPr anchor="ctr"/>
                </a:tc>
                <a:tc>
                  <a:txBody>
                    <a:bodyPr/>
                    <a:lstStyle/>
                    <a:p>
                      <a:pPr algn="ctr"/>
                      <a:r>
                        <a:rPr sz="1100" b="0"/>
                        <a:t>+0.004 [-0.007, +0.016]</a:t>
                      </a:r>
                    </a:p>
                  </a:txBody>
                  <a:tcPr anchor="ctr"/>
                </a:tc>
                <a:tc>
                  <a:txBody>
                    <a:bodyPr/>
                    <a:lstStyle/>
                    <a:p>
                      <a:pPr algn="ctr"/>
                      <a:r>
                        <a:rPr sz="1100" b="0"/>
                        <a:t>+0.016 [+0.010, +0.022]</a:t>
                      </a:r>
                    </a:p>
                  </a:txBody>
                  <a:tcPr anchor="ctr"/>
                </a:tc>
              </a:tr>
              <a:tr h="450000">
                <a:tc vMerge="1">
                  <a:txBody>
                    <a:bodyPr/>
                    <a:lstStyle/>
                    <a:p/>
                  </a:txBody>
                  <a:tcPr/>
                </a:tc>
                <a:tc>
                  <a:txBody>
                    <a:bodyPr/>
                    <a:lstStyle/>
                    <a:p>
                      <a:pPr algn="ctr"/>
                      <a:r>
                        <a:rPr sz="1100" b="0"/>
                        <a:t>Tier1 ratios@L3</a:t>
                      </a:r>
                    </a:p>
                  </a:txBody>
                  <a:tcPr anchor="ctr"/>
                </a:tc>
                <a:tc>
                  <a:txBody>
                    <a:bodyPr/>
                    <a:lstStyle/>
                    <a:p>
                      <a:pPr algn="ctr"/>
                      <a:r>
                        <a:rPr sz="1100" b="0"/>
                        <a:t>+0.001 [-0.011, +0.014]</a:t>
                      </a:r>
                    </a:p>
                  </a:txBody>
                  <a:tcPr anchor="ctr"/>
                </a:tc>
                <a:tc>
                  <a:txBody>
                    <a:bodyPr/>
                    <a:lstStyle/>
                    <a:p>
                      <a:pPr algn="ctr"/>
                      <a:r>
                        <a:rPr sz="1100" b="0"/>
                        <a:t>+0.005 [-0.003, +0.014]</a:t>
                      </a:r>
                    </a:p>
                  </a:txBody>
                  <a:tcPr anchor="ctr"/>
                </a:tc>
              </a:tr>
              <a:tr h="450000">
                <a:tc vMerge="1">
                  <a:txBody>
                    <a:bodyPr/>
                    <a:lstStyle/>
                    <a:p/>
                  </a:txBody>
                  <a:tcPr/>
                </a:tc>
                <a:tc>
                  <a:txBody>
                    <a:bodyPr/>
                    <a:lstStyle/>
                    <a:p>
                      <a:pPr algn="ctr"/>
                      <a:r>
                        <a:rPr sz="1100" b="0"/>
                        <a:t>VAT,SAT,TAMA@L3</a:t>
                      </a:r>
                    </a:p>
                  </a:txBody>
                  <a:tcPr anchor="ctr"/>
                </a:tc>
                <a:tc>
                  <a:txBody>
                    <a:bodyPr/>
                    <a:lstStyle/>
                    <a:p>
                      <a:pPr algn="ctr"/>
                      <a:r>
                        <a:rPr sz="1100" b="0"/>
                        <a:t>-0.001 [-0.014, +0.013]</a:t>
                      </a:r>
                    </a:p>
                  </a:txBody>
                  <a:tcPr anchor="ctr"/>
                </a:tc>
                <a:tc>
                  <a:txBody>
                    <a:bodyPr/>
                    <a:lstStyle/>
                    <a:p>
                      <a:pPr algn="ctr"/>
                      <a:r>
                        <a:rPr sz="1100" b="0"/>
                        <a:t>+0.011 [+0.004, +0.018]</a:t>
                      </a:r>
                    </a:p>
                  </a:txBody>
                  <a:tcPr anchor="ctr"/>
                </a:tc>
              </a:tr>
              <a:tr h="450000">
                <a:tc rowSpan="3">
                  <a:txBody>
                    <a:bodyPr/>
                    <a:lstStyle/>
                    <a:p>
                      <a:pPr algn="ctr"/>
                      <a:r>
                        <a:rPr sz="1100" b="0"/>
                        <a:t>DM</a:t>
                      </a:r>
                    </a:p>
                  </a:txBody>
                  <a:tcPr anchor="ctr"/>
                </a:tc>
                <a:tc>
                  <a:txBody>
                    <a:bodyPr/>
                    <a:lstStyle/>
                    <a:p>
                      <a:pPr algn="ctr"/>
                      <a:r>
                        <a:rPr sz="1100" b="0"/>
                        <a:t>VAT@L3</a:t>
                      </a:r>
                    </a:p>
                  </a:txBody>
                  <a:tcPr anchor="ctr"/>
                </a:tc>
                <a:tc>
                  <a:txBody>
                    <a:bodyPr/>
                    <a:lstStyle/>
                    <a:p>
                      <a:pPr algn="ctr"/>
                      <a:r>
                        <a:rPr sz="1100" b="0"/>
                        <a:t>-0.001 [-0.015, +0.013]</a:t>
                      </a:r>
                    </a:p>
                  </a:txBody>
                  <a:tcPr anchor="ctr"/>
                </a:tc>
                <a:tc>
                  <a:txBody>
                    <a:bodyPr/>
                    <a:lstStyle/>
                    <a:p>
                      <a:pPr algn="ctr"/>
                      <a:r>
                        <a:rPr sz="1100" b="0"/>
                        <a:t>+0.005 [+0.001, +0.008]</a:t>
                      </a:r>
                    </a:p>
                  </a:txBody>
                  <a:tcPr anchor="ctr"/>
                </a:tc>
              </a:tr>
              <a:tr h="450000">
                <a:tc vMerge="1">
                  <a:txBody>
                    <a:bodyPr/>
                    <a:lstStyle/>
                    <a:p/>
                  </a:txBody>
                  <a:tcPr/>
                </a:tc>
                <a:tc>
                  <a:txBody>
                    <a:bodyPr/>
                    <a:lstStyle/>
                    <a:p>
                      <a:pPr algn="ctr"/>
                      <a:r>
                        <a:rPr sz="1100" b="0"/>
                        <a:t>Tier1 ratios@L3</a:t>
                      </a:r>
                    </a:p>
                  </a:txBody>
                  <a:tcPr anchor="ctr"/>
                </a:tc>
                <a:tc>
                  <a:txBody>
                    <a:bodyPr/>
                    <a:lstStyle/>
                    <a:p>
                      <a:pPr algn="ctr"/>
                      <a:r>
                        <a:rPr sz="1100" b="0"/>
                        <a:t>+0.017 [+0.003, +0.030]</a:t>
                      </a:r>
                    </a:p>
                  </a:txBody>
                  <a:tcPr anchor="ctr"/>
                </a:tc>
                <a:tc>
                  <a:txBody>
                    <a:bodyPr/>
                    <a:lstStyle/>
                    <a:p>
                      <a:pPr algn="ctr"/>
                      <a:r>
                        <a:rPr sz="1100" b="0"/>
                        <a:t>+0.010 [-0.002, +0.024]</a:t>
                      </a:r>
                    </a:p>
                  </a:txBody>
                  <a:tcPr anchor="ctr"/>
                </a:tc>
              </a:tr>
              <a:tr h="450000">
                <a:tc vMerge="1">
                  <a:txBody>
                    <a:bodyPr/>
                    <a:lstStyle/>
                    <a:p/>
                  </a:txBody>
                  <a:tcPr/>
                </a:tc>
                <a:tc>
                  <a:txBody>
                    <a:bodyPr/>
                    <a:lstStyle/>
                    <a:p>
                      <a:pPr algn="ctr"/>
                      <a:r>
                        <a:rPr sz="1100" b="0"/>
                        <a:t>VAT,SAT,TAMA@L3</a:t>
                      </a:r>
                    </a:p>
                  </a:txBody>
                  <a:tcPr anchor="ctr"/>
                </a:tc>
                <a:tc>
                  <a:txBody>
                    <a:bodyPr/>
                    <a:lstStyle/>
                    <a:p>
                      <a:pPr algn="ctr"/>
                      <a:r>
                        <a:rPr sz="1100" b="0"/>
                        <a:t>+0.005 [-0.008, +0.018]</a:t>
                      </a:r>
                    </a:p>
                  </a:txBody>
                  <a:tcPr anchor="ctr"/>
                </a:tc>
                <a:tc>
                  <a:txBody>
                    <a:bodyPr/>
                    <a:lstStyle/>
                    <a:p>
                      <a:pPr algn="ctr"/>
                      <a:r>
                        <a:rPr sz="1100" b="0"/>
                        <a:t>-0.001 [-0.016, +0.013]</a:t>
                      </a:r>
                    </a:p>
                  </a:txBody>
                  <a:tcPr anchor="ctr"/>
                </a:tc>
              </a:tr>
              <a:tr h="450000">
                <a:tc rowSpan="3">
                  <a:txBody>
                    <a:bodyPr/>
                    <a:lstStyle/>
                    <a:p>
                      <a:pPr algn="ctr"/>
                      <a:r>
                        <a:rPr sz="1100" b="0"/>
                        <a:t>CKD</a:t>
                      </a:r>
                    </a:p>
                  </a:txBody>
                  <a:tcPr anchor="ctr"/>
                </a:tc>
                <a:tc>
                  <a:txBody>
                    <a:bodyPr/>
                    <a:lstStyle/>
                    <a:p>
                      <a:pPr algn="ctr"/>
                      <a:r>
                        <a:rPr sz="1100" b="0"/>
                        <a:t>VAT@L3</a:t>
                      </a:r>
                    </a:p>
                  </a:txBody>
                  <a:tcPr anchor="ctr"/>
                </a:tc>
                <a:tc>
                  <a:txBody>
                    <a:bodyPr/>
                    <a:lstStyle/>
                    <a:p>
                      <a:pPr algn="ctr"/>
                      <a:r>
                        <a:rPr sz="1100" b="0"/>
                        <a:t>-0.001 [-0.001, +0.000]</a:t>
                      </a:r>
                    </a:p>
                  </a:txBody>
                  <a:tcPr anchor="ctr"/>
                </a:tc>
                <a:tc>
                  <a:txBody>
                    <a:bodyPr/>
                    <a:lstStyle/>
                    <a:p>
                      <a:pPr algn="ctr"/>
                      <a:r>
                        <a:rPr sz="1100" b="0"/>
                        <a:t>-0.012 [-0.028, +0.005]</a:t>
                      </a:r>
                    </a:p>
                  </a:txBody>
                  <a:tcPr anchor="ctr"/>
                </a:tc>
              </a:tr>
              <a:tr h="450000">
                <a:tc vMerge="1">
                  <a:txBody>
                    <a:bodyPr/>
                    <a:lstStyle/>
                    <a:p/>
                  </a:txBody>
                  <a:tcPr/>
                </a:tc>
                <a:tc>
                  <a:txBody>
                    <a:bodyPr/>
                    <a:lstStyle/>
                    <a:p>
                      <a:pPr algn="ctr"/>
                      <a:r>
                        <a:rPr sz="1100" b="0"/>
                        <a:t>Tier1 ratios@L3</a:t>
                      </a:r>
                    </a:p>
                  </a:txBody>
                  <a:tcPr anchor="ctr"/>
                </a:tc>
                <a:tc>
                  <a:txBody>
                    <a:bodyPr/>
                    <a:lstStyle/>
                    <a:p>
                      <a:pPr algn="ctr"/>
                      <a:r>
                        <a:rPr sz="1100" b="0"/>
                        <a:t>+0.001 [-0.005, +0.007]</a:t>
                      </a:r>
                    </a:p>
                  </a:txBody>
                  <a:tcPr anchor="ctr"/>
                </a:tc>
                <a:tc>
                  <a:txBody>
                    <a:bodyPr/>
                    <a:lstStyle/>
                    <a:p>
                      <a:pPr algn="ctr"/>
                      <a:r>
                        <a:rPr sz="1100" b="0"/>
                        <a:t>-0.034 [-0.064, -0.008]</a:t>
                      </a:r>
                    </a:p>
                  </a:txBody>
                  <a:tcPr anchor="ctr"/>
                </a:tc>
              </a:tr>
              <a:tr h="450000">
                <a:tc vMerge="1">
                  <a:txBody>
                    <a:bodyPr/>
                    <a:lstStyle/>
                    <a:p/>
                  </a:txBody>
                  <a:tcPr/>
                </a:tc>
                <a:tc>
                  <a:txBody>
                    <a:bodyPr/>
                    <a:lstStyle/>
                    <a:p>
                      <a:pPr algn="ctr"/>
                      <a:r>
                        <a:rPr sz="1100" b="0"/>
                        <a:t>VAT,SAT,TAMA@L3</a:t>
                      </a:r>
                    </a:p>
                  </a:txBody>
                  <a:tcPr anchor="ctr"/>
                </a:tc>
                <a:tc>
                  <a:txBody>
                    <a:bodyPr/>
                    <a:lstStyle/>
                    <a:p>
                      <a:pPr algn="ctr"/>
                      <a:r>
                        <a:rPr sz="1100" b="0"/>
                        <a:t>-0.007 [-0.015, +0.002]</a:t>
                      </a:r>
                    </a:p>
                  </a:txBody>
                  <a:tcPr anchor="ctr"/>
                </a:tc>
                <a:tc>
                  <a:txBody>
                    <a:bodyPr/>
                    <a:lstStyle/>
                    <a:p>
                      <a:pPr algn="ctr"/>
                      <a:r>
                        <a:rPr sz="1100" b="0"/>
                        <a:t>-0.033 [-0.051, -0.012]</a:t>
                      </a:r>
                    </a:p>
                  </a:txBody>
                  <a:tcPr anchor="ct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부분군 분석: ΔAUC가 큰 그룹은 재현되지 않는다</a:t>
            </a:r>
          </a:p>
        </p:txBody>
      </p:sp>
      <p:sp>
        <p:nvSpPr>
          <p:cNvPr id="3" name="Content Placeholder 2"/>
          <p:cNvSpPr>
            <a:spLocks noGrp="1"/>
          </p:cNvSpPr>
          <p:nvPr>
            <p:ph idx="1"/>
          </p:nvPr>
        </p:nvSpPr>
        <p:spPr>
          <a:xfrm>
            <a:off x="508000" y="1050000"/>
            <a:ext cx="11176000" cy="1000000"/>
          </a:xfrm>
        </p:spPr>
        <p:txBody>
          <a:bodyPr/>
          <a:lstStyle/>
          <a:p>
            <a:r>
              <a:rPr sz="1300" b="0">
                <a:solidFill>
                  <a:srgbClr val="333F4D"/>
                </a:solidFill>
              </a:rPr>
              <a:t>그룹 = 성별·나이/BMI 3분위·성별×분위 (사전 지정). 매칭 그룹 162개 중 두 방향 모두 CI가 0을 제외하고 부호가 같은 그룹은 0개. 두 방향 ΔAUC 부호 일치 59%, 상관 0.12</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19</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300000"/>
          <a:ext cx="11175997" cy="3999996"/>
        </p:xfrm>
        <a:graphic>
          <a:graphicData uri="http://schemas.openxmlformats.org/drawingml/2006/table">
            <a:tbl>
              <a:tblPr firstRow="1" bandRow="1">
                <a:tableStyleId>{C083E6E3-FA7D-4D7B-A595-EF9225AFEA82}</a:tableStyleId>
              </a:tblPr>
              <a:tblGrid>
                <a:gridCol w="1099278"/>
                <a:gridCol w="2381770"/>
                <a:gridCol w="2198557"/>
                <a:gridCol w="2748196"/>
                <a:gridCol w="2748196"/>
              </a:tblGrid>
              <a:tr h="444444">
                <a:tc>
                  <a:txBody>
                    <a:bodyPr/>
                    <a:lstStyle/>
                    <a:p>
                      <a:pPr algn="ctr"/>
                      <a:r>
                        <a:rPr sz="1400" b="1"/>
                        <a:t>Disease</a:t>
                      </a:r>
                    </a:p>
                  </a:txBody>
                  <a:tcPr anchor="ctr"/>
                </a:tc>
                <a:tc>
                  <a:txBody>
                    <a:bodyPr/>
                    <a:lstStyle/>
                    <a:p>
                      <a:pPr algn="ctr"/>
                      <a:r>
                        <a:rPr sz="1400" b="1"/>
                        <a:t>Set</a:t>
                      </a:r>
                    </a:p>
                  </a:txBody>
                  <a:tcPr anchor="ctr"/>
                </a:tc>
                <a:tc>
                  <a:txBody>
                    <a:bodyPr/>
                    <a:lstStyle/>
                    <a:p>
                      <a:pPr algn="ctr"/>
                      <a:r>
                        <a:rPr sz="1400" b="1"/>
                        <a:t>Group</a:t>
                      </a:r>
                    </a:p>
                  </a:txBody>
                  <a:tcPr anchor="ctr"/>
                </a:tc>
                <a:tc>
                  <a:txBody>
                    <a:bodyPr/>
                    <a:lstStyle/>
                    <a:p>
                      <a:pPr algn="ctr"/>
                      <a:r>
                        <a:rPr sz="1400" b="1"/>
                        <a:t>Δ Gangnam→Sinchon [95% CI]</a:t>
                      </a:r>
                    </a:p>
                  </a:txBody>
                  <a:tcPr anchor="ctr"/>
                </a:tc>
                <a:tc>
                  <a:txBody>
                    <a:bodyPr/>
                    <a:lstStyle/>
                    <a:p>
                      <a:pPr algn="ctr"/>
                      <a:r>
                        <a:rPr sz="1400" b="1"/>
                        <a:t>Δ Sinchon→Gangnam [95% CI]</a:t>
                      </a:r>
                    </a:p>
                  </a:txBody>
                  <a:tcPr anchor="ctr"/>
                </a:tc>
              </a:tr>
              <a:tr h="444444">
                <a:tc>
                  <a:txBody>
                    <a:bodyPr/>
                    <a:lstStyle/>
                    <a:p>
                      <a:pPr algn="ctr"/>
                      <a:r>
                        <a:rPr sz="1100" b="0"/>
                        <a:t>DM</a:t>
                      </a:r>
                    </a:p>
                  </a:txBody>
                  <a:tcPr anchor="ctr"/>
                </a:tc>
                <a:tc>
                  <a:txBody>
                    <a:bodyPr/>
                    <a:lstStyle/>
                    <a:p>
                      <a:pPr algn="ctr"/>
                      <a:r>
                        <a:rPr sz="1100" b="0"/>
                        <a:t>Tier1 ratios@L3</a:t>
                      </a:r>
                    </a:p>
                  </a:txBody>
                  <a:tcPr anchor="ctr"/>
                </a:tc>
                <a:tc>
                  <a:txBody>
                    <a:bodyPr/>
                    <a:lstStyle/>
                    <a:p>
                      <a:pPr algn="ctr"/>
                      <a:r>
                        <a:rPr sz="1100" b="0"/>
                        <a:t>male&amp;age_T3</a:t>
                      </a:r>
                    </a:p>
                  </a:txBody>
                  <a:tcPr anchor="ctr"/>
                </a:tc>
                <a:tc>
                  <a:txBody>
                    <a:bodyPr/>
                    <a:lstStyle/>
                    <a:p>
                      <a:pPr algn="ctr"/>
                      <a:r>
                        <a:rPr sz="1100" b="0"/>
                        <a:t>-0.007 [-0.05, +0.04]</a:t>
                      </a:r>
                    </a:p>
                  </a:txBody>
                  <a:tcPr anchor="ctr"/>
                </a:tc>
                <a:tc>
                  <a:txBody>
                    <a:bodyPr/>
                    <a:lstStyle/>
                    <a:p>
                      <a:pPr algn="ctr"/>
                      <a:r>
                        <a:rPr sz="1100" b="0"/>
                        <a:t>+0.081 [+0.03, +0.13]</a:t>
                      </a:r>
                    </a:p>
                  </a:txBody>
                  <a:tcPr anchor="ctr"/>
                </a:tc>
              </a:tr>
              <a:tr h="444444">
                <a:tc>
                  <a:txBody>
                    <a:bodyPr/>
                    <a:lstStyle/>
                    <a:p>
                      <a:pPr algn="ctr"/>
                      <a:r>
                        <a:rPr sz="1100" b="0"/>
                        <a:t>CKD</a:t>
                      </a:r>
                    </a:p>
                  </a:txBody>
                  <a:tcPr anchor="ctr"/>
                </a:tc>
                <a:tc>
                  <a:txBody>
                    <a:bodyPr/>
                    <a:lstStyle/>
                    <a:p>
                      <a:pPr algn="ctr"/>
                      <a:r>
                        <a:rPr sz="1100" b="0"/>
                        <a:t>VAT,SAT,TAMA@L3</a:t>
                      </a:r>
                    </a:p>
                  </a:txBody>
                  <a:tcPr anchor="ctr"/>
                </a:tc>
                <a:tc>
                  <a:txBody>
                    <a:bodyPr/>
                    <a:lstStyle/>
                    <a:p>
                      <a:pPr algn="ctr"/>
                      <a:r>
                        <a:rPr sz="1100" b="0"/>
                        <a:t>male&amp;age_T2</a:t>
                      </a:r>
                    </a:p>
                  </a:txBody>
                  <a:tcPr anchor="ctr"/>
                </a:tc>
                <a:tc>
                  <a:txBody>
                    <a:bodyPr/>
                    <a:lstStyle/>
                    <a:p>
                      <a:pPr algn="ctr"/>
                      <a:r>
                        <a:rPr sz="1100" b="0"/>
                        <a:t>-0.074 [-0.15, -0.00]</a:t>
                      </a:r>
                    </a:p>
                  </a:txBody>
                  <a:tcPr anchor="ctr"/>
                </a:tc>
                <a:tc>
                  <a:txBody>
                    <a:bodyPr/>
                    <a:lstStyle/>
                    <a:p>
                      <a:pPr algn="ctr"/>
                      <a:r>
                        <a:rPr sz="1100" b="0"/>
                        <a:t>-0.070 [-0.17, +0.04]</a:t>
                      </a:r>
                    </a:p>
                  </a:txBody>
                  <a:tcPr anchor="ctr"/>
                </a:tc>
              </a:tr>
              <a:tr h="444444">
                <a:tc>
                  <a:txBody>
                    <a:bodyPr/>
                    <a:lstStyle/>
                    <a:p>
                      <a:pPr algn="ctr"/>
                      <a:r>
                        <a:rPr sz="1100" b="0"/>
                        <a:t>HTN</a:t>
                      </a:r>
                    </a:p>
                  </a:txBody>
                  <a:tcPr anchor="ctr"/>
                </a:tc>
                <a:tc>
                  <a:txBody>
                    <a:bodyPr/>
                    <a:lstStyle/>
                    <a:p>
                      <a:pPr algn="ctr"/>
                      <a:r>
                        <a:rPr sz="1100" b="0"/>
                        <a:t>VAT,SAT,TAMA@L3</a:t>
                      </a:r>
                    </a:p>
                  </a:txBody>
                  <a:tcPr anchor="ctr"/>
                </a:tc>
                <a:tc>
                  <a:txBody>
                    <a:bodyPr/>
                    <a:lstStyle/>
                    <a:p>
                      <a:pPr algn="ctr"/>
                      <a:r>
                        <a:rPr sz="1100" b="0"/>
                        <a:t>female&amp;age_T3</a:t>
                      </a:r>
                    </a:p>
                  </a:txBody>
                  <a:tcPr anchor="ctr"/>
                </a:tc>
                <a:tc>
                  <a:txBody>
                    <a:bodyPr/>
                    <a:lstStyle/>
                    <a:p>
                      <a:pPr algn="ctr"/>
                      <a:r>
                        <a:rPr sz="1100" b="0"/>
                        <a:t>-0.072 [-0.14, -0.01]</a:t>
                      </a:r>
                    </a:p>
                  </a:txBody>
                  <a:tcPr anchor="ctr"/>
                </a:tc>
                <a:tc>
                  <a:txBody>
                    <a:bodyPr/>
                    <a:lstStyle/>
                    <a:p>
                      <a:pPr algn="ctr"/>
                      <a:r>
                        <a:rPr sz="1100" b="0"/>
                        <a:t>+0.003 [-0.02, +0.03]</a:t>
                      </a:r>
                    </a:p>
                  </a:txBody>
                  <a:tcPr anchor="ctr"/>
                </a:tc>
              </a:tr>
              <a:tr h="444444">
                <a:tc>
                  <a:txBody>
                    <a:bodyPr/>
                    <a:lstStyle/>
                    <a:p>
                      <a:pPr algn="ctr"/>
                      <a:r>
                        <a:rPr sz="1100" b="0"/>
                        <a:t>HTN</a:t>
                      </a:r>
                    </a:p>
                  </a:txBody>
                  <a:tcPr anchor="ctr"/>
                </a:tc>
                <a:tc>
                  <a:txBody>
                    <a:bodyPr/>
                    <a:lstStyle/>
                    <a:p>
                      <a:pPr algn="ctr"/>
                      <a:r>
                        <a:rPr sz="1100" b="0"/>
                        <a:t>VAT,SAT,TAMA@L3</a:t>
                      </a:r>
                    </a:p>
                  </a:txBody>
                  <a:tcPr anchor="ctr"/>
                </a:tc>
                <a:tc>
                  <a:txBody>
                    <a:bodyPr/>
                    <a:lstStyle/>
                    <a:p>
                      <a:pPr algn="ctr"/>
                      <a:r>
                        <a:rPr sz="1100" b="0"/>
                        <a:t>female&amp;bmi_T3</a:t>
                      </a:r>
                    </a:p>
                  </a:txBody>
                  <a:tcPr anchor="ctr"/>
                </a:tc>
                <a:tc>
                  <a:txBody>
                    <a:bodyPr/>
                    <a:lstStyle/>
                    <a:p>
                      <a:pPr algn="ctr"/>
                      <a:r>
                        <a:rPr sz="1100" b="0"/>
                        <a:t>-0.071 [-0.12, -0.02]</a:t>
                      </a:r>
                    </a:p>
                  </a:txBody>
                  <a:tcPr anchor="ctr"/>
                </a:tc>
                <a:tc>
                  <a:txBody>
                    <a:bodyPr/>
                    <a:lstStyle/>
                    <a:p>
                      <a:pPr algn="ctr"/>
                      <a:r>
                        <a:rPr sz="1100" b="0"/>
                        <a:t>+0.003 [-0.02, +0.02]</a:t>
                      </a:r>
                    </a:p>
                  </a:txBody>
                  <a:tcPr anchor="ctr"/>
                </a:tc>
              </a:tr>
              <a:tr h="444444">
                <a:tc>
                  <a:txBody>
                    <a:bodyPr/>
                    <a:lstStyle/>
                    <a:p>
                      <a:pPr algn="ctr"/>
                      <a:r>
                        <a:rPr sz="1100" b="0"/>
                        <a:t>CKD</a:t>
                      </a:r>
                    </a:p>
                  </a:txBody>
                  <a:tcPr anchor="ctr"/>
                </a:tc>
                <a:tc>
                  <a:txBody>
                    <a:bodyPr/>
                    <a:lstStyle/>
                    <a:p>
                      <a:pPr algn="ctr"/>
                      <a:r>
                        <a:rPr sz="1100" b="0"/>
                        <a:t>VAT,SAT,TAMA@L3</a:t>
                      </a:r>
                    </a:p>
                  </a:txBody>
                  <a:tcPr anchor="ctr"/>
                </a:tc>
                <a:tc>
                  <a:txBody>
                    <a:bodyPr/>
                    <a:lstStyle/>
                    <a:p>
                      <a:pPr algn="ctr"/>
                      <a:r>
                        <a:rPr sz="1100" b="0"/>
                        <a:t>female&amp;bmi_T3</a:t>
                      </a:r>
                    </a:p>
                  </a:txBody>
                  <a:tcPr anchor="ctr"/>
                </a:tc>
                <a:tc>
                  <a:txBody>
                    <a:bodyPr/>
                    <a:lstStyle/>
                    <a:p>
                      <a:pPr algn="ctr"/>
                      <a:r>
                        <a:rPr sz="1100" b="0"/>
                        <a:t>-0.025 [-0.06, +0.01]</a:t>
                      </a:r>
                    </a:p>
                  </a:txBody>
                  <a:tcPr anchor="ctr"/>
                </a:tc>
                <a:tc>
                  <a:txBody>
                    <a:bodyPr/>
                    <a:lstStyle/>
                    <a:p>
                      <a:pPr algn="ctr"/>
                      <a:r>
                        <a:rPr sz="1100" b="0"/>
                        <a:t>-0.070 [-0.13, -0.01]</a:t>
                      </a:r>
                    </a:p>
                  </a:txBody>
                  <a:tcPr anchor="ctr"/>
                </a:tc>
              </a:tr>
              <a:tr h="444444">
                <a:tc>
                  <a:txBody>
                    <a:bodyPr/>
                    <a:lstStyle/>
                    <a:p>
                      <a:pPr algn="ctr"/>
                      <a:r>
                        <a:rPr sz="1100" b="0"/>
                        <a:t>CKD</a:t>
                      </a:r>
                    </a:p>
                  </a:txBody>
                  <a:tcPr anchor="ctr"/>
                </a:tc>
                <a:tc>
                  <a:txBody>
                    <a:bodyPr/>
                    <a:lstStyle/>
                    <a:p>
                      <a:pPr algn="ctr"/>
                      <a:r>
                        <a:rPr sz="1100" b="0"/>
                        <a:t>Tier1 ratios@L3</a:t>
                      </a:r>
                    </a:p>
                  </a:txBody>
                  <a:tcPr anchor="ctr"/>
                </a:tc>
                <a:tc>
                  <a:txBody>
                    <a:bodyPr/>
                    <a:lstStyle/>
                    <a:p>
                      <a:pPr algn="ctr"/>
                      <a:r>
                        <a:rPr sz="1100" b="0"/>
                        <a:t>female&amp;age_T3</a:t>
                      </a:r>
                    </a:p>
                  </a:txBody>
                  <a:tcPr anchor="ctr"/>
                </a:tc>
                <a:tc>
                  <a:txBody>
                    <a:bodyPr/>
                    <a:lstStyle/>
                    <a:p>
                      <a:pPr algn="ctr"/>
                      <a:r>
                        <a:rPr sz="1100" b="0"/>
                        <a:t>+0.007 [-0.03, +0.04]</a:t>
                      </a:r>
                    </a:p>
                  </a:txBody>
                  <a:tcPr anchor="ctr"/>
                </a:tc>
                <a:tc>
                  <a:txBody>
                    <a:bodyPr/>
                    <a:lstStyle/>
                    <a:p>
                      <a:pPr algn="ctr"/>
                      <a:r>
                        <a:rPr sz="1100" b="0"/>
                        <a:t>-0.070 [-0.16, +0.01]</a:t>
                      </a:r>
                    </a:p>
                  </a:txBody>
                  <a:tcPr anchor="ctr"/>
                </a:tc>
              </a:tr>
              <a:tr h="444444">
                <a:tc>
                  <a:txBody>
                    <a:bodyPr/>
                    <a:lstStyle/>
                    <a:p>
                      <a:pPr algn="ctr"/>
                      <a:r>
                        <a:rPr sz="1100" b="0"/>
                        <a:t>CKD</a:t>
                      </a:r>
                    </a:p>
                  </a:txBody>
                  <a:tcPr anchor="ctr"/>
                </a:tc>
                <a:tc>
                  <a:txBody>
                    <a:bodyPr/>
                    <a:lstStyle/>
                    <a:p>
                      <a:pPr algn="ctr"/>
                      <a:r>
                        <a:rPr sz="1100" b="0"/>
                        <a:t>VAT,SAT,TAMA@L3</a:t>
                      </a:r>
                    </a:p>
                  </a:txBody>
                  <a:tcPr anchor="ctr"/>
                </a:tc>
                <a:tc>
                  <a:txBody>
                    <a:bodyPr/>
                    <a:lstStyle/>
                    <a:p>
                      <a:pPr algn="ctr"/>
                      <a:r>
                        <a:rPr sz="1100" b="0"/>
                        <a:t>age_T2</a:t>
                      </a:r>
                    </a:p>
                  </a:txBody>
                  <a:tcPr anchor="ctr"/>
                </a:tc>
                <a:tc>
                  <a:txBody>
                    <a:bodyPr/>
                    <a:lstStyle/>
                    <a:p>
                      <a:pPr algn="ctr"/>
                      <a:r>
                        <a:rPr sz="1100" b="0"/>
                        <a:t>-0.024 [-0.05, +0.00]</a:t>
                      </a:r>
                    </a:p>
                  </a:txBody>
                  <a:tcPr anchor="ctr"/>
                </a:tc>
                <a:tc>
                  <a:txBody>
                    <a:bodyPr/>
                    <a:lstStyle/>
                    <a:p>
                      <a:pPr algn="ctr"/>
                      <a:r>
                        <a:rPr sz="1100" b="0"/>
                        <a:t>-0.070 [-0.14, -0.01]</a:t>
                      </a:r>
                    </a:p>
                  </a:txBody>
                  <a:tcPr anchor="ctr"/>
                </a:tc>
              </a:tr>
              <a:tr h="444444">
                <a:tc>
                  <a:txBody>
                    <a:bodyPr/>
                    <a:lstStyle/>
                    <a:p>
                      <a:pPr algn="ctr"/>
                      <a:r>
                        <a:rPr sz="1100" b="0"/>
                        <a:t>HTN</a:t>
                      </a:r>
                    </a:p>
                  </a:txBody>
                  <a:tcPr anchor="ctr"/>
                </a:tc>
                <a:tc>
                  <a:txBody>
                    <a:bodyPr/>
                    <a:lstStyle/>
                    <a:p>
                      <a:pPr algn="ctr"/>
                      <a:r>
                        <a:rPr sz="1100" b="0"/>
                        <a:t>Tier1 ratios@L3</a:t>
                      </a:r>
                    </a:p>
                  </a:txBody>
                  <a:tcPr anchor="ctr"/>
                </a:tc>
                <a:tc>
                  <a:txBody>
                    <a:bodyPr/>
                    <a:lstStyle/>
                    <a:p>
                      <a:pPr algn="ctr"/>
                      <a:r>
                        <a:rPr sz="1100" b="0"/>
                        <a:t>female&amp;age_T3</a:t>
                      </a:r>
                    </a:p>
                  </a:txBody>
                  <a:tcPr anchor="ctr"/>
                </a:tc>
                <a:tc>
                  <a:txBody>
                    <a:bodyPr/>
                    <a:lstStyle/>
                    <a:p>
                      <a:pPr algn="ctr"/>
                      <a:r>
                        <a:rPr sz="1100" b="0"/>
                        <a:t>-0.066 [-0.13, -0.01]</a:t>
                      </a:r>
                    </a:p>
                  </a:txBody>
                  <a:tcPr anchor="ctr"/>
                </a:tc>
                <a:tc>
                  <a:txBody>
                    <a:bodyPr/>
                    <a:lstStyle/>
                    <a:p>
                      <a:pPr algn="ctr"/>
                      <a:r>
                        <a:rPr sz="1100" b="0"/>
                        <a:t>-0.012 [-0.04, +0.02]</a:t>
                      </a:r>
                    </a:p>
                  </a:txBody>
                  <a:tcPr anchor="ct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최적 landmark 조합 탐색 (liver dome, 치골 제외)</a:t>
            </a:r>
          </a:p>
        </p:txBody>
      </p:sp>
      <p:sp>
        <p:nvSpPr>
          <p:cNvPr id="3" name="Content Placeholder 2"/>
          <p:cNvSpPr>
            <a:spLocks noGrp="1"/>
          </p:cNvSpPr>
          <p:nvPr>
            <p:ph idx="1"/>
          </p:nvPr>
        </p:nvSpPr>
        <p:spPr>
          <a:xfrm>
            <a:off x="508000" y="1050000"/>
            <a:ext cx="11176000" cy="1000000"/>
          </a:xfrm>
        </p:spPr>
        <p:txBody>
          <a:bodyPr/>
          <a:lstStyle/>
          <a:p>
            <a:r>
              <a:rPr sz="1200" b="0">
                <a:solidFill>
                  <a:srgbClr val="333F4D"/>
                </a:solidFill>
              </a:rPr>
              <a:t>10개 landmark의 1~5개 조합(638개)을 학습 코호트 CV AUC로 선택하고 다른 코호트에서 평가. 값 = VAT·SAT·TAMA 값, 비율 = VAT/SAT·VAT/TAMA·TAMA/(VAT+SAT). 외부 AUC (선택 조합은 DeLong p vs clinical)</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21</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100000"/>
          <a:ext cx="11175996" cy="4299997"/>
        </p:xfrm>
        <a:graphic>
          <a:graphicData uri="http://schemas.openxmlformats.org/drawingml/2006/table">
            <a:tbl>
              <a:tblPr firstRow="1" bandRow="1">
                <a:tableStyleId>{C083E6E3-FA7D-4D7B-A595-EF9225AFEA82}</a:tableStyleId>
              </a:tblPr>
              <a:tblGrid>
                <a:gridCol w="947118"/>
                <a:gridCol w="757694"/>
                <a:gridCol w="757694"/>
                <a:gridCol w="3409627"/>
                <a:gridCol w="1041830"/>
                <a:gridCol w="1894237"/>
                <a:gridCol w="1136542"/>
                <a:gridCol w="1231254"/>
              </a:tblGrid>
              <a:tr h="330769">
                <a:tc>
                  <a:txBody>
                    <a:bodyPr/>
                    <a:lstStyle/>
                    <a:p>
                      <a:pPr algn="ctr"/>
                      <a:r>
                        <a:rPr sz="1400" b="1"/>
                        <a:t>Disease</a:t>
                      </a:r>
                    </a:p>
                  </a:txBody>
                  <a:tcPr anchor="ctr"/>
                </a:tc>
                <a:tc>
                  <a:txBody>
                    <a:bodyPr/>
                    <a:lstStyle/>
                    <a:p>
                      <a:pPr algn="ctr"/>
                      <a:r>
                        <a:rPr sz="1400" b="1"/>
                        <a:t>방향</a:t>
                      </a:r>
                    </a:p>
                  </a:txBody>
                  <a:tcPr anchor="ctr"/>
                </a:tc>
                <a:tc>
                  <a:txBody>
                    <a:bodyPr/>
                    <a:lstStyle/>
                    <a:p>
                      <a:pPr algn="ctr"/>
                      <a:r>
                        <a:rPr sz="1400" b="1"/>
                        <a:t>형태</a:t>
                      </a:r>
                    </a:p>
                  </a:txBody>
                  <a:tcPr anchor="ctr"/>
                </a:tc>
                <a:tc>
                  <a:txBody>
                    <a:bodyPr/>
                    <a:lstStyle/>
                    <a:p>
                      <a:pPr algn="ctr"/>
                      <a:r>
                        <a:rPr sz="1400" b="1"/>
                        <a:t>선택된 조합</a:t>
                      </a:r>
                    </a:p>
                  </a:txBody>
                  <a:tcPr anchor="ctr"/>
                </a:tc>
                <a:tc>
                  <a:txBody>
                    <a:bodyPr/>
                    <a:lstStyle/>
                    <a:p>
                      <a:pPr algn="ctr"/>
                      <a:r>
                        <a:rPr sz="1400" b="1"/>
                        <a:t>clinical</a:t>
                      </a:r>
                    </a:p>
                  </a:txBody>
                  <a:tcPr anchor="ctr"/>
                </a:tc>
                <a:tc>
                  <a:txBody>
                    <a:bodyPr/>
                    <a:lstStyle/>
                    <a:p>
                      <a:pPr algn="ctr"/>
                      <a:r>
                        <a:rPr sz="1400" b="1"/>
                        <a:t>선택 조합</a:t>
                      </a:r>
                    </a:p>
                  </a:txBody>
                  <a:tcPr anchor="ctr"/>
                </a:tc>
                <a:tc>
                  <a:txBody>
                    <a:bodyPr/>
                    <a:lstStyle/>
                    <a:p>
                      <a:pPr algn="ctr"/>
                      <a:r>
                        <a:rPr sz="1400" b="1"/>
                        <a:t>L3 단독</a:t>
                      </a:r>
                    </a:p>
                  </a:txBody>
                  <a:tcPr anchor="ctr"/>
                </a:tc>
                <a:tc>
                  <a:txBody>
                    <a:bodyPr/>
                    <a:lstStyle/>
                    <a:p>
                      <a:pPr algn="ctr"/>
                      <a:r>
                        <a:rPr sz="1400" b="1"/>
                        <a:t>10개 전체</a:t>
                      </a:r>
                    </a:p>
                  </a:txBody>
                  <a:tcPr anchor="ctr"/>
                </a:tc>
              </a:tr>
              <a:tr h="330769">
                <a:tc rowSpan="4">
                  <a:txBody>
                    <a:bodyPr/>
                    <a:lstStyle/>
                    <a:p>
                      <a:pPr algn="ctr"/>
                      <a:r>
                        <a:rPr sz="1000" b="0"/>
                        <a:t>HTN</a:t>
                      </a:r>
                    </a:p>
                  </a:txBody>
                  <a:tcPr anchor="ctr"/>
                </a:tc>
                <a:tc>
                  <a:txBody>
                    <a:bodyPr/>
                    <a:lstStyle/>
                    <a:p>
                      <a:pPr algn="ctr"/>
                      <a:r>
                        <a:rPr sz="1000" b="0"/>
                        <a:t>G→S</a:t>
                      </a:r>
                    </a:p>
                  </a:txBody>
                  <a:tcPr anchor="ctr"/>
                </a:tc>
                <a:tc>
                  <a:txBody>
                    <a:bodyPr/>
                    <a:lstStyle/>
                    <a:p>
                      <a:pPr algn="ctr"/>
                      <a:r>
                        <a:rPr sz="1000" b="0"/>
                        <a:t>값</a:t>
                      </a:r>
                    </a:p>
                  </a:txBody>
                  <a:tcPr anchor="ctr"/>
                </a:tc>
                <a:tc>
                  <a:txBody>
                    <a:bodyPr/>
                    <a:lstStyle/>
                    <a:p>
                      <a:pPr algn="ctr"/>
                      <a:r>
                        <a:rPr sz="1000" b="0"/>
                        <a:t>T12+S1+femoral_head</a:t>
                      </a:r>
                    </a:p>
                  </a:txBody>
                  <a:tcPr anchor="ctr"/>
                </a:tc>
                <a:tc>
                  <a:txBody>
                    <a:bodyPr/>
                    <a:lstStyle/>
                    <a:p>
                      <a:pPr algn="ctr"/>
                      <a:r>
                        <a:rPr sz="1000" b="0"/>
                        <a:t>0.717</a:t>
                      </a:r>
                    </a:p>
                  </a:txBody>
                  <a:tcPr anchor="ctr"/>
                </a:tc>
                <a:tc>
                  <a:txBody>
                    <a:bodyPr/>
                    <a:lstStyle/>
                    <a:p>
                      <a:pPr algn="ctr"/>
                      <a:r>
                        <a:rPr sz="1000" b="0"/>
                        <a:t>0.718 (p=0.94)</a:t>
                      </a:r>
                    </a:p>
                  </a:txBody>
                  <a:tcPr anchor="ctr"/>
                </a:tc>
                <a:tc>
                  <a:txBody>
                    <a:bodyPr/>
                    <a:lstStyle/>
                    <a:p>
                      <a:pPr algn="ctr"/>
                      <a:r>
                        <a:rPr sz="1000" b="0"/>
                        <a:t>0.717</a:t>
                      </a:r>
                    </a:p>
                  </a:txBody>
                  <a:tcPr anchor="ctr"/>
                </a:tc>
                <a:tc>
                  <a:txBody>
                    <a:bodyPr/>
                    <a:lstStyle/>
                    <a:p>
                      <a:pPr algn="ctr"/>
                      <a:r>
                        <a:rPr sz="1000" b="0"/>
                        <a:t>0.717</a:t>
                      </a:r>
                    </a:p>
                  </a:txBody>
                  <a:tcPr anchor="ctr"/>
                </a:tc>
              </a:tr>
              <a:tr h="330769">
                <a:tc vMerge="1">
                  <a:txBody>
                    <a:bodyPr/>
                    <a:lstStyle/>
                    <a:p/>
                  </a:txBody>
                  <a:tcPr/>
                </a:tc>
                <a:tc>
                  <a:txBody>
                    <a:bodyPr/>
                    <a:lstStyle/>
                    <a:p>
                      <a:pPr algn="ctr"/>
                      <a:r>
                        <a:rPr sz="1000" b="0"/>
                        <a:t>G→S</a:t>
                      </a:r>
                    </a:p>
                  </a:txBody>
                  <a:tcPr anchor="ctr"/>
                </a:tc>
                <a:tc>
                  <a:txBody>
                    <a:bodyPr/>
                    <a:lstStyle/>
                    <a:p>
                      <a:pPr algn="ctr"/>
                      <a:r>
                        <a:rPr sz="1000" b="0"/>
                        <a:t>비율</a:t>
                      </a:r>
                    </a:p>
                  </a:txBody>
                  <a:tcPr anchor="ctr"/>
                </a:tc>
                <a:tc>
                  <a:txBody>
                    <a:bodyPr/>
                    <a:lstStyle/>
                    <a:p>
                      <a:pPr algn="ctr"/>
                      <a:r>
                        <a:rPr sz="1000" b="0"/>
                        <a:t>L2</a:t>
                      </a:r>
                    </a:p>
                  </a:txBody>
                  <a:tcPr anchor="ctr"/>
                </a:tc>
                <a:tc>
                  <a:txBody>
                    <a:bodyPr/>
                    <a:lstStyle/>
                    <a:p>
                      <a:pPr algn="ctr"/>
                      <a:r>
                        <a:rPr sz="1000" b="0"/>
                        <a:t>0.717</a:t>
                      </a:r>
                    </a:p>
                  </a:txBody>
                  <a:tcPr anchor="ctr"/>
                </a:tc>
                <a:tc>
                  <a:txBody>
                    <a:bodyPr/>
                    <a:lstStyle/>
                    <a:p>
                      <a:pPr algn="ctr"/>
                      <a:r>
                        <a:rPr sz="1000" b="0"/>
                        <a:t>0.720 (p=0.74)</a:t>
                      </a:r>
                    </a:p>
                  </a:txBody>
                  <a:tcPr anchor="ctr"/>
                </a:tc>
                <a:tc>
                  <a:txBody>
                    <a:bodyPr/>
                    <a:lstStyle/>
                    <a:p>
                      <a:pPr algn="ctr"/>
                      <a:r>
                        <a:rPr sz="1000" b="0"/>
                        <a:t>0.719</a:t>
                      </a:r>
                    </a:p>
                  </a:txBody>
                  <a:tcPr anchor="ctr"/>
                </a:tc>
                <a:tc>
                  <a:txBody>
                    <a:bodyPr/>
                    <a:lstStyle/>
                    <a:p>
                      <a:pPr algn="ctr"/>
                      <a:r>
                        <a:rPr sz="1000" b="0"/>
                        <a:t>0.724</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값</a:t>
                      </a:r>
                    </a:p>
                  </a:txBody>
                  <a:tcPr anchor="ctr"/>
                </a:tc>
                <a:tc>
                  <a:txBody>
                    <a:bodyPr/>
                    <a:lstStyle/>
                    <a:p>
                      <a:pPr algn="ctr"/>
                      <a:r>
                        <a:rPr sz="1000" b="0"/>
                        <a:t>L1+S1</a:t>
                      </a:r>
                    </a:p>
                  </a:txBody>
                  <a:tcPr anchor="ctr"/>
                </a:tc>
                <a:tc>
                  <a:txBody>
                    <a:bodyPr/>
                    <a:lstStyle/>
                    <a:p>
                      <a:pPr algn="ctr"/>
                      <a:r>
                        <a:rPr sz="1000" b="0"/>
                        <a:t>0.774</a:t>
                      </a:r>
                    </a:p>
                  </a:txBody>
                  <a:tcPr anchor="ctr"/>
                </a:tc>
                <a:tc>
                  <a:txBody>
                    <a:bodyPr/>
                    <a:lstStyle/>
                    <a:p>
                      <a:pPr algn="ctr"/>
                      <a:r>
                        <a:rPr sz="1000" b="0"/>
                        <a:t>0.783 (p=0.12)</a:t>
                      </a:r>
                    </a:p>
                  </a:txBody>
                  <a:tcPr anchor="ctr"/>
                </a:tc>
                <a:tc>
                  <a:txBody>
                    <a:bodyPr/>
                    <a:lstStyle/>
                    <a:p>
                      <a:pPr algn="ctr"/>
                      <a:r>
                        <a:rPr sz="1000" b="0"/>
                        <a:t>0.786</a:t>
                      </a:r>
                    </a:p>
                  </a:txBody>
                  <a:tcPr anchor="ctr"/>
                </a:tc>
                <a:tc>
                  <a:txBody>
                    <a:bodyPr/>
                    <a:lstStyle/>
                    <a:p>
                      <a:pPr algn="ctr"/>
                      <a:r>
                        <a:rPr sz="1000" b="0"/>
                        <a:t>0.776</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비율</a:t>
                      </a:r>
                    </a:p>
                  </a:txBody>
                  <a:tcPr anchor="ctr"/>
                </a:tc>
                <a:tc>
                  <a:txBody>
                    <a:bodyPr/>
                    <a:lstStyle/>
                    <a:p>
                      <a:pPr algn="ctr"/>
                      <a:r>
                        <a:rPr sz="1000" b="0"/>
                        <a:t>L1</a:t>
                      </a:r>
                    </a:p>
                  </a:txBody>
                  <a:tcPr anchor="ctr"/>
                </a:tc>
                <a:tc>
                  <a:txBody>
                    <a:bodyPr/>
                    <a:lstStyle/>
                    <a:p>
                      <a:pPr algn="ctr"/>
                      <a:r>
                        <a:rPr sz="1000" b="0"/>
                        <a:t>0.774</a:t>
                      </a:r>
                    </a:p>
                  </a:txBody>
                  <a:tcPr anchor="ctr"/>
                </a:tc>
                <a:tc>
                  <a:txBody>
                    <a:bodyPr/>
                    <a:lstStyle/>
                    <a:p>
                      <a:pPr algn="ctr"/>
                      <a:r>
                        <a:rPr sz="1000" b="0"/>
                        <a:t>0.783 (p=0.06)</a:t>
                      </a:r>
                    </a:p>
                  </a:txBody>
                  <a:tcPr anchor="ctr"/>
                </a:tc>
                <a:tc>
                  <a:txBody>
                    <a:bodyPr/>
                    <a:lstStyle/>
                    <a:p>
                      <a:pPr algn="ctr"/>
                      <a:r>
                        <a:rPr sz="1000" b="0"/>
                        <a:t>0.779</a:t>
                      </a:r>
                    </a:p>
                  </a:txBody>
                  <a:tcPr anchor="ctr"/>
                </a:tc>
                <a:tc>
                  <a:txBody>
                    <a:bodyPr/>
                    <a:lstStyle/>
                    <a:p>
                      <a:pPr algn="ctr"/>
                      <a:r>
                        <a:rPr sz="1000" b="0"/>
                        <a:t>0.773</a:t>
                      </a:r>
                    </a:p>
                  </a:txBody>
                  <a:tcPr anchor="ctr"/>
                </a:tc>
              </a:tr>
              <a:tr h="330769">
                <a:tc rowSpan="4">
                  <a:txBody>
                    <a:bodyPr/>
                    <a:lstStyle/>
                    <a:p>
                      <a:pPr algn="ctr"/>
                      <a:r>
                        <a:rPr sz="1000" b="0"/>
                        <a:t>DM</a:t>
                      </a:r>
                    </a:p>
                  </a:txBody>
                  <a:tcPr anchor="ctr"/>
                </a:tc>
                <a:tc>
                  <a:txBody>
                    <a:bodyPr/>
                    <a:lstStyle/>
                    <a:p>
                      <a:pPr algn="ctr"/>
                      <a:r>
                        <a:rPr sz="1000" b="0"/>
                        <a:t>G→S</a:t>
                      </a:r>
                    </a:p>
                  </a:txBody>
                  <a:tcPr anchor="ctr"/>
                </a:tc>
                <a:tc>
                  <a:txBody>
                    <a:bodyPr/>
                    <a:lstStyle/>
                    <a:p>
                      <a:pPr algn="ctr"/>
                      <a:r>
                        <a:rPr sz="1000" b="0"/>
                        <a:t>값</a:t>
                      </a:r>
                    </a:p>
                  </a:txBody>
                  <a:tcPr anchor="ctr"/>
                </a:tc>
                <a:tc>
                  <a:txBody>
                    <a:bodyPr/>
                    <a:lstStyle/>
                    <a:p>
                      <a:pPr algn="ctr"/>
                      <a:r>
                        <a:rPr sz="1000" b="0"/>
                        <a:t>T10+T11+L4+S1+femoral_head</a:t>
                      </a:r>
                    </a:p>
                  </a:txBody>
                  <a:tcPr anchor="ctr"/>
                </a:tc>
                <a:tc>
                  <a:txBody>
                    <a:bodyPr/>
                    <a:lstStyle/>
                    <a:p>
                      <a:pPr algn="ctr"/>
                      <a:r>
                        <a:rPr sz="1000" b="0"/>
                        <a:t>0.687</a:t>
                      </a:r>
                    </a:p>
                  </a:txBody>
                  <a:tcPr anchor="ctr"/>
                </a:tc>
                <a:tc>
                  <a:txBody>
                    <a:bodyPr/>
                    <a:lstStyle/>
                    <a:p>
                      <a:pPr algn="ctr"/>
                      <a:r>
                        <a:rPr sz="1000" b="0"/>
                        <a:t>0.703 (p=0.16)</a:t>
                      </a:r>
                    </a:p>
                  </a:txBody>
                  <a:tcPr anchor="ctr"/>
                </a:tc>
                <a:tc>
                  <a:txBody>
                    <a:bodyPr/>
                    <a:lstStyle/>
                    <a:p>
                      <a:pPr algn="ctr"/>
                      <a:r>
                        <a:rPr sz="1000" b="0"/>
                        <a:t>0.693</a:t>
                      </a:r>
                    </a:p>
                  </a:txBody>
                  <a:tcPr anchor="ctr"/>
                </a:tc>
                <a:tc>
                  <a:txBody>
                    <a:bodyPr/>
                    <a:lstStyle/>
                    <a:p>
                      <a:pPr algn="ctr"/>
                      <a:r>
                        <a:rPr sz="1000" b="0"/>
                        <a:t>0.694</a:t>
                      </a:r>
                    </a:p>
                  </a:txBody>
                  <a:tcPr anchor="ctr"/>
                </a:tc>
              </a:tr>
              <a:tr h="330769">
                <a:tc vMerge="1">
                  <a:txBody>
                    <a:bodyPr/>
                    <a:lstStyle/>
                    <a:p/>
                  </a:txBody>
                  <a:tcPr/>
                </a:tc>
                <a:tc>
                  <a:txBody>
                    <a:bodyPr/>
                    <a:lstStyle/>
                    <a:p>
                      <a:pPr algn="ctr"/>
                      <a:r>
                        <a:rPr sz="1000" b="0"/>
                        <a:t>G→S</a:t>
                      </a:r>
                    </a:p>
                  </a:txBody>
                  <a:tcPr anchor="ctr"/>
                </a:tc>
                <a:tc>
                  <a:txBody>
                    <a:bodyPr/>
                    <a:lstStyle/>
                    <a:p>
                      <a:pPr algn="ctr"/>
                      <a:r>
                        <a:rPr sz="1000" b="0"/>
                        <a:t>비율</a:t>
                      </a:r>
                    </a:p>
                  </a:txBody>
                  <a:tcPr anchor="ctr"/>
                </a:tc>
                <a:tc>
                  <a:txBody>
                    <a:bodyPr/>
                    <a:lstStyle/>
                    <a:p>
                      <a:pPr algn="ctr"/>
                      <a:r>
                        <a:rPr sz="1000" b="0"/>
                        <a:t>T10+T11+L4</a:t>
                      </a:r>
                    </a:p>
                  </a:txBody>
                  <a:tcPr anchor="ctr"/>
                </a:tc>
                <a:tc>
                  <a:txBody>
                    <a:bodyPr/>
                    <a:lstStyle/>
                    <a:p>
                      <a:pPr algn="ctr"/>
                      <a:r>
                        <a:rPr sz="1000" b="0"/>
                        <a:t>0.687</a:t>
                      </a:r>
                    </a:p>
                  </a:txBody>
                  <a:tcPr anchor="ctr"/>
                </a:tc>
                <a:tc>
                  <a:txBody>
                    <a:bodyPr/>
                    <a:lstStyle/>
                    <a:p>
                      <a:pPr algn="ctr"/>
                      <a:r>
                        <a:rPr sz="1000" b="0"/>
                        <a:t>0.699 (p=0.19)</a:t>
                      </a:r>
                    </a:p>
                  </a:txBody>
                  <a:tcPr anchor="ctr"/>
                </a:tc>
                <a:tc>
                  <a:txBody>
                    <a:bodyPr/>
                    <a:lstStyle/>
                    <a:p>
                      <a:pPr algn="ctr"/>
                      <a:r>
                        <a:rPr sz="1000" b="0"/>
                        <a:t>0.704</a:t>
                      </a:r>
                    </a:p>
                  </a:txBody>
                  <a:tcPr anchor="ctr"/>
                </a:tc>
                <a:tc>
                  <a:txBody>
                    <a:bodyPr/>
                    <a:lstStyle/>
                    <a:p>
                      <a:pPr algn="ctr"/>
                      <a:r>
                        <a:rPr sz="1000" b="0"/>
                        <a:t>0.696</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값</a:t>
                      </a:r>
                    </a:p>
                  </a:txBody>
                  <a:tcPr anchor="ctr"/>
                </a:tc>
                <a:tc>
                  <a:txBody>
                    <a:bodyPr/>
                    <a:lstStyle/>
                    <a:p>
                      <a:pPr algn="ctr"/>
                      <a:r>
                        <a:rPr sz="1000" b="0"/>
                        <a:t>T10+T11+L4+L5+S1</a:t>
                      </a:r>
                    </a:p>
                  </a:txBody>
                  <a:tcPr anchor="ctr"/>
                </a:tc>
                <a:tc>
                  <a:txBody>
                    <a:bodyPr/>
                    <a:lstStyle/>
                    <a:p>
                      <a:pPr algn="ctr"/>
                      <a:r>
                        <a:rPr sz="1000" b="0"/>
                        <a:t>0.718</a:t>
                      </a:r>
                    </a:p>
                  </a:txBody>
                  <a:tcPr anchor="ctr"/>
                </a:tc>
                <a:tc>
                  <a:txBody>
                    <a:bodyPr/>
                    <a:lstStyle/>
                    <a:p>
                      <a:pPr algn="ctr"/>
                      <a:r>
                        <a:rPr sz="1000" b="0"/>
                        <a:t>0.728 (p=0.31)</a:t>
                      </a:r>
                    </a:p>
                  </a:txBody>
                  <a:tcPr anchor="ctr"/>
                </a:tc>
                <a:tc>
                  <a:txBody>
                    <a:bodyPr/>
                    <a:lstStyle/>
                    <a:p>
                      <a:pPr algn="ctr"/>
                      <a:r>
                        <a:rPr sz="1000" b="0"/>
                        <a:t>0.716</a:t>
                      </a:r>
                    </a:p>
                  </a:txBody>
                  <a:tcPr anchor="ctr"/>
                </a:tc>
                <a:tc>
                  <a:txBody>
                    <a:bodyPr/>
                    <a:lstStyle/>
                    <a:p>
                      <a:pPr algn="ctr"/>
                      <a:r>
                        <a:rPr sz="1000" b="0"/>
                        <a:t>0.732</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비율</a:t>
                      </a:r>
                    </a:p>
                  </a:txBody>
                  <a:tcPr anchor="ctr"/>
                </a:tc>
                <a:tc>
                  <a:txBody>
                    <a:bodyPr/>
                    <a:lstStyle/>
                    <a:p>
                      <a:pPr algn="ctr"/>
                      <a:r>
                        <a:rPr sz="1000" b="0"/>
                        <a:t>T11+L4+L5</a:t>
                      </a:r>
                    </a:p>
                  </a:txBody>
                  <a:tcPr anchor="ctr"/>
                </a:tc>
                <a:tc>
                  <a:txBody>
                    <a:bodyPr/>
                    <a:lstStyle/>
                    <a:p>
                      <a:pPr algn="ctr"/>
                      <a:r>
                        <a:rPr sz="1000" b="0"/>
                        <a:t>0.718</a:t>
                      </a:r>
                    </a:p>
                  </a:txBody>
                  <a:tcPr anchor="ctr"/>
                </a:tc>
                <a:tc>
                  <a:txBody>
                    <a:bodyPr/>
                    <a:lstStyle/>
                    <a:p>
                      <a:pPr algn="ctr"/>
                      <a:r>
                        <a:rPr sz="1000" b="0"/>
                        <a:t>0.723 (p=0.57)</a:t>
                      </a:r>
                    </a:p>
                  </a:txBody>
                  <a:tcPr anchor="ctr"/>
                </a:tc>
                <a:tc>
                  <a:txBody>
                    <a:bodyPr/>
                    <a:lstStyle/>
                    <a:p>
                      <a:pPr algn="ctr"/>
                      <a:r>
                        <a:rPr sz="1000" b="0"/>
                        <a:t>0.728</a:t>
                      </a:r>
                    </a:p>
                  </a:txBody>
                  <a:tcPr anchor="ctr"/>
                </a:tc>
                <a:tc>
                  <a:txBody>
                    <a:bodyPr/>
                    <a:lstStyle/>
                    <a:p>
                      <a:pPr algn="ctr"/>
                      <a:r>
                        <a:rPr sz="1000" b="0"/>
                        <a:t>0.727</a:t>
                      </a:r>
                    </a:p>
                  </a:txBody>
                  <a:tcPr anchor="ctr"/>
                </a:tc>
              </a:tr>
              <a:tr h="330769">
                <a:tc rowSpan="4">
                  <a:txBody>
                    <a:bodyPr/>
                    <a:lstStyle/>
                    <a:p>
                      <a:pPr algn="ctr"/>
                      <a:r>
                        <a:rPr sz="1000" b="0"/>
                        <a:t>CKD</a:t>
                      </a:r>
                    </a:p>
                  </a:txBody>
                  <a:tcPr anchor="ctr"/>
                </a:tc>
                <a:tc>
                  <a:txBody>
                    <a:bodyPr/>
                    <a:lstStyle/>
                    <a:p>
                      <a:pPr algn="ctr"/>
                      <a:r>
                        <a:rPr sz="1000" b="0"/>
                        <a:t>G→S</a:t>
                      </a:r>
                    </a:p>
                  </a:txBody>
                  <a:tcPr anchor="ctr"/>
                </a:tc>
                <a:tc>
                  <a:txBody>
                    <a:bodyPr/>
                    <a:lstStyle/>
                    <a:p>
                      <a:pPr algn="ctr"/>
                      <a:r>
                        <a:rPr sz="1000" b="0"/>
                        <a:t>값</a:t>
                      </a:r>
                    </a:p>
                  </a:txBody>
                  <a:tcPr anchor="ctr"/>
                </a:tc>
                <a:tc>
                  <a:txBody>
                    <a:bodyPr/>
                    <a:lstStyle/>
                    <a:p>
                      <a:pPr algn="ctr"/>
                      <a:r>
                        <a:rPr sz="1000" b="0"/>
                        <a:t>L2+L3+L4+S1+femoral_head</a:t>
                      </a:r>
                    </a:p>
                  </a:txBody>
                  <a:tcPr anchor="ctr"/>
                </a:tc>
                <a:tc>
                  <a:txBody>
                    <a:bodyPr/>
                    <a:lstStyle/>
                    <a:p>
                      <a:pPr algn="ctr"/>
                      <a:r>
                        <a:rPr sz="1000" b="0"/>
                        <a:t>0.616</a:t>
                      </a:r>
                    </a:p>
                  </a:txBody>
                  <a:tcPr anchor="ctr"/>
                </a:tc>
                <a:tc>
                  <a:txBody>
                    <a:bodyPr/>
                    <a:lstStyle/>
                    <a:p>
                      <a:pPr algn="ctr"/>
                      <a:r>
                        <a:rPr sz="1000" b="0"/>
                        <a:t>0.626 (p=0.36)</a:t>
                      </a:r>
                    </a:p>
                  </a:txBody>
                  <a:tcPr anchor="ctr"/>
                </a:tc>
                <a:tc>
                  <a:txBody>
                    <a:bodyPr/>
                    <a:lstStyle/>
                    <a:p>
                      <a:pPr algn="ctr"/>
                      <a:r>
                        <a:rPr sz="1000" b="0"/>
                        <a:t>0.609</a:t>
                      </a:r>
                    </a:p>
                  </a:txBody>
                  <a:tcPr anchor="ctr"/>
                </a:tc>
                <a:tc>
                  <a:txBody>
                    <a:bodyPr/>
                    <a:lstStyle/>
                    <a:p>
                      <a:pPr algn="ctr"/>
                      <a:r>
                        <a:rPr sz="1000" b="0"/>
                        <a:t>0.628</a:t>
                      </a:r>
                    </a:p>
                  </a:txBody>
                  <a:tcPr anchor="ctr"/>
                </a:tc>
              </a:tr>
              <a:tr h="330769">
                <a:tc vMerge="1">
                  <a:txBody>
                    <a:bodyPr/>
                    <a:lstStyle/>
                    <a:p/>
                  </a:txBody>
                  <a:tcPr/>
                </a:tc>
                <a:tc>
                  <a:txBody>
                    <a:bodyPr/>
                    <a:lstStyle/>
                    <a:p>
                      <a:pPr algn="ctr"/>
                      <a:r>
                        <a:rPr sz="1000" b="0"/>
                        <a:t>G→S</a:t>
                      </a:r>
                    </a:p>
                  </a:txBody>
                  <a:tcPr anchor="ctr"/>
                </a:tc>
                <a:tc>
                  <a:txBody>
                    <a:bodyPr/>
                    <a:lstStyle/>
                    <a:p>
                      <a:pPr algn="ctr"/>
                      <a:r>
                        <a:rPr sz="1000" b="0"/>
                        <a:t>비율</a:t>
                      </a:r>
                    </a:p>
                  </a:txBody>
                  <a:tcPr anchor="ctr"/>
                </a:tc>
                <a:tc>
                  <a:txBody>
                    <a:bodyPr/>
                    <a:lstStyle/>
                    <a:p>
                      <a:pPr algn="ctr"/>
                      <a:r>
                        <a:rPr sz="1000" b="0"/>
                        <a:t>T11+L1+L4</a:t>
                      </a:r>
                    </a:p>
                  </a:txBody>
                  <a:tcPr anchor="ctr"/>
                </a:tc>
                <a:tc>
                  <a:txBody>
                    <a:bodyPr/>
                    <a:lstStyle/>
                    <a:p>
                      <a:pPr algn="ctr"/>
                      <a:r>
                        <a:rPr sz="1000" b="0"/>
                        <a:t>0.616</a:t>
                      </a:r>
                    </a:p>
                  </a:txBody>
                  <a:tcPr anchor="ctr"/>
                </a:tc>
                <a:tc>
                  <a:txBody>
                    <a:bodyPr/>
                    <a:lstStyle/>
                    <a:p>
                      <a:pPr algn="ctr"/>
                      <a:r>
                        <a:rPr sz="1000" b="0"/>
                        <a:t>0.624 (p=0.37)</a:t>
                      </a:r>
                    </a:p>
                  </a:txBody>
                  <a:tcPr anchor="ctr"/>
                </a:tc>
                <a:tc>
                  <a:txBody>
                    <a:bodyPr/>
                    <a:lstStyle/>
                    <a:p>
                      <a:pPr algn="ctr"/>
                      <a:r>
                        <a:rPr sz="1000" b="0"/>
                        <a:t>0.617</a:t>
                      </a:r>
                    </a:p>
                  </a:txBody>
                  <a:tcPr anchor="ctr"/>
                </a:tc>
                <a:tc>
                  <a:txBody>
                    <a:bodyPr/>
                    <a:lstStyle/>
                    <a:p>
                      <a:pPr algn="ctr"/>
                      <a:r>
                        <a:rPr sz="1000" b="0"/>
                        <a:t>0.621</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값</a:t>
                      </a:r>
                    </a:p>
                  </a:txBody>
                  <a:tcPr anchor="ctr"/>
                </a:tc>
                <a:tc>
                  <a:txBody>
                    <a:bodyPr/>
                    <a:lstStyle/>
                    <a:p>
                      <a:pPr algn="ctr"/>
                      <a:r>
                        <a:rPr sz="1000" b="0"/>
                        <a:t>T10+L5+S1</a:t>
                      </a:r>
                    </a:p>
                  </a:txBody>
                  <a:tcPr anchor="ctr"/>
                </a:tc>
                <a:tc>
                  <a:txBody>
                    <a:bodyPr/>
                    <a:lstStyle/>
                    <a:p>
                      <a:pPr algn="ctr"/>
                      <a:r>
                        <a:rPr sz="1000" b="0"/>
                        <a:t>0.761</a:t>
                      </a:r>
                    </a:p>
                  </a:txBody>
                  <a:tcPr anchor="ctr"/>
                </a:tc>
                <a:tc>
                  <a:txBody>
                    <a:bodyPr/>
                    <a:lstStyle/>
                    <a:p>
                      <a:pPr algn="ctr"/>
                      <a:r>
                        <a:rPr sz="1000" b="0"/>
                        <a:t>0.702 (p=0.01)</a:t>
                      </a:r>
                    </a:p>
                  </a:txBody>
                  <a:tcPr anchor="ctr"/>
                </a:tc>
                <a:tc>
                  <a:txBody>
                    <a:bodyPr/>
                    <a:lstStyle/>
                    <a:p>
                      <a:pPr algn="ctr"/>
                      <a:r>
                        <a:rPr sz="1000" b="0"/>
                        <a:t>0.728</a:t>
                      </a:r>
                    </a:p>
                  </a:txBody>
                  <a:tcPr anchor="ctr"/>
                </a:tc>
                <a:tc>
                  <a:txBody>
                    <a:bodyPr/>
                    <a:lstStyle/>
                    <a:p>
                      <a:pPr algn="ctr"/>
                      <a:r>
                        <a:rPr sz="1000" b="0"/>
                        <a:t>0.707</a:t>
                      </a:r>
                    </a:p>
                  </a:txBody>
                  <a:tcPr anchor="ctr"/>
                </a:tc>
              </a:tr>
              <a:tr h="330769">
                <a:tc vMerge="1">
                  <a:txBody>
                    <a:bodyPr/>
                    <a:lstStyle/>
                    <a:p/>
                  </a:txBody>
                  <a:tcPr/>
                </a:tc>
                <a:tc>
                  <a:txBody>
                    <a:bodyPr/>
                    <a:lstStyle/>
                    <a:p>
                      <a:pPr algn="ctr"/>
                      <a:r>
                        <a:rPr sz="1000" b="0"/>
                        <a:t>S→G</a:t>
                      </a:r>
                    </a:p>
                  </a:txBody>
                  <a:tcPr anchor="ctr"/>
                </a:tc>
                <a:tc>
                  <a:txBody>
                    <a:bodyPr/>
                    <a:lstStyle/>
                    <a:p>
                      <a:pPr algn="ctr"/>
                      <a:r>
                        <a:rPr sz="1000" b="0"/>
                        <a:t>비율</a:t>
                      </a:r>
                    </a:p>
                  </a:txBody>
                  <a:tcPr anchor="ctr"/>
                </a:tc>
                <a:tc>
                  <a:txBody>
                    <a:bodyPr/>
                    <a:lstStyle/>
                    <a:p>
                      <a:pPr algn="ctr"/>
                      <a:r>
                        <a:rPr sz="1000" b="0"/>
                        <a:t>L1+femoral_head</a:t>
                      </a:r>
                    </a:p>
                  </a:txBody>
                  <a:tcPr anchor="ctr"/>
                </a:tc>
                <a:tc>
                  <a:txBody>
                    <a:bodyPr/>
                    <a:lstStyle/>
                    <a:p>
                      <a:pPr algn="ctr"/>
                      <a:r>
                        <a:rPr sz="1000" b="0"/>
                        <a:t>0.761</a:t>
                      </a:r>
                    </a:p>
                  </a:txBody>
                  <a:tcPr anchor="ctr"/>
                </a:tc>
                <a:tc>
                  <a:txBody>
                    <a:bodyPr/>
                    <a:lstStyle/>
                    <a:p>
                      <a:pPr algn="ctr"/>
                      <a:r>
                        <a:rPr sz="1000" b="0"/>
                        <a:t>0.737 (p=0.14)</a:t>
                      </a:r>
                    </a:p>
                  </a:txBody>
                  <a:tcPr anchor="ctr"/>
                </a:tc>
                <a:tc>
                  <a:txBody>
                    <a:bodyPr/>
                    <a:lstStyle/>
                    <a:p>
                      <a:pPr algn="ctr"/>
                      <a:r>
                        <a:rPr sz="1000" b="0"/>
                        <a:t>0.727</a:t>
                      </a:r>
                    </a:p>
                  </a:txBody>
                  <a:tcPr anchor="ctr"/>
                </a:tc>
                <a:tc>
                  <a:txBody>
                    <a:bodyPr/>
                    <a:lstStyle/>
                    <a:p>
                      <a:pPr algn="ctr"/>
                      <a:r>
                        <a:rPr sz="1000" b="0"/>
                        <a:t>0.717</a:t>
                      </a:r>
                    </a:p>
                  </a:txBody>
                  <a:tcPr anchor="ct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전체 feature 풀 전진 선택</a:t>
            </a:r>
          </a:p>
        </p:txBody>
      </p:sp>
      <p:sp>
        <p:nvSpPr>
          <p:cNvPr id="3" name="Content Placeholder 2"/>
          <p:cNvSpPr>
            <a:spLocks noGrp="1"/>
          </p:cNvSpPr>
          <p:nvPr>
            <p:ph idx="1"/>
          </p:nvPr>
        </p:nvSpPr>
        <p:spPr>
          <a:xfrm>
            <a:off x="508000" y="1050000"/>
            <a:ext cx="11176000" cy="1100000"/>
          </a:xfrm>
        </p:spPr>
        <p:txBody>
          <a:bodyPr/>
          <a:lstStyle/>
          <a:p>
            <a:r>
              <a:rPr sz="1200" b="0">
                <a:solidFill>
                  <a:srgbClr val="333F4D"/>
                </a:solidFill>
              </a:rPr>
              <a:t>풀 1,226개 = 단면 값, 같은 landmark 비율, landmark 간 같은 조직 비율, 교차 비율, 구간 평균, 구간/전체, AEC, patient-wise(pw_mean, pw_z). 학습 코호트 CV로 최대 6개 선택, 다른 코호트 외부 AUC. L(landmark 간 같은 조직 비율) 단독 조합 탐색도 clinical 대비 유의 개선 1/6</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23</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2300000"/>
          <a:ext cx="11175996" cy="4099998"/>
        </p:xfrm>
        <a:graphic>
          <a:graphicData uri="http://schemas.openxmlformats.org/drawingml/2006/table">
            <a:tbl>
              <a:tblPr firstRow="1" bandRow="1">
                <a:tableStyleId>{C083E6E3-FA7D-4D7B-A595-EF9225AFEA82}</a:tableStyleId>
              </a:tblPr>
              <a:tblGrid>
                <a:gridCol w="947118"/>
                <a:gridCol w="757694"/>
                <a:gridCol w="852406"/>
                <a:gridCol w="1231254"/>
                <a:gridCol w="1231254"/>
                <a:gridCol w="2178372"/>
                <a:gridCol w="3977898"/>
              </a:tblGrid>
              <a:tr h="585714">
                <a:tc>
                  <a:txBody>
                    <a:bodyPr/>
                    <a:lstStyle/>
                    <a:p>
                      <a:pPr algn="ctr"/>
                      <a:r>
                        <a:rPr sz="1400" b="1"/>
                        <a:t>Disease</a:t>
                      </a:r>
                    </a:p>
                  </a:txBody>
                  <a:tcPr anchor="ctr"/>
                </a:tc>
                <a:tc>
                  <a:txBody>
                    <a:bodyPr/>
                    <a:lstStyle/>
                    <a:p>
                      <a:pPr algn="ctr"/>
                      <a:r>
                        <a:rPr sz="1400" b="1"/>
                        <a:t>방향</a:t>
                      </a:r>
                    </a:p>
                  </a:txBody>
                  <a:tcPr anchor="ctr"/>
                </a:tc>
                <a:tc>
                  <a:txBody>
                    <a:bodyPr/>
                    <a:lstStyle/>
                    <a:p>
                      <a:pPr algn="ctr"/>
                      <a:r>
                        <a:rPr sz="1400" b="1"/>
                        <a:t># 선택</a:t>
                      </a:r>
                    </a:p>
                  </a:txBody>
                  <a:tcPr anchor="ctr"/>
                </a:tc>
                <a:tc>
                  <a:txBody>
                    <a:bodyPr/>
                    <a:lstStyle/>
                    <a:p>
                      <a:pPr algn="ctr"/>
                      <a:r>
                        <a:rPr sz="1400" b="1"/>
                        <a:t>학습 CV AUC</a:t>
                      </a:r>
                    </a:p>
                  </a:txBody>
                  <a:tcPr anchor="ctr"/>
                </a:tc>
                <a:tc>
                  <a:txBody>
                    <a:bodyPr/>
                    <a:lstStyle/>
                    <a:p>
                      <a:pPr algn="ctr"/>
                      <a:r>
                        <a:rPr sz="1400" b="1"/>
                        <a:t>clinical 외부</a:t>
                      </a:r>
                    </a:p>
                  </a:txBody>
                  <a:tcPr anchor="ctr"/>
                </a:tc>
                <a:tc>
                  <a:txBody>
                    <a:bodyPr/>
                    <a:lstStyle/>
                    <a:p>
                      <a:pPr algn="ctr"/>
                      <a:r>
                        <a:rPr sz="1400" b="1"/>
                        <a:t>선택 모델 외부 (DeLong p)</a:t>
                      </a:r>
                    </a:p>
                  </a:txBody>
                  <a:tcPr anchor="ctr"/>
                </a:tc>
                <a:tc>
                  <a:txBody>
                    <a:bodyPr/>
                    <a:lstStyle/>
                    <a:p>
                      <a:pPr algn="ctr"/>
                      <a:r>
                        <a:rPr sz="1400" b="1"/>
                        <a:t>선택된 feature 형태 (순서)</a:t>
                      </a:r>
                    </a:p>
                  </a:txBody>
                  <a:tcPr anchor="ctr"/>
                </a:tc>
              </a:tr>
              <a:tr h="585714">
                <a:tc rowSpan="2">
                  <a:txBody>
                    <a:bodyPr/>
                    <a:lstStyle/>
                    <a:p>
                      <a:pPr algn="ctr"/>
                      <a:r>
                        <a:rPr sz="1000" b="0"/>
                        <a:t>HTN</a:t>
                      </a:r>
                    </a:p>
                  </a:txBody>
                  <a:tcPr anchor="ctr"/>
                </a:tc>
                <a:tc>
                  <a:txBody>
                    <a:bodyPr/>
                    <a:lstStyle/>
                    <a:p>
                      <a:pPr algn="ctr"/>
                      <a:r>
                        <a:rPr sz="1000" b="0"/>
                        <a:t>G→S</a:t>
                      </a:r>
                    </a:p>
                  </a:txBody>
                  <a:tcPr anchor="ctr"/>
                </a:tc>
                <a:tc>
                  <a:txBody>
                    <a:bodyPr/>
                    <a:lstStyle/>
                    <a:p>
                      <a:pPr algn="ctr"/>
                      <a:r>
                        <a:rPr sz="1000" b="0"/>
                        <a:t>3</a:t>
                      </a:r>
                    </a:p>
                  </a:txBody>
                  <a:tcPr anchor="ctr"/>
                </a:tc>
                <a:tc>
                  <a:txBody>
                    <a:bodyPr/>
                    <a:lstStyle/>
                    <a:p>
                      <a:pPr algn="ctr"/>
                      <a:r>
                        <a:rPr sz="1000" b="0"/>
                        <a:t>0.807</a:t>
                      </a:r>
                    </a:p>
                  </a:txBody>
                  <a:tcPr anchor="ctr"/>
                </a:tc>
                <a:tc>
                  <a:txBody>
                    <a:bodyPr/>
                    <a:lstStyle/>
                    <a:p>
                      <a:pPr algn="ctr"/>
                      <a:r>
                        <a:rPr sz="1000" b="0"/>
                        <a:t>0.717</a:t>
                      </a:r>
                    </a:p>
                  </a:txBody>
                  <a:tcPr anchor="ctr"/>
                </a:tc>
                <a:tc>
                  <a:txBody>
                    <a:bodyPr/>
                    <a:lstStyle/>
                    <a:p>
                      <a:pPr algn="ctr"/>
                      <a:r>
                        <a:rPr sz="1000" b="0"/>
                        <a:t>0.709 (p=0.26)</a:t>
                      </a:r>
                    </a:p>
                  </a:txBody>
                  <a:tcPr anchor="ctr"/>
                </a:tc>
                <a:tc>
                  <a:txBody>
                    <a:bodyPr/>
                    <a:lstStyle/>
                    <a:p>
                      <a:pPr algn="ctr"/>
                      <a:r>
                        <a:rPr sz="1000" b="0"/>
                        <a:t>range, X, R</a:t>
                      </a:r>
                    </a:p>
                  </a:txBody>
                  <a:tcPr anchor="ctr"/>
                </a:tc>
              </a:tr>
              <a:tr h="585714">
                <a:tc vMerge="1">
                  <a:txBody>
                    <a:bodyPr/>
                    <a:lstStyle/>
                    <a:p/>
                  </a:txBody>
                  <a:tcPr/>
                </a:tc>
                <a:tc>
                  <a:txBody>
                    <a:bodyPr/>
                    <a:lstStyle/>
                    <a:p>
                      <a:pPr algn="ctr"/>
                      <a:r>
                        <a:rPr sz="1000" b="0"/>
                        <a:t>S→G</a:t>
                      </a:r>
                    </a:p>
                  </a:txBody>
                  <a:tcPr anchor="ctr"/>
                </a:tc>
                <a:tc>
                  <a:txBody>
                    <a:bodyPr/>
                    <a:lstStyle/>
                    <a:p>
                      <a:pPr algn="ctr"/>
                      <a:r>
                        <a:rPr sz="1000" b="0"/>
                        <a:t>3</a:t>
                      </a:r>
                    </a:p>
                  </a:txBody>
                  <a:tcPr anchor="ctr"/>
                </a:tc>
                <a:tc>
                  <a:txBody>
                    <a:bodyPr/>
                    <a:lstStyle/>
                    <a:p>
                      <a:pPr algn="ctr"/>
                      <a:r>
                        <a:rPr sz="1000" b="0"/>
                        <a:t>0.745</a:t>
                      </a:r>
                    </a:p>
                  </a:txBody>
                  <a:tcPr anchor="ctr"/>
                </a:tc>
                <a:tc>
                  <a:txBody>
                    <a:bodyPr/>
                    <a:lstStyle/>
                    <a:p>
                      <a:pPr algn="ctr"/>
                      <a:r>
                        <a:rPr sz="1000" b="0"/>
                        <a:t>0.774</a:t>
                      </a:r>
                    </a:p>
                  </a:txBody>
                  <a:tcPr anchor="ctr"/>
                </a:tc>
                <a:tc>
                  <a:txBody>
                    <a:bodyPr/>
                    <a:lstStyle/>
                    <a:p>
                      <a:pPr algn="ctr"/>
                      <a:r>
                        <a:rPr sz="1000" b="0"/>
                        <a:t>0.769 (p=0.35)</a:t>
                      </a:r>
                    </a:p>
                  </a:txBody>
                  <a:tcPr anchor="ctr"/>
                </a:tc>
                <a:tc>
                  <a:txBody>
                    <a:bodyPr/>
                    <a:lstStyle/>
                    <a:p>
                      <a:pPr algn="ctr"/>
                      <a:r>
                        <a:rPr sz="1000" b="0"/>
                        <a:t>X, pw_mean, rfrac</a:t>
                      </a:r>
                    </a:p>
                  </a:txBody>
                  <a:tcPr anchor="ctr"/>
                </a:tc>
              </a:tr>
              <a:tr h="585714">
                <a:tc rowSpan="2">
                  <a:txBody>
                    <a:bodyPr/>
                    <a:lstStyle/>
                    <a:p>
                      <a:pPr algn="ctr"/>
                      <a:r>
                        <a:rPr sz="1000" b="0"/>
                        <a:t>DM</a:t>
                      </a:r>
                    </a:p>
                  </a:txBody>
                  <a:tcPr anchor="ctr"/>
                </a:tc>
                <a:tc>
                  <a:txBody>
                    <a:bodyPr/>
                    <a:lstStyle/>
                    <a:p>
                      <a:pPr algn="ctr"/>
                      <a:r>
                        <a:rPr sz="1000" b="0"/>
                        <a:t>G→S</a:t>
                      </a:r>
                    </a:p>
                  </a:txBody>
                  <a:tcPr anchor="ctr"/>
                </a:tc>
                <a:tc>
                  <a:txBody>
                    <a:bodyPr/>
                    <a:lstStyle/>
                    <a:p>
                      <a:pPr algn="ctr"/>
                      <a:r>
                        <a:rPr sz="1000" b="0"/>
                        <a:t>5</a:t>
                      </a:r>
                    </a:p>
                  </a:txBody>
                  <a:tcPr anchor="ctr"/>
                </a:tc>
                <a:tc>
                  <a:txBody>
                    <a:bodyPr/>
                    <a:lstStyle/>
                    <a:p>
                      <a:pPr algn="ctr"/>
                      <a:r>
                        <a:rPr sz="1000" b="0"/>
                        <a:t>0.763</a:t>
                      </a:r>
                    </a:p>
                  </a:txBody>
                  <a:tcPr anchor="ctr"/>
                </a:tc>
                <a:tc>
                  <a:txBody>
                    <a:bodyPr/>
                    <a:lstStyle/>
                    <a:p>
                      <a:pPr algn="ctr"/>
                      <a:r>
                        <a:rPr sz="1000" b="0"/>
                        <a:t>0.687</a:t>
                      </a:r>
                    </a:p>
                  </a:txBody>
                  <a:tcPr anchor="ctr"/>
                </a:tc>
                <a:tc>
                  <a:txBody>
                    <a:bodyPr/>
                    <a:lstStyle/>
                    <a:p>
                      <a:pPr algn="ctr"/>
                      <a:r>
                        <a:rPr sz="1000" b="0"/>
                        <a:t>0.699 (p=0.35)</a:t>
                      </a:r>
                    </a:p>
                  </a:txBody>
                  <a:tcPr anchor="ctr"/>
                </a:tc>
                <a:tc>
                  <a:txBody>
                    <a:bodyPr/>
                    <a:lstStyle/>
                    <a:p>
                      <a:pPr algn="ctr"/>
                      <a:r>
                        <a:rPr sz="1000" b="0"/>
                        <a:t>pw_mean, L, pw_z, X, L</a:t>
                      </a:r>
                    </a:p>
                  </a:txBody>
                  <a:tcPr anchor="ctr"/>
                </a:tc>
              </a:tr>
              <a:tr h="585714">
                <a:tc vMerge="1">
                  <a:txBody>
                    <a:bodyPr/>
                    <a:lstStyle/>
                    <a:p/>
                  </a:txBody>
                  <a:tcPr/>
                </a:tc>
                <a:tc>
                  <a:txBody>
                    <a:bodyPr/>
                    <a:lstStyle/>
                    <a:p>
                      <a:pPr algn="ctr"/>
                      <a:r>
                        <a:rPr sz="1000" b="0"/>
                        <a:t>S→G</a:t>
                      </a:r>
                    </a:p>
                  </a:txBody>
                  <a:tcPr anchor="ctr"/>
                </a:tc>
                <a:tc>
                  <a:txBody>
                    <a:bodyPr/>
                    <a:lstStyle/>
                    <a:p>
                      <a:pPr algn="ctr"/>
                      <a:r>
                        <a:rPr sz="1000" b="0"/>
                        <a:t>6</a:t>
                      </a:r>
                    </a:p>
                  </a:txBody>
                  <a:tcPr anchor="ctr"/>
                </a:tc>
                <a:tc>
                  <a:txBody>
                    <a:bodyPr/>
                    <a:lstStyle/>
                    <a:p>
                      <a:pPr algn="ctr"/>
                      <a:r>
                        <a:rPr sz="1000" b="0"/>
                        <a:t>0.744</a:t>
                      </a:r>
                    </a:p>
                  </a:txBody>
                  <a:tcPr anchor="ctr"/>
                </a:tc>
                <a:tc>
                  <a:txBody>
                    <a:bodyPr/>
                    <a:lstStyle/>
                    <a:p>
                      <a:pPr algn="ctr"/>
                      <a:r>
                        <a:rPr sz="1000" b="0"/>
                        <a:t>0.718</a:t>
                      </a:r>
                    </a:p>
                  </a:txBody>
                  <a:tcPr anchor="ctr"/>
                </a:tc>
                <a:tc>
                  <a:txBody>
                    <a:bodyPr/>
                    <a:lstStyle/>
                    <a:p>
                      <a:pPr algn="ctr"/>
                      <a:r>
                        <a:rPr sz="1000" b="0"/>
                        <a:t>0.715 (p=0.83)</a:t>
                      </a:r>
                    </a:p>
                  </a:txBody>
                  <a:tcPr anchor="ctr"/>
                </a:tc>
                <a:tc>
                  <a:txBody>
                    <a:bodyPr/>
                    <a:lstStyle/>
                    <a:p>
                      <a:pPr algn="ctr"/>
                      <a:r>
                        <a:rPr sz="1000" b="0"/>
                        <a:t>X, range, L, point, L, rfrac</a:t>
                      </a:r>
                    </a:p>
                  </a:txBody>
                  <a:tcPr anchor="ctr"/>
                </a:tc>
              </a:tr>
              <a:tr h="585714">
                <a:tc rowSpan="2">
                  <a:txBody>
                    <a:bodyPr/>
                    <a:lstStyle/>
                    <a:p>
                      <a:pPr algn="ctr"/>
                      <a:r>
                        <a:rPr sz="1000" b="0"/>
                        <a:t>CKD</a:t>
                      </a:r>
                    </a:p>
                  </a:txBody>
                  <a:tcPr anchor="ctr"/>
                </a:tc>
                <a:tc>
                  <a:txBody>
                    <a:bodyPr/>
                    <a:lstStyle/>
                    <a:p>
                      <a:pPr algn="ctr"/>
                      <a:r>
                        <a:rPr sz="1000" b="0"/>
                        <a:t>G→S</a:t>
                      </a:r>
                    </a:p>
                  </a:txBody>
                  <a:tcPr anchor="ctr"/>
                </a:tc>
                <a:tc>
                  <a:txBody>
                    <a:bodyPr/>
                    <a:lstStyle/>
                    <a:p>
                      <a:pPr algn="ctr"/>
                      <a:r>
                        <a:rPr sz="1000" b="0"/>
                        <a:t>6</a:t>
                      </a:r>
                    </a:p>
                  </a:txBody>
                  <a:tcPr anchor="ctr"/>
                </a:tc>
                <a:tc>
                  <a:txBody>
                    <a:bodyPr/>
                    <a:lstStyle/>
                    <a:p>
                      <a:pPr algn="ctr"/>
                      <a:r>
                        <a:rPr sz="1000" b="0"/>
                        <a:t>0.802</a:t>
                      </a:r>
                    </a:p>
                  </a:txBody>
                  <a:tcPr anchor="ctr"/>
                </a:tc>
                <a:tc>
                  <a:txBody>
                    <a:bodyPr/>
                    <a:lstStyle/>
                    <a:p>
                      <a:pPr algn="ctr"/>
                      <a:r>
                        <a:rPr sz="1000" b="0"/>
                        <a:t>0.616</a:t>
                      </a:r>
                    </a:p>
                  </a:txBody>
                  <a:tcPr anchor="ctr"/>
                </a:tc>
                <a:tc>
                  <a:txBody>
                    <a:bodyPr/>
                    <a:lstStyle/>
                    <a:p>
                      <a:pPr algn="ctr"/>
                      <a:r>
                        <a:rPr sz="1000" b="0"/>
                        <a:t>0.634 (p=0.22)</a:t>
                      </a:r>
                    </a:p>
                  </a:txBody>
                  <a:tcPr anchor="ctr"/>
                </a:tc>
                <a:tc>
                  <a:txBody>
                    <a:bodyPr/>
                    <a:lstStyle/>
                    <a:p>
                      <a:pPr algn="ctr"/>
                      <a:r>
                        <a:rPr sz="1000" b="0"/>
                        <a:t>pw_z, L, pw_z, X, pw_z, pw_mean</a:t>
                      </a:r>
                    </a:p>
                  </a:txBody>
                  <a:tcPr anchor="ctr"/>
                </a:tc>
              </a:tr>
              <a:tr h="585714">
                <a:tc vMerge="1">
                  <a:txBody>
                    <a:bodyPr/>
                    <a:lstStyle/>
                    <a:p/>
                  </a:txBody>
                  <a:tcPr/>
                </a:tc>
                <a:tc>
                  <a:txBody>
                    <a:bodyPr/>
                    <a:lstStyle/>
                    <a:p>
                      <a:pPr algn="ctr"/>
                      <a:r>
                        <a:rPr sz="1000" b="0"/>
                        <a:t>S→G</a:t>
                      </a:r>
                    </a:p>
                  </a:txBody>
                  <a:tcPr anchor="ctr"/>
                </a:tc>
                <a:tc>
                  <a:txBody>
                    <a:bodyPr/>
                    <a:lstStyle/>
                    <a:p>
                      <a:pPr algn="ctr"/>
                      <a:r>
                        <a:rPr sz="1000" b="0"/>
                        <a:t>5</a:t>
                      </a:r>
                    </a:p>
                  </a:txBody>
                  <a:tcPr anchor="ctr"/>
                </a:tc>
                <a:tc>
                  <a:txBody>
                    <a:bodyPr/>
                    <a:lstStyle/>
                    <a:p>
                      <a:pPr algn="ctr"/>
                      <a:r>
                        <a:rPr sz="1000" b="0"/>
                        <a:t>0.692</a:t>
                      </a:r>
                    </a:p>
                  </a:txBody>
                  <a:tcPr anchor="ctr"/>
                </a:tc>
                <a:tc>
                  <a:txBody>
                    <a:bodyPr/>
                    <a:lstStyle/>
                    <a:p>
                      <a:pPr algn="ctr"/>
                      <a:r>
                        <a:rPr sz="1000" b="0"/>
                        <a:t>0.761</a:t>
                      </a:r>
                    </a:p>
                  </a:txBody>
                  <a:tcPr anchor="ctr"/>
                </a:tc>
                <a:tc>
                  <a:txBody>
                    <a:bodyPr/>
                    <a:lstStyle/>
                    <a:p>
                      <a:pPr algn="ctr"/>
                      <a:r>
                        <a:rPr sz="1000" b="0"/>
                        <a:t>0.713 (p=0.03)</a:t>
                      </a:r>
                    </a:p>
                  </a:txBody>
                  <a:tcPr anchor="ctr"/>
                </a:tc>
                <a:tc>
                  <a:txBody>
                    <a:bodyPr/>
                    <a:lstStyle/>
                    <a:p>
                      <a:pPr algn="ctr"/>
                      <a:r>
                        <a:rPr sz="1000" b="0"/>
                        <a:t>L, X, L, L, X</a:t>
                      </a:r>
                    </a:p>
                  </a:txBody>
                  <a:tcPr anchor="ct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선행연구와의 비교 (PubMed)</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Table 24</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100000"/>
          <a:ext cx="11176000" cy="4800000"/>
        </p:xfrm>
        <a:graphic>
          <a:graphicData uri="http://schemas.openxmlformats.org/drawingml/2006/table">
            <a:tbl>
              <a:tblPr firstRow="1" bandRow="1">
                <a:tableStyleId>{C083E6E3-FA7D-4D7B-A595-EF9225AFEA82}</a:tableStyleId>
              </a:tblPr>
              <a:tblGrid>
                <a:gridCol w="2641600"/>
                <a:gridCol w="5080000"/>
                <a:gridCol w="3454400"/>
              </a:tblGrid>
              <a:tr h="600000">
                <a:tc>
                  <a:txBody>
                    <a:bodyPr/>
                    <a:lstStyle/>
                    <a:p>
                      <a:pPr algn="ctr"/>
                      <a:r>
                        <a:rPr sz="1400" b="1"/>
                        <a:t>Study</a:t>
                      </a:r>
                    </a:p>
                  </a:txBody>
                  <a:tcPr anchor="ctr"/>
                </a:tc>
                <a:tc>
                  <a:txBody>
                    <a:bodyPr/>
                    <a:lstStyle/>
                    <a:p>
                      <a:pPr algn="ctr"/>
                      <a:r>
                        <a:rPr sz="1400" b="1"/>
                        <a:t>Key finding</a:t>
                      </a:r>
                    </a:p>
                  </a:txBody>
                  <a:tcPr anchor="ctr"/>
                </a:tc>
                <a:tc>
                  <a:txBody>
                    <a:bodyPr/>
                    <a:lstStyle/>
                    <a:p>
                      <a:pPr algn="ctr"/>
                      <a:r>
                        <a:rPr sz="1400" b="1"/>
                        <a:t>본 연구와의 관계</a:t>
                      </a:r>
                    </a:p>
                  </a:txBody>
                  <a:tcPr anchor="ctr"/>
                </a:tc>
              </a:tr>
              <a:tr h="600000">
                <a:tc>
                  <a:txBody>
                    <a:bodyPr/>
                    <a:lstStyle/>
                    <a:p>
                      <a:pPr algn="ctr"/>
                      <a:r>
                        <a:rPr sz="1200" b="0"/>
                        <a:t>Framingham (n=3,001)</a:t>
                      </a:r>
                    </a:p>
                  </a:txBody>
                  <a:tcPr anchor="ctr"/>
                </a:tc>
                <a:tc>
                  <a:txBody>
                    <a:bodyPr/>
                    <a:lstStyle/>
                    <a:p>
                      <a:pPr algn="ctr"/>
                      <a:r>
                        <a:rPr sz="1200" b="0"/>
                        <a:t>VAT가 SAT보다 HTN·DM·MetS와 강하게 연관, 여성에서 더 강함</a:t>
                      </a:r>
                    </a:p>
                  </a:txBody>
                  <a:tcPr anchor="ctr"/>
                </a:tc>
                <a:tc>
                  <a:txBody>
                    <a:bodyPr/>
                    <a:lstStyle/>
                    <a:p>
                      <a:pPr algn="ctr"/>
                      <a:r>
                        <a:rPr sz="1200" b="0"/>
                        <a:t>VAT &gt; SAT, 여성에서 효과 큼: 일치</a:t>
                      </a:r>
                    </a:p>
                  </a:txBody>
                  <a:tcPr anchor="ctr"/>
                </a:tc>
              </a:tr>
              <a:tr h="600000">
                <a:tc>
                  <a:txBody>
                    <a:bodyPr/>
                    <a:lstStyle/>
                    <a:p>
                      <a:pPr algn="ctr"/>
                      <a:r>
                        <a:rPr sz="1200" b="0"/>
                        <a:t>Jackson Heart (n=2,477)</a:t>
                      </a:r>
                    </a:p>
                  </a:txBody>
                  <a:tcPr anchor="ctr"/>
                </a:tc>
                <a:tc>
                  <a:txBody>
                    <a:bodyPr/>
                    <a:lstStyle/>
                    <a:p>
                      <a:pPr algn="ctr"/>
                      <a:r>
                        <a:rPr sz="1200" b="0"/>
                        <a:t>VAT 1SD당 OR: 여성 HTN 1.62, DM 1.82. BMI 보정 후에도 유의</a:t>
                      </a:r>
                    </a:p>
                  </a:txBody>
                  <a:tcPr anchor="ctr"/>
                </a:tc>
                <a:tc>
                  <a:txBody>
                    <a:bodyPr/>
                    <a:lstStyle/>
                    <a:p>
                      <a:pPr algn="ctr"/>
                      <a:r>
                        <a:rPr sz="1200" b="0"/>
                        <a:t>보정 OR HTN 1.3~1.8: 크기 유사</a:t>
                      </a:r>
                    </a:p>
                  </a:txBody>
                  <a:tcPr anchor="ctr"/>
                </a:tc>
              </a:tr>
              <a:tr h="600000">
                <a:tc>
                  <a:txBody>
                    <a:bodyPr/>
                    <a:lstStyle/>
                    <a:p>
                      <a:pPr algn="ctr"/>
                      <a:r>
                        <a:rPr sz="1200" b="0"/>
                        <a:t>Sci Rep 2026, 한국 (n=14,105)</a:t>
                      </a:r>
                    </a:p>
                  </a:txBody>
                  <a:tcPr anchor="ctr"/>
                </a:tc>
                <a:tc>
                  <a:txBody>
                    <a:bodyPr/>
                    <a:lstStyle/>
                    <a:p>
                      <a:pPr algn="ctr"/>
                      <a:r>
                        <a:rPr sz="1200" b="0"/>
                        <a:t>VAT 증가 시 CKD 위험 증가 (남 1.25, 여 1.18), 여성 SAT는 역상관</a:t>
                      </a:r>
                    </a:p>
                  </a:txBody>
                  <a:tcPr anchor="ctr"/>
                </a:tc>
                <a:tc>
                  <a:txBody>
                    <a:bodyPr/>
                    <a:lstStyle/>
                    <a:p>
                      <a:pPr algn="ctr"/>
                      <a:r>
                        <a:rPr sz="1200" b="0"/>
                        <a:t>CKD VAT 방향 일치, 보정 후 비유의</a:t>
                      </a:r>
                    </a:p>
                  </a:txBody>
                  <a:tcPr anchor="ctr"/>
                </a:tc>
              </a:tr>
              <a:tr h="600000">
                <a:tc>
                  <a:txBody>
                    <a:bodyPr/>
                    <a:lstStyle/>
                    <a:p>
                      <a:pPr algn="ctr"/>
                      <a:r>
                        <a:rPr sz="1200" b="0"/>
                        <a:t>Acad Radiol 2023 (T2DM)</a:t>
                      </a:r>
                    </a:p>
                  </a:txBody>
                  <a:tcPr anchor="ctr"/>
                </a:tc>
                <a:tc>
                  <a:txBody>
                    <a:bodyPr/>
                    <a:lstStyle/>
                    <a:p>
                      <a:pPr algn="ctr"/>
                      <a:r>
                        <a:rPr sz="1200" b="0"/>
                        <a:t>여성에서 VAT index가 DKD 위험인자</a:t>
                      </a:r>
                    </a:p>
                  </a:txBody>
                  <a:tcPr anchor="ctr"/>
                </a:tc>
                <a:tc>
                  <a:txBody>
                    <a:bodyPr/>
                    <a:lstStyle/>
                    <a:p>
                      <a:pPr algn="ctr"/>
                      <a:r>
                        <a:rPr sz="1200" b="0"/>
                        <a:t>여성 CKD VAT 효과가 더 큼: 방향 일치</a:t>
                      </a:r>
                    </a:p>
                  </a:txBody>
                  <a:tcPr anchor="ctr"/>
                </a:tc>
              </a:tr>
              <a:tr h="600000">
                <a:tc>
                  <a:txBody>
                    <a:bodyPr/>
                    <a:lstStyle/>
                    <a:p>
                      <a:pPr algn="ctr"/>
                      <a:r>
                        <a:rPr sz="1200" b="0"/>
                        <a:t>Sci Rep 2026 / Framingham</a:t>
                      </a:r>
                    </a:p>
                  </a:txBody>
                  <a:tcPr anchor="ctr"/>
                </a:tc>
                <a:tc>
                  <a:txBody>
                    <a:bodyPr/>
                    <a:lstStyle/>
                    <a:p>
                      <a:pPr algn="ctr"/>
                      <a:r>
                        <a:rPr sz="1200" b="0"/>
                        <a:t>SAT는 VAT보다 약하게 연관, 여성 SAT는 CKD와 역상관 가능</a:t>
                      </a:r>
                    </a:p>
                  </a:txBody>
                  <a:tcPr anchor="ctr"/>
                </a:tc>
                <a:tc>
                  <a:txBody>
                    <a:bodyPr/>
                    <a:lstStyle/>
                    <a:p>
                      <a:pPr algn="ctr"/>
                      <a:r>
                        <a:rPr sz="1200" b="0"/>
                        <a:t>SAT 단독은 약함, VAT 대비 비율(SAT/(SAT+VAT))은 OR 0.6</a:t>
                      </a:r>
                    </a:p>
                  </a:txBody>
                  <a:tcPr anchor="ctr"/>
                </a:tc>
              </a:tr>
              <a:tr h="600000">
                <a:tc>
                  <a:txBody>
                    <a:bodyPr/>
                    <a:lstStyle/>
                    <a:p>
                      <a:pPr algn="ctr"/>
                      <a:r>
                        <a:rPr sz="1200" b="0"/>
                        <a:t>JCSM 2026 메타분석 (CKD)</a:t>
                      </a:r>
                    </a:p>
                  </a:txBody>
                  <a:tcPr anchor="ctr"/>
                </a:tc>
                <a:tc>
                  <a:txBody>
                    <a:bodyPr/>
                    <a:lstStyle/>
                    <a:p>
                      <a:pPr algn="ctr"/>
                      <a:r>
                        <a:rPr sz="1200" b="0"/>
                        <a:t>CKD에서 당뇨는 근감소 위험(OR 1.96), 높은 BMI는 보호</a:t>
                      </a:r>
                    </a:p>
                  </a:txBody>
                  <a:tcPr anchor="ctr"/>
                </a:tc>
                <a:tc>
                  <a:txBody>
                    <a:bodyPr/>
                    <a:lstStyle/>
                    <a:p>
                      <a:pPr algn="ctr"/>
                      <a:r>
                        <a:rPr sz="1200" b="0"/>
                        <a:t>TAMA는 단면 값 대신 상대 비율에서만 일관(DM·CKD)</a:t>
                      </a:r>
                    </a:p>
                  </a:txBody>
                  <a:tcPr anchor="ctr"/>
                </a:tc>
              </a:tr>
              <a:tr h="600000">
                <a:tc>
                  <a:txBody>
                    <a:bodyPr/>
                    <a:lstStyle/>
                    <a:p>
                      <a:pPr algn="ctr"/>
                      <a:r>
                        <a:rPr sz="1200" b="0"/>
                        <a:t>AEC (문헌 없음)</a:t>
                      </a:r>
                    </a:p>
                  </a:txBody>
                  <a:tcPr anchor="ctr"/>
                </a:tc>
                <a:tc>
                  <a:txBody>
                    <a:bodyPr/>
                    <a:lstStyle/>
                    <a:p>
                      <a:pPr algn="ctr"/>
                      <a:r>
                        <a:rPr sz="1200" b="0"/>
                        <a:t>AEC를 질환 지표로 다룬 연구는 찾지 못함</a:t>
                      </a:r>
                    </a:p>
                  </a:txBody>
                  <a:tcPr anchor="ctr"/>
                </a:tc>
                <a:tc>
                  <a:txBody>
                    <a:bodyPr/>
                    <a:lstStyle/>
                    <a:p>
                      <a:pPr algn="ctr"/>
                      <a:r>
                        <a:rPr sz="1200" b="0"/>
                        <a:t>체격·장비 교란 가능, 해석 주의</a:t>
                      </a:r>
                    </a:p>
                  </a:txBody>
                  <a:tcPr anchor="ct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Conclusion</a:t>
            </a:r>
          </a:p>
        </p:txBody>
      </p:sp>
      <p:sp>
        <p:nvSpPr>
          <p:cNvPr id="3" name="Content Placeholder 2"/>
          <p:cNvSpPr>
            <a:spLocks noGrp="1"/>
          </p:cNvSpPr>
          <p:nvPr>
            <p:ph idx="1"/>
          </p:nvPr>
        </p:nvSpPr>
        <p:spPr>
          <a:xfrm>
            <a:off x="508000" y="1050000"/>
            <a:ext cx="11176000" cy="5000000"/>
          </a:xfrm>
        </p:spPr>
        <p:txBody>
          <a:bodyPr/>
          <a:lstStyle/>
          <a:p>
            <a:r>
              <a:rPr sz="1400" b="0">
                <a:solidFill>
                  <a:srgbClr val="333F4D"/>
                </a:solidFill>
              </a:rPr>
              <a:t>VAT가 질환 유무와 가장 뚜렷이 연관되고, 위치는 T11~L2 부근이 크다 (SAT·TAMA·AEC는 작음)</a:t>
            </a:r>
          </a:p>
          <a:p>
            <a:r>
              <a:rPr sz="1400" b="0">
                <a:solidFill>
                  <a:srgbClr val="333F4D"/>
                </a:solidFill>
              </a:rPr>
              <a:t>나이·성별·BMI 보정 후에도 두 코호트에서 일관된 것은 HTN의 VAT뿐이다</a:t>
            </a:r>
          </a:p>
          <a:p>
            <a:r>
              <a:rPr sz="1400" b="0">
                <a:solidFill>
                  <a:srgbClr val="333F4D"/>
                </a:solidFill>
              </a:rPr>
              <a:t>DM은 Gangnam에서만, CKD는 둘 다 비유의: BMI 교란 또는 표본 수 한계</a:t>
            </a:r>
          </a:p>
          <a:p>
            <a:r>
              <a:rPr sz="1400" b="0">
                <a:solidFill>
                  <a:srgbClr val="333F4D"/>
                </a:solidFill>
              </a:rPr>
              <a:t>환자별 정규화(patient-wise)를 하면 AEC(pw_mean: HTN 111, DM 94, CKD 47 위치)와 SAT(pw_z: CKD)에서 일관된 신호가 나오지만 외부 AUC 변화는 ≤0.023</a:t>
            </a:r>
          </a:p>
          <a:p>
            <a:r>
              <a:rPr sz="1400" b="0">
                <a:solidFill>
                  <a:srgbClr val="333F4D"/>
                </a:solidFill>
              </a:rPr>
              <a:t>AEC patient-wise 곡선(PC1)은 두 코호트 모두 HTN·DM에서 나이·성별·BMI·장비 보정 후에도 유의 (OR 0.51~0.74), CKD는 Sinchon에서만 유의. 위치별 FDR 기준에서는 CKD 신호가 장비 보정 후 사라졌다</a:t>
            </a:r>
          </a:p>
          <a:p>
            <a:r>
              <a:rPr sz="1400" b="0">
                <a:solidFill>
                  <a:srgbClr val="333F4D"/>
                </a:solidFill>
              </a:rPr>
              <a:t>SAT·TAMA·AEC는 단면 값 단독으로는 약하고, 비율/구간 case에서 일관된 신호가 나온다 (SAT/(SAT+VAT)는 VAT 비중이라 독립 정보는 아님)</a:t>
            </a:r>
          </a:p>
          <a:p>
            <a:r>
              <a:rPr sz="1400" b="0">
                <a:solidFill>
                  <a:srgbClr val="333F4D"/>
                </a:solidFill>
              </a:rPr>
              <a:t>같은 landmark의 VAT/SAT 비가 HTN(25개 landmark 조합)·DM에서 두 코호트 일관되게 유의하나, 세트 모델의 외부 AUC 향상은 ≤ +0.026 수준으로 제한적이다</a:t>
            </a:r>
          </a:p>
          <a:p>
            <a:r>
              <a:rPr sz="1400" b="0">
                <a:solidFill>
                  <a:srgbClr val="333F4D"/>
                </a:solidFill>
              </a:rPr>
              <a:t>MLP도 LR과 같은 수준(평균 외부 AUC 차이 -0.001)이며, 성별·나이·BMI·스캐너 부분군에서 ΔAUC가 큰 그룹은 두 코호트에서 재현되지 않았다 (0/162)</a:t>
            </a:r>
          </a:p>
          <a:p>
            <a:r>
              <a:rPr sz="1400" b="0">
                <a:solidFill>
                  <a:srgbClr val="333F4D"/>
                </a:solidFill>
              </a:rPr>
              <a:t>liver dome·치골을 뺀 10개 landmark 조합 탐색에서 안정적인 최적 조합은 없고(L3 단독 대비 외부 AUC +0.002, clinical 대비 유의 개선 0/12), L3 단독이 충분하다는 문헌과 일치한다</a:t>
            </a:r>
          </a:p>
          <a:p>
            <a:r>
              <a:rPr sz="1400" b="0">
                <a:solidFill>
                  <a:srgbClr val="333F4D"/>
                </a:solidFill>
              </a:rPr>
              <a:t>모든 feature 형태를 넣은 전진 선택(1,226개 풀)도 학습 CV만 오르고 외부 AUC 개선은 없다(평균 -0.006, 유의 개선 0/6). 안정적인 최적 조합은 확인되지 않았다</a:t>
            </a:r>
          </a:p>
          <a:p>
            <a:r>
              <a:rPr sz="1400" b="0">
                <a:solidFill>
                  <a:srgbClr val="333F4D"/>
                </a:solidFill>
              </a:rPr>
              <a:t>patient-wise 정규화와 AEC 해석은 직접 문헌 근거가 없는 탐색적 분석이므로 해석에 주의가 필요하다</a:t>
            </a:r>
          </a:p>
          <a:p>
            <a:r>
              <a:rPr sz="1400" b="0">
                <a:solidFill>
                  <a:srgbClr val="333F4D"/>
                </a:solidFill>
              </a:rPr>
              <a:t>문헌과 방향은 일치하나 문헌은 부피/VFA 기준이라 단면 비교에는 한계가 있다</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Conclusion</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참고문헌</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References</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sp>
        <p:nvSpPr>
          <p:cNvPr id="8" name="TextBox 7"/>
          <p:cNvSpPr txBox="1"/>
          <p:nvPr/>
        </p:nvSpPr>
        <p:spPr>
          <a:xfrm>
            <a:off x="508000" y="1100000"/>
            <a:ext cx="11176000" cy="5400000"/>
          </a:xfrm>
          <a:prstGeom prst="rect">
            <a:avLst/>
          </a:prstGeom>
          <a:noFill/>
        </p:spPr>
        <p:txBody>
          <a:bodyPr wrap="square">
            <a:spAutoFit/>
          </a:bodyPr>
          <a:lstStyle/>
          <a:p>
            <a:r>
              <a:rPr sz="1300"/>
              <a:t>1. Fox CS et al. Circulation 2007. doi:10.1161/CIRCULATIONAHA.106.675355</a:t>
            </a:r>
          </a:p>
          <a:p>
            <a:r>
              <a:rPr sz="1300"/>
              <a:t>2. Liu J et al. JCEM 2010. doi:10.1210/jc.2010-1378</a:t>
            </a:r>
          </a:p>
          <a:p>
            <a:r>
              <a:rPr sz="1300"/>
              <a:t>3. Matsuzawa Y et al. Obes Res 1995. doi:10.1002/j.1550-8528.1995.tb00481.x</a:t>
            </a:r>
          </a:p>
          <a:p>
            <a:r>
              <a:rPr sz="1300"/>
              <a:t>4. Chung GE et al. Sci Rep 2026. doi:10.1038/s41598-025-30244-6</a:t>
            </a:r>
          </a:p>
          <a:p>
            <a:r>
              <a:rPr sz="1300"/>
              <a:t>5. Fan J et al. Acad Radiol 2023. doi:10.1016/j.acra.2023.01.033</a:t>
            </a:r>
          </a:p>
          <a:p>
            <a:r>
              <a:rPr sz="1300"/>
              <a:t>6. Jin K et al. JCSM 2026. doi:10.1002/jcsm.70166</a:t>
            </a:r>
          </a:p>
          <a:p>
            <a:r>
              <a:rPr sz="1300"/>
              <a:t>7. van Heusden HC et al. Eur J Radiol 2021. doi:10.1016/j.ejrad.2021.109879</a:t>
            </a:r>
          </a:p>
          <a:p>
            <a:r>
              <a:rPr sz="1300"/>
              <a:t>8. Rollins KE et al. Clin Nutr 2019. doi:10.1016/j.clnu.2019.10.003</a:t>
            </a:r>
          </a:p>
          <a:p>
            <a:r>
              <a:rPr sz="1300"/>
              <a:t>9. Belger E et al. J Clin Med 2023. doi:10.3390/jcm12072520</a:t>
            </a:r>
          </a:p>
          <a:p>
            <a:r>
              <a:rPr sz="1300"/>
              <a:t>10. Özdemir M et al. J Clin Med 2025. doi:10.3390/jcm14227915</a:t>
            </a:r>
          </a:p>
          <a:p>
            <a:r>
              <a:rPr sz="1300"/>
              <a:t>11. Zhang Y et al. Acad Radiol 2026. doi:10.1016/j.acra.2026.09.035</a:t>
            </a:r>
          </a:p>
          <a:p>
            <a:r>
              <a:rPr sz="1300"/>
              <a:t>12. Ko S et al. Minerva Endocrinol 2025. doi:10.23736/S2724-6507.25.04366-0</a:t>
            </a:r>
          </a:p>
          <a:p>
            <a:r>
              <a:rPr sz="1300"/>
              <a:t>13. Sakai M et al. Surg Today 2026. doi:10.1007/s00595-026-03487-7</a:t>
            </a:r>
          </a:p>
          <a:p>
            <a:r>
              <a:rPr sz="1300"/>
              <a:t>14. Christodoulou E et al. J Clin Epidemiol 2019. doi:10.1016/j.jclinepi.2019.02.004</a:t>
            </a:r>
          </a:p>
          <a:p>
            <a:r>
              <a:rPr sz="1300"/>
              <a:t>15. Wang R et al. N Engl J Med 2007. doi:10.1056/NEJMsr077003</a:t>
            </a:r>
          </a:p>
          <a:p>
            <a:r>
              <a:rPr sz="1300"/>
              <a:t>16. Sun X et al. BMJ 2010. doi:10.1136/bmj.c117</a:t>
            </a:r>
          </a:p>
          <a:p>
            <a:r>
              <a:rPr sz="1300"/>
              <a:t>17. Paschen C et al. Kidney Int Rep 2025. doi:10.1016/j.ekir.2025.103739</a:t>
            </a:r>
          </a:p>
          <a:p>
            <a:r>
              <a:rPr sz="1300"/>
              <a:t>18. Schweitzer L et al. Am J Clin Nutr 2015. doi:10.3945/ajcn.115.111203</a:t>
            </a:r>
          </a:p>
          <a:p>
            <a:r>
              <a:rPr sz="1300"/>
              <a:t>19. Armellini F et al. Eur J Clin Nutr 1996. PMID 8735309</a:t>
            </a:r>
          </a:p>
          <a:p>
            <a:r>
              <a:rPr sz="1300"/>
              <a:t>20. Steyerberg EW et al. J Clin Epidemiol 2001. doi:10.1016/s0895-4356(01)00341-9</a:t>
            </a:r>
          </a:p>
          <a:p>
            <a:r>
              <a:rPr sz="1300"/>
              <a:t>21. Collins GS et al. BMJ 2015 (TRIPOD). doi:10.1136/bmj.g7594</a:t>
            </a:r>
          </a:p>
          <a:p>
            <a:r>
              <a:rPr sz="1300"/>
              <a:t>22. Levi R et al. Sci Rep 2024. doi:10.1038/s41598-024-68158-4</a:t>
            </a:r>
          </a:p>
          <a:p>
            <a:r>
              <a:rPr sz="1300"/>
              <a:t>23. Zhang X et al. Front Oncol 2026. doi:10.3389/fonc.2026.1896994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질환별 landmark VAT 분포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VAT_by_landmark.png"/>
          <p:cNvPicPr>
            <a:picLocks noChangeAspect="1"/>
          </p:cNvPicPr>
          <p:nvPr/>
        </p:nvPicPr>
        <p:blipFill>
          <a:blip r:embed="rId2"/>
          <a:stretch>
            <a:fillRect/>
          </a:stretch>
        </p:blipFill>
        <p:spPr>
          <a:xfrm>
            <a:off x="508000" y="1050000"/>
            <a:ext cx="11176000" cy="30734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질환별 landmark VAT 분포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VAT_by_landmark.png"/>
          <p:cNvPicPr>
            <a:picLocks noChangeAspect="1"/>
          </p:cNvPicPr>
          <p:nvPr/>
        </p:nvPicPr>
        <p:blipFill>
          <a:blip r:embed="rId2"/>
          <a:stretch>
            <a:fillRect/>
          </a:stretch>
        </p:blipFill>
        <p:spPr>
          <a:xfrm>
            <a:off x="508000" y="1050000"/>
            <a:ext cx="11176000" cy="30734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전처리별 위치 OR 곡선: VAT</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landmark_patientwise_or_curves_VAT.png"/>
          <p:cNvPicPr>
            <a:picLocks noChangeAspect="1"/>
          </p:cNvPicPr>
          <p:nvPr/>
        </p:nvPicPr>
        <p:blipFill>
          <a:blip r:embed="rId2"/>
          <a:stretch>
            <a:fillRect/>
          </a:stretch>
        </p:blipFill>
        <p:spPr>
          <a:xfrm>
            <a:off x="3177818" y="1050000"/>
            <a:ext cx="5836363" cy="5350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전처리별 위치 OR 곡선: SAT</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landmark_patientwise_or_curves_SAT.png"/>
          <p:cNvPicPr>
            <a:picLocks noChangeAspect="1"/>
          </p:cNvPicPr>
          <p:nvPr/>
        </p:nvPicPr>
        <p:blipFill>
          <a:blip r:embed="rId2"/>
          <a:stretch>
            <a:fillRect/>
          </a:stretch>
        </p:blipFill>
        <p:spPr>
          <a:xfrm>
            <a:off x="3177818" y="1050000"/>
            <a:ext cx="5836363" cy="5350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전처리별 위치 OR 곡선: TAMA</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landmark_patientwise_or_curves_TAMA.png"/>
          <p:cNvPicPr>
            <a:picLocks noChangeAspect="1"/>
          </p:cNvPicPr>
          <p:nvPr/>
        </p:nvPicPr>
        <p:blipFill>
          <a:blip r:embed="rId2"/>
          <a:stretch>
            <a:fillRect/>
          </a:stretch>
        </p:blipFill>
        <p:spPr>
          <a:xfrm>
            <a:off x="3177818" y="1050000"/>
            <a:ext cx="5836363" cy="5350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VAT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VAT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SAT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SAT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TAMA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TAMA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VAT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VAT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SAT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SAT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Patient-wise TAMA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TAMA_pwmean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VAT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V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SAT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S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TAMA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TAMA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AEC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AEC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TAMA/SAT 곡선: 질환 x 성별 (Gangnam)</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gangnam_TAMA_over_S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VAT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V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SAT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S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TAMA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TAMA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AEC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AEC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TAMA/SAT 곡선: 질환 x 성별 (Sinchon)</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pic>
        <p:nvPicPr>
          <p:cNvPr id="8" name="Picture 7" descr="sinchon_TAMA_over_SAT_curve_by_disease_sex.png"/>
          <p:cNvPicPr>
            <a:picLocks noChangeAspect="1"/>
          </p:cNvPicPr>
          <p:nvPr/>
        </p:nvPicPr>
        <p:blipFill>
          <a:blip r:embed="rId2"/>
          <a:stretch>
            <a:fillRect/>
          </a:stretch>
        </p:blipFill>
        <p:spPr>
          <a:xfrm>
            <a:off x="508000" y="1050000"/>
            <a:ext cx="11176000" cy="3874347"/>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365126"/>
            <a:ext cx="11176000" cy="532342"/>
          </a:xfrm>
        </p:spPr>
        <p:txBody>
          <a:bodyPr/>
          <a:lstStyle/>
          <a:p>
            <a:r>
              <a:rPr sz="2600" b="1">
                <a:solidFill>
                  <a:srgbClr val="1F3B63"/>
                </a:solidFill>
              </a:rPr>
              <a:t>Appendix. 성별 층화 보정 OR 상세 (VAT)</a:t>
            </a:r>
          </a:p>
        </p:txBody>
      </p:sp>
      <p:sp>
        <p:nvSpPr>
          <p:cNvPr id="4" name="Rectangle 3"/>
          <p:cNvSpPr/>
          <p:nvPr/>
        </p:nvSpPr>
        <p:spPr>
          <a:xfrm>
            <a:off x="508000" y="930000"/>
            <a:ext cx="11176000" cy="22860"/>
          </a:xfrm>
          <a:prstGeom prst="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0184000" y="110000"/>
            <a:ext cx="1500000" cy="230000"/>
          </a:xfrm>
          <a:prstGeom prst="roundRect">
            <a:avLst/>
          </a:prstGeom>
          <a:solidFill>
            <a:srgbClr val="1F3B63"/>
          </a:solidFill>
          <a:ln>
            <a:noFill/>
          </a:ln>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000" b="1">
                <a:solidFill>
                  <a:srgbClr val="FFFFFF"/>
                </a:solidFill>
              </a:rPr>
              <a:t>Appendix</a:t>
            </a:r>
          </a:p>
        </p:txBody>
      </p:sp>
      <p:sp>
        <p:nvSpPr>
          <p:cNvPr id="7" name="슬라이드 번호 개체 틀 3">
            <a:extLst>
              <a:ext uri="{FF2B5EF4-FFF2-40B4-BE49-F238E27FC236}">
                <a16:creationId xmlns:a16="http://schemas.microsoft.com/office/drawing/2014/main" id="{68FA46C5-E421-9E4B-C7B9-7708E6A3E102}"/>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graphicFrame>
        <p:nvGraphicFramePr>
          <p:cNvPr id="8" name="Table 7"/>
          <p:cNvGraphicFramePr>
            <a:graphicFrameLocks noGrp="1"/>
          </p:cNvGraphicFramePr>
          <p:nvPr/>
        </p:nvGraphicFramePr>
        <p:xfrm>
          <a:off x="508000" y="1100000"/>
          <a:ext cx="11175997" cy="3999996"/>
        </p:xfrm>
        <a:graphic>
          <a:graphicData uri="http://schemas.openxmlformats.org/drawingml/2006/table">
            <a:tbl>
              <a:tblPr firstRow="1" bandRow="1">
                <a:tableStyleId>{C083E6E3-FA7D-4D7B-A595-EF9225AFEA82}</a:tableStyleId>
              </a:tblPr>
              <a:tblGrid>
                <a:gridCol w="1483539"/>
                <a:gridCol w="989026"/>
                <a:gridCol w="2175858"/>
                <a:gridCol w="2175858"/>
                <a:gridCol w="2175858"/>
                <a:gridCol w="2175858"/>
              </a:tblGrid>
              <a:tr h="571428">
                <a:tc>
                  <a:txBody>
                    <a:bodyPr/>
                    <a:lstStyle/>
                    <a:p>
                      <a:pPr algn="ctr"/>
                      <a:r>
                        <a:rPr sz="1400" b="1"/>
                        <a:t>Disease</a:t>
                      </a:r>
                    </a:p>
                  </a:txBody>
                  <a:tcPr anchor="ctr"/>
                </a:tc>
                <a:tc>
                  <a:txBody>
                    <a:bodyPr/>
                    <a:lstStyle/>
                    <a:p>
                      <a:pPr algn="ctr"/>
                      <a:r>
                        <a:rPr sz="1400" b="1"/>
                        <a:t>Sex</a:t>
                      </a:r>
                    </a:p>
                  </a:txBody>
                  <a:tcPr anchor="ctr"/>
                </a:tc>
                <a:tc>
                  <a:txBody>
                    <a:bodyPr/>
                    <a:lstStyle/>
                    <a:p>
                      <a:pPr algn="ctr"/>
                      <a:r>
                        <a:rPr sz="1400" b="1"/>
                        <a:t>T12 (G/S)</a:t>
                      </a:r>
                    </a:p>
                  </a:txBody>
                  <a:tcPr anchor="ctr"/>
                </a:tc>
                <a:tc>
                  <a:txBody>
                    <a:bodyPr/>
                    <a:lstStyle/>
                    <a:p>
                      <a:pPr algn="ctr"/>
                      <a:r>
                        <a:rPr sz="1400" b="1"/>
                        <a:t>L1 (G/S)</a:t>
                      </a:r>
                    </a:p>
                  </a:txBody>
                  <a:tcPr anchor="ctr"/>
                </a:tc>
                <a:tc>
                  <a:txBody>
                    <a:bodyPr/>
                    <a:lstStyle/>
                    <a:p>
                      <a:pPr algn="ctr"/>
                      <a:r>
                        <a:rPr sz="1400" b="1"/>
                        <a:t>L2 (G/S)</a:t>
                      </a:r>
                    </a:p>
                  </a:txBody>
                  <a:tcPr anchor="ctr"/>
                </a:tc>
                <a:tc>
                  <a:txBody>
                    <a:bodyPr/>
                    <a:lstStyle/>
                    <a:p>
                      <a:pPr algn="ctr"/>
                      <a:r>
                        <a:rPr sz="1400" b="1"/>
                        <a:t>L3 (G/S)</a:t>
                      </a:r>
                    </a:p>
                  </a:txBody>
                  <a:tcPr anchor="ctr"/>
                </a:tc>
              </a:tr>
              <a:tr h="571428">
                <a:tc rowSpan="2">
                  <a:txBody>
                    <a:bodyPr/>
                    <a:lstStyle/>
                    <a:p>
                      <a:pPr algn="ctr"/>
                      <a:r>
                        <a:rPr sz="1200" b="0"/>
                        <a:t>HTN</a:t>
                      </a:r>
                    </a:p>
                  </a:txBody>
                  <a:tcPr anchor="ctr"/>
                </a:tc>
                <a:tc>
                  <a:txBody>
                    <a:bodyPr/>
                    <a:lstStyle/>
                    <a:p>
                      <a:pPr algn="ctr"/>
                      <a:r>
                        <a:rPr sz="1200" b="0"/>
                        <a:t>M</a:t>
                      </a:r>
                    </a:p>
                  </a:txBody>
                  <a:tcPr anchor="ctr"/>
                </a:tc>
                <a:tc>
                  <a:txBody>
                    <a:bodyPr/>
                    <a:lstStyle/>
                    <a:p>
                      <a:pPr algn="ctr"/>
                      <a:r>
                        <a:rPr sz="1200" b="0"/>
                        <a:t>1.81* / 1.40</a:t>
                      </a:r>
                    </a:p>
                  </a:txBody>
                  <a:tcPr anchor="ctr"/>
                </a:tc>
                <a:tc>
                  <a:txBody>
                    <a:bodyPr/>
                    <a:lstStyle/>
                    <a:p>
                      <a:pPr algn="ctr"/>
                      <a:r>
                        <a:rPr sz="1200" b="0"/>
                        <a:t>1.92* / 1.45</a:t>
                      </a:r>
                    </a:p>
                  </a:txBody>
                  <a:tcPr anchor="ctr"/>
                </a:tc>
                <a:tc>
                  <a:txBody>
                    <a:bodyPr/>
                    <a:lstStyle/>
                    <a:p>
                      <a:pPr algn="ctr"/>
                      <a:r>
                        <a:rPr sz="1200" b="0"/>
                        <a:t>1.93* / 1.35</a:t>
                      </a:r>
                    </a:p>
                  </a:txBody>
                  <a:tcPr anchor="ctr"/>
                </a:tc>
                <a:tc>
                  <a:txBody>
                    <a:bodyPr/>
                    <a:lstStyle/>
                    <a:p>
                      <a:pPr algn="ctr"/>
                      <a:r>
                        <a:rPr sz="1200" b="0"/>
                        <a:t>1.94* / 1.30</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1.35* / 1.17</a:t>
                      </a:r>
                    </a:p>
                  </a:txBody>
                  <a:tcPr anchor="ctr"/>
                </a:tc>
                <a:tc>
                  <a:txBody>
                    <a:bodyPr/>
                    <a:lstStyle/>
                    <a:p>
                      <a:pPr algn="ctr"/>
                      <a:r>
                        <a:rPr sz="1200" b="0"/>
                        <a:t>1.31 / 1.26</a:t>
                      </a:r>
                    </a:p>
                  </a:txBody>
                  <a:tcPr anchor="ctr"/>
                </a:tc>
                <a:tc>
                  <a:txBody>
                    <a:bodyPr/>
                    <a:lstStyle/>
                    <a:p>
                      <a:pPr algn="ctr"/>
                      <a:r>
                        <a:rPr sz="1200" b="0"/>
                        <a:t>1.40* / 1.32</a:t>
                      </a:r>
                    </a:p>
                  </a:txBody>
                  <a:tcPr anchor="ctr"/>
                </a:tc>
                <a:tc>
                  <a:txBody>
                    <a:bodyPr/>
                    <a:lstStyle/>
                    <a:p>
                      <a:pPr algn="ctr"/>
                      <a:r>
                        <a:rPr sz="1200" b="0"/>
                        <a:t>1.43* / 1.27</a:t>
                      </a:r>
                    </a:p>
                  </a:txBody>
                  <a:tcPr anchor="ctr"/>
                </a:tc>
              </a:tr>
              <a:tr h="571428">
                <a:tc rowSpan="2">
                  <a:txBody>
                    <a:bodyPr/>
                    <a:lstStyle/>
                    <a:p>
                      <a:pPr algn="ctr"/>
                      <a:r>
                        <a:rPr sz="1200" b="0"/>
                        <a:t>DM</a:t>
                      </a:r>
                    </a:p>
                  </a:txBody>
                  <a:tcPr anchor="ctr"/>
                </a:tc>
                <a:tc>
                  <a:txBody>
                    <a:bodyPr/>
                    <a:lstStyle/>
                    <a:p>
                      <a:pPr algn="ctr"/>
                      <a:r>
                        <a:rPr sz="1200" b="0"/>
                        <a:t>M</a:t>
                      </a:r>
                    </a:p>
                  </a:txBody>
                  <a:tcPr anchor="ctr"/>
                </a:tc>
                <a:tc>
                  <a:txBody>
                    <a:bodyPr/>
                    <a:lstStyle/>
                    <a:p>
                      <a:pPr algn="ctr"/>
                      <a:r>
                        <a:rPr sz="1200" b="0"/>
                        <a:t>1.39* / 1.04</a:t>
                      </a:r>
                    </a:p>
                  </a:txBody>
                  <a:tcPr anchor="ctr"/>
                </a:tc>
                <a:tc>
                  <a:txBody>
                    <a:bodyPr/>
                    <a:lstStyle/>
                    <a:p>
                      <a:pPr algn="ctr"/>
                      <a:r>
                        <a:rPr sz="1200" b="0"/>
                        <a:t>1.43* / 1.01</a:t>
                      </a:r>
                    </a:p>
                  </a:txBody>
                  <a:tcPr anchor="ctr"/>
                </a:tc>
                <a:tc>
                  <a:txBody>
                    <a:bodyPr/>
                    <a:lstStyle/>
                    <a:p>
                      <a:pPr algn="ctr"/>
                      <a:r>
                        <a:rPr sz="1200" b="0"/>
                        <a:t>1.47* / 1.05</a:t>
                      </a:r>
                    </a:p>
                  </a:txBody>
                  <a:tcPr anchor="ctr"/>
                </a:tc>
                <a:tc>
                  <a:txBody>
                    <a:bodyPr/>
                    <a:lstStyle/>
                    <a:p>
                      <a:pPr algn="ctr"/>
                      <a:r>
                        <a:rPr sz="1200" b="0"/>
                        <a:t>1.49* / 1.03</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1.25 / 1.19</a:t>
                      </a:r>
                    </a:p>
                  </a:txBody>
                  <a:tcPr anchor="ctr"/>
                </a:tc>
                <a:tc>
                  <a:txBody>
                    <a:bodyPr/>
                    <a:lstStyle/>
                    <a:p>
                      <a:pPr algn="ctr"/>
                      <a:r>
                        <a:rPr sz="1200" b="0"/>
                        <a:t>1.27 / 1.32</a:t>
                      </a:r>
                    </a:p>
                  </a:txBody>
                  <a:tcPr anchor="ctr"/>
                </a:tc>
                <a:tc>
                  <a:txBody>
                    <a:bodyPr/>
                    <a:lstStyle/>
                    <a:p>
                      <a:pPr algn="ctr"/>
                      <a:r>
                        <a:rPr sz="1200" b="0"/>
                        <a:t>1.43 / 1.23</a:t>
                      </a:r>
                    </a:p>
                  </a:txBody>
                  <a:tcPr anchor="ctr"/>
                </a:tc>
                <a:tc>
                  <a:txBody>
                    <a:bodyPr/>
                    <a:lstStyle/>
                    <a:p>
                      <a:pPr algn="ctr"/>
                      <a:r>
                        <a:rPr sz="1200" b="0"/>
                        <a:t>1.40 / 1.38</a:t>
                      </a:r>
                    </a:p>
                  </a:txBody>
                  <a:tcPr anchor="ctr"/>
                </a:tc>
              </a:tr>
              <a:tr h="571428">
                <a:tc rowSpan="2">
                  <a:txBody>
                    <a:bodyPr/>
                    <a:lstStyle/>
                    <a:p>
                      <a:pPr algn="ctr"/>
                      <a:r>
                        <a:rPr sz="1200" b="0"/>
                        <a:t>CKD</a:t>
                      </a:r>
                    </a:p>
                  </a:txBody>
                  <a:tcPr anchor="ctr"/>
                </a:tc>
                <a:tc>
                  <a:txBody>
                    <a:bodyPr/>
                    <a:lstStyle/>
                    <a:p>
                      <a:pPr algn="ctr"/>
                      <a:r>
                        <a:rPr sz="1200" b="0"/>
                        <a:t>M</a:t>
                      </a:r>
                    </a:p>
                  </a:txBody>
                  <a:tcPr anchor="ctr"/>
                </a:tc>
                <a:tc>
                  <a:txBody>
                    <a:bodyPr/>
                    <a:lstStyle/>
                    <a:p>
                      <a:pPr algn="ctr"/>
                      <a:r>
                        <a:rPr sz="1200" b="0"/>
                        <a:t>1.10 / 1.22</a:t>
                      </a:r>
                    </a:p>
                  </a:txBody>
                  <a:tcPr anchor="ctr"/>
                </a:tc>
                <a:tc>
                  <a:txBody>
                    <a:bodyPr/>
                    <a:lstStyle/>
                    <a:p>
                      <a:pPr algn="ctr"/>
                      <a:r>
                        <a:rPr sz="1200" b="0"/>
                        <a:t>1.18 / 1.21</a:t>
                      </a:r>
                    </a:p>
                  </a:txBody>
                  <a:tcPr anchor="ctr"/>
                </a:tc>
                <a:tc>
                  <a:txBody>
                    <a:bodyPr/>
                    <a:lstStyle/>
                    <a:p>
                      <a:pPr algn="ctr"/>
                      <a:r>
                        <a:rPr sz="1200" b="0"/>
                        <a:t>1.12 / 1.20</a:t>
                      </a:r>
                    </a:p>
                  </a:txBody>
                  <a:tcPr anchor="ctr"/>
                </a:tc>
                <a:tc>
                  <a:txBody>
                    <a:bodyPr/>
                    <a:lstStyle/>
                    <a:p>
                      <a:pPr algn="ctr"/>
                      <a:r>
                        <a:rPr sz="1200" b="0"/>
                        <a:t>0.96 / 1.16</a:t>
                      </a:r>
                    </a:p>
                  </a:txBody>
                  <a:tcPr anchor="ctr"/>
                </a:tc>
              </a:tr>
              <a:tr h="571428">
                <a:tc vMerge="1">
                  <a:txBody>
                    <a:bodyPr/>
                    <a:lstStyle/>
                    <a:p/>
                  </a:txBody>
                  <a:tcPr/>
                </a:tc>
                <a:tc>
                  <a:txBody>
                    <a:bodyPr/>
                    <a:lstStyle/>
                    <a:p>
                      <a:pPr algn="ctr"/>
                      <a:r>
                        <a:rPr sz="1200" b="0"/>
                        <a:t>F</a:t>
                      </a:r>
                    </a:p>
                  </a:txBody>
                  <a:tcPr anchor="ctr"/>
                </a:tc>
                <a:tc>
                  <a:txBody>
                    <a:bodyPr/>
                    <a:lstStyle/>
                    <a:p>
                      <a:pPr algn="ctr"/>
                      <a:r>
                        <a:rPr sz="1200" b="0"/>
                        <a:t>1.18 / 1.39</a:t>
                      </a:r>
                    </a:p>
                  </a:txBody>
                  <a:tcPr anchor="ctr"/>
                </a:tc>
                <a:tc>
                  <a:txBody>
                    <a:bodyPr/>
                    <a:lstStyle/>
                    <a:p>
                      <a:pPr algn="ctr"/>
                      <a:r>
                        <a:rPr sz="1200" b="0"/>
                        <a:t>1.26 / 1.63</a:t>
                      </a:r>
                    </a:p>
                  </a:txBody>
                  <a:tcPr anchor="ctr"/>
                </a:tc>
                <a:tc>
                  <a:txBody>
                    <a:bodyPr/>
                    <a:lstStyle/>
                    <a:p>
                      <a:pPr algn="ctr"/>
                      <a:r>
                        <a:rPr sz="1200" b="0"/>
                        <a:t>1.12 / 1.58</a:t>
                      </a:r>
                    </a:p>
                  </a:txBody>
                  <a:tcPr anchor="ctr"/>
                </a:tc>
                <a:tc>
                  <a:txBody>
                    <a:bodyPr/>
                    <a:lstStyle/>
                    <a:p>
                      <a:pPr algn="ctr"/>
                      <a:r>
                        <a:rPr sz="1200" b="0"/>
                        <a:t>1.06 / 1.44</a:t>
                      </a:r>
                    </a:p>
                  </a:txBody>
                  <a:tcPr anchor="ctr"/>
                </a:tc>
              </a:tr>
            </a:tbl>
          </a:graphicData>
        </a:graphic>
      </p:graphicFrame>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4B9BE-6ABB-4644-A858-A1BE01A7D227}">
  <we:reference id="wa200010725" version="1.0.0.1" store="ko-KR" storeType="OMEX"/>
  <we:alternateReferences>
    <we:reference id="WA200010725" version="1.0.0.1" store="WA200010725" storeType="OMEX"/>
  </we:alternateReferences>
  <we:properties>
    <we:property name="claude.fileId" value="&quot;b67ecc52-606c-4d9b-921c-389ac737e6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7317</TotalTime>
  <Words>3655</Words>
  <Application>Microsoft Office PowerPoint</Application>
  <PresentationFormat>와이드스크린</PresentationFormat>
  <Paragraphs>938</Paragraphs>
  <Slides>28</Slides>
  <Notes>28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28</vt:i4>
      </vt:variant>
    </vt:vector>
  </HeadingPairs>
  <TitlesOfParts>
    <vt:vector size="32" baseType="lpstr">
      <vt:lpstr>KoPub돋움체 Bold</vt:lpstr>
      <vt:lpstr>Arial</vt:lpstr>
      <vt:lpstr>KoPub돋움체 Medium</vt:lpstr>
      <vt:lpstr>Office 테마</vt:lpstr>
      <vt:lpstr>PowerPoint 프레젠테이션</vt:lpstr>
      <vt:lpstr>Background &amp; Aims</vt:lpstr>
      <vt:lpstr>AEC: A Free Byproduct of Every CT Scan</vt:lpstr>
      <vt:lpstr>AEC Curves Differ by Sex and Disease</vt:lpstr>
      <vt:lpstr>FPCA: A Curve Becomes a Few Shape Scores</vt:lpstr>
      <vt:lpstr>Body Composition Curves from CT Segmentation</vt:lpstr>
      <vt:lpstr>Study Design</vt:lpstr>
      <vt:lpstr>Table 1. The Two Cohorts Differ in Case-Mix</vt:lpstr>
      <vt:lpstr>Modeling and Evaluation</vt:lpstr>
      <vt:lpstr>FPCA Component Selection (Kneedle Elbow)</vt:lpstr>
      <vt:lpstr>Table 2. AEC Alone Adds Little</vt:lpstr>
      <vt:lpstr>Figure 1. Body Composition Gives the Largest Gain</vt:lpstr>
      <vt:lpstr>Table 3. Gains Hold in External, Not Always in Internal</vt:lpstr>
      <vt:lpstr>How the Coefficients Were Obtained</vt:lpstr>
      <vt:lpstr>Table 4. Height and Weight Lose Significance in Best</vt:lpstr>
      <vt:lpstr>Table 5. Only Body-Composition Scores Are Significant</vt:lpstr>
      <vt:lpstr>Figure 2. Where on the Curve Does AEC Matter?</vt:lpstr>
      <vt:lpstr>Why Do Effects Differ by Hospital?</vt:lpstr>
      <vt:lpstr>Conclusion</vt:lpstr>
      <vt:lpstr>PowerPoint 프레젠테이션</vt:lpstr>
      <vt:lpstr>S1. FPCA Inverse Transform, Body Composition</vt:lpstr>
      <vt:lpstr>S2. Calibration Plot, Baseline vs Best</vt:lpstr>
      <vt:lpstr>S3. Full AUC Comparison Across Extended Models</vt:lpstr>
      <vt:lpstr>S4. AEC-Only Model Coefficients (FPCA PC1–3)</vt:lpstr>
      <vt:lpstr>S5. Baseline Model VIF</vt:lpstr>
      <vt:lpstr>S6. Fold-Level Performance, Hypertension</vt:lpstr>
      <vt:lpstr>S7. Fold-Level Performance, Diabetes</vt:lpstr>
      <vt:lpstr>S8. Fold-Level Performance, CKD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742</cp:revision>
  <dcterms:created xsi:type="dcterms:W3CDTF">2026-04-09T07:05:16Z</dcterms:created>
  <dcterms:modified xsi:type="dcterms:W3CDTF">2026-10-01T10:24:09Z</dcterms:modified>
</cp:coreProperties>
</file>