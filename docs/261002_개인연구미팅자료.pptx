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5"/>
  </p:notesMasterIdLst>
  <p:sldIdLst>
    <p:sldId id="256" r:id="rId2"/>
    <p:sldId id="269" r:id="rId3"/>
    <p:sldId id="257" r:id="rId4"/>
    <p:sldId id="258" r:id="rId5"/>
    <p:sldId id="494" r:id="rId6"/>
    <p:sldId id="499" r:id="rId7"/>
    <p:sldId id="500" r:id="rId8"/>
    <p:sldId id="501" r:id="rId9"/>
    <p:sldId id="265" r:id="rId10"/>
    <p:sldId id="270" r:id="rId11"/>
    <p:sldId id="268" r:id="rId12"/>
    <p:sldId id="487" r:id="rId13"/>
    <p:sldId id="262" r:id="rId14"/>
    <p:sldId id="277" r:id="rId15"/>
    <p:sldId id="261" r:id="rId16"/>
    <p:sldId id="491" r:id="rId17"/>
    <p:sldId id="492" r:id="rId18"/>
    <p:sldId id="493" r:id="rId19"/>
    <p:sldId id="498" r:id="rId20"/>
    <p:sldId id="264" r:id="rId21"/>
    <p:sldId id="278" r:id="rId22"/>
    <p:sldId id="502" r:id="rId23"/>
    <p:sldId id="497" r:id="rId24"/>
  </p:sldIdLst>
  <p:sldSz cx="12192000" cy="6858000"/>
  <p:notesSz cx="6858000" cy="9144000"/>
  <p:embeddedFontLst>
    <p:embeddedFont>
      <p:font typeface="Malgun Gothic" panose="020B0503020000020004" pitchFamily="50" charset="-127"/>
      <p:regular r:id="rId26"/>
      <p:bold r:id="rId27"/>
    </p:embeddedFont>
    <p:embeddedFont>
      <p:font typeface="KoPub돋움체 Bold" panose="00000800000000000000" pitchFamily="2" charset="-127"/>
      <p:bold r:id="rId28"/>
    </p:embeddedFont>
    <p:embeddedFont>
      <p:font typeface="KoPub돋움체 Medium" panose="00000600000000000000" pitchFamily="2" charset="-127"/>
      <p:regular r:id="rId2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269"/>
            <p14:sldId id="257"/>
            <p14:sldId id="258"/>
            <p14:sldId id="494"/>
            <p14:sldId id="499"/>
            <p14:sldId id="500"/>
            <p14:sldId id="501"/>
            <p14:sldId id="265"/>
            <p14:sldId id="270"/>
            <p14:sldId id="268"/>
            <p14:sldId id="487"/>
            <p14:sldId id="262"/>
            <p14:sldId id="277"/>
            <p14:sldId id="261"/>
            <p14:sldId id="491"/>
            <p14:sldId id="492"/>
            <p14:sldId id="493"/>
            <p14:sldId id="498"/>
            <p14:sldId id="264"/>
            <p14:sldId id="278"/>
            <p14:sldId id="502"/>
            <p14:sldId id="49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87152" autoAdjust="0"/>
  </p:normalViewPr>
  <p:slideViewPr>
    <p:cSldViewPr snapToGrid="0">
      <p:cViewPr varScale="1">
        <p:scale>
          <a:sx n="161" d="100"/>
          <a:sy n="161" d="100"/>
        </p:scale>
        <p:origin x="36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ghoon jun" userId="056a5883350c2f5e" providerId="LiveId" clId="{6DA654A6-03B0-40F7-A259-B276216985A6}"/>
    <pc:docChg chg="undo redo custSel addSld delSld modSld sldOrd modSection">
      <pc:chgData name="janghoon jun" userId="056a5883350c2f5e" providerId="LiveId" clId="{6DA654A6-03B0-40F7-A259-B276216985A6}" dt="2026-09-10T05:04:12.456" v="4648" actId="403"/>
      <pc:docMkLst>
        <pc:docMk/>
      </pc:docMkLst>
      <pc:sldChg chg="modSp mod modNotes modNotesTx">
        <pc:chgData name="janghoon jun" userId="056a5883350c2f5e" providerId="LiveId" clId="{6DA654A6-03B0-40F7-A259-B276216985A6}" dt="2026-09-10T04:59:39.505" v="4550" actId="207"/>
        <pc:sldMkLst>
          <pc:docMk/>
          <pc:sldMk cId="0" sldId="256"/>
        </pc:sldMkLst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5" creationId="{00000000-0000-0000-0000-000000000000}"/>
          </ac:spMkLst>
        </pc:spChg>
      </pc:sldChg>
      <pc:sldChg chg="addSp delSp modSp mod chgLayout modNotes modNotesTx">
        <pc:chgData name="janghoon jun" userId="056a5883350c2f5e" providerId="LiveId" clId="{6DA654A6-03B0-40F7-A259-B276216985A6}" dt="2026-09-10T05:04:12.456" v="4648" actId="403"/>
        <pc:sldMkLst>
          <pc:docMk/>
          <pc:sldMk cId="0" sldId="257"/>
        </pc:sldMkLst>
        <pc:spChg chg="mod ord">
          <ac:chgData name="janghoon jun" userId="056a5883350c2f5e" providerId="LiveId" clId="{6DA654A6-03B0-40F7-A259-B276216985A6}" dt="2026-09-02T02:37:45.894" v="3728" actId="6549"/>
          <ac:spMkLst>
            <pc:docMk/>
            <pc:sldMk cId="0" sldId="257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10T05:04:12.456" v="4648" actId="403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9-10T03:16:00.971" v="4488" actId="404"/>
        <pc:sldMkLst>
          <pc:docMk/>
          <pc:sldMk cId="0" sldId="258"/>
        </pc:sldMkLst>
        <pc:spChg chg="mod">
          <ac:chgData name="janghoon jun" userId="056a5883350c2f5e" providerId="LiveId" clId="{6DA654A6-03B0-40F7-A259-B276216985A6}" dt="2026-09-10T03:16:00.971" v="4488" actId="404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9-08T03:15:38.775" v="4423" actId="2062"/>
        <pc:sldMkLst>
          <pc:docMk/>
          <pc:sldMk cId="0" sldId="259"/>
        </pc:sldMkLst>
      </pc:sldChg>
      <pc:sldChg chg="delSp modSp del mod">
        <pc:chgData name="janghoon jun" userId="056a5883350c2f5e" providerId="LiveId" clId="{6DA654A6-03B0-40F7-A259-B276216985A6}" dt="2026-09-10T05:01:31.864" v="4601" actId="47"/>
        <pc:sldMkLst>
          <pc:docMk/>
          <pc:sldMk cId="0" sldId="261"/>
        </pc:sldMkLst>
        <pc:spChg chg="mod">
          <ac:chgData name="janghoon jun" userId="056a5883350c2f5e" providerId="LiveId" clId="{6DA654A6-03B0-40F7-A259-B276216985A6}" dt="2026-09-10T05:01:04.719" v="4595" actId="21"/>
          <ac:spMkLst>
            <pc:docMk/>
            <pc:sldMk cId="0" sldId="261"/>
            <ac:spMk id="2" creationId="{00000000-0000-0000-0000-000000000000}"/>
          </ac:spMkLst>
        </pc:spChg>
        <pc:picChg chg="del mod">
          <ac:chgData name="janghoon jun" userId="056a5883350c2f5e" providerId="LiveId" clId="{6DA654A6-03B0-40F7-A259-B276216985A6}" dt="2026-09-10T05:01:08.538" v="4597" actId="21"/>
          <ac:picMkLst>
            <pc:docMk/>
            <pc:sldMk cId="0" sldId="261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1:46.958" v="4608" actId="47"/>
        <pc:sldMkLst>
          <pc:docMk/>
          <pc:sldMk cId="0" sldId="262"/>
        </pc:sldMkLst>
        <pc:spChg chg="mod">
          <ac:chgData name="janghoon jun" userId="056a5883350c2f5e" providerId="LiveId" clId="{6DA654A6-03B0-40F7-A259-B276216985A6}" dt="2026-09-10T05:01:37.563" v="4603" actId="21"/>
          <ac:spMkLst>
            <pc:docMk/>
            <pc:sldMk cId="0" sldId="262"/>
            <ac:spMk id="2" creationId="{00000000-0000-0000-0000-000000000000}"/>
          </ac:spMkLst>
        </pc:spChg>
        <pc:picChg chg="del">
          <ac:chgData name="janghoon jun" userId="056a5883350c2f5e" providerId="LiveId" clId="{6DA654A6-03B0-40F7-A259-B276216985A6}" dt="2026-09-10T05:01:41.989" v="4605" actId="21"/>
          <ac:picMkLst>
            <pc:docMk/>
            <pc:sldMk cId="0" sldId="262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2:01.467" v="4615" actId="47"/>
        <pc:sldMkLst>
          <pc:docMk/>
          <pc:sldMk cId="0" sldId="263"/>
        </pc:sldMkLst>
        <pc:spChg chg="mod">
          <ac:chgData name="janghoon jun" userId="056a5883350c2f5e" providerId="LiveId" clId="{6DA654A6-03B0-40F7-A259-B276216985A6}" dt="2026-09-10T05:01:54.745" v="4611" actId="21"/>
          <ac:spMkLst>
            <pc:docMk/>
            <pc:sldMk cId="0" sldId="263"/>
            <ac:spMk id="2" creationId="{00000000-0000-0000-0000-000000000000}"/>
          </ac:spMkLst>
        </pc:spChg>
        <pc:picChg chg="del">
          <ac:chgData name="janghoon jun" userId="056a5883350c2f5e" providerId="LiveId" clId="{6DA654A6-03B0-40F7-A259-B276216985A6}" dt="2026-09-10T05:01:59.021" v="4613" actId="21"/>
          <ac:picMkLst>
            <pc:docMk/>
            <pc:sldMk cId="0" sldId="263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2:33.552" v="4626" actId="47"/>
        <pc:sldMkLst>
          <pc:docMk/>
          <pc:sldMk cId="0" sldId="264"/>
        </pc:sldMkLst>
        <pc:spChg chg="mod">
          <ac:chgData name="janghoon jun" userId="056a5883350c2f5e" providerId="LiveId" clId="{6DA654A6-03B0-40F7-A259-B276216985A6}" dt="2026-09-10T05:02:07.183" v="4617" actId="21"/>
          <ac:spMkLst>
            <pc:docMk/>
            <pc:sldMk cId="0" sldId="264"/>
            <ac:spMk id="2" creationId="{00000000-0000-0000-0000-000000000000}"/>
          </ac:spMkLst>
        </pc:spChg>
        <pc:picChg chg="del mod">
          <ac:chgData name="janghoon jun" userId="056a5883350c2f5e" providerId="LiveId" clId="{6DA654A6-03B0-40F7-A259-B276216985A6}" dt="2026-09-10T05:02:10.641" v="4619" actId="21"/>
          <ac:picMkLst>
            <pc:docMk/>
            <pc:sldMk cId="0" sldId="264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3:04.881" v="4633" actId="47"/>
        <pc:sldMkLst>
          <pc:docMk/>
          <pc:sldMk cId="0" sldId="265"/>
        </pc:sldMkLst>
        <pc:spChg chg="mod">
          <ac:chgData name="janghoon jun" userId="056a5883350c2f5e" providerId="LiveId" clId="{6DA654A6-03B0-40F7-A259-B276216985A6}" dt="2026-09-10T05:02:38.758" v="4628" actId="21"/>
          <ac:spMkLst>
            <pc:docMk/>
            <pc:sldMk cId="0" sldId="265"/>
            <ac:spMk id="2" creationId="{00000000-0000-0000-0000-000000000000}"/>
          </ac:spMkLst>
        </pc:spChg>
        <pc:graphicFrameChg chg="modGraphic">
          <ac:chgData name="janghoon jun" userId="056a5883350c2f5e" providerId="LiveId" clId="{6DA654A6-03B0-40F7-A259-B276216985A6}" dt="2026-09-10T03:22:54.047" v="4543" actId="255"/>
          <ac:graphicFrameMkLst>
            <pc:docMk/>
            <pc:sldMk cId="0" sldId="265"/>
            <ac:graphicFrameMk id="3" creationId="{00000000-0000-0000-0000-000000000000}"/>
          </ac:graphicFrameMkLst>
        </pc:graphicFrameChg>
        <pc:picChg chg="del">
          <ac:chgData name="janghoon jun" userId="056a5883350c2f5e" providerId="LiveId" clId="{6DA654A6-03B0-40F7-A259-B276216985A6}" dt="2026-09-10T05:02:42.851" v="4630" actId="21"/>
          <ac:picMkLst>
            <pc:docMk/>
            <pc:sldMk cId="0" sldId="265"/>
            <ac:picMk id="3" creationId="{00000000-0000-0000-0000-000000000000}"/>
          </ac:picMkLst>
        </pc:picChg>
      </pc:sldChg>
      <pc:sldChg chg="delSp modSp mod">
        <pc:chgData name="janghoon jun" userId="056a5883350c2f5e" providerId="LiveId" clId="{6DA654A6-03B0-40F7-A259-B276216985A6}" dt="2026-09-10T05:03:31.457" v="4640" actId="1076"/>
        <pc:sldMkLst>
          <pc:docMk/>
          <pc:sldMk cId="0" sldId="266"/>
        </pc:sldMkLst>
        <pc:spChg chg="mod">
          <ac:chgData name="janghoon jun" userId="056a5883350c2f5e" providerId="LiveId" clId="{6DA654A6-03B0-40F7-A259-B276216985A6}" dt="2026-09-10T03:16:18.752" v="4490" actId="404"/>
          <ac:spMkLst>
            <pc:docMk/>
            <pc:sldMk cId="0" sldId="266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9-10T05:03:31.457" v="4640" actId="1076"/>
          <ac:spMkLst>
            <pc:docMk/>
            <pc:sldMk cId="0" sldId="266"/>
            <ac:spMk id="5" creationId="{00000000-0000-0000-0000-000000000000}"/>
          </ac:spMkLst>
        </pc:spChg>
        <pc:graphicFrameChg chg="mod modGraphic">
          <ac:chgData name="janghoon jun" userId="056a5883350c2f5e" providerId="LiveId" clId="{6DA654A6-03B0-40F7-A259-B276216985A6}" dt="2026-09-10T05:03:27.249" v="4639" actId="1076"/>
          <ac:graphicFrameMkLst>
            <pc:docMk/>
            <pc:sldMk cId="0" sldId="266"/>
            <ac:graphicFrameMk id="4" creationId="{00000000-0000-0000-0000-000000000000}"/>
          </ac:graphicFrameMkLst>
        </pc:graphicFrameChg>
      </pc:sldChg>
      <pc:sldChg chg="delSp modSp del mod">
        <pc:chgData name="janghoon jun" userId="056a5883350c2f5e" providerId="LiveId" clId="{6DA654A6-03B0-40F7-A259-B276216985A6}" dt="2026-09-10T05:00:59.834" v="4593" actId="27636"/>
        <pc:sldMkLst>
          <pc:docMk/>
          <pc:sldMk cId="0" sldId="267"/>
        </pc:sldMkLst>
        <pc:spChg chg="mod">
          <ac:chgData name="janghoon jun" userId="056a5883350c2f5e" providerId="LiveId" clId="{6DA654A6-03B0-40F7-A259-B276216985A6}" dt="2026-09-08T03:22:06.514" v="4485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10T05:00:59.834" v="4593" actId="27636"/>
          <ac:spMkLst>
            <pc:docMk/>
            <pc:sldMk cId="0" sldId="267"/>
            <ac:spMk id="3" creationId="{00000000-0000-0000-0000-000000000000}"/>
          </ac:spMkLst>
        </pc:spChg>
      </pc:sldChg>
      <pc:sldChg chg="modSp del mod">
        <pc:chgData name="janghoon jun" userId="056a5883350c2f5e" providerId="LiveId" clId="{6DA654A6-03B0-40F7-A259-B276216985A6}" dt="2026-09-10T05:04:04.780" v="4641" actId="47"/>
        <pc:sldMkLst>
          <pc:docMk/>
          <pc:sldMk cId="0" sldId="269"/>
        </pc:sldMkLst>
        <pc:graphicFrameChg chg="modGraphic">
          <ac:chgData name="janghoon jun" userId="056a5883350c2f5e" providerId="LiveId" clId="{6DA654A6-03B0-40F7-A259-B276216985A6}" dt="2026-09-10T03:22:45.138" v="4542" actId="255"/>
          <ac:graphicFrameMkLst>
            <pc:docMk/>
            <pc:sldMk cId="0" sldId="269"/>
            <ac:graphicFrameMk id="6" creationId="{E510CECF-189E-7B95-A7D1-8CF39243907A}"/>
          </ac:graphicFrameMkLst>
        </pc:graphicFrameChg>
      </pc:sldChg>
      <pc:sldChg chg="modSp mod">
        <pc:chgData name="janghoon jun" userId="056a5883350c2f5e" providerId="LiveId" clId="{6DA654A6-03B0-40F7-A259-B276216985A6}" dt="2026-09-10T03:22:37.115" v="4541" actId="255"/>
        <pc:sldMkLst>
          <pc:docMk/>
          <pc:sldMk cId="0" sldId="270"/>
        </pc:sldMkLst>
        <pc:spChg chg="mod">
          <ac:chgData name="janghoon jun" userId="056a5883350c2f5e" providerId="LiveId" clId="{6DA654A6-03B0-40F7-A259-B276216985A6}" dt="2026-09-10T03:22:37.115" v="4541" actId="255"/>
          <ac:spMkLst>
            <pc:docMk/>
            <pc:sldMk cId="0" sldId="270"/>
            <ac:spMk id="4" creationId="{00000000-0000-0000-0000-000000000000}"/>
          </ac:spMkLst>
        </pc:spChg>
        <pc:graphicFrameChg chg="modGraphic">
          <ac:chgData name="janghoon jun" userId="056a5883350c2f5e" providerId="LiveId" clId="{6DA654A6-03B0-40F7-A259-B276216985A6}" dt="2026-09-10T03:22:33.054" v="4540" actId="255"/>
          <ac:graphicFrameMkLst>
            <pc:docMk/>
            <pc:sldMk cId="0" sldId="270"/>
            <ac:graphicFrameMk id="3" creationId="{00000000-0000-0000-0000-000000000000}"/>
          </ac:graphicFrameMkLst>
        </pc:graphicFrameChg>
      </pc:sldChg>
      <pc:sldChg chg="modSp mod">
        <pc:chgData name="janghoon jun" userId="056a5883350c2f5e" providerId="LiveId" clId="{6DA654A6-03B0-40F7-A259-B276216985A6}" dt="2026-09-10T03:23:12.656" v="4546" actId="2710"/>
        <pc:sldMkLst>
          <pc:docMk/>
          <pc:sldMk cId="0" sldId="271"/>
        </pc:sldMkLst>
        <pc:spChg chg="mod">
          <ac:chgData name="janghoon jun" userId="056a5883350c2f5e" providerId="LiveId" clId="{6DA654A6-03B0-40F7-A259-B276216985A6}" dt="2026-09-10T03:23:12.656" v="4546" actId="2710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9-10T03:22:18.743" v="4536" actId="255"/>
        <pc:sldMkLst>
          <pc:docMk/>
          <pc:sldMk cId="0" sldId="272"/>
        </pc:sldMkLst>
        <pc:graphicFrameChg chg="modGraphic">
          <ac:chgData name="janghoon jun" userId="056a5883350c2f5e" providerId="LiveId" clId="{6DA654A6-03B0-40F7-A259-B276216985A6}" dt="2026-09-10T03:22:18.743" v="4536" actId="255"/>
          <ac:graphicFrameMkLst>
            <pc:docMk/>
            <pc:sldMk cId="0" sldId="272"/>
            <ac:graphicFrameMk id="3" creationId="{00000000-0000-0000-0000-000000000000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1:14.195" v="4600" actId="1076"/>
        <pc:sldMkLst>
          <pc:docMk/>
          <pc:sldMk cId="2755278307" sldId="272"/>
        </pc:sldMkLst>
        <pc:spChg chg="mod">
          <ac:chgData name="janghoon jun" userId="056a5883350c2f5e" providerId="LiveId" clId="{6DA654A6-03B0-40F7-A259-B276216985A6}" dt="2026-09-10T05:01:06.801" v="4596"/>
          <ac:spMkLst>
            <pc:docMk/>
            <pc:sldMk cId="2755278307" sldId="272"/>
            <ac:spMk id="2" creationId="{47399A34-AE2B-4CC6-8304-596321EC9448}"/>
          </ac:spMkLst>
        </pc:spChg>
        <pc:spChg chg="del">
          <ac:chgData name="janghoon jun" userId="056a5883350c2f5e" providerId="LiveId" clId="{6DA654A6-03B0-40F7-A259-B276216985A6}" dt="2026-09-10T05:01:02.342" v="4594" actId="478"/>
          <ac:spMkLst>
            <pc:docMk/>
            <pc:sldMk cId="2755278307" sldId="272"/>
            <ac:spMk id="3" creationId="{8C665CBB-843D-1473-C103-8CBA53FCFA04}"/>
          </ac:spMkLst>
        </pc:spChg>
        <pc:spChg chg="add del mod">
          <ac:chgData name="janghoon jun" userId="056a5883350c2f5e" providerId="LiveId" clId="{6DA654A6-03B0-40F7-A259-B276216985A6}" dt="2026-09-10T05:01:11.596" v="4598" actId="478"/>
          <ac:spMkLst>
            <pc:docMk/>
            <pc:sldMk cId="2755278307" sldId="272"/>
            <ac:spMk id="5" creationId="{093EABBB-1335-B701-D6E0-0A3678A54285}"/>
          </ac:spMkLst>
        </pc:spChg>
        <pc:picChg chg="add mod">
          <ac:chgData name="janghoon jun" userId="056a5883350c2f5e" providerId="LiveId" clId="{6DA654A6-03B0-40F7-A259-B276216985A6}" dt="2026-09-10T05:01:14.195" v="4600" actId="1076"/>
          <ac:picMkLst>
            <pc:docMk/>
            <pc:sldMk cId="2755278307" sldId="272"/>
            <ac:picMk id="7" creationId="{DB5C9DB1-2489-F3D0-1976-537E15A9259F}"/>
          </ac:picMkLst>
        </pc:picChg>
      </pc:sldChg>
      <pc:sldChg chg="modSp mod">
        <pc:chgData name="janghoon jun" userId="056a5883350c2f5e" providerId="LiveId" clId="{6DA654A6-03B0-40F7-A259-B276216985A6}" dt="2026-09-10T03:21:38.729" v="4528" actId="255"/>
        <pc:sldMkLst>
          <pc:docMk/>
          <pc:sldMk cId="0" sldId="273"/>
        </pc:sldMkLst>
        <pc:graphicFrameChg chg="modGraphic">
          <ac:chgData name="janghoon jun" userId="056a5883350c2f5e" providerId="LiveId" clId="{6DA654A6-03B0-40F7-A259-B276216985A6}" dt="2026-09-10T03:21:38.729" v="4528" actId="255"/>
          <ac:graphicFrameMkLst>
            <pc:docMk/>
            <pc:sldMk cId="0" sldId="273"/>
            <ac:graphicFrameMk id="6" creationId="{E510CECF-189E-7B95-A7D1-8CF39243907A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1:44.278" v="4607" actId="22"/>
        <pc:sldMkLst>
          <pc:docMk/>
          <pc:sldMk cId="3764616405" sldId="273"/>
        </pc:sldMkLst>
        <pc:spChg chg="mod">
          <ac:chgData name="janghoon jun" userId="056a5883350c2f5e" providerId="LiveId" clId="{6DA654A6-03B0-40F7-A259-B276216985A6}" dt="2026-09-10T05:01:39.369" v="4604"/>
          <ac:spMkLst>
            <pc:docMk/>
            <pc:sldMk cId="3764616405" sldId="273"/>
            <ac:spMk id="2" creationId="{81756DD1-59E1-2584-8E19-3E1B59037185}"/>
          </ac:spMkLst>
        </pc:spChg>
        <pc:picChg chg="add">
          <ac:chgData name="janghoon jun" userId="056a5883350c2f5e" providerId="LiveId" clId="{6DA654A6-03B0-40F7-A259-B276216985A6}" dt="2026-09-10T05:01:44.278" v="4607" actId="22"/>
          <ac:picMkLst>
            <pc:docMk/>
            <pc:sldMk cId="3764616405" sldId="273"/>
            <ac:picMk id="4" creationId="{4D791A2B-D934-61D3-05BA-457321A70678}"/>
          </ac:picMkLst>
        </pc:picChg>
        <pc:picChg chg="del">
          <ac:chgData name="janghoon jun" userId="056a5883350c2f5e" providerId="LiveId" clId="{6DA654A6-03B0-40F7-A259-B276216985A6}" dt="2026-09-10T05:01:43.956" v="4606" actId="478"/>
          <ac:picMkLst>
            <pc:docMk/>
            <pc:sldMk cId="3764616405" sldId="273"/>
            <ac:picMk id="7" creationId="{C0C8C0CA-19F3-5E89-D747-E613365C3187}"/>
          </ac:picMkLst>
        </pc:picChg>
      </pc:sldChg>
      <pc:sldChg chg="modSp mod">
        <pc:chgData name="janghoon jun" userId="056a5883350c2f5e" providerId="LiveId" clId="{6DA654A6-03B0-40F7-A259-B276216985A6}" dt="2026-09-10T03:21:46.220" v="4529" actId="255"/>
        <pc:sldMkLst>
          <pc:docMk/>
          <pc:sldMk cId="0" sldId="274"/>
        </pc:sldMkLst>
        <pc:graphicFrameChg chg="modGraphic">
          <ac:chgData name="janghoon jun" userId="056a5883350c2f5e" providerId="LiveId" clId="{6DA654A6-03B0-40F7-A259-B276216985A6}" dt="2026-09-10T03:21:46.220" v="4529" actId="255"/>
          <ac:graphicFrameMkLst>
            <pc:docMk/>
            <pc:sldMk cId="0" sldId="274"/>
            <ac:graphicFrameMk id="3" creationId="{00000000-0000-0000-0000-000000000000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1:59.785" v="4614" actId="22"/>
        <pc:sldMkLst>
          <pc:docMk/>
          <pc:sldMk cId="2820107391" sldId="274"/>
        </pc:sldMkLst>
        <pc:spChg chg="mod">
          <ac:chgData name="janghoon jun" userId="056a5883350c2f5e" providerId="LiveId" clId="{6DA654A6-03B0-40F7-A259-B276216985A6}" dt="2026-09-10T05:01:56.743" v="4612"/>
          <ac:spMkLst>
            <pc:docMk/>
            <pc:sldMk cId="2820107391" sldId="274"/>
            <ac:spMk id="2" creationId="{96BE39D2-BACD-9BFA-6BEF-E23EB76F52A3}"/>
          </ac:spMkLst>
        </pc:spChg>
        <pc:picChg chg="del">
          <ac:chgData name="janghoon jun" userId="056a5883350c2f5e" providerId="LiveId" clId="{6DA654A6-03B0-40F7-A259-B276216985A6}" dt="2026-09-10T05:01:51.432" v="4610" actId="478"/>
          <ac:picMkLst>
            <pc:docMk/>
            <pc:sldMk cId="2820107391" sldId="274"/>
            <ac:picMk id="4" creationId="{44560D41-702E-22B7-E44B-6688B87607EB}"/>
          </ac:picMkLst>
        </pc:picChg>
        <pc:picChg chg="add">
          <ac:chgData name="janghoon jun" userId="056a5883350c2f5e" providerId="LiveId" clId="{6DA654A6-03B0-40F7-A259-B276216985A6}" dt="2026-09-10T05:01:59.785" v="4614" actId="22"/>
          <ac:picMkLst>
            <pc:docMk/>
            <pc:sldMk cId="2820107391" sldId="274"/>
            <ac:picMk id="5" creationId="{789B8AA2-C797-6A65-8F18-1F3D8565FBA8}"/>
          </ac:picMkLst>
        </pc:picChg>
      </pc:sldChg>
      <pc:sldChg chg="modSp mod">
        <pc:chgData name="janghoon jun" userId="056a5883350c2f5e" providerId="LiveId" clId="{6DA654A6-03B0-40F7-A259-B276216985A6}" dt="2026-09-10T03:23:26.413" v="4549" actId="2710"/>
        <pc:sldMkLst>
          <pc:docMk/>
          <pc:sldMk cId="0" sldId="275"/>
        </pc:sldMkLst>
        <pc:spChg chg="mod">
          <ac:chgData name="janghoon jun" userId="056a5883350c2f5e" providerId="LiveId" clId="{6DA654A6-03B0-40F7-A259-B276216985A6}" dt="2026-09-10T03:23:26.413" v="4549" actId="2710"/>
          <ac:spMkLst>
            <pc:docMk/>
            <pc:sldMk cId="0" sldId="275"/>
            <ac:spMk id="4" creationId="{00000000-0000-0000-0000-000000000000}"/>
          </ac:spMkLst>
        </pc:spChg>
      </pc:sldChg>
      <pc:sldChg chg="addSp delSp modSp add mod">
        <pc:chgData name="janghoon jun" userId="056a5883350c2f5e" providerId="LiveId" clId="{6DA654A6-03B0-40F7-A259-B276216985A6}" dt="2026-09-10T05:02:27.064" v="4625" actId="1076"/>
        <pc:sldMkLst>
          <pc:docMk/>
          <pc:sldMk cId="1751739855" sldId="275"/>
        </pc:sldMkLst>
        <pc:spChg chg="mod">
          <ac:chgData name="janghoon jun" userId="056a5883350c2f5e" providerId="LiveId" clId="{6DA654A6-03B0-40F7-A259-B276216985A6}" dt="2026-09-10T05:02:08.939" v="4618"/>
          <ac:spMkLst>
            <pc:docMk/>
            <pc:sldMk cId="1751739855" sldId="275"/>
            <ac:spMk id="2" creationId="{6F7E1DCF-9740-40AC-B307-1426493A0AC5}"/>
          </ac:spMkLst>
        </pc:spChg>
        <pc:picChg chg="add mod">
          <ac:chgData name="janghoon jun" userId="056a5883350c2f5e" providerId="LiveId" clId="{6DA654A6-03B0-40F7-A259-B276216985A6}" dt="2026-09-10T05:02:27.064" v="4625" actId="1076"/>
          <ac:picMkLst>
            <pc:docMk/>
            <pc:sldMk cId="1751739855" sldId="275"/>
            <ac:picMk id="4" creationId="{84710ACD-2049-27DA-4399-427001462009}"/>
          </ac:picMkLst>
        </pc:picChg>
        <pc:picChg chg="del">
          <ac:chgData name="janghoon jun" userId="056a5883350c2f5e" providerId="LiveId" clId="{6DA654A6-03B0-40F7-A259-B276216985A6}" dt="2026-09-10T05:02:12.860" v="4620" actId="478"/>
          <ac:picMkLst>
            <pc:docMk/>
            <pc:sldMk cId="1751739855" sldId="275"/>
            <ac:picMk id="5" creationId="{9575D779-2B9E-87D3-6075-E635B5824B4E}"/>
          </ac:picMkLst>
        </pc:picChg>
      </pc:sldChg>
      <pc:sldChg chg="modSp mod">
        <pc:chgData name="janghoon jun" userId="056a5883350c2f5e" providerId="LiveId" clId="{6DA654A6-03B0-40F7-A259-B276216985A6}" dt="2026-09-10T03:21:51.722" v="4530" actId="255"/>
        <pc:sldMkLst>
          <pc:docMk/>
          <pc:sldMk cId="0" sldId="276"/>
        </pc:sldMkLst>
        <pc:graphicFrameChg chg="modGraphic">
          <ac:chgData name="janghoon jun" userId="056a5883350c2f5e" providerId="LiveId" clId="{6DA654A6-03B0-40F7-A259-B276216985A6}" dt="2026-09-10T03:21:51.722" v="4530" actId="255"/>
          <ac:graphicFrameMkLst>
            <pc:docMk/>
            <pc:sldMk cId="0" sldId="276"/>
            <ac:graphicFrameMk id="3" creationId="{00000000-0000-0000-0000-000000000000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2:45.534" v="4632" actId="22"/>
        <pc:sldMkLst>
          <pc:docMk/>
          <pc:sldMk cId="1504938630" sldId="276"/>
        </pc:sldMkLst>
        <pc:spChg chg="mod">
          <ac:chgData name="janghoon jun" userId="056a5883350c2f5e" providerId="LiveId" clId="{6DA654A6-03B0-40F7-A259-B276216985A6}" dt="2026-09-10T05:02:40.704" v="4629"/>
          <ac:spMkLst>
            <pc:docMk/>
            <pc:sldMk cId="1504938630" sldId="276"/>
            <ac:spMk id="2" creationId="{913683FB-DF95-E126-F2AF-437AEE942621}"/>
          </ac:spMkLst>
        </pc:spChg>
        <pc:picChg chg="del">
          <ac:chgData name="janghoon jun" userId="056a5883350c2f5e" providerId="LiveId" clId="{6DA654A6-03B0-40F7-A259-B276216985A6}" dt="2026-09-10T05:02:45.004" v="4631" actId="478"/>
          <ac:picMkLst>
            <pc:docMk/>
            <pc:sldMk cId="1504938630" sldId="276"/>
            <ac:picMk id="4" creationId="{46693135-C301-9F06-2589-F08988C88813}"/>
          </ac:picMkLst>
        </pc:picChg>
        <pc:picChg chg="add">
          <ac:chgData name="janghoon jun" userId="056a5883350c2f5e" providerId="LiveId" clId="{6DA654A6-03B0-40F7-A259-B276216985A6}" dt="2026-09-10T05:02:45.534" v="4632" actId="22"/>
          <ac:picMkLst>
            <pc:docMk/>
            <pc:sldMk cId="1504938630" sldId="276"/>
            <ac:picMk id="5" creationId="{D4DA04F9-B60D-B9E9-17B8-B1E936BB0517}"/>
          </ac:picMkLst>
        </pc:picChg>
      </pc:sldChg>
      <pc:sldChg chg="add del">
        <pc:chgData name="janghoon jun" userId="056a5883350c2f5e" providerId="LiveId" clId="{6DA654A6-03B0-40F7-A259-B276216985A6}" dt="2026-09-10T05:03:12.292" v="4635" actId="47"/>
        <pc:sldMkLst>
          <pc:docMk/>
          <pc:sldMk cId="2410116862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2026-09-30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49F85-BE6B-5075-93DD-06C87EF09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CB01C-6DFB-662E-6D77-086F50A171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8B0F6-581D-F115-E541-F080CF8FE9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BEC81-8798-CC3F-98AB-C751B4C75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99801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47299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1074" y="2203269"/>
            <a:ext cx="843705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ko-KR" sz="2000" b="1" dirty="0" err="1">
                <a:solidFill>
                  <a:schemeClr val="bg1"/>
                </a:solidFill>
              </a:rPr>
              <a:t>Contribution</a:t>
            </a:r>
            <a:r>
              <a:rPr lang="ko-KR" altLang="ko-KR" sz="2000" b="1" dirty="0">
                <a:solidFill>
                  <a:schemeClr val="bg1"/>
                </a:solidFill>
              </a:rPr>
              <a:t> and </a:t>
            </a:r>
            <a:r>
              <a:rPr lang="ko-KR" altLang="ko-KR" sz="2000" b="1" dirty="0" err="1">
                <a:solidFill>
                  <a:schemeClr val="bg1"/>
                </a:solidFill>
              </a:rPr>
              <a:t>Limitations</a:t>
            </a:r>
            <a:r>
              <a:rPr lang="ko-KR" altLang="ko-KR" sz="2000" b="1" dirty="0">
                <a:solidFill>
                  <a:schemeClr val="bg1"/>
                </a:solidFill>
              </a:rPr>
              <a:t> of AEC and </a:t>
            </a:r>
            <a:r>
              <a:rPr lang="ko-KR" altLang="ko-KR" sz="2000" b="1" dirty="0" err="1">
                <a:solidFill>
                  <a:schemeClr val="bg1"/>
                </a:solidFill>
              </a:rPr>
              <a:t>Body</a:t>
            </a:r>
            <a:r>
              <a:rPr lang="ko-KR" altLang="ko-KR" sz="2000" b="1" dirty="0">
                <a:solidFill>
                  <a:schemeClr val="bg1"/>
                </a:solidFill>
              </a:rPr>
              <a:t> </a:t>
            </a:r>
            <a:r>
              <a:rPr lang="ko-KR" altLang="ko-KR" sz="2000" b="1" dirty="0" err="1">
                <a:solidFill>
                  <a:schemeClr val="bg1"/>
                </a:solidFill>
              </a:rPr>
              <a:t>Composition</a:t>
            </a:r>
            <a:r>
              <a:rPr lang="ko-KR" altLang="ko-KR" sz="2000" b="1" dirty="0">
                <a:solidFill>
                  <a:schemeClr val="bg1"/>
                </a:solidFill>
              </a:rPr>
              <a:t> </a:t>
            </a:r>
            <a:r>
              <a:rPr lang="ko-KR" altLang="ko-KR" sz="2000" b="1" dirty="0" err="1">
                <a:solidFill>
                  <a:schemeClr val="bg1"/>
                </a:solidFill>
              </a:rPr>
              <a:t>Curves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r>
              <a:rPr lang="ko-KR" altLang="ko-KR" sz="2000" b="1" dirty="0" err="1">
                <a:solidFill>
                  <a:schemeClr val="bg1"/>
                </a:solidFill>
              </a:rPr>
              <a:t>in</a:t>
            </a:r>
            <a:r>
              <a:rPr lang="ko-KR" altLang="ko-KR" sz="2000" b="1" dirty="0">
                <a:solidFill>
                  <a:schemeClr val="bg1"/>
                </a:solidFill>
              </a:rPr>
              <a:t> </a:t>
            </a:r>
            <a:r>
              <a:rPr lang="ko-KR" altLang="ko-KR" sz="2000" b="1" dirty="0" err="1">
                <a:solidFill>
                  <a:schemeClr val="bg1"/>
                </a:solidFill>
              </a:rPr>
              <a:t>Chronic</a:t>
            </a:r>
            <a:r>
              <a:rPr lang="ko-KR" altLang="ko-KR" sz="2000" b="1" dirty="0">
                <a:solidFill>
                  <a:schemeClr val="bg1"/>
                </a:solidFill>
              </a:rPr>
              <a:t> </a:t>
            </a:r>
            <a:r>
              <a:rPr lang="ko-KR" altLang="ko-KR" sz="2000" b="1" dirty="0" err="1">
                <a:solidFill>
                  <a:schemeClr val="bg1"/>
                </a:solidFill>
              </a:rPr>
              <a:t>Disease</a:t>
            </a:r>
            <a:r>
              <a:rPr lang="ko-KR" altLang="ko-KR" sz="2000" b="1" dirty="0">
                <a:solidFill>
                  <a:schemeClr val="bg1"/>
                </a:solidFill>
              </a:rPr>
              <a:t> </a:t>
            </a:r>
            <a:r>
              <a:rPr lang="ko-KR" altLang="ko-KR" sz="2000" b="1" dirty="0" err="1">
                <a:solidFill>
                  <a:schemeClr val="bg1"/>
                </a:solidFill>
              </a:rPr>
              <a:t>Prediction</a:t>
            </a:r>
            <a:endParaRPr sz="36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1074" y="3091544"/>
            <a:ext cx="132921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chemeClr val="bg1"/>
                </a:solidFill>
              </a:rPr>
              <a:t>2026. 10. 02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1074" y="3548744"/>
            <a:ext cx="19468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chemeClr val="bg1"/>
                </a:solidFill>
              </a:rPr>
              <a:t>JangHoon Chun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074" y="4005944"/>
            <a:ext cx="5093254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chemeClr val="bg1"/>
                </a:solidFill>
              </a:rPr>
              <a:t>Department of, Medical Device Engineering &amp; Management</a:t>
            </a:r>
          </a:p>
          <a:p>
            <a:r>
              <a:rPr sz="1400">
                <a:solidFill>
                  <a:schemeClr val="bg1"/>
                </a:solidFill>
              </a:rPr>
              <a:t>Gangnam Severance Hospital,</a:t>
            </a:r>
          </a:p>
          <a:p>
            <a:r>
              <a:rPr sz="1400">
                <a:solidFill>
                  <a:schemeClr val="bg1"/>
                </a:solidFill>
              </a:rPr>
              <a:t>Yonsei University College of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dirty="0"/>
              <a:t>Background</a:t>
            </a:r>
            <a:r>
              <a:rPr lang="ko-KR" altLang="en-US" dirty="0"/>
              <a:t> </a:t>
            </a:r>
            <a:r>
              <a:rPr lang="en-US" altLang="ko-KR" dirty="0"/>
              <a:t>&amp;</a:t>
            </a:r>
            <a:r>
              <a:rPr lang="ko-KR" altLang="en-US" dirty="0"/>
              <a:t> </a:t>
            </a:r>
            <a:r>
              <a:rPr lang="en-US" dirty="0"/>
              <a:t>Objective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 wrap="square"/>
          <a:lstStyle/>
          <a:p>
            <a:r>
              <a:rPr lang="en-US" altLang="ko-KR" sz="1800" dirty="0"/>
              <a:t>성별·나이·키·몸무게 같은 기본 정보만으로 고혈압·당뇨병·만성신장질환을 얼마나 구분할 수 있는지 확인</a:t>
            </a:r>
          </a:p>
          <a:p>
            <a:r>
              <a:rPr lang="en-US" altLang="ko-KR" sz="1800" dirty="0"/>
              <a:t>AEC와 체성분 곡선을 더하면 예측력이 더 좋아지는지 평가</a:t>
            </a:r>
          </a:p>
          <a:p>
            <a:r>
              <a:rPr lang="ko-KR" altLang="en-US" sz="1800" dirty="0"/>
              <a:t>곡선을 다듬는 방법과 사용 부위를 바꿔가며 더 나은 표현 방식 탐색</a:t>
            </a:r>
            <a:endParaRPr lang="en-US" altLang="ko-KR" sz="1800" dirty="0"/>
          </a:p>
          <a:p>
            <a:r>
              <a:rPr lang="ko-KR" altLang="en-US" sz="1800" dirty="0"/>
              <a:t>강남 데이터로 모델을 만들고 신촌 데이터로 따로 검증해 두 병원에서 결과가 일관되는지 확인</a:t>
            </a:r>
          </a:p>
          <a:p>
            <a:r>
              <a:rPr lang="ko-KR" altLang="en-US" sz="1800" dirty="0"/>
              <a:t>목적: AEC·체성분 정보 추가가 기본 정보 대비 얼마나, 병원 간 일관되게 도움이 되는지 확인</a:t>
            </a:r>
            <a:endParaRPr lang="en-US" altLang="ko-KR" sz="1800" dirty="0"/>
          </a:p>
          <a:p>
            <a:pPr lvl="1"/>
            <a:r>
              <a:rPr lang="ko-KR" altLang="en-US" sz="1600" dirty="0"/>
              <a:t>일관되지 않으면 원인과 다음 단계 제시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F63E61-31BA-0C84-5523-4F90057F2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Methods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2A07828-50EF-3A57-FEBD-8ED533A26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0BB67651-C328-EB2B-995B-89B4F6872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638118"/>
              </p:ext>
            </p:extLst>
          </p:nvPr>
        </p:nvGraphicFramePr>
        <p:xfrm>
          <a:off x="512064" y="978408"/>
          <a:ext cx="11173968" cy="512463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728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463"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Item</a:t>
                      </a:r>
                      <a:r>
                        <a:rPr lang="en-US" sz="1200" b="1" dirty="0"/>
                        <a:t>s</a:t>
                      </a:r>
                      <a:endParaRPr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/>
                        <a:t>Detail</a:t>
                      </a:r>
                      <a:r>
                        <a:rPr lang="en-US" sz="1200" b="1" dirty="0"/>
                        <a:t>s</a:t>
                      </a:r>
                      <a:endParaRPr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463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Internal(강남, 1,260명)로 모델 개발·내부검증, External(신촌, 1,123명)로 외부검증 — 둘 다 한 시점에 찍은 단면 데이터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463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Clinic4 = 성별·나이·키·몸무게(강남 기준으로 표준화)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463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Outcome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고혈압·당뇨병·만성신장질환을 각각 별도 로지스틱 회귀로 예측(질병마다 데이터 나누는 것도 따로)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463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하이퍼파라미터 튜닝과 최종 성능 평가 모두 Internal 전체에 5-fold CV 적용(질병 비율 맞춰 환자 단위로 5등분, hold-out 없음)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463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Tuning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GridSearchCV로 C·penalty(l1/l2)·class_weight 탐색(같은 5-fold CV 평균 AUC 기준으로 선택, 별도 검증용 fold 없음)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463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Cutoff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5-fold CV에서 각 환자가 검증셋일 때 나온 예측값(OOF)을 모아 Youden index가 최대인 지점을 판단 기준(cutoff)으로 정함(양성이 21~386명뿐이라 더 안정적). 이 기준을 신촌에도 동일 적용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463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신촌 검증에는 강남 전체 데이터로 다시 학습한 고정 모델 사용(하이퍼파라미터는 재탐색 없이 앞서 고른 값 그대로)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2463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Extended 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AEC와 체성분(VAT/SAT/LAMA/NAMA/IMATA) 곡선(간~치골 128구간)을 각각 압축(FPCA)해서 입력에 추가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2463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/>
                        <a:t>Internal 성능은 OOF 예측으로, External 성능은 고정 모델 예측으로 보고. Baseline 대비 개선 여부는 환자 단위로 짝지은 DeLong 검정으로 확인(* p&lt;0.05, 다중비교 보정 전)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Table 1. </a:t>
            </a:r>
            <a:r>
              <a:rPr lang="en-US" dirty="0"/>
              <a:t>Data Distribution</a:t>
            </a:r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8D9492-77D8-9D4C-A0F4-E86DA11F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19668D4E-DE34-866A-B6AF-99A0B01D16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553250"/>
              </p:ext>
            </p:extLst>
          </p:nvPr>
        </p:nvGraphicFramePr>
        <p:xfrm>
          <a:off x="512064" y="978408"/>
          <a:ext cx="11173968" cy="48960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793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34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34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Characteristic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Gangnam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Sinchon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p-value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n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1260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1123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195105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Sex (Male), n (%)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475 (37.7%)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547 (48.7%)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&lt;0.001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57.3 ± 12.1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59.7 ± 12.3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Height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162.8 ± 8.0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163.7 ± 8.3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Weight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62.0 ± 10.1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62.4 ± 10.1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0.359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BMI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23.3 ± 2.9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23.2 ± 2.9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0.322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SMI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6873.5 ± 1562.8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6661.3 ± 1639.9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0.108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VAT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8486.2 ± 5165.1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9096.4 ± 5280.4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SAT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19243.6 ± 7914.4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17914.4 ± 8631.1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IMATA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1175.5 ± 576.0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1224.9 ± 617.6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NAMA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14279.5 ± 4408.5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12931.5 ± 4709.8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LAMA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4127.4 ± 1962.2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5093.2 ± 2123.8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TAMA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18406.9 ± 5171.0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18024.7 ± 5311.8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0.378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HTN, n (%)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386 (30.6%)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507 (45.1%)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DM, n (%)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233 (18.5%)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335 (29.8%)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CKD, n (%)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105 (8.3%)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188 (16.7%)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&lt;0.001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D7D40-A40F-D86B-87EB-CCF489E70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C7D85-A2F6-60D0-F6A5-60814AC6B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Table 2-1. Performance (</a:t>
            </a:r>
            <a:r>
              <a:rPr lang="ko-KR" altLang="en-US" dirty="0"/>
              <a:t>고혈압</a:t>
            </a:r>
            <a:r>
              <a:rPr lang="en-US" altLang="ko-KR" dirty="0"/>
              <a:t>)</a:t>
            </a:r>
            <a:endParaRPr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9EA3E0-D96A-A2BA-A35E-EC0C2A12A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>
                <a:latin typeface="Malgun Gothic"/>
              </a:rPr>
              <a:t>고혈압은 </a:t>
            </a:r>
            <a:r>
              <a:rPr lang="en-US" altLang="ko-KR" b="1" dirty="0" err="1">
                <a:latin typeface="Malgun Gothic"/>
              </a:rPr>
              <a:t>Internal·External</a:t>
            </a:r>
            <a:r>
              <a:rPr lang="ko-KR" altLang="en-US" b="1" dirty="0">
                <a:latin typeface="Malgun Gothic"/>
              </a:rPr>
              <a:t> 모두 </a:t>
            </a:r>
            <a:r>
              <a:rPr lang="en-US" altLang="ko-KR" b="1" dirty="0">
                <a:latin typeface="Malgun Gothic"/>
              </a:rPr>
              <a:t>+AEC+</a:t>
            </a:r>
            <a:r>
              <a:rPr lang="ko-KR" altLang="en-US" b="1" dirty="0">
                <a:latin typeface="Malgun Gothic"/>
              </a:rPr>
              <a:t>체성분에서 유의하게 개선</a:t>
            </a:r>
            <a:r>
              <a:rPr lang="en-US" altLang="ko-KR" b="1" dirty="0">
                <a:latin typeface="Malgun Gothic"/>
              </a:rPr>
              <a:t>(*)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441B7B-3AE6-9E7F-F342-E41FDEC84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90977E91-04F5-0389-7AC3-3919F7C4B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773555"/>
              </p:ext>
            </p:extLst>
          </p:nvPr>
        </p:nvGraphicFramePr>
        <p:xfrm>
          <a:off x="1207389" y="1703695"/>
          <a:ext cx="9777222" cy="41148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96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65310"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Fold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n (pos)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Sensitivity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Specificity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310">
                <a:tc rowSpan="7"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Baseline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78/252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77/252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77/252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Fold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77/252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Fold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77/252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0.818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6160383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Mean ± 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386/1260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0.796 ± 0.018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0.697 ± 0.017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0.811 ± 0.048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0.646 ± 0.013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5784829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507/1123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0.718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0.657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0.779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0.557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5310">
                <a:tc rowSpan="7"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+</a:t>
                      </a:r>
                      <a:r>
                        <a:rPr sz="1200" b="0" dirty="0" err="1"/>
                        <a:t>AEC+체성분</a:t>
                      </a:r>
                      <a:endParaRPr sz="1200" b="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78/252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0.603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77/252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Fold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77/252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Fold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77/252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Fold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77/252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0.844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0.566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5901359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Mean ± 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386/1260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0.811 ± 0.032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0.681 ± 0.027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0.878 ± 0.059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0.594 ± 0.023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0054438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External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507/1123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0.866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0.437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0260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C5CBC-589B-4723-0E43-E5ABCAA1D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9FDF4-E1BC-1269-387B-B768D21FF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Table 2-2. Performance (</a:t>
            </a:r>
            <a:r>
              <a:rPr lang="ko-KR" altLang="en-US" dirty="0"/>
              <a:t>당뇨</a:t>
            </a:r>
            <a:r>
              <a:rPr lang="en-US" altLang="ko-KR" dirty="0"/>
              <a:t>)</a:t>
            </a:r>
            <a:endParaRPr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28AA9A-238F-3352-BAAE-FACE7530D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>
                <a:latin typeface="Malgun Gothic"/>
              </a:rPr>
              <a:t>당뇨는 </a:t>
            </a:r>
            <a:r>
              <a:rPr lang="en-US" altLang="ko-KR" b="1" dirty="0">
                <a:latin typeface="Malgun Gothic"/>
              </a:rPr>
              <a:t>External</a:t>
            </a:r>
            <a:r>
              <a:rPr lang="ko-KR" altLang="en-US" b="1" dirty="0">
                <a:latin typeface="Malgun Gothic"/>
              </a:rPr>
              <a:t>에서만 유의하게 개선</a:t>
            </a:r>
            <a:r>
              <a:rPr lang="en-US" altLang="ko-KR" b="1" dirty="0">
                <a:latin typeface="Malgun Gothic"/>
              </a:rPr>
              <a:t>, Internal</a:t>
            </a:r>
            <a:r>
              <a:rPr lang="ko-KR" altLang="en-US" b="1" dirty="0">
                <a:latin typeface="Malgun Gothic"/>
              </a:rPr>
              <a:t>은 경향성 수준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722C88-730F-04F9-8836-A744F4D6C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8F8EEB78-5521-9A13-8034-C5BA53C478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862288"/>
              </p:ext>
            </p:extLst>
          </p:nvPr>
        </p:nvGraphicFramePr>
        <p:xfrm>
          <a:off x="1207389" y="1703695"/>
          <a:ext cx="9777222" cy="41148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96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65310"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Fold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n (pos)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Sensitivity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Specificity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310">
                <a:tc rowSpan="7"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Baseline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47/252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0.532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47/252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47/252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46/252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Fold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46/252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0.583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0.848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0.524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6160383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Mean ± 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233/1260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0.712 ± 0.049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0.599 ± 0.023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0.790 ± 0.065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0.556 ± 0.030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5784829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335/1123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0.554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0.761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0.466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5310">
                <a:tc rowSpan="7"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+</a:t>
                      </a:r>
                      <a:r>
                        <a:rPr sz="1200" b="0" dirty="0" err="1"/>
                        <a:t>AEC+체성분</a:t>
                      </a:r>
                      <a:endParaRPr sz="1200" b="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47/252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0.579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0.551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47/252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47/252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Fold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46/252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Fold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46/252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0.848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0.549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5901359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Mean ± 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233/1260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0.736 ± 0.039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0.611 ± 0.032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0.820 ± 0.061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0.564 ± 0.031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0054438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335/1123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0.875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0.346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0205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9C41C-B736-2A3C-FA7E-33CB9E60A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0F03D-0840-49FE-32DC-A43A26B4A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Table 2-3. Performance (</a:t>
            </a:r>
            <a:r>
              <a:rPr lang="ko-KR" altLang="en-US" dirty="0"/>
              <a:t>만성신장질환</a:t>
            </a:r>
            <a:r>
              <a:rPr lang="en-US" altLang="ko-KR" dirty="0"/>
              <a:t>)</a:t>
            </a:r>
            <a:endParaRPr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AF5151-6CBC-9D7A-11FD-964A5E9D6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>
                <a:latin typeface="Malgun Gothic"/>
              </a:rPr>
              <a:t>만성신장질환은 </a:t>
            </a:r>
            <a:r>
              <a:rPr lang="en-US" altLang="ko-KR" b="1" dirty="0">
                <a:latin typeface="Malgun Gothic"/>
              </a:rPr>
              <a:t>External</a:t>
            </a:r>
            <a:r>
              <a:rPr lang="ko-KR" altLang="en-US" b="1" dirty="0">
                <a:latin typeface="Malgun Gothic"/>
              </a:rPr>
              <a:t>에서만 유의</a:t>
            </a:r>
            <a:r>
              <a:rPr lang="en-US" altLang="ko-KR" b="1" dirty="0">
                <a:latin typeface="Malgun Gothic"/>
              </a:rPr>
              <a:t>, Internal </a:t>
            </a:r>
            <a:r>
              <a:rPr lang="ko-KR" altLang="en-US" b="1" dirty="0">
                <a:latin typeface="Malgun Gothic"/>
              </a:rPr>
              <a:t>개선은 유의하지 않음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CF566B-EB1E-C85D-9D99-37EE8E202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149EF566-78E2-669D-49A8-1B22377BBF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660053"/>
              </p:ext>
            </p:extLst>
          </p:nvPr>
        </p:nvGraphicFramePr>
        <p:xfrm>
          <a:off x="1207389" y="1703695"/>
          <a:ext cx="9777222" cy="41148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96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65310"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Fold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n (pos)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ACC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Sensitivity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Specificity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310">
                <a:tc rowSpan="7"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Baseline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21/252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21/252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21/252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Fold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21/252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Fold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21/252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6160383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Mean ± 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105/1260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0.770 ± 0.034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0.646 ± 0.044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0.810 ± 0.080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0.631 ± 0.049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5784829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188/1123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0.539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0.518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5310">
                <a:tc rowSpan="7"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+</a:t>
                      </a:r>
                      <a:r>
                        <a:rPr sz="1200" b="0" dirty="0" err="1"/>
                        <a:t>AEC+체성분</a:t>
                      </a:r>
                      <a:endParaRPr sz="1200" b="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21/252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0.647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0.857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0.628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21/252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Fold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21/252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Fold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21/252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Fold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21/252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5901359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Mean ± 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105/1260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0.784 ± 0.034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0.660 ± 0.046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0.810 ± 0.067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0.646 ± 0.055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0054438"/>
                  </a:ext>
                </a:extLst>
              </a:tr>
              <a:tr h="16531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188/1123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0.487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0.840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0.416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9664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Table 3. Coefficient 비교 (Baseline vs Best)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891E5D-39AF-0C58-D5D9-BF4A51EBF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>
                <a:latin typeface="Malgun Gothic"/>
              </a:rPr>
              <a:t>AEC+</a:t>
            </a:r>
            <a:r>
              <a:rPr lang="ko-KR" altLang="en-US" sz="1600" b="1" dirty="0" err="1">
                <a:latin typeface="Malgun Gothic"/>
              </a:rPr>
              <a:t>체성분</a:t>
            </a:r>
            <a:r>
              <a:rPr lang="ko-KR" altLang="en-US" sz="1600" b="1" dirty="0">
                <a:latin typeface="Malgun Gothic"/>
              </a:rPr>
              <a:t> 추가 후 성별</a:t>
            </a:r>
            <a:r>
              <a:rPr lang="en-US" altLang="ko-KR" sz="1600" b="1" dirty="0">
                <a:latin typeface="Malgun Gothic"/>
              </a:rPr>
              <a:t>·</a:t>
            </a:r>
            <a:r>
              <a:rPr lang="ko-KR" altLang="en-US" sz="1600" b="1" dirty="0">
                <a:latin typeface="Malgun Gothic"/>
              </a:rPr>
              <a:t>나이는 유의성 유지</a:t>
            </a:r>
            <a:r>
              <a:rPr lang="en-US" altLang="ko-KR" sz="1600" b="1" dirty="0">
                <a:latin typeface="Malgun Gothic"/>
              </a:rPr>
              <a:t>, </a:t>
            </a:r>
            <a:r>
              <a:rPr lang="ko-KR" altLang="en-US" sz="1600" b="1" dirty="0">
                <a:latin typeface="Malgun Gothic"/>
              </a:rPr>
              <a:t>키</a:t>
            </a:r>
            <a:r>
              <a:rPr lang="en-US" altLang="ko-KR" sz="1600" b="1" dirty="0">
                <a:latin typeface="Malgun Gothic"/>
              </a:rPr>
              <a:t>·</a:t>
            </a:r>
            <a:r>
              <a:rPr lang="ko-KR" altLang="en-US" sz="1600" b="1" dirty="0">
                <a:latin typeface="Malgun Gothic"/>
              </a:rPr>
              <a:t>몸무게는 대부분 유의성 상실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8D9492-77D8-9D4C-A0F4-E86DA11F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443965"/>
              </p:ext>
            </p:extLst>
          </p:nvPr>
        </p:nvGraphicFramePr>
        <p:xfrm>
          <a:off x="512064" y="1460666"/>
          <a:ext cx="11175998" cy="48660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9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9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9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29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29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2432">
                <a:tc>
                  <a:txBody>
                    <a:bodyPr/>
                    <a:lstStyle/>
                    <a:p>
                      <a:pPr algn="ctr"/>
                      <a:r>
                        <a:rPr sz="1100" b="1" dirty="0"/>
                        <a:t>Disease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/>
                        <a:t>Term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100" b="1" dirty="0"/>
                        <a:t>Baseline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100" b="1"/>
                        <a:t>Best (+AEC+체성분)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728"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Coefficient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Odds Ratio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p-value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Coefficient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Odds Ratio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p-value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32">
                <a:tc rowSpan="4">
                  <a:txBody>
                    <a:bodyPr/>
                    <a:lstStyle/>
                    <a:p>
                      <a:pPr algn="ctr"/>
                      <a:r>
                        <a:rPr sz="1100" b="0" dirty="0" err="1"/>
                        <a:t>고혈압</a:t>
                      </a:r>
                      <a:r>
                        <a:rPr sz="1100" b="0" dirty="0"/>
                        <a:t>(HTN)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Sex (M)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1.045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2.844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&lt;0.001*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1.346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3.842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0.001*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728">
                <a:tc vMerge="1"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Age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1.066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2.904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&lt;0.001*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2.266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&lt;0.001*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728">
                <a:tc vMerge="1"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Height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-0.407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0.005*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-0.112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0.495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728">
                <a:tc vMerge="1"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Weight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0.589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1.803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&lt;0.001*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0.142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1.152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0.493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432">
                <a:tc rowSpan="4">
                  <a:txBody>
                    <a:bodyPr/>
                    <a:lstStyle/>
                    <a:p>
                      <a:pPr algn="ctr"/>
                      <a:r>
                        <a:rPr sz="1100" b="0" dirty="0" err="1"/>
                        <a:t>당뇨병</a:t>
                      </a:r>
                      <a:r>
                        <a:rPr sz="1100" b="0" dirty="0"/>
                        <a:t>(DM)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Sex (M)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1.861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0.050*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0.396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1.485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0.428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728">
                <a:tc vMerge="1"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Age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1.913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&lt;0.001*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0.490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1.632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0.007*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728">
                <a:tc vMerge="1"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Height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-0.606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0.545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&lt;0.001*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-0.368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0.692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0.065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728">
                <a:tc vMerge="1"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Weight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2.121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&lt;0.001*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0.428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1.535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0.092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432">
                <a:tc rowSpan="4">
                  <a:txBody>
                    <a:bodyPr/>
                    <a:lstStyle/>
                    <a:p>
                      <a:pPr algn="ctr"/>
                      <a:r>
                        <a:rPr sz="1100" b="0" dirty="0" err="1"/>
                        <a:t>만성신장질환</a:t>
                      </a:r>
                      <a:r>
                        <a:rPr sz="1100" b="0" dirty="0"/>
                        <a:t>(CKD)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Sex (M)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0.950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2.585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0.042*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1.421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4.142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0.058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6728">
                <a:tc vMerge="1"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Age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2.084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&lt;0.001*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0.461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1.586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0.095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6728">
                <a:tc vMerge="1"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Height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-0.146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0.864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0.565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-0.236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0.790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0.449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6728">
                <a:tc vMerge="1"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Weight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0.545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1.724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0.013*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0.481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1.618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0.249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Figure 1. FPCA Inverse Transform (AEC)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30690C-CB5E-CA5A-DE9D-751E6647A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>
                <a:latin typeface="Malgun Gothic"/>
              </a:rPr>
              <a:t>특정 </a:t>
            </a:r>
            <a:r>
              <a:rPr lang="en-US" altLang="ko-KR" b="1" dirty="0">
                <a:latin typeface="Malgun Gothic"/>
              </a:rPr>
              <a:t>slice </a:t>
            </a:r>
            <a:r>
              <a:rPr lang="ko-KR" altLang="en-US" b="1" dirty="0">
                <a:latin typeface="Malgun Gothic"/>
              </a:rPr>
              <a:t>구간이 </a:t>
            </a:r>
            <a:r>
              <a:rPr lang="en-US" altLang="ko-KR" b="1" dirty="0">
                <a:latin typeface="Malgun Gothic"/>
              </a:rPr>
              <a:t>logit</a:t>
            </a:r>
            <a:r>
              <a:rPr lang="ko-KR" altLang="en-US" b="1" dirty="0">
                <a:latin typeface="Malgun Gothic"/>
              </a:rPr>
              <a:t>에 크게 기여하지만</a:t>
            </a:r>
            <a:r>
              <a:rPr lang="en-US" altLang="ko-KR" b="1" dirty="0">
                <a:latin typeface="Malgun Gothic"/>
              </a:rPr>
              <a:t>, </a:t>
            </a:r>
            <a:r>
              <a:rPr lang="ko-KR" altLang="en-US" b="1" dirty="0">
                <a:latin typeface="Malgun Gothic"/>
              </a:rPr>
              <a:t>위치 일관성은 </a:t>
            </a:r>
            <a:r>
              <a:rPr lang="ko-KR" altLang="en-US" b="1" dirty="0" err="1">
                <a:latin typeface="Malgun Gothic"/>
              </a:rPr>
              <a:t>미검증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985A2A-E881-0F89-38EF-8306EF68B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pic>
        <p:nvPicPr>
          <p:cNvPr id="5" name="Picture 4" descr="fig_fpca_recovered_cv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812276"/>
            <a:ext cx="11176000" cy="38061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t>Discussion — 체성분 효과, 병원마다 다름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4" y="1131824"/>
            <a:ext cx="11173968" cy="3460053"/>
          </a:xfrm>
        </p:spPr>
        <p:txBody>
          <a:bodyPr wrap="square">
            <a:normAutofit lnSpcReduction="10000"/>
          </a:bodyPr>
          <a:lstStyle/>
          <a:p>
            <a:r>
              <a:rPr sz="1800" dirty="0"/>
              <a:t>AEC 단독 추가는 효과 작음(신촌도 3개 질환 중 2개만 유의). 체성분까지 더하면 효과 커지나 주로 신촌 위주로 유의</a:t>
            </a:r>
          </a:p>
          <a:p>
            <a:r>
              <a:rPr sz="1800" dirty="0" err="1"/>
              <a:t>같은</a:t>
            </a:r>
            <a:r>
              <a:rPr sz="1800" dirty="0"/>
              <a:t> </a:t>
            </a:r>
            <a:r>
              <a:rPr sz="1800" dirty="0" err="1"/>
              <a:t>정보</a:t>
            </a:r>
            <a:r>
              <a:rPr sz="1800" dirty="0"/>
              <a:t> </a:t>
            </a:r>
            <a:r>
              <a:rPr sz="1800" dirty="0" err="1"/>
              <a:t>추가라도</a:t>
            </a:r>
            <a:r>
              <a:rPr sz="1800" dirty="0"/>
              <a:t> </a:t>
            </a:r>
            <a:r>
              <a:rPr sz="1800" dirty="0" err="1"/>
              <a:t>부위·질환·병원에</a:t>
            </a:r>
            <a:r>
              <a:rPr sz="1800" dirty="0"/>
              <a:t> </a:t>
            </a:r>
            <a:r>
              <a:rPr sz="1800" dirty="0" err="1"/>
              <a:t>따라</a:t>
            </a:r>
            <a:r>
              <a:rPr sz="1800" dirty="0"/>
              <a:t> </a:t>
            </a:r>
            <a:r>
              <a:rPr sz="1800" dirty="0" err="1"/>
              <a:t>효과</a:t>
            </a:r>
            <a:r>
              <a:rPr sz="1800" dirty="0"/>
              <a:t> </a:t>
            </a:r>
            <a:r>
              <a:rPr sz="1800" dirty="0" err="1"/>
              <a:t>크기</a:t>
            </a:r>
            <a:r>
              <a:rPr sz="1800" dirty="0"/>
              <a:t> </a:t>
            </a:r>
            <a:r>
              <a:rPr sz="1800" dirty="0" err="1"/>
              <a:t>상이</a:t>
            </a:r>
            <a:endParaRPr lang="en-US" sz="1800" dirty="0"/>
          </a:p>
          <a:p>
            <a:pPr lvl="1"/>
            <a:r>
              <a:rPr sz="1600" dirty="0"/>
              <a:t>예: </a:t>
            </a:r>
            <a:r>
              <a:rPr sz="1600" dirty="0" err="1"/>
              <a:t>만성신장질환·강남은</a:t>
            </a:r>
            <a:r>
              <a:rPr sz="1600" dirty="0"/>
              <a:t> </a:t>
            </a:r>
            <a:r>
              <a:rPr sz="1600" dirty="0" err="1"/>
              <a:t>체성분만</a:t>
            </a:r>
            <a:r>
              <a:rPr sz="1600" dirty="0"/>
              <a:t> </a:t>
            </a:r>
            <a:r>
              <a:rPr sz="1600" dirty="0" err="1"/>
              <a:t>추가</a:t>
            </a:r>
            <a:r>
              <a:rPr sz="1600" dirty="0"/>
              <a:t> 시 +0.015, </a:t>
            </a:r>
            <a:r>
              <a:rPr sz="1600" dirty="0" err="1"/>
              <a:t>AEC만</a:t>
            </a:r>
            <a:r>
              <a:rPr sz="1600" dirty="0"/>
              <a:t> </a:t>
            </a:r>
            <a:r>
              <a:rPr sz="1600" dirty="0" err="1"/>
              <a:t>추가</a:t>
            </a:r>
            <a:r>
              <a:rPr sz="1600" dirty="0"/>
              <a:t> 시 -0.016</a:t>
            </a:r>
          </a:p>
          <a:p>
            <a:r>
              <a:rPr sz="1800" dirty="0" err="1"/>
              <a:t>추정 원인: 자르는 범위(간~치골)는 같아도 환자마다 장기 위치·비율이 달라 같은 단면 순번이 다른 신체 부위를 가리킬 가능성</a:t>
            </a:r>
            <a:endParaRPr sz="1800" dirty="0"/>
          </a:p>
          <a:p>
            <a:r>
              <a:rPr sz="1800" dirty="0" err="1"/>
              <a:t>한계: 위 위치 불일치는 직접 확인하지 않은 가설이며, 이번 발표는 관찰만 제시 — 추가 검증 필요</a:t>
            </a:r>
            <a:endParaRPr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F90836-9E69-7EFC-2877-0FBBA2FAD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 wrap="square"/>
          <a:lstStyle/>
          <a:p>
            <a:r>
              <a:rPr sz="1800" dirty="0" err="1"/>
              <a:t>기본</a:t>
            </a:r>
            <a:r>
              <a:rPr sz="1800" dirty="0"/>
              <a:t> </a:t>
            </a:r>
            <a:r>
              <a:rPr sz="1800" dirty="0" err="1"/>
              <a:t>정보</a:t>
            </a:r>
            <a:r>
              <a:rPr sz="1800" dirty="0"/>
              <a:t>(</a:t>
            </a:r>
            <a:r>
              <a:rPr sz="1800" dirty="0" err="1"/>
              <a:t>성별·나이·키·몸무게</a:t>
            </a:r>
            <a:r>
              <a:rPr sz="1800" dirty="0"/>
              <a:t>)</a:t>
            </a:r>
            <a:r>
              <a:rPr sz="1800" dirty="0" err="1"/>
              <a:t>만으로</a:t>
            </a:r>
            <a:r>
              <a:rPr sz="1800" dirty="0"/>
              <a:t> </a:t>
            </a:r>
            <a:r>
              <a:rPr sz="1800" dirty="0" err="1"/>
              <a:t>예측력</a:t>
            </a:r>
            <a:r>
              <a:rPr sz="1800" dirty="0"/>
              <a:t> AUC </a:t>
            </a:r>
            <a:r>
              <a:rPr sz="1800" dirty="0" err="1"/>
              <a:t>강남</a:t>
            </a:r>
            <a:r>
              <a:rPr sz="1800" dirty="0"/>
              <a:t> 0.71~0.80, </a:t>
            </a:r>
            <a:r>
              <a:rPr sz="1800" dirty="0" err="1"/>
              <a:t>신촌</a:t>
            </a:r>
            <a:r>
              <a:rPr sz="1800" dirty="0"/>
              <a:t> 0.62~0.72 </a:t>
            </a:r>
            <a:r>
              <a:rPr sz="1800" dirty="0" err="1"/>
              <a:t>수준</a:t>
            </a:r>
            <a:endParaRPr sz="1800" dirty="0"/>
          </a:p>
          <a:p>
            <a:r>
              <a:rPr sz="1800" dirty="0" err="1"/>
              <a:t>AEC만</a:t>
            </a:r>
            <a:r>
              <a:rPr sz="1800" dirty="0"/>
              <a:t> </a:t>
            </a:r>
            <a:r>
              <a:rPr sz="1800" dirty="0" err="1"/>
              <a:t>추가</a:t>
            </a:r>
            <a:r>
              <a:rPr sz="1800" dirty="0"/>
              <a:t> 시 </a:t>
            </a:r>
            <a:r>
              <a:rPr sz="1800" dirty="0" err="1"/>
              <a:t>예측력</a:t>
            </a:r>
            <a:r>
              <a:rPr sz="1800" dirty="0"/>
              <a:t> </a:t>
            </a:r>
            <a:r>
              <a:rPr sz="1800" dirty="0" err="1"/>
              <a:t>변화</a:t>
            </a:r>
            <a:r>
              <a:rPr sz="1800" dirty="0"/>
              <a:t> </a:t>
            </a:r>
            <a:r>
              <a:rPr sz="1800" dirty="0" err="1"/>
              <a:t>미미</a:t>
            </a:r>
            <a:r>
              <a:rPr sz="1800" dirty="0"/>
              <a:t>(-0.017~+0.027), </a:t>
            </a:r>
            <a:r>
              <a:rPr sz="1800" dirty="0" err="1"/>
              <a:t>만성신장질환·강남은</a:t>
            </a:r>
            <a:r>
              <a:rPr sz="1800" dirty="0"/>
              <a:t> </a:t>
            </a:r>
            <a:r>
              <a:rPr sz="1800" dirty="0" err="1"/>
              <a:t>오히려</a:t>
            </a:r>
            <a:r>
              <a:rPr sz="1800" dirty="0"/>
              <a:t> </a:t>
            </a:r>
            <a:r>
              <a:rPr sz="1800" dirty="0" err="1"/>
              <a:t>하락</a:t>
            </a:r>
            <a:r>
              <a:rPr sz="1800" dirty="0"/>
              <a:t>(-0.017, Table S11)</a:t>
            </a:r>
          </a:p>
          <a:p>
            <a:r>
              <a:rPr sz="1800" dirty="0" err="1"/>
              <a:t>체성분까지</a:t>
            </a:r>
            <a:r>
              <a:rPr sz="1800" dirty="0"/>
              <a:t> </a:t>
            </a:r>
            <a:r>
              <a:rPr sz="1800" dirty="0" err="1"/>
              <a:t>추가</a:t>
            </a:r>
            <a:r>
              <a:rPr sz="1800" dirty="0"/>
              <a:t> 시 </a:t>
            </a:r>
            <a:r>
              <a:rPr sz="1800" dirty="0" err="1"/>
              <a:t>개선</a:t>
            </a:r>
            <a:r>
              <a:rPr sz="1800" dirty="0"/>
              <a:t>(+0.014~+0.066) — </a:t>
            </a:r>
            <a:r>
              <a:rPr sz="1800" dirty="0" err="1"/>
              <a:t>신촌은</a:t>
            </a:r>
            <a:r>
              <a:rPr sz="1800" dirty="0"/>
              <a:t> 3개 </a:t>
            </a:r>
            <a:r>
              <a:rPr sz="1800" dirty="0" err="1"/>
              <a:t>질환</a:t>
            </a:r>
            <a:r>
              <a:rPr sz="1800" dirty="0"/>
              <a:t> </a:t>
            </a:r>
            <a:r>
              <a:rPr sz="1800" dirty="0" err="1"/>
              <a:t>모두</a:t>
            </a:r>
            <a:r>
              <a:rPr sz="1800" dirty="0"/>
              <a:t> </a:t>
            </a:r>
            <a:r>
              <a:rPr sz="1800" dirty="0" err="1"/>
              <a:t>유의하나</a:t>
            </a:r>
            <a:r>
              <a:rPr sz="1800" dirty="0"/>
              <a:t> </a:t>
            </a:r>
            <a:r>
              <a:rPr sz="1800" dirty="0" err="1"/>
              <a:t>강남은</a:t>
            </a:r>
            <a:r>
              <a:rPr sz="1800" dirty="0"/>
              <a:t> </a:t>
            </a:r>
            <a:r>
              <a:rPr sz="1800" dirty="0" err="1"/>
              <a:t>고혈압</a:t>
            </a:r>
            <a:r>
              <a:rPr sz="1800" dirty="0"/>
              <a:t> 1개뿐이라 </a:t>
            </a:r>
            <a:r>
              <a:rPr sz="1800" dirty="0" err="1"/>
              <a:t>병원</a:t>
            </a:r>
            <a:r>
              <a:rPr sz="1800" dirty="0"/>
              <a:t> 간 </a:t>
            </a:r>
            <a:r>
              <a:rPr sz="1800" dirty="0" err="1"/>
              <a:t>일관성</a:t>
            </a:r>
            <a:r>
              <a:rPr sz="1800" dirty="0"/>
              <a:t> </a:t>
            </a:r>
            <a:r>
              <a:rPr sz="1800" dirty="0" err="1"/>
              <a:t>부족</a:t>
            </a:r>
            <a:endParaRPr sz="1800" dirty="0"/>
          </a:p>
          <a:p>
            <a:r>
              <a:rPr sz="1800" dirty="0" err="1"/>
              <a:t>한계</a:t>
            </a:r>
            <a:r>
              <a:rPr sz="1800" dirty="0"/>
              <a:t>: </a:t>
            </a:r>
            <a:r>
              <a:rPr sz="1800" dirty="0" err="1"/>
              <a:t>자르는</a:t>
            </a:r>
            <a:r>
              <a:rPr sz="1800" dirty="0"/>
              <a:t> </a:t>
            </a:r>
            <a:r>
              <a:rPr sz="1800" dirty="0" err="1"/>
              <a:t>범위가</a:t>
            </a:r>
            <a:r>
              <a:rPr sz="1800" dirty="0"/>
              <a:t> </a:t>
            </a:r>
            <a:r>
              <a:rPr sz="1800" dirty="0" err="1"/>
              <a:t>환자마다</a:t>
            </a:r>
            <a:r>
              <a:rPr sz="1800" dirty="0"/>
              <a:t> </a:t>
            </a:r>
            <a:r>
              <a:rPr sz="1800" dirty="0" err="1"/>
              <a:t>다를</a:t>
            </a:r>
            <a:r>
              <a:rPr sz="1800" dirty="0"/>
              <a:t> </a:t>
            </a:r>
            <a:r>
              <a:rPr sz="1800" dirty="0" err="1"/>
              <a:t>가능성을</a:t>
            </a:r>
            <a:r>
              <a:rPr sz="1800" dirty="0"/>
              <a:t> </a:t>
            </a:r>
            <a:r>
              <a:rPr sz="1800" dirty="0" err="1"/>
              <a:t>원인으로</a:t>
            </a:r>
            <a:r>
              <a:rPr sz="1800" dirty="0"/>
              <a:t> </a:t>
            </a:r>
            <a:r>
              <a:rPr sz="1800" dirty="0" err="1"/>
              <a:t>추정했으나</a:t>
            </a:r>
            <a:r>
              <a:rPr sz="1800" dirty="0"/>
              <a:t> </a:t>
            </a:r>
            <a:r>
              <a:rPr sz="1800" dirty="0" err="1"/>
              <a:t>직접</a:t>
            </a:r>
            <a:r>
              <a:rPr sz="1800" dirty="0"/>
              <a:t> </a:t>
            </a:r>
            <a:r>
              <a:rPr sz="1800" dirty="0" err="1"/>
              <a:t>확인</a:t>
            </a:r>
            <a:r>
              <a:rPr sz="1800" dirty="0"/>
              <a:t> 안 됨 — </a:t>
            </a:r>
            <a:r>
              <a:rPr sz="1800" dirty="0" err="1"/>
              <a:t>추가</a:t>
            </a:r>
            <a:r>
              <a:rPr sz="1800" dirty="0"/>
              <a:t> </a:t>
            </a:r>
            <a:r>
              <a:rPr sz="1800" dirty="0" err="1"/>
              <a:t>검증</a:t>
            </a:r>
            <a:r>
              <a:rPr sz="1800" dirty="0"/>
              <a:t> </a:t>
            </a:r>
            <a:r>
              <a:rPr sz="1800" dirty="0" err="1"/>
              <a:t>필요</a:t>
            </a:r>
            <a:endParaRPr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FC0757-D1D4-11B5-E65D-AF1C9B6A5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atch_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Figure S1. Baseline </a:t>
            </a:r>
            <a:r>
              <a:rPr dirty="0" err="1"/>
              <a:t>대비</a:t>
            </a:r>
            <a:r>
              <a:rPr dirty="0"/>
              <a:t> </a:t>
            </a:r>
            <a:r>
              <a:rPr dirty="0" err="1"/>
              <a:t>확장모델</a:t>
            </a:r>
            <a:r>
              <a:rPr dirty="0"/>
              <a:t> ΔAUC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412909-25DE-E3CF-2D11-6AA6372F1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pic>
        <p:nvPicPr>
          <p:cNvPr id="5" name="Picture 4" descr="delta_auc_vs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804301"/>
            <a:ext cx="11176000" cy="38061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743A7-2DE1-484D-10ED-54E154F4C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E494A-8665-27CC-F400-B88484969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Figure S6. Calibration Plot (Baseline vs Best)</a:t>
            </a:r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8CA5B1-7A51-6B75-7EFD-944329CBC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788BE07-F174-88D1-AFF7-38C6055F5448}"/>
              </a:ext>
            </a:extLst>
          </p:cNvPr>
          <p:cNvGrpSpPr/>
          <p:nvPr/>
        </p:nvGrpSpPr>
        <p:grpSpPr>
          <a:xfrm>
            <a:off x="1857472" y="1042413"/>
            <a:ext cx="8477056" cy="5329944"/>
            <a:chOff x="2373741" y="1563063"/>
            <a:chExt cx="7275226" cy="4574294"/>
          </a:xfrm>
        </p:grpSpPr>
        <p:pic>
          <p:nvPicPr>
            <p:cNvPr id="5" name="Picture 4" descr="calibration_plot_baseline.png"/>
            <p:cNvPicPr>
              <a:picLocks noChangeAspect="1"/>
            </p:cNvPicPr>
            <p:nvPr/>
          </p:nvPicPr>
          <p:blipFill>
            <a:blip r:embed="rId3"/>
            <a:srcRect t="7691"/>
            <a:stretch>
              <a:fillRect/>
            </a:stretch>
          </p:blipFill>
          <p:spPr>
            <a:xfrm>
              <a:off x="2373742" y="1563063"/>
              <a:ext cx="7275225" cy="2287147"/>
            </a:xfrm>
            <a:prstGeom prst="rect">
              <a:avLst/>
            </a:prstGeom>
          </p:spPr>
        </p:pic>
        <p:pic>
          <p:nvPicPr>
            <p:cNvPr id="6" name="Picture 5" descr="calibration_plot_best.png"/>
            <p:cNvPicPr>
              <a:picLocks noChangeAspect="1"/>
            </p:cNvPicPr>
            <p:nvPr/>
          </p:nvPicPr>
          <p:blipFill>
            <a:blip r:embed="rId4"/>
            <a:srcRect t="7691"/>
            <a:stretch>
              <a:fillRect/>
            </a:stretch>
          </p:blipFill>
          <p:spPr>
            <a:xfrm>
              <a:off x="2373741" y="3850210"/>
              <a:ext cx="7275225" cy="22871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86707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Table S1.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확장모델</a:t>
            </a:r>
            <a:r>
              <a:rPr dirty="0"/>
              <a:t> AUC </a:t>
            </a:r>
            <a:r>
              <a:rPr dirty="0" err="1"/>
              <a:t>비교</a:t>
            </a:r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C5A0FE-4927-3A33-20F9-1AA1153E4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36854"/>
              </p:ext>
            </p:extLst>
          </p:nvPr>
        </p:nvGraphicFramePr>
        <p:xfrm>
          <a:off x="486912" y="1070727"/>
          <a:ext cx="11218175" cy="512463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40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8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18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7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21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21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216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1581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(</a:t>
                      </a:r>
                      <a:r>
                        <a:rPr sz="1200" b="1" dirty="0" err="1"/>
                        <a:t>FPCA+Ratio</a:t>
                      </a:r>
                      <a:r>
                        <a:rPr sz="1200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 (FPCA)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+AEC (Ratio)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+VAT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 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+LAMA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 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+NAMA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+AEC 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+</a:t>
                      </a:r>
                      <a:r>
                        <a:rPr sz="1200" b="1" dirty="0" err="1"/>
                        <a:t>체성분</a:t>
                      </a:r>
                      <a:endParaRPr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체성분만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2090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0.796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0.804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0.805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0.800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0.810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0.808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0.026*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0.811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0.029*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0.811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0.032*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0.812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0.031*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20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0.730*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0.730*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0.735*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0.743*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0.741*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0.740*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2090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0.712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0.733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0.046*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0.732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0.730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0.732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0.738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0.047*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0.732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0.736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0.736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20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0.706*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0.698*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2090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0.770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0.774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0.754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0.776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0.772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0.793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0.029*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0.783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0.784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0.785 </a:t>
                      </a:r>
                      <a:endParaRPr lang="en-US" sz="1200" b="0" dirty="0"/>
                    </a:p>
                    <a:p>
                      <a:pPr algn="ctr"/>
                      <a:r>
                        <a:rPr sz="1200" b="0" dirty="0"/>
                        <a:t>± 0.036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20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0.643*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0.633*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0.638*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0.669*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0.646*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0.681*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0.675*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F4CCB-3F0A-43E8-AB6B-119F8A6B1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00B8A-30B4-4DE0-ED36-E831C7CE1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Table S2. Fold별 AUC (전체 확장모델, HTN)</a:t>
            </a:r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712F35-3F2F-742B-95F1-A7E6949FD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CD25B792-B93D-4E4E-FB4B-0C6522F21F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758737"/>
              </p:ext>
            </p:extLst>
          </p:nvPr>
        </p:nvGraphicFramePr>
        <p:xfrm>
          <a:off x="956659" y="2057400"/>
          <a:ext cx="10278682" cy="27432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87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Fold1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Fold2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Fold3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Fold4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Fold5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(FPCA+Ratio)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(FPCA)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(Ratio)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+VAT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+LAMA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+NAMA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+체성분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/>
                        <a:t>체성분만</a:t>
                      </a:r>
                      <a:endParaRPr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0.838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0.034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6037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F82BA-C09D-0197-4479-9391079D4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ED191-D9A4-FA35-31B6-E6C57CD3E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Table S3. Fold별 AUC (전체 확장모델, DM)</a:t>
            </a:r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16272E-70B7-8151-AE51-17FCD411A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E8BD02EF-2534-89EF-6FC4-D487230B0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090782"/>
              </p:ext>
            </p:extLst>
          </p:nvPr>
        </p:nvGraphicFramePr>
        <p:xfrm>
          <a:off x="956659" y="2057400"/>
          <a:ext cx="10278682" cy="27432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87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Fold1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Fold2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Fold3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Fold4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Fold5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0.055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(FPCA+Ratio)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(FPCA)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(Ratio)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+VAT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0.048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+LAMA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+NAMA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+체성분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/>
                        <a:t>체성분만</a:t>
                      </a:r>
                      <a:endParaRPr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0.038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4191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7A112-84AC-9FF6-9B6C-E7A2104FA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52BB6-F2FC-4B98-DE93-0764D58B5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Table S4. Fold별 AUC (전체 확장모델, CKD)</a:t>
            </a:r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30DF12-C68A-6F0C-41B2-9F7E2D84C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0A2B0E14-5AB4-0663-2CA2-B715AAE1CD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860530"/>
              </p:ext>
            </p:extLst>
          </p:nvPr>
        </p:nvGraphicFramePr>
        <p:xfrm>
          <a:off x="956659" y="2057400"/>
          <a:ext cx="10278682" cy="27432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87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415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Fold1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Fold2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Fold3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Fold4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Fold5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0.813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0.770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0.038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(FPCA+Ratio)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(FPCA)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0.041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(Ratio)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+VAT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+LAMA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+NAMA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+AEC +체성분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83022"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/>
                        <a:t>체성분만</a:t>
                      </a:r>
                      <a:endParaRPr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0.040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48603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Figure S5. FPCA Inverse Transform (</a:t>
            </a:r>
            <a:r>
              <a:rPr dirty="0" err="1"/>
              <a:t>체성분</a:t>
            </a:r>
            <a:r>
              <a:rPr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412909-25DE-E3CF-2D11-6AA6372F1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pic>
        <p:nvPicPr>
          <p:cNvPr id="5" name="Picture 4" descr="fpca_recovered_curve_bodycomp.png"/>
          <p:cNvPicPr>
            <a:picLocks noChangeAspect="1"/>
          </p:cNvPicPr>
          <p:nvPr/>
        </p:nvPicPr>
        <p:blipFill>
          <a:blip r:embed="rId2"/>
          <a:srcRect t="7640"/>
          <a:stretch>
            <a:fillRect/>
          </a:stretch>
        </p:blipFill>
        <p:spPr>
          <a:xfrm>
            <a:off x="508000" y="897468"/>
            <a:ext cx="11176000" cy="594123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Table S8. +AEC FPCA-only Coeffici</a:t>
            </a:r>
            <a:r>
              <a:rPr lang="en-US" dirty="0"/>
              <a:t>e</a:t>
            </a:r>
            <a:r>
              <a:rPr dirty="0"/>
              <a:t>nt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B6C037-1BE8-AD43-7C28-151B04A0A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12064" y="978408"/>
          <a:ext cx="11173965" cy="512463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34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463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Coefficient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Odds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p-value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463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aec_fpca_pc1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0.327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1.387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46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aec_fpca_pc2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-0.452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46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aec_fpca_pc3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1.049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463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aec_fpca_pc1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1.089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0.326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46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aec_fpca_pc2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-0.494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46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aec_fpca_pc3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0.142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1.153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463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aec_fpca_pc1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0.113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1.119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0.334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246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aec_fpca_pc2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-0.342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0.015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246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aec_fpca_pc3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0.359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E8BB5-7A3D-4040-D873-8EFC1E56D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8A9CB-D578-8F7A-989B-900CEEA10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Table S9. Clinic4 Baseline Coefficients</a:t>
            </a:r>
            <a:endParaRPr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AEA37D-047D-C628-6786-B49D62785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520167"/>
              </p:ext>
            </p:extLst>
          </p:nvPr>
        </p:nvGraphicFramePr>
        <p:xfrm>
          <a:off x="512064" y="978408"/>
          <a:ext cx="11173965" cy="518762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34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47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4202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Coefficient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(5-fold </a:t>
                      </a:r>
                      <a:r>
                        <a:rPr sz="1200" b="1" dirty="0" err="1"/>
                        <a:t>mean±SD</a:t>
                      </a:r>
                      <a:r>
                        <a:rPr sz="1200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Odds Ratio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(5-fold </a:t>
                      </a:r>
                      <a:r>
                        <a:rPr sz="1200" b="1" dirty="0" err="1"/>
                        <a:t>mean±SD</a:t>
                      </a:r>
                      <a:r>
                        <a:rPr sz="1200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p-value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202">
                <a:tc rowSpan="4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Sex (M)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0.872 ± 0.075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2.398 ± 0.186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20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1.018 ± 0.054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2.772 ± 0.148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20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Height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-0.375 ± 0.089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0.690 ± 0.060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0.001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20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0.604 ± 0.067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1.833 ± 0.122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202">
                <a:tc rowSpan="4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Sex (M)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0.677 ± 0.074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1.973 ± 0.139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0.004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20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0.545 ± 0.060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1.727 ± 0.107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420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Height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-0.436 ± 0.051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0.647 ± 0.033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420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0.625 ± 0.031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1.869 ± 0.058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4202">
                <a:tc rowSpan="4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Sex (M)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1.287 ± 0.167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3.677 ± 0.654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420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0.704 ± 0.029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2.023 ± 0.059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&lt;0.001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420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Height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-0.374 ± 0.077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0.690 ± 0.053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0.036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4202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0.542 ± 0.077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1.725 ± 0.131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&lt;0.001 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9639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Table S10. Clinic4 Baseline VIF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8D9492-77D8-9D4C-A0F4-E86DA11F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12064" y="978408"/>
          <a:ext cx="4000000" cy="2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VIF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Sex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2.361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1.232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2.781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1.820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5D747-8719-E607-8411-9800E9B05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79701-6829-C21E-E4B0-6949698C3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Table S11. Baseline vs +AEC(FPCA), 5-fold CV</a:t>
            </a:r>
            <a:endParaRPr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BE1C60-4ECF-9664-17AD-85523EF39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72236941-0B35-C074-8F8B-37B422983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741623"/>
              </p:ext>
            </p:extLst>
          </p:nvPr>
        </p:nvGraphicFramePr>
        <p:xfrm>
          <a:off x="512064" y="978408"/>
          <a:ext cx="11173968" cy="512463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96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281159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n (pos)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Fold AUC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(Baseline)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Fold AUC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(+AEC)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OOF AUC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(Baseline)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OOF AUC</a:t>
                      </a:r>
                      <a:endParaRPr lang="en-US" sz="1200" b="1" dirty="0"/>
                    </a:p>
                    <a:p>
                      <a:pPr algn="ctr"/>
                      <a:r>
                        <a:rPr sz="1200" b="1" dirty="0"/>
                        <a:t>(+AEC)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Δ(OOF AUC)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DeLong p (OOF)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115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0.796 ± 0.018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0.805 ± 0.028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115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0.712 ± 0.049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0.732 ± 0.048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115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 ± 0.034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0.754 ± 0.037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-0.017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/>
                        <a:t>0.273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1463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A4B9BE-6ABB-4644-A858-A1BE01A7D227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b67ecc52-606c-4d9b-921c-389ac737e61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7296</TotalTime>
  <Words>2350</Words>
  <Application>Microsoft Office PowerPoint</Application>
  <PresentationFormat>와이드스크린</PresentationFormat>
  <Paragraphs>1026</Paragraphs>
  <Slides>23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8" baseType="lpstr">
      <vt:lpstr>Malgun Gothic</vt:lpstr>
      <vt:lpstr>Arial</vt:lpstr>
      <vt:lpstr>KoPub돋움체 Medium</vt:lpstr>
      <vt:lpstr>KoPub돋움체 Bold</vt:lpstr>
      <vt:lpstr>Office 테마</vt:lpstr>
      <vt:lpstr>PowerPoint 프레젠테이션</vt:lpstr>
      <vt:lpstr>Background &amp; Objective</vt:lpstr>
      <vt:lpstr>Methods</vt:lpstr>
      <vt:lpstr>Table 1. Data Distribution</vt:lpstr>
      <vt:lpstr>Table 2-1. Performance (고혈압)</vt:lpstr>
      <vt:lpstr>Table 2-2. Performance (당뇨)</vt:lpstr>
      <vt:lpstr>Table 2-3. Performance (만성신장질환)</vt:lpstr>
      <vt:lpstr>Table 3. Coefficient 비교 (Baseline vs Best)</vt:lpstr>
      <vt:lpstr>Figure 1. FPCA Inverse Transform (AEC)</vt:lpstr>
      <vt:lpstr>Discussion — 체성분 효과, 병원마다 다름</vt:lpstr>
      <vt:lpstr>Conclusion</vt:lpstr>
      <vt:lpstr>PowerPoint 프레젠테이션</vt:lpstr>
      <vt:lpstr>Figure S1. Baseline 대비 확장모델 ΔAUC</vt:lpstr>
      <vt:lpstr>Figure S6. Calibration Plot (Baseline vs Best)</vt:lpstr>
      <vt:lpstr>Table S1. 전체 확장모델 AUC 비교</vt:lpstr>
      <vt:lpstr>Table S2. Fold별 AUC (전체 확장모델, HTN)</vt:lpstr>
      <vt:lpstr>Table S3. Fold별 AUC (전체 확장모델, DM)</vt:lpstr>
      <vt:lpstr>Table S4. Fold별 AUC (전체 확장모델, CKD)</vt:lpstr>
      <vt:lpstr>Figure S5. FPCA Inverse Transform (체성분)</vt:lpstr>
      <vt:lpstr>Table S8. +AEC FPCA-only Coefficient</vt:lpstr>
      <vt:lpstr>Table S9. Clinic4 Baseline Coefficients</vt:lpstr>
      <vt:lpstr>Table S10. Clinic4 Baseline VIF</vt:lpstr>
      <vt:lpstr>Table S11. Baseline vs +AEC(FPCA), 5-fold CV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737</cp:revision>
  <dcterms:created xsi:type="dcterms:W3CDTF">2026-04-09T07:05:16Z</dcterms:created>
  <dcterms:modified xsi:type="dcterms:W3CDTF">2026-09-30T03:37:33Z</dcterms:modified>
</cp:coreProperties>
</file>