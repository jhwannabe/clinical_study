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26"/>
  </p:notesMasterIdLst>
  <p:sldIdLst>
    <p:sldId id="256" r:id="rId2"/>
    <p:sldId id="269" r:id="rId3"/>
    <p:sldId id="257" r:id="rId4"/>
    <p:sldId id="258" r:id="rId5"/>
    <p:sldId id="260" r:id="rId6"/>
    <p:sldId id="259" r:id="rId7"/>
    <p:sldId id="265" r:id="rId8"/>
    <p:sldId id="277" r:id="rId9"/>
    <p:sldId id="270" r:id="rId10"/>
    <p:sldId id="268" r:id="rId11"/>
    <p:sldId id="487" r:id="rId12"/>
    <p:sldId id="267" r:id="rId13"/>
    <p:sldId id="262" r:id="rId14"/>
    <p:sldId id="261" r:id="rId15"/>
    <p:sldId id="491" r:id="rId16"/>
    <p:sldId id="492" r:id="rId17"/>
    <p:sldId id="493" r:id="rId18"/>
    <p:sldId id="494" r:id="rId19"/>
    <p:sldId id="495" r:id="rId20"/>
    <p:sldId id="496" r:id="rId21"/>
    <p:sldId id="264" r:id="rId22"/>
    <p:sldId id="278" r:id="rId23"/>
    <p:sldId id="279" r:id="rId24"/>
    <p:sldId id="497" r:id="rId25"/>
  </p:sldIdLst>
  <p:sldSz cx="12192000" cy="6858000"/>
  <p:notesSz cx="6858000" cy="9144000"/>
  <p:embeddedFontLst>
    <p:embeddedFont>
      <p:font typeface="KoPub돋움체 Bold" panose="00000800000000000000" pitchFamily="2" charset="-127"/>
      <p:bold r:id="rId27"/>
    </p:embeddedFont>
    <p:embeddedFont>
      <p:font typeface="KoPub돋움체 Medium" panose="00000600000000000000" pitchFamily="2" charset="-127"/>
      <p:regular r:id="rId28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269"/>
            <p14:sldId id="257"/>
            <p14:sldId id="258"/>
            <p14:sldId id="260"/>
            <p14:sldId id="259"/>
            <p14:sldId id="265"/>
            <p14:sldId id="277"/>
            <p14:sldId id="270"/>
            <p14:sldId id="268"/>
            <p14:sldId id="487"/>
            <p14:sldId id="267"/>
            <p14:sldId id="262"/>
            <p14:sldId id="261"/>
            <p14:sldId id="491"/>
            <p14:sldId id="492"/>
            <p14:sldId id="493"/>
            <p14:sldId id="494"/>
            <p14:sldId id="495"/>
            <p14:sldId id="496"/>
            <p14:sldId id="264"/>
            <p14:sldId id="278"/>
            <p14:sldId id="279"/>
            <p14:sldId id="497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F5597"/>
    <a:srgbClr val="5C7DD0"/>
    <a:srgbClr val="1F346B"/>
    <a:srgbClr val="023670"/>
    <a:srgbClr val="17A5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87152" autoAdjust="0"/>
  </p:normalViewPr>
  <p:slideViewPr>
    <p:cSldViewPr snapToGrid="0">
      <p:cViewPr varScale="1">
        <p:scale>
          <a:sx n="96" d="100"/>
          <a:sy n="96" d="100"/>
        </p:scale>
        <p:origin x="1092" y="9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ghoon jun" userId="056a5883350c2f5e" providerId="LiveId" clId="{6DA654A6-03B0-40F7-A259-B276216985A6}"/>
    <pc:docChg chg="undo redo custSel addSld delSld modSld sldOrd modSection">
      <pc:chgData name="janghoon jun" userId="056a5883350c2f5e" providerId="LiveId" clId="{6DA654A6-03B0-40F7-A259-B276216985A6}" dt="2026-09-10T05:04:12.456" v="4648" actId="403"/>
      <pc:docMkLst>
        <pc:docMk/>
      </pc:docMkLst>
      <pc:sldChg chg="modSp mod modNotes modNotesTx">
        <pc:chgData name="janghoon jun" userId="056a5883350c2f5e" providerId="LiveId" clId="{6DA654A6-03B0-40F7-A259-B276216985A6}" dt="2026-09-10T04:59:39.505" v="4550" actId="207"/>
        <pc:sldMkLst>
          <pc:docMk/>
          <pc:sldMk cId="0" sldId="256"/>
        </pc:sldMkLst>
        <pc:spChg chg="mod">
          <ac:chgData name="janghoon jun" userId="056a5883350c2f5e" providerId="LiveId" clId="{6DA654A6-03B0-40F7-A259-B276216985A6}" dt="2026-09-10T04:59:39.505" v="4550" actId="207"/>
          <ac:spMkLst>
            <pc:docMk/>
            <pc:sldMk cId="0" sldId="256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9-10T04:59:39.505" v="4550" actId="207"/>
          <ac:spMkLst>
            <pc:docMk/>
            <pc:sldMk cId="0" sldId="256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9-10T04:59:39.505" v="4550" actId="207"/>
          <ac:spMkLst>
            <pc:docMk/>
            <pc:sldMk cId="0" sldId="256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9-10T04:59:39.505" v="4550" actId="207"/>
          <ac:spMkLst>
            <pc:docMk/>
            <pc:sldMk cId="0" sldId="256"/>
            <ac:spMk id="5" creationId="{00000000-0000-0000-0000-000000000000}"/>
          </ac:spMkLst>
        </pc:spChg>
      </pc:sldChg>
      <pc:sldChg chg="addSp delSp modSp mod chgLayout modNotes modNotesTx">
        <pc:chgData name="janghoon jun" userId="056a5883350c2f5e" providerId="LiveId" clId="{6DA654A6-03B0-40F7-A259-B276216985A6}" dt="2026-09-10T05:04:12.456" v="4648" actId="403"/>
        <pc:sldMkLst>
          <pc:docMk/>
          <pc:sldMk cId="0" sldId="257"/>
        </pc:sldMkLst>
        <pc:spChg chg="mod ord">
          <ac:chgData name="janghoon jun" userId="056a5883350c2f5e" providerId="LiveId" clId="{6DA654A6-03B0-40F7-A259-B276216985A6}" dt="2026-09-02T02:37:45.894" v="3728" actId="6549"/>
          <ac:spMkLst>
            <pc:docMk/>
            <pc:sldMk cId="0" sldId="257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9-10T05:04:12.456" v="4648" actId="403"/>
          <ac:spMkLst>
            <pc:docMk/>
            <pc:sldMk cId="0" sldId="257"/>
            <ac:spMk id="3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9-10T03:16:00.971" v="4488" actId="404"/>
        <pc:sldMkLst>
          <pc:docMk/>
          <pc:sldMk cId="0" sldId="258"/>
        </pc:sldMkLst>
        <pc:spChg chg="mod">
          <ac:chgData name="janghoon jun" userId="056a5883350c2f5e" providerId="LiveId" clId="{6DA654A6-03B0-40F7-A259-B276216985A6}" dt="2026-09-10T03:16:00.971" v="4488" actId="404"/>
          <ac:spMkLst>
            <pc:docMk/>
            <pc:sldMk cId="0" sldId="258"/>
            <ac:spMk id="3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9-08T03:15:38.775" v="4423" actId="2062"/>
        <pc:sldMkLst>
          <pc:docMk/>
          <pc:sldMk cId="0" sldId="259"/>
        </pc:sldMkLst>
      </pc:sldChg>
      <pc:sldChg chg="delSp modSp del mod">
        <pc:chgData name="janghoon jun" userId="056a5883350c2f5e" providerId="LiveId" clId="{6DA654A6-03B0-40F7-A259-B276216985A6}" dt="2026-09-10T05:01:31.864" v="4601" actId="47"/>
        <pc:sldMkLst>
          <pc:docMk/>
          <pc:sldMk cId="0" sldId="261"/>
        </pc:sldMkLst>
        <pc:spChg chg="mod">
          <ac:chgData name="janghoon jun" userId="056a5883350c2f5e" providerId="LiveId" clId="{6DA654A6-03B0-40F7-A259-B276216985A6}" dt="2026-09-10T05:01:04.719" v="4595" actId="21"/>
          <ac:spMkLst>
            <pc:docMk/>
            <pc:sldMk cId="0" sldId="261"/>
            <ac:spMk id="2" creationId="{00000000-0000-0000-0000-000000000000}"/>
          </ac:spMkLst>
        </pc:spChg>
        <pc:picChg chg="del mod">
          <ac:chgData name="janghoon jun" userId="056a5883350c2f5e" providerId="LiveId" clId="{6DA654A6-03B0-40F7-A259-B276216985A6}" dt="2026-09-10T05:01:08.538" v="4597" actId="21"/>
          <ac:picMkLst>
            <pc:docMk/>
            <pc:sldMk cId="0" sldId="261"/>
            <ac:picMk id="3" creationId="{00000000-0000-0000-0000-000000000000}"/>
          </ac:picMkLst>
        </pc:picChg>
      </pc:sldChg>
      <pc:sldChg chg="delSp modSp del mod">
        <pc:chgData name="janghoon jun" userId="056a5883350c2f5e" providerId="LiveId" clId="{6DA654A6-03B0-40F7-A259-B276216985A6}" dt="2026-09-10T05:01:46.958" v="4608" actId="47"/>
        <pc:sldMkLst>
          <pc:docMk/>
          <pc:sldMk cId="0" sldId="262"/>
        </pc:sldMkLst>
        <pc:spChg chg="mod">
          <ac:chgData name="janghoon jun" userId="056a5883350c2f5e" providerId="LiveId" clId="{6DA654A6-03B0-40F7-A259-B276216985A6}" dt="2026-09-10T05:01:37.563" v="4603" actId="21"/>
          <ac:spMkLst>
            <pc:docMk/>
            <pc:sldMk cId="0" sldId="262"/>
            <ac:spMk id="2" creationId="{00000000-0000-0000-0000-000000000000}"/>
          </ac:spMkLst>
        </pc:spChg>
        <pc:picChg chg="del">
          <ac:chgData name="janghoon jun" userId="056a5883350c2f5e" providerId="LiveId" clId="{6DA654A6-03B0-40F7-A259-B276216985A6}" dt="2026-09-10T05:01:41.989" v="4605" actId="21"/>
          <ac:picMkLst>
            <pc:docMk/>
            <pc:sldMk cId="0" sldId="262"/>
            <ac:picMk id="3" creationId="{00000000-0000-0000-0000-000000000000}"/>
          </ac:picMkLst>
        </pc:picChg>
      </pc:sldChg>
      <pc:sldChg chg="delSp modSp del mod">
        <pc:chgData name="janghoon jun" userId="056a5883350c2f5e" providerId="LiveId" clId="{6DA654A6-03B0-40F7-A259-B276216985A6}" dt="2026-09-10T05:02:01.467" v="4615" actId="47"/>
        <pc:sldMkLst>
          <pc:docMk/>
          <pc:sldMk cId="0" sldId="263"/>
        </pc:sldMkLst>
        <pc:spChg chg="mod">
          <ac:chgData name="janghoon jun" userId="056a5883350c2f5e" providerId="LiveId" clId="{6DA654A6-03B0-40F7-A259-B276216985A6}" dt="2026-09-10T05:01:54.745" v="4611" actId="21"/>
          <ac:spMkLst>
            <pc:docMk/>
            <pc:sldMk cId="0" sldId="263"/>
            <ac:spMk id="2" creationId="{00000000-0000-0000-0000-000000000000}"/>
          </ac:spMkLst>
        </pc:spChg>
        <pc:picChg chg="del">
          <ac:chgData name="janghoon jun" userId="056a5883350c2f5e" providerId="LiveId" clId="{6DA654A6-03B0-40F7-A259-B276216985A6}" dt="2026-09-10T05:01:59.021" v="4613" actId="21"/>
          <ac:picMkLst>
            <pc:docMk/>
            <pc:sldMk cId="0" sldId="263"/>
            <ac:picMk id="3" creationId="{00000000-0000-0000-0000-000000000000}"/>
          </ac:picMkLst>
        </pc:picChg>
      </pc:sldChg>
      <pc:sldChg chg="delSp modSp del mod">
        <pc:chgData name="janghoon jun" userId="056a5883350c2f5e" providerId="LiveId" clId="{6DA654A6-03B0-40F7-A259-B276216985A6}" dt="2026-09-10T05:02:33.552" v="4626" actId="47"/>
        <pc:sldMkLst>
          <pc:docMk/>
          <pc:sldMk cId="0" sldId="264"/>
        </pc:sldMkLst>
        <pc:spChg chg="mod">
          <ac:chgData name="janghoon jun" userId="056a5883350c2f5e" providerId="LiveId" clId="{6DA654A6-03B0-40F7-A259-B276216985A6}" dt="2026-09-10T05:02:07.183" v="4617" actId="21"/>
          <ac:spMkLst>
            <pc:docMk/>
            <pc:sldMk cId="0" sldId="264"/>
            <ac:spMk id="2" creationId="{00000000-0000-0000-0000-000000000000}"/>
          </ac:spMkLst>
        </pc:spChg>
        <pc:picChg chg="del mod">
          <ac:chgData name="janghoon jun" userId="056a5883350c2f5e" providerId="LiveId" clId="{6DA654A6-03B0-40F7-A259-B276216985A6}" dt="2026-09-10T05:02:10.641" v="4619" actId="21"/>
          <ac:picMkLst>
            <pc:docMk/>
            <pc:sldMk cId="0" sldId="264"/>
            <ac:picMk id="3" creationId="{00000000-0000-0000-0000-000000000000}"/>
          </ac:picMkLst>
        </pc:picChg>
      </pc:sldChg>
      <pc:sldChg chg="delSp modSp del mod">
        <pc:chgData name="janghoon jun" userId="056a5883350c2f5e" providerId="LiveId" clId="{6DA654A6-03B0-40F7-A259-B276216985A6}" dt="2026-09-10T05:03:04.881" v="4633" actId="47"/>
        <pc:sldMkLst>
          <pc:docMk/>
          <pc:sldMk cId="0" sldId="265"/>
        </pc:sldMkLst>
        <pc:spChg chg="mod">
          <ac:chgData name="janghoon jun" userId="056a5883350c2f5e" providerId="LiveId" clId="{6DA654A6-03B0-40F7-A259-B276216985A6}" dt="2026-09-10T05:02:38.758" v="4628" actId="21"/>
          <ac:spMkLst>
            <pc:docMk/>
            <pc:sldMk cId="0" sldId="265"/>
            <ac:spMk id="2" creationId="{00000000-0000-0000-0000-000000000000}"/>
          </ac:spMkLst>
        </pc:spChg>
        <pc:graphicFrameChg chg="modGraphic">
          <ac:chgData name="janghoon jun" userId="056a5883350c2f5e" providerId="LiveId" clId="{6DA654A6-03B0-40F7-A259-B276216985A6}" dt="2026-09-10T03:22:54.047" v="4543" actId="255"/>
          <ac:graphicFrameMkLst>
            <pc:docMk/>
            <pc:sldMk cId="0" sldId="265"/>
            <ac:graphicFrameMk id="3" creationId="{00000000-0000-0000-0000-000000000000}"/>
          </ac:graphicFrameMkLst>
        </pc:graphicFrameChg>
        <pc:picChg chg="del">
          <ac:chgData name="janghoon jun" userId="056a5883350c2f5e" providerId="LiveId" clId="{6DA654A6-03B0-40F7-A259-B276216985A6}" dt="2026-09-10T05:02:42.851" v="4630" actId="21"/>
          <ac:picMkLst>
            <pc:docMk/>
            <pc:sldMk cId="0" sldId="265"/>
            <ac:picMk id="3" creationId="{00000000-0000-0000-0000-000000000000}"/>
          </ac:picMkLst>
        </pc:picChg>
      </pc:sldChg>
      <pc:sldChg chg="delSp modSp mod">
        <pc:chgData name="janghoon jun" userId="056a5883350c2f5e" providerId="LiveId" clId="{6DA654A6-03B0-40F7-A259-B276216985A6}" dt="2026-09-10T05:03:31.457" v="4640" actId="1076"/>
        <pc:sldMkLst>
          <pc:docMk/>
          <pc:sldMk cId="0" sldId="266"/>
        </pc:sldMkLst>
        <pc:spChg chg="mod">
          <ac:chgData name="janghoon jun" userId="056a5883350c2f5e" providerId="LiveId" clId="{6DA654A6-03B0-40F7-A259-B276216985A6}" dt="2026-09-10T03:16:18.752" v="4490" actId="404"/>
          <ac:spMkLst>
            <pc:docMk/>
            <pc:sldMk cId="0" sldId="266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9-10T05:03:31.457" v="4640" actId="1076"/>
          <ac:spMkLst>
            <pc:docMk/>
            <pc:sldMk cId="0" sldId="266"/>
            <ac:spMk id="5" creationId="{00000000-0000-0000-0000-000000000000}"/>
          </ac:spMkLst>
        </pc:spChg>
        <pc:graphicFrameChg chg="mod modGraphic">
          <ac:chgData name="janghoon jun" userId="056a5883350c2f5e" providerId="LiveId" clId="{6DA654A6-03B0-40F7-A259-B276216985A6}" dt="2026-09-10T05:03:27.249" v="4639" actId="1076"/>
          <ac:graphicFrameMkLst>
            <pc:docMk/>
            <pc:sldMk cId="0" sldId="266"/>
            <ac:graphicFrameMk id="4" creationId="{00000000-0000-0000-0000-000000000000}"/>
          </ac:graphicFrameMkLst>
        </pc:graphicFrameChg>
      </pc:sldChg>
      <pc:sldChg chg="delSp modSp del mod">
        <pc:chgData name="janghoon jun" userId="056a5883350c2f5e" providerId="LiveId" clId="{6DA654A6-03B0-40F7-A259-B276216985A6}" dt="2026-09-10T05:00:59.834" v="4593" actId="27636"/>
        <pc:sldMkLst>
          <pc:docMk/>
          <pc:sldMk cId="0" sldId="267"/>
        </pc:sldMkLst>
        <pc:spChg chg="mod">
          <ac:chgData name="janghoon jun" userId="056a5883350c2f5e" providerId="LiveId" clId="{6DA654A6-03B0-40F7-A259-B276216985A6}" dt="2026-09-08T03:22:06.514" v="4485" actId="20577"/>
          <ac:spMkLst>
            <pc:docMk/>
            <pc:sldMk cId="0" sldId="267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9-10T05:00:59.834" v="4593" actId="27636"/>
          <ac:spMkLst>
            <pc:docMk/>
            <pc:sldMk cId="0" sldId="267"/>
            <ac:spMk id="3" creationId="{00000000-0000-0000-0000-000000000000}"/>
          </ac:spMkLst>
        </pc:spChg>
      </pc:sldChg>
      <pc:sldChg chg="modSp del mod">
        <pc:chgData name="janghoon jun" userId="056a5883350c2f5e" providerId="LiveId" clId="{6DA654A6-03B0-40F7-A259-B276216985A6}" dt="2026-09-10T05:04:04.780" v="4641" actId="47"/>
        <pc:sldMkLst>
          <pc:docMk/>
          <pc:sldMk cId="0" sldId="269"/>
        </pc:sldMkLst>
        <pc:graphicFrameChg chg="modGraphic">
          <ac:chgData name="janghoon jun" userId="056a5883350c2f5e" providerId="LiveId" clId="{6DA654A6-03B0-40F7-A259-B276216985A6}" dt="2026-09-10T03:22:45.138" v="4542" actId="255"/>
          <ac:graphicFrameMkLst>
            <pc:docMk/>
            <pc:sldMk cId="0" sldId="269"/>
            <ac:graphicFrameMk id="6" creationId="{E510CECF-189E-7B95-A7D1-8CF39243907A}"/>
          </ac:graphicFrameMkLst>
        </pc:graphicFrameChg>
      </pc:sldChg>
      <pc:sldChg chg="modSp mod">
        <pc:chgData name="janghoon jun" userId="056a5883350c2f5e" providerId="LiveId" clId="{6DA654A6-03B0-40F7-A259-B276216985A6}" dt="2026-09-10T03:22:37.115" v="4541" actId="255"/>
        <pc:sldMkLst>
          <pc:docMk/>
          <pc:sldMk cId="0" sldId="270"/>
        </pc:sldMkLst>
        <pc:spChg chg="mod">
          <ac:chgData name="janghoon jun" userId="056a5883350c2f5e" providerId="LiveId" clId="{6DA654A6-03B0-40F7-A259-B276216985A6}" dt="2026-09-10T03:22:37.115" v="4541" actId="255"/>
          <ac:spMkLst>
            <pc:docMk/>
            <pc:sldMk cId="0" sldId="270"/>
            <ac:spMk id="4" creationId="{00000000-0000-0000-0000-000000000000}"/>
          </ac:spMkLst>
        </pc:spChg>
        <pc:graphicFrameChg chg="modGraphic">
          <ac:chgData name="janghoon jun" userId="056a5883350c2f5e" providerId="LiveId" clId="{6DA654A6-03B0-40F7-A259-B276216985A6}" dt="2026-09-10T03:22:33.054" v="4540" actId="255"/>
          <ac:graphicFrameMkLst>
            <pc:docMk/>
            <pc:sldMk cId="0" sldId="270"/>
            <ac:graphicFrameMk id="3" creationId="{00000000-0000-0000-0000-000000000000}"/>
          </ac:graphicFrameMkLst>
        </pc:graphicFrameChg>
      </pc:sldChg>
      <pc:sldChg chg="modSp mod">
        <pc:chgData name="janghoon jun" userId="056a5883350c2f5e" providerId="LiveId" clId="{6DA654A6-03B0-40F7-A259-B276216985A6}" dt="2026-09-10T03:23:12.656" v="4546" actId="2710"/>
        <pc:sldMkLst>
          <pc:docMk/>
          <pc:sldMk cId="0" sldId="271"/>
        </pc:sldMkLst>
        <pc:spChg chg="mod">
          <ac:chgData name="janghoon jun" userId="056a5883350c2f5e" providerId="LiveId" clId="{6DA654A6-03B0-40F7-A259-B276216985A6}" dt="2026-09-10T03:23:12.656" v="4546" actId="2710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9-10T03:22:18.743" v="4536" actId="255"/>
        <pc:sldMkLst>
          <pc:docMk/>
          <pc:sldMk cId="0" sldId="272"/>
        </pc:sldMkLst>
        <pc:graphicFrameChg chg="modGraphic">
          <ac:chgData name="janghoon jun" userId="056a5883350c2f5e" providerId="LiveId" clId="{6DA654A6-03B0-40F7-A259-B276216985A6}" dt="2026-09-10T03:22:18.743" v="4536" actId="255"/>
          <ac:graphicFrameMkLst>
            <pc:docMk/>
            <pc:sldMk cId="0" sldId="272"/>
            <ac:graphicFrameMk id="3" creationId="{00000000-0000-0000-0000-000000000000}"/>
          </ac:graphicFrameMkLst>
        </pc:graphicFrameChg>
      </pc:sldChg>
      <pc:sldChg chg="addSp delSp modSp add mod">
        <pc:chgData name="janghoon jun" userId="056a5883350c2f5e" providerId="LiveId" clId="{6DA654A6-03B0-40F7-A259-B276216985A6}" dt="2026-09-10T05:01:14.195" v="4600" actId="1076"/>
        <pc:sldMkLst>
          <pc:docMk/>
          <pc:sldMk cId="2755278307" sldId="272"/>
        </pc:sldMkLst>
        <pc:spChg chg="mod">
          <ac:chgData name="janghoon jun" userId="056a5883350c2f5e" providerId="LiveId" clId="{6DA654A6-03B0-40F7-A259-B276216985A6}" dt="2026-09-10T05:01:06.801" v="4596"/>
          <ac:spMkLst>
            <pc:docMk/>
            <pc:sldMk cId="2755278307" sldId="272"/>
            <ac:spMk id="2" creationId="{47399A34-AE2B-4CC6-8304-596321EC9448}"/>
          </ac:spMkLst>
        </pc:spChg>
        <pc:spChg chg="del">
          <ac:chgData name="janghoon jun" userId="056a5883350c2f5e" providerId="LiveId" clId="{6DA654A6-03B0-40F7-A259-B276216985A6}" dt="2026-09-10T05:01:02.342" v="4594" actId="478"/>
          <ac:spMkLst>
            <pc:docMk/>
            <pc:sldMk cId="2755278307" sldId="272"/>
            <ac:spMk id="3" creationId="{8C665CBB-843D-1473-C103-8CBA53FCFA04}"/>
          </ac:spMkLst>
        </pc:spChg>
        <pc:spChg chg="add del mod">
          <ac:chgData name="janghoon jun" userId="056a5883350c2f5e" providerId="LiveId" clId="{6DA654A6-03B0-40F7-A259-B276216985A6}" dt="2026-09-10T05:01:11.596" v="4598" actId="478"/>
          <ac:spMkLst>
            <pc:docMk/>
            <pc:sldMk cId="2755278307" sldId="272"/>
            <ac:spMk id="5" creationId="{093EABBB-1335-B701-D6E0-0A3678A54285}"/>
          </ac:spMkLst>
        </pc:spChg>
        <pc:picChg chg="add mod">
          <ac:chgData name="janghoon jun" userId="056a5883350c2f5e" providerId="LiveId" clId="{6DA654A6-03B0-40F7-A259-B276216985A6}" dt="2026-09-10T05:01:14.195" v="4600" actId="1076"/>
          <ac:picMkLst>
            <pc:docMk/>
            <pc:sldMk cId="2755278307" sldId="272"/>
            <ac:picMk id="7" creationId="{DB5C9DB1-2489-F3D0-1976-537E15A9259F}"/>
          </ac:picMkLst>
        </pc:picChg>
      </pc:sldChg>
      <pc:sldChg chg="modSp mod">
        <pc:chgData name="janghoon jun" userId="056a5883350c2f5e" providerId="LiveId" clId="{6DA654A6-03B0-40F7-A259-B276216985A6}" dt="2026-09-10T03:21:38.729" v="4528" actId="255"/>
        <pc:sldMkLst>
          <pc:docMk/>
          <pc:sldMk cId="0" sldId="273"/>
        </pc:sldMkLst>
        <pc:graphicFrameChg chg="modGraphic">
          <ac:chgData name="janghoon jun" userId="056a5883350c2f5e" providerId="LiveId" clId="{6DA654A6-03B0-40F7-A259-B276216985A6}" dt="2026-09-10T03:21:38.729" v="4528" actId="255"/>
          <ac:graphicFrameMkLst>
            <pc:docMk/>
            <pc:sldMk cId="0" sldId="273"/>
            <ac:graphicFrameMk id="6" creationId="{E510CECF-189E-7B95-A7D1-8CF39243907A}"/>
          </ac:graphicFrameMkLst>
        </pc:graphicFrameChg>
      </pc:sldChg>
      <pc:sldChg chg="addSp delSp modSp add mod">
        <pc:chgData name="janghoon jun" userId="056a5883350c2f5e" providerId="LiveId" clId="{6DA654A6-03B0-40F7-A259-B276216985A6}" dt="2026-09-10T05:01:44.278" v="4607" actId="22"/>
        <pc:sldMkLst>
          <pc:docMk/>
          <pc:sldMk cId="3764616405" sldId="273"/>
        </pc:sldMkLst>
        <pc:spChg chg="mod">
          <ac:chgData name="janghoon jun" userId="056a5883350c2f5e" providerId="LiveId" clId="{6DA654A6-03B0-40F7-A259-B276216985A6}" dt="2026-09-10T05:01:39.369" v="4604"/>
          <ac:spMkLst>
            <pc:docMk/>
            <pc:sldMk cId="3764616405" sldId="273"/>
            <ac:spMk id="2" creationId="{81756DD1-59E1-2584-8E19-3E1B59037185}"/>
          </ac:spMkLst>
        </pc:spChg>
        <pc:picChg chg="add">
          <ac:chgData name="janghoon jun" userId="056a5883350c2f5e" providerId="LiveId" clId="{6DA654A6-03B0-40F7-A259-B276216985A6}" dt="2026-09-10T05:01:44.278" v="4607" actId="22"/>
          <ac:picMkLst>
            <pc:docMk/>
            <pc:sldMk cId="3764616405" sldId="273"/>
            <ac:picMk id="4" creationId="{4D791A2B-D934-61D3-05BA-457321A70678}"/>
          </ac:picMkLst>
        </pc:picChg>
        <pc:picChg chg="del">
          <ac:chgData name="janghoon jun" userId="056a5883350c2f5e" providerId="LiveId" clId="{6DA654A6-03B0-40F7-A259-B276216985A6}" dt="2026-09-10T05:01:43.956" v="4606" actId="478"/>
          <ac:picMkLst>
            <pc:docMk/>
            <pc:sldMk cId="3764616405" sldId="273"/>
            <ac:picMk id="7" creationId="{C0C8C0CA-19F3-5E89-D747-E613365C3187}"/>
          </ac:picMkLst>
        </pc:picChg>
      </pc:sldChg>
      <pc:sldChg chg="modSp mod">
        <pc:chgData name="janghoon jun" userId="056a5883350c2f5e" providerId="LiveId" clId="{6DA654A6-03B0-40F7-A259-B276216985A6}" dt="2026-09-10T03:21:46.220" v="4529" actId="255"/>
        <pc:sldMkLst>
          <pc:docMk/>
          <pc:sldMk cId="0" sldId="274"/>
        </pc:sldMkLst>
        <pc:graphicFrameChg chg="modGraphic">
          <ac:chgData name="janghoon jun" userId="056a5883350c2f5e" providerId="LiveId" clId="{6DA654A6-03B0-40F7-A259-B276216985A6}" dt="2026-09-10T03:21:46.220" v="4529" actId="255"/>
          <ac:graphicFrameMkLst>
            <pc:docMk/>
            <pc:sldMk cId="0" sldId="274"/>
            <ac:graphicFrameMk id="3" creationId="{00000000-0000-0000-0000-000000000000}"/>
          </ac:graphicFrameMkLst>
        </pc:graphicFrameChg>
      </pc:sldChg>
      <pc:sldChg chg="addSp delSp modSp add mod">
        <pc:chgData name="janghoon jun" userId="056a5883350c2f5e" providerId="LiveId" clId="{6DA654A6-03B0-40F7-A259-B276216985A6}" dt="2026-09-10T05:01:59.785" v="4614" actId="22"/>
        <pc:sldMkLst>
          <pc:docMk/>
          <pc:sldMk cId="2820107391" sldId="274"/>
        </pc:sldMkLst>
        <pc:spChg chg="mod">
          <ac:chgData name="janghoon jun" userId="056a5883350c2f5e" providerId="LiveId" clId="{6DA654A6-03B0-40F7-A259-B276216985A6}" dt="2026-09-10T05:01:56.743" v="4612"/>
          <ac:spMkLst>
            <pc:docMk/>
            <pc:sldMk cId="2820107391" sldId="274"/>
            <ac:spMk id="2" creationId="{96BE39D2-BACD-9BFA-6BEF-E23EB76F52A3}"/>
          </ac:spMkLst>
        </pc:spChg>
        <pc:picChg chg="del">
          <ac:chgData name="janghoon jun" userId="056a5883350c2f5e" providerId="LiveId" clId="{6DA654A6-03B0-40F7-A259-B276216985A6}" dt="2026-09-10T05:01:51.432" v="4610" actId="478"/>
          <ac:picMkLst>
            <pc:docMk/>
            <pc:sldMk cId="2820107391" sldId="274"/>
            <ac:picMk id="4" creationId="{44560D41-702E-22B7-E44B-6688B87607EB}"/>
          </ac:picMkLst>
        </pc:picChg>
        <pc:picChg chg="add">
          <ac:chgData name="janghoon jun" userId="056a5883350c2f5e" providerId="LiveId" clId="{6DA654A6-03B0-40F7-A259-B276216985A6}" dt="2026-09-10T05:01:59.785" v="4614" actId="22"/>
          <ac:picMkLst>
            <pc:docMk/>
            <pc:sldMk cId="2820107391" sldId="274"/>
            <ac:picMk id="5" creationId="{789B8AA2-C797-6A65-8F18-1F3D8565FBA8}"/>
          </ac:picMkLst>
        </pc:picChg>
      </pc:sldChg>
      <pc:sldChg chg="modSp mod">
        <pc:chgData name="janghoon jun" userId="056a5883350c2f5e" providerId="LiveId" clId="{6DA654A6-03B0-40F7-A259-B276216985A6}" dt="2026-09-10T03:23:26.413" v="4549" actId="2710"/>
        <pc:sldMkLst>
          <pc:docMk/>
          <pc:sldMk cId="0" sldId="275"/>
        </pc:sldMkLst>
        <pc:spChg chg="mod">
          <ac:chgData name="janghoon jun" userId="056a5883350c2f5e" providerId="LiveId" clId="{6DA654A6-03B0-40F7-A259-B276216985A6}" dt="2026-09-10T03:23:26.413" v="4549" actId="2710"/>
          <ac:spMkLst>
            <pc:docMk/>
            <pc:sldMk cId="0" sldId="275"/>
            <ac:spMk id="4" creationId="{00000000-0000-0000-0000-000000000000}"/>
          </ac:spMkLst>
        </pc:spChg>
      </pc:sldChg>
      <pc:sldChg chg="addSp delSp modSp add mod">
        <pc:chgData name="janghoon jun" userId="056a5883350c2f5e" providerId="LiveId" clId="{6DA654A6-03B0-40F7-A259-B276216985A6}" dt="2026-09-10T05:02:27.064" v="4625" actId="1076"/>
        <pc:sldMkLst>
          <pc:docMk/>
          <pc:sldMk cId="1751739855" sldId="275"/>
        </pc:sldMkLst>
        <pc:spChg chg="mod">
          <ac:chgData name="janghoon jun" userId="056a5883350c2f5e" providerId="LiveId" clId="{6DA654A6-03B0-40F7-A259-B276216985A6}" dt="2026-09-10T05:02:08.939" v="4618"/>
          <ac:spMkLst>
            <pc:docMk/>
            <pc:sldMk cId="1751739855" sldId="275"/>
            <ac:spMk id="2" creationId="{6F7E1DCF-9740-40AC-B307-1426493A0AC5}"/>
          </ac:spMkLst>
        </pc:spChg>
        <pc:picChg chg="add mod">
          <ac:chgData name="janghoon jun" userId="056a5883350c2f5e" providerId="LiveId" clId="{6DA654A6-03B0-40F7-A259-B276216985A6}" dt="2026-09-10T05:02:27.064" v="4625" actId="1076"/>
          <ac:picMkLst>
            <pc:docMk/>
            <pc:sldMk cId="1751739855" sldId="275"/>
            <ac:picMk id="4" creationId="{84710ACD-2049-27DA-4399-427001462009}"/>
          </ac:picMkLst>
        </pc:picChg>
        <pc:picChg chg="del">
          <ac:chgData name="janghoon jun" userId="056a5883350c2f5e" providerId="LiveId" clId="{6DA654A6-03B0-40F7-A259-B276216985A6}" dt="2026-09-10T05:02:12.860" v="4620" actId="478"/>
          <ac:picMkLst>
            <pc:docMk/>
            <pc:sldMk cId="1751739855" sldId="275"/>
            <ac:picMk id="5" creationId="{9575D779-2B9E-87D3-6075-E635B5824B4E}"/>
          </ac:picMkLst>
        </pc:picChg>
      </pc:sldChg>
      <pc:sldChg chg="modSp mod">
        <pc:chgData name="janghoon jun" userId="056a5883350c2f5e" providerId="LiveId" clId="{6DA654A6-03B0-40F7-A259-B276216985A6}" dt="2026-09-10T03:21:51.722" v="4530" actId="255"/>
        <pc:sldMkLst>
          <pc:docMk/>
          <pc:sldMk cId="0" sldId="276"/>
        </pc:sldMkLst>
        <pc:graphicFrameChg chg="modGraphic">
          <ac:chgData name="janghoon jun" userId="056a5883350c2f5e" providerId="LiveId" clId="{6DA654A6-03B0-40F7-A259-B276216985A6}" dt="2026-09-10T03:21:51.722" v="4530" actId="255"/>
          <ac:graphicFrameMkLst>
            <pc:docMk/>
            <pc:sldMk cId="0" sldId="276"/>
            <ac:graphicFrameMk id="3" creationId="{00000000-0000-0000-0000-000000000000}"/>
          </ac:graphicFrameMkLst>
        </pc:graphicFrameChg>
      </pc:sldChg>
      <pc:sldChg chg="addSp delSp modSp add mod">
        <pc:chgData name="janghoon jun" userId="056a5883350c2f5e" providerId="LiveId" clId="{6DA654A6-03B0-40F7-A259-B276216985A6}" dt="2026-09-10T05:02:45.534" v="4632" actId="22"/>
        <pc:sldMkLst>
          <pc:docMk/>
          <pc:sldMk cId="1504938630" sldId="276"/>
        </pc:sldMkLst>
        <pc:spChg chg="mod">
          <ac:chgData name="janghoon jun" userId="056a5883350c2f5e" providerId="LiveId" clId="{6DA654A6-03B0-40F7-A259-B276216985A6}" dt="2026-09-10T05:02:40.704" v="4629"/>
          <ac:spMkLst>
            <pc:docMk/>
            <pc:sldMk cId="1504938630" sldId="276"/>
            <ac:spMk id="2" creationId="{913683FB-DF95-E126-F2AF-437AEE942621}"/>
          </ac:spMkLst>
        </pc:spChg>
        <pc:picChg chg="del">
          <ac:chgData name="janghoon jun" userId="056a5883350c2f5e" providerId="LiveId" clId="{6DA654A6-03B0-40F7-A259-B276216985A6}" dt="2026-09-10T05:02:45.004" v="4631" actId="478"/>
          <ac:picMkLst>
            <pc:docMk/>
            <pc:sldMk cId="1504938630" sldId="276"/>
            <ac:picMk id="4" creationId="{46693135-C301-9F06-2589-F08988C88813}"/>
          </ac:picMkLst>
        </pc:picChg>
        <pc:picChg chg="add">
          <ac:chgData name="janghoon jun" userId="056a5883350c2f5e" providerId="LiveId" clId="{6DA654A6-03B0-40F7-A259-B276216985A6}" dt="2026-09-10T05:02:45.534" v="4632" actId="22"/>
          <ac:picMkLst>
            <pc:docMk/>
            <pc:sldMk cId="1504938630" sldId="276"/>
            <ac:picMk id="5" creationId="{D4DA04F9-B60D-B9E9-17B8-B1E936BB0517}"/>
          </ac:picMkLst>
        </pc:picChg>
      </pc:sldChg>
      <pc:sldChg chg="add del">
        <pc:chgData name="janghoon jun" userId="056a5883350c2f5e" providerId="LiveId" clId="{6DA654A6-03B0-40F7-A259-B276216985A6}" dt="2026-09-10T05:03:12.292" v="4635" actId="47"/>
        <pc:sldMkLst>
          <pc:docMk/>
          <pc:sldMk cId="2410116862" sldId="27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33074436-1BEA-4F09-AD5C-9DF87C96BF5A}" type="datetimeFigureOut">
              <a:rPr lang="ko-KR" altLang="en-US" smtClean="0"/>
              <a:pPr/>
              <a:t>2026-09-29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433C9518-700F-4811-95BB-24DAF3FA92F2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49F85-BE6B-5075-93DD-06C87EF09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CCB01C-6DFB-662E-6D77-086F50A1715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A8B0F6-581D-F115-E541-F080CF8FE9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7BEC81-8798-CC3F-98AB-C751B4C75E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998017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47299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1074" y="2203269"/>
            <a:ext cx="8437053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ko-KR" sz="2000" b="1" dirty="0" err="1">
                <a:solidFill>
                  <a:schemeClr val="bg1"/>
                </a:solidFill>
              </a:rPr>
              <a:t>Contribution</a:t>
            </a:r>
            <a:r>
              <a:rPr lang="ko-KR" altLang="ko-KR" sz="2000" b="1" dirty="0">
                <a:solidFill>
                  <a:schemeClr val="bg1"/>
                </a:solidFill>
              </a:rPr>
              <a:t> and </a:t>
            </a:r>
            <a:r>
              <a:rPr lang="ko-KR" altLang="ko-KR" sz="2000" b="1" dirty="0" err="1">
                <a:solidFill>
                  <a:schemeClr val="bg1"/>
                </a:solidFill>
              </a:rPr>
              <a:t>Limitations</a:t>
            </a:r>
            <a:r>
              <a:rPr lang="ko-KR" altLang="ko-KR" sz="2000" b="1" dirty="0">
                <a:solidFill>
                  <a:schemeClr val="bg1"/>
                </a:solidFill>
              </a:rPr>
              <a:t> of AEC and </a:t>
            </a:r>
            <a:r>
              <a:rPr lang="ko-KR" altLang="ko-KR" sz="2000" b="1" dirty="0" err="1">
                <a:solidFill>
                  <a:schemeClr val="bg1"/>
                </a:solidFill>
              </a:rPr>
              <a:t>Body</a:t>
            </a:r>
            <a:r>
              <a:rPr lang="ko-KR" altLang="ko-KR" sz="2000" b="1" dirty="0">
                <a:solidFill>
                  <a:schemeClr val="bg1"/>
                </a:solidFill>
              </a:rPr>
              <a:t> </a:t>
            </a:r>
            <a:r>
              <a:rPr lang="ko-KR" altLang="ko-KR" sz="2000" b="1" dirty="0" err="1">
                <a:solidFill>
                  <a:schemeClr val="bg1"/>
                </a:solidFill>
              </a:rPr>
              <a:t>Composition</a:t>
            </a:r>
            <a:r>
              <a:rPr lang="ko-KR" altLang="ko-KR" sz="2000" b="1" dirty="0">
                <a:solidFill>
                  <a:schemeClr val="bg1"/>
                </a:solidFill>
              </a:rPr>
              <a:t> </a:t>
            </a:r>
            <a:r>
              <a:rPr lang="ko-KR" altLang="ko-KR" sz="2000" b="1" dirty="0" err="1">
                <a:solidFill>
                  <a:schemeClr val="bg1"/>
                </a:solidFill>
              </a:rPr>
              <a:t>Curves</a:t>
            </a:r>
            <a:endParaRPr lang="en-US" altLang="ko-KR" sz="2000" b="1" dirty="0">
              <a:solidFill>
                <a:schemeClr val="bg1"/>
              </a:solidFill>
            </a:endParaRPr>
          </a:p>
          <a:p>
            <a:r>
              <a:rPr lang="ko-KR" altLang="ko-KR" sz="2000" b="1" dirty="0" err="1">
                <a:solidFill>
                  <a:schemeClr val="bg1"/>
                </a:solidFill>
              </a:rPr>
              <a:t>in</a:t>
            </a:r>
            <a:r>
              <a:rPr lang="ko-KR" altLang="ko-KR" sz="2000" b="1" dirty="0">
                <a:solidFill>
                  <a:schemeClr val="bg1"/>
                </a:solidFill>
              </a:rPr>
              <a:t> </a:t>
            </a:r>
            <a:r>
              <a:rPr lang="ko-KR" altLang="ko-KR" sz="2000" b="1" dirty="0" err="1">
                <a:solidFill>
                  <a:schemeClr val="bg1"/>
                </a:solidFill>
              </a:rPr>
              <a:t>Chronic</a:t>
            </a:r>
            <a:r>
              <a:rPr lang="ko-KR" altLang="ko-KR" sz="2000" b="1" dirty="0">
                <a:solidFill>
                  <a:schemeClr val="bg1"/>
                </a:solidFill>
              </a:rPr>
              <a:t> </a:t>
            </a:r>
            <a:r>
              <a:rPr lang="ko-KR" altLang="ko-KR" sz="2000" b="1" dirty="0" err="1">
                <a:solidFill>
                  <a:schemeClr val="bg1"/>
                </a:solidFill>
              </a:rPr>
              <a:t>Disease</a:t>
            </a:r>
            <a:r>
              <a:rPr lang="ko-KR" altLang="ko-KR" sz="2000" b="1" dirty="0">
                <a:solidFill>
                  <a:schemeClr val="bg1"/>
                </a:solidFill>
              </a:rPr>
              <a:t> </a:t>
            </a:r>
            <a:r>
              <a:rPr lang="ko-KR" altLang="ko-KR" sz="2000" b="1" dirty="0" err="1">
                <a:solidFill>
                  <a:schemeClr val="bg1"/>
                </a:solidFill>
              </a:rPr>
              <a:t>Prediction</a:t>
            </a:r>
            <a:endParaRPr sz="3600" b="1" dirty="0">
              <a:solidFill>
                <a:schemeClr val="bg1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31074" y="3091544"/>
            <a:ext cx="1329210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dirty="0">
                <a:solidFill>
                  <a:schemeClr val="bg1"/>
                </a:solidFill>
              </a:rPr>
              <a:t>2026. 10. 02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1074" y="3548744"/>
            <a:ext cx="194688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chemeClr val="bg1"/>
                </a:solidFill>
              </a:rPr>
              <a:t>JangHoon Chun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1074" y="4005944"/>
            <a:ext cx="5093254" cy="7386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chemeClr val="bg1"/>
                </a:solidFill>
              </a:rPr>
              <a:t>Department of, Medical Device Engineering &amp; Management</a:t>
            </a:r>
          </a:p>
          <a:p>
            <a:r>
              <a:rPr sz="1400">
                <a:solidFill>
                  <a:schemeClr val="bg1"/>
                </a:solidFill>
              </a:rPr>
              <a:t>Gangnam Severance Hospital,</a:t>
            </a:r>
          </a:p>
          <a:p>
            <a:r>
              <a:rPr sz="1400">
                <a:solidFill>
                  <a:schemeClr val="bg1"/>
                </a:solidFill>
              </a:rPr>
              <a:t>Yonsei University College of Medicine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1176000" cy="532342"/>
          </a:xfrm>
        </p:spPr>
        <p:txBody>
          <a:bodyPr/>
          <a:lstStyle/>
          <a:p>
            <a:r>
              <a:t>Background &amp;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 wrap="square"/>
          <a:lstStyle/>
          <a:p>
            <a:r>
              <a:rPr sz="1800"/>
              <a:t>Clinic4(성별·나이·신장·체중)만으로 만성질환(HTN·DM·CKD)을 어느 정도 판별할 수 있는지 기준선을 만든다</a:t>
            </a:r>
          </a:p>
          <a:p>
            <a:r>
              <a:rPr sz="1800"/>
              <a:t>CT에서 얻는 AEC 곡선과 체성분(VAT/SAT/근육/근내지방) 곡선이 이 기준선을 넘어서는 추가 정보를 주는지 평가한다</a:t>
            </a:r>
          </a:p>
          <a:p>
            <a:r>
              <a:rPr sz="1800"/>
              <a:t>곡선은 liver→pubis로 crop한 128구간으로 표현하고, 전처리·FPCA·부위 조합을 바꿔가며 개선을 시도했다</a:t>
            </a:r>
          </a:p>
          <a:p>
            <a:r>
              <a:rPr sz="1800"/>
              <a:t>개발은 Gangnam, 외부검증은 Sinchon(둘 다 단면 데이터)에서 같은 프레임(Youden cutoff·DeLong)으로 평가한다</a:t>
            </a:r>
          </a:p>
          <a:p>
            <a:r>
              <a:rPr sz="1800"/>
              <a:t>목적: 곡선 기반 확장이 Baseline 대비 얼마나, 그리고 코호트 간 일관되게 성능을 올리는지 확인하고, 일관되지 않다면 원인과 다음 단계를 제시한다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F63E61-31BA-0C84-5523-4F90057F2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2</a:t>
            </a:fld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Methods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2106120"/>
              </p:ext>
            </p:extLst>
          </p:nvPr>
        </p:nvGraphicFramePr>
        <p:xfrm>
          <a:off x="512064" y="978408"/>
          <a:ext cx="11173968" cy="512463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27280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45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2463"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Item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/>
                        <a:t>Detail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463"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Cohort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/>
                        <a:t>Internal(Gangnam, n=1,260) 개발·내부검증 / External(Sinchon, n=1,123) 외부검증 — 둘 다 단면(cross-sectional)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463"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Input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/>
                        <a:t>Clinic4 = Sex + Age + Height + Weight (Gangnam 기준 StandardScaler로 표준화)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463"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Outcome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/>
                        <a:t>HTN / DM / CKD 각각 독립적인 logistic regression (질병마다 별도 split)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463"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Split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/>
                        <a:t>하이퍼파라미터 튜닝에는 질병 라벨로 stratify한 patient-level train:valid = 7:1(:2) split을 쓰고(valid로 GridSearchCV), 최종 성능 보고는 이 튜닝된 하이퍼파라미터를 고정한 채 Internal 전체에 5-fold CV를 적용한다(아래 Cutoff 항목 참고)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463"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Tuning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/>
                        <a:t>GridSearchCV(C×penalty(l1/l2)×class_weight, solver=liblinear, scoring=roc_auc), valid는 단일 predefined fold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463"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Cutoff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/>
                        <a:t>Internal(Gangnam)은 5-fold stratified CV의 out-of-fold(OOF) 예측 전체에서 Youden index 최댓값으로 cutoff를 정한다(양성 수가 21~386명대로 적어 단일 split보다 안정적). 이 cutoff를 External(Sinchon)에도 그대로 적용한다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2463"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External validation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/>
                        <a:t>External 적용 모델은 Gangnam 전체 데이터로 재학습한 frozen 모델이다(하이퍼파라미터는 재탐색 없이 기존 GridSearchCV 선택값을 그대로 사용)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2463"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Extended input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/>
                        <a:t>AEC + 체성분(VAT/SAT/LAMA/NAMA/IMATA) 128구간 곡선(liver→pubis crop, 전처리 없음)을 FPCA로 압축해 추가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12463"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Comparison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/>
                        <a:t>Internal 성능은 5-fold CV OOF 예측으로, External 성능은 위 frozen 모델의 예측으로 보고한다. Baseline 대비 개선은 각각 OOF/External 예측을 patient_id로 짝지은 paired DeLong test로 검정한다 (* p&lt;0.05, 보정 전)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2A07828-50EF-3A57-FEBD-8ED533A26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3</a:t>
            </a:fld>
            <a:endParaRPr lang="ko-KR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/>
              <a:t>Table 1. Baseline Characteristics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5591247"/>
              </p:ext>
            </p:extLst>
          </p:nvPr>
        </p:nvGraphicFramePr>
        <p:xfrm>
          <a:off x="512064" y="978408"/>
          <a:ext cx="11173968" cy="489600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27934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934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934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934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sz="1200" b="1" dirty="0"/>
                        <a:t>Characteristic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Internal (</a:t>
                      </a:r>
                      <a:r>
                        <a:rPr sz="1200" b="1" dirty="0"/>
                        <a:t>Gangnam</a:t>
                      </a:r>
                      <a:r>
                        <a:rPr lang="en-US" sz="1200" b="1" dirty="0"/>
                        <a:t>)</a:t>
                      </a:r>
                      <a:endParaRPr sz="1200" b="1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External (</a:t>
                      </a:r>
                      <a:r>
                        <a:rPr sz="1200" b="1" dirty="0"/>
                        <a:t>Sinchon</a:t>
                      </a:r>
                      <a:r>
                        <a:rPr lang="en-US" sz="1200" b="1" dirty="0"/>
                        <a:t>)</a:t>
                      </a:r>
                      <a:endParaRPr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p-value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n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1260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1123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41951059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Sex (Male), n (%)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475 (37.7%)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547 (48.7%)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&lt;0.001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Age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57.3 ± 12.1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59.7 ± 12.3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&lt;0.001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Height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162.8 ± 8.0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163.7 ± 8.3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0.018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Weight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62.0 ± 10.1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62.4 ± 10.1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0.359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BMI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23.3 ± 2.9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23.2 ± 2.9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0.322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SMI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6873.5 ± 1562.8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6661.3 ± 1639.9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0.108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VAT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8486.2 ± 5165.1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9096.4 ± 5280.4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0.002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SAT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19243.6 ± 7914.4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17914.4 ± 8631.1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&lt;0.001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IMATA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1175.5 ± 576.0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1224.9 ± 617.6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0.019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NAMA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14279.5 ± 4408.5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12931.5 ± 4709.8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&lt;0.001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LAMA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4127.4 ± 1962.2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5093.2 ± 2123.8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&lt;0.001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TAMA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18406.9 ± 5171.0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18024.7 ± 5311.8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0.378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HTN, n (%)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386 (30.6%)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507 (45.1%)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&lt;0.001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DM, n (%)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233 (18.5%)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335 (29.8%)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&lt;0.001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CKD, n (%)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105 (8.3%)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188 (16.7%)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&lt;0.001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8D9492-77D8-9D4C-A0F4-E86DA11F6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4</a:t>
            </a:fld>
            <a:endParaRPr lang="ko-KR" alt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/>
              <a:t>Table 2. Performance — Baseline vs Best (+</a:t>
            </a:r>
            <a:r>
              <a:rPr dirty="0" err="1"/>
              <a:t>AEC+체성분</a:t>
            </a:r>
            <a:r>
              <a:rPr dirty="0"/>
              <a:t>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7112704"/>
              </p:ext>
            </p:extLst>
          </p:nvPr>
        </p:nvGraphicFramePr>
        <p:xfrm>
          <a:off x="512064" y="978408"/>
          <a:ext cx="11173967" cy="5124626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596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62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962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9628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9628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9628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9628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4202"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Disease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Cohort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AUC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ACC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Sensitivity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Specificity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202">
                <a:tc rowSpan="4">
                  <a:txBody>
                    <a:bodyPr/>
                    <a:lstStyle/>
                    <a:p>
                      <a:pPr algn="ctr"/>
                      <a:r>
                        <a:rPr sz="1200" b="0" dirty="0" err="1"/>
                        <a:t>고혈압</a:t>
                      </a:r>
                      <a:r>
                        <a:rPr sz="1200" b="0" dirty="0"/>
                        <a:t>(HTN)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Internal (Gangnam)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0.796 ± 0.018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0.697 ± 0.017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0.811 ± 0.048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0.646 ± 0.013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420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+AEC+체성분*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0.811 ± 0.032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0.681 ± 0.027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0.878 ± 0.059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0.594 ± 0.023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420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External (Sinchon)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0.557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420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+AEC+체성분*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0.741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0.630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0.866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0.437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4202">
                <a:tc rowSpan="4">
                  <a:txBody>
                    <a:bodyPr/>
                    <a:lstStyle/>
                    <a:p>
                      <a:pPr algn="ctr"/>
                      <a:r>
                        <a:rPr sz="1200" b="0" dirty="0" err="1"/>
                        <a:t>당뇨병</a:t>
                      </a:r>
                      <a:r>
                        <a:rPr sz="1200" b="0" dirty="0"/>
                        <a:t>(DM)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Internal (Gangnam)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Baseline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0.712 ± 0.049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0.599 ± 0.023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0.790 ± 0.065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0.556 ± 0.030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420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+AEC+체성분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0.736 ± 0.039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0.611 ± 0.032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0.820 ± 0.061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0.564 ± 0.031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420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External (Sinchon)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0.554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0.466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420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+AEC+체성분*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0.706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0.504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0.875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0.346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4202">
                <a:tc rowSpan="4">
                  <a:txBody>
                    <a:bodyPr/>
                    <a:lstStyle/>
                    <a:p>
                      <a:pPr algn="ctr"/>
                      <a:r>
                        <a:rPr sz="1200" b="0" dirty="0" err="1"/>
                        <a:t>만성신장질환</a:t>
                      </a:r>
                      <a:r>
                        <a:rPr sz="1200" b="0" dirty="0"/>
                        <a:t>(CKD)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Internal (Gangnam)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Baseline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0.770 ± 0.034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0.646 ± 0.044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0.810 ± 0.080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0.631 ± 0.049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420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+AEC+체성분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0.784 ± 0.034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0.660 ± 0.046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0.810 ± 0.067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0.646 ± 0.055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9420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External (Sinchon)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0.539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0.518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9420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+AEC+체성분*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0.681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0.487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0.416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B6F5C5-8D53-6EB3-73C5-17B8D7F88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5</a:t>
            </a:fld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B3D3A8-A8E5-E8A2-ABF2-C59FC7E2A71D}"/>
              </a:ext>
            </a:extLst>
          </p:cNvPr>
          <p:cNvSpPr txBox="1"/>
          <p:nvPr/>
        </p:nvSpPr>
        <p:spPr>
          <a:xfrm>
            <a:off x="394063" y="6103034"/>
            <a:ext cx="61177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* DeLong p&lt;0.05 vs Baseline</a:t>
            </a:r>
            <a:endParaRPr lang="ko-KR" altLang="en-US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Figure 1. Clinic4 Baseline Odds Ratio (95% CI, Internal </a:t>
            </a:r>
            <a:r>
              <a:rPr dirty="0" err="1"/>
              <a:t>train+valid</a:t>
            </a:r>
            <a:r>
              <a:rPr dirty="0"/>
              <a:t>)</a:t>
            </a:r>
          </a:p>
        </p:txBody>
      </p:sp>
      <p:pic>
        <p:nvPicPr>
          <p:cNvPr id="3" name="Picture 2" descr="fig_baseline_or_forest.png"/>
          <p:cNvPicPr>
            <a:picLocks noChangeAspect="1"/>
          </p:cNvPicPr>
          <p:nvPr/>
        </p:nvPicPr>
        <p:blipFill>
          <a:blip r:embed="rId3"/>
          <a:srcRect t="9129"/>
          <a:stretch>
            <a:fillRect/>
          </a:stretch>
        </p:blipFill>
        <p:spPr>
          <a:xfrm>
            <a:off x="508000" y="1838328"/>
            <a:ext cx="11176000" cy="3458718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4CDF56-6C7D-B301-188E-7F81AB291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6</a:t>
            </a:fld>
            <a:endParaRPr lang="ko-KR" alt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/>
              <a:t>Figure 2. FPCA Coefficient Inverse Transform — Slice-wise Logit Contribution</a:t>
            </a:r>
          </a:p>
        </p:txBody>
      </p:sp>
      <p:pic>
        <p:nvPicPr>
          <p:cNvPr id="3" name="Picture 2" descr="fpca_recovered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812276"/>
            <a:ext cx="11176000" cy="3806168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985A2A-E881-0F89-38EF-8306EF68B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7</a:t>
            </a:fld>
            <a:endParaRPr lang="ko-KR" alt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743A7-2DE1-484D-10ED-54E154F4C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E494A-8665-27CC-F400-B88484969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Figure 3. Calibration Plot — Best (+</a:t>
            </a:r>
            <a:r>
              <a:rPr lang="en-US" altLang="ko-KR" dirty="0" err="1"/>
              <a:t>AEC+체성분</a:t>
            </a:r>
            <a:r>
              <a:rPr lang="en-US" altLang="ko-KR" dirty="0"/>
              <a:t>)</a:t>
            </a:r>
            <a:endParaRPr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8CA5B1-7A51-6B75-7EFD-944329CBC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8</a:t>
            </a:fld>
            <a:endParaRPr lang="ko-KR" altLang="en-US" dirty="0"/>
          </a:p>
        </p:txBody>
      </p:sp>
      <p:pic>
        <p:nvPicPr>
          <p:cNvPr id="5" name="Picture 4" descr="fig_calibration_cv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812276"/>
            <a:ext cx="11176000" cy="3806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67076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1176000" cy="532342"/>
          </a:xfrm>
        </p:spPr>
        <p:txBody>
          <a:bodyPr/>
          <a:lstStyle/>
          <a:p>
            <a:r>
              <a:t>Discussion — 체성분은 기여하지만 코호트 간 일관되지 않다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2064" y="1131824"/>
            <a:ext cx="11173968" cy="3460053"/>
          </a:xfrm>
        </p:spPr>
        <p:txBody>
          <a:bodyPr wrap="square">
            <a:normAutofit fontScale="92500"/>
          </a:bodyPr>
          <a:lstStyle/>
          <a:p>
            <a:r>
              <a:rPr sz="1800" dirty="0"/>
              <a:t>AEC </a:t>
            </a:r>
            <a:r>
              <a:rPr sz="1800" dirty="0" err="1"/>
              <a:t>단독</a:t>
            </a:r>
            <a:r>
              <a:rPr sz="1800" dirty="0"/>
              <a:t> </a:t>
            </a:r>
            <a:r>
              <a:rPr sz="1800" dirty="0" err="1"/>
              <a:t>기여는</a:t>
            </a:r>
            <a:r>
              <a:rPr sz="1800" dirty="0"/>
              <a:t> </a:t>
            </a:r>
            <a:r>
              <a:rPr sz="1800" dirty="0" err="1"/>
              <a:t>작고</a:t>
            </a:r>
            <a:r>
              <a:rPr sz="1800" dirty="0"/>
              <a:t>(</a:t>
            </a:r>
            <a:r>
              <a:rPr sz="1800" dirty="0" err="1"/>
              <a:t>sinchon</a:t>
            </a:r>
            <a:r>
              <a:rPr sz="1800" dirty="0"/>
              <a:t> 2/3만 </a:t>
            </a:r>
            <a:r>
              <a:rPr sz="1800" dirty="0" err="1"/>
              <a:t>유의</a:t>
            </a:r>
            <a:r>
              <a:rPr sz="1800" dirty="0"/>
              <a:t>), </a:t>
            </a:r>
            <a:r>
              <a:rPr sz="1800" dirty="0" err="1"/>
              <a:t>체성분을</a:t>
            </a:r>
            <a:r>
              <a:rPr sz="1800" dirty="0"/>
              <a:t> </a:t>
            </a:r>
            <a:r>
              <a:rPr sz="1800" dirty="0" err="1"/>
              <a:t>더하면</a:t>
            </a:r>
            <a:r>
              <a:rPr sz="1800" dirty="0"/>
              <a:t> </a:t>
            </a:r>
            <a:r>
              <a:rPr sz="1800" dirty="0" err="1"/>
              <a:t>커지지만</a:t>
            </a:r>
            <a:r>
              <a:rPr sz="1800" dirty="0"/>
              <a:t> Sinchon </a:t>
            </a:r>
            <a:r>
              <a:rPr sz="1800" dirty="0" err="1"/>
              <a:t>위주로</a:t>
            </a:r>
            <a:r>
              <a:rPr sz="1800" dirty="0"/>
              <a:t> </a:t>
            </a:r>
            <a:r>
              <a:rPr sz="1800" dirty="0" err="1"/>
              <a:t>유의</a:t>
            </a:r>
            <a:r>
              <a:rPr lang="ko-KR" altLang="en-US" sz="1800" dirty="0"/>
              <a:t>함</a:t>
            </a:r>
            <a:endParaRPr sz="1800" dirty="0"/>
          </a:p>
          <a:p>
            <a:r>
              <a:rPr sz="1800" dirty="0" err="1"/>
              <a:t>같은 확장이라도 부위·질환·코호트에 따라 크기가 다름 (예: CKD Gangnam은 체성분만 +0.015, AEC만 -0.016, 5-fold CV 기준)</a:t>
            </a:r>
          </a:p>
          <a:p>
            <a:r>
              <a:rPr sz="1800" dirty="0" err="1"/>
              <a:t>해석</a:t>
            </a:r>
            <a:r>
              <a:rPr sz="1800" dirty="0"/>
              <a:t>(</a:t>
            </a:r>
            <a:r>
              <a:rPr sz="1800" dirty="0" err="1"/>
              <a:t>가설</a:t>
            </a:r>
            <a:r>
              <a:rPr sz="1800" dirty="0"/>
              <a:t>): crop </a:t>
            </a:r>
            <a:r>
              <a:rPr sz="1800" dirty="0" err="1"/>
              <a:t>범위</a:t>
            </a:r>
            <a:r>
              <a:rPr sz="1800" dirty="0"/>
              <a:t> </a:t>
            </a:r>
            <a:r>
              <a:rPr sz="1800" dirty="0" err="1"/>
              <a:t>안에서도</a:t>
            </a:r>
            <a:r>
              <a:rPr sz="1800" dirty="0"/>
              <a:t> </a:t>
            </a:r>
            <a:r>
              <a:rPr sz="1800" dirty="0" err="1"/>
              <a:t>환자마다</a:t>
            </a:r>
            <a:r>
              <a:rPr sz="1800" dirty="0"/>
              <a:t> </a:t>
            </a:r>
            <a:r>
              <a:rPr sz="1800" dirty="0" err="1"/>
              <a:t>해부학적</a:t>
            </a:r>
            <a:r>
              <a:rPr sz="1800" dirty="0"/>
              <a:t> </a:t>
            </a:r>
            <a:r>
              <a:rPr sz="1800" dirty="0" err="1"/>
              <a:t>구성이</a:t>
            </a:r>
            <a:r>
              <a:rPr sz="1800" dirty="0"/>
              <a:t> </a:t>
            </a:r>
            <a:r>
              <a:rPr sz="1800" dirty="0" err="1"/>
              <a:t>달라</a:t>
            </a:r>
            <a:r>
              <a:rPr sz="1800" dirty="0"/>
              <a:t>, </a:t>
            </a:r>
            <a:r>
              <a:rPr sz="1800" dirty="0" err="1"/>
              <a:t>같은</a:t>
            </a:r>
            <a:r>
              <a:rPr sz="1800" dirty="0"/>
              <a:t> slice </a:t>
            </a:r>
            <a:r>
              <a:rPr sz="1800" dirty="0" err="1"/>
              <a:t>index가</a:t>
            </a:r>
            <a:r>
              <a:rPr sz="1800" dirty="0"/>
              <a:t> </a:t>
            </a:r>
            <a:r>
              <a:rPr sz="1800" dirty="0" err="1"/>
              <a:t>같은</a:t>
            </a:r>
            <a:r>
              <a:rPr sz="1800" dirty="0"/>
              <a:t> </a:t>
            </a:r>
            <a:r>
              <a:rPr sz="1800" dirty="0" err="1"/>
              <a:t>위치를</a:t>
            </a:r>
            <a:r>
              <a:rPr sz="1800" dirty="0"/>
              <a:t> </a:t>
            </a:r>
            <a:r>
              <a:rPr sz="1800" dirty="0" err="1"/>
              <a:t>가리키지</a:t>
            </a:r>
            <a:r>
              <a:rPr sz="1800" dirty="0"/>
              <a:t> </a:t>
            </a:r>
            <a:r>
              <a:rPr sz="1800" dirty="0" err="1"/>
              <a:t>않을</a:t>
            </a:r>
            <a:r>
              <a:rPr sz="1800" dirty="0"/>
              <a:t> 수 있</a:t>
            </a:r>
            <a:r>
              <a:rPr lang="ko-KR" altLang="en-US" sz="1800" dirty="0"/>
              <a:t>음</a:t>
            </a:r>
            <a:endParaRPr sz="1800" dirty="0"/>
          </a:p>
          <a:p>
            <a:r>
              <a:rPr sz="1800" dirty="0" err="1"/>
              <a:t>한계</a:t>
            </a:r>
            <a:r>
              <a:rPr sz="1800" dirty="0"/>
              <a:t>: 이 </a:t>
            </a:r>
            <a:r>
              <a:rPr sz="1800" dirty="0" err="1"/>
              <a:t>위치</a:t>
            </a:r>
            <a:r>
              <a:rPr sz="1800" dirty="0"/>
              <a:t> </a:t>
            </a:r>
            <a:r>
              <a:rPr sz="1800" dirty="0" err="1"/>
              <a:t>불일치는</a:t>
            </a:r>
            <a:r>
              <a:rPr sz="1800" dirty="0"/>
              <a:t> </a:t>
            </a:r>
            <a:r>
              <a:rPr sz="1800" dirty="0" err="1"/>
              <a:t>직접</a:t>
            </a:r>
            <a:r>
              <a:rPr sz="1800" dirty="0"/>
              <a:t> </a:t>
            </a:r>
            <a:r>
              <a:rPr sz="1800" dirty="0" err="1"/>
              <a:t>측정하지</a:t>
            </a:r>
            <a:r>
              <a:rPr sz="1800" dirty="0"/>
              <a:t> </a:t>
            </a:r>
            <a:r>
              <a:rPr sz="1800" dirty="0" err="1"/>
              <a:t>않은</a:t>
            </a:r>
            <a:r>
              <a:rPr sz="1800" dirty="0"/>
              <a:t> </a:t>
            </a:r>
            <a:r>
              <a:rPr sz="1800" dirty="0" err="1"/>
              <a:t>가설이며</a:t>
            </a:r>
            <a:r>
              <a:rPr sz="1800" dirty="0"/>
              <a:t>, </a:t>
            </a:r>
            <a:r>
              <a:rPr sz="1800" dirty="0" err="1"/>
              <a:t>이번</a:t>
            </a:r>
            <a:r>
              <a:rPr sz="1800" dirty="0"/>
              <a:t> </a:t>
            </a:r>
            <a:r>
              <a:rPr sz="1800" dirty="0" err="1"/>
              <a:t>발표에서는</a:t>
            </a:r>
            <a:r>
              <a:rPr sz="1800" dirty="0"/>
              <a:t> </a:t>
            </a:r>
            <a:r>
              <a:rPr sz="1800" dirty="0" err="1"/>
              <a:t>추가</a:t>
            </a:r>
            <a:r>
              <a:rPr sz="1800" dirty="0"/>
              <a:t> </a:t>
            </a:r>
            <a:r>
              <a:rPr sz="1800" dirty="0" err="1"/>
              <a:t>검증</a:t>
            </a:r>
            <a:r>
              <a:rPr sz="1800" dirty="0"/>
              <a:t> </a:t>
            </a:r>
            <a:r>
              <a:rPr sz="1800" dirty="0" err="1"/>
              <a:t>없이</a:t>
            </a:r>
            <a:r>
              <a:rPr sz="1800" dirty="0"/>
              <a:t> </a:t>
            </a:r>
            <a:r>
              <a:rPr sz="1800" dirty="0" err="1"/>
              <a:t>관찰</a:t>
            </a:r>
            <a:r>
              <a:rPr lang="en-US" sz="1800" dirty="0"/>
              <a:t> </a:t>
            </a:r>
            <a:r>
              <a:rPr sz="1800" dirty="0" err="1"/>
              <a:t>제시</a:t>
            </a:r>
            <a:endParaRPr sz="18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CF90836-9E69-7EFC-2877-0FBBA2FAD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9</a:t>
            </a:fld>
            <a:endParaRPr lang="ko-KR" alt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1176000" cy="532342"/>
          </a:xfrm>
        </p:spPr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 wrap="square"/>
          <a:lstStyle/>
          <a:p>
            <a:r>
              <a:rPr sz="1800"/>
              <a:t>Clinic4(성별·나이·신장·체중)만으로 AUC Gangnam 0.71~0.80(5-fold CV), Sinchon 0.62~0.72 수준의 판별력을 보인다</a:t>
            </a:r>
          </a:p>
          <a:p>
            <a:r>
              <a:rPr sz="1800"/>
              <a:t>AEC 곡선(FPCA)만 추가하면 ΔAUC -0.017~+0.027(Internal 5-fold CV/External)로 미미하고, CKD Gangnam은 오히려 하락한다(-0.017, Table S7)</a:t>
            </a:r>
          </a:p>
          <a:p>
            <a:r>
              <a:rPr sz="1800"/>
              <a:t>체성분을 더하면 개선된다 — AEC+체성분 ΔAUC +0.014~+0.066(Internal 5-fold CV/External 기준), Sinchon 3/3 질환에서 유의. 다만 Gangnam은 1/3 질환(HTN)뿐이고 부위·질환에 따라 편차가 있어 코호트 간 일관되지 않다</a:t>
            </a:r>
          </a:p>
          <a:p>
            <a:r>
              <a:rPr sz="1800"/>
              <a:t>한계: crop range가 환자마다 일정하지 않을 가능성을 가설로 제시하나, 직접 측정하지 않았다 — 추가 검증이 필요하다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FC0757-D1D4-11B5-E65D-AF1C9B6A5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10</a:t>
            </a:fld>
            <a:endParaRPr lang="ko-KR" alt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cratch_image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Supplementary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6B8F56E8-9DBA-93D7-63F1-C8508A93B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12</a:t>
            </a:fld>
            <a:endParaRPr lang="ko-KR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Figure S1. Baseline 대비 확장모델 ΔAUC (Internal 5-fold CV / External, 참고용 그래프)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412909-25DE-E3CF-2D11-6AA6372F1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13</a:t>
            </a:fld>
            <a:endParaRPr lang="ko-KR" altLang="en-US" dirty="0"/>
          </a:p>
        </p:txBody>
      </p:sp>
      <p:pic>
        <p:nvPicPr>
          <p:cNvPr id="5" name="Picture 4" descr="fig_S1_delta_auc_cv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1812276"/>
            <a:ext cx="11176000" cy="380616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Table S1. 전체 확장모델 AUC 비교 (Internal 5-fold CV mean±SD / External full-refit, * paired DeLong p&lt;0.05 vs Baseline)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C5A0FE-4927-3A33-20F9-1AA1153E4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14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0034995"/>
              </p:ext>
            </p:extLst>
          </p:nvPr>
        </p:nvGraphicFramePr>
        <p:xfrm>
          <a:off x="489796" y="1047981"/>
          <a:ext cx="11212408" cy="512463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5401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58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58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58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3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7189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321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321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321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01581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732090"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Disease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Cohort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/>
                        <a:t>+AEC</a:t>
                      </a:r>
                      <a:r>
                        <a:rPr lang="en-US" sz="1200" b="1" dirty="0"/>
                        <a:t> </a:t>
                      </a:r>
                      <a:r>
                        <a:rPr sz="1200" b="1" dirty="0"/>
                        <a:t>(</a:t>
                      </a:r>
                      <a:r>
                        <a:rPr sz="1200" b="1" dirty="0" err="1"/>
                        <a:t>FPCA+Ratio</a:t>
                      </a:r>
                      <a:r>
                        <a:rPr sz="1200" b="1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/>
                        <a:t>+AEC (FPCA)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+AEC (Ratio)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/>
                        <a:t>+AEC</a:t>
                      </a:r>
                      <a:endParaRPr lang="en-US" sz="1200" b="1" dirty="0"/>
                    </a:p>
                    <a:p>
                      <a:pPr algn="ctr"/>
                      <a:r>
                        <a:rPr sz="1200" b="1" dirty="0"/>
                        <a:t>+VAT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/>
                        <a:t>+AEC </a:t>
                      </a:r>
                      <a:endParaRPr lang="en-US" sz="1200" b="1" dirty="0"/>
                    </a:p>
                    <a:p>
                      <a:pPr algn="ctr"/>
                      <a:r>
                        <a:rPr sz="1200" b="1" dirty="0"/>
                        <a:t>+LAMA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/>
                        <a:t>+AEC </a:t>
                      </a:r>
                      <a:endParaRPr lang="en-US" sz="1200" b="1" dirty="0"/>
                    </a:p>
                    <a:p>
                      <a:pPr algn="ctr"/>
                      <a:r>
                        <a:rPr sz="1200" b="1" dirty="0"/>
                        <a:t>+NAMA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/>
                        <a:t>+AEC </a:t>
                      </a:r>
                      <a:endParaRPr lang="en-US" sz="1200" b="1" dirty="0"/>
                    </a:p>
                    <a:p>
                      <a:pPr algn="ctr"/>
                      <a:r>
                        <a:rPr sz="1200" b="1" dirty="0"/>
                        <a:t>+</a:t>
                      </a:r>
                      <a:r>
                        <a:rPr sz="1200" b="1" dirty="0" err="1"/>
                        <a:t>체성분</a:t>
                      </a:r>
                      <a:endParaRPr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체성분만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2090">
                <a:tc rowSpan="2">
                  <a:txBody>
                    <a:bodyPr/>
                    <a:lstStyle/>
                    <a:p>
                      <a:pPr algn="ctr"/>
                      <a:r>
                        <a:rPr sz="1200" b="0"/>
                        <a:t>고혈압(HTN)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Internal</a:t>
                      </a:r>
                      <a:endParaRPr lang="en-US" sz="1200" b="0" dirty="0"/>
                    </a:p>
                    <a:p>
                      <a:pPr algn="ctr"/>
                      <a:r>
                        <a:rPr sz="1200" b="0" dirty="0"/>
                        <a:t>(Gangnam)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0.796</a:t>
                      </a:r>
                      <a:endParaRPr lang="en-US" sz="1200" b="0" dirty="0"/>
                    </a:p>
                    <a:p>
                      <a:pPr algn="ctr"/>
                      <a:r>
                        <a:rPr sz="1200" b="0" dirty="0"/>
                        <a:t>± 0.018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0.804</a:t>
                      </a:r>
                      <a:endParaRPr lang="en-US" sz="1200" b="0" dirty="0"/>
                    </a:p>
                    <a:p>
                      <a:pPr algn="ctr"/>
                      <a:r>
                        <a:rPr sz="1200" b="0" dirty="0"/>
                        <a:t>± 0.029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0.805 </a:t>
                      </a:r>
                      <a:endParaRPr lang="en-US" sz="1200" b="0" dirty="0"/>
                    </a:p>
                    <a:p>
                      <a:pPr algn="ctr"/>
                      <a:r>
                        <a:rPr sz="1200" b="0" dirty="0"/>
                        <a:t>± 0.028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0.800 </a:t>
                      </a:r>
                      <a:endParaRPr lang="en-US" sz="1200" b="0" dirty="0"/>
                    </a:p>
                    <a:p>
                      <a:pPr algn="ctr"/>
                      <a:r>
                        <a:rPr sz="1200" b="0" dirty="0"/>
                        <a:t>± 0.025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0.810 </a:t>
                      </a:r>
                      <a:endParaRPr lang="en-US" sz="1200" b="0" dirty="0"/>
                    </a:p>
                    <a:p>
                      <a:pPr algn="ctr"/>
                      <a:r>
                        <a:rPr sz="1200" b="0" dirty="0"/>
                        <a:t>± 0.038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0.808 </a:t>
                      </a:r>
                      <a:endParaRPr lang="en-US" sz="1200" b="0" dirty="0"/>
                    </a:p>
                    <a:p>
                      <a:pPr algn="ctr"/>
                      <a:r>
                        <a:rPr sz="1200" b="0" dirty="0"/>
                        <a:t>± 0.026*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0.811 </a:t>
                      </a:r>
                      <a:endParaRPr lang="en-US" sz="1200" b="0" dirty="0"/>
                    </a:p>
                    <a:p>
                      <a:pPr algn="ctr"/>
                      <a:r>
                        <a:rPr sz="1200" b="0" dirty="0"/>
                        <a:t>± 0.029*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0.811 </a:t>
                      </a:r>
                      <a:endParaRPr lang="en-US" sz="1200" b="0" dirty="0"/>
                    </a:p>
                    <a:p>
                      <a:pPr algn="ctr"/>
                      <a:r>
                        <a:rPr sz="1200" b="0" dirty="0"/>
                        <a:t>± 0.032*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0.812 </a:t>
                      </a:r>
                      <a:endParaRPr lang="en-US" sz="1200" b="0" dirty="0"/>
                    </a:p>
                    <a:p>
                      <a:pPr algn="ctr"/>
                      <a:r>
                        <a:rPr sz="1200" b="0" dirty="0"/>
                        <a:t>± 0.031*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209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External</a:t>
                      </a:r>
                      <a:endParaRPr lang="en-US" sz="1200" b="0" dirty="0"/>
                    </a:p>
                    <a:p>
                      <a:pPr algn="ctr"/>
                      <a:r>
                        <a:rPr sz="1200" b="0" dirty="0"/>
                        <a:t>(Sinchon)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0.730*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0.730*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0.735*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0.743*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0.741*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0.740*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2090">
                <a:tc rowSpan="2">
                  <a:txBody>
                    <a:bodyPr/>
                    <a:lstStyle/>
                    <a:p>
                      <a:pPr algn="ctr"/>
                      <a:r>
                        <a:rPr sz="1200" b="0"/>
                        <a:t>당뇨병(DM)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Internal</a:t>
                      </a:r>
                      <a:endParaRPr lang="en-US" sz="1200" b="0" dirty="0"/>
                    </a:p>
                    <a:p>
                      <a:pPr algn="ctr"/>
                      <a:r>
                        <a:rPr sz="1200" b="0" dirty="0"/>
                        <a:t>(Gangnam)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0.712 </a:t>
                      </a:r>
                      <a:endParaRPr lang="en-US" sz="1200" b="0" dirty="0"/>
                    </a:p>
                    <a:p>
                      <a:pPr algn="ctr"/>
                      <a:r>
                        <a:rPr sz="1200" b="0" dirty="0"/>
                        <a:t>± 0.049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0.733 </a:t>
                      </a:r>
                      <a:endParaRPr lang="en-US" sz="1200" b="0" dirty="0"/>
                    </a:p>
                    <a:p>
                      <a:pPr algn="ctr"/>
                      <a:r>
                        <a:rPr sz="1200" b="0" dirty="0"/>
                        <a:t>± 0.046*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0.732 </a:t>
                      </a:r>
                      <a:endParaRPr lang="en-US" sz="1200" b="0" dirty="0"/>
                    </a:p>
                    <a:p>
                      <a:pPr algn="ctr"/>
                      <a:r>
                        <a:rPr sz="1200" b="0" dirty="0"/>
                        <a:t>± 0.048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0.730 </a:t>
                      </a:r>
                      <a:endParaRPr lang="en-US" sz="1200" b="0" dirty="0"/>
                    </a:p>
                    <a:p>
                      <a:pPr algn="ctr"/>
                      <a:r>
                        <a:rPr sz="1200" b="0" dirty="0"/>
                        <a:t>± 0.034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0.732 </a:t>
                      </a:r>
                      <a:endParaRPr lang="en-US" sz="1200" b="0" dirty="0"/>
                    </a:p>
                    <a:p>
                      <a:pPr algn="ctr"/>
                      <a:r>
                        <a:rPr sz="1200" b="0" dirty="0"/>
                        <a:t>± 0.043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0.738 </a:t>
                      </a:r>
                      <a:endParaRPr lang="en-US" sz="1200" b="0" dirty="0"/>
                    </a:p>
                    <a:p>
                      <a:pPr algn="ctr"/>
                      <a:r>
                        <a:rPr sz="1200" b="0" dirty="0"/>
                        <a:t>± 0.047*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0.732 </a:t>
                      </a:r>
                      <a:endParaRPr lang="en-US" sz="1200" b="0" dirty="0"/>
                    </a:p>
                    <a:p>
                      <a:pPr algn="ctr"/>
                      <a:r>
                        <a:rPr sz="1200" b="0" dirty="0"/>
                        <a:t>± 0.047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0.736 </a:t>
                      </a:r>
                      <a:endParaRPr lang="en-US" sz="1200" b="0" dirty="0"/>
                    </a:p>
                    <a:p>
                      <a:pPr algn="ctr"/>
                      <a:r>
                        <a:rPr sz="1200" b="0" dirty="0"/>
                        <a:t>± 0.039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0.736 </a:t>
                      </a:r>
                      <a:endParaRPr lang="en-US" sz="1200" b="0" dirty="0"/>
                    </a:p>
                    <a:p>
                      <a:pPr algn="ctr"/>
                      <a:r>
                        <a:rPr sz="1200" b="0" dirty="0"/>
                        <a:t>± 0.034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209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External</a:t>
                      </a:r>
                      <a:endParaRPr lang="en-US" sz="1200" b="0" dirty="0"/>
                    </a:p>
                    <a:p>
                      <a:pPr algn="ctr"/>
                      <a:r>
                        <a:rPr sz="1200" b="0" dirty="0"/>
                        <a:t>(Sinchon)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0.674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0.681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0.683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0.673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0.706*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0.698*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2090">
                <a:tc rowSpan="2">
                  <a:txBody>
                    <a:bodyPr/>
                    <a:lstStyle/>
                    <a:p>
                      <a:pPr algn="ctr"/>
                      <a:r>
                        <a:rPr sz="1200" b="0"/>
                        <a:t>만성신장질환(CKD)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Internal</a:t>
                      </a:r>
                      <a:endParaRPr lang="en-US" sz="1200" b="0" dirty="0"/>
                    </a:p>
                    <a:p>
                      <a:pPr algn="ctr"/>
                      <a:r>
                        <a:rPr sz="1200" b="0" dirty="0"/>
                        <a:t>(Gangnam)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0.770 </a:t>
                      </a:r>
                      <a:endParaRPr lang="en-US" sz="1200" b="0" dirty="0"/>
                    </a:p>
                    <a:p>
                      <a:pPr algn="ctr"/>
                      <a:r>
                        <a:rPr sz="1200" b="0" dirty="0"/>
                        <a:t>± 0.034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0.774 </a:t>
                      </a:r>
                      <a:endParaRPr lang="en-US" sz="1200" b="0" dirty="0"/>
                    </a:p>
                    <a:p>
                      <a:pPr algn="ctr"/>
                      <a:r>
                        <a:rPr sz="1200" b="0" dirty="0"/>
                        <a:t>± 0.031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0.754 </a:t>
                      </a:r>
                      <a:endParaRPr lang="en-US" sz="1200" b="0" dirty="0"/>
                    </a:p>
                    <a:p>
                      <a:pPr algn="ctr"/>
                      <a:r>
                        <a:rPr sz="1200" b="0" dirty="0"/>
                        <a:t>± 0.037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0.776 </a:t>
                      </a:r>
                      <a:endParaRPr lang="en-US" sz="1200" b="0" dirty="0"/>
                    </a:p>
                    <a:p>
                      <a:pPr algn="ctr"/>
                      <a:r>
                        <a:rPr sz="1200" b="0" dirty="0"/>
                        <a:t>± 0.031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0.772 </a:t>
                      </a:r>
                      <a:endParaRPr lang="en-US" sz="1200" b="0" dirty="0"/>
                    </a:p>
                    <a:p>
                      <a:pPr algn="ctr"/>
                      <a:r>
                        <a:rPr sz="1200" b="0" dirty="0"/>
                        <a:t>± 0.035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0.793 </a:t>
                      </a:r>
                      <a:endParaRPr lang="en-US" sz="1200" b="0" dirty="0"/>
                    </a:p>
                    <a:p>
                      <a:pPr algn="ctr"/>
                      <a:r>
                        <a:rPr sz="1200" b="0" dirty="0"/>
                        <a:t>± 0.029*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0.783 </a:t>
                      </a:r>
                      <a:endParaRPr lang="en-US" sz="1200" b="0" dirty="0"/>
                    </a:p>
                    <a:p>
                      <a:pPr algn="ctr"/>
                      <a:r>
                        <a:rPr sz="1200" b="0" dirty="0"/>
                        <a:t>± 0.033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0.784 </a:t>
                      </a:r>
                      <a:endParaRPr lang="en-US" sz="1200" b="0" dirty="0"/>
                    </a:p>
                    <a:p>
                      <a:pPr algn="ctr"/>
                      <a:r>
                        <a:rPr sz="1200" b="0" dirty="0"/>
                        <a:t>± 0.034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0.785 </a:t>
                      </a:r>
                      <a:endParaRPr lang="en-US" sz="1200" b="0" dirty="0"/>
                    </a:p>
                    <a:p>
                      <a:pPr algn="ctr"/>
                      <a:r>
                        <a:rPr sz="1200" b="0" dirty="0"/>
                        <a:t>± 0.036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209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External</a:t>
                      </a:r>
                      <a:endParaRPr lang="en-US" sz="1200" b="0" dirty="0"/>
                    </a:p>
                    <a:p>
                      <a:pPr algn="ctr"/>
                      <a:r>
                        <a:rPr sz="1200" b="0" dirty="0"/>
                        <a:t>(Sinchon)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0.643*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0.633*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0.638*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0.669*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0.646*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0.681*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0.675*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F4CCB-3F0A-43E8-AB6B-119F8A6B1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00B8A-30B4-4DE0-ED36-E831C7CE1B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Table S2. Internal 5-fold CV — Fold</a:t>
            </a:r>
            <a:r>
              <a:rPr lang="ko-KR" altLang="en-US" dirty="0"/>
              <a:t>별 </a:t>
            </a:r>
            <a:r>
              <a:rPr lang="en-US" altLang="ko-KR" dirty="0"/>
              <a:t>AUC (</a:t>
            </a:r>
            <a:r>
              <a:rPr lang="ko-KR" altLang="en-US" dirty="0"/>
              <a:t>전체 확장모델</a:t>
            </a:r>
            <a:r>
              <a:rPr lang="en-US" altLang="ko-KR" dirty="0"/>
              <a:t>)</a:t>
            </a:r>
            <a:endParaRPr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712F35-3F2F-742B-95F1-A7E6949FD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15</a:t>
            </a:fld>
            <a:endParaRPr lang="ko-KR" altLang="en-US" dirty="0"/>
          </a:p>
        </p:txBody>
      </p:sp>
      <p:graphicFrame>
        <p:nvGraphicFramePr>
          <p:cNvPr id="6" name="Table 2">
            <a:extLst>
              <a:ext uri="{FF2B5EF4-FFF2-40B4-BE49-F238E27FC236}">
                <a16:creationId xmlns:a16="http://schemas.microsoft.com/office/drawing/2014/main" id="{CD25B792-B93D-4E4E-FB4B-0C6522F21F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4597627"/>
              </p:ext>
            </p:extLst>
          </p:nvPr>
        </p:nvGraphicFramePr>
        <p:xfrm>
          <a:off x="335883" y="1684086"/>
          <a:ext cx="11520234" cy="274320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2415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78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41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1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15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415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4155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415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4155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83022"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Disease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Fold1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/>
                        <a:t>Fold2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Fold3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Fold4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Fold5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Mean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SD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3022">
                <a:tc rowSpan="9">
                  <a:txBody>
                    <a:bodyPr/>
                    <a:lstStyle/>
                    <a:p>
                      <a:pPr algn="ctr"/>
                      <a:r>
                        <a:rPr sz="1200" b="0"/>
                        <a:t>고혈압(HTN)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0.797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0.796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0.020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3022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+AEC (FPCA+Ratio)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0.758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0.837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0.786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0.033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3022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+AEC (FPCA)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0.762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0.789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0.031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3022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+AEC (Ratio)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0.774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0.028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3022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+AEC +VAT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0.849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0.773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0.042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3022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+AEC +LAMA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0.797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0.808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0.029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3022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+AEC +NAMA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0.839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0.032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3022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+AEC +체성분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0.036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3022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체성분만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0.762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0.838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0.792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0.034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60376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F82BA-C09D-0197-4479-9391079D4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ED191-D9A4-FA35-31B6-E6C57CD3E2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Table S2. Internal 5-fold CV — Fold</a:t>
            </a:r>
            <a:r>
              <a:rPr lang="ko-KR" altLang="en-US" dirty="0"/>
              <a:t>별 </a:t>
            </a:r>
            <a:r>
              <a:rPr lang="en-US" altLang="ko-KR" dirty="0"/>
              <a:t>AUC (</a:t>
            </a:r>
            <a:r>
              <a:rPr lang="ko-KR" altLang="en-US" dirty="0"/>
              <a:t>전체 확장모델</a:t>
            </a:r>
            <a:r>
              <a:rPr lang="en-US" altLang="ko-KR" dirty="0"/>
              <a:t>)</a:t>
            </a:r>
            <a:endParaRPr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16272E-70B7-8151-AE51-17FCD411A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16</a:t>
            </a:fld>
            <a:endParaRPr lang="ko-KR" altLang="en-US" dirty="0"/>
          </a:p>
        </p:txBody>
      </p:sp>
      <p:graphicFrame>
        <p:nvGraphicFramePr>
          <p:cNvPr id="6" name="Table 2">
            <a:extLst>
              <a:ext uri="{FF2B5EF4-FFF2-40B4-BE49-F238E27FC236}">
                <a16:creationId xmlns:a16="http://schemas.microsoft.com/office/drawing/2014/main" id="{E8BD02EF-2534-89EF-6FC4-D487230B03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681583"/>
              </p:ext>
            </p:extLst>
          </p:nvPr>
        </p:nvGraphicFramePr>
        <p:xfrm>
          <a:off x="335883" y="1525060"/>
          <a:ext cx="11520234" cy="274320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2415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78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41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1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15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415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4155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415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4155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83022"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Disease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Fold1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/>
                        <a:t>Fold2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Fold3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Fold4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Fold5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Mean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SD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3022">
                <a:tc rowSpan="9">
                  <a:txBody>
                    <a:bodyPr/>
                    <a:lstStyle/>
                    <a:p>
                      <a:pPr algn="ctr"/>
                      <a:r>
                        <a:rPr sz="1200" b="0"/>
                        <a:t>당뇨병(DM)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0.055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3022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+AEC (FPCA+Ratio)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0.658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0.773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0.733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0.051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3022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+AEC (FPCA)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0.054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3022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+AEC (Ratio)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0.727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0.674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0.763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0.038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3022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+AEC +VAT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0.749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0.769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0.048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3022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+AEC +LAMA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0.762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0.738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0.052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3022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+AEC +NAMA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0.791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0.659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0.053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3022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+AEC +체성분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0.781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0.762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0.044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3022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체성분만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0.759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0.038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41914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7A112-84AC-9FF6-9B6C-E7A2104FA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52BB6-F2FC-4B98-DE93-0764D58B5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Table S2. Internal 5-fold CV — Fold</a:t>
            </a:r>
            <a:r>
              <a:rPr lang="ko-KR" altLang="en-US" dirty="0"/>
              <a:t>별 </a:t>
            </a:r>
            <a:r>
              <a:rPr lang="en-US" altLang="ko-KR" dirty="0"/>
              <a:t>AUC (</a:t>
            </a:r>
            <a:r>
              <a:rPr lang="ko-KR" altLang="en-US" dirty="0"/>
              <a:t>전체 확장모델</a:t>
            </a:r>
            <a:r>
              <a:rPr lang="en-US" altLang="ko-KR" dirty="0"/>
              <a:t>)</a:t>
            </a:r>
            <a:endParaRPr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30DF12-C68A-6F0C-41B2-9F7E2D84C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17</a:t>
            </a:fld>
            <a:endParaRPr lang="ko-KR" altLang="en-US" dirty="0"/>
          </a:p>
        </p:txBody>
      </p:sp>
      <p:graphicFrame>
        <p:nvGraphicFramePr>
          <p:cNvPr id="6" name="Table 2">
            <a:extLst>
              <a:ext uri="{FF2B5EF4-FFF2-40B4-BE49-F238E27FC236}">
                <a16:creationId xmlns:a16="http://schemas.microsoft.com/office/drawing/2014/main" id="{0A2B0E14-5AB4-0663-2CA2-B715AAE1CD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6064542"/>
              </p:ext>
            </p:extLst>
          </p:nvPr>
        </p:nvGraphicFramePr>
        <p:xfrm>
          <a:off x="186563" y="1544938"/>
          <a:ext cx="11818874" cy="274320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5401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78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41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1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15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415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4155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415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4155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83022"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Disease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Fold1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/>
                        <a:t>Fold2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Fold3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Fold4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Fold5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Mean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SD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3022">
                <a:tc rowSpan="9">
                  <a:txBody>
                    <a:bodyPr/>
                    <a:lstStyle/>
                    <a:p>
                      <a:pPr algn="ctr"/>
                      <a:r>
                        <a:rPr sz="1200" b="0"/>
                        <a:t>만성신장질환(CKD)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0.754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0.770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0.813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0.799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0.716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0.770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0.038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3022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+AEC (FPCA+Ratio)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0.774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0.035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3022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+AEC (FPCA)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0.696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0.754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0.041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3022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+AEC (Ratio)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0.762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0.771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0.035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3022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+AEC +VAT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0.763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0.749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0.039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3022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+AEC +LAMA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0.799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0.032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3022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+AEC +NAMA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0.842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0.773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0.739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0.783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0.037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3022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+AEC +체성분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0.781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0.749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0.038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3022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체성분만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0.763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0.758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0.773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0.040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348603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D7D40-A40F-D86B-87EB-CCF489E70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C7D85-A2F6-60D0-F6A5-60814AC6B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Table S3. Internal 5-fold CV — Fold</a:t>
            </a:r>
            <a:r>
              <a:rPr lang="ko-KR" altLang="en-US" dirty="0"/>
              <a:t>별 상세 </a:t>
            </a:r>
            <a:r>
              <a:rPr lang="en-US" altLang="ko-KR" dirty="0"/>
              <a:t>(Baseline vs Best, AUC/ACC/Sens/Spec)</a:t>
            </a:r>
            <a:endParaRPr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441B7B-3AE6-9E7F-F342-E41FDEC84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18</a:t>
            </a:fld>
            <a:endParaRPr lang="ko-KR" altLang="en-US" dirty="0"/>
          </a:p>
        </p:txBody>
      </p:sp>
      <p:graphicFrame>
        <p:nvGraphicFramePr>
          <p:cNvPr id="5" name="Table 2">
            <a:extLst>
              <a:ext uri="{FF2B5EF4-FFF2-40B4-BE49-F238E27FC236}">
                <a16:creationId xmlns:a16="http://schemas.microsoft.com/office/drawing/2014/main" id="{90977E91-04F5-0389-7AC3-3919F7C4B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5760786"/>
              </p:ext>
            </p:extLst>
          </p:nvPr>
        </p:nvGraphicFramePr>
        <p:xfrm>
          <a:off x="512064" y="1236825"/>
          <a:ext cx="11173968" cy="301752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3967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67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67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67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67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9674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967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9674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5310"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Disease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/>
                        <a:t>Fold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n (pos)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AUC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ACC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Sensitivity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Specificity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5310">
                <a:tc rowSpan="10">
                  <a:txBody>
                    <a:bodyPr/>
                    <a:lstStyle/>
                    <a:p>
                      <a:pPr algn="ctr"/>
                      <a:r>
                        <a:rPr sz="1200" b="0"/>
                        <a:t>고혈압(HTN)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Fold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78/252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0.644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53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Fold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77/252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0.797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0.623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53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Fold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77/252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0.651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53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Fold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77/252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0.663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53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Fold 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77/252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0.651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53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+AEC+체성분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Fold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78/252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0.659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0.603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53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+AEC+체성분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Fold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77/252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0.671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0.909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0.566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53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+AEC+체성분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Fold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77/252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0.909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0.617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53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+AEC+체성분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Fold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77/252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0.948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0.617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53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+AEC+체성분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Fold 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77/252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0.651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0.566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686235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089EA-9712-05BE-1A09-93661A958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8D571-3CD5-6A8B-81EC-D4223B6C2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Table S3. Internal 5-fold CV — Fold</a:t>
            </a:r>
            <a:r>
              <a:rPr lang="ko-KR" altLang="en-US" dirty="0"/>
              <a:t>별 상세 </a:t>
            </a:r>
            <a:r>
              <a:rPr lang="en-US" altLang="ko-KR" dirty="0"/>
              <a:t>(Baseline vs Best, AUC/ACC/Sens/Spec)</a:t>
            </a:r>
            <a:endParaRPr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13B60A-646E-15E4-CDC5-7CB62390F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19</a:t>
            </a:fld>
            <a:endParaRPr lang="ko-KR" altLang="en-US" dirty="0"/>
          </a:p>
        </p:txBody>
      </p:sp>
      <p:graphicFrame>
        <p:nvGraphicFramePr>
          <p:cNvPr id="5" name="Table 2">
            <a:extLst>
              <a:ext uri="{FF2B5EF4-FFF2-40B4-BE49-F238E27FC236}">
                <a16:creationId xmlns:a16="http://schemas.microsoft.com/office/drawing/2014/main" id="{135163E9-673A-2D95-4651-0F540248D8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05291"/>
              </p:ext>
            </p:extLst>
          </p:nvPr>
        </p:nvGraphicFramePr>
        <p:xfrm>
          <a:off x="512064" y="1236826"/>
          <a:ext cx="11173968" cy="301752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3967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67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67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67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67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9674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967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9674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5310"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Disease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/>
                        <a:t>Fold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n (pos)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AUC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ACC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Sensitivity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Specificity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5310">
                <a:tc rowSpan="10">
                  <a:txBody>
                    <a:bodyPr/>
                    <a:lstStyle/>
                    <a:p>
                      <a:pPr algn="ctr"/>
                      <a:r>
                        <a:rPr sz="1200" b="0"/>
                        <a:t>당뇨병(DM)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Fold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47/252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0.595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0.532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653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Fold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47/252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0.643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653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Fold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47/252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0.599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0.566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653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Fold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46/252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0.575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0.696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0.549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653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Fold 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46/252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0.583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0.524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653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+AEC+체성분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Fold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47/252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0.579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0.551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653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+AEC+체성분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Fold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47/252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0.781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0.851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0.580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653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+AEC+체성분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Fold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47/252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0.663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653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+AEC+체성분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Fold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46/252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0.579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0.524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653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+AEC+체성분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Fold 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46/252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0.762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0.848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0.549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452569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8C583E-DC7F-987A-E3CE-9164414CE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69F08B-C218-680A-87F1-80EB348F6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Table S3. Internal 5-fold CV — Fold</a:t>
            </a:r>
            <a:r>
              <a:rPr lang="ko-KR" altLang="en-US" dirty="0"/>
              <a:t>별 상세 </a:t>
            </a:r>
            <a:r>
              <a:rPr lang="en-US" altLang="ko-KR" dirty="0"/>
              <a:t>(Baseline vs Best, AUC/ACC/Sens/Spec)</a:t>
            </a:r>
            <a:endParaRPr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8E61D7-26C5-856A-934D-4F479A8EA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20</a:t>
            </a:fld>
            <a:endParaRPr lang="ko-KR" altLang="en-US" dirty="0"/>
          </a:p>
        </p:txBody>
      </p:sp>
      <p:graphicFrame>
        <p:nvGraphicFramePr>
          <p:cNvPr id="5" name="Table 2">
            <a:extLst>
              <a:ext uri="{FF2B5EF4-FFF2-40B4-BE49-F238E27FC236}">
                <a16:creationId xmlns:a16="http://schemas.microsoft.com/office/drawing/2014/main" id="{9BEF6B21-EB29-2EB9-2D0C-732027AADB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7565024"/>
              </p:ext>
            </p:extLst>
          </p:nvPr>
        </p:nvGraphicFramePr>
        <p:xfrm>
          <a:off x="437293" y="1276582"/>
          <a:ext cx="11317414" cy="301752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5401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67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67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67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67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9674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967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9674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5310"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Disease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/>
                        <a:t>Fold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n (pos)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AUC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/>
                        <a:t>ACC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Sensitivity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Specificity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5310">
                <a:tc rowSpan="10">
                  <a:txBody>
                    <a:bodyPr/>
                    <a:lstStyle/>
                    <a:p>
                      <a:pPr algn="ctr"/>
                      <a:r>
                        <a:rPr sz="1200" b="0"/>
                        <a:t>만성신장질환(CKD)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Fold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21/252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0.754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0.606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653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Fold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21/252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0.770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0.595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0.571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653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Fold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21/252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0.813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0.719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653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Fold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21/252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0.799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0.905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0.623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653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Fold 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21/252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0.639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0.636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653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+AEC+체성분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Fold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21/252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0.628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653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+AEC+체성분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Fold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21/252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0.781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0.595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0.905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0.567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653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+AEC+체성분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Fold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21/252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0.736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  <a:tr h="1653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+AEC+체성분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Fold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21/252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0.749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0.667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29"/>
                  </a:ext>
                </a:extLst>
              </a:tr>
              <a:tr h="1653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+</a:t>
                      </a:r>
                      <a:r>
                        <a:rPr sz="1200" b="0" dirty="0" err="1"/>
                        <a:t>AEC+체성분</a:t>
                      </a:r>
                      <a:endParaRPr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Fold 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21/252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0.643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0.762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0.632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65843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S4. +AEC FPCA-only Coefficient (Internal, * p&lt;0.05, 보정 전)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3561688"/>
              </p:ext>
            </p:extLst>
          </p:nvPr>
        </p:nvGraphicFramePr>
        <p:xfrm>
          <a:off x="512064" y="978408"/>
          <a:ext cx="11173965" cy="512463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22347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347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347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3479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347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12463"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Disease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Term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Coefficient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Odds Ratio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p-value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463">
                <a:tc rowSpan="3">
                  <a:txBody>
                    <a:bodyPr/>
                    <a:lstStyle/>
                    <a:p>
                      <a:pPr algn="ctr"/>
                      <a:r>
                        <a:rPr sz="1200" b="0" dirty="0" err="1"/>
                        <a:t>고혈압</a:t>
                      </a:r>
                      <a:r>
                        <a:rPr sz="1200" b="0" dirty="0"/>
                        <a:t>(HTN)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aec_fpca_pc1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0.337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1.400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6.31e-04 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463">
                <a:tc vMerge="1"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aec_fpca_pc2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-0.493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4.51e-06 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463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aec_fpca_pc3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0.084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1.088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0.337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463">
                <a:tc rowSpan="3">
                  <a:txBody>
                    <a:bodyPr/>
                    <a:lstStyle/>
                    <a:p>
                      <a:pPr algn="ctr"/>
                      <a:r>
                        <a:rPr sz="1200" b="0" dirty="0" err="1"/>
                        <a:t>당뇨병</a:t>
                      </a:r>
                      <a:r>
                        <a:rPr sz="1200" b="0" dirty="0"/>
                        <a:t>(DM)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aec_fpca_pc1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0.121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1.129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0.216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463">
                <a:tc vMerge="1"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aec_fpca_pc2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-0.520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0.595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9.23e-06 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463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aec_fpca_pc3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0.127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1.136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0.173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2463">
                <a:tc rowSpan="3">
                  <a:txBody>
                    <a:bodyPr/>
                    <a:lstStyle/>
                    <a:p>
                      <a:pPr algn="ctr"/>
                      <a:r>
                        <a:rPr sz="1200" b="0" dirty="0" err="1"/>
                        <a:t>만성신장질환</a:t>
                      </a:r>
                      <a:r>
                        <a:rPr sz="1200" b="0" dirty="0"/>
                        <a:t>(CKD)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aec_fpca_pc1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0.101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1.106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0.450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2463">
                <a:tc vMerge="1"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aec_fpca_pc2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-0.371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0.018 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12463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aec_fpca_pc3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-0.077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0.926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0.540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B6C037-1BE8-AD43-7C28-151B04A0A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21</a:t>
            </a:fld>
            <a:endParaRPr lang="ko-KR" alt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E8BB5-7A3D-4040-D873-8EFC1E56D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8A9CB-D578-8F7A-989B-900CEEA10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Table S5. Clinic4 Baseline Coefficients — Detail (Coefficient, SE, Odds Ratio, p-value)</a:t>
            </a:r>
            <a:endParaRPr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FAEA37D-047D-C628-6786-B49D62785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22</a:t>
            </a:fld>
            <a:endParaRPr lang="ko-KR" altLang="en-US" dirty="0"/>
          </a:p>
        </p:txBody>
      </p:sp>
      <p:graphicFrame>
        <p:nvGraphicFramePr>
          <p:cNvPr id="4" name="Table 2">
            <a:extLst>
              <a:ext uri="{FF2B5EF4-FFF2-40B4-BE49-F238E27FC236}">
                <a16:creationId xmlns:a16="http://schemas.microsoft.com/office/drawing/2014/main" id="{20051640-1BF8-9B33-B3CD-63B75AD41C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9145898"/>
              </p:ext>
            </p:extLst>
          </p:nvPr>
        </p:nvGraphicFramePr>
        <p:xfrm>
          <a:off x="512064" y="978408"/>
          <a:ext cx="11173968" cy="5124626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8623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23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623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623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623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623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4202"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Disease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Term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/>
                        <a:t>Coefficient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Std. Error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Odds Ratio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p-value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202">
                <a:tc rowSpan="4">
                  <a:txBody>
                    <a:bodyPr/>
                    <a:lstStyle/>
                    <a:p>
                      <a:pPr algn="ctr"/>
                      <a:r>
                        <a:rPr sz="1200" b="0" dirty="0" err="1"/>
                        <a:t>고혈압</a:t>
                      </a:r>
                      <a:r>
                        <a:rPr sz="1200" b="0" dirty="0"/>
                        <a:t>(HTN)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Sex (M)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0.952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0.289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2.591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&lt;0.001 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4202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1.052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0.125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2.863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&lt;0.001 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4202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Height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-0.406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0.165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0.014 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4202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Weight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0.693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0.137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1.999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&lt;0.001 *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4202">
                <a:tc rowSpan="4">
                  <a:txBody>
                    <a:bodyPr/>
                    <a:lstStyle/>
                    <a:p>
                      <a:pPr algn="ctr"/>
                      <a:r>
                        <a:rPr sz="1200" b="0" dirty="0" err="1"/>
                        <a:t>당뇨병</a:t>
                      </a:r>
                      <a:r>
                        <a:rPr sz="1200" b="0" dirty="0"/>
                        <a:t>(DM)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Sex (M)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0.879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0.357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2.408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0.014 *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4202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0.578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0.134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1.783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&lt;0.001 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4202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Height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-0.782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0.198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0.457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&lt;0.001 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4202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Weight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0.744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0.155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2.104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&lt;0.001 *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4202">
                <a:tc rowSpan="4">
                  <a:txBody>
                    <a:bodyPr/>
                    <a:lstStyle/>
                    <a:p>
                      <a:pPr algn="ctr"/>
                      <a:r>
                        <a:rPr sz="1200" b="0" dirty="0" err="1"/>
                        <a:t>만성신장질환</a:t>
                      </a:r>
                      <a:r>
                        <a:rPr sz="1200" b="0" dirty="0"/>
                        <a:t>(CKD)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Sex (M)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0.757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0.517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2.132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0.143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4202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0.203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2.173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&lt;0.001 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94202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Height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-0.067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0.292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0.935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0.819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94202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Weight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0.581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0.244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1.788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0.017 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96399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0041C5-D9E0-25D3-C066-D6EBC07EB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4915A-F311-E5F2-7117-A239886E07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Table S6. Clinic4 Baseline Variance Inflation Factor (VIF) — Multicollinearity Check</a:t>
            </a:r>
            <a:endParaRPr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1ECAE82-15D4-E727-6D5D-CFFBD151D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23</a:t>
            </a:fld>
            <a:endParaRPr lang="ko-KR" altLang="en-US" dirty="0"/>
          </a:p>
        </p:txBody>
      </p:sp>
      <p:graphicFrame>
        <p:nvGraphicFramePr>
          <p:cNvPr id="4" name="Table 2">
            <a:extLst>
              <a:ext uri="{FF2B5EF4-FFF2-40B4-BE49-F238E27FC236}">
                <a16:creationId xmlns:a16="http://schemas.microsoft.com/office/drawing/2014/main" id="{138BAC77-54EF-D7D8-DA03-5E8E2972F1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8889474"/>
              </p:ext>
            </p:extLst>
          </p:nvPr>
        </p:nvGraphicFramePr>
        <p:xfrm>
          <a:off x="512064" y="978408"/>
          <a:ext cx="4487320" cy="5124635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22436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36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24927">
                <a:tc>
                  <a:txBody>
                    <a:bodyPr/>
                    <a:lstStyle/>
                    <a:p>
                      <a:pPr algn="ctr"/>
                      <a:r>
                        <a:rPr sz="1200" b="1" dirty="0"/>
                        <a:t>Term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VIF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4927"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Sex (M)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2.361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24927"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1.232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24927"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Height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2.781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24927"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Weight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1.820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48427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5D747-8719-E607-8411-9800E9B05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79701-6829-C21E-E4B0-6949698C3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Table S7. Internal 5-fold Cross-Validation — Baseline vs +AEC(FPCA) (</a:t>
            </a:r>
            <a:r>
              <a:rPr lang="ko-KR" altLang="en-US" dirty="0" err="1"/>
              <a:t>하이퍼파라미터</a:t>
            </a:r>
            <a:r>
              <a:rPr lang="ko-KR" altLang="en-US" dirty="0"/>
              <a:t> 고정</a:t>
            </a:r>
            <a:r>
              <a:rPr lang="en-US" altLang="ko-KR" dirty="0"/>
              <a:t>, OOF </a:t>
            </a:r>
            <a:r>
              <a:rPr lang="ko-KR" altLang="en-US" dirty="0"/>
              <a:t>평가</a:t>
            </a:r>
            <a:r>
              <a:rPr lang="en-US" altLang="ko-KR" dirty="0"/>
              <a:t>)</a:t>
            </a:r>
            <a:endParaRPr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BE1C60-4ECF-9664-17AD-85523EF39D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24</a:t>
            </a:fld>
            <a:endParaRPr lang="ko-KR" altLang="en-US" dirty="0"/>
          </a:p>
        </p:txBody>
      </p:sp>
      <p:graphicFrame>
        <p:nvGraphicFramePr>
          <p:cNvPr id="5" name="Table 2">
            <a:extLst>
              <a:ext uri="{FF2B5EF4-FFF2-40B4-BE49-F238E27FC236}">
                <a16:creationId xmlns:a16="http://schemas.microsoft.com/office/drawing/2014/main" id="{72236941-0B35-C074-8F8B-37B42298389A}"/>
              </a:ext>
            </a:extLst>
          </p:cNvPr>
          <p:cNvGraphicFramePr>
            <a:graphicFrameLocks noGrp="1"/>
          </p:cNvGraphicFramePr>
          <p:nvPr/>
        </p:nvGraphicFramePr>
        <p:xfrm>
          <a:off x="512064" y="978408"/>
          <a:ext cx="11173968" cy="5124636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3967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67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67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67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67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9674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967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9674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281159"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Disease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n (pos)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Fold AUC (Baseline)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Fold AUC (+AEC)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OOF AUC (Baseline)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OOF AUC (+AEC)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Δ(OOF AUC)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DeLong p (OOF)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81159"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고혈압(HTN)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386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0.796 ± 0.018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0.805 ± 0.028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0.804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+0.009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0.050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81159"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당뇨병(DM)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233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0.712 ± 0.049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0.732 ± 0.048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+0.018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0.069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81159"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만성신장질환(CKD)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105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0.770 ± 0.034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0.754 ± 0.037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0.769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0.752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-0.017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/>
                        <a:t>0.273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14639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1A4B9BE-6ABB-4644-A858-A1BE01A7D227}">
  <we:reference id="wa200010725" version="1.0.0.1" store="ko-KR" storeType="OMEX"/>
  <we:alternateReferences>
    <we:reference id="WA200010725" version="1.0.0.1" store="WA200010725" storeType="OMEX"/>
  </we:alternateReferences>
  <we:properties>
    <we:property name="claude.fileId" value="&quot;b67ecc52-606c-4d9b-921c-389ac737e61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7258</TotalTime>
  <Words>2464</Words>
  <Application>Microsoft Office PowerPoint</Application>
  <PresentationFormat>와이드스크린</PresentationFormat>
  <Paragraphs>977</Paragraphs>
  <Slides>24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28" baseType="lpstr">
      <vt:lpstr>KoPub돋움체 Bold</vt:lpstr>
      <vt:lpstr>Arial</vt:lpstr>
      <vt:lpstr>KoPub돋움체 Medium</vt:lpstr>
      <vt:lpstr>Office 테마</vt:lpstr>
      <vt:lpstr>PowerPoint 프레젠테이션</vt:lpstr>
      <vt:lpstr>Background &amp; Objective</vt:lpstr>
      <vt:lpstr>Methods</vt:lpstr>
      <vt:lpstr>Table 1. Baseline Characteristics</vt:lpstr>
      <vt:lpstr>Table 2. Performance — Baseline vs Best (+AEC+체성분)</vt:lpstr>
      <vt:lpstr>Figure 1. Clinic4 Baseline Odds Ratio (95% CI, Internal train+valid)</vt:lpstr>
      <vt:lpstr>Figure 2. FPCA Coefficient Inverse Transform — Slice-wise Logit Contribution</vt:lpstr>
      <vt:lpstr>Figure 3. Calibration Plot — Best (+AEC+체성분)</vt:lpstr>
      <vt:lpstr>Discussion — 체성분은 기여하지만 코호트 간 일관되지 않다</vt:lpstr>
      <vt:lpstr>Conclusion</vt:lpstr>
      <vt:lpstr>PowerPoint 프레젠테이션</vt:lpstr>
      <vt:lpstr>Supplementary</vt:lpstr>
      <vt:lpstr>Figure S1. Baseline 대비 확장모델 ΔAUC (Internal 5-fold CV / External, 참고용 그래프)</vt:lpstr>
      <vt:lpstr>Table S1. 전체 확장모델 AUC 비교 (Internal 5-fold CV mean±SD / External full-refit, * paired DeLong p&lt;0.05 vs Baseline)</vt:lpstr>
      <vt:lpstr>Table S2. Internal 5-fold CV — Fold별 AUC (전체 확장모델)</vt:lpstr>
      <vt:lpstr>Table S2. Internal 5-fold CV — Fold별 AUC (전체 확장모델)</vt:lpstr>
      <vt:lpstr>Table S2. Internal 5-fold CV — Fold별 AUC (전체 확장모델)</vt:lpstr>
      <vt:lpstr>Table S3. Internal 5-fold CV — Fold별 상세 (Baseline vs Best, AUC/ACC/Sens/Spec)</vt:lpstr>
      <vt:lpstr>Table S3. Internal 5-fold CV — Fold별 상세 (Baseline vs Best, AUC/ACC/Sens/Spec)</vt:lpstr>
      <vt:lpstr>Table S3. Internal 5-fold CV — Fold별 상세 (Baseline vs Best, AUC/ACC/Sens/Spec)</vt:lpstr>
      <vt:lpstr>Table S4. +AEC FPCA-only Coefficient (Internal, * p&lt;0.05, 보정 전)</vt:lpstr>
      <vt:lpstr>Table S5. Clinic4 Baseline Coefficients — Detail (Coefficient, SE, Odds Ratio, p-value)</vt:lpstr>
      <vt:lpstr>Table S6. Clinic4 Baseline Variance Inflation Factor (VIF) — Multicollinearity Check</vt:lpstr>
      <vt:lpstr>Table S7. Internal 5-fold Cross-Validation — Baseline vs +AEC(FPCA) (하이퍼파라미터 고정, OOF 평가)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720</cp:revision>
  <dcterms:created xsi:type="dcterms:W3CDTF">2026-04-09T07:05:16Z</dcterms:created>
  <dcterms:modified xsi:type="dcterms:W3CDTF">2026-09-29T10:37:39Z</dcterms:modified>
</cp:coreProperties>
</file>