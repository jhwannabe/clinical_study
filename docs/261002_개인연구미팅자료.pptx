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24"/>
  </p:notesMasterIdLst>
  <p:sldIdLst>
    <p:sldId id="256" r:id="rId2"/>
    <p:sldId id="269" r:id="rId3"/>
    <p:sldId id="257" r:id="rId4"/>
    <p:sldId id="258" r:id="rId5"/>
    <p:sldId id="494" r:id="rId6"/>
    <p:sldId id="499" r:id="rId7"/>
    <p:sldId id="500" r:id="rId8"/>
    <p:sldId id="503" r:id="rId9"/>
    <p:sldId id="501" r:id="rId10"/>
    <p:sldId id="504" r:id="rId11"/>
    <p:sldId id="265" r:id="rId12"/>
    <p:sldId id="270" r:id="rId13"/>
    <p:sldId id="268" r:id="rId14"/>
    <p:sldId id="487" r:id="rId15"/>
    <p:sldId id="277" r:id="rId16"/>
    <p:sldId id="498" r:id="rId17"/>
    <p:sldId id="261" r:id="rId18"/>
    <p:sldId id="491" r:id="rId19"/>
    <p:sldId id="492" r:id="rId20"/>
    <p:sldId id="493" r:id="rId21"/>
    <p:sldId id="264" r:id="rId22"/>
    <p:sldId id="497" r:id="rId23"/>
  </p:sldIdLst>
  <p:sldSz cx="12192000" cy="6858000"/>
  <p:notesSz cx="6858000" cy="9144000"/>
  <p:embeddedFontLst>
    <p:embeddedFont>
      <p:font typeface="KoPub돋움체 Bold" panose="00000800000000000000" pitchFamily="2" charset="-127"/>
      <p:bold r:id="rId25"/>
    </p:embeddedFont>
    <p:embeddedFont>
      <p:font typeface="KoPub돋움체 Medium" panose="00000600000000000000" pitchFamily="2" charset="-127"/>
      <p:regular r:id="rId26"/>
    </p:embeddedFont>
  </p:embeddedFontLst>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기본 구역" id="{097B6DF2-66C3-4074-9053-F9AA00FED5D5}">
          <p14:sldIdLst>
            <p14:sldId id="256"/>
            <p14:sldId id="269"/>
            <p14:sldId id="257"/>
            <p14:sldId id="258"/>
            <p14:sldId id="494"/>
            <p14:sldId id="499"/>
            <p14:sldId id="500"/>
            <p14:sldId id="503"/>
            <p14:sldId id="501"/>
            <p14:sldId id="504"/>
            <p14:sldId id="265"/>
            <p14:sldId id="270"/>
            <p14:sldId id="268"/>
            <p14:sldId id="487"/>
            <p14:sldId id="277"/>
            <p14:sldId id="498"/>
            <p14:sldId id="261"/>
            <p14:sldId id="491"/>
            <p14:sldId id="492"/>
            <p14:sldId id="493"/>
            <p14:sldId id="264"/>
            <p14:sldId id="49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전장훈" initials="전" lastIdx="19" clrIdx="0">
    <p:extLst>
      <p:ext uri="{19B8F6BF-5375-455C-9EA6-DF929625EA0E}">
        <p15:presenceInfo xmlns:p15="http://schemas.microsoft.com/office/powerpoint/2012/main" userId="전장훈"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F5597"/>
    <a:srgbClr val="5C7DD0"/>
    <a:srgbClr val="1F346B"/>
    <a:srgbClr val="023670"/>
    <a:srgbClr val="17A5A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보통 스타일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C083E6E3-FA7D-4D7B-A595-EF9225AFEA82}" styleName="밝은 스타일 1 - 강조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87152" autoAdjust="0"/>
  </p:normalViewPr>
  <p:slideViewPr>
    <p:cSldViewPr snapToGrid="0">
      <p:cViewPr varScale="1">
        <p:scale>
          <a:sx n="96" d="100"/>
          <a:sy n="96" d="100"/>
        </p:scale>
        <p:origin x="1092" y="90"/>
      </p:cViewPr>
      <p:guideLst/>
    </p:cSldViewPr>
  </p:slideViewPr>
  <p:notesTextViewPr>
    <p:cViewPr>
      <p:scale>
        <a:sx n="3" d="2"/>
        <a:sy n="3" d="2"/>
      </p:scale>
      <p:origin x="0" y="0"/>
    </p:cViewPr>
  </p:notesTextViewPr>
  <p:notesViewPr>
    <p:cSldViewPr snapToGrid="0">
      <p:cViewPr varScale="1">
        <p:scale>
          <a:sx n="84" d="100"/>
          <a:sy n="84" d="100"/>
        </p:scale>
        <p:origin x="3912"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font" Target="fonts/font1.fntdata"/><Relationship Id="rId26" Type="http://schemas.openxmlformats.org/officeDocument/2006/relationships/font" Target="fonts/font2.fntdata"/><Relationship Id="rId27" Type="http://schemas.openxmlformats.org/officeDocument/2006/relationships/commentAuthors" Target="commentAuthors.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ghoon jun" userId="056a5883350c2f5e" providerId="LiveId" clId="{6DA654A6-03B0-40F7-A259-B276216985A6}"/>
    <pc:docChg chg="undo redo custSel addSld delSld modSld sldOrd modSection">
      <pc:chgData name="janghoon jun" userId="056a5883350c2f5e" providerId="LiveId" clId="{6DA654A6-03B0-40F7-A259-B276216985A6}" dt="2026-09-10T05:04:12.456" v="4648" actId="403"/>
      <pc:docMkLst>
        <pc:docMk/>
      </pc:docMkLst>
      <pc:sldChg chg="modSp mod modNotes modNotesTx">
        <pc:chgData name="janghoon jun" userId="056a5883350c2f5e" providerId="LiveId" clId="{6DA654A6-03B0-40F7-A259-B276216985A6}" dt="2026-09-10T04:59:39.505" v="4550" actId="207"/>
        <pc:sldMkLst>
          <pc:docMk/>
          <pc:sldMk cId="0" sldId="256"/>
        </pc:sldMkLst>
        <pc:spChg chg="mod">
          <ac:chgData name="janghoon jun" userId="056a5883350c2f5e" providerId="LiveId" clId="{6DA654A6-03B0-40F7-A259-B276216985A6}" dt="2026-09-10T04:59:39.505" v="4550" actId="207"/>
          <ac:spMkLst>
            <pc:docMk/>
            <pc:sldMk cId="0" sldId="256"/>
            <ac:spMk id="2" creationId="{00000000-0000-0000-0000-000000000000}"/>
          </ac:spMkLst>
        </pc:spChg>
        <pc:spChg chg="mod">
          <ac:chgData name="janghoon jun" userId="056a5883350c2f5e" providerId="LiveId" clId="{6DA654A6-03B0-40F7-A259-B276216985A6}" dt="2026-09-10T04:59:39.505" v="4550" actId="207"/>
          <ac:spMkLst>
            <pc:docMk/>
            <pc:sldMk cId="0" sldId="256"/>
            <ac:spMk id="3" creationId="{00000000-0000-0000-0000-000000000000}"/>
          </ac:spMkLst>
        </pc:spChg>
        <pc:spChg chg="mod">
          <ac:chgData name="janghoon jun" userId="056a5883350c2f5e" providerId="LiveId" clId="{6DA654A6-03B0-40F7-A259-B276216985A6}" dt="2026-09-10T04:59:39.505" v="4550" actId="207"/>
          <ac:spMkLst>
            <pc:docMk/>
            <pc:sldMk cId="0" sldId="256"/>
            <ac:spMk id="4" creationId="{00000000-0000-0000-0000-000000000000}"/>
          </ac:spMkLst>
        </pc:spChg>
        <pc:spChg chg="mod">
          <ac:chgData name="janghoon jun" userId="056a5883350c2f5e" providerId="LiveId" clId="{6DA654A6-03B0-40F7-A259-B276216985A6}" dt="2026-09-10T04:59:39.505" v="4550" actId="207"/>
          <ac:spMkLst>
            <pc:docMk/>
            <pc:sldMk cId="0" sldId="256"/>
            <ac:spMk id="5" creationId="{00000000-0000-0000-0000-000000000000}"/>
          </ac:spMkLst>
        </pc:spChg>
      </pc:sldChg>
      <pc:sldChg chg="addSp delSp modSp mod chgLayout modNotes modNotesTx">
        <pc:chgData name="janghoon jun" userId="056a5883350c2f5e" providerId="LiveId" clId="{6DA654A6-03B0-40F7-A259-B276216985A6}" dt="2026-09-10T05:04:12.456" v="4648" actId="403"/>
        <pc:sldMkLst>
          <pc:docMk/>
          <pc:sldMk cId="0" sldId="257"/>
        </pc:sldMkLst>
        <pc:spChg chg="mod ord">
          <ac:chgData name="janghoon jun" userId="056a5883350c2f5e" providerId="LiveId" clId="{6DA654A6-03B0-40F7-A259-B276216985A6}" dt="2026-09-02T02:37:45.894" v="3728" actId="6549"/>
          <ac:spMkLst>
            <pc:docMk/>
            <pc:sldMk cId="0" sldId="257"/>
            <ac:spMk id="2" creationId="{00000000-0000-0000-0000-000000000000}"/>
          </ac:spMkLst>
        </pc:spChg>
        <pc:spChg chg="mod">
          <ac:chgData name="janghoon jun" userId="056a5883350c2f5e" providerId="LiveId" clId="{6DA654A6-03B0-40F7-A259-B276216985A6}" dt="2026-09-10T05:04:12.456" v="4648" actId="403"/>
          <ac:spMkLst>
            <pc:docMk/>
            <pc:sldMk cId="0" sldId="257"/>
            <ac:spMk id="3" creationId="{00000000-0000-0000-0000-000000000000}"/>
          </ac:spMkLst>
        </pc:spChg>
      </pc:sldChg>
      <pc:sldChg chg="modSp mod">
        <pc:chgData name="janghoon jun" userId="056a5883350c2f5e" providerId="LiveId" clId="{6DA654A6-03B0-40F7-A259-B276216985A6}" dt="2026-09-10T03:16:00.971" v="4488" actId="404"/>
        <pc:sldMkLst>
          <pc:docMk/>
          <pc:sldMk cId="0" sldId="258"/>
        </pc:sldMkLst>
        <pc:spChg chg="mod">
          <ac:chgData name="janghoon jun" userId="056a5883350c2f5e" providerId="LiveId" clId="{6DA654A6-03B0-40F7-A259-B276216985A6}" dt="2026-09-10T03:16:00.971" v="4488" actId="404"/>
          <ac:spMkLst>
            <pc:docMk/>
            <pc:sldMk cId="0" sldId="258"/>
            <ac:spMk id="3" creationId="{00000000-0000-0000-0000-000000000000}"/>
          </ac:spMkLst>
        </pc:spChg>
      </pc:sldChg>
      <pc:sldChg chg="modSp mod">
        <pc:chgData name="janghoon jun" userId="056a5883350c2f5e" providerId="LiveId" clId="{6DA654A6-03B0-40F7-A259-B276216985A6}" dt="2026-09-08T03:15:38.775" v="4423" actId="2062"/>
        <pc:sldMkLst>
          <pc:docMk/>
          <pc:sldMk cId="0" sldId="259"/>
        </pc:sldMkLst>
      </pc:sldChg>
      <pc:sldChg chg="delSp modSp del mod">
        <pc:chgData name="janghoon jun" userId="056a5883350c2f5e" providerId="LiveId" clId="{6DA654A6-03B0-40F7-A259-B276216985A6}" dt="2026-09-10T05:01:31.864" v="4601" actId="47"/>
        <pc:sldMkLst>
          <pc:docMk/>
          <pc:sldMk cId="0" sldId="261"/>
        </pc:sldMkLst>
        <pc:spChg chg="mod">
          <ac:chgData name="janghoon jun" userId="056a5883350c2f5e" providerId="LiveId" clId="{6DA654A6-03B0-40F7-A259-B276216985A6}" dt="2026-09-10T05:01:04.719" v="4595" actId="21"/>
          <ac:spMkLst>
            <pc:docMk/>
            <pc:sldMk cId="0" sldId="261"/>
            <ac:spMk id="2" creationId="{00000000-0000-0000-0000-000000000000}"/>
          </ac:spMkLst>
        </pc:spChg>
        <pc:picChg chg="del mod">
          <ac:chgData name="janghoon jun" userId="056a5883350c2f5e" providerId="LiveId" clId="{6DA654A6-03B0-40F7-A259-B276216985A6}" dt="2026-09-10T05:01:08.538" v="4597" actId="21"/>
          <ac:picMkLst>
            <pc:docMk/>
            <pc:sldMk cId="0" sldId="261"/>
            <ac:picMk id="3" creationId="{00000000-0000-0000-0000-000000000000}"/>
          </ac:picMkLst>
        </pc:picChg>
      </pc:sldChg>
      <pc:sldChg chg="delSp modSp del mod">
        <pc:chgData name="janghoon jun" userId="056a5883350c2f5e" providerId="LiveId" clId="{6DA654A6-03B0-40F7-A259-B276216985A6}" dt="2026-09-10T05:01:46.958" v="4608" actId="47"/>
        <pc:sldMkLst>
          <pc:docMk/>
          <pc:sldMk cId="0" sldId="262"/>
        </pc:sldMkLst>
        <pc:spChg chg="mod">
          <ac:chgData name="janghoon jun" userId="056a5883350c2f5e" providerId="LiveId" clId="{6DA654A6-03B0-40F7-A259-B276216985A6}" dt="2026-09-10T05:01:37.563" v="4603" actId="21"/>
          <ac:spMkLst>
            <pc:docMk/>
            <pc:sldMk cId="0" sldId="262"/>
            <ac:spMk id="2" creationId="{00000000-0000-0000-0000-000000000000}"/>
          </ac:spMkLst>
        </pc:spChg>
        <pc:picChg chg="del">
          <ac:chgData name="janghoon jun" userId="056a5883350c2f5e" providerId="LiveId" clId="{6DA654A6-03B0-40F7-A259-B276216985A6}" dt="2026-09-10T05:01:41.989" v="4605" actId="21"/>
          <ac:picMkLst>
            <pc:docMk/>
            <pc:sldMk cId="0" sldId="262"/>
            <ac:picMk id="3" creationId="{00000000-0000-0000-0000-000000000000}"/>
          </ac:picMkLst>
        </pc:picChg>
      </pc:sldChg>
      <pc:sldChg chg="delSp modSp del mod">
        <pc:chgData name="janghoon jun" userId="056a5883350c2f5e" providerId="LiveId" clId="{6DA654A6-03B0-40F7-A259-B276216985A6}" dt="2026-09-10T05:02:01.467" v="4615" actId="47"/>
        <pc:sldMkLst>
          <pc:docMk/>
          <pc:sldMk cId="0" sldId="263"/>
        </pc:sldMkLst>
        <pc:spChg chg="mod">
          <ac:chgData name="janghoon jun" userId="056a5883350c2f5e" providerId="LiveId" clId="{6DA654A6-03B0-40F7-A259-B276216985A6}" dt="2026-09-10T05:01:54.745" v="4611" actId="21"/>
          <ac:spMkLst>
            <pc:docMk/>
            <pc:sldMk cId="0" sldId="263"/>
            <ac:spMk id="2" creationId="{00000000-0000-0000-0000-000000000000}"/>
          </ac:spMkLst>
        </pc:spChg>
        <pc:picChg chg="del">
          <ac:chgData name="janghoon jun" userId="056a5883350c2f5e" providerId="LiveId" clId="{6DA654A6-03B0-40F7-A259-B276216985A6}" dt="2026-09-10T05:01:59.021" v="4613" actId="21"/>
          <ac:picMkLst>
            <pc:docMk/>
            <pc:sldMk cId="0" sldId="263"/>
            <ac:picMk id="3" creationId="{00000000-0000-0000-0000-000000000000}"/>
          </ac:picMkLst>
        </pc:picChg>
      </pc:sldChg>
      <pc:sldChg chg="delSp modSp del mod">
        <pc:chgData name="janghoon jun" userId="056a5883350c2f5e" providerId="LiveId" clId="{6DA654A6-03B0-40F7-A259-B276216985A6}" dt="2026-09-10T05:02:33.552" v="4626" actId="47"/>
        <pc:sldMkLst>
          <pc:docMk/>
          <pc:sldMk cId="0" sldId="264"/>
        </pc:sldMkLst>
        <pc:spChg chg="mod">
          <ac:chgData name="janghoon jun" userId="056a5883350c2f5e" providerId="LiveId" clId="{6DA654A6-03B0-40F7-A259-B276216985A6}" dt="2026-09-10T05:02:07.183" v="4617" actId="21"/>
          <ac:spMkLst>
            <pc:docMk/>
            <pc:sldMk cId="0" sldId="264"/>
            <ac:spMk id="2" creationId="{00000000-0000-0000-0000-000000000000}"/>
          </ac:spMkLst>
        </pc:spChg>
        <pc:picChg chg="del mod">
          <ac:chgData name="janghoon jun" userId="056a5883350c2f5e" providerId="LiveId" clId="{6DA654A6-03B0-40F7-A259-B276216985A6}" dt="2026-09-10T05:02:10.641" v="4619" actId="21"/>
          <ac:picMkLst>
            <pc:docMk/>
            <pc:sldMk cId="0" sldId="264"/>
            <ac:picMk id="3" creationId="{00000000-0000-0000-0000-000000000000}"/>
          </ac:picMkLst>
        </pc:picChg>
      </pc:sldChg>
      <pc:sldChg chg="delSp modSp del mod">
        <pc:chgData name="janghoon jun" userId="056a5883350c2f5e" providerId="LiveId" clId="{6DA654A6-03B0-40F7-A259-B276216985A6}" dt="2026-09-10T05:03:04.881" v="4633" actId="47"/>
        <pc:sldMkLst>
          <pc:docMk/>
          <pc:sldMk cId="0" sldId="265"/>
        </pc:sldMkLst>
        <pc:spChg chg="mod">
          <ac:chgData name="janghoon jun" userId="056a5883350c2f5e" providerId="LiveId" clId="{6DA654A6-03B0-40F7-A259-B276216985A6}" dt="2026-09-10T05:02:38.758" v="4628" actId="21"/>
          <ac:spMkLst>
            <pc:docMk/>
            <pc:sldMk cId="0" sldId="265"/>
            <ac:spMk id="2" creationId="{00000000-0000-0000-0000-000000000000}"/>
          </ac:spMkLst>
        </pc:spChg>
        <pc:graphicFrameChg chg="modGraphic">
          <ac:chgData name="janghoon jun" userId="056a5883350c2f5e" providerId="LiveId" clId="{6DA654A6-03B0-40F7-A259-B276216985A6}" dt="2026-09-10T03:22:54.047" v="4543" actId="255"/>
          <ac:graphicFrameMkLst>
            <pc:docMk/>
            <pc:sldMk cId="0" sldId="265"/>
            <ac:graphicFrameMk id="3" creationId="{00000000-0000-0000-0000-000000000000}"/>
          </ac:graphicFrameMkLst>
        </pc:graphicFrameChg>
        <pc:picChg chg="del">
          <ac:chgData name="janghoon jun" userId="056a5883350c2f5e" providerId="LiveId" clId="{6DA654A6-03B0-40F7-A259-B276216985A6}" dt="2026-09-10T05:02:42.851" v="4630" actId="21"/>
          <ac:picMkLst>
            <pc:docMk/>
            <pc:sldMk cId="0" sldId="265"/>
            <ac:picMk id="3" creationId="{00000000-0000-0000-0000-000000000000}"/>
          </ac:picMkLst>
        </pc:picChg>
      </pc:sldChg>
      <pc:sldChg chg="delSp modSp mod">
        <pc:chgData name="janghoon jun" userId="056a5883350c2f5e" providerId="LiveId" clId="{6DA654A6-03B0-40F7-A259-B276216985A6}" dt="2026-09-10T05:03:31.457" v="4640" actId="1076"/>
        <pc:sldMkLst>
          <pc:docMk/>
          <pc:sldMk cId="0" sldId="266"/>
        </pc:sldMkLst>
        <pc:spChg chg="mod">
          <ac:chgData name="janghoon jun" userId="056a5883350c2f5e" providerId="LiveId" clId="{6DA654A6-03B0-40F7-A259-B276216985A6}" dt="2026-09-10T03:16:18.752" v="4490" actId="404"/>
          <ac:spMkLst>
            <pc:docMk/>
            <pc:sldMk cId="0" sldId="266"/>
            <ac:spMk id="3" creationId="{00000000-0000-0000-0000-000000000000}"/>
          </ac:spMkLst>
        </pc:spChg>
        <pc:spChg chg="mod">
          <ac:chgData name="janghoon jun" userId="056a5883350c2f5e" providerId="LiveId" clId="{6DA654A6-03B0-40F7-A259-B276216985A6}" dt="2026-09-10T05:03:31.457" v="4640" actId="1076"/>
          <ac:spMkLst>
            <pc:docMk/>
            <pc:sldMk cId="0" sldId="266"/>
            <ac:spMk id="5" creationId="{00000000-0000-0000-0000-000000000000}"/>
          </ac:spMkLst>
        </pc:spChg>
        <pc:graphicFrameChg chg="mod modGraphic">
          <ac:chgData name="janghoon jun" userId="056a5883350c2f5e" providerId="LiveId" clId="{6DA654A6-03B0-40F7-A259-B276216985A6}" dt="2026-09-10T05:03:27.249" v="4639" actId="1076"/>
          <ac:graphicFrameMkLst>
            <pc:docMk/>
            <pc:sldMk cId="0" sldId="266"/>
            <ac:graphicFrameMk id="4" creationId="{00000000-0000-0000-0000-000000000000}"/>
          </ac:graphicFrameMkLst>
        </pc:graphicFrameChg>
      </pc:sldChg>
      <pc:sldChg chg="delSp modSp del mod">
        <pc:chgData name="janghoon jun" userId="056a5883350c2f5e" providerId="LiveId" clId="{6DA654A6-03B0-40F7-A259-B276216985A6}" dt="2026-09-10T05:00:59.834" v="4593" actId="27636"/>
        <pc:sldMkLst>
          <pc:docMk/>
          <pc:sldMk cId="0" sldId="267"/>
        </pc:sldMkLst>
        <pc:spChg chg="mod">
          <ac:chgData name="janghoon jun" userId="056a5883350c2f5e" providerId="LiveId" clId="{6DA654A6-03B0-40F7-A259-B276216985A6}" dt="2026-09-08T03:22:06.514" v="4485" actId="20577"/>
          <ac:spMkLst>
            <pc:docMk/>
            <pc:sldMk cId="0" sldId="267"/>
            <ac:spMk id="2" creationId="{00000000-0000-0000-0000-000000000000}"/>
          </ac:spMkLst>
        </pc:spChg>
        <pc:spChg chg="mod">
          <ac:chgData name="janghoon jun" userId="056a5883350c2f5e" providerId="LiveId" clId="{6DA654A6-03B0-40F7-A259-B276216985A6}" dt="2026-09-10T05:00:59.834" v="4593" actId="27636"/>
          <ac:spMkLst>
            <pc:docMk/>
            <pc:sldMk cId="0" sldId="267"/>
            <ac:spMk id="3" creationId="{00000000-0000-0000-0000-000000000000}"/>
          </ac:spMkLst>
        </pc:spChg>
      </pc:sldChg>
      <pc:sldChg chg="modSp del mod">
        <pc:chgData name="janghoon jun" userId="056a5883350c2f5e" providerId="LiveId" clId="{6DA654A6-03B0-40F7-A259-B276216985A6}" dt="2026-09-10T05:04:04.780" v="4641" actId="47"/>
        <pc:sldMkLst>
          <pc:docMk/>
          <pc:sldMk cId="0" sldId="269"/>
        </pc:sldMkLst>
        <pc:graphicFrameChg chg="modGraphic">
          <ac:chgData name="janghoon jun" userId="056a5883350c2f5e" providerId="LiveId" clId="{6DA654A6-03B0-40F7-A259-B276216985A6}" dt="2026-09-10T03:22:45.138" v="4542" actId="255"/>
          <ac:graphicFrameMkLst>
            <pc:docMk/>
            <pc:sldMk cId="0" sldId="269"/>
            <ac:graphicFrameMk id="6" creationId="{E510CECF-189E-7B95-A7D1-8CF39243907A}"/>
          </ac:graphicFrameMkLst>
        </pc:graphicFrameChg>
      </pc:sldChg>
      <pc:sldChg chg="modSp mod">
        <pc:chgData name="janghoon jun" userId="056a5883350c2f5e" providerId="LiveId" clId="{6DA654A6-03B0-40F7-A259-B276216985A6}" dt="2026-09-10T03:22:37.115" v="4541" actId="255"/>
        <pc:sldMkLst>
          <pc:docMk/>
          <pc:sldMk cId="0" sldId="270"/>
        </pc:sldMkLst>
        <pc:spChg chg="mod">
          <ac:chgData name="janghoon jun" userId="056a5883350c2f5e" providerId="LiveId" clId="{6DA654A6-03B0-40F7-A259-B276216985A6}" dt="2026-09-10T03:22:37.115" v="4541" actId="255"/>
          <ac:spMkLst>
            <pc:docMk/>
            <pc:sldMk cId="0" sldId="270"/>
            <ac:spMk id="4" creationId="{00000000-0000-0000-0000-000000000000}"/>
          </ac:spMkLst>
        </pc:spChg>
        <pc:graphicFrameChg chg="modGraphic">
          <ac:chgData name="janghoon jun" userId="056a5883350c2f5e" providerId="LiveId" clId="{6DA654A6-03B0-40F7-A259-B276216985A6}" dt="2026-09-10T03:22:33.054" v="4540" actId="255"/>
          <ac:graphicFrameMkLst>
            <pc:docMk/>
            <pc:sldMk cId="0" sldId="270"/>
            <ac:graphicFrameMk id="3" creationId="{00000000-0000-0000-0000-000000000000}"/>
          </ac:graphicFrameMkLst>
        </pc:graphicFrameChg>
      </pc:sldChg>
      <pc:sldChg chg="modSp mod">
        <pc:chgData name="janghoon jun" userId="056a5883350c2f5e" providerId="LiveId" clId="{6DA654A6-03B0-40F7-A259-B276216985A6}" dt="2026-09-10T03:23:12.656" v="4546" actId="2710"/>
        <pc:sldMkLst>
          <pc:docMk/>
          <pc:sldMk cId="0" sldId="271"/>
        </pc:sldMkLst>
        <pc:spChg chg="mod">
          <ac:chgData name="janghoon jun" userId="056a5883350c2f5e" providerId="LiveId" clId="{6DA654A6-03B0-40F7-A259-B276216985A6}" dt="2026-09-10T03:23:12.656" v="4546" actId="2710"/>
          <ac:spMkLst>
            <pc:docMk/>
            <pc:sldMk cId="0" sldId="271"/>
            <ac:spMk id="4" creationId="{00000000-0000-0000-0000-000000000000}"/>
          </ac:spMkLst>
        </pc:spChg>
      </pc:sldChg>
      <pc:sldChg chg="modSp mod">
        <pc:chgData name="janghoon jun" userId="056a5883350c2f5e" providerId="LiveId" clId="{6DA654A6-03B0-40F7-A259-B276216985A6}" dt="2026-09-10T03:22:18.743" v="4536" actId="255"/>
        <pc:sldMkLst>
          <pc:docMk/>
          <pc:sldMk cId="0" sldId="272"/>
        </pc:sldMkLst>
        <pc:graphicFrameChg chg="modGraphic">
          <ac:chgData name="janghoon jun" userId="056a5883350c2f5e" providerId="LiveId" clId="{6DA654A6-03B0-40F7-A259-B276216985A6}" dt="2026-09-10T03:22:18.743" v="4536" actId="255"/>
          <ac:graphicFrameMkLst>
            <pc:docMk/>
            <pc:sldMk cId="0" sldId="272"/>
            <ac:graphicFrameMk id="3" creationId="{00000000-0000-0000-0000-000000000000}"/>
          </ac:graphicFrameMkLst>
        </pc:graphicFrameChg>
      </pc:sldChg>
      <pc:sldChg chg="addSp delSp modSp add mod">
        <pc:chgData name="janghoon jun" userId="056a5883350c2f5e" providerId="LiveId" clId="{6DA654A6-03B0-40F7-A259-B276216985A6}" dt="2026-09-10T05:01:14.195" v="4600" actId="1076"/>
        <pc:sldMkLst>
          <pc:docMk/>
          <pc:sldMk cId="2755278307" sldId="272"/>
        </pc:sldMkLst>
        <pc:spChg chg="mod">
          <ac:chgData name="janghoon jun" userId="056a5883350c2f5e" providerId="LiveId" clId="{6DA654A6-03B0-40F7-A259-B276216985A6}" dt="2026-09-10T05:01:06.801" v="4596"/>
          <ac:spMkLst>
            <pc:docMk/>
            <pc:sldMk cId="2755278307" sldId="272"/>
            <ac:spMk id="2" creationId="{47399A34-AE2B-4CC6-8304-596321EC9448}"/>
          </ac:spMkLst>
        </pc:spChg>
        <pc:spChg chg="del">
          <ac:chgData name="janghoon jun" userId="056a5883350c2f5e" providerId="LiveId" clId="{6DA654A6-03B0-40F7-A259-B276216985A6}" dt="2026-09-10T05:01:02.342" v="4594" actId="478"/>
          <ac:spMkLst>
            <pc:docMk/>
            <pc:sldMk cId="2755278307" sldId="272"/>
            <ac:spMk id="3" creationId="{8C665CBB-843D-1473-C103-8CBA53FCFA04}"/>
          </ac:spMkLst>
        </pc:spChg>
        <pc:spChg chg="add del mod">
          <ac:chgData name="janghoon jun" userId="056a5883350c2f5e" providerId="LiveId" clId="{6DA654A6-03B0-40F7-A259-B276216985A6}" dt="2026-09-10T05:01:11.596" v="4598" actId="478"/>
          <ac:spMkLst>
            <pc:docMk/>
            <pc:sldMk cId="2755278307" sldId="272"/>
            <ac:spMk id="5" creationId="{093EABBB-1335-B701-D6E0-0A3678A54285}"/>
          </ac:spMkLst>
        </pc:spChg>
        <pc:picChg chg="add mod">
          <ac:chgData name="janghoon jun" userId="056a5883350c2f5e" providerId="LiveId" clId="{6DA654A6-03B0-40F7-A259-B276216985A6}" dt="2026-09-10T05:01:14.195" v="4600" actId="1076"/>
          <ac:picMkLst>
            <pc:docMk/>
            <pc:sldMk cId="2755278307" sldId="272"/>
            <ac:picMk id="7" creationId="{DB5C9DB1-2489-F3D0-1976-537E15A9259F}"/>
          </ac:picMkLst>
        </pc:picChg>
      </pc:sldChg>
      <pc:sldChg chg="modSp mod">
        <pc:chgData name="janghoon jun" userId="056a5883350c2f5e" providerId="LiveId" clId="{6DA654A6-03B0-40F7-A259-B276216985A6}" dt="2026-09-10T03:21:38.729" v="4528" actId="255"/>
        <pc:sldMkLst>
          <pc:docMk/>
          <pc:sldMk cId="0" sldId="273"/>
        </pc:sldMkLst>
        <pc:graphicFrameChg chg="modGraphic">
          <ac:chgData name="janghoon jun" userId="056a5883350c2f5e" providerId="LiveId" clId="{6DA654A6-03B0-40F7-A259-B276216985A6}" dt="2026-09-10T03:21:38.729" v="4528" actId="255"/>
          <ac:graphicFrameMkLst>
            <pc:docMk/>
            <pc:sldMk cId="0" sldId="273"/>
            <ac:graphicFrameMk id="6" creationId="{E510CECF-189E-7B95-A7D1-8CF39243907A}"/>
          </ac:graphicFrameMkLst>
        </pc:graphicFrameChg>
      </pc:sldChg>
      <pc:sldChg chg="addSp delSp modSp add mod">
        <pc:chgData name="janghoon jun" userId="056a5883350c2f5e" providerId="LiveId" clId="{6DA654A6-03B0-40F7-A259-B276216985A6}" dt="2026-09-10T05:01:44.278" v="4607" actId="22"/>
        <pc:sldMkLst>
          <pc:docMk/>
          <pc:sldMk cId="3764616405" sldId="273"/>
        </pc:sldMkLst>
        <pc:spChg chg="mod">
          <ac:chgData name="janghoon jun" userId="056a5883350c2f5e" providerId="LiveId" clId="{6DA654A6-03B0-40F7-A259-B276216985A6}" dt="2026-09-10T05:01:39.369" v="4604"/>
          <ac:spMkLst>
            <pc:docMk/>
            <pc:sldMk cId="3764616405" sldId="273"/>
            <ac:spMk id="2" creationId="{81756DD1-59E1-2584-8E19-3E1B59037185}"/>
          </ac:spMkLst>
        </pc:spChg>
        <pc:picChg chg="add">
          <ac:chgData name="janghoon jun" userId="056a5883350c2f5e" providerId="LiveId" clId="{6DA654A6-03B0-40F7-A259-B276216985A6}" dt="2026-09-10T05:01:44.278" v="4607" actId="22"/>
          <ac:picMkLst>
            <pc:docMk/>
            <pc:sldMk cId="3764616405" sldId="273"/>
            <ac:picMk id="4" creationId="{4D791A2B-D934-61D3-05BA-457321A70678}"/>
          </ac:picMkLst>
        </pc:picChg>
        <pc:picChg chg="del">
          <ac:chgData name="janghoon jun" userId="056a5883350c2f5e" providerId="LiveId" clId="{6DA654A6-03B0-40F7-A259-B276216985A6}" dt="2026-09-10T05:01:43.956" v="4606" actId="478"/>
          <ac:picMkLst>
            <pc:docMk/>
            <pc:sldMk cId="3764616405" sldId="273"/>
            <ac:picMk id="7" creationId="{C0C8C0CA-19F3-5E89-D747-E613365C3187}"/>
          </ac:picMkLst>
        </pc:picChg>
      </pc:sldChg>
      <pc:sldChg chg="modSp mod">
        <pc:chgData name="janghoon jun" userId="056a5883350c2f5e" providerId="LiveId" clId="{6DA654A6-03B0-40F7-A259-B276216985A6}" dt="2026-09-10T03:21:46.220" v="4529" actId="255"/>
        <pc:sldMkLst>
          <pc:docMk/>
          <pc:sldMk cId="0" sldId="274"/>
        </pc:sldMkLst>
        <pc:graphicFrameChg chg="modGraphic">
          <ac:chgData name="janghoon jun" userId="056a5883350c2f5e" providerId="LiveId" clId="{6DA654A6-03B0-40F7-A259-B276216985A6}" dt="2026-09-10T03:21:46.220" v="4529" actId="255"/>
          <ac:graphicFrameMkLst>
            <pc:docMk/>
            <pc:sldMk cId="0" sldId="274"/>
            <ac:graphicFrameMk id="3" creationId="{00000000-0000-0000-0000-000000000000}"/>
          </ac:graphicFrameMkLst>
        </pc:graphicFrameChg>
      </pc:sldChg>
      <pc:sldChg chg="addSp delSp modSp add mod">
        <pc:chgData name="janghoon jun" userId="056a5883350c2f5e" providerId="LiveId" clId="{6DA654A6-03B0-40F7-A259-B276216985A6}" dt="2026-09-10T05:01:59.785" v="4614" actId="22"/>
        <pc:sldMkLst>
          <pc:docMk/>
          <pc:sldMk cId="2820107391" sldId="274"/>
        </pc:sldMkLst>
        <pc:spChg chg="mod">
          <ac:chgData name="janghoon jun" userId="056a5883350c2f5e" providerId="LiveId" clId="{6DA654A6-03B0-40F7-A259-B276216985A6}" dt="2026-09-10T05:01:56.743" v="4612"/>
          <ac:spMkLst>
            <pc:docMk/>
            <pc:sldMk cId="2820107391" sldId="274"/>
            <ac:spMk id="2" creationId="{96BE39D2-BACD-9BFA-6BEF-E23EB76F52A3}"/>
          </ac:spMkLst>
        </pc:spChg>
        <pc:picChg chg="del">
          <ac:chgData name="janghoon jun" userId="056a5883350c2f5e" providerId="LiveId" clId="{6DA654A6-03B0-40F7-A259-B276216985A6}" dt="2026-09-10T05:01:51.432" v="4610" actId="478"/>
          <ac:picMkLst>
            <pc:docMk/>
            <pc:sldMk cId="2820107391" sldId="274"/>
            <ac:picMk id="4" creationId="{44560D41-702E-22B7-E44B-6688B87607EB}"/>
          </ac:picMkLst>
        </pc:picChg>
        <pc:picChg chg="add">
          <ac:chgData name="janghoon jun" userId="056a5883350c2f5e" providerId="LiveId" clId="{6DA654A6-03B0-40F7-A259-B276216985A6}" dt="2026-09-10T05:01:59.785" v="4614" actId="22"/>
          <ac:picMkLst>
            <pc:docMk/>
            <pc:sldMk cId="2820107391" sldId="274"/>
            <ac:picMk id="5" creationId="{789B8AA2-C797-6A65-8F18-1F3D8565FBA8}"/>
          </ac:picMkLst>
        </pc:picChg>
      </pc:sldChg>
      <pc:sldChg chg="modSp mod">
        <pc:chgData name="janghoon jun" userId="056a5883350c2f5e" providerId="LiveId" clId="{6DA654A6-03B0-40F7-A259-B276216985A6}" dt="2026-09-10T03:23:26.413" v="4549" actId="2710"/>
        <pc:sldMkLst>
          <pc:docMk/>
          <pc:sldMk cId="0" sldId="275"/>
        </pc:sldMkLst>
        <pc:spChg chg="mod">
          <ac:chgData name="janghoon jun" userId="056a5883350c2f5e" providerId="LiveId" clId="{6DA654A6-03B0-40F7-A259-B276216985A6}" dt="2026-09-10T03:23:26.413" v="4549" actId="2710"/>
          <ac:spMkLst>
            <pc:docMk/>
            <pc:sldMk cId="0" sldId="275"/>
            <ac:spMk id="4" creationId="{00000000-0000-0000-0000-000000000000}"/>
          </ac:spMkLst>
        </pc:spChg>
      </pc:sldChg>
      <pc:sldChg chg="addSp delSp modSp add mod">
        <pc:chgData name="janghoon jun" userId="056a5883350c2f5e" providerId="LiveId" clId="{6DA654A6-03B0-40F7-A259-B276216985A6}" dt="2026-09-10T05:02:27.064" v="4625" actId="1076"/>
        <pc:sldMkLst>
          <pc:docMk/>
          <pc:sldMk cId="1751739855" sldId="275"/>
        </pc:sldMkLst>
        <pc:spChg chg="mod">
          <ac:chgData name="janghoon jun" userId="056a5883350c2f5e" providerId="LiveId" clId="{6DA654A6-03B0-40F7-A259-B276216985A6}" dt="2026-09-10T05:02:08.939" v="4618"/>
          <ac:spMkLst>
            <pc:docMk/>
            <pc:sldMk cId="1751739855" sldId="275"/>
            <ac:spMk id="2" creationId="{6F7E1DCF-9740-40AC-B307-1426493A0AC5}"/>
          </ac:spMkLst>
        </pc:spChg>
        <pc:picChg chg="add mod">
          <ac:chgData name="janghoon jun" userId="056a5883350c2f5e" providerId="LiveId" clId="{6DA654A6-03B0-40F7-A259-B276216985A6}" dt="2026-09-10T05:02:27.064" v="4625" actId="1076"/>
          <ac:picMkLst>
            <pc:docMk/>
            <pc:sldMk cId="1751739855" sldId="275"/>
            <ac:picMk id="4" creationId="{84710ACD-2049-27DA-4399-427001462009}"/>
          </ac:picMkLst>
        </pc:picChg>
        <pc:picChg chg="del">
          <ac:chgData name="janghoon jun" userId="056a5883350c2f5e" providerId="LiveId" clId="{6DA654A6-03B0-40F7-A259-B276216985A6}" dt="2026-09-10T05:02:12.860" v="4620" actId="478"/>
          <ac:picMkLst>
            <pc:docMk/>
            <pc:sldMk cId="1751739855" sldId="275"/>
            <ac:picMk id="5" creationId="{9575D779-2B9E-87D3-6075-E635B5824B4E}"/>
          </ac:picMkLst>
        </pc:picChg>
      </pc:sldChg>
      <pc:sldChg chg="modSp mod">
        <pc:chgData name="janghoon jun" userId="056a5883350c2f5e" providerId="LiveId" clId="{6DA654A6-03B0-40F7-A259-B276216985A6}" dt="2026-09-10T03:21:51.722" v="4530" actId="255"/>
        <pc:sldMkLst>
          <pc:docMk/>
          <pc:sldMk cId="0" sldId="276"/>
        </pc:sldMkLst>
        <pc:graphicFrameChg chg="modGraphic">
          <ac:chgData name="janghoon jun" userId="056a5883350c2f5e" providerId="LiveId" clId="{6DA654A6-03B0-40F7-A259-B276216985A6}" dt="2026-09-10T03:21:51.722" v="4530" actId="255"/>
          <ac:graphicFrameMkLst>
            <pc:docMk/>
            <pc:sldMk cId="0" sldId="276"/>
            <ac:graphicFrameMk id="3" creationId="{00000000-0000-0000-0000-000000000000}"/>
          </ac:graphicFrameMkLst>
        </pc:graphicFrameChg>
      </pc:sldChg>
      <pc:sldChg chg="addSp delSp modSp add mod">
        <pc:chgData name="janghoon jun" userId="056a5883350c2f5e" providerId="LiveId" clId="{6DA654A6-03B0-40F7-A259-B276216985A6}" dt="2026-09-10T05:02:45.534" v="4632" actId="22"/>
        <pc:sldMkLst>
          <pc:docMk/>
          <pc:sldMk cId="1504938630" sldId="276"/>
        </pc:sldMkLst>
        <pc:spChg chg="mod">
          <ac:chgData name="janghoon jun" userId="056a5883350c2f5e" providerId="LiveId" clId="{6DA654A6-03B0-40F7-A259-B276216985A6}" dt="2026-09-10T05:02:40.704" v="4629"/>
          <ac:spMkLst>
            <pc:docMk/>
            <pc:sldMk cId="1504938630" sldId="276"/>
            <ac:spMk id="2" creationId="{913683FB-DF95-E126-F2AF-437AEE942621}"/>
          </ac:spMkLst>
        </pc:spChg>
        <pc:picChg chg="del">
          <ac:chgData name="janghoon jun" userId="056a5883350c2f5e" providerId="LiveId" clId="{6DA654A6-03B0-40F7-A259-B276216985A6}" dt="2026-09-10T05:02:45.004" v="4631" actId="478"/>
          <ac:picMkLst>
            <pc:docMk/>
            <pc:sldMk cId="1504938630" sldId="276"/>
            <ac:picMk id="4" creationId="{46693135-C301-9F06-2589-F08988C88813}"/>
          </ac:picMkLst>
        </pc:picChg>
        <pc:picChg chg="add">
          <ac:chgData name="janghoon jun" userId="056a5883350c2f5e" providerId="LiveId" clId="{6DA654A6-03B0-40F7-A259-B276216985A6}" dt="2026-09-10T05:02:45.534" v="4632" actId="22"/>
          <ac:picMkLst>
            <pc:docMk/>
            <pc:sldMk cId="1504938630" sldId="276"/>
            <ac:picMk id="5" creationId="{D4DA04F9-B60D-B9E9-17B8-B1E936BB0517}"/>
          </ac:picMkLst>
        </pc:picChg>
      </pc:sldChg>
      <pc:sldChg chg="add del">
        <pc:chgData name="janghoon jun" userId="056a5883350c2f5e" providerId="LiveId" clId="{6DA654A6-03B0-40F7-A259-B276216985A6}" dt="2026-09-10T05:03:12.292" v="4635" actId="47"/>
        <pc:sldMkLst>
          <pc:docMk/>
          <pc:sldMk cId="2410116862" sldId="27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KoPub돋움체 Medium" panose="00000600000000000000" pitchFamily="2" charset="-127"/>
                <a:ea typeface="KoPub돋움체 Medium" panose="00000600000000000000" pitchFamily="2" charset="-127"/>
              </a:defRPr>
            </a:lvl1pPr>
          </a:lstStyle>
          <a:p>
            <a:fld id="{33074436-1BEA-4F09-AD5C-9DF87C96BF5A}" type="datetimeFigureOut">
              <a:rPr lang="ko-KR" altLang="en-US" smtClean="0"/>
              <a:pPr/>
              <a:t>2026-10-01</a:t>
            </a:fld>
            <a:endParaRPr lang="ko-KR" altLang="en-US" dirty="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dirty="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KoPub돋움체 Medium" panose="00000600000000000000" pitchFamily="2" charset="-127"/>
                <a:ea typeface="KoPub돋움체 Medium" panose="00000600000000000000" pitchFamily="2" charset="-127"/>
              </a:defRPr>
            </a:lvl1pPr>
          </a:lstStyle>
          <a:p>
            <a:fld id="{433C9518-700F-4811-95BB-24DAF3FA92F2}" type="slidenum">
              <a:rPr lang="ko-KR" altLang="en-US" smtClean="0"/>
              <a:pPr/>
              <a:t>‹#›</a:t>
            </a:fld>
            <a:endParaRPr lang="ko-KR" altLang="en-US" dirty="0"/>
          </a:p>
        </p:txBody>
      </p:sp>
    </p:spTree>
    <p:extLst>
      <p:ext uri="{BB962C8B-B14F-4D97-AF65-F5344CB8AC3E}">
        <p14:creationId xmlns:p14="http://schemas.microsoft.com/office/powerpoint/2010/main" val="257764944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KoPub돋움체 Medium" panose="00000600000000000000" pitchFamily="2" charset="-127"/>
        <a:ea typeface="KoPub돋움체 Medium" panose="00000600000000000000" pitchFamily="2" charset="-127"/>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안녕하세요, 강남세브란스병원 의료기기공학 소속 천장훈입니다. 오늘은 CT 촬영 때 자동으로 기록되는 AEC 곡선과 CT에서 구한 체성분 곡선이 만성질환 예측에 얼마나 도움이 되는지, 그리고 어떤 한계가 있는지를 정리해 말씀드리겠습니다.</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먼저 배경과 목적입니다. 성별, 나이, 키, 몸무게 같은 기본 정보만으로 고혈압, 당뇨병, 만성신장질환을 얼마나 구분할 수 있는지 확인합니다. 여기에 AEC와 체성분 곡선을 더하면 예측력이 좋아지는지 평가하고, 강남 데이터로 모델을 만들어 신촌 데이터로 따로 검증해 두 병원에서 결과가 일관되는지 봅니다. 일관되지 않다면 그 원인과 다음 단계까지 제시하는 것이 목표입니다.</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Methods입니다. 강남 1,260명으로 모델 개발과 내부검증을, 신촌 1,123명으로 외부검증을 했고 두 코호트 모두 단면 데이터입니다. 입력은 성별, 나이, 키, 몸무게이고 질환마다 로지스틱 회귀를 따로 적합했습니다. 튜닝과 평가는 강남 전체에 5-fold CV를 적용했고 hold-out은 없습니다. cutoff는 5-fold 예측값을 모아 Youden index가 최대인 지점으로 잡고 신촌에도 그대로 적용했습니다. 확장 모델은 AEC와 체성분 곡선을 FPCA로 압축해 입력에 추가한 것이며, Baseline과의 차이는 paired DeLong 검정으로 확인했습니다. 다중비교 보정은 하지 않았습니다.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Table 1은 두 코호트의 분포입니다. 신촌이 남성 비율과 나이가 더 높고, 세 질환의 유병률도 모두 더 높습니다. 예를 들어 고혈압은 강남 30.6%, 신촌 45.1%입니다. 체성분도 SAT, NAMA, LAMA 등에서 차이가 있습니다. 즉 두 병원은 환자 구성이 다르므로 외부검증 결과를 볼 때 이 점을 감안해야 합니다.</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Table 2-1은 고혈압 결과입니다. 5-fold 평균 AUC가 Baseline 0.796에서 AEC와 체성분을 더한 모델 0.811로 올랐고, 신촌에서는 0.718에서 0.741로 올랐습니다. Baseline 대비 DeLong p-value는 Internal 0.035, External 0.011로 두 코호트 모두 유의했습니다. 다만 sensitivity는 오르고 specificity는 내려가는 경향이 있어 cutoff의 영향도 함께 봐야 합니다.</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Table 2-2는 당뇨병입니다. Internal은 평균 AUC가 0.712에서 0.736으로 올랐지만 p=0.078로 유의하지 않았고, External은 0.665에서 0.706으로 올라 p&lt;0.001로 유의했습니다. 내부에서는 경향성 수준이고 외부에서만 확인된 결과입니다.</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Table 2-3은 만성신장질환입니다. Internal은 0.770에서 0.784로 올랐지만 p=0.39로 유의하지 않았습니다. 양성이 105명뿐이라 fold별 변동도 큽니다. External은 0.615에서 0.681로 올라 p&lt;0.001로 유의했습니다. 다만 외부에서 Baseline 자체가 0.615로 낮았다는 점을 함께 봐야 합니다.</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다음 두 슬라이드의 Coefficient가 어떻게 나왔는지 설명드립니다. 강남 전체 1,260명으로 질환마다 규제 없는 로지스틱 회귀를 따로 적합했습니다. Baseline은 성별, 나이, 키, 몸무게이고, Best는 여기에 AEC와 체성분 FPCA 점수 14개를 더한 것입니다. 연속 변수는 표준화했기 때문에 Coefficient는 변수가 1 표준편차 커질 때 log-odds가 얼마나 변하는지를 뜻합니다. p-value는 Wald 검정으로, 이 변수의 계수가 0이라고 가정했을 때 Coefficient를 표준오차로 나눈 Z값이 얼마나 극단적인지를 봅니다. 질환군과 비질환군의 평균을 직접 비교한 값이 아니라 다른 변수를 보정한 뒤의 독립적 효과라는 점이 중요합니다.</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Table 3은 Baseline과 Best의 계수 비교입니다. Baseline에서는 성별, 나이, 키, 몸무게가 모두 유의했습니다. AEC와 체성분을 추가하면 성별과 나이는 대체로 유의하게 남지만 키와 몸무게는 대부분 유의하지 않게 바뀝니다. 고혈압에서 키는 p=0.346, 몸무게는 p=0.529입니다. 곡선 정보가 체격 정보를 일부 대신하고 있을 가능성이 있지만 확정은 아닙니다. 당뇨병의 몸무게만은 Best에서도 p=0.013으로 유의하게 남았습니다.</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Table 4는 Best 모델에 들어간 FPCA 점수 14개의 계수입니다. AEC 점수는 세 질환 모두 유의하지 않았고, 유의한 점수는 체성분 쪽에서만 나왔습니다. 고혈압은 VAT와 NAMA, 당뇨병은 SAT와 IMATA, 만성신장질환은 VAT와 LAMA 점수입니다. 다만 FPCA 점수는 곡선 모양의 변화량이라 개별 점수만으로는 해석이 어렵습니다. 점수별 p-value는 다중비교 보정 전입니다.</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Figure 1은 AEC 점수 계수를 원래 곡선 위치, 즉 slice로 환산한 그림입니다. 왼쪽은 입력인 AEC 평균 곡선이고 오른쪽은 각 위치의 AEC가 1 표준편차 클 때 질환 logit이 얼마나 변하는지입니다. 0보다 위는 그 위치의 AEC가 높을수록 질환 확률이 올라가고 아래는 내려간다는 뜻입니다. 세 질환 모두 간 쪽은 양, 치골 쪽은 음이고 부호가 바뀌는 위치는 질환마다 다릅니다. 하지만 slice 번호가 환자마다 같은 해부학적 위치인지는 확인하지 못해 위치 해석은 가설 수준입니다.</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Discussion입니다. AEC만 추가했을 때 개선은 작았고, 체성분까지 더하면 개선이 커지지만 유의한 결과는 주로 신촌에서 나왔습니다. 같은 정보라도 부위, 질환, 병원에 따라 효과가 달랐습니다. 예를 들어 강남 만성신장질환은 체성분만 추가하면 AUC가 0.015 오르는데 AEC만 추가하면 오히려 0.016 떨어집니다. 저는 같은 간에서 치골 범위로 잘라도 환자마다 장기 위치가 달라 같은 slice 번호가 서로 다른 부위를 가리킬 수 있다고 추정합니다. 이것은 아직 확인하지 못한 가설이어서 추가 검증이 필요합니다.</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결론입니다. 기본 정보만으로 AUC는 강남 0.71에서 0.80, 신촌 0.62에서 0.72 수준이었습니다. AEC만 추가하면 변화가 미미했고 강남 만성신장질환은 오히려 낮아졌습니다. 체성분까지 추가하면 AUC가 0.014에서 0.066 올랐지만 신촌은 세 질환 모두 유의한 반면 강남은 고혈압만 유의해 병원 간 결과가 일치하지 않았습니다. 원인으로 slice 위치 불일치를 추정했지만 아직 확인하지 못했고, 이 검증이 다음 과제입니다. 감사합니다.</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여기부터는 Appendix, 즉 질문이 있을 때 쓰는 예비 슬라이드입니다. 보충 그림과 표를 모아 두었습니다.</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949F85-BE6B-5075-93DD-06C87EF098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CCB01C-6DFB-662E-6D77-086F50A1715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DA8B0F6-581D-F115-E541-F080CF8FE923}"/>
              </a:ext>
            </a:extLst>
          </p:cNvPr>
          <p:cNvSpPr>
            <a:spLocks noGrp="1"/>
          </p:cNvSpPr>
          <p:nvPr>
            <p:ph type="body" sz="quarter" idx="3"/>
          </p:nvPr>
        </p:nvSpPr>
        <p:spPr/>
        <p:txBody>
          <a:bodyPr/>
          <a:lstStyle/>
          <a:p>
            <a:r>
              <a:t>Calibration plot입니다. Baseline과 Best 모두 강남은 5-fold 예측값, 신촌은 고정 모델 예측값이고 5분위로 나눴습니다. 고혈압은 대체로 대각선 근처이고, 당뇨병은 class_weight를 balanced로 둔 영향으로 예측확률이 관측 빈도보다 높게 나옵니다. Brier는 Baseline 대비 Best에서 대체로 개선되지만 당뇨병 신촌만 0.238에서 0.247로 나빠졌습니다.</a:t>
            </a:r>
          </a:p>
        </p:txBody>
      </p:sp>
      <p:sp>
        <p:nvSpPr>
          <p:cNvPr id="4" name="Slide Number Placeholder 3">
            <a:extLst>
              <a:ext uri="{FF2B5EF4-FFF2-40B4-BE49-F238E27FC236}">
                <a16:creationId xmlns:a16="http://schemas.microsoft.com/office/drawing/2014/main" id="{437BEC81-8798-CC3F-98AB-C751B4C75E29}"/>
              </a:ext>
            </a:extLst>
          </p:cNvPr>
          <p:cNvSpPr>
            <a:spLocks noGrp="1"/>
          </p:cNvSpPr>
          <p:nvPr>
            <p:ph type="sldNum" sz="quarter" idx="5"/>
          </p:nvPr>
        </p:nvSpPr>
        <p:spPr/>
      </p:sp>
    </p:spTree>
    <p:extLst>
      <p:ext uri="{BB962C8B-B14F-4D97-AF65-F5344CB8AC3E}">
        <p14:creationId xmlns:p14="http://schemas.microsoft.com/office/powerpoint/2010/main" val="17998017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체성분 곡선의 FPCA 계수를 위치별로 환산한 그림입니다. 곡선마다 기여가 큰 위치가 다르고, 예를 들어 IMATA는 치골 쪽에서 당뇨병과 만성신장질환의 기여가 크게 보입니다. 다만 이것도 slice 위치 일관성이 확인되지 않아 가설 수준의 해석입니다.</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Table S1은 전체 확장 모델의 AUC 비교입니다. Internal은 5-fold 평균과 표준편차, External은 고정 모델 AUC이고 별표는 Baseline 대비 DeLong p&lt;0.05입니다. 체성분을 포함한 모델에서 개선이 가장 일관되게 나타납니다.</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Table S2는 고혈압의 fold별 AUC입니다. 모든 확장 모델의 Fold 1에서 5까지 값과 평균, 표본 표준편차를 담았습니다. Baseline은 0.796 ± 0.020, AEC와 체성분을 더한 모델은 0.811 ± 0.036입니다.</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Table S3는 당뇨병의 fold별 AUC입니다. Baseline이 0.712 ± 0.055, AEC와 체성분을 더한 모델이 0.736 ± 0.044입니다. Fold 4에서 값이 낮아 fold 간 변동이 큽니다.</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Table S4는 만성신장질환의 fold별 AUC입니다. Baseline이 0.770 ± 0.038, AEC와 체성분을 더한 모델이 0.784 ± 0.038입니다. 양성이 105명뿐이라 fold마다 21명 정도로 변동이 큽니다.</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Table S5는 AEC FPCA 점수만 추가한 모델의 계수입니다. 세 질환 모두 PC2가 유의하게 나왔고 PC1은 고혈압에서만 유의했습니다. Figure 1은 이 모델의 계수를 곡선 위치로 환산한 것입니다.</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Table S6은 Baseline과 AEC FPCA 추가 모델의 5-fold 결과입니다. OOF AUC가 고혈압 0.795에서 0.804, 당뇨병 0.714에서 0.732로 올랐지만 DeLong p가 각각 0.050, 0.069이고, 만성신장질환은 0.769에서 0.752로 오히려 낮아졌습니다.</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microsoft.com/office/2007/relationships/hdphoto" Target="../media/hdphoto1.wdp"/></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pic>
        <p:nvPicPr>
          <p:cNvPr id="7" name="object 2">
            <a:extLst>
              <a:ext uri="{FF2B5EF4-FFF2-40B4-BE49-F238E27FC236}">
                <a16:creationId xmlns:a16="http://schemas.microsoft.com/office/drawing/2014/main" id="{D279837B-A00B-4327-9AB8-97044CBDABA7}"/>
              </a:ext>
            </a:extLst>
          </p:cNvPr>
          <p:cNvPicPr/>
          <p:nvPr userDrawn="1"/>
        </p:nvPicPr>
        <p:blipFill rotWithShape="1">
          <a:blip r:embed="rId2"/>
          <a:stretch>
            <a:fillRect/>
          </a:stretch>
        </p:blipFill>
        <p:spPr>
          <a:xfrm>
            <a:off x="0" y="228731"/>
            <a:ext cx="12192000" cy="6400538"/>
          </a:xfrm>
          <a:prstGeom prst="rect">
            <a:avLst/>
          </a:prstGeom>
        </p:spPr>
      </p:pic>
      <p:pic>
        <p:nvPicPr>
          <p:cNvPr id="3" name="그림 2">
            <a:extLst>
              <a:ext uri="{FF2B5EF4-FFF2-40B4-BE49-F238E27FC236}">
                <a16:creationId xmlns:a16="http://schemas.microsoft.com/office/drawing/2014/main" id="{4B17CE84-3562-483D-8448-6A30899AF09E}"/>
              </a:ext>
            </a:extLst>
          </p:cNvPr>
          <p:cNvPicPr>
            <a:picLocks noChangeAspect="1"/>
          </p:cNvPicPr>
          <p:nvPr userDrawn="1"/>
        </p:nvPicPr>
        <p:blipFill rotWithShape="1">
          <a:blip r:embed="rId3">
            <a:clrChange>
              <a:clrFrom>
                <a:srgbClr val="FFFFFF"/>
              </a:clrFrom>
              <a:clrTo>
                <a:srgbClr val="FFFFFF">
                  <a:alpha val="0"/>
                </a:srgbClr>
              </a:clrTo>
            </a:clrChange>
          </a:blip>
          <a:srcRect t="19699" b="22132"/>
          <a:stretch/>
        </p:blipFill>
        <p:spPr>
          <a:xfrm>
            <a:off x="3461866" y="5273477"/>
            <a:ext cx="4168803" cy="982769"/>
          </a:xfrm>
          <a:prstGeom prst="rect">
            <a:avLst/>
          </a:prstGeom>
        </p:spPr>
      </p:pic>
      <p:pic>
        <p:nvPicPr>
          <p:cNvPr id="8" name="object 4">
            <a:extLst>
              <a:ext uri="{FF2B5EF4-FFF2-40B4-BE49-F238E27FC236}">
                <a16:creationId xmlns:a16="http://schemas.microsoft.com/office/drawing/2014/main" id="{8EF8DD5B-0316-4193-BCC7-D6CFCAE8969D}"/>
              </a:ext>
            </a:extLst>
          </p:cNvPr>
          <p:cNvPicPr/>
          <p:nvPr userDrawn="1"/>
        </p:nvPicPr>
        <p:blipFill rotWithShape="1">
          <a:blip r:embed="rId4"/>
          <a:stretch>
            <a:fillRect/>
          </a:stretch>
        </p:blipFill>
        <p:spPr>
          <a:xfrm>
            <a:off x="-277376" y="5274173"/>
            <a:ext cx="4550839" cy="992767"/>
          </a:xfrm>
          <a:prstGeom prst="rect">
            <a:avLst/>
          </a:prstGeom>
        </p:spPr>
      </p:pic>
    </p:spTree>
    <p:extLst>
      <p:ext uri="{BB962C8B-B14F-4D97-AF65-F5344CB8AC3E}">
        <p14:creationId xmlns:p14="http://schemas.microsoft.com/office/powerpoint/2010/main" val="33685786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grpSp>
        <p:nvGrpSpPr>
          <p:cNvPr id="24" name="그룹 23">
            <a:extLst>
              <a:ext uri="{FF2B5EF4-FFF2-40B4-BE49-F238E27FC236}">
                <a16:creationId xmlns:a16="http://schemas.microsoft.com/office/drawing/2014/main" id="{5EC22856-02EF-4559-9B66-BD5C863FF254}"/>
              </a:ext>
            </a:extLst>
          </p:cNvPr>
          <p:cNvGrpSpPr/>
          <p:nvPr userDrawn="1"/>
        </p:nvGrpSpPr>
        <p:grpSpPr>
          <a:xfrm>
            <a:off x="-8467" y="6463089"/>
            <a:ext cx="12200467" cy="403574"/>
            <a:chOff x="-8467" y="6470661"/>
            <a:chExt cx="12200467" cy="390527"/>
          </a:xfrm>
        </p:grpSpPr>
        <p:sp>
          <p:nvSpPr>
            <p:cNvPr id="9" name="직사각형 8">
              <a:extLst>
                <a:ext uri="{FF2B5EF4-FFF2-40B4-BE49-F238E27FC236}">
                  <a16:creationId xmlns:a16="http://schemas.microsoft.com/office/drawing/2014/main" id="{0DFE1C4B-A7EE-47E1-8AAE-3EF4E43D16F6}"/>
                </a:ext>
              </a:extLst>
            </p:cNvPr>
            <p:cNvSpPr/>
            <p:nvPr userDrawn="1"/>
          </p:nvSpPr>
          <p:spPr>
            <a:xfrm>
              <a:off x="0" y="6496062"/>
              <a:ext cx="12192000" cy="365126"/>
            </a:xfrm>
            <a:prstGeom prst="rect">
              <a:avLst/>
            </a:prstGeom>
            <a:solidFill>
              <a:srgbClr val="1F346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KoPub돋움체 Medium" panose="00000600000000000000" pitchFamily="2" charset="-127"/>
                <a:ea typeface="KoPub돋움체 Medium" panose="00000600000000000000" pitchFamily="2" charset="-127"/>
              </a:endParaRPr>
            </a:p>
          </p:txBody>
        </p:sp>
        <p:cxnSp>
          <p:nvCxnSpPr>
            <p:cNvPr id="15" name="직선 연결선 14">
              <a:extLst>
                <a:ext uri="{FF2B5EF4-FFF2-40B4-BE49-F238E27FC236}">
                  <a16:creationId xmlns:a16="http://schemas.microsoft.com/office/drawing/2014/main" id="{28C131E4-1CD9-49D8-B343-8379436586CB}"/>
                </a:ext>
              </a:extLst>
            </p:cNvPr>
            <p:cNvCxnSpPr>
              <a:cxnSpLocks/>
            </p:cNvCxnSpPr>
            <p:nvPr userDrawn="1"/>
          </p:nvCxnSpPr>
          <p:spPr>
            <a:xfrm>
              <a:off x="-8467" y="6470661"/>
              <a:ext cx="12200467" cy="0"/>
            </a:xfrm>
            <a:prstGeom prst="line">
              <a:avLst/>
            </a:pr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sp>
        <p:nvSpPr>
          <p:cNvPr id="2" name="제목 1">
            <a:extLst>
              <a:ext uri="{FF2B5EF4-FFF2-40B4-BE49-F238E27FC236}">
                <a16:creationId xmlns:a16="http://schemas.microsoft.com/office/drawing/2014/main" id="{FE4F955D-C3E9-4033-8442-9095377B0662}"/>
              </a:ext>
            </a:extLst>
          </p:cNvPr>
          <p:cNvSpPr>
            <a:spLocks noGrp="1"/>
          </p:cNvSpPr>
          <p:nvPr>
            <p:ph type="title" hasCustomPrompt="1"/>
          </p:nvPr>
        </p:nvSpPr>
        <p:spPr>
          <a:xfrm>
            <a:off x="508000" y="365126"/>
            <a:ext cx="11176000" cy="532342"/>
          </a:xfrm>
        </p:spPr>
        <p:txBody>
          <a:bodyPr>
            <a:normAutofit/>
          </a:bodyPr>
          <a:lstStyle>
            <a:lvl1pPr>
              <a:defRPr sz="2400" b="1">
                <a:solidFill>
                  <a:srgbClr val="023670"/>
                </a:solidFill>
                <a:latin typeface="KoPub돋움체 Bold" panose="02020603020101020101" pitchFamily="18" charset="-127"/>
                <a:ea typeface="KoPub돋움체 Bold" panose="02020603020101020101" pitchFamily="18" charset="-127"/>
                <a:cs typeface="Arial" panose="020B0604020202020204" pitchFamily="34" charset="0"/>
              </a:defRPr>
            </a:lvl1pPr>
          </a:lstStyle>
          <a:p>
            <a:r>
              <a:rPr lang="ko-KR" altLang="en-US" dirty="0"/>
              <a:t>마스터 제목 스타일 편집</a:t>
            </a:r>
          </a:p>
        </p:txBody>
      </p:sp>
      <p:sp>
        <p:nvSpPr>
          <p:cNvPr id="3" name="내용 개체 틀 2">
            <a:extLst>
              <a:ext uri="{FF2B5EF4-FFF2-40B4-BE49-F238E27FC236}">
                <a16:creationId xmlns:a16="http://schemas.microsoft.com/office/drawing/2014/main" id="{9CA482F1-FC12-443E-892A-B48F9C50AA53}"/>
              </a:ext>
            </a:extLst>
          </p:cNvPr>
          <p:cNvSpPr>
            <a:spLocks noGrp="1"/>
          </p:cNvSpPr>
          <p:nvPr>
            <p:ph idx="1" hasCustomPrompt="1"/>
          </p:nvPr>
        </p:nvSpPr>
        <p:spPr>
          <a:xfrm>
            <a:off x="508000" y="897468"/>
            <a:ext cx="11176000" cy="5063066"/>
          </a:xfrm>
        </p:spPr>
        <p:txBody>
          <a:bodyPr/>
          <a:lstStyle>
            <a:lvl1pPr>
              <a:lnSpc>
                <a:spcPct val="200000"/>
              </a:lnSpc>
              <a:defRPr sz="2000" b="0">
                <a:latin typeface="KoPub돋움체 Bold" panose="02020603020101020101" pitchFamily="18" charset="-127"/>
                <a:ea typeface="KoPub돋움체 Bold" panose="02020603020101020101" pitchFamily="18" charset="-127"/>
              </a:defRPr>
            </a:lvl1pPr>
            <a:lvl2pPr>
              <a:lnSpc>
                <a:spcPct val="150000"/>
              </a:lnSpc>
              <a:defRPr sz="1800">
                <a:latin typeface="KoPub돋움체 Medium" panose="02020603020101020101" pitchFamily="18" charset="-127"/>
                <a:ea typeface="KoPub돋움체 Medium" panose="02020603020101020101" pitchFamily="18" charset="-127"/>
              </a:defRPr>
            </a:lvl2pPr>
            <a:lvl3pPr>
              <a:lnSpc>
                <a:spcPct val="150000"/>
              </a:lnSpc>
              <a:defRPr sz="1600">
                <a:latin typeface="KoPub돋움체 Medium" panose="02020603020101020101" pitchFamily="18" charset="-127"/>
                <a:ea typeface="KoPub돋움체 Medium" panose="02020603020101020101" pitchFamily="18" charset="-127"/>
              </a:defRPr>
            </a:lvl3pPr>
            <a:lvl4pPr>
              <a:lnSpc>
                <a:spcPct val="150000"/>
              </a:lnSpc>
              <a:defRPr sz="1600">
                <a:latin typeface="KoPub돋움체 Medium" panose="02020603020101020101" pitchFamily="18" charset="-127"/>
                <a:ea typeface="KoPub돋움체 Medium" panose="02020603020101020101" pitchFamily="18" charset="-127"/>
              </a:defRPr>
            </a:lvl4pPr>
            <a:lvl5pPr>
              <a:lnSpc>
                <a:spcPct val="150000"/>
              </a:lnSpc>
              <a:defRPr sz="1600">
                <a:latin typeface="KoPub돋움체 Medium" panose="02020603020101020101" pitchFamily="18" charset="-127"/>
                <a:ea typeface="KoPub돋움체 Medium" panose="02020603020101020101" pitchFamily="18" charset="-127"/>
              </a:defRPr>
            </a:lvl5p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pic>
        <p:nvPicPr>
          <p:cNvPr id="11" name="그림 10">
            <a:extLst>
              <a:ext uri="{FF2B5EF4-FFF2-40B4-BE49-F238E27FC236}">
                <a16:creationId xmlns:a16="http://schemas.microsoft.com/office/drawing/2014/main" id="{95A1225D-0BD8-42FD-A091-144615FF0733}"/>
              </a:ext>
            </a:extLst>
          </p:cNvPr>
          <p:cNvPicPr>
            <a:picLocks noChangeAspect="1"/>
          </p:cNvPicPr>
          <p:nvPr userDrawn="1"/>
        </p:nvPicPr>
        <p:blipFill rotWithShape="1">
          <a:blip r:embed="rId2"/>
          <a:srcRect t="-583" b="3459"/>
          <a:stretch/>
        </p:blipFill>
        <p:spPr>
          <a:xfrm>
            <a:off x="5452198" y="6510701"/>
            <a:ext cx="1279135" cy="347299"/>
          </a:xfrm>
          <a:prstGeom prst="rect">
            <a:avLst/>
          </a:prstGeom>
          <a:solidFill>
            <a:srgbClr val="1F346B"/>
          </a:solidFill>
        </p:spPr>
      </p:pic>
      <p:sp>
        <p:nvSpPr>
          <p:cNvPr id="6" name="슬라이드 번호 개체 틀 5">
            <a:extLst>
              <a:ext uri="{FF2B5EF4-FFF2-40B4-BE49-F238E27FC236}">
                <a16:creationId xmlns:a16="http://schemas.microsoft.com/office/drawing/2014/main" id="{831EFF5A-1B85-42B1-95F5-C4213C5AD98D}"/>
              </a:ext>
            </a:extLst>
          </p:cNvPr>
          <p:cNvSpPr>
            <a:spLocks noGrp="1"/>
          </p:cNvSpPr>
          <p:nvPr>
            <p:ph type="sldNum" sz="quarter" idx="12"/>
          </p:nvPr>
        </p:nvSpPr>
        <p:spPr>
          <a:xfrm>
            <a:off x="11404600" y="6517302"/>
            <a:ext cx="558800" cy="321398"/>
          </a:xfrm>
        </p:spPr>
        <p:txBody>
          <a:bodyPr/>
          <a:lstStyle>
            <a:lvl1pPr>
              <a:defRPr>
                <a:solidFill>
                  <a:schemeClr val="bg1"/>
                </a:solidFill>
              </a:defRPr>
            </a:lvl1pPr>
          </a:lstStyle>
          <a:p>
            <a:fld id="{9F4AF89A-28FA-47FA-B28F-9A9C6913CB7A}" type="slidenum">
              <a:rPr lang="ko-KR" altLang="en-US" smtClean="0"/>
              <a:pPr/>
              <a:t>‹#›</a:t>
            </a:fld>
            <a:endParaRPr lang="ko-KR" altLang="en-US" dirty="0"/>
          </a:p>
        </p:txBody>
      </p:sp>
      <p:pic>
        <p:nvPicPr>
          <p:cNvPr id="13" name="그림 12">
            <a:extLst>
              <a:ext uri="{FF2B5EF4-FFF2-40B4-BE49-F238E27FC236}">
                <a16:creationId xmlns:a16="http://schemas.microsoft.com/office/drawing/2014/main" id="{DAEAB581-7B9E-4552-9BEC-BDB2FB36C0F9}"/>
              </a:ext>
            </a:extLst>
          </p:cNvPr>
          <p:cNvPicPr>
            <a:picLocks noChangeAspect="1"/>
          </p:cNvPicPr>
          <p:nvPr userDrawn="1"/>
        </p:nvPicPr>
        <p:blipFill rotWithShape="1">
          <a:blip r:embed="rId3">
            <a:extLst>
              <a:ext uri="{BEBA8EAE-BF5A-486C-A8C5-ECC9F3942E4B}">
                <a14:imgProps xmlns:a14="http://schemas.microsoft.com/office/drawing/2010/main">
                  <a14:imgLayer r:embed="rId4">
                    <a14:imgEffect>
                      <a14:backgroundRemoval t="66482" b="96122" l="16219" r="85171">
                        <a14:foregroundMark x1="20111" y1="81440" x2="20111" y2="81440"/>
                        <a14:foregroundMark x1="16404" y1="81440" x2="16404" y2="81440"/>
                        <a14:foregroundMark x1="25950" y1="81717" x2="25950" y2="81717"/>
                        <a14:foregroundMark x1="35959" y1="86704" x2="35959" y2="86704"/>
                        <a14:foregroundMark x1="44300" y1="83657" x2="44300" y2="83657"/>
                        <a14:foregroundMark x1="53197" y1="73961" x2="53197" y2="73961"/>
                        <a14:foregroundMark x1="82947" y1="81717" x2="82947" y2="81717"/>
                        <a14:foregroundMark x1="85171" y1="87812" x2="85171" y2="87812"/>
                      </a14:backgroundRemoval>
                    </a14:imgEffect>
                  </a14:imgLayer>
                </a14:imgProps>
              </a:ext>
              <a:ext uri="{28A0092B-C50C-407E-A947-70E740481C1C}">
                <a14:useLocalDpi xmlns:a14="http://schemas.microsoft.com/office/drawing/2010/main" val="0"/>
              </a:ext>
            </a:extLst>
          </a:blip>
          <a:srcRect l="12517" t="63297" r="13176"/>
          <a:stretch/>
        </p:blipFill>
        <p:spPr>
          <a:xfrm>
            <a:off x="112017" y="6545265"/>
            <a:ext cx="1744133" cy="288231"/>
          </a:xfrm>
          <a:prstGeom prst="rect">
            <a:avLst/>
          </a:prstGeom>
        </p:spPr>
      </p:pic>
      <p:sp>
        <p:nvSpPr>
          <p:cNvPr id="16" name="날짜 개체 틀 3">
            <a:extLst>
              <a:ext uri="{FF2B5EF4-FFF2-40B4-BE49-F238E27FC236}">
                <a16:creationId xmlns:a16="http://schemas.microsoft.com/office/drawing/2014/main" id="{3920A115-BF94-4DB0-B759-905F580E6ABC}"/>
              </a:ext>
            </a:extLst>
          </p:cNvPr>
          <p:cNvSpPr>
            <a:spLocks noGrp="1"/>
          </p:cNvSpPr>
          <p:nvPr>
            <p:ph type="dt" sz="half" idx="10"/>
          </p:nvPr>
        </p:nvSpPr>
        <p:spPr>
          <a:xfrm>
            <a:off x="9698025" y="6495439"/>
            <a:ext cx="1258711" cy="365125"/>
          </a:xfrm>
        </p:spPr>
        <p:txBody>
          <a:bodyPr/>
          <a:lstStyle>
            <a:lvl1pPr>
              <a:defRPr>
                <a:solidFill>
                  <a:schemeClr val="bg1"/>
                </a:solidFill>
              </a:defRPr>
            </a:lvl1pPr>
          </a:lstStyle>
          <a:p>
            <a:endParaRPr lang="ko-KR" altLang="en-US" dirty="0"/>
          </a:p>
        </p:txBody>
      </p:sp>
      <p:sp>
        <p:nvSpPr>
          <p:cNvPr id="17" name="바닥글 개체 틀 4">
            <a:extLst>
              <a:ext uri="{FF2B5EF4-FFF2-40B4-BE49-F238E27FC236}">
                <a16:creationId xmlns:a16="http://schemas.microsoft.com/office/drawing/2014/main" id="{CB761E04-ABC5-4F9B-B7F4-0370F3F02EDD}"/>
              </a:ext>
            </a:extLst>
          </p:cNvPr>
          <p:cNvSpPr>
            <a:spLocks noGrp="1"/>
          </p:cNvSpPr>
          <p:nvPr>
            <p:ph type="ftr" sz="quarter" idx="11"/>
          </p:nvPr>
        </p:nvSpPr>
        <p:spPr>
          <a:xfrm>
            <a:off x="7308348" y="6495439"/>
            <a:ext cx="1888067" cy="365125"/>
          </a:xfrm>
        </p:spPr>
        <p:txBody>
          <a:bodyPr/>
          <a:lstStyle>
            <a:lvl1pPr>
              <a:defRPr>
                <a:solidFill>
                  <a:schemeClr val="bg1"/>
                </a:solidFill>
              </a:defRPr>
            </a:lvl1pPr>
          </a:lstStyle>
          <a:p>
            <a:endParaRPr lang="ko-KR" altLang="en-US" dirty="0"/>
          </a:p>
        </p:txBody>
      </p:sp>
    </p:spTree>
    <p:extLst>
      <p:ext uri="{BB962C8B-B14F-4D97-AF65-F5344CB8AC3E}">
        <p14:creationId xmlns:p14="http://schemas.microsoft.com/office/powerpoint/2010/main" val="31764840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7D0B4DC-8072-4B8E-A822-FE3A08C0D639}"/>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BD927B99-20C3-4D37-8275-EA6400E5C16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C7C6CE84-6AD8-453A-AD6E-FEAF6049C1C5}"/>
              </a:ext>
            </a:extLst>
          </p:cNvPr>
          <p:cNvSpPr>
            <a:spLocks noGrp="1"/>
          </p:cNvSpPr>
          <p:nvPr>
            <p:ph type="dt" sz="half" idx="10"/>
          </p:nvPr>
        </p:nvSpPr>
        <p:spPr>
          <a:xfrm>
            <a:off x="838200" y="6044141"/>
            <a:ext cx="2743200" cy="365125"/>
          </a:xfrm>
        </p:spPr>
        <p:txBody>
          <a:bodyPr/>
          <a:lstStyle/>
          <a:p>
            <a:endParaRPr lang="ko-KR" altLang="en-US"/>
          </a:p>
        </p:txBody>
      </p:sp>
      <p:sp>
        <p:nvSpPr>
          <p:cNvPr id="5" name="바닥글 개체 틀 4">
            <a:extLst>
              <a:ext uri="{FF2B5EF4-FFF2-40B4-BE49-F238E27FC236}">
                <a16:creationId xmlns:a16="http://schemas.microsoft.com/office/drawing/2014/main" id="{549EF105-0337-4580-9111-FD2F527F97D8}"/>
              </a:ext>
            </a:extLst>
          </p:cNvPr>
          <p:cNvSpPr>
            <a:spLocks noGrp="1"/>
          </p:cNvSpPr>
          <p:nvPr>
            <p:ph type="ftr" sz="quarter" idx="11"/>
          </p:nvPr>
        </p:nvSpPr>
        <p:spPr>
          <a:xfrm>
            <a:off x="4038600" y="6044141"/>
            <a:ext cx="4114800" cy="365125"/>
          </a:xfrm>
        </p:spPr>
        <p:txBody>
          <a:bodyPr/>
          <a:lstStyle/>
          <a:p>
            <a:endParaRPr lang="ko-KR" altLang="en-US"/>
          </a:p>
        </p:txBody>
      </p:sp>
      <p:sp>
        <p:nvSpPr>
          <p:cNvPr id="7" name="슬라이드 번호 개체 틀 5">
            <a:extLst>
              <a:ext uri="{FF2B5EF4-FFF2-40B4-BE49-F238E27FC236}">
                <a16:creationId xmlns:a16="http://schemas.microsoft.com/office/drawing/2014/main" id="{AB31AF83-2C46-4BF6-B48E-DD76F99A3E2F}"/>
              </a:ext>
            </a:extLst>
          </p:cNvPr>
          <p:cNvSpPr>
            <a:spLocks noGrp="1"/>
          </p:cNvSpPr>
          <p:nvPr>
            <p:ph type="sldNum" sz="quarter" idx="12"/>
          </p:nvPr>
        </p:nvSpPr>
        <p:spPr>
          <a:xfrm>
            <a:off x="8940800" y="6044141"/>
            <a:ext cx="2743200" cy="365125"/>
          </a:xfrm>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4517793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88C8B6C-1DEF-4332-8A14-F6B6981FD999}"/>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078B35E-5C7A-4650-863C-461C8592BBB6}"/>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FA0FC85E-DA01-4C94-8312-2EAB20EAB350}"/>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96ADE796-457C-4E05-BBB8-BC7FD1390133}"/>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765A564A-D398-41C0-BEF2-5D2A53F3709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EBD0DB09-1DC7-4816-820B-2EDD19BADB20}"/>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21298322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D073845-DA08-4E02-89E5-279477CDC15E}"/>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6FA0F8E2-8F9C-4936-8D92-FA7FE497028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59C35784-8D42-4310-8640-07C1BEB330BD}"/>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1B31B950-6CB7-42DB-A303-B407EF83D2A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0F35007-CA56-4CB7-8C5F-CF3E2924C586}"/>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290CD9AE-54AB-44CB-8910-A70F24EB3AAA}"/>
              </a:ext>
            </a:extLst>
          </p:cNvPr>
          <p:cNvSpPr>
            <a:spLocks noGrp="1"/>
          </p:cNvSpPr>
          <p:nvPr>
            <p:ph type="dt" sz="half" idx="10"/>
          </p:nvPr>
        </p:nvSpPr>
        <p:spPr/>
        <p:txBody>
          <a:bodyPr/>
          <a:lstStyle/>
          <a:p>
            <a:endParaRPr lang="ko-KR" altLang="en-US"/>
          </a:p>
        </p:txBody>
      </p:sp>
      <p:sp>
        <p:nvSpPr>
          <p:cNvPr id="8" name="바닥글 개체 틀 7">
            <a:extLst>
              <a:ext uri="{FF2B5EF4-FFF2-40B4-BE49-F238E27FC236}">
                <a16:creationId xmlns:a16="http://schemas.microsoft.com/office/drawing/2014/main" id="{42AFA608-2F47-4FBC-8A45-AC037C64C08E}"/>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FEA635AC-BD3D-4D4A-AB07-EAABF5013766}"/>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13076600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DD27486-42F6-4B67-8DF8-769971D09AF4}"/>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9BBFFFA3-6C08-4D2B-B714-F2729D0D945F}"/>
              </a:ext>
            </a:extLst>
          </p:cNvPr>
          <p:cNvSpPr>
            <a:spLocks noGrp="1"/>
          </p:cNvSpPr>
          <p:nvPr>
            <p:ph type="dt" sz="half" idx="10"/>
          </p:nvPr>
        </p:nvSpPr>
        <p:spPr/>
        <p:txBody>
          <a:bodyPr/>
          <a:lstStyle/>
          <a:p>
            <a:endParaRPr lang="ko-KR" altLang="en-US"/>
          </a:p>
        </p:txBody>
      </p:sp>
      <p:sp>
        <p:nvSpPr>
          <p:cNvPr id="4" name="바닥글 개체 틀 3">
            <a:extLst>
              <a:ext uri="{FF2B5EF4-FFF2-40B4-BE49-F238E27FC236}">
                <a16:creationId xmlns:a16="http://schemas.microsoft.com/office/drawing/2014/main" id="{001B550E-4A2E-4405-8F29-A9633B7A9251}"/>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840B985F-0B0F-472E-A18E-72C776E3022C}"/>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969097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5995497-1A46-4FDE-B4B1-CA2510A4E863}"/>
              </a:ext>
            </a:extLst>
          </p:cNvPr>
          <p:cNvSpPr>
            <a:spLocks noGrp="1"/>
          </p:cNvSpPr>
          <p:nvPr>
            <p:ph type="dt" sz="half" idx="10"/>
          </p:nvPr>
        </p:nvSpPr>
        <p:spPr/>
        <p:txBody>
          <a:bodyPr/>
          <a:lstStyle/>
          <a:p>
            <a:endParaRPr lang="ko-KR" altLang="en-US"/>
          </a:p>
        </p:txBody>
      </p:sp>
      <p:sp>
        <p:nvSpPr>
          <p:cNvPr id="3" name="바닥글 개체 틀 2">
            <a:extLst>
              <a:ext uri="{FF2B5EF4-FFF2-40B4-BE49-F238E27FC236}">
                <a16:creationId xmlns:a16="http://schemas.microsoft.com/office/drawing/2014/main" id="{66BDDD35-FFDF-4936-8645-AC2A1F2AB0E2}"/>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5A31037F-312F-4D9B-9119-F134F49B2903}"/>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159211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8062E35-F23E-4CDC-9C00-11DCB7E970EA}"/>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D765F35A-C1B0-4F2A-8536-7C9C4EF9C0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86B6DFEF-5929-42A1-B17A-6AD3F1AC5E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9B8A33CA-A779-4AE7-8BB3-0DF9C81A742A}"/>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71539BD6-447C-4ABC-97CC-BCC453A3890D}"/>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F6A96239-5406-4F31-95AA-C4BD1AB5053A}"/>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14780733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EFCC7A7-4C8B-434F-9C38-C6E5AC9E37D8}"/>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97AD0D2C-AE0D-4BDF-B9E8-D91CD7556C1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A9F58740-6BDA-46A2-A629-765E7E175B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F92C1AD5-7F55-4125-8A2F-BC07A86DA481}"/>
              </a:ext>
            </a:extLst>
          </p:cNvPr>
          <p:cNvSpPr>
            <a:spLocks noGrp="1"/>
          </p:cNvSpPr>
          <p:nvPr>
            <p:ph type="dt" sz="half" idx="10"/>
          </p:nvPr>
        </p:nvSpPr>
        <p:spPr/>
        <p:txBody>
          <a:bodyPr/>
          <a:lstStyle/>
          <a:p>
            <a:endParaRPr lang="ko-KR" altLang="en-US"/>
          </a:p>
        </p:txBody>
      </p:sp>
      <p:sp>
        <p:nvSpPr>
          <p:cNvPr id="6" name="바닥글 개체 틀 5">
            <a:extLst>
              <a:ext uri="{FF2B5EF4-FFF2-40B4-BE49-F238E27FC236}">
                <a16:creationId xmlns:a16="http://schemas.microsoft.com/office/drawing/2014/main" id="{CAB58409-227F-4B89-B306-5E32E6E4F5AE}"/>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7C64012-3A7B-4999-BA77-06258A04A4F4}"/>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1430372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154230E-387F-465D-9111-5F8ACFE1D2C0}"/>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CC53B19F-7C90-4073-858B-0BD87654EFB1}"/>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496123FE-787A-4904-AA9D-8ACC7B307BBE}"/>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1F1EAC67-5F52-452E-9E50-F587C648176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50EEB5A-4207-4ADB-95D4-B87AA305BAB0}"/>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1900714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4DACCBB6-C18F-485C-A53E-8683CFFE9091}"/>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112DC10F-92E5-436B-9D63-2A68B11CB04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CB5DDDF8-BB20-4C9B-9571-A39BA7D6E91F}"/>
              </a:ext>
            </a:extLst>
          </p:cNvPr>
          <p:cNvSpPr>
            <a:spLocks noGrp="1"/>
          </p:cNvSpPr>
          <p:nvPr>
            <p:ph type="dt" sz="half" idx="10"/>
          </p:nvPr>
        </p:nvSpPr>
        <p:spPr/>
        <p:txBody>
          <a:bodyPr/>
          <a:lstStyle/>
          <a:p>
            <a:endParaRPr lang="ko-KR" altLang="en-US"/>
          </a:p>
        </p:txBody>
      </p:sp>
      <p:sp>
        <p:nvSpPr>
          <p:cNvPr id="5" name="바닥글 개체 틀 4">
            <a:extLst>
              <a:ext uri="{FF2B5EF4-FFF2-40B4-BE49-F238E27FC236}">
                <a16:creationId xmlns:a16="http://schemas.microsoft.com/office/drawing/2014/main" id="{7354DDF5-9EDE-406E-BFC5-8359CD70849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B989F03-47B6-4B39-B0CA-2A216789CA94}"/>
              </a:ext>
            </a:extLst>
          </p:cNvPr>
          <p:cNvSpPr>
            <a:spLocks noGrp="1"/>
          </p:cNvSpPr>
          <p:nvPr>
            <p:ph type="sldNum" sz="quarter" idx="12"/>
          </p:nvPr>
        </p:nvSpPr>
        <p:spPr/>
        <p:txBody>
          <a:bodyPr/>
          <a:lstStyle/>
          <a:p>
            <a:fld id="{9F4AF89A-28FA-47FA-B28F-9A9C6913CB7A}" type="slidenum">
              <a:rPr lang="ko-KR" altLang="en-US" smtClean="0"/>
              <a:t>‹#›</a:t>
            </a:fld>
            <a:endParaRPr lang="ko-KR" altLang="en-US"/>
          </a:p>
        </p:txBody>
      </p:sp>
    </p:spTree>
    <p:extLst>
      <p:ext uri="{BB962C8B-B14F-4D97-AF65-F5344CB8AC3E}">
        <p14:creationId xmlns:p14="http://schemas.microsoft.com/office/powerpoint/2010/main" val="397771909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DA31B03D-0C42-48E6-948A-722C5EE3FD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dirty="0"/>
              <a:t>마스터 제목 스타일 편집</a:t>
            </a:r>
          </a:p>
        </p:txBody>
      </p:sp>
      <p:sp>
        <p:nvSpPr>
          <p:cNvPr id="3" name="텍스트 개체 틀 2">
            <a:extLst>
              <a:ext uri="{FF2B5EF4-FFF2-40B4-BE49-F238E27FC236}">
                <a16:creationId xmlns:a16="http://schemas.microsoft.com/office/drawing/2014/main" id="{495A6E46-0B48-4B44-9DA0-C7C1E05C33E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B20D4B93-E437-4DCC-9E09-16EA88BBC5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5" name="바닥글 개체 틀 4">
            <a:extLst>
              <a:ext uri="{FF2B5EF4-FFF2-40B4-BE49-F238E27FC236}">
                <a16:creationId xmlns:a16="http://schemas.microsoft.com/office/drawing/2014/main" id="{84A7A77E-05D0-4203-B655-9A2A21B58D0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KoPub돋움체 Medium" panose="00000600000000000000" pitchFamily="2" charset="-127"/>
                <a:ea typeface="KoPub돋움체 Medium" panose="00000600000000000000" pitchFamily="2" charset="-127"/>
              </a:defRPr>
            </a:lvl1pPr>
          </a:lstStyle>
          <a:p>
            <a:endParaRPr lang="ko-KR" altLang="en-US" dirty="0"/>
          </a:p>
        </p:txBody>
      </p:sp>
      <p:sp>
        <p:nvSpPr>
          <p:cNvPr id="6" name="슬라이드 번호 개체 틀 5">
            <a:extLst>
              <a:ext uri="{FF2B5EF4-FFF2-40B4-BE49-F238E27FC236}">
                <a16:creationId xmlns:a16="http://schemas.microsoft.com/office/drawing/2014/main" id="{4C09CEAC-52D1-4D7C-99C4-13222A951ED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KoPub돋움체 Medium" panose="00000600000000000000" pitchFamily="2" charset="-127"/>
                <a:ea typeface="KoPub돋움체 Medium" panose="00000600000000000000" pitchFamily="2" charset="-127"/>
              </a:defRPr>
            </a:lvl1pPr>
          </a:lstStyle>
          <a:p>
            <a:fld id="{9F4AF89A-28FA-47FA-B28F-9A9C6913CB7A}" type="slidenum">
              <a:rPr lang="ko-KR" altLang="en-US" smtClean="0"/>
              <a:pPr/>
              <a:t>‹#›</a:t>
            </a:fld>
            <a:endParaRPr lang="ko-KR" altLang="en-US" dirty="0"/>
          </a:p>
        </p:txBody>
      </p:sp>
    </p:spTree>
    <p:extLst>
      <p:ext uri="{BB962C8B-B14F-4D97-AF65-F5344CB8AC3E}">
        <p14:creationId xmlns:p14="http://schemas.microsoft.com/office/powerpoint/2010/main" val="27554859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KoPub돋움체 Medium" panose="00000600000000000000" pitchFamily="2" charset="-127"/>
          <a:ea typeface="KoPub돋움체 Medium" panose="00000600000000000000" pitchFamily="2" charset="-127"/>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KoPub돋움체 Medium" panose="00000600000000000000" pitchFamily="2" charset="-127"/>
          <a:ea typeface="KoPub돋움체 Medium" panose="00000600000000000000" pitchFamily="2" charset="-127"/>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KoPub돋움체 Medium" panose="00000600000000000000" pitchFamily="2" charset="-127"/>
          <a:ea typeface="KoPub돋움체 Medium" panose="00000600000000000000" pitchFamily="2" charset="-127"/>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KoPub돋움체 Medium" panose="00000600000000000000" pitchFamily="2" charset="-127"/>
          <a:ea typeface="KoPub돋움체 Medium" panose="00000600000000000000" pitchFamily="2" charset="-127"/>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KoPub돋움체 Medium" panose="00000600000000000000" pitchFamily="2" charset="-127"/>
          <a:ea typeface="KoPub돋움체 Medium" panose="00000600000000000000" pitchFamily="2" charset="-127"/>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KoPub돋움체 Medium" panose="00000600000000000000" pitchFamily="2" charset="-127"/>
          <a:ea typeface="KoPub돋움체 Medium" panose="00000600000000000000" pitchFamily="2" charset="-127"/>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8.pn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31074" y="2203269"/>
            <a:ext cx="8437053" cy="707886"/>
          </a:xfrm>
          <a:prstGeom prst="rect">
            <a:avLst/>
          </a:prstGeom>
          <a:noFill/>
        </p:spPr>
        <p:txBody>
          <a:bodyPr wrap="none">
            <a:spAutoFit/>
          </a:bodyPr>
          <a:lstStyle/>
          <a:p>
            <a:r>
              <a:rPr lang="ko-KR" altLang="ko-KR" sz="2000" b="1" dirty="0" err="1">
                <a:solidFill>
                  <a:schemeClr val="bg1"/>
                </a:solidFill>
              </a:rPr>
              <a:t>Contribution</a:t>
            </a:r>
            <a:r>
              <a:rPr lang="ko-KR" altLang="ko-KR" sz="2000" b="1" dirty="0">
                <a:solidFill>
                  <a:schemeClr val="bg1"/>
                </a:solidFill>
              </a:rPr>
              <a:t> and </a:t>
            </a:r>
            <a:r>
              <a:rPr lang="ko-KR" altLang="ko-KR" sz="2000" b="1" dirty="0" err="1">
                <a:solidFill>
                  <a:schemeClr val="bg1"/>
                </a:solidFill>
              </a:rPr>
              <a:t>Limitations</a:t>
            </a:r>
            <a:r>
              <a:rPr lang="ko-KR" altLang="ko-KR" sz="2000" b="1" dirty="0">
                <a:solidFill>
                  <a:schemeClr val="bg1"/>
                </a:solidFill>
              </a:rPr>
              <a:t> of AEC and </a:t>
            </a:r>
            <a:r>
              <a:rPr lang="ko-KR" altLang="ko-KR" sz="2000" b="1" dirty="0" err="1">
                <a:solidFill>
                  <a:schemeClr val="bg1"/>
                </a:solidFill>
              </a:rPr>
              <a:t>Body</a:t>
            </a:r>
            <a:r>
              <a:rPr lang="ko-KR" altLang="ko-KR" sz="2000" b="1" dirty="0">
                <a:solidFill>
                  <a:schemeClr val="bg1"/>
                </a:solidFill>
              </a:rPr>
              <a:t> </a:t>
            </a:r>
            <a:r>
              <a:rPr lang="ko-KR" altLang="ko-KR" sz="2000" b="1" dirty="0" err="1">
                <a:solidFill>
                  <a:schemeClr val="bg1"/>
                </a:solidFill>
              </a:rPr>
              <a:t>Composition</a:t>
            </a:r>
            <a:r>
              <a:rPr lang="ko-KR" altLang="ko-KR" sz="2000" b="1" dirty="0">
                <a:solidFill>
                  <a:schemeClr val="bg1"/>
                </a:solidFill>
              </a:rPr>
              <a:t> </a:t>
            </a:r>
            <a:r>
              <a:rPr lang="ko-KR" altLang="ko-KR" sz="2000" b="1" dirty="0" err="1">
                <a:solidFill>
                  <a:schemeClr val="bg1"/>
                </a:solidFill>
              </a:rPr>
              <a:t>Curves</a:t>
            </a:r>
            <a:endParaRPr lang="en-US" altLang="ko-KR" sz="2000" b="1" dirty="0">
              <a:solidFill>
                <a:schemeClr val="bg1"/>
              </a:solidFill>
            </a:endParaRPr>
          </a:p>
          <a:p>
            <a:r>
              <a:rPr lang="ko-KR" altLang="ko-KR" sz="2000" b="1" dirty="0" err="1">
                <a:solidFill>
                  <a:schemeClr val="bg1"/>
                </a:solidFill>
              </a:rPr>
              <a:t>in</a:t>
            </a:r>
            <a:r>
              <a:rPr lang="ko-KR" altLang="ko-KR" sz="2000" b="1" dirty="0">
                <a:solidFill>
                  <a:schemeClr val="bg1"/>
                </a:solidFill>
              </a:rPr>
              <a:t> </a:t>
            </a:r>
            <a:r>
              <a:rPr lang="ko-KR" altLang="ko-KR" sz="2000" b="1" dirty="0" err="1">
                <a:solidFill>
                  <a:schemeClr val="bg1"/>
                </a:solidFill>
              </a:rPr>
              <a:t>Chronic</a:t>
            </a:r>
            <a:r>
              <a:rPr lang="ko-KR" altLang="ko-KR" sz="2000" b="1" dirty="0">
                <a:solidFill>
                  <a:schemeClr val="bg1"/>
                </a:solidFill>
              </a:rPr>
              <a:t> </a:t>
            </a:r>
            <a:r>
              <a:rPr lang="ko-KR" altLang="ko-KR" sz="2000" b="1" dirty="0" err="1">
                <a:solidFill>
                  <a:schemeClr val="bg1"/>
                </a:solidFill>
              </a:rPr>
              <a:t>Disease</a:t>
            </a:r>
            <a:r>
              <a:rPr lang="ko-KR" altLang="ko-KR" sz="2000" b="1" dirty="0">
                <a:solidFill>
                  <a:schemeClr val="bg1"/>
                </a:solidFill>
              </a:rPr>
              <a:t> </a:t>
            </a:r>
            <a:r>
              <a:rPr lang="ko-KR" altLang="ko-KR" sz="2000" b="1" dirty="0" err="1">
                <a:solidFill>
                  <a:schemeClr val="bg1"/>
                </a:solidFill>
              </a:rPr>
              <a:t>Prediction</a:t>
            </a:r>
            <a:endParaRPr sz="3600" b="1" dirty="0">
              <a:solidFill>
                <a:schemeClr val="bg1"/>
              </a:solidFill>
            </a:endParaRPr>
          </a:p>
        </p:txBody>
      </p:sp>
      <p:sp>
        <p:nvSpPr>
          <p:cNvPr id="3" name="TextBox 2"/>
          <p:cNvSpPr txBox="1"/>
          <p:nvPr/>
        </p:nvSpPr>
        <p:spPr>
          <a:xfrm>
            <a:off x="431074" y="3091544"/>
            <a:ext cx="1329210" cy="338554"/>
          </a:xfrm>
          <a:prstGeom prst="rect">
            <a:avLst/>
          </a:prstGeom>
          <a:noFill/>
        </p:spPr>
        <p:txBody>
          <a:bodyPr wrap="none">
            <a:spAutoFit/>
          </a:bodyPr>
          <a:lstStyle/>
          <a:p>
            <a:r>
              <a:rPr sz="1600" dirty="0">
                <a:solidFill>
                  <a:schemeClr val="bg1"/>
                </a:solidFill>
              </a:rPr>
              <a:t>2026. 10. 02</a:t>
            </a:r>
          </a:p>
        </p:txBody>
      </p:sp>
      <p:sp>
        <p:nvSpPr>
          <p:cNvPr id="4" name="TextBox 3"/>
          <p:cNvSpPr txBox="1"/>
          <p:nvPr/>
        </p:nvSpPr>
        <p:spPr>
          <a:xfrm>
            <a:off x="431074" y="3548744"/>
            <a:ext cx="1946880" cy="369332"/>
          </a:xfrm>
          <a:prstGeom prst="rect">
            <a:avLst/>
          </a:prstGeom>
          <a:noFill/>
        </p:spPr>
        <p:txBody>
          <a:bodyPr wrap="none">
            <a:spAutoFit/>
          </a:bodyPr>
          <a:lstStyle/>
          <a:p>
            <a:r>
              <a:rPr sz="1800" b="1">
                <a:solidFill>
                  <a:schemeClr val="bg1"/>
                </a:solidFill>
              </a:rPr>
              <a:t>JangHoon Chun</a:t>
            </a:r>
          </a:p>
        </p:txBody>
      </p:sp>
      <p:sp>
        <p:nvSpPr>
          <p:cNvPr id="5" name="TextBox 4"/>
          <p:cNvSpPr txBox="1"/>
          <p:nvPr/>
        </p:nvSpPr>
        <p:spPr>
          <a:xfrm>
            <a:off x="431074" y="4005944"/>
            <a:ext cx="5093254" cy="738664"/>
          </a:xfrm>
          <a:prstGeom prst="rect">
            <a:avLst/>
          </a:prstGeom>
          <a:noFill/>
        </p:spPr>
        <p:txBody>
          <a:bodyPr wrap="none">
            <a:spAutoFit/>
          </a:bodyPr>
          <a:lstStyle/>
          <a:p>
            <a:r>
              <a:rPr sz="1400">
                <a:solidFill>
                  <a:schemeClr val="bg1"/>
                </a:solidFill>
              </a:rPr>
              <a:t>Department of, Medical Device Engineering &amp; Management</a:t>
            </a:r>
          </a:p>
          <a:p>
            <a:r>
              <a:rPr sz="1400">
                <a:solidFill>
                  <a:schemeClr val="bg1"/>
                </a:solidFill>
              </a:rPr>
              <a:t>Gangnam Severance Hospital,</a:t>
            </a:r>
          </a:p>
          <a:p>
            <a:r>
              <a:rPr sz="1400">
                <a:solidFill>
                  <a:schemeClr val="bg1"/>
                </a:solidFill>
              </a:rPr>
              <a:t>Yonsei University College of Medicine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0" y="365126"/>
            <a:ext cx="11176000" cy="532342"/>
          </a:xfrm>
        </p:spPr>
        <p:txBody>
          <a:bodyPr/>
          <a:lstStyle/>
          <a:p>
            <a:r>
              <a:rPr dirty="0"/>
              <a:t>Background</a:t>
            </a:r>
            <a:r>
              <a:rPr lang="ko-KR" altLang="en-US" dirty="0"/>
              <a:t> </a:t>
            </a:r>
            <a:r>
              <a:rPr lang="en-US" altLang="ko-KR" dirty="0"/>
              <a:t>&amp;</a:t>
            </a:r>
            <a:r>
              <a:rPr lang="ko-KR" altLang="en-US" dirty="0"/>
              <a:t> </a:t>
            </a:r>
            <a:r>
              <a:rPr lang="en-US" dirty="0"/>
              <a:t>Objective</a:t>
            </a:r>
            <a:endParaRPr dirty="0"/>
          </a:p>
        </p:txBody>
      </p:sp>
      <p:sp>
        <p:nvSpPr>
          <p:cNvPr id="3" name="Content Placeholder 2"/>
          <p:cNvSpPr>
            <a:spLocks noGrp="1"/>
          </p:cNvSpPr>
          <p:nvPr>
            <p:ph idx="1"/>
          </p:nvPr>
        </p:nvSpPr>
        <p:spPr>
          <a:xfrm>
            <a:off x="508000" y="897468"/>
            <a:ext cx="11176000" cy="5063066"/>
          </a:xfrm>
        </p:spPr>
        <p:txBody>
          <a:bodyPr wrap="square"/>
          <a:lstStyle/>
          <a:p>
            <a:r>
              <a:rPr lang="en-US" altLang="ko-KR" sz="1800" dirty="0"/>
              <a:t>성별·나이·키·몸무게 같은 기본 정보만으로 고혈압·당뇨병·만성신장질환을 얼마나 구분할 수 있는지 확인</a:t>
            </a:r>
          </a:p>
          <a:p>
            <a:r>
              <a:rPr lang="en-US" altLang="ko-KR" sz="1800" dirty="0"/>
              <a:t>AEC와 체성분 곡선을 더하면 예측력이 더 좋아지는지 평가</a:t>
            </a:r>
          </a:p>
          <a:p>
            <a:r>
              <a:rPr lang="ko-KR" altLang="en-US" sz="1800" dirty="0"/>
              <a:t>곡선을 다듬는 방법과 사용 부위를 바꿔가며 더 나은 표현 방식 탐색</a:t>
            </a:r>
            <a:endParaRPr lang="en-US" altLang="ko-KR" sz="1800" dirty="0"/>
          </a:p>
          <a:p>
            <a:r>
              <a:rPr lang="ko-KR" altLang="en-US" sz="1800" dirty="0"/>
              <a:t>강남 데이터로 모델을 만들고 신촌 데이터로 따로 검증해 두 병원에서 결과가 일관되는지 확인</a:t>
            </a:r>
          </a:p>
          <a:p>
            <a:r>
              <a:rPr lang="ko-KR" altLang="en-US" sz="1800" dirty="0"/>
              <a:t>목적: AEC·체성분 정보 추가가 기본 정보 대비 얼마나, 병원 간 일관되게 도움이 되는지 확인</a:t>
            </a:r>
            <a:endParaRPr lang="en-US" altLang="ko-KR" sz="1800" dirty="0"/>
          </a:p>
          <a:p>
            <a:pPr lvl="1"/>
            <a:r>
              <a:rPr lang="ko-KR" altLang="en-US" sz="1600" dirty="0"/>
              <a:t>일관되지 않으면 원인과 다음 단계 제시</a:t>
            </a:r>
          </a:p>
        </p:txBody>
      </p:sp>
      <p:sp>
        <p:nvSpPr>
          <p:cNvPr id="4" name="슬라이드 번호 개체 틀 3">
            <a:extLst>
              <a:ext uri="{FF2B5EF4-FFF2-40B4-BE49-F238E27FC236}">
                <a16:creationId xmlns:a16="http://schemas.microsoft.com/office/drawing/2014/main" id="{D8F63E61-31BA-0C84-5523-4F90057F231B}"/>
              </a:ext>
            </a:extLst>
          </p:cNvPr>
          <p:cNvSpPr>
            <a:spLocks noGrp="1"/>
          </p:cNvSpPr>
          <p:nvPr>
            <p:ph type="sldNum" sz="quarter" idx="12"/>
          </p:nvPr>
        </p:nvSpPr>
        <p:spPr/>
        <p:txBody>
          <a:bodyPr/>
          <a:lstStyle/>
          <a:p>
            <a:fld id="{9F4AF89A-28FA-47FA-B28F-9A9C6913CB7A}" type="slidenum">
              <a:rPr lang="ko-KR" altLang="en-US" smtClean="0"/>
              <a:pPr/>
              <a:t>2</a:t>
            </a:fld>
            <a:endParaRPr lang="ko-KR" alt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Methods</a:t>
            </a:r>
          </a:p>
        </p:txBody>
      </p:sp>
      <p:sp>
        <p:nvSpPr>
          <p:cNvPr id="3" name="슬라이드 번호 개체 틀 2">
            <a:extLst>
              <a:ext uri="{FF2B5EF4-FFF2-40B4-BE49-F238E27FC236}">
                <a16:creationId xmlns:a16="http://schemas.microsoft.com/office/drawing/2014/main" id="{A2A07828-50EF-3A57-FEBD-8ED533A26CE3}"/>
              </a:ext>
            </a:extLst>
          </p:cNvPr>
          <p:cNvSpPr>
            <a:spLocks noGrp="1"/>
          </p:cNvSpPr>
          <p:nvPr>
            <p:ph type="sldNum" sz="quarter" idx="12"/>
          </p:nvPr>
        </p:nvSpPr>
        <p:spPr/>
        <p:txBody>
          <a:bodyPr/>
          <a:lstStyle/>
          <a:p>
            <a:fld id="{9F4AF89A-28FA-47FA-B28F-9A9C6913CB7A}" type="slidenum">
              <a:rPr lang="ko-KR" altLang="en-US" smtClean="0"/>
              <a:pPr/>
              <a:t>3</a:t>
            </a:fld>
            <a:endParaRPr lang="ko-KR" altLang="en-US" dirty="0"/>
          </a:p>
        </p:txBody>
      </p:sp>
      <p:graphicFrame>
        <p:nvGraphicFramePr>
          <p:cNvPr id="6" name="Table 3">
            <a:extLst>
              <a:ext uri="{FF2B5EF4-FFF2-40B4-BE49-F238E27FC236}">
                <a16:creationId xmlns:a16="http://schemas.microsoft.com/office/drawing/2014/main" id="{0BB67651-C328-EB2B-995B-89B4F68721C1}"/>
              </a:ext>
            </a:extLst>
          </p:cNvPr>
          <p:cNvGraphicFramePr>
            <a:graphicFrameLocks noGrp="1"/>
          </p:cNvGraphicFramePr>
          <p:nvPr>
            <p:extLst>
              <p:ext uri="{D42A27DB-BD31-4B8C-83A1-F6EECF244321}">
                <p14:modId xmlns:p14="http://schemas.microsoft.com/office/powerpoint/2010/main" val="1104638118"/>
              </p:ext>
            </p:extLst>
          </p:nvPr>
        </p:nvGraphicFramePr>
        <p:xfrm>
          <a:off x="512064" y="978408"/>
          <a:ext cx="11173968" cy="5124630"/>
        </p:xfrm>
        <a:graphic>
          <a:graphicData uri="http://schemas.openxmlformats.org/drawingml/2006/table">
            <a:tbl>
              <a:tblPr firstRow="1" bandRow="1">
                <a:tableStyleId>{C083E6E3-FA7D-4D7B-A595-EF9225AFEA82}</a:tableStyleId>
              </a:tblPr>
              <a:tblGrid>
                <a:gridCol w="2728093">
                  <a:extLst>
                    <a:ext uri="{9D8B030D-6E8A-4147-A177-3AD203B41FA5}">
                      <a16:colId xmlns:a16="http://schemas.microsoft.com/office/drawing/2014/main" val="20000"/>
                    </a:ext>
                  </a:extLst>
                </a:gridCol>
                <a:gridCol w="8445875">
                  <a:extLst>
                    <a:ext uri="{9D8B030D-6E8A-4147-A177-3AD203B41FA5}">
                      <a16:colId xmlns:a16="http://schemas.microsoft.com/office/drawing/2014/main" val="20001"/>
                    </a:ext>
                  </a:extLst>
                </a:gridCol>
              </a:tblGrid>
              <a:tr h="512463">
                <a:tc>
                  <a:txBody>
                    <a:bodyPr/>
                    <a:lstStyle/>
                    <a:p>
                      <a:pPr algn="ctr"/>
                      <a:r>
                        <a:rPr sz="1200" b="1" dirty="0"/>
                        <a:t>Item</a:t>
                      </a:r>
                      <a:r>
                        <a:rPr lang="en-US" sz="1200" b="1" dirty="0"/>
                        <a:t>s</a:t>
                      </a:r>
                      <a:endParaRPr sz="1200" b="1" dirty="0"/>
                    </a:p>
                  </a:txBody>
                  <a:tcPr anchor="ctr"/>
                </a:tc>
                <a:tc>
                  <a:txBody>
                    <a:bodyPr/>
                    <a:lstStyle/>
                    <a:p>
                      <a:pPr algn="l"/>
                      <a:r>
                        <a:rPr sz="1200" b="1" dirty="0"/>
                        <a:t>Detail</a:t>
                      </a:r>
                      <a:r>
                        <a:rPr lang="en-US" sz="1200" b="1" dirty="0"/>
                        <a:t>s</a:t>
                      </a:r>
                      <a:endParaRPr sz="1200" b="1" dirty="0"/>
                    </a:p>
                  </a:txBody>
                  <a:tcPr anchor="ctr"/>
                </a:tc>
                <a:extLst>
                  <a:ext uri="{0D108BD9-81ED-4DB2-BD59-A6C34878D82A}">
                    <a16:rowId xmlns:a16="http://schemas.microsoft.com/office/drawing/2014/main" val="10000"/>
                  </a:ext>
                </a:extLst>
              </a:tr>
              <a:tr h="512463">
                <a:tc>
                  <a:txBody>
                    <a:bodyPr/>
                    <a:lstStyle/>
                    <a:p>
                      <a:pPr algn="ctr"/>
                      <a:r>
                        <a:rPr sz="1200" b="0"/>
                        <a:t>Cohort</a:t>
                      </a:r>
                    </a:p>
                  </a:txBody>
                  <a:tcPr anchor="ctr"/>
                </a:tc>
                <a:tc>
                  <a:txBody>
                    <a:bodyPr/>
                    <a:lstStyle/>
                    <a:p>
                      <a:pPr algn="l"/>
                      <a:r>
                        <a:rPr sz="1200" b="0"/>
                        <a:t>Internal(강남, 1,260명)에서 모델 개발·내부검증, External(신촌, 1,123명)에서 외부검증. 두 코호트 모두 단면(cross-sectional) 데이터</a:t>
                      </a:r>
                    </a:p>
                  </a:txBody>
                  <a:tcPr anchor="ctr"/>
                </a:tc>
                <a:extLst>
                  <a:ext uri="{0D108BD9-81ED-4DB2-BD59-A6C34878D82A}">
                    <a16:rowId xmlns:a16="http://schemas.microsoft.com/office/drawing/2014/main" val="10001"/>
                  </a:ext>
                </a:extLst>
              </a:tr>
              <a:tr h="512463">
                <a:tc>
                  <a:txBody>
                    <a:bodyPr/>
                    <a:lstStyle/>
                    <a:p>
                      <a:pPr algn="ctr"/>
                      <a:r>
                        <a:rPr sz="1200" b="0"/>
                        <a:t>Input</a:t>
                      </a:r>
                    </a:p>
                  </a:txBody>
                  <a:tcPr anchor="ctr"/>
                </a:tc>
                <a:tc>
                  <a:txBody>
                    <a:bodyPr/>
                    <a:lstStyle/>
                    <a:p>
                      <a:pPr algn="l"/>
                      <a:r>
                        <a:rPr sz="1200" b="0"/>
                        <a:t>Clinic4 = 성별·나이·키·몸무게(강남 기준으로 표준화)</a:t>
                      </a:r>
                    </a:p>
                  </a:txBody>
                  <a:tcPr anchor="ctr"/>
                </a:tc>
                <a:extLst>
                  <a:ext uri="{0D108BD9-81ED-4DB2-BD59-A6C34878D82A}">
                    <a16:rowId xmlns:a16="http://schemas.microsoft.com/office/drawing/2014/main" val="10002"/>
                  </a:ext>
                </a:extLst>
              </a:tr>
              <a:tr h="512463">
                <a:tc>
                  <a:txBody>
                    <a:bodyPr/>
                    <a:lstStyle/>
                    <a:p>
                      <a:pPr algn="ctr"/>
                      <a:r>
                        <a:rPr sz="1200" b="0"/>
                        <a:t>Outcome</a:t>
                      </a:r>
                    </a:p>
                  </a:txBody>
                  <a:tcPr anchor="ctr"/>
                </a:tc>
                <a:tc>
                  <a:txBody>
                    <a:bodyPr/>
                    <a:lstStyle/>
                    <a:p>
                      <a:pPr algn="l"/>
                      <a:r>
                        <a:rPr sz="1200" b="0"/>
                        <a:t>고혈압·당뇨병·만성신장질환을 각각 별도 로지스틱 회귀로 예측(질병마다 데이터 나누는 것도 따로)</a:t>
                      </a:r>
                    </a:p>
                  </a:txBody>
                  <a:tcPr anchor="ctr"/>
                </a:tc>
                <a:extLst>
                  <a:ext uri="{0D108BD9-81ED-4DB2-BD59-A6C34878D82A}">
                    <a16:rowId xmlns:a16="http://schemas.microsoft.com/office/drawing/2014/main" val="10003"/>
                  </a:ext>
                </a:extLst>
              </a:tr>
              <a:tr h="512463">
                <a:tc>
                  <a:txBody>
                    <a:bodyPr/>
                    <a:lstStyle/>
                    <a:p>
                      <a:pPr algn="ctr"/>
                      <a:r>
                        <a:rPr sz="1200" b="0"/>
                        <a:t>Split</a:t>
                      </a:r>
                    </a:p>
                  </a:txBody>
                  <a:tcPr anchor="ctr"/>
                </a:tc>
                <a:tc>
                  <a:txBody>
                    <a:bodyPr/>
                    <a:lstStyle/>
                    <a:p>
                      <a:pPr algn="l"/>
                      <a:r>
                        <a:rPr sz="1200" b="0"/>
                        <a:t>하이퍼파라미터 튜닝과 최종 성능 평가 모두 Internal 전체에 5-fold CV 적용(질병 비율 맞춰 환자 단위로 5등분, hold-out 없음)</a:t>
                      </a:r>
                    </a:p>
                  </a:txBody>
                  <a:tcPr anchor="ctr"/>
                </a:tc>
                <a:extLst>
                  <a:ext uri="{0D108BD9-81ED-4DB2-BD59-A6C34878D82A}">
                    <a16:rowId xmlns:a16="http://schemas.microsoft.com/office/drawing/2014/main" val="10004"/>
                  </a:ext>
                </a:extLst>
              </a:tr>
              <a:tr h="512463">
                <a:tc>
                  <a:txBody>
                    <a:bodyPr/>
                    <a:lstStyle/>
                    <a:p>
                      <a:pPr algn="ctr"/>
                      <a:r>
                        <a:rPr sz="1200" b="0"/>
                        <a:t>Tuning</a:t>
                      </a:r>
                    </a:p>
                  </a:txBody>
                  <a:tcPr anchor="ctr"/>
                </a:tc>
                <a:tc>
                  <a:txBody>
                    <a:bodyPr/>
                    <a:lstStyle/>
                    <a:p>
                      <a:pPr algn="l"/>
                      <a:r>
                        <a:rPr sz="1200" b="0"/>
                        <a:t>GridSearchCV로 C·penalty(l1/l2)·class_weight 탐색(같은 5-fold CV 평균 AUC 기준으로 선택, 별도 검증용 fold 없음)</a:t>
                      </a:r>
                    </a:p>
                  </a:txBody>
                  <a:tcPr anchor="ctr"/>
                </a:tc>
                <a:extLst>
                  <a:ext uri="{0D108BD9-81ED-4DB2-BD59-A6C34878D82A}">
                    <a16:rowId xmlns:a16="http://schemas.microsoft.com/office/drawing/2014/main" val="10005"/>
                  </a:ext>
                </a:extLst>
              </a:tr>
              <a:tr h="512463">
                <a:tc>
                  <a:txBody>
                    <a:bodyPr/>
                    <a:lstStyle/>
                    <a:p>
                      <a:pPr algn="ctr"/>
                      <a:r>
                        <a:rPr sz="1200" b="0"/>
                        <a:t>Cutoff</a:t>
                      </a:r>
                    </a:p>
                  </a:txBody>
                  <a:tcPr anchor="ctr"/>
                </a:tc>
                <a:tc>
                  <a:txBody>
                    <a:bodyPr/>
                    <a:lstStyle/>
                    <a:p>
                      <a:pPr algn="l"/>
                      <a:r>
                        <a:rPr sz="1200" b="0"/>
                        <a:t>5-fold CV에서 각 환자가 검증셋일 때 나온 예측값(OOF)을 모아 Youden index가 최대인 지점을 cutoff로 정함(fold별로 구하면 양성이 21~77명뿐이라 불안정). 이 cutoff를 신촌에도 동일 적용</a:t>
                      </a:r>
                    </a:p>
                  </a:txBody>
                  <a:tcPr anchor="ctr"/>
                </a:tc>
                <a:extLst>
                  <a:ext uri="{0D108BD9-81ED-4DB2-BD59-A6C34878D82A}">
                    <a16:rowId xmlns:a16="http://schemas.microsoft.com/office/drawing/2014/main" val="10006"/>
                  </a:ext>
                </a:extLst>
              </a:tr>
              <a:tr h="512463">
                <a:tc>
                  <a:txBody>
                    <a:bodyPr/>
                    <a:lstStyle/>
                    <a:p>
                      <a:pPr algn="ctr"/>
                      <a:r>
                        <a:rPr sz="1200" b="0"/>
                        <a:t>External validation</a:t>
                      </a:r>
                    </a:p>
                  </a:txBody>
                  <a:tcPr anchor="ctr"/>
                </a:tc>
                <a:tc>
                  <a:txBody>
                    <a:bodyPr/>
                    <a:lstStyle/>
                    <a:p>
                      <a:pPr algn="l"/>
                      <a:r>
                        <a:rPr sz="1200" b="0"/>
                        <a:t>신촌 검증에는 강남 전체 데이터로 다시 학습한 고정 모델 사용(하이퍼파라미터는 재탐색 없이 앞서 고른 값 그대로)</a:t>
                      </a:r>
                    </a:p>
                  </a:txBody>
                  <a:tcPr anchor="ctr"/>
                </a:tc>
                <a:extLst>
                  <a:ext uri="{0D108BD9-81ED-4DB2-BD59-A6C34878D82A}">
                    <a16:rowId xmlns:a16="http://schemas.microsoft.com/office/drawing/2014/main" val="10007"/>
                  </a:ext>
                </a:extLst>
              </a:tr>
              <a:tr h="512463">
                <a:tc>
                  <a:txBody>
                    <a:bodyPr/>
                    <a:lstStyle/>
                    <a:p>
                      <a:pPr algn="ctr"/>
                      <a:r>
                        <a:rPr sz="1200" b="0"/>
                        <a:t>Extended input</a:t>
                      </a:r>
                    </a:p>
                  </a:txBody>
                  <a:tcPr anchor="ctr"/>
                </a:tc>
                <a:tc>
                  <a:txBody>
                    <a:bodyPr/>
                    <a:lstStyle/>
                    <a:p>
                      <a:pPr algn="l"/>
                      <a:r>
                        <a:rPr sz="1200" b="0"/>
                        <a:t>AEC와 체성분(VAT/SAT/LAMA/NAMA/IMATA) 곡선(간~치골 128구간)을 각각 압축(FPCA)해서 입력에 추가</a:t>
                      </a:r>
                    </a:p>
                  </a:txBody>
                  <a:tcPr anchor="ctr"/>
                </a:tc>
                <a:extLst>
                  <a:ext uri="{0D108BD9-81ED-4DB2-BD59-A6C34878D82A}">
                    <a16:rowId xmlns:a16="http://schemas.microsoft.com/office/drawing/2014/main" val="10008"/>
                  </a:ext>
                </a:extLst>
              </a:tr>
              <a:tr h="512463">
                <a:tc>
                  <a:txBody>
                    <a:bodyPr/>
                    <a:lstStyle/>
                    <a:p>
                      <a:pPr algn="ctr"/>
                      <a:r>
                        <a:rPr sz="1200" b="0"/>
                        <a:t>Comparison</a:t>
                      </a:r>
                    </a:p>
                  </a:txBody>
                  <a:tcPr anchor="ctr"/>
                </a:tc>
                <a:tc>
                  <a:txBody>
                    <a:bodyPr/>
                    <a:lstStyle/>
                    <a:p>
                      <a:pPr algn="l"/>
                      <a:r>
                        <a:rPr sz="1200" b="0" dirty="0"/>
                        <a:t>Internal 성능은 OOF 예측으로, External 성능은 고정 모델 예측으로 보고. Baseline 대비 개선 여부는 환자 단위로 짝지은 DeLong 검정으로 확인(* p&lt;0.05, 다중비교 보정 전)</a:t>
                      </a:r>
                    </a:p>
                  </a:txBody>
                  <a:tcPr anchor="ctr"/>
                </a:tc>
                <a:extLst>
                  <a:ext uri="{0D108BD9-81ED-4DB2-BD59-A6C34878D82A}">
                    <a16:rowId xmlns:a16="http://schemas.microsoft.com/office/drawing/2014/main" val="10009"/>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Table 1. </a:t>
            </a:r>
            <a:r>
              <a:rPr lang="en-US" dirty="0"/>
              <a:t>Data Distribution</a:t>
            </a:r>
            <a:endParaRPr dirty="0"/>
          </a:p>
        </p:txBody>
      </p:sp>
      <p:sp>
        <p:nvSpPr>
          <p:cNvPr id="4" name="슬라이드 번호 개체 틀 3">
            <a:extLst>
              <a:ext uri="{FF2B5EF4-FFF2-40B4-BE49-F238E27FC236}">
                <a16:creationId xmlns:a16="http://schemas.microsoft.com/office/drawing/2014/main" id="{048D9492-77D8-9D4C-A0F4-E86DA11F67DE}"/>
              </a:ext>
            </a:extLst>
          </p:cNvPr>
          <p:cNvSpPr>
            <a:spLocks noGrp="1"/>
          </p:cNvSpPr>
          <p:nvPr>
            <p:ph type="sldNum" sz="quarter" idx="12"/>
          </p:nvPr>
        </p:nvSpPr>
        <p:spPr/>
        <p:txBody>
          <a:bodyPr/>
          <a:lstStyle/>
          <a:p>
            <a:fld id="{9F4AF89A-28FA-47FA-B28F-9A9C6913CB7A}" type="slidenum">
              <a:rPr lang="ko-KR" altLang="en-US" smtClean="0"/>
              <a:pPr/>
              <a:t>4</a:t>
            </a:fld>
            <a:endParaRPr lang="ko-KR" altLang="en-US" dirty="0"/>
          </a:p>
        </p:txBody>
      </p:sp>
      <p:graphicFrame>
        <p:nvGraphicFramePr>
          <p:cNvPr id="6" name="Table 2">
            <a:extLst>
              <a:ext uri="{FF2B5EF4-FFF2-40B4-BE49-F238E27FC236}">
                <a16:creationId xmlns:a16="http://schemas.microsoft.com/office/drawing/2014/main" id="{19668D4E-DE34-866A-B6AF-99A0B01D16F8}"/>
              </a:ext>
            </a:extLst>
          </p:cNvPr>
          <p:cNvGraphicFramePr>
            <a:graphicFrameLocks noGrp="1"/>
          </p:cNvGraphicFramePr>
          <p:nvPr>
            <p:extLst>
              <p:ext uri="{D42A27DB-BD31-4B8C-83A1-F6EECF244321}">
                <p14:modId xmlns:p14="http://schemas.microsoft.com/office/powerpoint/2010/main" val="3502133080"/>
              </p:ext>
            </p:extLst>
          </p:nvPr>
        </p:nvGraphicFramePr>
        <p:xfrm>
          <a:off x="512064" y="1259385"/>
          <a:ext cx="11173968" cy="4896000"/>
        </p:xfrm>
        <a:graphic>
          <a:graphicData uri="http://schemas.openxmlformats.org/drawingml/2006/table">
            <a:tbl>
              <a:tblPr firstRow="1" bandRow="1">
                <a:tableStyleId>{C083E6E3-FA7D-4D7B-A595-EF9225AFEA82}</a:tableStyleId>
              </a:tblPr>
              <a:tblGrid>
                <a:gridCol w="2793492">
                  <a:extLst>
                    <a:ext uri="{9D8B030D-6E8A-4147-A177-3AD203B41FA5}">
                      <a16:colId xmlns:a16="http://schemas.microsoft.com/office/drawing/2014/main" val="20000"/>
                    </a:ext>
                  </a:extLst>
                </a:gridCol>
                <a:gridCol w="2793492">
                  <a:extLst>
                    <a:ext uri="{9D8B030D-6E8A-4147-A177-3AD203B41FA5}">
                      <a16:colId xmlns:a16="http://schemas.microsoft.com/office/drawing/2014/main" val="20001"/>
                    </a:ext>
                  </a:extLst>
                </a:gridCol>
                <a:gridCol w="2793492">
                  <a:extLst>
                    <a:ext uri="{9D8B030D-6E8A-4147-A177-3AD203B41FA5}">
                      <a16:colId xmlns:a16="http://schemas.microsoft.com/office/drawing/2014/main" val="20002"/>
                    </a:ext>
                  </a:extLst>
                </a:gridCol>
                <a:gridCol w="2793492">
                  <a:extLst>
                    <a:ext uri="{9D8B030D-6E8A-4147-A177-3AD203B41FA5}">
                      <a16:colId xmlns:a16="http://schemas.microsoft.com/office/drawing/2014/main" val="20003"/>
                    </a:ext>
                  </a:extLst>
                </a:gridCol>
              </a:tblGrid>
              <a:tr h="288000">
                <a:tc>
                  <a:txBody>
                    <a:bodyPr/>
                    <a:lstStyle/>
                    <a:p>
                      <a:pPr algn="ctr"/>
                      <a:r>
                        <a:rPr sz="1200" b="1" dirty="0"/>
                        <a:t>Characteristic</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1" dirty="0"/>
                        <a:t>Gangnam</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1"/>
                        <a:t>Sinchon</a:t>
                      </a:r>
                    </a:p>
                  </a:txBody>
                  <a:tcPr anchor="ctr"/>
                </a:tc>
                <a:tc>
                  <a:txBody>
                    <a:bodyPr/>
                    <a:lstStyle/>
                    <a:p>
                      <a:pPr algn="ctr"/>
                      <a:r>
                        <a:rPr sz="1200" b="1"/>
                        <a:t>p-value</a:t>
                      </a:r>
                    </a:p>
                  </a:txBody>
                  <a:tcPr anchor="ctr"/>
                </a:tc>
                <a:extLst>
                  <a:ext uri="{0D108BD9-81ED-4DB2-BD59-A6C34878D82A}">
                    <a16:rowId xmlns:a16="http://schemas.microsoft.com/office/drawing/2014/main" val="10000"/>
                  </a:ext>
                </a:extLst>
              </a:tr>
              <a:tr h="288000">
                <a:tc>
                  <a:txBody>
                    <a:bodyPr/>
                    <a:lstStyle/>
                    <a:p>
                      <a:pPr algn="ctr"/>
                      <a:r>
                        <a:rPr sz="1200" b="0" dirty="0"/>
                        <a:t>n</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dirty="0"/>
                        <a:t>1260</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dirty="0"/>
                        <a:t>1123</a:t>
                      </a:r>
                    </a:p>
                  </a:txBody>
                  <a:tcPr anchor="ctr"/>
                </a:tc>
                <a:tc>
                  <a:txBody>
                    <a:bodyPr/>
                    <a:lstStyle/>
                    <a:p>
                      <a:pPr algn="ctr"/>
                      <a:endParaRPr sz="1200" b="0" dirty="0"/>
                    </a:p>
                  </a:txBody>
                  <a:tcPr anchor="ctr"/>
                </a:tc>
                <a:extLst>
                  <a:ext uri="{0D108BD9-81ED-4DB2-BD59-A6C34878D82A}">
                    <a16:rowId xmlns:a16="http://schemas.microsoft.com/office/drawing/2014/main" val="2641951059"/>
                  </a:ext>
                </a:extLst>
              </a:tr>
              <a:tr h="288000">
                <a:tc>
                  <a:txBody>
                    <a:bodyPr/>
                    <a:lstStyle/>
                    <a:p>
                      <a:pPr algn="ctr"/>
                      <a:r>
                        <a:rPr sz="1200" b="0" dirty="0"/>
                        <a:t>Sex (Male), n (%)</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dirty="0"/>
                        <a:t>475 (37.7%)</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dirty="0"/>
                        <a:t>547 (48.7%)</a:t>
                      </a:r>
                    </a:p>
                  </a:txBody>
                  <a:tcPr anchor="ctr"/>
                </a:tc>
                <a:tc>
                  <a:txBody>
                    <a:bodyPr/>
                    <a:lstStyle/>
                    <a:p>
                      <a:pPr algn="ctr"/>
                      <a:r>
                        <a:rPr sz="1200" b="0" dirty="0"/>
                        <a:t>&lt;0.001</a:t>
                      </a:r>
                    </a:p>
                  </a:txBody>
                  <a:tcPr anchor="ctr"/>
                </a:tc>
                <a:extLst>
                  <a:ext uri="{0D108BD9-81ED-4DB2-BD59-A6C34878D82A}">
                    <a16:rowId xmlns:a16="http://schemas.microsoft.com/office/drawing/2014/main" val="10002"/>
                  </a:ext>
                </a:extLst>
              </a:tr>
              <a:tr h="288000">
                <a:tc>
                  <a:txBody>
                    <a:bodyPr/>
                    <a:lstStyle/>
                    <a:p>
                      <a:pPr algn="ctr"/>
                      <a:r>
                        <a:rPr sz="1200" b="0"/>
                        <a:t>Age</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a:t>57.3 ± 12.1</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a:t>59.7 ± 12.3</a:t>
                      </a:r>
                    </a:p>
                  </a:txBody>
                  <a:tcPr anchor="ctr"/>
                </a:tc>
                <a:tc>
                  <a:txBody>
                    <a:bodyPr/>
                    <a:lstStyle/>
                    <a:p>
                      <a:pPr algn="ctr"/>
                      <a:r>
                        <a:rPr sz="1200" b="0"/>
                        <a:t>&lt;0.001</a:t>
                      </a:r>
                    </a:p>
                  </a:txBody>
                  <a:tcPr anchor="ctr"/>
                </a:tc>
                <a:extLst>
                  <a:ext uri="{0D108BD9-81ED-4DB2-BD59-A6C34878D82A}">
                    <a16:rowId xmlns:a16="http://schemas.microsoft.com/office/drawing/2014/main" val="10003"/>
                  </a:ext>
                </a:extLst>
              </a:tr>
              <a:tr h="288000">
                <a:tc>
                  <a:txBody>
                    <a:bodyPr/>
                    <a:lstStyle/>
                    <a:p>
                      <a:pPr algn="ctr"/>
                      <a:r>
                        <a:rPr sz="1200" b="0" dirty="0"/>
                        <a:t>Height</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a:t>162.8 ± 8.0</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a:t>163.7 ± 8.3</a:t>
                      </a:r>
                    </a:p>
                  </a:txBody>
                  <a:tcPr anchor="ctr"/>
                </a:tc>
                <a:tc>
                  <a:txBody>
                    <a:bodyPr/>
                    <a:lstStyle/>
                    <a:p>
                      <a:pPr algn="ctr"/>
                      <a:r>
                        <a:rPr sz="1200" b="0"/>
                        <a:t>0.018</a:t>
                      </a:r>
                    </a:p>
                  </a:txBody>
                  <a:tcPr anchor="ctr"/>
                </a:tc>
                <a:extLst>
                  <a:ext uri="{0D108BD9-81ED-4DB2-BD59-A6C34878D82A}">
                    <a16:rowId xmlns:a16="http://schemas.microsoft.com/office/drawing/2014/main" val="10004"/>
                  </a:ext>
                </a:extLst>
              </a:tr>
              <a:tr h="288000">
                <a:tc>
                  <a:txBody>
                    <a:bodyPr/>
                    <a:lstStyle/>
                    <a:p>
                      <a:pPr algn="ctr"/>
                      <a:r>
                        <a:rPr sz="1200" b="0"/>
                        <a:t>Weight</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a:t>62.0 ± 10.1</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a:t>62.4 ± 10.1</a:t>
                      </a:r>
                    </a:p>
                  </a:txBody>
                  <a:tcPr anchor="ctr"/>
                </a:tc>
                <a:tc>
                  <a:txBody>
                    <a:bodyPr/>
                    <a:lstStyle/>
                    <a:p>
                      <a:pPr algn="ctr"/>
                      <a:r>
                        <a:rPr sz="1200" b="0"/>
                        <a:t>0.359</a:t>
                      </a:r>
                    </a:p>
                  </a:txBody>
                  <a:tcPr anchor="ctr"/>
                </a:tc>
                <a:extLst>
                  <a:ext uri="{0D108BD9-81ED-4DB2-BD59-A6C34878D82A}">
                    <a16:rowId xmlns:a16="http://schemas.microsoft.com/office/drawing/2014/main" val="10005"/>
                  </a:ext>
                </a:extLst>
              </a:tr>
              <a:tr h="288000">
                <a:tc>
                  <a:txBody>
                    <a:bodyPr/>
                    <a:lstStyle/>
                    <a:p>
                      <a:pPr algn="ctr"/>
                      <a:r>
                        <a:rPr sz="1200" b="0" dirty="0"/>
                        <a:t>BMI</a:t>
                      </a:r>
                    </a:p>
                  </a:txBody>
                  <a:tcPr anchor="ctr">
                    <a:lnR w="12700" cap="flat" cmpd="sng" algn="ctr">
                      <a:solidFill>
                        <a:schemeClr val="bg1">
                          <a:lumMod val="75000"/>
                        </a:schemeClr>
                      </a:solidFill>
                      <a:prstDash val="solid"/>
                      <a:round/>
                      <a:headEnd type="none" w="med" len="med"/>
                      <a:tailEnd type="none" w="med" len="med"/>
                    </a:lnR>
                    <a:lnB w="12700" cap="flat" cmpd="sng" algn="ctr">
                      <a:solidFill>
                        <a:schemeClr val="bg1">
                          <a:lumMod val="75000"/>
                        </a:schemeClr>
                      </a:solidFill>
                      <a:prstDash val="solid"/>
                      <a:round/>
                      <a:headEnd type="none" w="med" len="med"/>
                      <a:tailEnd type="none" w="med" len="med"/>
                    </a:lnB>
                  </a:tcPr>
                </a:tc>
                <a:tc>
                  <a:txBody>
                    <a:bodyPr/>
                    <a:lstStyle/>
                    <a:p>
                      <a:pPr algn="ctr"/>
                      <a:r>
                        <a:rPr sz="1200" b="0"/>
                        <a:t>23.3 ± 2.9</a:t>
                      </a:r>
                    </a:p>
                  </a:txBody>
                  <a:tcPr anchor="ctr">
                    <a:lnL w="12700" cap="flat" cmpd="sng" algn="ctr">
                      <a:solidFill>
                        <a:schemeClr val="bg1">
                          <a:lumMod val="75000"/>
                        </a:schemeClr>
                      </a:solidFill>
                      <a:prstDash val="solid"/>
                      <a:round/>
                      <a:headEnd type="none" w="med" len="med"/>
                      <a:tailEnd type="none" w="med" len="med"/>
                    </a:lnL>
                    <a:lnB w="12700" cap="flat" cmpd="sng" algn="ctr">
                      <a:solidFill>
                        <a:schemeClr val="bg1">
                          <a:lumMod val="75000"/>
                        </a:schemeClr>
                      </a:solidFill>
                      <a:prstDash val="solid"/>
                      <a:round/>
                      <a:headEnd type="none" w="med" len="med"/>
                      <a:tailEnd type="none" w="med" len="med"/>
                    </a:lnB>
                  </a:tcPr>
                </a:tc>
                <a:tc>
                  <a:txBody>
                    <a:bodyPr/>
                    <a:lstStyle/>
                    <a:p>
                      <a:pPr algn="ctr"/>
                      <a:r>
                        <a:rPr sz="1200" b="0"/>
                        <a:t>23.2 ± 2.9</a:t>
                      </a:r>
                    </a:p>
                  </a:txBody>
                  <a:tcPr anchor="ctr">
                    <a:lnB w="12700" cap="flat" cmpd="sng" algn="ctr">
                      <a:solidFill>
                        <a:schemeClr val="bg1">
                          <a:lumMod val="75000"/>
                        </a:schemeClr>
                      </a:solidFill>
                      <a:prstDash val="solid"/>
                      <a:round/>
                      <a:headEnd type="none" w="med" len="med"/>
                      <a:tailEnd type="none" w="med" len="med"/>
                    </a:lnB>
                  </a:tcPr>
                </a:tc>
                <a:tc>
                  <a:txBody>
                    <a:bodyPr/>
                    <a:lstStyle/>
                    <a:p>
                      <a:pPr algn="ctr"/>
                      <a:r>
                        <a:rPr sz="1200" b="0"/>
                        <a:t>0.322</a:t>
                      </a:r>
                    </a:p>
                  </a:txBody>
                  <a:tcPr anchor="ctr">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0006"/>
                  </a:ext>
                </a:extLst>
              </a:tr>
              <a:tr h="288000">
                <a:tc>
                  <a:txBody>
                    <a:bodyPr/>
                    <a:lstStyle/>
                    <a:p>
                      <a:pPr algn="ctr"/>
                      <a:r>
                        <a:rPr sz="1200" b="0" dirty="0"/>
                        <a:t>SMI</a:t>
                      </a:r>
                    </a:p>
                  </a:txBody>
                  <a:tcPr anchor="ctr">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tcPr>
                </a:tc>
                <a:tc>
                  <a:txBody>
                    <a:bodyPr/>
                    <a:lstStyle/>
                    <a:p>
                      <a:pPr algn="ctr"/>
                      <a:r>
                        <a:rPr sz="1200" b="0"/>
                        <a:t>6873.5 ± 1562.8</a:t>
                      </a:r>
                    </a:p>
                  </a:txBody>
                  <a:tcPr anchor="ctr">
                    <a:lnL w="12700" cap="flat" cmpd="sng" algn="ctr">
                      <a:solidFill>
                        <a:schemeClr val="bg1">
                          <a:lumMod val="75000"/>
                        </a:schemeClr>
                      </a:solidFill>
                      <a:prstDash val="solid"/>
                      <a:round/>
                      <a:headEnd type="none" w="med" len="med"/>
                      <a:tailEnd type="none" w="med" len="med"/>
                    </a:lnL>
                    <a:lnT w="12700" cap="flat" cmpd="sng" algn="ctr">
                      <a:solidFill>
                        <a:schemeClr val="bg1">
                          <a:lumMod val="75000"/>
                        </a:schemeClr>
                      </a:solidFill>
                      <a:prstDash val="solid"/>
                      <a:round/>
                      <a:headEnd type="none" w="med" len="med"/>
                      <a:tailEnd type="none" w="med" len="med"/>
                    </a:lnT>
                  </a:tcPr>
                </a:tc>
                <a:tc>
                  <a:txBody>
                    <a:bodyPr/>
                    <a:lstStyle/>
                    <a:p>
                      <a:pPr algn="ctr"/>
                      <a:r>
                        <a:rPr sz="1200" b="0"/>
                        <a:t>6661.3 ± 1639.9</a:t>
                      </a:r>
                    </a:p>
                  </a:txBody>
                  <a:tcPr anchor="ctr">
                    <a:lnT w="12700" cap="flat" cmpd="sng" algn="ctr">
                      <a:solidFill>
                        <a:schemeClr val="bg1">
                          <a:lumMod val="75000"/>
                        </a:schemeClr>
                      </a:solidFill>
                      <a:prstDash val="solid"/>
                      <a:round/>
                      <a:headEnd type="none" w="med" len="med"/>
                      <a:tailEnd type="none" w="med" len="med"/>
                    </a:lnT>
                  </a:tcPr>
                </a:tc>
                <a:tc>
                  <a:txBody>
                    <a:bodyPr/>
                    <a:lstStyle/>
                    <a:p>
                      <a:pPr algn="ctr"/>
                      <a:r>
                        <a:rPr sz="1200" b="0"/>
                        <a:t>0.108</a:t>
                      </a:r>
                    </a:p>
                  </a:txBody>
                  <a:tcPr anchor="ctr">
                    <a:lnT w="12700" cap="flat" cmpd="sng" algn="ctr">
                      <a:solidFill>
                        <a:schemeClr val="bg1">
                          <a:lumMod val="75000"/>
                        </a:schemeClr>
                      </a:solidFill>
                      <a:prstDash val="solid"/>
                      <a:round/>
                      <a:headEnd type="none" w="med" len="med"/>
                      <a:tailEnd type="none" w="med" len="med"/>
                    </a:lnT>
                  </a:tcPr>
                </a:tc>
                <a:extLst>
                  <a:ext uri="{0D108BD9-81ED-4DB2-BD59-A6C34878D82A}">
                    <a16:rowId xmlns:a16="http://schemas.microsoft.com/office/drawing/2014/main" val="10007"/>
                  </a:ext>
                </a:extLst>
              </a:tr>
              <a:tr h="288000">
                <a:tc>
                  <a:txBody>
                    <a:bodyPr/>
                    <a:lstStyle/>
                    <a:p>
                      <a:pPr algn="ctr"/>
                      <a:r>
                        <a:rPr sz="1200" b="0"/>
                        <a:t>VAT</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a:t>8486.2 ± 5165.1</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a:t>9096.4 ± 5280.4</a:t>
                      </a:r>
                    </a:p>
                  </a:txBody>
                  <a:tcPr anchor="ctr"/>
                </a:tc>
                <a:tc>
                  <a:txBody>
                    <a:bodyPr/>
                    <a:lstStyle/>
                    <a:p>
                      <a:pPr algn="ctr"/>
                      <a:r>
                        <a:rPr sz="1200" b="0"/>
                        <a:t>0.002</a:t>
                      </a:r>
                    </a:p>
                  </a:txBody>
                  <a:tcPr anchor="ctr"/>
                </a:tc>
                <a:extLst>
                  <a:ext uri="{0D108BD9-81ED-4DB2-BD59-A6C34878D82A}">
                    <a16:rowId xmlns:a16="http://schemas.microsoft.com/office/drawing/2014/main" val="10008"/>
                  </a:ext>
                </a:extLst>
              </a:tr>
              <a:tr h="288000">
                <a:tc>
                  <a:txBody>
                    <a:bodyPr/>
                    <a:lstStyle/>
                    <a:p>
                      <a:pPr algn="ctr"/>
                      <a:r>
                        <a:rPr sz="1200" b="0" dirty="0"/>
                        <a:t>SAT</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a:t>19243.6 ± 7914.4</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a:t>17914.4 ± 8631.1</a:t>
                      </a:r>
                    </a:p>
                  </a:txBody>
                  <a:tcPr anchor="ctr"/>
                </a:tc>
                <a:tc>
                  <a:txBody>
                    <a:bodyPr/>
                    <a:lstStyle/>
                    <a:p>
                      <a:pPr algn="ctr"/>
                      <a:r>
                        <a:rPr sz="1200" b="0"/>
                        <a:t>&lt;0.001</a:t>
                      </a:r>
                    </a:p>
                  </a:txBody>
                  <a:tcPr anchor="ctr"/>
                </a:tc>
                <a:extLst>
                  <a:ext uri="{0D108BD9-81ED-4DB2-BD59-A6C34878D82A}">
                    <a16:rowId xmlns:a16="http://schemas.microsoft.com/office/drawing/2014/main" val="10009"/>
                  </a:ext>
                </a:extLst>
              </a:tr>
              <a:tr h="288000">
                <a:tc>
                  <a:txBody>
                    <a:bodyPr/>
                    <a:lstStyle/>
                    <a:p>
                      <a:pPr algn="ctr"/>
                      <a:r>
                        <a:rPr sz="1200" b="0" dirty="0"/>
                        <a:t>IMATA</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a:t>1175.5 ± 576.0</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a:t>1224.9 ± 617.6</a:t>
                      </a:r>
                    </a:p>
                  </a:txBody>
                  <a:tcPr anchor="ctr"/>
                </a:tc>
                <a:tc>
                  <a:txBody>
                    <a:bodyPr/>
                    <a:lstStyle/>
                    <a:p>
                      <a:pPr algn="ctr"/>
                      <a:r>
                        <a:rPr sz="1200" b="0"/>
                        <a:t>0.019</a:t>
                      </a:r>
                    </a:p>
                  </a:txBody>
                  <a:tcPr anchor="ctr"/>
                </a:tc>
                <a:extLst>
                  <a:ext uri="{0D108BD9-81ED-4DB2-BD59-A6C34878D82A}">
                    <a16:rowId xmlns:a16="http://schemas.microsoft.com/office/drawing/2014/main" val="10010"/>
                  </a:ext>
                </a:extLst>
              </a:tr>
              <a:tr h="288000">
                <a:tc>
                  <a:txBody>
                    <a:bodyPr/>
                    <a:lstStyle/>
                    <a:p>
                      <a:pPr algn="ctr"/>
                      <a:r>
                        <a:rPr sz="1200" b="0" dirty="0"/>
                        <a:t>NAMA</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a:t>14279.5 ± 4408.5</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a:t>12931.5 ± 4709.8</a:t>
                      </a:r>
                    </a:p>
                  </a:txBody>
                  <a:tcPr anchor="ctr"/>
                </a:tc>
                <a:tc>
                  <a:txBody>
                    <a:bodyPr/>
                    <a:lstStyle/>
                    <a:p>
                      <a:pPr algn="ctr"/>
                      <a:r>
                        <a:rPr sz="1200" b="0"/>
                        <a:t>&lt;0.001</a:t>
                      </a:r>
                    </a:p>
                  </a:txBody>
                  <a:tcPr anchor="ctr"/>
                </a:tc>
                <a:extLst>
                  <a:ext uri="{0D108BD9-81ED-4DB2-BD59-A6C34878D82A}">
                    <a16:rowId xmlns:a16="http://schemas.microsoft.com/office/drawing/2014/main" val="10011"/>
                  </a:ext>
                </a:extLst>
              </a:tr>
              <a:tr h="288000">
                <a:tc>
                  <a:txBody>
                    <a:bodyPr/>
                    <a:lstStyle/>
                    <a:p>
                      <a:pPr algn="ctr"/>
                      <a:r>
                        <a:rPr sz="1200" b="0" dirty="0"/>
                        <a:t>LAMA</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a:t>4127.4 ± 1962.2</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a:t>5093.2 ± 2123.8</a:t>
                      </a:r>
                    </a:p>
                  </a:txBody>
                  <a:tcPr anchor="ctr"/>
                </a:tc>
                <a:tc>
                  <a:txBody>
                    <a:bodyPr/>
                    <a:lstStyle/>
                    <a:p>
                      <a:pPr algn="ctr"/>
                      <a:r>
                        <a:rPr sz="1200" b="0"/>
                        <a:t>&lt;0.001</a:t>
                      </a:r>
                    </a:p>
                  </a:txBody>
                  <a:tcPr anchor="ctr"/>
                </a:tc>
                <a:extLst>
                  <a:ext uri="{0D108BD9-81ED-4DB2-BD59-A6C34878D82A}">
                    <a16:rowId xmlns:a16="http://schemas.microsoft.com/office/drawing/2014/main" val="10012"/>
                  </a:ext>
                </a:extLst>
              </a:tr>
              <a:tr h="288000">
                <a:tc>
                  <a:txBody>
                    <a:bodyPr/>
                    <a:lstStyle/>
                    <a:p>
                      <a:pPr algn="ctr"/>
                      <a:r>
                        <a:rPr sz="1200" b="0" dirty="0"/>
                        <a:t>TAMA</a:t>
                      </a:r>
                    </a:p>
                  </a:txBody>
                  <a:tcPr anchor="ctr">
                    <a:lnR w="12700" cap="flat" cmpd="sng" algn="ctr">
                      <a:solidFill>
                        <a:schemeClr val="bg1">
                          <a:lumMod val="75000"/>
                        </a:schemeClr>
                      </a:solidFill>
                      <a:prstDash val="solid"/>
                      <a:round/>
                      <a:headEnd type="none" w="med" len="med"/>
                      <a:tailEnd type="none" w="med" len="med"/>
                    </a:lnR>
                    <a:lnB w="12700" cap="flat" cmpd="sng" algn="ctr">
                      <a:solidFill>
                        <a:schemeClr val="bg1">
                          <a:lumMod val="75000"/>
                        </a:schemeClr>
                      </a:solidFill>
                      <a:prstDash val="solid"/>
                      <a:round/>
                      <a:headEnd type="none" w="med" len="med"/>
                      <a:tailEnd type="none" w="med" len="med"/>
                    </a:lnB>
                  </a:tcPr>
                </a:tc>
                <a:tc>
                  <a:txBody>
                    <a:bodyPr/>
                    <a:lstStyle/>
                    <a:p>
                      <a:pPr algn="ctr"/>
                      <a:r>
                        <a:rPr sz="1200" b="0"/>
                        <a:t>18406.9 ± 5171.0</a:t>
                      </a:r>
                    </a:p>
                  </a:txBody>
                  <a:tcPr anchor="ctr">
                    <a:lnL w="12700" cap="flat" cmpd="sng" algn="ctr">
                      <a:solidFill>
                        <a:schemeClr val="bg1">
                          <a:lumMod val="75000"/>
                        </a:schemeClr>
                      </a:solidFill>
                      <a:prstDash val="solid"/>
                      <a:round/>
                      <a:headEnd type="none" w="med" len="med"/>
                      <a:tailEnd type="none" w="med" len="med"/>
                    </a:lnL>
                    <a:lnB w="12700" cap="flat" cmpd="sng" algn="ctr">
                      <a:solidFill>
                        <a:schemeClr val="bg1">
                          <a:lumMod val="75000"/>
                        </a:schemeClr>
                      </a:solidFill>
                      <a:prstDash val="solid"/>
                      <a:round/>
                      <a:headEnd type="none" w="med" len="med"/>
                      <a:tailEnd type="none" w="med" len="med"/>
                    </a:lnB>
                  </a:tcPr>
                </a:tc>
                <a:tc>
                  <a:txBody>
                    <a:bodyPr/>
                    <a:lstStyle/>
                    <a:p>
                      <a:pPr algn="ctr"/>
                      <a:r>
                        <a:rPr sz="1200" b="0"/>
                        <a:t>18024.7 ± 5311.8</a:t>
                      </a:r>
                    </a:p>
                  </a:txBody>
                  <a:tcPr anchor="ctr">
                    <a:lnB w="12700" cap="flat" cmpd="sng" algn="ctr">
                      <a:solidFill>
                        <a:schemeClr val="bg1">
                          <a:lumMod val="75000"/>
                        </a:schemeClr>
                      </a:solidFill>
                      <a:prstDash val="solid"/>
                      <a:round/>
                      <a:headEnd type="none" w="med" len="med"/>
                      <a:tailEnd type="none" w="med" len="med"/>
                    </a:lnB>
                  </a:tcPr>
                </a:tc>
                <a:tc>
                  <a:txBody>
                    <a:bodyPr/>
                    <a:lstStyle/>
                    <a:p>
                      <a:pPr algn="ctr"/>
                      <a:r>
                        <a:rPr sz="1200" b="0"/>
                        <a:t>0.378</a:t>
                      </a:r>
                    </a:p>
                  </a:txBody>
                  <a:tcPr anchor="ctr">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0013"/>
                  </a:ext>
                </a:extLst>
              </a:tr>
              <a:tr h="288000">
                <a:tc>
                  <a:txBody>
                    <a:bodyPr/>
                    <a:lstStyle/>
                    <a:p>
                      <a:pPr algn="ctr"/>
                      <a:r>
                        <a:rPr sz="1200" b="0" dirty="0"/>
                        <a:t>HTN, n (%)</a:t>
                      </a:r>
                    </a:p>
                  </a:txBody>
                  <a:tcPr anchor="ctr">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tcPr>
                </a:tc>
                <a:tc>
                  <a:txBody>
                    <a:bodyPr/>
                    <a:lstStyle/>
                    <a:p>
                      <a:pPr algn="ctr"/>
                      <a:r>
                        <a:rPr sz="1200" b="0"/>
                        <a:t>386 (30.6%)</a:t>
                      </a:r>
                    </a:p>
                  </a:txBody>
                  <a:tcPr anchor="ctr">
                    <a:lnL w="12700" cap="flat" cmpd="sng" algn="ctr">
                      <a:solidFill>
                        <a:schemeClr val="bg1">
                          <a:lumMod val="75000"/>
                        </a:schemeClr>
                      </a:solidFill>
                      <a:prstDash val="solid"/>
                      <a:round/>
                      <a:headEnd type="none" w="med" len="med"/>
                      <a:tailEnd type="none" w="med" len="med"/>
                    </a:lnL>
                    <a:lnT w="12700" cap="flat" cmpd="sng" algn="ctr">
                      <a:solidFill>
                        <a:schemeClr val="bg1">
                          <a:lumMod val="75000"/>
                        </a:schemeClr>
                      </a:solidFill>
                      <a:prstDash val="solid"/>
                      <a:round/>
                      <a:headEnd type="none" w="med" len="med"/>
                      <a:tailEnd type="none" w="med" len="med"/>
                    </a:lnT>
                  </a:tcPr>
                </a:tc>
                <a:tc>
                  <a:txBody>
                    <a:bodyPr/>
                    <a:lstStyle/>
                    <a:p>
                      <a:pPr algn="ctr"/>
                      <a:r>
                        <a:rPr sz="1200" b="0"/>
                        <a:t>507 (45.1%)</a:t>
                      </a:r>
                    </a:p>
                  </a:txBody>
                  <a:tcPr anchor="ctr">
                    <a:lnT w="12700" cap="flat" cmpd="sng" algn="ctr">
                      <a:solidFill>
                        <a:schemeClr val="bg1">
                          <a:lumMod val="75000"/>
                        </a:schemeClr>
                      </a:solidFill>
                      <a:prstDash val="solid"/>
                      <a:round/>
                      <a:headEnd type="none" w="med" len="med"/>
                      <a:tailEnd type="none" w="med" len="med"/>
                    </a:lnT>
                  </a:tcPr>
                </a:tc>
                <a:tc>
                  <a:txBody>
                    <a:bodyPr/>
                    <a:lstStyle/>
                    <a:p>
                      <a:pPr algn="ctr"/>
                      <a:r>
                        <a:rPr sz="1200" b="0"/>
                        <a:t>&lt;0.001</a:t>
                      </a:r>
                    </a:p>
                  </a:txBody>
                  <a:tcPr anchor="ctr">
                    <a:lnT w="12700" cap="flat" cmpd="sng" algn="ctr">
                      <a:solidFill>
                        <a:schemeClr val="bg1">
                          <a:lumMod val="75000"/>
                        </a:schemeClr>
                      </a:solidFill>
                      <a:prstDash val="solid"/>
                      <a:round/>
                      <a:headEnd type="none" w="med" len="med"/>
                      <a:tailEnd type="none" w="med" len="med"/>
                    </a:lnT>
                  </a:tcPr>
                </a:tc>
                <a:extLst>
                  <a:ext uri="{0D108BD9-81ED-4DB2-BD59-A6C34878D82A}">
                    <a16:rowId xmlns:a16="http://schemas.microsoft.com/office/drawing/2014/main" val="10014"/>
                  </a:ext>
                </a:extLst>
              </a:tr>
              <a:tr h="288000">
                <a:tc>
                  <a:txBody>
                    <a:bodyPr/>
                    <a:lstStyle/>
                    <a:p>
                      <a:pPr algn="ctr"/>
                      <a:r>
                        <a:rPr sz="1200" b="0" dirty="0"/>
                        <a:t>DM, n (%)</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a:t>233 (18.5%)</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a:t>335 (29.8%)</a:t>
                      </a:r>
                    </a:p>
                  </a:txBody>
                  <a:tcPr anchor="ctr"/>
                </a:tc>
                <a:tc>
                  <a:txBody>
                    <a:bodyPr/>
                    <a:lstStyle/>
                    <a:p>
                      <a:pPr algn="ctr"/>
                      <a:r>
                        <a:rPr sz="1200" b="0"/>
                        <a:t>&lt;0.001</a:t>
                      </a:r>
                    </a:p>
                  </a:txBody>
                  <a:tcPr anchor="ctr"/>
                </a:tc>
                <a:extLst>
                  <a:ext uri="{0D108BD9-81ED-4DB2-BD59-A6C34878D82A}">
                    <a16:rowId xmlns:a16="http://schemas.microsoft.com/office/drawing/2014/main" val="10015"/>
                  </a:ext>
                </a:extLst>
              </a:tr>
              <a:tr h="288000">
                <a:tc>
                  <a:txBody>
                    <a:bodyPr/>
                    <a:lstStyle/>
                    <a:p>
                      <a:pPr algn="ctr"/>
                      <a:r>
                        <a:rPr sz="1200" b="0" dirty="0"/>
                        <a:t>CKD, n (%)</a:t>
                      </a:r>
                    </a:p>
                  </a:txBody>
                  <a:tcPr anchor="ctr">
                    <a:lnR w="12700" cap="flat" cmpd="sng" algn="ctr">
                      <a:solidFill>
                        <a:schemeClr val="bg1">
                          <a:lumMod val="75000"/>
                        </a:schemeClr>
                      </a:solidFill>
                      <a:prstDash val="solid"/>
                      <a:round/>
                      <a:headEnd type="none" w="med" len="med"/>
                      <a:tailEnd type="none" w="med" len="med"/>
                    </a:lnR>
                  </a:tcPr>
                </a:tc>
                <a:tc>
                  <a:txBody>
                    <a:bodyPr/>
                    <a:lstStyle/>
                    <a:p>
                      <a:pPr algn="ctr"/>
                      <a:r>
                        <a:rPr sz="1200" b="0" dirty="0"/>
                        <a:t>105 (8.3%)</a:t>
                      </a:r>
                    </a:p>
                  </a:txBody>
                  <a:tcPr anchor="ctr">
                    <a:lnL w="12700" cap="flat" cmpd="sng" algn="ctr">
                      <a:solidFill>
                        <a:schemeClr val="bg1">
                          <a:lumMod val="75000"/>
                        </a:schemeClr>
                      </a:solidFill>
                      <a:prstDash val="solid"/>
                      <a:round/>
                      <a:headEnd type="none" w="med" len="med"/>
                      <a:tailEnd type="none" w="med" len="med"/>
                    </a:lnL>
                  </a:tcPr>
                </a:tc>
                <a:tc>
                  <a:txBody>
                    <a:bodyPr/>
                    <a:lstStyle/>
                    <a:p>
                      <a:pPr algn="ctr"/>
                      <a:r>
                        <a:rPr sz="1200" b="0"/>
                        <a:t>188 (16.7%)</a:t>
                      </a:r>
                    </a:p>
                  </a:txBody>
                  <a:tcPr anchor="ctr"/>
                </a:tc>
                <a:tc>
                  <a:txBody>
                    <a:bodyPr/>
                    <a:lstStyle/>
                    <a:p>
                      <a:pPr algn="ctr"/>
                      <a:r>
                        <a:rPr sz="1200" b="0" dirty="0"/>
                        <a:t>&lt;0.001</a:t>
                      </a:r>
                    </a:p>
                  </a:txBody>
                  <a:tcPr anchor="ctr"/>
                </a:tc>
                <a:extLst>
                  <a:ext uri="{0D108BD9-81ED-4DB2-BD59-A6C34878D82A}">
                    <a16:rowId xmlns:a16="http://schemas.microsoft.com/office/drawing/2014/main" val="10016"/>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D7D40-A40F-D86B-87EB-CCF489E702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3C7D85-A2F6-60D0-F6A5-60814AC6BECD}"/>
              </a:ext>
            </a:extLst>
          </p:cNvPr>
          <p:cNvSpPr>
            <a:spLocks noGrp="1"/>
          </p:cNvSpPr>
          <p:nvPr>
            <p:ph type="title"/>
          </p:nvPr>
        </p:nvSpPr>
        <p:spPr/>
        <p:txBody>
          <a:bodyPr>
            <a:normAutofit/>
          </a:bodyPr>
          <a:lstStyle/>
          <a:p>
            <a:r>
              <a:rPr lang="en-US" altLang="ko-KR" dirty="0"/>
              <a:t>Table 2-1. Performance (</a:t>
            </a:r>
            <a:r>
              <a:rPr lang="ko-KR" altLang="en-US" dirty="0"/>
              <a:t>고혈압</a:t>
            </a:r>
            <a:r>
              <a:rPr lang="en-US" altLang="ko-KR" dirty="0"/>
              <a:t>)</a:t>
            </a:r>
            <a:endParaRPr dirty="0"/>
          </a:p>
        </p:txBody>
      </p:sp>
      <p:sp>
        <p:nvSpPr>
          <p:cNvPr id="3" name="내용 개체 틀 2">
            <a:extLst>
              <a:ext uri="{FF2B5EF4-FFF2-40B4-BE49-F238E27FC236}">
                <a16:creationId xmlns:a16="http://schemas.microsoft.com/office/drawing/2014/main" id="{859EA3E0-D96A-A2BA-A35E-EC0C2A12A539}"/>
              </a:ext>
            </a:extLst>
          </p:cNvPr>
          <p:cNvSpPr>
            <a:spLocks noGrp="1"/>
          </p:cNvSpPr>
          <p:nvPr>
            <p:ph idx="1"/>
          </p:nvPr>
        </p:nvSpPr>
        <p:spPr/>
        <p:txBody>
          <a:bodyPr>
            <a:normAutofit/>
          </a:bodyPr>
          <a:lstStyle/>
          <a:p>
            <a:r>
              <a:rPr lang="ko-KR" altLang="en-US" sz="1600" b="1" dirty="0">
                <a:latin typeface="KoPub돋움체 Medium" panose="00000600000000000000" pitchFamily="2" charset="-127"/>
              </a:rPr>
              <a:t>고혈압: Internal·External 모두 유의하게 개선</a:t>
            </a:r>
            <a:endParaRPr lang="ko-KR" altLang="en-US" dirty="0"/>
          </a:p>
          <a:p>
            <a:pPr lvl="1"/>
            <a:r>
              <a:rPr lang="ko-KR" altLang="en-US" sz="1600" dirty="0" err="1">
                <a:latin typeface="KoPub돋움체 Medium" panose="00000600000000000000" pitchFamily="2" charset="-127"/>
              </a:rPr>
              <a:t>Internal</a:t>
            </a:r>
            <a:r>
              <a:rPr lang="ko-KR" altLang="en-US" sz="1600" dirty="0">
                <a:latin typeface="KoPub돋움체 Medium" panose="00000600000000000000" pitchFamily="2" charset="-127"/>
              </a:rPr>
              <a:t> 0.795 → 0.809 (p=0.035), External 0.718 → 0.741 (p=0.011)</a:t>
            </a:r>
            <a:endParaRPr lang="ko-KR" altLang="en-US" dirty="0"/>
          </a:p>
          <a:p>
            <a:pPr lvl="1"/>
            <a:r>
              <a:rPr lang="ko-KR" altLang="en-US" sz="1600" dirty="0">
                <a:latin typeface="KoPub돋움체 Medium" panose="00000600000000000000" pitchFamily="2" charset="-127"/>
              </a:rPr>
              <a:t>Feature 추가 시 AUC 상승 (Baseline → +AEC → +AEC+체성분): Internal 0.796 → 0.805 → 0.811, External 0.718 → 0.730 → 0.741</a:t>
            </a:r>
            <a:endParaRPr lang="ko-KR" altLang="en-US" dirty="0"/>
          </a:p>
        </p:txBody>
      </p:sp>
      <p:sp>
        <p:nvSpPr>
          <p:cNvPr id="4" name="슬라이드 번호 개체 틀 3">
            <a:extLst>
              <a:ext uri="{FF2B5EF4-FFF2-40B4-BE49-F238E27FC236}">
                <a16:creationId xmlns:a16="http://schemas.microsoft.com/office/drawing/2014/main" id="{42441B7B-3AE6-9E7F-F342-E41FDEC843EE}"/>
              </a:ext>
            </a:extLst>
          </p:cNvPr>
          <p:cNvSpPr>
            <a:spLocks noGrp="1"/>
          </p:cNvSpPr>
          <p:nvPr>
            <p:ph type="sldNum" sz="quarter" idx="12"/>
          </p:nvPr>
        </p:nvSpPr>
        <p:spPr/>
        <p:txBody>
          <a:bodyPr/>
          <a:lstStyle/>
          <a:p>
            <a:fld id="{9F4AF89A-28FA-47FA-B28F-9A9C6913CB7A}" type="slidenum">
              <a:rPr lang="ko-KR" altLang="en-US" smtClean="0"/>
              <a:pPr/>
              <a:t>5</a:t>
            </a:fld>
            <a:endParaRPr lang="ko-KR" altLang="en-US" dirty="0"/>
          </a:p>
        </p:txBody>
      </p:sp>
      <p:graphicFrame>
        <p:nvGraphicFramePr>
          <p:cNvPr id="5" name="Table 2">
            <a:extLst>
              <a:ext uri="{FF2B5EF4-FFF2-40B4-BE49-F238E27FC236}">
                <a16:creationId xmlns:a16="http://schemas.microsoft.com/office/drawing/2014/main" id="{90977E91-04F5-0389-7AC3-3919F7C4BC4F}"/>
              </a:ext>
            </a:extLst>
          </p:cNvPr>
          <p:cNvGraphicFramePr>
            <a:graphicFrameLocks noGrp="1"/>
          </p:cNvGraphicFramePr>
          <p:nvPr>
            <p:extLst>
              <p:ext uri="{D42A27DB-BD31-4B8C-83A1-F6EECF244321}">
                <p14:modId xmlns:p14="http://schemas.microsoft.com/office/powerpoint/2010/main" val="1899155227"/>
              </p:ext>
            </p:extLst>
          </p:nvPr>
        </p:nvGraphicFramePr>
        <p:xfrm>
          <a:off x="1207389" y="2061868"/>
          <a:ext cx="9777222" cy="4114800"/>
        </p:xfrm>
        <a:graphic>
          <a:graphicData uri="http://schemas.openxmlformats.org/drawingml/2006/table">
            <a:tbl>
              <a:tblPr firstRow="1" bandRow="1">
                <a:tableStyleId>{C083E6E3-FA7D-4D7B-A595-EF9225AFEA82}</a:tableStyleId>
              </a:tblPr>
              <a:tblGrid>
                <a:gridCol w="1396746">
                  <a:extLst>
                    <a:ext uri="{9D8B030D-6E8A-4147-A177-3AD203B41FA5}">
                      <a16:colId xmlns:a16="http://schemas.microsoft.com/office/drawing/2014/main" val="20001"/>
                    </a:ext>
                  </a:extLst>
                </a:gridCol>
                <a:gridCol w="1396746">
                  <a:extLst>
                    <a:ext uri="{9D8B030D-6E8A-4147-A177-3AD203B41FA5}">
                      <a16:colId xmlns:a16="http://schemas.microsoft.com/office/drawing/2014/main" val="20002"/>
                    </a:ext>
                  </a:extLst>
                </a:gridCol>
                <a:gridCol w="1396746">
                  <a:extLst>
                    <a:ext uri="{9D8B030D-6E8A-4147-A177-3AD203B41FA5}">
                      <a16:colId xmlns:a16="http://schemas.microsoft.com/office/drawing/2014/main" val="20003"/>
                    </a:ext>
                  </a:extLst>
                </a:gridCol>
                <a:gridCol w="1396746">
                  <a:extLst>
                    <a:ext uri="{9D8B030D-6E8A-4147-A177-3AD203B41FA5}">
                      <a16:colId xmlns:a16="http://schemas.microsoft.com/office/drawing/2014/main" val="20004"/>
                    </a:ext>
                  </a:extLst>
                </a:gridCol>
                <a:gridCol w="1396746">
                  <a:extLst>
                    <a:ext uri="{9D8B030D-6E8A-4147-A177-3AD203B41FA5}">
                      <a16:colId xmlns:a16="http://schemas.microsoft.com/office/drawing/2014/main" val="20005"/>
                    </a:ext>
                  </a:extLst>
                </a:gridCol>
                <a:gridCol w="1396746">
                  <a:extLst>
                    <a:ext uri="{9D8B030D-6E8A-4147-A177-3AD203B41FA5}">
                      <a16:colId xmlns:a16="http://schemas.microsoft.com/office/drawing/2014/main" val="20006"/>
                    </a:ext>
                  </a:extLst>
                </a:gridCol>
                <a:gridCol w="1396746">
                  <a:extLst>
                    <a:ext uri="{9D8B030D-6E8A-4147-A177-3AD203B41FA5}">
                      <a16:colId xmlns:a16="http://schemas.microsoft.com/office/drawing/2014/main" val="20007"/>
                    </a:ext>
                  </a:extLst>
                </a:gridCol>
              </a:tblGrid>
              <a:tr h="165310">
                <a:tc>
                  <a:txBody>
                    <a:bodyPr/>
                    <a:lstStyle/>
                    <a:p>
                      <a:pPr algn="ctr"/>
                      <a:r>
                        <a:rPr sz="1200" b="1" dirty="0"/>
                        <a:t>Model</a:t>
                      </a:r>
                    </a:p>
                  </a:txBody>
                  <a:tcPr anchor="ctr"/>
                </a:tc>
                <a:tc>
                  <a:txBody>
                    <a:bodyPr/>
                    <a:lstStyle/>
                    <a:p>
                      <a:pPr algn="ctr"/>
                      <a:r>
                        <a:rPr sz="1200" b="1" dirty="0"/>
                        <a:t>Fold</a:t>
                      </a:r>
                    </a:p>
                  </a:txBody>
                  <a:tcPr anchor="ctr"/>
                </a:tc>
                <a:tc>
                  <a:txBody>
                    <a:bodyPr/>
                    <a:lstStyle/>
                    <a:p>
                      <a:pPr algn="ctr"/>
                      <a:r>
                        <a:rPr sz="1200" b="1"/>
                        <a:t>n (pos)</a:t>
                      </a:r>
                    </a:p>
                  </a:txBody>
                  <a:tcPr anchor="ctr"/>
                </a:tc>
                <a:tc>
                  <a:txBody>
                    <a:bodyPr/>
                    <a:lstStyle/>
                    <a:p>
                      <a:pPr algn="ctr"/>
                      <a:r>
                        <a:rPr sz="1200" b="1"/>
                        <a:t>AUC</a:t>
                      </a:r>
                    </a:p>
                  </a:txBody>
                  <a:tcPr anchor="ctr"/>
                </a:tc>
                <a:tc>
                  <a:txBody>
                    <a:bodyPr/>
                    <a:lstStyle/>
                    <a:p>
                      <a:pPr algn="ctr"/>
                      <a:r>
                        <a:rPr sz="1200" b="1"/>
                        <a:t>ACC</a:t>
                      </a:r>
                    </a:p>
                  </a:txBody>
                  <a:tcPr anchor="ctr"/>
                </a:tc>
                <a:tc>
                  <a:txBody>
                    <a:bodyPr/>
                    <a:lstStyle/>
                    <a:p>
                      <a:pPr algn="ctr"/>
                      <a:r>
                        <a:rPr sz="1200" b="1"/>
                        <a:t>Sensitivity</a:t>
                      </a:r>
                    </a:p>
                  </a:txBody>
                  <a:tcPr anchor="ctr"/>
                </a:tc>
                <a:tc>
                  <a:txBody>
                    <a:bodyPr/>
                    <a:lstStyle/>
                    <a:p>
                      <a:pPr algn="ctr"/>
                      <a:r>
                        <a:rPr sz="1200" b="1"/>
                        <a:t>Specificity</a:t>
                      </a:r>
                    </a:p>
                  </a:txBody>
                  <a:tcPr anchor="ctr"/>
                </a:tc>
                <a:extLst>
                  <a:ext uri="{0D108BD9-81ED-4DB2-BD59-A6C34878D82A}">
                    <a16:rowId xmlns:a16="http://schemas.microsoft.com/office/drawing/2014/main" val="10000"/>
                  </a:ext>
                </a:extLst>
              </a:tr>
              <a:tr h="165310">
                <a:tc rowSpan="7">
                  <a:txBody>
                    <a:bodyPr/>
                    <a:lstStyle/>
                    <a:p>
                      <a:pPr algn="ctr"/>
                      <a:r>
                        <a:rPr sz="1200" b="0" dirty="0"/>
                        <a:t>Baseline</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a:t>Fold 1</a:t>
                      </a:r>
                    </a:p>
                  </a:txBody>
                  <a:tcPr anchor="ctr"/>
                </a:tc>
                <a:tc>
                  <a:txBody>
                    <a:bodyPr/>
                    <a:lstStyle/>
                    <a:p>
                      <a:pPr algn="ctr"/>
                      <a:r>
                        <a:rPr sz="1200" b="0"/>
                        <a:t>78/252</a:t>
                      </a:r>
                    </a:p>
                  </a:txBody>
                  <a:tcPr anchor="ctr"/>
                </a:tc>
                <a:tc>
                  <a:txBody>
                    <a:bodyPr/>
                    <a:lstStyle/>
                    <a:p>
                      <a:pPr algn="ctr"/>
                      <a:r>
                        <a:rPr sz="1200" b="0"/>
                        <a:t>0.767</a:t>
                      </a:r>
                    </a:p>
                  </a:txBody>
                  <a:tcPr anchor="ctr"/>
                </a:tc>
                <a:tc>
                  <a:txBody>
                    <a:bodyPr/>
                    <a:lstStyle/>
                    <a:p>
                      <a:pPr algn="ctr"/>
                      <a:r>
                        <a:rPr sz="1200" b="0"/>
                        <a:t>0.667</a:t>
                      </a:r>
                    </a:p>
                  </a:txBody>
                  <a:tcPr anchor="ctr"/>
                </a:tc>
                <a:tc>
                  <a:txBody>
                    <a:bodyPr/>
                    <a:lstStyle/>
                    <a:p>
                      <a:pPr algn="ctr"/>
                      <a:r>
                        <a:rPr sz="1200" b="0"/>
                        <a:t>0.718</a:t>
                      </a:r>
                    </a:p>
                  </a:txBody>
                  <a:tcPr anchor="ctr"/>
                </a:tc>
                <a:tc>
                  <a:txBody>
                    <a:bodyPr/>
                    <a:lstStyle/>
                    <a:p>
                      <a:pPr algn="ctr"/>
                      <a:r>
                        <a:rPr sz="1200" b="0"/>
                        <a:t>0.644</a:t>
                      </a:r>
                    </a:p>
                  </a:txBody>
                  <a:tcPr anchor="ctr"/>
                </a:tc>
                <a:extLst>
                  <a:ext uri="{0D108BD9-81ED-4DB2-BD59-A6C34878D82A}">
                    <a16:rowId xmlns:a16="http://schemas.microsoft.com/office/drawing/2014/main" val="10001"/>
                  </a:ext>
                </a:extLst>
              </a:tr>
              <a:tr h="165310">
                <a:tc vMerge="1">
                  <a:txBody>
                    <a:bodyPr/>
                    <a:lstStyle/>
                    <a:p>
                      <a:endParaRPr/>
                    </a:p>
                  </a:txBody>
                  <a:tcPr anchor="ctr"/>
                </a:tc>
                <a:tc>
                  <a:txBody>
                    <a:bodyPr/>
                    <a:lstStyle/>
                    <a:p>
                      <a:pPr algn="ctr"/>
                      <a:r>
                        <a:rPr sz="1200" b="0"/>
                        <a:t>Fold 2</a:t>
                      </a:r>
                    </a:p>
                  </a:txBody>
                  <a:tcPr anchor="ctr"/>
                </a:tc>
                <a:tc>
                  <a:txBody>
                    <a:bodyPr/>
                    <a:lstStyle/>
                    <a:p>
                      <a:pPr algn="ctr"/>
                      <a:r>
                        <a:rPr sz="1200" b="0"/>
                        <a:t>77/252</a:t>
                      </a:r>
                    </a:p>
                  </a:txBody>
                  <a:tcPr anchor="ctr"/>
                </a:tc>
                <a:tc>
                  <a:txBody>
                    <a:bodyPr/>
                    <a:lstStyle/>
                    <a:p>
                      <a:pPr algn="ctr"/>
                      <a:r>
                        <a:rPr sz="1200" b="0"/>
                        <a:t>0.797</a:t>
                      </a:r>
                    </a:p>
                  </a:txBody>
                  <a:tcPr anchor="ctr"/>
                </a:tc>
                <a:tc>
                  <a:txBody>
                    <a:bodyPr/>
                    <a:lstStyle/>
                    <a:p>
                      <a:pPr algn="ctr"/>
                      <a:r>
                        <a:rPr sz="1200" b="0"/>
                        <a:t>0.690</a:t>
                      </a:r>
                    </a:p>
                  </a:txBody>
                  <a:tcPr anchor="ctr"/>
                </a:tc>
                <a:tc>
                  <a:txBody>
                    <a:bodyPr/>
                    <a:lstStyle/>
                    <a:p>
                      <a:pPr algn="ctr"/>
                      <a:r>
                        <a:rPr sz="1200" b="0"/>
                        <a:t>0.844</a:t>
                      </a:r>
                    </a:p>
                  </a:txBody>
                  <a:tcPr anchor="ctr"/>
                </a:tc>
                <a:tc>
                  <a:txBody>
                    <a:bodyPr/>
                    <a:lstStyle/>
                    <a:p>
                      <a:pPr algn="ctr"/>
                      <a:r>
                        <a:rPr sz="1200" b="0"/>
                        <a:t>0.623</a:t>
                      </a:r>
                    </a:p>
                  </a:txBody>
                  <a:tcPr anchor="ctr"/>
                </a:tc>
                <a:extLst>
                  <a:ext uri="{0D108BD9-81ED-4DB2-BD59-A6C34878D82A}">
                    <a16:rowId xmlns:a16="http://schemas.microsoft.com/office/drawing/2014/main" val="10002"/>
                  </a:ext>
                </a:extLst>
              </a:tr>
              <a:tr h="165310">
                <a:tc vMerge="1">
                  <a:txBody>
                    <a:bodyPr/>
                    <a:lstStyle/>
                    <a:p>
                      <a:endParaRPr/>
                    </a:p>
                  </a:txBody>
                  <a:tcPr anchor="ctr"/>
                </a:tc>
                <a:tc>
                  <a:txBody>
                    <a:bodyPr/>
                    <a:lstStyle/>
                    <a:p>
                      <a:pPr algn="ctr"/>
                      <a:r>
                        <a:rPr sz="1200" b="0"/>
                        <a:t>Fold 3</a:t>
                      </a:r>
                    </a:p>
                  </a:txBody>
                  <a:tcPr anchor="ctr"/>
                </a:tc>
                <a:tc>
                  <a:txBody>
                    <a:bodyPr/>
                    <a:lstStyle/>
                    <a:p>
                      <a:pPr algn="ctr"/>
                      <a:r>
                        <a:rPr sz="1200" b="0"/>
                        <a:t>77/252</a:t>
                      </a:r>
                    </a:p>
                  </a:txBody>
                  <a:tcPr anchor="ctr"/>
                </a:tc>
                <a:tc>
                  <a:txBody>
                    <a:bodyPr/>
                    <a:lstStyle/>
                    <a:p>
                      <a:pPr algn="ctr"/>
                      <a:r>
                        <a:rPr sz="1200" b="0"/>
                        <a:t>0.814</a:t>
                      </a:r>
                    </a:p>
                  </a:txBody>
                  <a:tcPr anchor="ctr"/>
                </a:tc>
                <a:tc>
                  <a:txBody>
                    <a:bodyPr/>
                    <a:lstStyle/>
                    <a:p>
                      <a:pPr algn="ctr"/>
                      <a:r>
                        <a:rPr sz="1200" b="0"/>
                        <a:t>0.706</a:t>
                      </a:r>
                    </a:p>
                  </a:txBody>
                  <a:tcPr anchor="ctr"/>
                </a:tc>
                <a:tc>
                  <a:txBody>
                    <a:bodyPr/>
                    <a:lstStyle/>
                    <a:p>
                      <a:pPr algn="ctr"/>
                      <a:r>
                        <a:rPr sz="1200" b="0"/>
                        <a:t>0.831</a:t>
                      </a:r>
                    </a:p>
                  </a:txBody>
                  <a:tcPr anchor="ctr"/>
                </a:tc>
                <a:tc>
                  <a:txBody>
                    <a:bodyPr/>
                    <a:lstStyle/>
                    <a:p>
                      <a:pPr algn="ctr"/>
                      <a:r>
                        <a:rPr sz="1200" b="0"/>
                        <a:t>0.651</a:t>
                      </a:r>
                    </a:p>
                  </a:txBody>
                  <a:tcPr anchor="ctr"/>
                </a:tc>
                <a:extLst>
                  <a:ext uri="{0D108BD9-81ED-4DB2-BD59-A6C34878D82A}">
                    <a16:rowId xmlns:a16="http://schemas.microsoft.com/office/drawing/2014/main" val="10003"/>
                  </a:ext>
                </a:extLst>
              </a:tr>
              <a:tr h="165310">
                <a:tc vMerge="1">
                  <a:txBody>
                    <a:bodyPr/>
                    <a:lstStyle/>
                    <a:p>
                      <a:endParaRPr/>
                    </a:p>
                  </a:txBody>
                  <a:tcPr anchor="ctr"/>
                </a:tc>
                <a:tc>
                  <a:txBody>
                    <a:bodyPr/>
                    <a:lstStyle/>
                    <a:p>
                      <a:pPr algn="ctr"/>
                      <a:r>
                        <a:rPr sz="1200" b="0" dirty="0"/>
                        <a:t>Fold 4</a:t>
                      </a:r>
                    </a:p>
                  </a:txBody>
                  <a:tcPr anchor="ctr"/>
                </a:tc>
                <a:tc>
                  <a:txBody>
                    <a:bodyPr/>
                    <a:lstStyle/>
                    <a:p>
                      <a:pPr algn="ctr"/>
                      <a:r>
                        <a:rPr sz="1200" b="0" dirty="0"/>
                        <a:t>77/252</a:t>
                      </a:r>
                    </a:p>
                  </a:txBody>
                  <a:tcPr anchor="ctr"/>
                </a:tc>
                <a:tc>
                  <a:txBody>
                    <a:bodyPr/>
                    <a:lstStyle/>
                    <a:p>
                      <a:pPr algn="ctr"/>
                      <a:r>
                        <a:rPr sz="1200" b="0"/>
                        <a:t>0.814</a:t>
                      </a:r>
                    </a:p>
                  </a:txBody>
                  <a:tcPr anchor="ctr"/>
                </a:tc>
                <a:tc>
                  <a:txBody>
                    <a:bodyPr/>
                    <a:lstStyle/>
                    <a:p>
                      <a:pPr algn="ctr"/>
                      <a:r>
                        <a:rPr sz="1200" b="0"/>
                        <a:t>0.718</a:t>
                      </a:r>
                    </a:p>
                  </a:txBody>
                  <a:tcPr anchor="ctr"/>
                </a:tc>
                <a:tc>
                  <a:txBody>
                    <a:bodyPr/>
                    <a:lstStyle/>
                    <a:p>
                      <a:pPr algn="ctr"/>
                      <a:r>
                        <a:rPr sz="1200" b="0"/>
                        <a:t>0.844</a:t>
                      </a:r>
                    </a:p>
                  </a:txBody>
                  <a:tcPr anchor="ctr"/>
                </a:tc>
                <a:tc>
                  <a:txBody>
                    <a:bodyPr/>
                    <a:lstStyle/>
                    <a:p>
                      <a:pPr algn="ctr"/>
                      <a:r>
                        <a:rPr sz="1200" b="0"/>
                        <a:t>0.663</a:t>
                      </a:r>
                    </a:p>
                  </a:txBody>
                  <a:tcPr anchor="ctr"/>
                </a:tc>
                <a:extLst>
                  <a:ext uri="{0D108BD9-81ED-4DB2-BD59-A6C34878D82A}">
                    <a16:rowId xmlns:a16="http://schemas.microsoft.com/office/drawing/2014/main" val="10004"/>
                  </a:ext>
                </a:extLst>
              </a:tr>
              <a:tr h="165310">
                <a:tc vMerge="1">
                  <a:txBody>
                    <a:bodyPr/>
                    <a:lstStyle/>
                    <a:p>
                      <a:pPr latinLnBrk="1"/>
                      <a:endParaRPr lang="ko-KR" altLang="en-US"/>
                    </a:p>
                  </a:txBody>
                  <a:tcPr/>
                </a:tc>
                <a:tc>
                  <a:txBody>
                    <a:bodyPr/>
                    <a:lstStyle/>
                    <a:p>
                      <a:pPr algn="ctr"/>
                      <a:r>
                        <a:rPr sz="1200" b="0" dirty="0"/>
                        <a:t>Fold 5</a:t>
                      </a:r>
                    </a:p>
                  </a:txBody>
                  <a:tcPr anchor="ctr"/>
                </a:tc>
                <a:tc>
                  <a:txBody>
                    <a:bodyPr/>
                    <a:lstStyle/>
                    <a:p>
                      <a:pPr algn="ctr"/>
                      <a:r>
                        <a:rPr sz="1200" b="0" dirty="0"/>
                        <a:t>77/252</a:t>
                      </a:r>
                    </a:p>
                  </a:txBody>
                  <a:tcPr anchor="ctr"/>
                </a:tc>
                <a:tc>
                  <a:txBody>
                    <a:bodyPr/>
                    <a:lstStyle/>
                    <a:p>
                      <a:pPr algn="ctr"/>
                      <a:r>
                        <a:rPr sz="1200" b="0" dirty="0"/>
                        <a:t>0.787</a:t>
                      </a:r>
                    </a:p>
                  </a:txBody>
                  <a:tcPr anchor="ctr"/>
                </a:tc>
                <a:tc>
                  <a:txBody>
                    <a:bodyPr/>
                    <a:lstStyle/>
                    <a:p>
                      <a:pPr algn="ctr"/>
                      <a:r>
                        <a:rPr sz="1200" b="0" dirty="0"/>
                        <a:t>0.702</a:t>
                      </a:r>
                    </a:p>
                  </a:txBody>
                  <a:tcPr anchor="ctr"/>
                </a:tc>
                <a:tc>
                  <a:txBody>
                    <a:bodyPr/>
                    <a:lstStyle/>
                    <a:p>
                      <a:pPr algn="ctr"/>
                      <a:r>
                        <a:rPr sz="1200" b="0" dirty="0"/>
                        <a:t>0.818</a:t>
                      </a:r>
                    </a:p>
                  </a:txBody>
                  <a:tcPr anchor="ctr"/>
                </a:tc>
                <a:tc>
                  <a:txBody>
                    <a:bodyPr/>
                    <a:lstStyle/>
                    <a:p>
                      <a:pPr algn="ctr"/>
                      <a:r>
                        <a:rPr sz="1200" b="0" dirty="0"/>
                        <a:t>0.651</a:t>
                      </a:r>
                    </a:p>
                  </a:txBody>
                  <a:tcPr anchor="ctr"/>
                </a:tc>
                <a:extLst>
                  <a:ext uri="{0D108BD9-81ED-4DB2-BD59-A6C34878D82A}">
                    <a16:rowId xmlns:a16="http://schemas.microsoft.com/office/drawing/2014/main" val="536160383"/>
                  </a:ext>
                </a:extLst>
              </a:tr>
              <a:tr h="165310">
                <a:tc vMerge="1">
                  <a:txBody>
                    <a:bodyPr/>
                    <a:lstStyle/>
                    <a:p>
                      <a:pPr latinLnBrk="1"/>
                      <a:endParaRPr lang="ko-KR" altLang="en-US"/>
                    </a:p>
                  </a:txBody>
                  <a:tcPr/>
                </a:tc>
                <a:tc>
                  <a:txBody>
                    <a:bodyPr/>
                    <a:lstStyle/>
                    <a:p>
                      <a:pPr algn="ctr"/>
                      <a:r>
                        <a:rPr sz="1200" b="0" dirty="0"/>
                        <a:t>Mean ± SD</a:t>
                      </a:r>
                    </a:p>
                  </a:txBody>
                  <a:tcPr anchor="ctr"/>
                </a:tc>
                <a:tc>
                  <a:txBody>
                    <a:bodyPr/>
                    <a:lstStyle/>
                    <a:p>
                      <a:pPr algn="ctr"/>
                      <a:r>
                        <a:rPr sz="1200" b="0" dirty="0"/>
                        <a:t>386/1260</a:t>
                      </a:r>
                    </a:p>
                  </a:txBody>
                  <a:tcPr anchor="ctr"/>
                </a:tc>
                <a:tc>
                  <a:txBody>
                    <a:bodyPr/>
                    <a:lstStyle/>
                    <a:p>
                      <a:pPr algn="ctr"/>
                      <a:r>
                        <a:rPr sz="1200" b="0" dirty="0"/>
                        <a:t>0.796 ± 0.020</a:t>
                      </a:r>
                    </a:p>
                  </a:txBody>
                  <a:tcPr anchor="ctr"/>
                </a:tc>
                <a:tc>
                  <a:txBody>
                    <a:bodyPr/>
                    <a:lstStyle/>
                    <a:p>
                      <a:pPr algn="ctr"/>
                      <a:r>
                        <a:rPr sz="1200" b="0"/>
                        <a:t>0.697 ± 0.020</a:t>
                      </a:r>
                    </a:p>
                  </a:txBody>
                  <a:tcPr anchor="ctr"/>
                </a:tc>
                <a:tc>
                  <a:txBody>
                    <a:bodyPr/>
                    <a:lstStyle/>
                    <a:p>
                      <a:pPr algn="ctr"/>
                      <a:r>
                        <a:rPr sz="1200" b="0"/>
                        <a:t>0.811 ± 0.053</a:t>
                      </a:r>
                    </a:p>
                  </a:txBody>
                  <a:tcPr anchor="ctr"/>
                </a:tc>
                <a:tc>
                  <a:txBody>
                    <a:bodyPr/>
                    <a:lstStyle/>
                    <a:p>
                      <a:pPr algn="ctr"/>
                      <a:r>
                        <a:rPr sz="1200" b="0"/>
                        <a:t>0.646 ± 0.015</a:t>
                      </a:r>
                    </a:p>
                  </a:txBody>
                  <a:tcPr anchor="ctr"/>
                </a:tc>
                <a:extLst>
                  <a:ext uri="{0D108BD9-81ED-4DB2-BD59-A6C34878D82A}">
                    <a16:rowId xmlns:a16="http://schemas.microsoft.com/office/drawing/2014/main" val="3145784829"/>
                  </a:ext>
                </a:extLst>
              </a:tr>
              <a:tr h="165310">
                <a:tc vMerge="1">
                  <a:txBody>
                    <a:bodyPr/>
                    <a:lstStyle/>
                    <a:p>
                      <a:endParaRPr dirty="0"/>
                    </a:p>
                  </a:txBody>
                  <a:tcPr anchor="ctr"/>
                </a:tc>
                <a:tc>
                  <a:txBody>
                    <a:bodyPr/>
                    <a:lstStyle/>
                    <a:p>
                      <a:pPr algn="ctr"/>
                      <a:r>
                        <a:rPr sz="1200" b="0"/>
                        <a:t>External</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a:t>507/1123</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dirty="0"/>
                        <a:t>0.718</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dirty="0"/>
                        <a:t>0.657</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dirty="0"/>
                        <a:t>0.779</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dirty="0"/>
                        <a:t>0.557</a:t>
                      </a:r>
                    </a:p>
                  </a:txBody>
                  <a:tcPr anchor="ctr">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5"/>
                  </a:ext>
                </a:extLst>
              </a:tr>
              <a:tr h="165310">
                <a:tc rowSpan="7">
                  <a:txBody>
                    <a:bodyPr/>
                    <a:lstStyle/>
                    <a:p>
                      <a:pPr algn="ctr"/>
                      <a:r>
                        <a:rPr sz="1200" b="0" dirty="0"/>
                        <a:t>+</a:t>
                      </a:r>
                      <a:r>
                        <a:rPr sz="1200" b="0" dirty="0" err="1"/>
                        <a:t>AEC+체성분</a:t>
                      </a:r>
                      <a:endParaRPr sz="1200" b="0" dirty="0"/>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Fold 1</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78/252</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0.761</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0.659</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0.782</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dirty="0"/>
                        <a:t>0.603</a:t>
                      </a:r>
                    </a:p>
                  </a:txBody>
                  <a:tcPr anchor="ctr">
                    <a:lnT w="12700" cap="flat" cmpd="sng" algn="ctr">
                      <a:solidFill>
                        <a:schemeClr val="bg1">
                          <a:lumMod val="65000"/>
                        </a:schemeClr>
                      </a:solidFill>
                      <a:prstDash val="solid"/>
                      <a:round/>
                      <a:headEnd type="none" w="med" len="med"/>
                      <a:tailEnd type="none" w="med" len="med"/>
                    </a:lnT>
                  </a:tcPr>
                </a:tc>
                <a:extLst>
                  <a:ext uri="{0D108BD9-81ED-4DB2-BD59-A6C34878D82A}">
                    <a16:rowId xmlns:a16="http://schemas.microsoft.com/office/drawing/2014/main" val="10006"/>
                  </a:ext>
                </a:extLst>
              </a:tr>
              <a:tr h="165310">
                <a:tc vMerge="1">
                  <a:txBody>
                    <a:bodyPr/>
                    <a:lstStyle/>
                    <a:p>
                      <a:endParaRPr/>
                    </a:p>
                  </a:txBody>
                  <a:tcPr anchor="ctr"/>
                </a:tc>
                <a:tc>
                  <a:txBody>
                    <a:bodyPr/>
                    <a:lstStyle/>
                    <a:p>
                      <a:pPr algn="ctr"/>
                      <a:r>
                        <a:rPr sz="1200" b="0"/>
                        <a:t>Fold 2</a:t>
                      </a:r>
                    </a:p>
                  </a:txBody>
                  <a:tcPr anchor="ctr"/>
                </a:tc>
                <a:tc>
                  <a:txBody>
                    <a:bodyPr/>
                    <a:lstStyle/>
                    <a:p>
                      <a:pPr algn="ctr"/>
                      <a:r>
                        <a:rPr sz="1200" b="0"/>
                        <a:t>77/252</a:t>
                      </a:r>
                    </a:p>
                  </a:txBody>
                  <a:tcPr anchor="ctr"/>
                </a:tc>
                <a:tc>
                  <a:txBody>
                    <a:bodyPr/>
                    <a:lstStyle/>
                    <a:p>
                      <a:pPr algn="ctr"/>
                      <a:r>
                        <a:rPr sz="1200" b="0"/>
                        <a:t>0.832</a:t>
                      </a:r>
                    </a:p>
                  </a:txBody>
                  <a:tcPr anchor="ctr"/>
                </a:tc>
                <a:tc>
                  <a:txBody>
                    <a:bodyPr/>
                    <a:lstStyle/>
                    <a:p>
                      <a:pPr algn="ctr"/>
                      <a:r>
                        <a:rPr sz="1200" b="0"/>
                        <a:t>0.671</a:t>
                      </a:r>
                    </a:p>
                  </a:txBody>
                  <a:tcPr anchor="ctr"/>
                </a:tc>
                <a:tc>
                  <a:txBody>
                    <a:bodyPr/>
                    <a:lstStyle/>
                    <a:p>
                      <a:pPr algn="ctr"/>
                      <a:r>
                        <a:rPr sz="1200" b="0"/>
                        <a:t>0.909</a:t>
                      </a:r>
                    </a:p>
                  </a:txBody>
                  <a:tcPr anchor="ctr"/>
                </a:tc>
                <a:tc>
                  <a:txBody>
                    <a:bodyPr/>
                    <a:lstStyle/>
                    <a:p>
                      <a:pPr algn="ctr"/>
                      <a:r>
                        <a:rPr sz="1200" b="0"/>
                        <a:t>0.566</a:t>
                      </a:r>
                    </a:p>
                  </a:txBody>
                  <a:tcPr anchor="ctr"/>
                </a:tc>
                <a:extLst>
                  <a:ext uri="{0D108BD9-81ED-4DB2-BD59-A6C34878D82A}">
                    <a16:rowId xmlns:a16="http://schemas.microsoft.com/office/drawing/2014/main" val="10007"/>
                  </a:ext>
                </a:extLst>
              </a:tr>
              <a:tr h="165310">
                <a:tc vMerge="1">
                  <a:txBody>
                    <a:bodyPr/>
                    <a:lstStyle/>
                    <a:p>
                      <a:endParaRPr/>
                    </a:p>
                  </a:txBody>
                  <a:tcPr anchor="ctr"/>
                </a:tc>
                <a:tc>
                  <a:txBody>
                    <a:bodyPr/>
                    <a:lstStyle/>
                    <a:p>
                      <a:pPr algn="ctr"/>
                      <a:r>
                        <a:rPr sz="1200" b="0" dirty="0"/>
                        <a:t>Fold 3</a:t>
                      </a:r>
                    </a:p>
                  </a:txBody>
                  <a:tcPr anchor="ctr"/>
                </a:tc>
                <a:tc>
                  <a:txBody>
                    <a:bodyPr/>
                    <a:lstStyle/>
                    <a:p>
                      <a:pPr algn="ctr"/>
                      <a:r>
                        <a:rPr sz="1200" b="0"/>
                        <a:t>77/252</a:t>
                      </a:r>
                    </a:p>
                  </a:txBody>
                  <a:tcPr anchor="ctr"/>
                </a:tc>
                <a:tc>
                  <a:txBody>
                    <a:bodyPr/>
                    <a:lstStyle/>
                    <a:p>
                      <a:pPr algn="ctr"/>
                      <a:r>
                        <a:rPr sz="1200" b="0"/>
                        <a:t>0.847</a:t>
                      </a:r>
                    </a:p>
                  </a:txBody>
                  <a:tcPr anchor="ctr"/>
                </a:tc>
                <a:tc>
                  <a:txBody>
                    <a:bodyPr/>
                    <a:lstStyle/>
                    <a:p>
                      <a:pPr algn="ctr"/>
                      <a:r>
                        <a:rPr sz="1200" b="0"/>
                        <a:t>0.706</a:t>
                      </a:r>
                    </a:p>
                  </a:txBody>
                  <a:tcPr anchor="ctr"/>
                </a:tc>
                <a:tc>
                  <a:txBody>
                    <a:bodyPr/>
                    <a:lstStyle/>
                    <a:p>
                      <a:pPr algn="ctr"/>
                      <a:r>
                        <a:rPr sz="1200" b="0"/>
                        <a:t>0.909</a:t>
                      </a:r>
                    </a:p>
                  </a:txBody>
                  <a:tcPr anchor="ctr"/>
                </a:tc>
                <a:tc>
                  <a:txBody>
                    <a:bodyPr/>
                    <a:lstStyle/>
                    <a:p>
                      <a:pPr algn="ctr"/>
                      <a:r>
                        <a:rPr sz="1200" b="0"/>
                        <a:t>0.617</a:t>
                      </a:r>
                    </a:p>
                  </a:txBody>
                  <a:tcPr anchor="ctr"/>
                </a:tc>
                <a:extLst>
                  <a:ext uri="{0D108BD9-81ED-4DB2-BD59-A6C34878D82A}">
                    <a16:rowId xmlns:a16="http://schemas.microsoft.com/office/drawing/2014/main" val="10008"/>
                  </a:ext>
                </a:extLst>
              </a:tr>
              <a:tr h="165310">
                <a:tc vMerge="1">
                  <a:txBody>
                    <a:bodyPr/>
                    <a:lstStyle/>
                    <a:p>
                      <a:endParaRPr/>
                    </a:p>
                  </a:txBody>
                  <a:tcPr anchor="ctr"/>
                </a:tc>
                <a:tc>
                  <a:txBody>
                    <a:bodyPr/>
                    <a:lstStyle/>
                    <a:p>
                      <a:pPr algn="ctr"/>
                      <a:r>
                        <a:rPr sz="1200" b="0" dirty="0"/>
                        <a:t>Fold 4</a:t>
                      </a:r>
                    </a:p>
                  </a:txBody>
                  <a:tcPr anchor="ctr"/>
                </a:tc>
                <a:tc>
                  <a:txBody>
                    <a:bodyPr/>
                    <a:lstStyle/>
                    <a:p>
                      <a:pPr algn="ctr"/>
                      <a:r>
                        <a:rPr sz="1200" b="0"/>
                        <a:t>77/252</a:t>
                      </a:r>
                    </a:p>
                  </a:txBody>
                  <a:tcPr anchor="ctr"/>
                </a:tc>
                <a:tc>
                  <a:txBody>
                    <a:bodyPr/>
                    <a:lstStyle/>
                    <a:p>
                      <a:pPr algn="ctr"/>
                      <a:r>
                        <a:rPr sz="1200" b="0"/>
                        <a:t>0.828</a:t>
                      </a:r>
                    </a:p>
                  </a:txBody>
                  <a:tcPr anchor="ctr"/>
                </a:tc>
                <a:tc>
                  <a:txBody>
                    <a:bodyPr/>
                    <a:lstStyle/>
                    <a:p>
                      <a:pPr algn="ctr"/>
                      <a:r>
                        <a:rPr sz="1200" b="0"/>
                        <a:t>0.718</a:t>
                      </a:r>
                    </a:p>
                  </a:txBody>
                  <a:tcPr anchor="ctr"/>
                </a:tc>
                <a:tc>
                  <a:txBody>
                    <a:bodyPr/>
                    <a:lstStyle/>
                    <a:p>
                      <a:pPr algn="ctr"/>
                      <a:r>
                        <a:rPr sz="1200" b="0"/>
                        <a:t>0.948</a:t>
                      </a:r>
                    </a:p>
                  </a:txBody>
                  <a:tcPr anchor="ctr"/>
                </a:tc>
                <a:tc>
                  <a:txBody>
                    <a:bodyPr/>
                    <a:lstStyle/>
                    <a:p>
                      <a:pPr algn="ctr"/>
                      <a:r>
                        <a:rPr sz="1200" b="0"/>
                        <a:t>0.617</a:t>
                      </a:r>
                    </a:p>
                  </a:txBody>
                  <a:tcPr anchor="ctr"/>
                </a:tc>
                <a:extLst>
                  <a:ext uri="{0D108BD9-81ED-4DB2-BD59-A6C34878D82A}">
                    <a16:rowId xmlns:a16="http://schemas.microsoft.com/office/drawing/2014/main" val="10009"/>
                  </a:ext>
                </a:extLst>
              </a:tr>
              <a:tr h="165310">
                <a:tc vMerge="1">
                  <a:txBody>
                    <a:bodyPr/>
                    <a:lstStyle/>
                    <a:p>
                      <a:pPr latinLnBrk="1"/>
                      <a:endParaRPr lang="ko-KR" altLang="en-US"/>
                    </a:p>
                  </a:txBody>
                  <a:tcPr/>
                </a:tc>
                <a:tc>
                  <a:txBody>
                    <a:bodyPr/>
                    <a:lstStyle/>
                    <a:p>
                      <a:pPr algn="ctr"/>
                      <a:r>
                        <a:rPr sz="1200" b="0" dirty="0"/>
                        <a:t>Fold 5</a:t>
                      </a:r>
                    </a:p>
                  </a:txBody>
                  <a:tcPr anchor="ctr"/>
                </a:tc>
                <a:tc>
                  <a:txBody>
                    <a:bodyPr/>
                    <a:lstStyle/>
                    <a:p>
                      <a:pPr algn="ctr"/>
                      <a:r>
                        <a:rPr sz="1200" b="0"/>
                        <a:t>77/252</a:t>
                      </a:r>
                    </a:p>
                  </a:txBody>
                  <a:tcPr anchor="ctr"/>
                </a:tc>
                <a:tc>
                  <a:txBody>
                    <a:bodyPr/>
                    <a:lstStyle/>
                    <a:p>
                      <a:pPr algn="ctr"/>
                      <a:r>
                        <a:rPr sz="1200" b="0" dirty="0"/>
                        <a:t>0.785</a:t>
                      </a:r>
                    </a:p>
                  </a:txBody>
                  <a:tcPr anchor="ctr"/>
                </a:tc>
                <a:tc>
                  <a:txBody>
                    <a:bodyPr/>
                    <a:lstStyle/>
                    <a:p>
                      <a:pPr algn="ctr"/>
                      <a:r>
                        <a:rPr sz="1200" b="0" dirty="0"/>
                        <a:t>0.651</a:t>
                      </a:r>
                    </a:p>
                  </a:txBody>
                  <a:tcPr anchor="ctr"/>
                </a:tc>
                <a:tc>
                  <a:txBody>
                    <a:bodyPr/>
                    <a:lstStyle/>
                    <a:p>
                      <a:pPr algn="ctr"/>
                      <a:r>
                        <a:rPr sz="1200" b="0" dirty="0"/>
                        <a:t>0.844</a:t>
                      </a:r>
                    </a:p>
                  </a:txBody>
                  <a:tcPr anchor="ctr"/>
                </a:tc>
                <a:tc>
                  <a:txBody>
                    <a:bodyPr/>
                    <a:lstStyle/>
                    <a:p>
                      <a:pPr algn="ctr"/>
                      <a:r>
                        <a:rPr sz="1200" b="0" dirty="0"/>
                        <a:t>0.566</a:t>
                      </a:r>
                    </a:p>
                  </a:txBody>
                  <a:tcPr anchor="ctr"/>
                </a:tc>
                <a:extLst>
                  <a:ext uri="{0D108BD9-81ED-4DB2-BD59-A6C34878D82A}">
                    <a16:rowId xmlns:a16="http://schemas.microsoft.com/office/drawing/2014/main" val="435901359"/>
                  </a:ext>
                </a:extLst>
              </a:tr>
              <a:tr h="165310">
                <a:tc vMerge="1">
                  <a:txBody>
                    <a:bodyPr/>
                    <a:lstStyle/>
                    <a:p>
                      <a:pPr latinLnBrk="1"/>
                      <a:endParaRPr lang="ko-KR" altLang="en-US"/>
                    </a:p>
                  </a:txBody>
                  <a:tcPr/>
                </a:tc>
                <a:tc>
                  <a:txBody>
                    <a:bodyPr/>
                    <a:lstStyle/>
                    <a:p>
                      <a:pPr algn="ctr"/>
                      <a:r>
                        <a:rPr sz="1200" b="0" dirty="0"/>
                        <a:t>Mean ± SD</a:t>
                      </a:r>
                    </a:p>
                  </a:txBody>
                  <a:tcPr anchor="ctr"/>
                </a:tc>
                <a:tc>
                  <a:txBody>
                    <a:bodyPr/>
                    <a:lstStyle/>
                    <a:p>
                      <a:pPr algn="ctr"/>
                      <a:r>
                        <a:rPr sz="1200" b="0"/>
                        <a:t>386/1260</a:t>
                      </a:r>
                    </a:p>
                  </a:txBody>
                  <a:tcPr anchor="ctr"/>
                </a:tc>
                <a:tc>
                  <a:txBody>
                    <a:bodyPr/>
                    <a:lstStyle/>
                    <a:p>
                      <a:pPr algn="ctr"/>
                      <a:r>
                        <a:rPr sz="1200" b="0"/>
                        <a:t>0.811 ± 0.036</a:t>
                      </a:r>
                    </a:p>
                  </a:txBody>
                  <a:tcPr anchor="ctr"/>
                </a:tc>
                <a:tc>
                  <a:txBody>
                    <a:bodyPr/>
                    <a:lstStyle/>
                    <a:p>
                      <a:pPr algn="ctr"/>
                      <a:r>
                        <a:rPr sz="1200" b="0"/>
                        <a:t>0.681 ± 0.030</a:t>
                      </a:r>
                    </a:p>
                  </a:txBody>
                  <a:tcPr anchor="ctr"/>
                </a:tc>
                <a:tc>
                  <a:txBody>
                    <a:bodyPr/>
                    <a:lstStyle/>
                    <a:p>
                      <a:pPr algn="ctr"/>
                      <a:r>
                        <a:rPr sz="1200" b="0"/>
                        <a:t>0.878 ± 0.066</a:t>
                      </a:r>
                    </a:p>
                  </a:txBody>
                  <a:tcPr anchor="ctr"/>
                </a:tc>
                <a:tc>
                  <a:txBody>
                    <a:bodyPr/>
                    <a:lstStyle/>
                    <a:p>
                      <a:pPr algn="ctr"/>
                      <a:r>
                        <a:rPr sz="1200" b="0" dirty="0"/>
                        <a:t>0.594 ± 0.026</a:t>
                      </a:r>
                    </a:p>
                  </a:txBody>
                  <a:tcPr anchor="ctr"/>
                </a:tc>
                <a:extLst>
                  <a:ext uri="{0D108BD9-81ED-4DB2-BD59-A6C34878D82A}">
                    <a16:rowId xmlns:a16="http://schemas.microsoft.com/office/drawing/2014/main" val="3940054438"/>
                  </a:ext>
                </a:extLst>
              </a:tr>
              <a:tr h="165310">
                <a:tc vMerge="1">
                  <a:txBody>
                    <a:bodyPr/>
                    <a:lstStyle/>
                    <a:p>
                      <a:endParaRPr dirty="0"/>
                    </a:p>
                  </a:txBody>
                  <a:tcPr anchor="ctr"/>
                </a:tc>
                <a:tc>
                  <a:txBody>
                    <a:bodyPr/>
                    <a:lstStyle/>
                    <a:p>
                      <a:pPr algn="ctr"/>
                      <a:r>
                        <a:rPr sz="1200" b="0" dirty="0"/>
                        <a:t>External</a:t>
                      </a:r>
                    </a:p>
                  </a:txBody>
                  <a:tcPr anchor="ctr"/>
                </a:tc>
                <a:tc>
                  <a:txBody>
                    <a:bodyPr/>
                    <a:lstStyle/>
                    <a:p>
                      <a:pPr algn="ctr"/>
                      <a:r>
                        <a:rPr sz="1200" b="0" dirty="0"/>
                        <a:t>507/1123</a:t>
                      </a:r>
                    </a:p>
                  </a:txBody>
                  <a:tcPr anchor="ctr"/>
                </a:tc>
                <a:tc>
                  <a:txBody>
                    <a:bodyPr/>
                    <a:lstStyle/>
                    <a:p>
                      <a:pPr algn="ctr"/>
                      <a:r>
                        <a:rPr sz="1200" b="0" dirty="0"/>
                        <a:t>0.741</a:t>
                      </a:r>
                    </a:p>
                  </a:txBody>
                  <a:tcPr anchor="ctr"/>
                </a:tc>
                <a:tc>
                  <a:txBody>
                    <a:bodyPr/>
                    <a:lstStyle/>
                    <a:p>
                      <a:pPr algn="ctr"/>
                      <a:r>
                        <a:rPr sz="1200" b="0" dirty="0"/>
                        <a:t>0.630</a:t>
                      </a:r>
                    </a:p>
                  </a:txBody>
                  <a:tcPr anchor="ctr"/>
                </a:tc>
                <a:tc>
                  <a:txBody>
                    <a:bodyPr/>
                    <a:lstStyle/>
                    <a:p>
                      <a:pPr algn="ctr"/>
                      <a:r>
                        <a:rPr sz="1200" b="0" dirty="0"/>
                        <a:t>0.866</a:t>
                      </a:r>
                    </a:p>
                  </a:txBody>
                  <a:tcPr anchor="ctr"/>
                </a:tc>
                <a:tc>
                  <a:txBody>
                    <a:bodyPr/>
                    <a:lstStyle/>
                    <a:p>
                      <a:pPr algn="ctr"/>
                      <a:r>
                        <a:rPr sz="1200" b="0" dirty="0"/>
                        <a:t>0.437</a:t>
                      </a:r>
                    </a:p>
                  </a:txBody>
                  <a:tcPr anchor="ct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4102602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8C5CBC-589B-4723-0E43-E5ABCAA1D9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F9FDF4-E1BC-1269-387B-B768D21FF16F}"/>
              </a:ext>
            </a:extLst>
          </p:cNvPr>
          <p:cNvSpPr>
            <a:spLocks noGrp="1"/>
          </p:cNvSpPr>
          <p:nvPr>
            <p:ph type="title"/>
          </p:nvPr>
        </p:nvSpPr>
        <p:spPr/>
        <p:txBody>
          <a:bodyPr>
            <a:normAutofit/>
          </a:bodyPr>
          <a:lstStyle/>
          <a:p>
            <a:r>
              <a:rPr lang="en-US" altLang="ko-KR" dirty="0"/>
              <a:t>Table 2-2. Performance (</a:t>
            </a:r>
            <a:r>
              <a:rPr lang="ko-KR" altLang="en-US" dirty="0"/>
              <a:t>당뇨</a:t>
            </a:r>
            <a:r>
              <a:rPr lang="en-US" altLang="ko-KR" dirty="0"/>
              <a:t>)</a:t>
            </a:r>
            <a:endParaRPr dirty="0"/>
          </a:p>
        </p:txBody>
      </p:sp>
      <p:sp>
        <p:nvSpPr>
          <p:cNvPr id="3" name="내용 개체 틀 2">
            <a:extLst>
              <a:ext uri="{FF2B5EF4-FFF2-40B4-BE49-F238E27FC236}">
                <a16:creationId xmlns:a16="http://schemas.microsoft.com/office/drawing/2014/main" id="{6F28AA9A-238F-3352-BAAE-FACE7530D514}"/>
              </a:ext>
            </a:extLst>
          </p:cNvPr>
          <p:cNvSpPr>
            <a:spLocks noGrp="1"/>
          </p:cNvSpPr>
          <p:nvPr>
            <p:ph idx="1"/>
          </p:nvPr>
        </p:nvSpPr>
        <p:spPr/>
        <p:txBody>
          <a:bodyPr>
            <a:normAutofit/>
          </a:bodyPr>
          <a:lstStyle/>
          <a:p>
            <a:r>
              <a:rPr lang="ko-KR" altLang="en-US" sz="1600" b="1" dirty="0">
                <a:latin typeface="KoPub돋움체 Medium" panose="00000600000000000000" pitchFamily="2" charset="-127"/>
              </a:rPr>
              <a:t>당뇨병: </a:t>
            </a:r>
            <a:r>
              <a:rPr lang="ko-KR" altLang="en-US" sz="1600" b="1" dirty="0" err="1">
                <a:latin typeface="KoPub돋움체 Medium" panose="00000600000000000000" pitchFamily="2" charset="-127"/>
              </a:rPr>
              <a:t>Internal</a:t>
            </a:r>
            <a:r>
              <a:rPr lang="ko-KR" altLang="en-US" sz="1600" b="1" dirty="0">
                <a:latin typeface="KoPub돋움체 Medium" panose="00000600000000000000" pitchFamily="2" charset="-127"/>
              </a:rPr>
              <a:t> 비유의</a:t>
            </a:r>
            <a:r>
              <a:rPr lang="en-US" altLang="ko-KR" sz="1600" b="1" dirty="0">
                <a:latin typeface="KoPub돋움체 Medium" panose="00000600000000000000" pitchFamily="2" charset="-127"/>
              </a:rPr>
              <a:t>, </a:t>
            </a:r>
            <a:r>
              <a:rPr lang="ko-KR" altLang="en-US" sz="1600" b="1" dirty="0" err="1">
                <a:latin typeface="KoPub돋움체 Medium" panose="00000600000000000000" pitchFamily="2" charset="-127"/>
              </a:rPr>
              <a:t>External</a:t>
            </a:r>
            <a:r>
              <a:rPr lang="ko-KR" altLang="en-US" sz="1600" b="1" dirty="0">
                <a:latin typeface="KoPub돋움체 Medium" panose="00000600000000000000" pitchFamily="2" charset="-127"/>
              </a:rPr>
              <a:t> 유의</a:t>
            </a:r>
            <a:endParaRPr lang="ko-KR" altLang="en-US" sz="1800" dirty="0"/>
          </a:p>
          <a:p>
            <a:pPr lvl="1"/>
            <a:r>
              <a:rPr lang="ko-KR" altLang="en-US" sz="1600" dirty="0" err="1">
                <a:latin typeface="KoPub돋움체 Medium" panose="00000600000000000000" pitchFamily="2" charset="-127"/>
              </a:rPr>
              <a:t>Internal</a:t>
            </a:r>
            <a:r>
              <a:rPr lang="ko-KR" altLang="en-US" sz="1600" dirty="0">
                <a:latin typeface="KoPub돋움체 Medium" panose="00000600000000000000" pitchFamily="2" charset="-127"/>
              </a:rPr>
              <a:t> 0.714 → 0.735 (p=0.078), External 0.665 → 0.706 (p&lt;0.001)</a:t>
            </a:r>
            <a:endParaRPr lang="ko-KR" altLang="en-US" dirty="0"/>
          </a:p>
          <a:p>
            <a:pPr lvl="1"/>
            <a:r>
              <a:rPr lang="ko-KR" altLang="en-US" sz="1600" dirty="0">
                <a:latin typeface="KoPub돋움체 Medium" panose="00000600000000000000" pitchFamily="2" charset="-127"/>
              </a:rPr>
              <a:t>Feature 추가 시 AUC 상승 (Baseline → +AEC → +AEC+체성분): Internal 0.712 → 0.732 → 0.736, External 0.665 → 0.674 → 0.706</a:t>
            </a:r>
            <a:endParaRPr lang="ko-KR" altLang="en-US" dirty="0"/>
          </a:p>
        </p:txBody>
      </p:sp>
      <p:sp>
        <p:nvSpPr>
          <p:cNvPr id="4" name="슬라이드 번호 개체 틀 3">
            <a:extLst>
              <a:ext uri="{FF2B5EF4-FFF2-40B4-BE49-F238E27FC236}">
                <a16:creationId xmlns:a16="http://schemas.microsoft.com/office/drawing/2014/main" id="{1B722C88-730F-04F9-8836-A744F4D6C2B0}"/>
              </a:ext>
            </a:extLst>
          </p:cNvPr>
          <p:cNvSpPr>
            <a:spLocks noGrp="1"/>
          </p:cNvSpPr>
          <p:nvPr>
            <p:ph type="sldNum" sz="quarter" idx="12"/>
          </p:nvPr>
        </p:nvSpPr>
        <p:spPr/>
        <p:txBody>
          <a:bodyPr/>
          <a:lstStyle/>
          <a:p>
            <a:fld id="{9F4AF89A-28FA-47FA-B28F-9A9C6913CB7A}" type="slidenum">
              <a:rPr lang="ko-KR" altLang="en-US" smtClean="0"/>
              <a:pPr/>
              <a:t>6</a:t>
            </a:fld>
            <a:endParaRPr lang="ko-KR" altLang="en-US" dirty="0"/>
          </a:p>
        </p:txBody>
      </p:sp>
      <p:graphicFrame>
        <p:nvGraphicFramePr>
          <p:cNvPr id="5" name="Table 2">
            <a:extLst>
              <a:ext uri="{FF2B5EF4-FFF2-40B4-BE49-F238E27FC236}">
                <a16:creationId xmlns:a16="http://schemas.microsoft.com/office/drawing/2014/main" id="{8F8EEB78-5521-9A13-8034-C5BA53C47896}"/>
              </a:ext>
            </a:extLst>
          </p:cNvPr>
          <p:cNvGraphicFramePr>
            <a:graphicFrameLocks noGrp="1"/>
          </p:cNvGraphicFramePr>
          <p:nvPr>
            <p:extLst>
              <p:ext uri="{D42A27DB-BD31-4B8C-83A1-F6EECF244321}">
                <p14:modId xmlns:p14="http://schemas.microsoft.com/office/powerpoint/2010/main" val="1550862288"/>
              </p:ext>
            </p:extLst>
          </p:nvPr>
        </p:nvGraphicFramePr>
        <p:xfrm>
          <a:off x="1207389" y="2061868"/>
          <a:ext cx="9777222" cy="4114800"/>
        </p:xfrm>
        <a:graphic>
          <a:graphicData uri="http://schemas.openxmlformats.org/drawingml/2006/table">
            <a:tbl>
              <a:tblPr firstRow="1" bandRow="1">
                <a:tableStyleId>{C083E6E3-FA7D-4D7B-A595-EF9225AFEA82}</a:tableStyleId>
              </a:tblPr>
              <a:tblGrid>
                <a:gridCol w="1396746">
                  <a:extLst>
                    <a:ext uri="{9D8B030D-6E8A-4147-A177-3AD203B41FA5}">
                      <a16:colId xmlns:a16="http://schemas.microsoft.com/office/drawing/2014/main" val="20001"/>
                    </a:ext>
                  </a:extLst>
                </a:gridCol>
                <a:gridCol w="1396746">
                  <a:extLst>
                    <a:ext uri="{9D8B030D-6E8A-4147-A177-3AD203B41FA5}">
                      <a16:colId xmlns:a16="http://schemas.microsoft.com/office/drawing/2014/main" val="20002"/>
                    </a:ext>
                  </a:extLst>
                </a:gridCol>
                <a:gridCol w="1396746">
                  <a:extLst>
                    <a:ext uri="{9D8B030D-6E8A-4147-A177-3AD203B41FA5}">
                      <a16:colId xmlns:a16="http://schemas.microsoft.com/office/drawing/2014/main" val="20003"/>
                    </a:ext>
                  </a:extLst>
                </a:gridCol>
                <a:gridCol w="1396746">
                  <a:extLst>
                    <a:ext uri="{9D8B030D-6E8A-4147-A177-3AD203B41FA5}">
                      <a16:colId xmlns:a16="http://schemas.microsoft.com/office/drawing/2014/main" val="20004"/>
                    </a:ext>
                  </a:extLst>
                </a:gridCol>
                <a:gridCol w="1396746">
                  <a:extLst>
                    <a:ext uri="{9D8B030D-6E8A-4147-A177-3AD203B41FA5}">
                      <a16:colId xmlns:a16="http://schemas.microsoft.com/office/drawing/2014/main" val="20005"/>
                    </a:ext>
                  </a:extLst>
                </a:gridCol>
                <a:gridCol w="1396746">
                  <a:extLst>
                    <a:ext uri="{9D8B030D-6E8A-4147-A177-3AD203B41FA5}">
                      <a16:colId xmlns:a16="http://schemas.microsoft.com/office/drawing/2014/main" val="20006"/>
                    </a:ext>
                  </a:extLst>
                </a:gridCol>
                <a:gridCol w="1396746">
                  <a:extLst>
                    <a:ext uri="{9D8B030D-6E8A-4147-A177-3AD203B41FA5}">
                      <a16:colId xmlns:a16="http://schemas.microsoft.com/office/drawing/2014/main" val="20007"/>
                    </a:ext>
                  </a:extLst>
                </a:gridCol>
              </a:tblGrid>
              <a:tr h="165310">
                <a:tc>
                  <a:txBody>
                    <a:bodyPr/>
                    <a:lstStyle/>
                    <a:p>
                      <a:pPr algn="ctr"/>
                      <a:r>
                        <a:rPr sz="1200" b="1" dirty="0"/>
                        <a:t>Model</a:t>
                      </a:r>
                    </a:p>
                  </a:txBody>
                  <a:tcPr anchor="ctr"/>
                </a:tc>
                <a:tc>
                  <a:txBody>
                    <a:bodyPr/>
                    <a:lstStyle/>
                    <a:p>
                      <a:pPr algn="ctr"/>
                      <a:r>
                        <a:rPr sz="1200" b="1" dirty="0"/>
                        <a:t>Fold</a:t>
                      </a:r>
                    </a:p>
                  </a:txBody>
                  <a:tcPr anchor="ctr"/>
                </a:tc>
                <a:tc>
                  <a:txBody>
                    <a:bodyPr/>
                    <a:lstStyle/>
                    <a:p>
                      <a:pPr algn="ctr"/>
                      <a:r>
                        <a:rPr sz="1200" b="1"/>
                        <a:t>n (pos)</a:t>
                      </a:r>
                    </a:p>
                  </a:txBody>
                  <a:tcPr anchor="ctr"/>
                </a:tc>
                <a:tc>
                  <a:txBody>
                    <a:bodyPr/>
                    <a:lstStyle/>
                    <a:p>
                      <a:pPr algn="ctr"/>
                      <a:r>
                        <a:rPr sz="1200" b="1" dirty="0"/>
                        <a:t>AUC</a:t>
                      </a:r>
                    </a:p>
                  </a:txBody>
                  <a:tcPr anchor="ctr"/>
                </a:tc>
                <a:tc>
                  <a:txBody>
                    <a:bodyPr/>
                    <a:lstStyle/>
                    <a:p>
                      <a:pPr algn="ctr"/>
                      <a:r>
                        <a:rPr sz="1200" b="1"/>
                        <a:t>ACC</a:t>
                      </a:r>
                    </a:p>
                  </a:txBody>
                  <a:tcPr anchor="ctr"/>
                </a:tc>
                <a:tc>
                  <a:txBody>
                    <a:bodyPr/>
                    <a:lstStyle/>
                    <a:p>
                      <a:pPr algn="ctr"/>
                      <a:r>
                        <a:rPr sz="1200" b="1"/>
                        <a:t>Sensitivity</a:t>
                      </a:r>
                    </a:p>
                  </a:txBody>
                  <a:tcPr anchor="ctr"/>
                </a:tc>
                <a:tc>
                  <a:txBody>
                    <a:bodyPr/>
                    <a:lstStyle/>
                    <a:p>
                      <a:pPr algn="ctr"/>
                      <a:r>
                        <a:rPr sz="1200" b="1"/>
                        <a:t>Specificity</a:t>
                      </a:r>
                    </a:p>
                  </a:txBody>
                  <a:tcPr anchor="ctr"/>
                </a:tc>
                <a:extLst>
                  <a:ext uri="{0D108BD9-81ED-4DB2-BD59-A6C34878D82A}">
                    <a16:rowId xmlns:a16="http://schemas.microsoft.com/office/drawing/2014/main" val="10000"/>
                  </a:ext>
                </a:extLst>
              </a:tr>
              <a:tr h="165310">
                <a:tc rowSpan="7">
                  <a:txBody>
                    <a:bodyPr/>
                    <a:lstStyle/>
                    <a:p>
                      <a:pPr algn="ctr"/>
                      <a:r>
                        <a:rPr sz="1200" b="0" dirty="0"/>
                        <a:t>Baseline</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a:t>Fold 1</a:t>
                      </a:r>
                    </a:p>
                  </a:txBody>
                  <a:tcPr anchor="ctr"/>
                </a:tc>
                <a:tc>
                  <a:txBody>
                    <a:bodyPr/>
                    <a:lstStyle/>
                    <a:p>
                      <a:pPr algn="ctr"/>
                      <a:r>
                        <a:rPr sz="1200" b="0"/>
                        <a:t>47/252</a:t>
                      </a:r>
                    </a:p>
                  </a:txBody>
                  <a:tcPr anchor="ctr"/>
                </a:tc>
                <a:tc>
                  <a:txBody>
                    <a:bodyPr/>
                    <a:lstStyle/>
                    <a:p>
                      <a:pPr algn="ctr"/>
                      <a:r>
                        <a:rPr sz="1200" b="0"/>
                        <a:t>0.729</a:t>
                      </a:r>
                    </a:p>
                  </a:txBody>
                  <a:tcPr anchor="ctr"/>
                </a:tc>
                <a:tc>
                  <a:txBody>
                    <a:bodyPr/>
                    <a:lstStyle/>
                    <a:p>
                      <a:pPr algn="ctr"/>
                      <a:r>
                        <a:rPr sz="1200" b="0"/>
                        <a:t>0.595</a:t>
                      </a:r>
                    </a:p>
                  </a:txBody>
                  <a:tcPr anchor="ctr"/>
                </a:tc>
                <a:tc>
                  <a:txBody>
                    <a:bodyPr/>
                    <a:lstStyle/>
                    <a:p>
                      <a:pPr algn="ctr"/>
                      <a:r>
                        <a:rPr sz="1200" b="0"/>
                        <a:t>0.872</a:t>
                      </a:r>
                    </a:p>
                  </a:txBody>
                  <a:tcPr anchor="ctr"/>
                </a:tc>
                <a:tc>
                  <a:txBody>
                    <a:bodyPr/>
                    <a:lstStyle/>
                    <a:p>
                      <a:pPr algn="ctr"/>
                      <a:r>
                        <a:rPr sz="1200" b="0" dirty="0"/>
                        <a:t>0.532</a:t>
                      </a:r>
                    </a:p>
                  </a:txBody>
                  <a:tcPr anchor="ctr"/>
                </a:tc>
                <a:extLst>
                  <a:ext uri="{0D108BD9-81ED-4DB2-BD59-A6C34878D82A}">
                    <a16:rowId xmlns:a16="http://schemas.microsoft.com/office/drawing/2014/main" val="10001"/>
                  </a:ext>
                </a:extLst>
              </a:tr>
              <a:tr h="165310">
                <a:tc vMerge="1">
                  <a:txBody>
                    <a:bodyPr/>
                    <a:lstStyle/>
                    <a:p>
                      <a:endParaRPr dirty="0"/>
                    </a:p>
                  </a:txBody>
                  <a:tcPr anchor="ctr"/>
                </a:tc>
                <a:tc>
                  <a:txBody>
                    <a:bodyPr/>
                    <a:lstStyle/>
                    <a:p>
                      <a:pPr algn="ctr"/>
                      <a:r>
                        <a:rPr sz="1200" b="0"/>
                        <a:t>Fold 2</a:t>
                      </a:r>
                    </a:p>
                  </a:txBody>
                  <a:tcPr anchor="ctr"/>
                </a:tc>
                <a:tc>
                  <a:txBody>
                    <a:bodyPr/>
                    <a:lstStyle/>
                    <a:p>
                      <a:pPr algn="ctr"/>
                      <a:r>
                        <a:rPr sz="1200" b="0"/>
                        <a:t>47/252</a:t>
                      </a:r>
                    </a:p>
                  </a:txBody>
                  <a:tcPr anchor="ctr"/>
                </a:tc>
                <a:tc>
                  <a:txBody>
                    <a:bodyPr/>
                    <a:lstStyle/>
                    <a:p>
                      <a:pPr algn="ctr"/>
                      <a:r>
                        <a:rPr sz="1200" b="0"/>
                        <a:t>0.760</a:t>
                      </a:r>
                    </a:p>
                  </a:txBody>
                  <a:tcPr anchor="ctr"/>
                </a:tc>
                <a:tc>
                  <a:txBody>
                    <a:bodyPr/>
                    <a:lstStyle/>
                    <a:p>
                      <a:pPr algn="ctr"/>
                      <a:r>
                        <a:rPr sz="1200" b="0"/>
                        <a:t>0.639</a:t>
                      </a:r>
                    </a:p>
                  </a:txBody>
                  <a:tcPr anchor="ctr"/>
                </a:tc>
                <a:tc>
                  <a:txBody>
                    <a:bodyPr/>
                    <a:lstStyle/>
                    <a:p>
                      <a:pPr algn="ctr"/>
                      <a:r>
                        <a:rPr sz="1200" b="0"/>
                        <a:t>0.787</a:t>
                      </a:r>
                    </a:p>
                  </a:txBody>
                  <a:tcPr anchor="ctr"/>
                </a:tc>
                <a:tc>
                  <a:txBody>
                    <a:bodyPr/>
                    <a:lstStyle/>
                    <a:p>
                      <a:pPr algn="ctr"/>
                      <a:r>
                        <a:rPr sz="1200" b="0"/>
                        <a:t>0.605</a:t>
                      </a:r>
                    </a:p>
                  </a:txBody>
                  <a:tcPr anchor="ctr"/>
                </a:tc>
                <a:extLst>
                  <a:ext uri="{0D108BD9-81ED-4DB2-BD59-A6C34878D82A}">
                    <a16:rowId xmlns:a16="http://schemas.microsoft.com/office/drawing/2014/main" val="10002"/>
                  </a:ext>
                </a:extLst>
              </a:tr>
              <a:tr h="165310">
                <a:tc vMerge="1">
                  <a:txBody>
                    <a:bodyPr/>
                    <a:lstStyle/>
                    <a:p>
                      <a:endParaRPr dirty="0"/>
                    </a:p>
                  </a:txBody>
                  <a:tcPr anchor="ctr"/>
                </a:tc>
                <a:tc>
                  <a:txBody>
                    <a:bodyPr/>
                    <a:lstStyle/>
                    <a:p>
                      <a:pPr algn="ctr"/>
                      <a:r>
                        <a:rPr sz="1200" b="0"/>
                        <a:t>Fold 3</a:t>
                      </a:r>
                    </a:p>
                  </a:txBody>
                  <a:tcPr anchor="ctr"/>
                </a:tc>
                <a:tc>
                  <a:txBody>
                    <a:bodyPr/>
                    <a:lstStyle/>
                    <a:p>
                      <a:pPr algn="ctr"/>
                      <a:r>
                        <a:rPr sz="1200" b="0"/>
                        <a:t>47/252</a:t>
                      </a:r>
                    </a:p>
                  </a:txBody>
                  <a:tcPr anchor="ctr"/>
                </a:tc>
                <a:tc>
                  <a:txBody>
                    <a:bodyPr/>
                    <a:lstStyle/>
                    <a:p>
                      <a:pPr algn="ctr"/>
                      <a:r>
                        <a:rPr sz="1200" b="0"/>
                        <a:t>0.729</a:t>
                      </a:r>
                    </a:p>
                  </a:txBody>
                  <a:tcPr anchor="ctr"/>
                </a:tc>
                <a:tc>
                  <a:txBody>
                    <a:bodyPr/>
                    <a:lstStyle/>
                    <a:p>
                      <a:pPr algn="ctr"/>
                      <a:r>
                        <a:rPr sz="1200" b="0"/>
                        <a:t>0.599</a:t>
                      </a:r>
                    </a:p>
                  </a:txBody>
                  <a:tcPr anchor="ctr"/>
                </a:tc>
                <a:tc>
                  <a:txBody>
                    <a:bodyPr/>
                    <a:lstStyle/>
                    <a:p>
                      <a:pPr algn="ctr"/>
                      <a:r>
                        <a:rPr sz="1200" b="0"/>
                        <a:t>0.745</a:t>
                      </a:r>
                    </a:p>
                  </a:txBody>
                  <a:tcPr anchor="ctr"/>
                </a:tc>
                <a:tc>
                  <a:txBody>
                    <a:bodyPr/>
                    <a:lstStyle/>
                    <a:p>
                      <a:pPr algn="ctr"/>
                      <a:r>
                        <a:rPr sz="1200" b="0"/>
                        <a:t>0.566</a:t>
                      </a:r>
                    </a:p>
                  </a:txBody>
                  <a:tcPr anchor="ctr"/>
                </a:tc>
                <a:extLst>
                  <a:ext uri="{0D108BD9-81ED-4DB2-BD59-A6C34878D82A}">
                    <a16:rowId xmlns:a16="http://schemas.microsoft.com/office/drawing/2014/main" val="10003"/>
                  </a:ext>
                </a:extLst>
              </a:tr>
              <a:tr h="165310">
                <a:tc vMerge="1">
                  <a:txBody>
                    <a:bodyPr/>
                    <a:lstStyle/>
                    <a:p>
                      <a:endParaRPr dirty="0"/>
                    </a:p>
                  </a:txBody>
                  <a:tcPr anchor="ctr"/>
                </a:tc>
                <a:tc>
                  <a:txBody>
                    <a:bodyPr/>
                    <a:lstStyle/>
                    <a:p>
                      <a:pPr algn="ctr"/>
                      <a:r>
                        <a:rPr sz="1200" b="0"/>
                        <a:t>Fold 4</a:t>
                      </a:r>
                    </a:p>
                  </a:txBody>
                  <a:tcPr anchor="ctr"/>
                </a:tc>
                <a:tc>
                  <a:txBody>
                    <a:bodyPr/>
                    <a:lstStyle/>
                    <a:p>
                      <a:pPr algn="ctr"/>
                      <a:r>
                        <a:rPr sz="1200" b="0" dirty="0"/>
                        <a:t>46/252</a:t>
                      </a:r>
                    </a:p>
                  </a:txBody>
                  <a:tcPr anchor="ctr"/>
                </a:tc>
                <a:tc>
                  <a:txBody>
                    <a:bodyPr/>
                    <a:lstStyle/>
                    <a:p>
                      <a:pPr algn="ctr"/>
                      <a:r>
                        <a:rPr sz="1200" b="0"/>
                        <a:t>0.617</a:t>
                      </a:r>
                    </a:p>
                  </a:txBody>
                  <a:tcPr anchor="ctr"/>
                </a:tc>
                <a:tc>
                  <a:txBody>
                    <a:bodyPr/>
                    <a:lstStyle/>
                    <a:p>
                      <a:pPr algn="ctr"/>
                      <a:r>
                        <a:rPr sz="1200" b="0"/>
                        <a:t>0.575</a:t>
                      </a:r>
                    </a:p>
                  </a:txBody>
                  <a:tcPr anchor="ctr"/>
                </a:tc>
                <a:tc>
                  <a:txBody>
                    <a:bodyPr/>
                    <a:lstStyle/>
                    <a:p>
                      <a:pPr algn="ctr"/>
                      <a:r>
                        <a:rPr sz="1200" b="0"/>
                        <a:t>0.696</a:t>
                      </a:r>
                    </a:p>
                  </a:txBody>
                  <a:tcPr anchor="ctr"/>
                </a:tc>
                <a:tc>
                  <a:txBody>
                    <a:bodyPr/>
                    <a:lstStyle/>
                    <a:p>
                      <a:pPr algn="ctr"/>
                      <a:r>
                        <a:rPr sz="1200" b="0"/>
                        <a:t>0.549</a:t>
                      </a:r>
                    </a:p>
                  </a:txBody>
                  <a:tcPr anchor="ctr"/>
                </a:tc>
                <a:extLst>
                  <a:ext uri="{0D108BD9-81ED-4DB2-BD59-A6C34878D82A}">
                    <a16:rowId xmlns:a16="http://schemas.microsoft.com/office/drawing/2014/main" val="10004"/>
                  </a:ext>
                </a:extLst>
              </a:tr>
              <a:tr h="165310">
                <a:tc vMerge="1">
                  <a:txBody>
                    <a:bodyPr/>
                    <a:lstStyle/>
                    <a:p>
                      <a:pPr latinLnBrk="1"/>
                      <a:endParaRPr lang="ko-KR" altLang="en-US"/>
                    </a:p>
                  </a:txBody>
                  <a:tcPr/>
                </a:tc>
                <a:tc>
                  <a:txBody>
                    <a:bodyPr/>
                    <a:lstStyle/>
                    <a:p>
                      <a:pPr algn="ctr"/>
                      <a:r>
                        <a:rPr sz="1200" b="0" dirty="0"/>
                        <a:t>Fold 5</a:t>
                      </a:r>
                    </a:p>
                  </a:txBody>
                  <a:tcPr anchor="ctr"/>
                </a:tc>
                <a:tc>
                  <a:txBody>
                    <a:bodyPr/>
                    <a:lstStyle/>
                    <a:p>
                      <a:pPr algn="ctr"/>
                      <a:r>
                        <a:rPr sz="1200" b="0" dirty="0"/>
                        <a:t>46/252</a:t>
                      </a:r>
                    </a:p>
                  </a:txBody>
                  <a:tcPr anchor="ctr"/>
                </a:tc>
                <a:tc>
                  <a:txBody>
                    <a:bodyPr/>
                    <a:lstStyle/>
                    <a:p>
                      <a:pPr algn="ctr"/>
                      <a:r>
                        <a:rPr sz="1200" b="0" dirty="0"/>
                        <a:t>0.726</a:t>
                      </a:r>
                    </a:p>
                  </a:txBody>
                  <a:tcPr anchor="ctr"/>
                </a:tc>
                <a:tc>
                  <a:txBody>
                    <a:bodyPr/>
                    <a:lstStyle/>
                    <a:p>
                      <a:pPr algn="ctr"/>
                      <a:r>
                        <a:rPr sz="1200" b="0" dirty="0"/>
                        <a:t>0.583</a:t>
                      </a:r>
                    </a:p>
                  </a:txBody>
                  <a:tcPr anchor="ctr"/>
                </a:tc>
                <a:tc>
                  <a:txBody>
                    <a:bodyPr/>
                    <a:lstStyle/>
                    <a:p>
                      <a:pPr algn="ctr"/>
                      <a:r>
                        <a:rPr sz="1200" b="0" dirty="0"/>
                        <a:t>0.848</a:t>
                      </a:r>
                    </a:p>
                  </a:txBody>
                  <a:tcPr anchor="ctr"/>
                </a:tc>
                <a:tc>
                  <a:txBody>
                    <a:bodyPr/>
                    <a:lstStyle/>
                    <a:p>
                      <a:pPr algn="ctr"/>
                      <a:r>
                        <a:rPr sz="1200" b="0" dirty="0"/>
                        <a:t>0.524</a:t>
                      </a:r>
                    </a:p>
                  </a:txBody>
                  <a:tcPr anchor="ctr"/>
                </a:tc>
                <a:extLst>
                  <a:ext uri="{0D108BD9-81ED-4DB2-BD59-A6C34878D82A}">
                    <a16:rowId xmlns:a16="http://schemas.microsoft.com/office/drawing/2014/main" val="536160383"/>
                  </a:ext>
                </a:extLst>
              </a:tr>
              <a:tr h="165310">
                <a:tc vMerge="1">
                  <a:txBody>
                    <a:bodyPr/>
                    <a:lstStyle/>
                    <a:p>
                      <a:pPr latinLnBrk="1"/>
                      <a:endParaRPr lang="ko-KR" altLang="en-US"/>
                    </a:p>
                  </a:txBody>
                  <a:tcPr/>
                </a:tc>
                <a:tc>
                  <a:txBody>
                    <a:bodyPr/>
                    <a:lstStyle/>
                    <a:p>
                      <a:pPr algn="ctr"/>
                      <a:r>
                        <a:rPr sz="1200" b="0" dirty="0"/>
                        <a:t>Mean ± SD</a:t>
                      </a:r>
                    </a:p>
                  </a:txBody>
                  <a:tcPr anchor="ctr"/>
                </a:tc>
                <a:tc>
                  <a:txBody>
                    <a:bodyPr/>
                    <a:lstStyle/>
                    <a:p>
                      <a:pPr algn="ctr"/>
                      <a:r>
                        <a:rPr sz="1200" b="0" dirty="0"/>
                        <a:t>233/1260</a:t>
                      </a:r>
                    </a:p>
                  </a:txBody>
                  <a:tcPr anchor="ctr"/>
                </a:tc>
                <a:tc>
                  <a:txBody>
                    <a:bodyPr/>
                    <a:lstStyle/>
                    <a:p>
                      <a:pPr algn="ctr"/>
                      <a:r>
                        <a:rPr sz="1200" b="0" dirty="0"/>
                        <a:t>0.712 ± 0.055</a:t>
                      </a:r>
                    </a:p>
                  </a:txBody>
                  <a:tcPr anchor="ctr"/>
                </a:tc>
                <a:tc>
                  <a:txBody>
                    <a:bodyPr/>
                    <a:lstStyle/>
                    <a:p>
                      <a:pPr algn="ctr"/>
                      <a:r>
                        <a:rPr sz="1200" b="0" dirty="0"/>
                        <a:t>0.598 ± 0.025</a:t>
                      </a:r>
                    </a:p>
                  </a:txBody>
                  <a:tcPr anchor="ctr"/>
                </a:tc>
                <a:tc>
                  <a:txBody>
                    <a:bodyPr/>
                    <a:lstStyle/>
                    <a:p>
                      <a:pPr algn="ctr"/>
                      <a:r>
                        <a:rPr sz="1200" b="0"/>
                        <a:t>0.790 ± 0.073</a:t>
                      </a:r>
                    </a:p>
                  </a:txBody>
                  <a:tcPr anchor="ctr"/>
                </a:tc>
                <a:tc>
                  <a:txBody>
                    <a:bodyPr/>
                    <a:lstStyle/>
                    <a:p>
                      <a:pPr algn="ctr"/>
                      <a:r>
                        <a:rPr sz="1200" b="0"/>
                        <a:t>0.555 ± 0.032</a:t>
                      </a:r>
                    </a:p>
                  </a:txBody>
                  <a:tcPr anchor="ctr"/>
                </a:tc>
                <a:extLst>
                  <a:ext uri="{0D108BD9-81ED-4DB2-BD59-A6C34878D82A}">
                    <a16:rowId xmlns:a16="http://schemas.microsoft.com/office/drawing/2014/main" val="3145784829"/>
                  </a:ext>
                </a:extLst>
              </a:tr>
              <a:tr h="165310">
                <a:tc vMerge="1">
                  <a:txBody>
                    <a:bodyPr/>
                    <a:lstStyle/>
                    <a:p>
                      <a:endParaRPr dirty="0"/>
                    </a:p>
                  </a:txBody>
                  <a:tcPr anchor="ctr"/>
                </a:tc>
                <a:tc>
                  <a:txBody>
                    <a:bodyPr/>
                    <a:lstStyle/>
                    <a:p>
                      <a:pPr algn="ctr"/>
                      <a:r>
                        <a:rPr sz="1200" b="0"/>
                        <a:t>External</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a:t>335/1123</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a:t>0.665</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a:t>0.555</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dirty="0"/>
                        <a:t>0.761</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dirty="0"/>
                        <a:t>0.467</a:t>
                      </a:r>
                    </a:p>
                  </a:txBody>
                  <a:tcPr anchor="ctr">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5"/>
                  </a:ext>
                </a:extLst>
              </a:tr>
              <a:tr h="165310">
                <a:tc rowSpan="7">
                  <a:txBody>
                    <a:bodyPr/>
                    <a:lstStyle/>
                    <a:p>
                      <a:pPr algn="ctr"/>
                      <a:r>
                        <a:rPr sz="1200" b="0" dirty="0"/>
                        <a:t>+</a:t>
                      </a:r>
                      <a:r>
                        <a:rPr sz="1200" b="0" dirty="0" err="1"/>
                        <a:t>AEC+체성분</a:t>
                      </a:r>
                      <a:endParaRPr sz="1200" b="0" dirty="0"/>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Fold 1</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47/252</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0.694</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0.579</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0.702</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0.551</a:t>
                      </a:r>
                    </a:p>
                  </a:txBody>
                  <a:tcPr anchor="ctr">
                    <a:lnT w="12700" cap="flat" cmpd="sng" algn="ctr">
                      <a:solidFill>
                        <a:schemeClr val="bg1">
                          <a:lumMod val="65000"/>
                        </a:schemeClr>
                      </a:solidFill>
                      <a:prstDash val="solid"/>
                      <a:round/>
                      <a:headEnd type="none" w="med" len="med"/>
                      <a:tailEnd type="none" w="med" len="med"/>
                    </a:lnT>
                  </a:tcPr>
                </a:tc>
                <a:extLst>
                  <a:ext uri="{0D108BD9-81ED-4DB2-BD59-A6C34878D82A}">
                    <a16:rowId xmlns:a16="http://schemas.microsoft.com/office/drawing/2014/main" val="10006"/>
                  </a:ext>
                </a:extLst>
              </a:tr>
              <a:tr h="165310">
                <a:tc vMerge="1">
                  <a:txBody>
                    <a:bodyPr/>
                    <a:lstStyle/>
                    <a:p>
                      <a:endParaRPr dirty="0"/>
                    </a:p>
                  </a:txBody>
                  <a:tcPr anchor="ctr"/>
                </a:tc>
                <a:tc>
                  <a:txBody>
                    <a:bodyPr/>
                    <a:lstStyle/>
                    <a:p>
                      <a:pPr algn="ctr"/>
                      <a:r>
                        <a:rPr sz="1200" b="0"/>
                        <a:t>Fold 2</a:t>
                      </a:r>
                    </a:p>
                  </a:txBody>
                  <a:tcPr anchor="ctr"/>
                </a:tc>
                <a:tc>
                  <a:txBody>
                    <a:bodyPr/>
                    <a:lstStyle/>
                    <a:p>
                      <a:pPr algn="ctr"/>
                      <a:r>
                        <a:rPr sz="1200" b="0"/>
                        <a:t>47/252</a:t>
                      </a:r>
                    </a:p>
                  </a:txBody>
                  <a:tcPr anchor="ctr"/>
                </a:tc>
                <a:tc>
                  <a:txBody>
                    <a:bodyPr/>
                    <a:lstStyle/>
                    <a:p>
                      <a:pPr algn="ctr"/>
                      <a:r>
                        <a:rPr sz="1200" b="0"/>
                        <a:t>0.781</a:t>
                      </a:r>
                    </a:p>
                  </a:txBody>
                  <a:tcPr anchor="ctr"/>
                </a:tc>
                <a:tc>
                  <a:txBody>
                    <a:bodyPr/>
                    <a:lstStyle/>
                    <a:p>
                      <a:pPr algn="ctr"/>
                      <a:r>
                        <a:rPr sz="1200" b="0"/>
                        <a:t>0.631</a:t>
                      </a:r>
                    </a:p>
                  </a:txBody>
                  <a:tcPr anchor="ctr"/>
                </a:tc>
                <a:tc>
                  <a:txBody>
                    <a:bodyPr/>
                    <a:lstStyle/>
                    <a:p>
                      <a:pPr algn="ctr"/>
                      <a:r>
                        <a:rPr sz="1200" b="0"/>
                        <a:t>0.851</a:t>
                      </a:r>
                    </a:p>
                  </a:txBody>
                  <a:tcPr anchor="ctr"/>
                </a:tc>
                <a:tc>
                  <a:txBody>
                    <a:bodyPr/>
                    <a:lstStyle/>
                    <a:p>
                      <a:pPr algn="ctr"/>
                      <a:r>
                        <a:rPr sz="1200" b="0"/>
                        <a:t>0.580</a:t>
                      </a:r>
                    </a:p>
                  </a:txBody>
                  <a:tcPr anchor="ctr"/>
                </a:tc>
                <a:extLst>
                  <a:ext uri="{0D108BD9-81ED-4DB2-BD59-A6C34878D82A}">
                    <a16:rowId xmlns:a16="http://schemas.microsoft.com/office/drawing/2014/main" val="10007"/>
                  </a:ext>
                </a:extLst>
              </a:tr>
              <a:tr h="165310">
                <a:tc vMerge="1">
                  <a:txBody>
                    <a:bodyPr/>
                    <a:lstStyle/>
                    <a:p>
                      <a:endParaRPr dirty="0"/>
                    </a:p>
                  </a:txBody>
                  <a:tcPr anchor="ctr"/>
                </a:tc>
                <a:tc>
                  <a:txBody>
                    <a:bodyPr/>
                    <a:lstStyle/>
                    <a:p>
                      <a:pPr algn="ctr"/>
                      <a:r>
                        <a:rPr sz="1200" b="0"/>
                        <a:t>Fold 3</a:t>
                      </a:r>
                    </a:p>
                  </a:txBody>
                  <a:tcPr anchor="ctr"/>
                </a:tc>
                <a:tc>
                  <a:txBody>
                    <a:bodyPr/>
                    <a:lstStyle/>
                    <a:p>
                      <a:pPr algn="ctr"/>
                      <a:r>
                        <a:rPr sz="1200" b="0"/>
                        <a:t>47/252</a:t>
                      </a:r>
                    </a:p>
                  </a:txBody>
                  <a:tcPr anchor="ctr"/>
                </a:tc>
                <a:tc>
                  <a:txBody>
                    <a:bodyPr/>
                    <a:lstStyle/>
                    <a:p>
                      <a:pPr algn="ctr"/>
                      <a:r>
                        <a:rPr sz="1200" b="0"/>
                        <a:t>0.760</a:t>
                      </a:r>
                    </a:p>
                  </a:txBody>
                  <a:tcPr anchor="ctr"/>
                </a:tc>
                <a:tc>
                  <a:txBody>
                    <a:bodyPr/>
                    <a:lstStyle/>
                    <a:p>
                      <a:pPr algn="ctr"/>
                      <a:r>
                        <a:rPr sz="1200" b="0"/>
                        <a:t>0.663</a:t>
                      </a:r>
                    </a:p>
                  </a:txBody>
                  <a:tcPr anchor="ctr"/>
                </a:tc>
                <a:tc>
                  <a:txBody>
                    <a:bodyPr/>
                    <a:lstStyle/>
                    <a:p>
                      <a:pPr algn="ctr"/>
                      <a:r>
                        <a:rPr sz="1200" b="0"/>
                        <a:t>0.872</a:t>
                      </a:r>
                    </a:p>
                  </a:txBody>
                  <a:tcPr anchor="ctr"/>
                </a:tc>
                <a:tc>
                  <a:txBody>
                    <a:bodyPr/>
                    <a:lstStyle/>
                    <a:p>
                      <a:pPr algn="ctr"/>
                      <a:r>
                        <a:rPr sz="1200" b="0"/>
                        <a:t>0.615</a:t>
                      </a:r>
                    </a:p>
                  </a:txBody>
                  <a:tcPr anchor="ctr"/>
                </a:tc>
                <a:extLst>
                  <a:ext uri="{0D108BD9-81ED-4DB2-BD59-A6C34878D82A}">
                    <a16:rowId xmlns:a16="http://schemas.microsoft.com/office/drawing/2014/main" val="10008"/>
                  </a:ext>
                </a:extLst>
              </a:tr>
              <a:tr h="165310">
                <a:tc vMerge="1">
                  <a:txBody>
                    <a:bodyPr/>
                    <a:lstStyle/>
                    <a:p>
                      <a:endParaRPr dirty="0"/>
                    </a:p>
                  </a:txBody>
                  <a:tcPr anchor="ctr"/>
                </a:tc>
                <a:tc>
                  <a:txBody>
                    <a:bodyPr/>
                    <a:lstStyle/>
                    <a:p>
                      <a:pPr algn="ctr"/>
                      <a:r>
                        <a:rPr sz="1200" b="0" dirty="0"/>
                        <a:t>Fold 4</a:t>
                      </a:r>
                    </a:p>
                  </a:txBody>
                  <a:tcPr anchor="ctr"/>
                </a:tc>
                <a:tc>
                  <a:txBody>
                    <a:bodyPr/>
                    <a:lstStyle/>
                    <a:p>
                      <a:pPr algn="ctr"/>
                      <a:r>
                        <a:rPr sz="1200" b="0"/>
                        <a:t>46/252</a:t>
                      </a:r>
                    </a:p>
                  </a:txBody>
                  <a:tcPr anchor="ctr"/>
                </a:tc>
                <a:tc>
                  <a:txBody>
                    <a:bodyPr/>
                    <a:lstStyle/>
                    <a:p>
                      <a:pPr algn="ctr"/>
                      <a:r>
                        <a:rPr sz="1200" b="0"/>
                        <a:t>0.684</a:t>
                      </a:r>
                    </a:p>
                  </a:txBody>
                  <a:tcPr anchor="ctr"/>
                </a:tc>
                <a:tc>
                  <a:txBody>
                    <a:bodyPr/>
                    <a:lstStyle/>
                    <a:p>
                      <a:pPr algn="ctr"/>
                      <a:r>
                        <a:rPr sz="1200" b="0"/>
                        <a:t>0.579</a:t>
                      </a:r>
                    </a:p>
                  </a:txBody>
                  <a:tcPr anchor="ctr"/>
                </a:tc>
                <a:tc>
                  <a:txBody>
                    <a:bodyPr/>
                    <a:lstStyle/>
                    <a:p>
                      <a:pPr algn="ctr"/>
                      <a:r>
                        <a:rPr sz="1200" b="0"/>
                        <a:t>0.826</a:t>
                      </a:r>
                    </a:p>
                  </a:txBody>
                  <a:tcPr anchor="ctr"/>
                </a:tc>
                <a:tc>
                  <a:txBody>
                    <a:bodyPr/>
                    <a:lstStyle/>
                    <a:p>
                      <a:pPr algn="ctr"/>
                      <a:r>
                        <a:rPr sz="1200" b="0"/>
                        <a:t>0.524</a:t>
                      </a:r>
                    </a:p>
                  </a:txBody>
                  <a:tcPr anchor="ctr"/>
                </a:tc>
                <a:extLst>
                  <a:ext uri="{0D108BD9-81ED-4DB2-BD59-A6C34878D82A}">
                    <a16:rowId xmlns:a16="http://schemas.microsoft.com/office/drawing/2014/main" val="10009"/>
                  </a:ext>
                </a:extLst>
              </a:tr>
              <a:tr h="165310">
                <a:tc vMerge="1">
                  <a:txBody>
                    <a:bodyPr/>
                    <a:lstStyle/>
                    <a:p>
                      <a:pPr latinLnBrk="1"/>
                      <a:endParaRPr lang="ko-KR" altLang="en-US"/>
                    </a:p>
                  </a:txBody>
                  <a:tcPr/>
                </a:tc>
                <a:tc>
                  <a:txBody>
                    <a:bodyPr/>
                    <a:lstStyle/>
                    <a:p>
                      <a:pPr algn="ctr"/>
                      <a:r>
                        <a:rPr sz="1200" b="0" dirty="0"/>
                        <a:t>Fold 5</a:t>
                      </a:r>
                    </a:p>
                  </a:txBody>
                  <a:tcPr anchor="ctr"/>
                </a:tc>
                <a:tc>
                  <a:txBody>
                    <a:bodyPr/>
                    <a:lstStyle/>
                    <a:p>
                      <a:pPr algn="ctr"/>
                      <a:r>
                        <a:rPr sz="1200" b="0" dirty="0"/>
                        <a:t>46/252</a:t>
                      </a:r>
                    </a:p>
                  </a:txBody>
                  <a:tcPr anchor="ctr"/>
                </a:tc>
                <a:tc>
                  <a:txBody>
                    <a:bodyPr/>
                    <a:lstStyle/>
                    <a:p>
                      <a:pPr algn="ctr"/>
                      <a:r>
                        <a:rPr sz="1200" b="0"/>
                        <a:t>0.762</a:t>
                      </a:r>
                    </a:p>
                  </a:txBody>
                  <a:tcPr anchor="ctr"/>
                </a:tc>
                <a:tc>
                  <a:txBody>
                    <a:bodyPr/>
                    <a:lstStyle/>
                    <a:p>
                      <a:pPr algn="ctr"/>
                      <a:r>
                        <a:rPr sz="1200" b="0" dirty="0"/>
                        <a:t>0.603</a:t>
                      </a:r>
                    </a:p>
                  </a:txBody>
                  <a:tcPr anchor="ctr"/>
                </a:tc>
                <a:tc>
                  <a:txBody>
                    <a:bodyPr/>
                    <a:lstStyle/>
                    <a:p>
                      <a:pPr algn="ctr"/>
                      <a:r>
                        <a:rPr sz="1200" b="0" dirty="0"/>
                        <a:t>0.848</a:t>
                      </a:r>
                    </a:p>
                  </a:txBody>
                  <a:tcPr anchor="ctr"/>
                </a:tc>
                <a:tc>
                  <a:txBody>
                    <a:bodyPr/>
                    <a:lstStyle/>
                    <a:p>
                      <a:pPr algn="ctr"/>
                      <a:r>
                        <a:rPr sz="1200" b="0" dirty="0"/>
                        <a:t>0.549</a:t>
                      </a:r>
                    </a:p>
                  </a:txBody>
                  <a:tcPr anchor="ctr"/>
                </a:tc>
                <a:extLst>
                  <a:ext uri="{0D108BD9-81ED-4DB2-BD59-A6C34878D82A}">
                    <a16:rowId xmlns:a16="http://schemas.microsoft.com/office/drawing/2014/main" val="435901359"/>
                  </a:ext>
                </a:extLst>
              </a:tr>
              <a:tr h="165310">
                <a:tc vMerge="1">
                  <a:txBody>
                    <a:bodyPr/>
                    <a:lstStyle/>
                    <a:p>
                      <a:pPr latinLnBrk="1"/>
                      <a:endParaRPr lang="ko-KR" altLang="en-US"/>
                    </a:p>
                  </a:txBody>
                  <a:tcPr/>
                </a:tc>
                <a:tc>
                  <a:txBody>
                    <a:bodyPr/>
                    <a:lstStyle/>
                    <a:p>
                      <a:pPr algn="ctr"/>
                      <a:r>
                        <a:rPr sz="1200" b="0" dirty="0"/>
                        <a:t>Mean ± SD</a:t>
                      </a:r>
                    </a:p>
                  </a:txBody>
                  <a:tcPr anchor="ctr"/>
                </a:tc>
                <a:tc>
                  <a:txBody>
                    <a:bodyPr/>
                    <a:lstStyle/>
                    <a:p>
                      <a:pPr algn="ctr"/>
                      <a:r>
                        <a:rPr sz="1200" b="0" dirty="0"/>
                        <a:t>233/1260</a:t>
                      </a:r>
                    </a:p>
                  </a:txBody>
                  <a:tcPr anchor="ctr"/>
                </a:tc>
                <a:tc>
                  <a:txBody>
                    <a:bodyPr/>
                    <a:lstStyle/>
                    <a:p>
                      <a:pPr algn="ctr"/>
                      <a:r>
                        <a:rPr sz="1200" b="0" dirty="0"/>
                        <a:t>0.736 ± 0.044</a:t>
                      </a:r>
                    </a:p>
                  </a:txBody>
                  <a:tcPr anchor="ctr"/>
                </a:tc>
                <a:tc>
                  <a:txBody>
                    <a:bodyPr/>
                    <a:lstStyle/>
                    <a:p>
                      <a:pPr algn="ctr"/>
                      <a:r>
                        <a:rPr sz="1200" b="0"/>
                        <a:t>0.611 ± 0.036</a:t>
                      </a:r>
                    </a:p>
                  </a:txBody>
                  <a:tcPr anchor="ctr"/>
                </a:tc>
                <a:tc>
                  <a:txBody>
                    <a:bodyPr/>
                    <a:lstStyle/>
                    <a:p>
                      <a:pPr algn="ctr"/>
                      <a:r>
                        <a:rPr sz="1200" b="0" dirty="0"/>
                        <a:t>0.820 ± 0.068</a:t>
                      </a:r>
                    </a:p>
                  </a:txBody>
                  <a:tcPr anchor="ctr"/>
                </a:tc>
                <a:tc>
                  <a:txBody>
                    <a:bodyPr/>
                    <a:lstStyle/>
                    <a:p>
                      <a:pPr algn="ctr"/>
                      <a:r>
                        <a:rPr sz="1200" b="0" dirty="0"/>
                        <a:t>0.564 ± 0.035</a:t>
                      </a:r>
                    </a:p>
                  </a:txBody>
                  <a:tcPr anchor="ctr"/>
                </a:tc>
                <a:extLst>
                  <a:ext uri="{0D108BD9-81ED-4DB2-BD59-A6C34878D82A}">
                    <a16:rowId xmlns:a16="http://schemas.microsoft.com/office/drawing/2014/main" val="3940054438"/>
                  </a:ext>
                </a:extLst>
              </a:tr>
              <a:tr h="165310">
                <a:tc vMerge="1">
                  <a:txBody>
                    <a:bodyPr/>
                    <a:lstStyle/>
                    <a:p>
                      <a:endParaRPr dirty="0"/>
                    </a:p>
                  </a:txBody>
                  <a:tcPr anchor="ctr"/>
                </a:tc>
                <a:tc>
                  <a:txBody>
                    <a:bodyPr/>
                    <a:lstStyle/>
                    <a:p>
                      <a:pPr algn="ctr"/>
                      <a:r>
                        <a:rPr sz="1200" b="0"/>
                        <a:t>External</a:t>
                      </a:r>
                    </a:p>
                  </a:txBody>
                  <a:tcPr anchor="ctr"/>
                </a:tc>
                <a:tc>
                  <a:txBody>
                    <a:bodyPr/>
                    <a:lstStyle/>
                    <a:p>
                      <a:pPr algn="ctr"/>
                      <a:r>
                        <a:rPr sz="1200" b="0"/>
                        <a:t>335/1123</a:t>
                      </a:r>
                    </a:p>
                  </a:txBody>
                  <a:tcPr anchor="ctr"/>
                </a:tc>
                <a:tc>
                  <a:txBody>
                    <a:bodyPr/>
                    <a:lstStyle/>
                    <a:p>
                      <a:pPr algn="ctr"/>
                      <a:r>
                        <a:rPr sz="1200" b="0"/>
                        <a:t>0.706</a:t>
                      </a:r>
                    </a:p>
                  </a:txBody>
                  <a:tcPr anchor="ctr"/>
                </a:tc>
                <a:tc>
                  <a:txBody>
                    <a:bodyPr/>
                    <a:lstStyle/>
                    <a:p>
                      <a:pPr algn="ctr"/>
                      <a:r>
                        <a:rPr sz="1200" b="0"/>
                        <a:t>0.504</a:t>
                      </a:r>
                    </a:p>
                  </a:txBody>
                  <a:tcPr anchor="ctr"/>
                </a:tc>
                <a:tc>
                  <a:txBody>
                    <a:bodyPr/>
                    <a:lstStyle/>
                    <a:p>
                      <a:pPr algn="ctr"/>
                      <a:r>
                        <a:rPr sz="1200" b="0" dirty="0"/>
                        <a:t>0.875</a:t>
                      </a:r>
                    </a:p>
                  </a:txBody>
                  <a:tcPr anchor="ctr"/>
                </a:tc>
                <a:tc>
                  <a:txBody>
                    <a:bodyPr/>
                    <a:lstStyle/>
                    <a:p>
                      <a:pPr algn="ctr"/>
                      <a:r>
                        <a:rPr sz="1200" b="0" dirty="0"/>
                        <a:t>0.346</a:t>
                      </a:r>
                    </a:p>
                  </a:txBody>
                  <a:tcPr anchor="ct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4002055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9C41C-B736-2A3C-FA7E-33CB9E60AE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A0F03D-0840-49FE-32DC-A43A26B4A701}"/>
              </a:ext>
            </a:extLst>
          </p:cNvPr>
          <p:cNvSpPr>
            <a:spLocks noGrp="1"/>
          </p:cNvSpPr>
          <p:nvPr>
            <p:ph type="title"/>
          </p:nvPr>
        </p:nvSpPr>
        <p:spPr/>
        <p:txBody>
          <a:bodyPr>
            <a:normAutofit/>
          </a:bodyPr>
          <a:lstStyle/>
          <a:p>
            <a:r>
              <a:rPr lang="en-US" altLang="ko-KR" dirty="0"/>
              <a:t>Table 2-3. Performance (</a:t>
            </a:r>
            <a:r>
              <a:rPr lang="ko-KR" altLang="en-US" dirty="0"/>
              <a:t>만성신장질환</a:t>
            </a:r>
            <a:r>
              <a:rPr lang="en-US" altLang="ko-KR" dirty="0"/>
              <a:t>)</a:t>
            </a:r>
            <a:endParaRPr dirty="0"/>
          </a:p>
        </p:txBody>
      </p:sp>
      <p:sp>
        <p:nvSpPr>
          <p:cNvPr id="3" name="내용 개체 틀 2">
            <a:extLst>
              <a:ext uri="{FF2B5EF4-FFF2-40B4-BE49-F238E27FC236}">
                <a16:creationId xmlns:a16="http://schemas.microsoft.com/office/drawing/2014/main" id="{66AF5151-6CBC-9D7A-11FD-964A5E9D624F}"/>
              </a:ext>
            </a:extLst>
          </p:cNvPr>
          <p:cNvSpPr>
            <a:spLocks noGrp="1"/>
          </p:cNvSpPr>
          <p:nvPr>
            <p:ph idx="1"/>
          </p:nvPr>
        </p:nvSpPr>
        <p:spPr/>
        <p:txBody>
          <a:bodyPr>
            <a:normAutofit/>
          </a:bodyPr>
          <a:lstStyle/>
          <a:p>
            <a:r>
              <a:rPr lang="ko-KR" altLang="en-US" sz="1600" b="1" dirty="0">
                <a:latin typeface="KoPub돋움체 Medium" panose="00000600000000000000" pitchFamily="2" charset="-127"/>
              </a:rPr>
              <a:t>만성신장질환: </a:t>
            </a:r>
            <a:r>
              <a:rPr lang="ko-KR" altLang="en-US" sz="1600" b="1" dirty="0" err="1">
                <a:latin typeface="KoPub돋움체 Medium" panose="00000600000000000000" pitchFamily="2" charset="-127"/>
              </a:rPr>
              <a:t>Internal</a:t>
            </a:r>
            <a:r>
              <a:rPr lang="ko-KR" altLang="en-US" sz="1600" b="1" dirty="0">
                <a:latin typeface="KoPub돋움체 Medium" panose="00000600000000000000" pitchFamily="2" charset="-127"/>
              </a:rPr>
              <a:t> 비유의</a:t>
            </a:r>
            <a:r>
              <a:rPr lang="en-US" altLang="ko-KR" sz="1600" b="1" dirty="0">
                <a:latin typeface="KoPub돋움체 Medium" panose="00000600000000000000" pitchFamily="2" charset="-127"/>
              </a:rPr>
              <a:t>, </a:t>
            </a:r>
            <a:r>
              <a:rPr lang="ko-KR" altLang="en-US" sz="1600" b="1" dirty="0" err="1">
                <a:latin typeface="KoPub돋움체 Medium" panose="00000600000000000000" pitchFamily="2" charset="-127"/>
              </a:rPr>
              <a:t>External</a:t>
            </a:r>
            <a:r>
              <a:rPr lang="ko-KR" altLang="en-US" sz="1600" b="1" dirty="0">
                <a:latin typeface="KoPub돋움체 Medium" panose="00000600000000000000" pitchFamily="2" charset="-127"/>
              </a:rPr>
              <a:t> 유의</a:t>
            </a:r>
          </a:p>
          <a:p>
            <a:pPr lvl="1"/>
            <a:r>
              <a:rPr lang="ko-KR" altLang="en-US" sz="1600" dirty="0" err="1">
                <a:latin typeface="KoPub돋움체 Medium" panose="00000600000000000000" pitchFamily="2" charset="-127"/>
              </a:rPr>
              <a:t>Internal</a:t>
            </a:r>
            <a:r>
              <a:rPr lang="ko-KR" altLang="en-US" sz="1600" dirty="0">
                <a:latin typeface="KoPub돋움체 Medium" panose="00000600000000000000" pitchFamily="2" charset="-127"/>
              </a:rPr>
              <a:t> 0.769 → 0.784 (p=0.39), External 0.615 → 0.681 (p&lt;0.001)</a:t>
            </a:r>
          </a:p>
          <a:p>
            <a:pPr lvl="1"/>
            <a:r>
              <a:rPr lang="ko-KR" altLang="en-US" sz="1600" dirty="0">
                <a:latin typeface="KoPub돋움체 Medium" panose="00000600000000000000" pitchFamily="2" charset="-127"/>
              </a:rPr>
              <a:t>Feature 추가 시 AUC 상승 (Baseline → +AEC → +AEC+체성분): Internal 0.770 → 0.754 → 0.784 (+AEC만 하락), External 0.615 → 0.643 → 0.681</a:t>
            </a:r>
          </a:p>
        </p:txBody>
      </p:sp>
      <p:sp>
        <p:nvSpPr>
          <p:cNvPr id="4" name="슬라이드 번호 개체 틀 3">
            <a:extLst>
              <a:ext uri="{FF2B5EF4-FFF2-40B4-BE49-F238E27FC236}">
                <a16:creationId xmlns:a16="http://schemas.microsoft.com/office/drawing/2014/main" id="{42CF566B-EB1E-C85D-9D99-37EE8E202BE1}"/>
              </a:ext>
            </a:extLst>
          </p:cNvPr>
          <p:cNvSpPr>
            <a:spLocks noGrp="1"/>
          </p:cNvSpPr>
          <p:nvPr>
            <p:ph type="sldNum" sz="quarter" idx="12"/>
          </p:nvPr>
        </p:nvSpPr>
        <p:spPr/>
        <p:txBody>
          <a:bodyPr/>
          <a:lstStyle/>
          <a:p>
            <a:fld id="{9F4AF89A-28FA-47FA-B28F-9A9C6913CB7A}" type="slidenum">
              <a:rPr lang="ko-KR" altLang="en-US" smtClean="0"/>
              <a:pPr/>
              <a:t>7</a:t>
            </a:fld>
            <a:endParaRPr lang="ko-KR" altLang="en-US" dirty="0"/>
          </a:p>
        </p:txBody>
      </p:sp>
      <p:graphicFrame>
        <p:nvGraphicFramePr>
          <p:cNvPr id="5" name="Table 2">
            <a:extLst>
              <a:ext uri="{FF2B5EF4-FFF2-40B4-BE49-F238E27FC236}">
                <a16:creationId xmlns:a16="http://schemas.microsoft.com/office/drawing/2014/main" id="{149EF566-78E2-669D-49A8-1B22377BBF7F}"/>
              </a:ext>
            </a:extLst>
          </p:cNvPr>
          <p:cNvGraphicFramePr>
            <a:graphicFrameLocks noGrp="1"/>
          </p:cNvGraphicFramePr>
          <p:nvPr>
            <p:extLst>
              <p:ext uri="{D42A27DB-BD31-4B8C-83A1-F6EECF244321}">
                <p14:modId xmlns:p14="http://schemas.microsoft.com/office/powerpoint/2010/main" val="1283660053"/>
              </p:ext>
            </p:extLst>
          </p:nvPr>
        </p:nvGraphicFramePr>
        <p:xfrm>
          <a:off x="1207389" y="2061868"/>
          <a:ext cx="9777222" cy="4114800"/>
        </p:xfrm>
        <a:graphic>
          <a:graphicData uri="http://schemas.openxmlformats.org/drawingml/2006/table">
            <a:tbl>
              <a:tblPr firstRow="1" bandRow="1">
                <a:tableStyleId>{C083E6E3-FA7D-4D7B-A595-EF9225AFEA82}</a:tableStyleId>
              </a:tblPr>
              <a:tblGrid>
                <a:gridCol w="1396746">
                  <a:extLst>
                    <a:ext uri="{9D8B030D-6E8A-4147-A177-3AD203B41FA5}">
                      <a16:colId xmlns:a16="http://schemas.microsoft.com/office/drawing/2014/main" val="20001"/>
                    </a:ext>
                  </a:extLst>
                </a:gridCol>
                <a:gridCol w="1396746">
                  <a:extLst>
                    <a:ext uri="{9D8B030D-6E8A-4147-A177-3AD203B41FA5}">
                      <a16:colId xmlns:a16="http://schemas.microsoft.com/office/drawing/2014/main" val="20002"/>
                    </a:ext>
                  </a:extLst>
                </a:gridCol>
                <a:gridCol w="1396746">
                  <a:extLst>
                    <a:ext uri="{9D8B030D-6E8A-4147-A177-3AD203B41FA5}">
                      <a16:colId xmlns:a16="http://schemas.microsoft.com/office/drawing/2014/main" val="20003"/>
                    </a:ext>
                  </a:extLst>
                </a:gridCol>
                <a:gridCol w="1396746">
                  <a:extLst>
                    <a:ext uri="{9D8B030D-6E8A-4147-A177-3AD203B41FA5}">
                      <a16:colId xmlns:a16="http://schemas.microsoft.com/office/drawing/2014/main" val="20004"/>
                    </a:ext>
                  </a:extLst>
                </a:gridCol>
                <a:gridCol w="1396746">
                  <a:extLst>
                    <a:ext uri="{9D8B030D-6E8A-4147-A177-3AD203B41FA5}">
                      <a16:colId xmlns:a16="http://schemas.microsoft.com/office/drawing/2014/main" val="20005"/>
                    </a:ext>
                  </a:extLst>
                </a:gridCol>
                <a:gridCol w="1396746">
                  <a:extLst>
                    <a:ext uri="{9D8B030D-6E8A-4147-A177-3AD203B41FA5}">
                      <a16:colId xmlns:a16="http://schemas.microsoft.com/office/drawing/2014/main" val="20006"/>
                    </a:ext>
                  </a:extLst>
                </a:gridCol>
                <a:gridCol w="1396746">
                  <a:extLst>
                    <a:ext uri="{9D8B030D-6E8A-4147-A177-3AD203B41FA5}">
                      <a16:colId xmlns:a16="http://schemas.microsoft.com/office/drawing/2014/main" val="20007"/>
                    </a:ext>
                  </a:extLst>
                </a:gridCol>
              </a:tblGrid>
              <a:tr h="165310">
                <a:tc>
                  <a:txBody>
                    <a:bodyPr/>
                    <a:lstStyle/>
                    <a:p>
                      <a:pPr algn="ctr"/>
                      <a:r>
                        <a:rPr sz="1200" b="1" dirty="0"/>
                        <a:t>Model</a:t>
                      </a:r>
                    </a:p>
                  </a:txBody>
                  <a:tcPr anchor="ctr"/>
                </a:tc>
                <a:tc>
                  <a:txBody>
                    <a:bodyPr/>
                    <a:lstStyle/>
                    <a:p>
                      <a:pPr algn="ctr"/>
                      <a:r>
                        <a:rPr sz="1200" b="1" dirty="0"/>
                        <a:t>Fold</a:t>
                      </a:r>
                    </a:p>
                  </a:txBody>
                  <a:tcPr anchor="ctr"/>
                </a:tc>
                <a:tc>
                  <a:txBody>
                    <a:bodyPr/>
                    <a:lstStyle/>
                    <a:p>
                      <a:pPr algn="ctr"/>
                      <a:r>
                        <a:rPr sz="1200" b="1"/>
                        <a:t>n (pos)</a:t>
                      </a:r>
                    </a:p>
                  </a:txBody>
                  <a:tcPr anchor="ctr"/>
                </a:tc>
                <a:tc>
                  <a:txBody>
                    <a:bodyPr/>
                    <a:lstStyle/>
                    <a:p>
                      <a:pPr algn="ctr"/>
                      <a:r>
                        <a:rPr sz="1200" b="1"/>
                        <a:t>AUC</a:t>
                      </a:r>
                    </a:p>
                  </a:txBody>
                  <a:tcPr anchor="ctr"/>
                </a:tc>
                <a:tc>
                  <a:txBody>
                    <a:bodyPr/>
                    <a:lstStyle/>
                    <a:p>
                      <a:pPr algn="ctr"/>
                      <a:r>
                        <a:rPr sz="1200" b="1" dirty="0"/>
                        <a:t>ACC</a:t>
                      </a:r>
                    </a:p>
                  </a:txBody>
                  <a:tcPr anchor="ctr"/>
                </a:tc>
                <a:tc>
                  <a:txBody>
                    <a:bodyPr/>
                    <a:lstStyle/>
                    <a:p>
                      <a:pPr algn="ctr"/>
                      <a:r>
                        <a:rPr sz="1200" b="1"/>
                        <a:t>Sensitivity</a:t>
                      </a:r>
                    </a:p>
                  </a:txBody>
                  <a:tcPr anchor="ctr"/>
                </a:tc>
                <a:tc>
                  <a:txBody>
                    <a:bodyPr/>
                    <a:lstStyle/>
                    <a:p>
                      <a:pPr algn="ctr"/>
                      <a:r>
                        <a:rPr sz="1200" b="1"/>
                        <a:t>Specificity</a:t>
                      </a:r>
                    </a:p>
                  </a:txBody>
                  <a:tcPr anchor="ctr"/>
                </a:tc>
                <a:extLst>
                  <a:ext uri="{0D108BD9-81ED-4DB2-BD59-A6C34878D82A}">
                    <a16:rowId xmlns:a16="http://schemas.microsoft.com/office/drawing/2014/main" val="10000"/>
                  </a:ext>
                </a:extLst>
              </a:tr>
              <a:tr h="165310">
                <a:tc rowSpan="7">
                  <a:txBody>
                    <a:bodyPr/>
                    <a:lstStyle/>
                    <a:p>
                      <a:pPr algn="ctr"/>
                      <a:r>
                        <a:rPr sz="1200" b="0" dirty="0"/>
                        <a:t>Baseline</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a:t>Fold 1</a:t>
                      </a:r>
                    </a:p>
                  </a:txBody>
                  <a:tcPr anchor="ctr"/>
                </a:tc>
                <a:tc>
                  <a:txBody>
                    <a:bodyPr/>
                    <a:lstStyle/>
                    <a:p>
                      <a:pPr algn="ctr"/>
                      <a:r>
                        <a:rPr sz="1200" b="0"/>
                        <a:t>21/252</a:t>
                      </a:r>
                    </a:p>
                  </a:txBody>
                  <a:tcPr anchor="ctr"/>
                </a:tc>
                <a:tc>
                  <a:txBody>
                    <a:bodyPr/>
                    <a:lstStyle/>
                    <a:p>
                      <a:pPr algn="ctr"/>
                      <a:r>
                        <a:rPr sz="1200" b="0"/>
                        <a:t>0.754</a:t>
                      </a:r>
                    </a:p>
                  </a:txBody>
                  <a:tcPr anchor="ctr"/>
                </a:tc>
                <a:tc>
                  <a:txBody>
                    <a:bodyPr/>
                    <a:lstStyle/>
                    <a:p>
                      <a:pPr algn="ctr"/>
                      <a:r>
                        <a:rPr sz="1200" b="0"/>
                        <a:t>0.623</a:t>
                      </a:r>
                    </a:p>
                  </a:txBody>
                  <a:tcPr anchor="ctr"/>
                </a:tc>
                <a:tc>
                  <a:txBody>
                    <a:bodyPr/>
                    <a:lstStyle/>
                    <a:p>
                      <a:pPr algn="ctr"/>
                      <a:r>
                        <a:rPr sz="1200" b="0"/>
                        <a:t>0.810</a:t>
                      </a:r>
                    </a:p>
                  </a:txBody>
                  <a:tcPr anchor="ctr"/>
                </a:tc>
                <a:tc>
                  <a:txBody>
                    <a:bodyPr/>
                    <a:lstStyle/>
                    <a:p>
                      <a:pPr algn="ctr"/>
                      <a:r>
                        <a:rPr sz="1200" b="0" dirty="0"/>
                        <a:t>0.606</a:t>
                      </a:r>
                    </a:p>
                  </a:txBody>
                  <a:tcPr anchor="ctr"/>
                </a:tc>
                <a:extLst>
                  <a:ext uri="{0D108BD9-81ED-4DB2-BD59-A6C34878D82A}">
                    <a16:rowId xmlns:a16="http://schemas.microsoft.com/office/drawing/2014/main" val="10001"/>
                  </a:ext>
                </a:extLst>
              </a:tr>
              <a:tr h="165310">
                <a:tc vMerge="1">
                  <a:txBody>
                    <a:bodyPr/>
                    <a:lstStyle/>
                    <a:p>
                      <a:endParaRPr dirty="0"/>
                    </a:p>
                  </a:txBody>
                  <a:tcPr anchor="ctr"/>
                </a:tc>
                <a:tc>
                  <a:txBody>
                    <a:bodyPr/>
                    <a:lstStyle/>
                    <a:p>
                      <a:pPr algn="ctr"/>
                      <a:r>
                        <a:rPr sz="1200" b="0"/>
                        <a:t>Fold 2</a:t>
                      </a:r>
                    </a:p>
                  </a:txBody>
                  <a:tcPr anchor="ctr"/>
                </a:tc>
                <a:tc>
                  <a:txBody>
                    <a:bodyPr/>
                    <a:lstStyle/>
                    <a:p>
                      <a:pPr algn="ctr"/>
                      <a:r>
                        <a:rPr sz="1200" b="0"/>
                        <a:t>21/252</a:t>
                      </a:r>
                    </a:p>
                  </a:txBody>
                  <a:tcPr anchor="ctr"/>
                </a:tc>
                <a:tc>
                  <a:txBody>
                    <a:bodyPr/>
                    <a:lstStyle/>
                    <a:p>
                      <a:pPr algn="ctr"/>
                      <a:r>
                        <a:rPr sz="1200" b="0"/>
                        <a:t>0.770</a:t>
                      </a:r>
                    </a:p>
                  </a:txBody>
                  <a:tcPr anchor="ctr"/>
                </a:tc>
                <a:tc>
                  <a:txBody>
                    <a:bodyPr/>
                    <a:lstStyle/>
                    <a:p>
                      <a:pPr algn="ctr"/>
                      <a:r>
                        <a:rPr sz="1200" b="0"/>
                        <a:t>0.595</a:t>
                      </a:r>
                    </a:p>
                  </a:txBody>
                  <a:tcPr anchor="ctr"/>
                </a:tc>
                <a:tc>
                  <a:txBody>
                    <a:bodyPr/>
                    <a:lstStyle/>
                    <a:p>
                      <a:pPr algn="ctr"/>
                      <a:r>
                        <a:rPr sz="1200" b="0"/>
                        <a:t>0.857</a:t>
                      </a:r>
                    </a:p>
                  </a:txBody>
                  <a:tcPr anchor="ctr"/>
                </a:tc>
                <a:tc>
                  <a:txBody>
                    <a:bodyPr/>
                    <a:lstStyle/>
                    <a:p>
                      <a:pPr algn="ctr"/>
                      <a:r>
                        <a:rPr sz="1200" b="0"/>
                        <a:t>0.571</a:t>
                      </a:r>
                    </a:p>
                  </a:txBody>
                  <a:tcPr anchor="ctr"/>
                </a:tc>
                <a:extLst>
                  <a:ext uri="{0D108BD9-81ED-4DB2-BD59-A6C34878D82A}">
                    <a16:rowId xmlns:a16="http://schemas.microsoft.com/office/drawing/2014/main" val="10002"/>
                  </a:ext>
                </a:extLst>
              </a:tr>
              <a:tr h="165310">
                <a:tc vMerge="1">
                  <a:txBody>
                    <a:bodyPr/>
                    <a:lstStyle/>
                    <a:p>
                      <a:endParaRPr dirty="0"/>
                    </a:p>
                  </a:txBody>
                  <a:tcPr anchor="ctr"/>
                </a:tc>
                <a:tc>
                  <a:txBody>
                    <a:bodyPr/>
                    <a:lstStyle/>
                    <a:p>
                      <a:pPr algn="ctr"/>
                      <a:r>
                        <a:rPr sz="1200" b="0"/>
                        <a:t>Fold 3</a:t>
                      </a:r>
                    </a:p>
                  </a:txBody>
                  <a:tcPr anchor="ctr"/>
                </a:tc>
                <a:tc>
                  <a:txBody>
                    <a:bodyPr/>
                    <a:lstStyle/>
                    <a:p>
                      <a:pPr algn="ctr"/>
                      <a:r>
                        <a:rPr sz="1200" b="0"/>
                        <a:t>21/252</a:t>
                      </a:r>
                    </a:p>
                  </a:txBody>
                  <a:tcPr anchor="ctr"/>
                </a:tc>
                <a:tc>
                  <a:txBody>
                    <a:bodyPr/>
                    <a:lstStyle/>
                    <a:p>
                      <a:pPr algn="ctr"/>
                      <a:r>
                        <a:rPr sz="1200" b="0"/>
                        <a:t>0.813</a:t>
                      </a:r>
                    </a:p>
                  </a:txBody>
                  <a:tcPr anchor="ctr"/>
                </a:tc>
                <a:tc>
                  <a:txBody>
                    <a:bodyPr/>
                    <a:lstStyle/>
                    <a:p>
                      <a:pPr algn="ctr"/>
                      <a:r>
                        <a:rPr sz="1200" b="0"/>
                        <a:t>0.726</a:t>
                      </a:r>
                    </a:p>
                  </a:txBody>
                  <a:tcPr anchor="ctr"/>
                </a:tc>
                <a:tc>
                  <a:txBody>
                    <a:bodyPr/>
                    <a:lstStyle/>
                    <a:p>
                      <a:pPr algn="ctr"/>
                      <a:r>
                        <a:rPr sz="1200" b="0"/>
                        <a:t>0.810</a:t>
                      </a:r>
                    </a:p>
                  </a:txBody>
                  <a:tcPr anchor="ctr"/>
                </a:tc>
                <a:tc>
                  <a:txBody>
                    <a:bodyPr/>
                    <a:lstStyle/>
                    <a:p>
                      <a:pPr algn="ctr"/>
                      <a:r>
                        <a:rPr sz="1200" b="0"/>
                        <a:t>0.719</a:t>
                      </a:r>
                    </a:p>
                  </a:txBody>
                  <a:tcPr anchor="ctr"/>
                </a:tc>
                <a:extLst>
                  <a:ext uri="{0D108BD9-81ED-4DB2-BD59-A6C34878D82A}">
                    <a16:rowId xmlns:a16="http://schemas.microsoft.com/office/drawing/2014/main" val="10003"/>
                  </a:ext>
                </a:extLst>
              </a:tr>
              <a:tr h="165310">
                <a:tc vMerge="1">
                  <a:txBody>
                    <a:bodyPr/>
                    <a:lstStyle/>
                    <a:p>
                      <a:endParaRPr dirty="0"/>
                    </a:p>
                  </a:txBody>
                  <a:tcPr anchor="ctr"/>
                </a:tc>
                <a:tc>
                  <a:txBody>
                    <a:bodyPr/>
                    <a:lstStyle/>
                    <a:p>
                      <a:pPr algn="ctr"/>
                      <a:r>
                        <a:rPr sz="1200" b="0" dirty="0"/>
                        <a:t>Fold 4</a:t>
                      </a:r>
                    </a:p>
                  </a:txBody>
                  <a:tcPr anchor="ctr"/>
                </a:tc>
                <a:tc>
                  <a:txBody>
                    <a:bodyPr/>
                    <a:lstStyle/>
                    <a:p>
                      <a:pPr algn="ctr"/>
                      <a:r>
                        <a:rPr sz="1200" b="0"/>
                        <a:t>21/252</a:t>
                      </a:r>
                    </a:p>
                  </a:txBody>
                  <a:tcPr anchor="ctr"/>
                </a:tc>
                <a:tc>
                  <a:txBody>
                    <a:bodyPr/>
                    <a:lstStyle/>
                    <a:p>
                      <a:pPr algn="ctr"/>
                      <a:r>
                        <a:rPr sz="1200" b="0"/>
                        <a:t>0.799</a:t>
                      </a:r>
                    </a:p>
                  </a:txBody>
                  <a:tcPr anchor="ctr"/>
                </a:tc>
                <a:tc>
                  <a:txBody>
                    <a:bodyPr/>
                    <a:lstStyle/>
                    <a:p>
                      <a:pPr algn="ctr"/>
                      <a:r>
                        <a:rPr sz="1200" b="0"/>
                        <a:t>0.647</a:t>
                      </a:r>
                    </a:p>
                  </a:txBody>
                  <a:tcPr anchor="ctr"/>
                </a:tc>
                <a:tc>
                  <a:txBody>
                    <a:bodyPr/>
                    <a:lstStyle/>
                    <a:p>
                      <a:pPr algn="ctr"/>
                      <a:r>
                        <a:rPr sz="1200" b="0"/>
                        <a:t>0.905</a:t>
                      </a:r>
                    </a:p>
                  </a:txBody>
                  <a:tcPr anchor="ctr"/>
                </a:tc>
                <a:tc>
                  <a:txBody>
                    <a:bodyPr/>
                    <a:lstStyle/>
                    <a:p>
                      <a:pPr algn="ctr"/>
                      <a:r>
                        <a:rPr sz="1200" b="0"/>
                        <a:t>0.623</a:t>
                      </a:r>
                    </a:p>
                  </a:txBody>
                  <a:tcPr anchor="ctr"/>
                </a:tc>
                <a:extLst>
                  <a:ext uri="{0D108BD9-81ED-4DB2-BD59-A6C34878D82A}">
                    <a16:rowId xmlns:a16="http://schemas.microsoft.com/office/drawing/2014/main" val="10004"/>
                  </a:ext>
                </a:extLst>
              </a:tr>
              <a:tr h="165310">
                <a:tc vMerge="1">
                  <a:txBody>
                    <a:bodyPr/>
                    <a:lstStyle/>
                    <a:p>
                      <a:pPr latinLnBrk="1"/>
                      <a:endParaRPr lang="ko-KR" altLang="en-US"/>
                    </a:p>
                  </a:txBody>
                  <a:tcPr/>
                </a:tc>
                <a:tc>
                  <a:txBody>
                    <a:bodyPr/>
                    <a:lstStyle/>
                    <a:p>
                      <a:pPr algn="ctr"/>
                      <a:r>
                        <a:rPr sz="1200" b="0" dirty="0"/>
                        <a:t>Fold 5</a:t>
                      </a:r>
                    </a:p>
                  </a:txBody>
                  <a:tcPr anchor="ctr"/>
                </a:tc>
                <a:tc>
                  <a:txBody>
                    <a:bodyPr/>
                    <a:lstStyle/>
                    <a:p>
                      <a:pPr algn="ctr"/>
                      <a:r>
                        <a:rPr sz="1200" b="0" dirty="0"/>
                        <a:t>21/252</a:t>
                      </a:r>
                    </a:p>
                  </a:txBody>
                  <a:tcPr anchor="ctr"/>
                </a:tc>
                <a:tc>
                  <a:txBody>
                    <a:bodyPr/>
                    <a:lstStyle/>
                    <a:p>
                      <a:pPr algn="ctr"/>
                      <a:r>
                        <a:rPr sz="1200" b="0"/>
                        <a:t>0.716</a:t>
                      </a:r>
                    </a:p>
                  </a:txBody>
                  <a:tcPr anchor="ctr"/>
                </a:tc>
                <a:tc>
                  <a:txBody>
                    <a:bodyPr/>
                    <a:lstStyle/>
                    <a:p>
                      <a:pPr algn="ctr"/>
                      <a:r>
                        <a:rPr sz="1200" b="0"/>
                        <a:t>0.639</a:t>
                      </a:r>
                    </a:p>
                  </a:txBody>
                  <a:tcPr anchor="ctr"/>
                </a:tc>
                <a:tc>
                  <a:txBody>
                    <a:bodyPr/>
                    <a:lstStyle/>
                    <a:p>
                      <a:pPr algn="ctr"/>
                      <a:r>
                        <a:rPr sz="1200" b="0"/>
                        <a:t>0.667</a:t>
                      </a:r>
                    </a:p>
                  </a:txBody>
                  <a:tcPr anchor="ctr"/>
                </a:tc>
                <a:tc>
                  <a:txBody>
                    <a:bodyPr/>
                    <a:lstStyle/>
                    <a:p>
                      <a:pPr algn="ctr"/>
                      <a:r>
                        <a:rPr sz="1200" b="0" dirty="0"/>
                        <a:t>0.636</a:t>
                      </a:r>
                    </a:p>
                  </a:txBody>
                  <a:tcPr anchor="ctr"/>
                </a:tc>
                <a:extLst>
                  <a:ext uri="{0D108BD9-81ED-4DB2-BD59-A6C34878D82A}">
                    <a16:rowId xmlns:a16="http://schemas.microsoft.com/office/drawing/2014/main" val="536160383"/>
                  </a:ext>
                </a:extLst>
              </a:tr>
              <a:tr h="165310">
                <a:tc vMerge="1">
                  <a:txBody>
                    <a:bodyPr/>
                    <a:lstStyle/>
                    <a:p>
                      <a:pPr latinLnBrk="1"/>
                      <a:endParaRPr lang="ko-KR" altLang="en-US"/>
                    </a:p>
                  </a:txBody>
                  <a:tcPr/>
                </a:tc>
                <a:tc>
                  <a:txBody>
                    <a:bodyPr/>
                    <a:lstStyle/>
                    <a:p>
                      <a:pPr algn="ctr"/>
                      <a:r>
                        <a:rPr sz="1200" b="0" dirty="0"/>
                        <a:t>Mean ± SD</a:t>
                      </a:r>
                    </a:p>
                  </a:txBody>
                  <a:tcPr anchor="ctr"/>
                </a:tc>
                <a:tc>
                  <a:txBody>
                    <a:bodyPr/>
                    <a:lstStyle/>
                    <a:p>
                      <a:pPr algn="ctr"/>
                      <a:r>
                        <a:rPr sz="1200" b="0" dirty="0"/>
                        <a:t>105/1260</a:t>
                      </a:r>
                    </a:p>
                  </a:txBody>
                  <a:tcPr anchor="ctr"/>
                </a:tc>
                <a:tc>
                  <a:txBody>
                    <a:bodyPr/>
                    <a:lstStyle/>
                    <a:p>
                      <a:pPr algn="ctr"/>
                      <a:r>
                        <a:rPr sz="1200" b="0" dirty="0"/>
                        <a:t>0.770 ± 0.038</a:t>
                      </a:r>
                    </a:p>
                  </a:txBody>
                  <a:tcPr anchor="ctr"/>
                </a:tc>
                <a:tc>
                  <a:txBody>
                    <a:bodyPr/>
                    <a:lstStyle/>
                    <a:p>
                      <a:pPr algn="ctr"/>
                      <a:r>
                        <a:rPr sz="1200" b="0" dirty="0"/>
                        <a:t>0.646 ± 0.049</a:t>
                      </a:r>
                    </a:p>
                  </a:txBody>
                  <a:tcPr anchor="ctr"/>
                </a:tc>
                <a:tc>
                  <a:txBody>
                    <a:bodyPr/>
                    <a:lstStyle/>
                    <a:p>
                      <a:pPr algn="ctr"/>
                      <a:r>
                        <a:rPr sz="1200" b="0" dirty="0"/>
                        <a:t>0.810 ± 0.089</a:t>
                      </a:r>
                    </a:p>
                  </a:txBody>
                  <a:tcPr anchor="ctr"/>
                </a:tc>
                <a:tc>
                  <a:txBody>
                    <a:bodyPr/>
                    <a:lstStyle/>
                    <a:p>
                      <a:pPr algn="ctr"/>
                      <a:r>
                        <a:rPr sz="1200" b="0"/>
                        <a:t>0.631 ± 0.055</a:t>
                      </a:r>
                    </a:p>
                  </a:txBody>
                  <a:tcPr anchor="ctr"/>
                </a:tc>
                <a:extLst>
                  <a:ext uri="{0D108BD9-81ED-4DB2-BD59-A6C34878D82A}">
                    <a16:rowId xmlns:a16="http://schemas.microsoft.com/office/drawing/2014/main" val="3145784829"/>
                  </a:ext>
                </a:extLst>
              </a:tr>
              <a:tr h="165310">
                <a:tc vMerge="1">
                  <a:txBody>
                    <a:bodyPr/>
                    <a:lstStyle/>
                    <a:p>
                      <a:endParaRPr dirty="0"/>
                    </a:p>
                  </a:txBody>
                  <a:tcPr anchor="ctr"/>
                </a:tc>
                <a:tc>
                  <a:txBody>
                    <a:bodyPr/>
                    <a:lstStyle/>
                    <a:p>
                      <a:pPr algn="ctr"/>
                      <a:r>
                        <a:rPr sz="1200" b="0"/>
                        <a:t>External</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a:t>188/1123</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a:t>0.615</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a:t>0.539</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a:t>0.644</a:t>
                      </a:r>
                    </a:p>
                  </a:txBody>
                  <a:tcPr anchor="ctr">
                    <a:lnB w="12700" cap="flat" cmpd="sng" algn="ctr">
                      <a:solidFill>
                        <a:schemeClr val="bg1">
                          <a:lumMod val="65000"/>
                        </a:schemeClr>
                      </a:solidFill>
                      <a:prstDash val="solid"/>
                      <a:round/>
                      <a:headEnd type="none" w="med" len="med"/>
                      <a:tailEnd type="none" w="med" len="med"/>
                    </a:lnB>
                  </a:tcPr>
                </a:tc>
                <a:tc>
                  <a:txBody>
                    <a:bodyPr/>
                    <a:lstStyle/>
                    <a:p>
                      <a:pPr algn="ctr"/>
                      <a:r>
                        <a:rPr sz="1200" b="0" dirty="0"/>
                        <a:t>0.518</a:t>
                      </a:r>
                    </a:p>
                  </a:txBody>
                  <a:tcPr anchor="ctr">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5"/>
                  </a:ext>
                </a:extLst>
              </a:tr>
              <a:tr h="165310">
                <a:tc rowSpan="7">
                  <a:txBody>
                    <a:bodyPr/>
                    <a:lstStyle/>
                    <a:p>
                      <a:pPr algn="ctr"/>
                      <a:r>
                        <a:rPr sz="1200" b="0" dirty="0"/>
                        <a:t>+</a:t>
                      </a:r>
                      <a:r>
                        <a:rPr sz="1200" b="0" dirty="0" err="1"/>
                        <a:t>AEC+체성분</a:t>
                      </a:r>
                      <a:endParaRPr sz="1200" b="0" dirty="0"/>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Fold 1</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21/252</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a:t>0.782</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dirty="0"/>
                        <a:t>0.647</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dirty="0"/>
                        <a:t>0.857</a:t>
                      </a:r>
                    </a:p>
                  </a:txBody>
                  <a:tcPr anchor="ctr">
                    <a:lnT w="12700" cap="flat" cmpd="sng" algn="ctr">
                      <a:solidFill>
                        <a:schemeClr val="bg1">
                          <a:lumMod val="65000"/>
                        </a:schemeClr>
                      </a:solidFill>
                      <a:prstDash val="solid"/>
                      <a:round/>
                      <a:headEnd type="none" w="med" len="med"/>
                      <a:tailEnd type="none" w="med" len="med"/>
                    </a:lnT>
                  </a:tcPr>
                </a:tc>
                <a:tc>
                  <a:txBody>
                    <a:bodyPr/>
                    <a:lstStyle/>
                    <a:p>
                      <a:pPr algn="ctr"/>
                      <a:r>
                        <a:rPr sz="1200" b="0" dirty="0"/>
                        <a:t>0.628</a:t>
                      </a:r>
                    </a:p>
                  </a:txBody>
                  <a:tcPr anchor="ctr">
                    <a:lnT w="12700" cap="flat" cmpd="sng" algn="ctr">
                      <a:solidFill>
                        <a:schemeClr val="bg1">
                          <a:lumMod val="65000"/>
                        </a:schemeClr>
                      </a:solidFill>
                      <a:prstDash val="solid"/>
                      <a:round/>
                      <a:headEnd type="none" w="med" len="med"/>
                      <a:tailEnd type="none" w="med" len="med"/>
                    </a:lnT>
                  </a:tcPr>
                </a:tc>
                <a:extLst>
                  <a:ext uri="{0D108BD9-81ED-4DB2-BD59-A6C34878D82A}">
                    <a16:rowId xmlns:a16="http://schemas.microsoft.com/office/drawing/2014/main" val="10006"/>
                  </a:ext>
                </a:extLst>
              </a:tr>
              <a:tr h="165310">
                <a:tc vMerge="1">
                  <a:txBody>
                    <a:bodyPr/>
                    <a:lstStyle/>
                    <a:p>
                      <a:endParaRPr dirty="0"/>
                    </a:p>
                  </a:txBody>
                  <a:tcPr anchor="ctr"/>
                </a:tc>
                <a:tc>
                  <a:txBody>
                    <a:bodyPr/>
                    <a:lstStyle/>
                    <a:p>
                      <a:pPr algn="ctr"/>
                      <a:r>
                        <a:rPr sz="1200" b="0"/>
                        <a:t>Fold 2</a:t>
                      </a:r>
                    </a:p>
                  </a:txBody>
                  <a:tcPr anchor="ctr"/>
                </a:tc>
                <a:tc>
                  <a:txBody>
                    <a:bodyPr/>
                    <a:lstStyle/>
                    <a:p>
                      <a:pPr algn="ctr"/>
                      <a:r>
                        <a:rPr sz="1200" b="0"/>
                        <a:t>21/252</a:t>
                      </a:r>
                    </a:p>
                  </a:txBody>
                  <a:tcPr anchor="ctr"/>
                </a:tc>
                <a:tc>
                  <a:txBody>
                    <a:bodyPr/>
                    <a:lstStyle/>
                    <a:p>
                      <a:pPr algn="ctr"/>
                      <a:r>
                        <a:rPr sz="1200" b="0"/>
                        <a:t>0.781</a:t>
                      </a:r>
                    </a:p>
                  </a:txBody>
                  <a:tcPr anchor="ctr"/>
                </a:tc>
                <a:tc>
                  <a:txBody>
                    <a:bodyPr/>
                    <a:lstStyle/>
                    <a:p>
                      <a:pPr algn="ctr"/>
                      <a:r>
                        <a:rPr sz="1200" b="0"/>
                        <a:t>0.595</a:t>
                      </a:r>
                    </a:p>
                  </a:txBody>
                  <a:tcPr anchor="ctr"/>
                </a:tc>
                <a:tc>
                  <a:txBody>
                    <a:bodyPr/>
                    <a:lstStyle/>
                    <a:p>
                      <a:pPr algn="ctr"/>
                      <a:r>
                        <a:rPr sz="1200" b="0"/>
                        <a:t>0.905</a:t>
                      </a:r>
                    </a:p>
                  </a:txBody>
                  <a:tcPr anchor="ctr"/>
                </a:tc>
                <a:tc>
                  <a:txBody>
                    <a:bodyPr/>
                    <a:lstStyle/>
                    <a:p>
                      <a:pPr algn="ctr"/>
                      <a:r>
                        <a:rPr sz="1200" b="0"/>
                        <a:t>0.567</a:t>
                      </a:r>
                    </a:p>
                  </a:txBody>
                  <a:tcPr anchor="ctr"/>
                </a:tc>
                <a:extLst>
                  <a:ext uri="{0D108BD9-81ED-4DB2-BD59-A6C34878D82A}">
                    <a16:rowId xmlns:a16="http://schemas.microsoft.com/office/drawing/2014/main" val="10007"/>
                  </a:ext>
                </a:extLst>
              </a:tr>
              <a:tr h="165310">
                <a:tc vMerge="1">
                  <a:txBody>
                    <a:bodyPr/>
                    <a:lstStyle/>
                    <a:p>
                      <a:endParaRPr dirty="0"/>
                    </a:p>
                  </a:txBody>
                  <a:tcPr anchor="ctr"/>
                </a:tc>
                <a:tc>
                  <a:txBody>
                    <a:bodyPr/>
                    <a:lstStyle/>
                    <a:p>
                      <a:pPr algn="ctr"/>
                      <a:r>
                        <a:rPr sz="1200" b="0"/>
                        <a:t>Fold 3</a:t>
                      </a:r>
                    </a:p>
                  </a:txBody>
                  <a:tcPr anchor="ctr"/>
                </a:tc>
                <a:tc>
                  <a:txBody>
                    <a:bodyPr/>
                    <a:lstStyle/>
                    <a:p>
                      <a:pPr algn="ctr"/>
                      <a:r>
                        <a:rPr sz="1200" b="0"/>
                        <a:t>21/252</a:t>
                      </a:r>
                    </a:p>
                  </a:txBody>
                  <a:tcPr anchor="ctr"/>
                </a:tc>
                <a:tc>
                  <a:txBody>
                    <a:bodyPr/>
                    <a:lstStyle/>
                    <a:p>
                      <a:pPr algn="ctr"/>
                      <a:r>
                        <a:rPr sz="1200" b="0"/>
                        <a:t>0.846</a:t>
                      </a:r>
                    </a:p>
                  </a:txBody>
                  <a:tcPr anchor="ctr"/>
                </a:tc>
                <a:tc>
                  <a:txBody>
                    <a:bodyPr/>
                    <a:lstStyle/>
                    <a:p>
                      <a:pPr algn="ctr"/>
                      <a:r>
                        <a:rPr sz="1200" b="0"/>
                        <a:t>0.734</a:t>
                      </a:r>
                    </a:p>
                  </a:txBody>
                  <a:tcPr anchor="ctr"/>
                </a:tc>
                <a:tc>
                  <a:txBody>
                    <a:bodyPr/>
                    <a:lstStyle/>
                    <a:p>
                      <a:pPr algn="ctr"/>
                      <a:r>
                        <a:rPr sz="1200" b="0"/>
                        <a:t>0.714</a:t>
                      </a:r>
                    </a:p>
                  </a:txBody>
                  <a:tcPr anchor="ctr"/>
                </a:tc>
                <a:tc>
                  <a:txBody>
                    <a:bodyPr/>
                    <a:lstStyle/>
                    <a:p>
                      <a:pPr algn="ctr"/>
                      <a:r>
                        <a:rPr sz="1200" b="0"/>
                        <a:t>0.736</a:t>
                      </a:r>
                    </a:p>
                  </a:txBody>
                  <a:tcPr anchor="ctr"/>
                </a:tc>
                <a:extLst>
                  <a:ext uri="{0D108BD9-81ED-4DB2-BD59-A6C34878D82A}">
                    <a16:rowId xmlns:a16="http://schemas.microsoft.com/office/drawing/2014/main" val="10008"/>
                  </a:ext>
                </a:extLst>
              </a:tr>
              <a:tr h="165310">
                <a:tc vMerge="1">
                  <a:txBody>
                    <a:bodyPr/>
                    <a:lstStyle/>
                    <a:p>
                      <a:endParaRPr dirty="0"/>
                    </a:p>
                  </a:txBody>
                  <a:tcPr anchor="ctr"/>
                </a:tc>
                <a:tc>
                  <a:txBody>
                    <a:bodyPr/>
                    <a:lstStyle/>
                    <a:p>
                      <a:pPr algn="ctr"/>
                      <a:r>
                        <a:rPr sz="1200" b="0" dirty="0"/>
                        <a:t>Fold 4</a:t>
                      </a:r>
                    </a:p>
                  </a:txBody>
                  <a:tcPr anchor="ctr"/>
                </a:tc>
                <a:tc>
                  <a:txBody>
                    <a:bodyPr/>
                    <a:lstStyle/>
                    <a:p>
                      <a:pPr algn="ctr"/>
                      <a:r>
                        <a:rPr sz="1200" b="0"/>
                        <a:t>21/252</a:t>
                      </a:r>
                    </a:p>
                  </a:txBody>
                  <a:tcPr anchor="ctr"/>
                </a:tc>
                <a:tc>
                  <a:txBody>
                    <a:bodyPr/>
                    <a:lstStyle/>
                    <a:p>
                      <a:pPr algn="ctr"/>
                      <a:r>
                        <a:rPr sz="1200" b="0"/>
                        <a:t>0.749</a:t>
                      </a:r>
                    </a:p>
                  </a:txBody>
                  <a:tcPr anchor="ctr"/>
                </a:tc>
                <a:tc>
                  <a:txBody>
                    <a:bodyPr/>
                    <a:lstStyle/>
                    <a:p>
                      <a:pPr algn="ctr"/>
                      <a:r>
                        <a:rPr sz="1200" b="0"/>
                        <a:t>0.679</a:t>
                      </a:r>
                    </a:p>
                  </a:txBody>
                  <a:tcPr anchor="ctr"/>
                </a:tc>
                <a:tc>
                  <a:txBody>
                    <a:bodyPr/>
                    <a:lstStyle/>
                    <a:p>
                      <a:pPr algn="ctr"/>
                      <a:r>
                        <a:rPr sz="1200" b="0"/>
                        <a:t>0.810</a:t>
                      </a:r>
                    </a:p>
                  </a:txBody>
                  <a:tcPr anchor="ctr"/>
                </a:tc>
                <a:tc>
                  <a:txBody>
                    <a:bodyPr/>
                    <a:lstStyle/>
                    <a:p>
                      <a:pPr algn="ctr"/>
                      <a:r>
                        <a:rPr sz="1200" b="0"/>
                        <a:t>0.667</a:t>
                      </a:r>
                    </a:p>
                  </a:txBody>
                  <a:tcPr anchor="ctr"/>
                </a:tc>
                <a:extLst>
                  <a:ext uri="{0D108BD9-81ED-4DB2-BD59-A6C34878D82A}">
                    <a16:rowId xmlns:a16="http://schemas.microsoft.com/office/drawing/2014/main" val="10009"/>
                  </a:ext>
                </a:extLst>
              </a:tr>
              <a:tr h="165310">
                <a:tc vMerge="1">
                  <a:txBody>
                    <a:bodyPr/>
                    <a:lstStyle/>
                    <a:p>
                      <a:pPr latinLnBrk="1"/>
                      <a:endParaRPr lang="ko-KR" altLang="en-US"/>
                    </a:p>
                  </a:txBody>
                  <a:tcPr/>
                </a:tc>
                <a:tc>
                  <a:txBody>
                    <a:bodyPr/>
                    <a:lstStyle/>
                    <a:p>
                      <a:pPr algn="ctr"/>
                      <a:r>
                        <a:rPr sz="1200" b="0" dirty="0"/>
                        <a:t>Fold 5</a:t>
                      </a:r>
                    </a:p>
                  </a:txBody>
                  <a:tcPr anchor="ctr"/>
                </a:tc>
                <a:tc>
                  <a:txBody>
                    <a:bodyPr/>
                    <a:lstStyle/>
                    <a:p>
                      <a:pPr algn="ctr"/>
                      <a:r>
                        <a:rPr sz="1200" b="0" dirty="0"/>
                        <a:t>21/252</a:t>
                      </a:r>
                    </a:p>
                  </a:txBody>
                  <a:tcPr anchor="ctr"/>
                </a:tc>
                <a:tc>
                  <a:txBody>
                    <a:bodyPr/>
                    <a:lstStyle/>
                    <a:p>
                      <a:pPr algn="ctr"/>
                      <a:r>
                        <a:rPr sz="1200" b="0"/>
                        <a:t>0.760</a:t>
                      </a:r>
                    </a:p>
                  </a:txBody>
                  <a:tcPr anchor="ctr"/>
                </a:tc>
                <a:tc>
                  <a:txBody>
                    <a:bodyPr/>
                    <a:lstStyle/>
                    <a:p>
                      <a:pPr algn="ctr"/>
                      <a:r>
                        <a:rPr sz="1200" b="0" dirty="0"/>
                        <a:t>0.643</a:t>
                      </a:r>
                    </a:p>
                  </a:txBody>
                  <a:tcPr anchor="ctr"/>
                </a:tc>
                <a:tc>
                  <a:txBody>
                    <a:bodyPr/>
                    <a:lstStyle/>
                    <a:p>
                      <a:pPr algn="ctr"/>
                      <a:r>
                        <a:rPr sz="1200" b="0" dirty="0"/>
                        <a:t>0.762</a:t>
                      </a:r>
                    </a:p>
                  </a:txBody>
                  <a:tcPr anchor="ctr"/>
                </a:tc>
                <a:tc>
                  <a:txBody>
                    <a:bodyPr/>
                    <a:lstStyle/>
                    <a:p>
                      <a:pPr algn="ctr"/>
                      <a:r>
                        <a:rPr sz="1200" b="0" dirty="0"/>
                        <a:t>0.632</a:t>
                      </a:r>
                    </a:p>
                  </a:txBody>
                  <a:tcPr anchor="ctr"/>
                </a:tc>
                <a:extLst>
                  <a:ext uri="{0D108BD9-81ED-4DB2-BD59-A6C34878D82A}">
                    <a16:rowId xmlns:a16="http://schemas.microsoft.com/office/drawing/2014/main" val="435901359"/>
                  </a:ext>
                </a:extLst>
              </a:tr>
              <a:tr h="165310">
                <a:tc vMerge="1">
                  <a:txBody>
                    <a:bodyPr/>
                    <a:lstStyle/>
                    <a:p>
                      <a:pPr latinLnBrk="1"/>
                      <a:endParaRPr lang="ko-KR" altLang="en-US"/>
                    </a:p>
                  </a:txBody>
                  <a:tcPr/>
                </a:tc>
                <a:tc>
                  <a:txBody>
                    <a:bodyPr/>
                    <a:lstStyle/>
                    <a:p>
                      <a:pPr algn="ctr"/>
                      <a:r>
                        <a:rPr sz="1200" b="0" dirty="0"/>
                        <a:t>Mean ± SD</a:t>
                      </a:r>
                    </a:p>
                  </a:txBody>
                  <a:tcPr anchor="ctr"/>
                </a:tc>
                <a:tc>
                  <a:txBody>
                    <a:bodyPr/>
                    <a:lstStyle/>
                    <a:p>
                      <a:pPr algn="ctr"/>
                      <a:r>
                        <a:rPr sz="1200" b="0" dirty="0"/>
                        <a:t>105/1260</a:t>
                      </a:r>
                    </a:p>
                  </a:txBody>
                  <a:tcPr anchor="ctr"/>
                </a:tc>
                <a:tc>
                  <a:txBody>
                    <a:bodyPr/>
                    <a:lstStyle/>
                    <a:p>
                      <a:pPr algn="ctr"/>
                      <a:r>
                        <a:rPr sz="1200" b="0"/>
                        <a:t>0.784 ± 0.038</a:t>
                      </a:r>
                    </a:p>
                  </a:txBody>
                  <a:tcPr anchor="ctr"/>
                </a:tc>
                <a:tc>
                  <a:txBody>
                    <a:bodyPr/>
                    <a:lstStyle/>
                    <a:p>
                      <a:pPr algn="ctr"/>
                      <a:r>
                        <a:rPr sz="1200" b="0"/>
                        <a:t>0.660 ± 0.051</a:t>
                      </a:r>
                    </a:p>
                  </a:txBody>
                  <a:tcPr anchor="ctr"/>
                </a:tc>
                <a:tc>
                  <a:txBody>
                    <a:bodyPr/>
                    <a:lstStyle/>
                    <a:p>
                      <a:pPr algn="ctr"/>
                      <a:r>
                        <a:rPr sz="1200" b="0"/>
                        <a:t>0.810 ± 0.075</a:t>
                      </a:r>
                    </a:p>
                  </a:txBody>
                  <a:tcPr anchor="ctr"/>
                </a:tc>
                <a:tc>
                  <a:txBody>
                    <a:bodyPr/>
                    <a:lstStyle/>
                    <a:p>
                      <a:pPr algn="ctr"/>
                      <a:r>
                        <a:rPr sz="1200" b="0" dirty="0"/>
                        <a:t>0.646 ± 0.062</a:t>
                      </a:r>
                    </a:p>
                  </a:txBody>
                  <a:tcPr anchor="ctr"/>
                </a:tc>
                <a:extLst>
                  <a:ext uri="{0D108BD9-81ED-4DB2-BD59-A6C34878D82A}">
                    <a16:rowId xmlns:a16="http://schemas.microsoft.com/office/drawing/2014/main" val="3940054438"/>
                  </a:ext>
                </a:extLst>
              </a:tr>
              <a:tr h="165310">
                <a:tc vMerge="1">
                  <a:txBody>
                    <a:bodyPr/>
                    <a:lstStyle/>
                    <a:p>
                      <a:endParaRPr dirty="0"/>
                    </a:p>
                  </a:txBody>
                  <a:tcPr anchor="ctr"/>
                </a:tc>
                <a:tc>
                  <a:txBody>
                    <a:bodyPr/>
                    <a:lstStyle/>
                    <a:p>
                      <a:pPr algn="ctr"/>
                      <a:r>
                        <a:rPr sz="1200" b="0"/>
                        <a:t>External</a:t>
                      </a:r>
                    </a:p>
                  </a:txBody>
                  <a:tcPr anchor="ctr"/>
                </a:tc>
                <a:tc>
                  <a:txBody>
                    <a:bodyPr/>
                    <a:lstStyle/>
                    <a:p>
                      <a:pPr algn="ctr"/>
                      <a:r>
                        <a:rPr sz="1200" b="0"/>
                        <a:t>188/1123</a:t>
                      </a:r>
                    </a:p>
                  </a:txBody>
                  <a:tcPr anchor="ctr"/>
                </a:tc>
                <a:tc>
                  <a:txBody>
                    <a:bodyPr/>
                    <a:lstStyle/>
                    <a:p>
                      <a:pPr algn="ctr"/>
                      <a:r>
                        <a:rPr sz="1200" b="0"/>
                        <a:t>0.681</a:t>
                      </a:r>
                    </a:p>
                  </a:txBody>
                  <a:tcPr anchor="ctr"/>
                </a:tc>
                <a:tc>
                  <a:txBody>
                    <a:bodyPr/>
                    <a:lstStyle/>
                    <a:p>
                      <a:pPr algn="ctr"/>
                      <a:r>
                        <a:rPr sz="1200" b="0" dirty="0"/>
                        <a:t>0.487</a:t>
                      </a:r>
                    </a:p>
                  </a:txBody>
                  <a:tcPr anchor="ctr"/>
                </a:tc>
                <a:tc>
                  <a:txBody>
                    <a:bodyPr/>
                    <a:lstStyle/>
                    <a:p>
                      <a:pPr algn="ctr"/>
                      <a:r>
                        <a:rPr sz="1200" b="0" dirty="0"/>
                        <a:t>0.840</a:t>
                      </a:r>
                    </a:p>
                  </a:txBody>
                  <a:tcPr anchor="ctr"/>
                </a:tc>
                <a:tc>
                  <a:txBody>
                    <a:bodyPr/>
                    <a:lstStyle/>
                    <a:p>
                      <a:pPr algn="ctr"/>
                      <a:r>
                        <a:rPr sz="1200" b="0" dirty="0"/>
                        <a:t>0.416</a:t>
                      </a:r>
                    </a:p>
                  </a:txBody>
                  <a:tcPr anchor="ct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196647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산출 과정 (Table 3·4)</a:t>
            </a:r>
          </a:p>
        </p:txBody>
      </p:sp>
      <p:sp>
        <p:nvSpPr>
          <p:cNvPr id="3" name="Content Placeholder 2"/>
          <p:cNvSpPr>
            <a:spLocks noGrp="1"/>
          </p:cNvSpPr>
          <p:nvPr>
            <p:ph idx="1"/>
          </p:nvPr>
        </p:nvSpPr>
        <p:spPr>
          <a:xfrm>
            <a:off x="508000" y="897468"/>
            <a:ext cx="11176000" cy="5063066"/>
          </a:xfrm>
        </p:spPr>
        <p:txBody>
          <a:bodyPr>
            <a:noAutofit/>
          </a:bodyPr>
          <a:lstStyle/>
          <a:p>
            <a:r>
              <a:rPr lang="ko-KR" altLang="en-US" sz="1800" dirty="0"/>
              <a:t>대상</a:t>
            </a:r>
            <a:r>
              <a:rPr sz="1800" dirty="0"/>
              <a:t>: </a:t>
            </a:r>
            <a:r>
              <a:rPr sz="1800" dirty="0" err="1"/>
              <a:t>강남</a:t>
            </a:r>
            <a:r>
              <a:rPr sz="1800" dirty="0"/>
              <a:t> </a:t>
            </a:r>
            <a:r>
              <a:rPr sz="1800" dirty="0" err="1"/>
              <a:t>코호트</a:t>
            </a:r>
            <a:r>
              <a:rPr sz="1800" dirty="0"/>
              <a:t> </a:t>
            </a:r>
            <a:r>
              <a:rPr sz="1800" dirty="0" err="1"/>
              <a:t>전체</a:t>
            </a:r>
            <a:r>
              <a:rPr sz="1800" dirty="0"/>
              <a:t> 1,260명</a:t>
            </a:r>
            <a:r>
              <a:rPr lang="en-US" sz="1800" dirty="0"/>
              <a:t> </a:t>
            </a:r>
            <a:r>
              <a:rPr sz="1800" dirty="0"/>
              <a:t>(</a:t>
            </a:r>
            <a:r>
              <a:rPr sz="1800" dirty="0" err="1"/>
              <a:t>고혈압</a:t>
            </a:r>
            <a:r>
              <a:rPr sz="1800" dirty="0"/>
              <a:t> 386·당뇨병 233·만성신장질환 105명이 </a:t>
            </a:r>
            <a:r>
              <a:rPr sz="1800" dirty="0" err="1"/>
              <a:t>양성</a:t>
            </a:r>
            <a:r>
              <a:rPr sz="1800" dirty="0"/>
              <a:t>)</a:t>
            </a:r>
          </a:p>
          <a:p>
            <a:r>
              <a:rPr lang="en-US" sz="1800" dirty="0"/>
              <a:t>Input</a:t>
            </a:r>
            <a:r>
              <a:rPr sz="1800" dirty="0"/>
              <a:t>: </a:t>
            </a:r>
            <a:r>
              <a:rPr sz="1800" dirty="0" err="1"/>
              <a:t>Baseline은</a:t>
            </a:r>
            <a:r>
              <a:rPr sz="1800" dirty="0"/>
              <a:t> </a:t>
            </a:r>
            <a:r>
              <a:rPr sz="1800" dirty="0" err="1"/>
              <a:t>성별·나이·키·몸무게</a:t>
            </a:r>
            <a:r>
              <a:rPr sz="1800" dirty="0"/>
              <a:t>, </a:t>
            </a:r>
            <a:r>
              <a:rPr sz="1800" dirty="0" err="1"/>
              <a:t>Best는</a:t>
            </a:r>
            <a:r>
              <a:rPr sz="1800" dirty="0"/>
              <a:t> </a:t>
            </a:r>
            <a:r>
              <a:rPr sz="1800" dirty="0" err="1"/>
              <a:t>여기에</a:t>
            </a:r>
            <a:r>
              <a:rPr sz="1800" dirty="0"/>
              <a:t> </a:t>
            </a:r>
            <a:r>
              <a:rPr sz="1800" dirty="0" err="1"/>
              <a:t>AEC·체성분</a:t>
            </a:r>
            <a:r>
              <a:rPr sz="1800" dirty="0"/>
              <a:t> FPCA </a:t>
            </a:r>
            <a:r>
              <a:rPr sz="1800" dirty="0" err="1"/>
              <a:t>점수</a:t>
            </a:r>
            <a:r>
              <a:rPr sz="1800" dirty="0"/>
              <a:t> 14개 </a:t>
            </a:r>
            <a:r>
              <a:rPr sz="1800" dirty="0" err="1"/>
              <a:t>추가</a:t>
            </a:r>
            <a:endParaRPr lang="en-US" sz="1800" dirty="0"/>
          </a:p>
          <a:p>
            <a:r>
              <a:rPr sz="1800" dirty="0" err="1"/>
              <a:t>모델</a:t>
            </a:r>
            <a:r>
              <a:rPr sz="1800" dirty="0"/>
              <a:t>: </a:t>
            </a:r>
            <a:r>
              <a:rPr sz="1800" dirty="0" err="1"/>
              <a:t>질환별</a:t>
            </a:r>
            <a:r>
              <a:rPr sz="1800" dirty="0"/>
              <a:t> </a:t>
            </a:r>
            <a:r>
              <a:rPr lang="en-US" sz="1800" dirty="0"/>
              <a:t>Logistic Regression</a:t>
            </a:r>
          </a:p>
          <a:p>
            <a:r>
              <a:rPr sz="1800" dirty="0"/>
              <a:t>Coefficient: 변수 1SD 증가 시 log-odds 변화(성별은 여→남)</a:t>
            </a:r>
          </a:p>
          <a:p>
            <a:r>
              <a:rPr sz="1800" dirty="0"/>
              <a:t>p-value: Wald 검정. "이 변수의 계수가 0(영향 없음)"이라고 가정하고 검정</a:t>
            </a:r>
          </a:p>
          <a:p>
            <a:pPr lvl="1"/>
            <a:r>
              <a:rPr sz="1600" dirty="0"/>
              <a:t>Z = Coefficient ÷ 표준오차. |Z|가 클수록 p-value가 작아짐(p&lt;0.05를 *로 표시)</a:t>
            </a:r>
          </a:p>
          <a:p>
            <a:pPr lvl="1"/>
            <a:r>
              <a:rPr sz="1600" dirty="0"/>
              <a:t>다른 변수를 보정한 뒤 해당 변수의 독립적 효과를 평가(질환군-비질환군 평균 비교 아님)</a:t>
            </a:r>
          </a:p>
        </p:txBody>
      </p:sp>
      <p:sp>
        <p:nvSpPr>
          <p:cNvPr id="4" name="슬라이드 번호 개체 틀 3">
            <a:extLst>
              <a:ext uri="{FF2B5EF4-FFF2-40B4-BE49-F238E27FC236}">
                <a16:creationId xmlns:a16="http://schemas.microsoft.com/office/drawing/2014/main" id="{048D9492-77D8-9D4C-A0F4-E86DA11F67DE}"/>
              </a:ext>
            </a:extLst>
          </p:cNvPr>
          <p:cNvSpPr>
            <a:spLocks noGrp="1"/>
          </p:cNvSpPr>
          <p:nvPr>
            <p:ph type="sldNum" sz="quarter" idx="12"/>
          </p:nvPr>
        </p:nvSpPr>
        <p:spPr/>
        <p:txBody>
          <a:bodyPr/>
          <a:lstStyle/>
          <a:p>
            <a:fld id="{9F4AF89A-28FA-47FA-B28F-9A9C6913CB7A}" type="slidenum">
              <a:rPr lang="ko-KR" altLang="en-US" smtClean="0"/>
              <a:pPr/>
              <a:t>8</a:t>
            </a:fld>
            <a:endParaRPr lang="ko-KR" alt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Table 3. Coefficient 비교 (Baseline vs Best)</a:t>
            </a:r>
          </a:p>
        </p:txBody>
      </p:sp>
      <p:sp>
        <p:nvSpPr>
          <p:cNvPr id="3" name="내용 개체 틀 2">
            <a:extLst>
              <a:ext uri="{FF2B5EF4-FFF2-40B4-BE49-F238E27FC236}">
                <a16:creationId xmlns:a16="http://schemas.microsoft.com/office/drawing/2014/main" id="{E9891E5D-39AF-0C58-D5D9-BF4A51EBFA3A}"/>
              </a:ext>
            </a:extLst>
          </p:cNvPr>
          <p:cNvSpPr>
            <a:spLocks noGrp="1"/>
          </p:cNvSpPr>
          <p:nvPr>
            <p:ph idx="1"/>
          </p:nvPr>
        </p:nvSpPr>
        <p:spPr/>
        <p:txBody>
          <a:bodyPr>
            <a:normAutofit/>
          </a:bodyPr>
          <a:lstStyle/>
          <a:p>
            <a:r>
              <a:rPr lang="en-US" altLang="ko-KR" sz="1600" b="1" dirty="0">
                <a:latin typeface="KoPub돋움체 Medium" panose="00000600000000000000" pitchFamily="2" charset="-127"/>
              </a:rPr>
              <a:t>AEC·체성분 추가 후 성별·나이는 대체로 유의, 키·몸무게는 대부분 비유의</a:t>
            </a:r>
          </a:p>
        </p:txBody>
      </p:sp>
      <p:sp>
        <p:nvSpPr>
          <p:cNvPr id="4" name="슬라이드 번호 개체 틀 3">
            <a:extLst>
              <a:ext uri="{FF2B5EF4-FFF2-40B4-BE49-F238E27FC236}">
                <a16:creationId xmlns:a16="http://schemas.microsoft.com/office/drawing/2014/main" id="{048D9492-77D8-9D4C-A0F4-E86DA11F67DE}"/>
              </a:ext>
            </a:extLst>
          </p:cNvPr>
          <p:cNvSpPr>
            <a:spLocks noGrp="1"/>
          </p:cNvSpPr>
          <p:nvPr>
            <p:ph type="sldNum" sz="quarter" idx="12"/>
          </p:nvPr>
        </p:nvSpPr>
        <p:spPr/>
        <p:txBody>
          <a:bodyPr/>
          <a:lstStyle/>
          <a:p>
            <a:fld id="{9F4AF89A-28FA-47FA-B28F-9A9C6913CB7A}" type="slidenum">
              <a:rPr lang="ko-KR" altLang="en-US" smtClean="0"/>
              <a:pPr/>
              <a:t>9</a:t>
            </a:fld>
            <a:endParaRPr lang="ko-KR" altLang="en-US" dirty="0"/>
          </a:p>
        </p:txBody>
      </p:sp>
      <p:graphicFrame>
        <p:nvGraphicFramePr>
          <p:cNvPr id="7" name="Table 6"/>
          <p:cNvGraphicFramePr>
            <a:graphicFrameLocks noGrp="1"/>
          </p:cNvGraphicFramePr>
          <p:nvPr>
            <p:extLst>
              <p:ext uri="{D42A27DB-BD31-4B8C-83A1-F6EECF244321}">
                <p14:modId xmlns:p14="http://schemas.microsoft.com/office/powerpoint/2010/main" val="3095443965"/>
              </p:ext>
            </p:extLst>
          </p:nvPr>
        </p:nvGraphicFramePr>
        <p:xfrm>
          <a:off x="512064" y="1460666"/>
          <a:ext cx="11175998" cy="4866040"/>
        </p:xfrm>
        <a:graphic>
          <a:graphicData uri="http://schemas.openxmlformats.org/drawingml/2006/table">
            <a:tbl>
              <a:tblPr firstRow="1" bandRow="1">
                <a:tableStyleId>{C083E6E3-FA7D-4D7B-A595-EF9225AFEA82}</a:tableStyleId>
              </a:tblPr>
              <a:tblGrid>
                <a:gridCol w="1564639">
                  <a:extLst>
                    <a:ext uri="{9D8B030D-6E8A-4147-A177-3AD203B41FA5}">
                      <a16:colId xmlns:a16="http://schemas.microsoft.com/office/drawing/2014/main" val="20000"/>
                    </a:ext>
                  </a:extLst>
                </a:gridCol>
                <a:gridCol w="1341119">
                  <a:extLst>
                    <a:ext uri="{9D8B030D-6E8A-4147-A177-3AD203B41FA5}">
                      <a16:colId xmlns:a16="http://schemas.microsoft.com/office/drawing/2014/main" val="20001"/>
                    </a:ext>
                  </a:extLst>
                </a:gridCol>
                <a:gridCol w="2067560">
                  <a:extLst>
                    <a:ext uri="{9D8B030D-6E8A-4147-A177-3AD203B41FA5}">
                      <a16:colId xmlns:a16="http://schemas.microsoft.com/office/drawing/2014/main" val="20002"/>
                    </a:ext>
                  </a:extLst>
                </a:gridCol>
                <a:gridCol w="2067560">
                  <a:extLst>
                    <a:ext uri="{9D8B030D-6E8A-4147-A177-3AD203B41FA5}">
                      <a16:colId xmlns:a16="http://schemas.microsoft.com/office/drawing/2014/main" val="20004"/>
                    </a:ext>
                  </a:extLst>
                </a:gridCol>
                <a:gridCol w="2067560">
                  <a:extLst>
                    <a:ext uri="{9D8B030D-6E8A-4147-A177-3AD203B41FA5}">
                      <a16:colId xmlns:a16="http://schemas.microsoft.com/office/drawing/2014/main" val="20005"/>
                    </a:ext>
                  </a:extLst>
                </a:gridCol>
                <a:gridCol w="2067560">
                  <a:extLst>
                    <a:ext uri="{9D8B030D-6E8A-4147-A177-3AD203B41FA5}">
                      <a16:colId xmlns:a16="http://schemas.microsoft.com/office/drawing/2014/main" val="20007"/>
                    </a:ext>
                  </a:extLst>
                </a:gridCol>
              </a:tblGrid>
              <a:tr h="322432">
                <a:tc>
                  <a:txBody>
                    <a:bodyPr/>
                    <a:lstStyle/>
                    <a:p>
                      <a:pPr algn="ctr"/>
                      <a:r>
                        <a:rPr sz="1100" b="1" dirty="0"/>
                        <a:t>Disease</a:t>
                      </a:r>
                    </a:p>
                  </a:txBody>
                  <a:tcPr anchor="ctr">
                    <a:lnR w="12700" cap="flat" cmpd="sng" algn="ctr">
                      <a:noFill/>
                      <a:prstDash val="solid"/>
                      <a:round/>
                      <a:headEnd type="none" w="med" len="med"/>
                      <a:tailEnd type="none" w="med" len="med"/>
                    </a:lnR>
                  </a:tcPr>
                </a:tc>
                <a:tc>
                  <a:txBody>
                    <a:bodyPr/>
                    <a:lstStyle/>
                    <a:p>
                      <a:pPr algn="ctr"/>
                      <a:r>
                        <a:rPr sz="1100" b="1" dirty="0"/>
                        <a:t>Term</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tcPr>
                </a:tc>
                <a:tc gridSpan="2">
                  <a:txBody>
                    <a:bodyPr/>
                    <a:lstStyle/>
                    <a:p>
                      <a:pPr algn="ctr"/>
                      <a:r>
                        <a:rPr sz="1100" b="1" dirty="0"/>
                        <a:t>Baseline</a:t>
                      </a: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tcPr>
                </a:tc>
                <a:tc hMerge="1">
                  <a:txBody>
                    <a:bodyPr/>
                    <a:lstStyle/>
                    <a:p>
                      <a:endParaRPr/>
                    </a:p>
                  </a:txBody>
                  <a:tcPr/>
                </a:tc>
                <a:tc gridSpan="2">
                  <a:txBody>
                    <a:bodyPr/>
                    <a:lstStyle/>
                    <a:p>
                      <a:pPr algn="ctr"/>
                      <a:r>
                        <a:rPr sz="1100" b="1"/>
                        <a:t>Best (+AEC+체성분)</a:t>
                      </a:r>
                    </a:p>
                  </a:txBody>
                  <a:tcPr anchor="ctr">
                    <a:lnL w="12700" cap="flat" cmpd="sng" algn="ctr">
                      <a:solidFill>
                        <a:schemeClr val="bg1">
                          <a:lumMod val="65000"/>
                        </a:schemeClr>
                      </a:solidFill>
                      <a:prstDash val="solid"/>
                      <a:round/>
                      <a:headEnd type="none" w="med" len="med"/>
                      <a:tailEnd type="none" w="med" len="med"/>
                    </a:lnL>
                  </a:tcPr>
                </a:tc>
                <a:tc hMerge="1">
                  <a:txBody>
                    <a:bodyPr/>
                    <a:lstStyle/>
                    <a:p>
                      <a:endParaRPr/>
                    </a:p>
                  </a:txBody>
                  <a:tcPr/>
                </a:tc>
                <a:extLst>
                  <a:ext uri="{0D108BD9-81ED-4DB2-BD59-A6C34878D82A}">
                    <a16:rowId xmlns:a16="http://schemas.microsoft.com/office/drawing/2014/main" val="10000"/>
                  </a:ext>
                </a:extLst>
              </a:tr>
              <a:tr h="356728">
                <a:tc>
                  <a:txBody>
                    <a:bodyPr/>
                    <a:lstStyle/>
                    <a:p>
                      <a:pPr algn="ctr"/>
                      <a:endParaRPr dirty="0"/>
                    </a:p>
                  </a:txBody>
                  <a:tcPr anchor="ctr">
                    <a:lnR w="12700" cap="flat" cmpd="sng" algn="ctr">
                      <a:noFill/>
                      <a:prstDash val="solid"/>
                      <a:round/>
                      <a:headEnd type="none" w="med" len="med"/>
                      <a:tailEnd type="none" w="med" len="med"/>
                    </a:lnR>
                    <a:lnB w="12700" cap="flat" cmpd="sng" algn="ctr">
                      <a:solidFill>
                        <a:schemeClr val="bg1">
                          <a:lumMod val="65000"/>
                        </a:schemeClr>
                      </a:solidFill>
                      <a:prstDash val="solid"/>
                      <a:round/>
                      <a:headEnd type="none" w="med" len="med"/>
                      <a:tailEnd type="none" w="med" len="med"/>
                    </a:lnB>
                  </a:tcPr>
                </a:tc>
                <a:tc>
                  <a:txBody>
                    <a:bodyPr/>
                    <a:lstStyle/>
                    <a:p>
                      <a:pPr algn="ctr"/>
                      <a:endParaRP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B w="12700" cap="flat" cmpd="sng" algn="ctr">
                      <a:solidFill>
                        <a:schemeClr val="bg1">
                          <a:lumMod val="65000"/>
                        </a:schemeClr>
                      </a:solidFill>
                      <a:prstDash val="solid"/>
                      <a:round/>
                      <a:headEnd type="none" w="med" len="med"/>
                      <a:tailEnd type="none" w="med" len="med"/>
                    </a:lnB>
                  </a:tcPr>
                </a:tc>
                <a:tc>
                  <a:txBody>
                    <a:bodyPr/>
                    <a:lstStyle/>
                    <a:p>
                      <a:pPr algn="ctr"/>
                      <a:r>
                        <a:rPr sz="1100" b="1"/>
                        <a:t>Coefficient</a:t>
                      </a:r>
                    </a:p>
                  </a:txBody>
                  <a:tcPr anchor="ctr">
                    <a:lnL w="12700" cap="flat" cmpd="sng" algn="ctr">
                      <a:solidFill>
                        <a:schemeClr val="bg1">
                          <a:lumMod val="65000"/>
                        </a:schemeClr>
                      </a:solidFill>
                      <a:prstDash val="solid"/>
                      <a:round/>
                      <a:headEnd type="none" w="med" len="med"/>
                      <a:tailEnd type="none" w="med" len="med"/>
                    </a:lnL>
                    <a:lnB w="12700" cap="flat" cmpd="sng" algn="ctr">
                      <a:solidFill>
                        <a:schemeClr val="bg1">
                          <a:lumMod val="65000"/>
                        </a:schemeClr>
                      </a:solidFill>
                      <a:prstDash val="solid"/>
                      <a:round/>
                      <a:headEnd type="none" w="med" len="med"/>
                      <a:tailEnd type="none" w="med" len="med"/>
                    </a:lnB>
                  </a:tcPr>
                </a:tc>
                <a:tc>
                  <a:txBody>
                    <a:bodyPr/>
                    <a:lstStyle/>
                    <a:p>
                      <a:pPr algn="ctr"/>
                      <a:r>
                        <a:rPr sz="1100" b="1"/>
                        <a:t>p-value</a:t>
                      </a:r>
                    </a:p>
                  </a:txBody>
                  <a:tcPr anchor="ctr">
                    <a:lnR w="12700" cap="flat" cmpd="sng" algn="ctr">
                      <a:solidFill>
                        <a:schemeClr val="bg1">
                          <a:lumMod val="65000"/>
                        </a:schemeClr>
                      </a:solidFill>
                      <a:prstDash val="solid"/>
                      <a:round/>
                      <a:headEnd type="none" w="med" len="med"/>
                      <a:tailEnd type="none" w="med" len="med"/>
                    </a:lnR>
                    <a:lnB w="12700" cap="flat" cmpd="sng" algn="ctr">
                      <a:solidFill>
                        <a:schemeClr val="bg1">
                          <a:lumMod val="65000"/>
                        </a:schemeClr>
                      </a:solidFill>
                      <a:prstDash val="solid"/>
                      <a:round/>
                      <a:headEnd type="none" w="med" len="med"/>
                      <a:tailEnd type="none" w="med" len="med"/>
                    </a:lnB>
                  </a:tcPr>
                </a:tc>
                <a:tc>
                  <a:txBody>
                    <a:bodyPr/>
                    <a:lstStyle/>
                    <a:p>
                      <a:pPr algn="ctr"/>
                      <a:r>
                        <a:rPr sz="1100" b="1"/>
                        <a:t>Coefficient</a:t>
                      </a:r>
                    </a:p>
                  </a:txBody>
                  <a:tcPr anchor="ctr">
                    <a:lnL w="12700" cap="flat" cmpd="sng" algn="ctr">
                      <a:solidFill>
                        <a:schemeClr val="bg1">
                          <a:lumMod val="65000"/>
                        </a:schemeClr>
                      </a:solidFill>
                      <a:prstDash val="solid"/>
                      <a:round/>
                      <a:headEnd type="none" w="med" len="med"/>
                      <a:tailEnd type="none" w="med" len="med"/>
                    </a:lnL>
                    <a:lnB w="12700" cap="flat" cmpd="sng" algn="ctr">
                      <a:solidFill>
                        <a:schemeClr val="bg1">
                          <a:lumMod val="65000"/>
                        </a:schemeClr>
                      </a:solidFill>
                      <a:prstDash val="solid"/>
                      <a:round/>
                      <a:headEnd type="none" w="med" len="med"/>
                      <a:tailEnd type="none" w="med" len="med"/>
                    </a:lnB>
                  </a:tcPr>
                </a:tc>
                <a:tc>
                  <a:txBody>
                    <a:bodyPr/>
                    <a:lstStyle/>
                    <a:p>
                      <a:pPr algn="ctr"/>
                      <a:r>
                        <a:rPr sz="1100" b="1"/>
                        <a:t>p-value</a:t>
                      </a:r>
                    </a:p>
                  </a:txBody>
                  <a:tcPr anchor="ctr">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1"/>
                  </a:ext>
                </a:extLst>
              </a:tr>
              <a:tr h="322432">
                <a:tc rowSpan="4">
                  <a:txBody>
                    <a:bodyPr/>
                    <a:lstStyle/>
                    <a:p>
                      <a:pPr algn="ctr"/>
                      <a:r>
                        <a:rPr sz="1100" b="0" dirty="0" err="1"/>
                        <a:t>고혈압</a:t>
                      </a:r>
                      <a:r>
                        <a:rPr sz="1100" b="0" dirty="0"/>
                        <a:t>(HTN)</a:t>
                      </a:r>
                    </a:p>
                  </a:txBody>
                  <a:tcPr anchor="ctr">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r>
                        <a:rPr sz="1100" b="0"/>
                        <a:t>Sex (M)</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tcPr>
                </a:tc>
                <a:tc>
                  <a:txBody>
                    <a:bodyPr/>
                    <a:lstStyle/>
                    <a:p>
                      <a:pPr algn="ctr"/>
                      <a:r>
                        <a:rPr sz="1100" b="0"/>
                        <a:t>0.872</a:t>
                      </a:r>
                    </a:p>
                  </a:txBody>
                  <a:tcPr anchor="ctr">
                    <a:lnL w="12700" cap="flat" cmpd="sng" algn="ctr">
                      <a:solidFill>
                        <a:schemeClr val="bg1">
                          <a:lumMod val="65000"/>
                        </a:schemeClr>
                      </a:solidFill>
                      <a:prstDash val="solid"/>
                      <a:round/>
                      <a:headEnd type="none" w="med" len="med"/>
                      <a:tailEnd type="none" w="med" len="med"/>
                    </a:lnL>
                    <a:lnT w="12700" cap="flat" cmpd="sng" algn="ctr">
                      <a:solidFill>
                        <a:schemeClr val="bg1">
                          <a:lumMod val="65000"/>
                        </a:schemeClr>
                      </a:solidFill>
                      <a:prstDash val="solid"/>
                      <a:round/>
                      <a:headEnd type="none" w="med" len="med"/>
                      <a:tailEnd type="none" w="med" len="med"/>
                    </a:lnT>
                  </a:tcPr>
                </a:tc>
                <a:tc>
                  <a:txBody>
                    <a:bodyPr/>
                    <a:lstStyle/>
                    <a:p>
                      <a:pPr algn="ctr"/>
                      <a:r>
                        <a:rPr sz="1100" b="0"/>
                        <a:t>&lt;0.001*</a:t>
                      </a:r>
                    </a:p>
                  </a:txBody>
                  <a:tcPr anchor="ctr">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tcPr>
                </a:tc>
                <a:tc>
                  <a:txBody>
                    <a:bodyPr/>
                    <a:lstStyle/>
                    <a:p>
                      <a:pPr algn="ctr"/>
                      <a:r>
                        <a:rPr sz="1100" b="0"/>
                        <a:t>1.178</a:t>
                      </a:r>
                    </a:p>
                  </a:txBody>
                  <a:tcPr anchor="ctr">
                    <a:lnL w="12700" cap="flat" cmpd="sng" algn="ctr">
                      <a:solidFill>
                        <a:schemeClr val="bg1">
                          <a:lumMod val="65000"/>
                        </a:schemeClr>
                      </a:solidFill>
                      <a:prstDash val="solid"/>
                      <a:round/>
                      <a:headEnd type="none" w="med" len="med"/>
                      <a:tailEnd type="none" w="med" len="med"/>
                    </a:lnL>
                    <a:lnT w="12700" cap="flat" cmpd="sng" algn="ctr">
                      <a:solidFill>
                        <a:schemeClr val="bg1">
                          <a:lumMod val="65000"/>
                        </a:schemeClr>
                      </a:solidFill>
                      <a:prstDash val="solid"/>
                      <a:round/>
                      <a:headEnd type="none" w="med" len="med"/>
                      <a:tailEnd type="none" w="med" len="med"/>
                    </a:lnT>
                  </a:tcPr>
                </a:tc>
                <a:tc>
                  <a:txBody>
                    <a:bodyPr/>
                    <a:lstStyle/>
                    <a:p>
                      <a:pPr algn="ctr"/>
                      <a:r>
                        <a:rPr sz="1100" b="0"/>
                        <a:t>&lt;0.001*</a:t>
                      </a:r>
                    </a:p>
                  </a:txBody>
                  <a:tcPr anchor="ctr">
                    <a:lnT w="12700" cap="flat" cmpd="sng" algn="ctr">
                      <a:solidFill>
                        <a:schemeClr val="bg1">
                          <a:lumMod val="65000"/>
                        </a:schemeClr>
                      </a:solidFill>
                      <a:prstDash val="solid"/>
                      <a:round/>
                      <a:headEnd type="none" w="med" len="med"/>
                      <a:tailEnd type="none" w="med" len="med"/>
                    </a:lnT>
                  </a:tcPr>
                </a:tc>
                <a:extLst>
                  <a:ext uri="{0D108BD9-81ED-4DB2-BD59-A6C34878D82A}">
                    <a16:rowId xmlns:a16="http://schemas.microsoft.com/office/drawing/2014/main" val="10002"/>
                  </a:ext>
                </a:extLst>
              </a:tr>
              <a:tr h="356728">
                <a:tc vMerge="1">
                  <a:txBody>
                    <a:bodyPr/>
                    <a:lstStyle/>
                    <a:p>
                      <a:pPr algn="ctr"/>
                      <a:endParaRPr dirty="0"/>
                    </a:p>
                  </a:txBody>
                  <a:tcPr/>
                </a:tc>
                <a:tc>
                  <a:txBody>
                    <a:bodyPr/>
                    <a:lstStyle/>
                    <a:p>
                      <a:pPr algn="ctr"/>
                      <a:r>
                        <a:rPr sz="1100" b="0"/>
                        <a:t>Age</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tcPr>
                </a:tc>
                <a:tc>
                  <a:txBody>
                    <a:bodyPr/>
                    <a:lstStyle/>
                    <a:p>
                      <a:pPr algn="ctr"/>
                      <a:r>
                        <a:rPr sz="1100" b="0"/>
                        <a:t>1.016</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&lt;0.001*</a:t>
                      </a:r>
                    </a:p>
                  </a:txBody>
                  <a:tcPr anchor="ctr">
                    <a:lnR w="12700" cap="flat" cmpd="sng" algn="ctr">
                      <a:solidFill>
                        <a:schemeClr val="bg1">
                          <a:lumMod val="65000"/>
                        </a:schemeClr>
                      </a:solidFill>
                      <a:prstDash val="solid"/>
                      <a:round/>
                      <a:headEnd type="none" w="med" len="med"/>
                      <a:tailEnd type="none" w="med" len="med"/>
                    </a:lnR>
                  </a:tcPr>
                </a:tc>
                <a:tc>
                  <a:txBody>
                    <a:bodyPr/>
                    <a:lstStyle/>
                    <a:p>
                      <a:pPr algn="ctr"/>
                      <a:r>
                        <a:rPr sz="1100" b="0"/>
                        <a:t>0.693</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&lt;0.001*</a:t>
                      </a:r>
                    </a:p>
                  </a:txBody>
                  <a:tcPr anchor="ctr"/>
                </a:tc>
                <a:extLst>
                  <a:ext uri="{0D108BD9-81ED-4DB2-BD59-A6C34878D82A}">
                    <a16:rowId xmlns:a16="http://schemas.microsoft.com/office/drawing/2014/main" val="10003"/>
                  </a:ext>
                </a:extLst>
              </a:tr>
              <a:tr h="356728">
                <a:tc vMerge="1">
                  <a:txBody>
                    <a:bodyPr/>
                    <a:lstStyle/>
                    <a:p>
                      <a:pPr algn="ctr"/>
                      <a:endParaRPr dirty="0"/>
                    </a:p>
                  </a:txBody>
                  <a:tcPr/>
                </a:tc>
                <a:tc>
                  <a:txBody>
                    <a:bodyPr/>
                    <a:lstStyle/>
                    <a:p>
                      <a:pPr algn="ctr"/>
                      <a:r>
                        <a:rPr sz="1100" b="0"/>
                        <a:t>Height</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tcPr>
                </a:tc>
                <a:tc>
                  <a:txBody>
                    <a:bodyPr/>
                    <a:lstStyle/>
                    <a:p>
                      <a:pPr algn="ctr"/>
                      <a:r>
                        <a:rPr sz="1100" b="0"/>
                        <a:t>-0.375</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0.001*</a:t>
                      </a:r>
                    </a:p>
                  </a:txBody>
                  <a:tcPr anchor="ctr">
                    <a:lnR w="12700" cap="flat" cmpd="sng" algn="ctr">
                      <a:solidFill>
                        <a:schemeClr val="bg1">
                          <a:lumMod val="65000"/>
                        </a:schemeClr>
                      </a:solidFill>
                      <a:prstDash val="solid"/>
                      <a:round/>
                      <a:headEnd type="none" w="med" len="med"/>
                      <a:tailEnd type="none" w="med" len="med"/>
                    </a:lnR>
                  </a:tcPr>
                </a:tc>
                <a:tc>
                  <a:txBody>
                    <a:bodyPr/>
                    <a:lstStyle/>
                    <a:p>
                      <a:pPr algn="ctr"/>
                      <a:r>
                        <a:rPr sz="1100" b="0"/>
                        <a:t>-0.125</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0.346</a:t>
                      </a:r>
                    </a:p>
                  </a:txBody>
                  <a:tcPr anchor="ctr"/>
                </a:tc>
                <a:extLst>
                  <a:ext uri="{0D108BD9-81ED-4DB2-BD59-A6C34878D82A}">
                    <a16:rowId xmlns:a16="http://schemas.microsoft.com/office/drawing/2014/main" val="10004"/>
                  </a:ext>
                </a:extLst>
              </a:tr>
              <a:tr h="356728">
                <a:tc vMerge="1">
                  <a:txBody>
                    <a:bodyPr/>
                    <a:lstStyle/>
                    <a:p>
                      <a:pPr algn="ctr"/>
                      <a:endParaRPr dirty="0"/>
                    </a:p>
                  </a:txBody>
                  <a:tcPr/>
                </a:tc>
                <a:tc>
                  <a:txBody>
                    <a:bodyPr/>
                    <a:lstStyle/>
                    <a:p>
                      <a:pPr algn="ctr"/>
                      <a:r>
                        <a:rPr sz="1100" b="0"/>
                        <a:t>Weight</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B w="12700" cap="flat" cmpd="sng" algn="ctr">
                      <a:solidFill>
                        <a:schemeClr val="bg1">
                          <a:lumMod val="65000"/>
                        </a:schemeClr>
                      </a:solidFill>
                      <a:prstDash val="solid"/>
                      <a:round/>
                      <a:headEnd type="none" w="med" len="med"/>
                      <a:tailEnd type="none" w="med" len="med"/>
                    </a:lnB>
                  </a:tcPr>
                </a:tc>
                <a:tc>
                  <a:txBody>
                    <a:bodyPr/>
                    <a:lstStyle/>
                    <a:p>
                      <a:pPr algn="ctr"/>
                      <a:r>
                        <a:rPr sz="1100" b="0"/>
                        <a:t>0.603</a:t>
                      </a:r>
                    </a:p>
                  </a:txBody>
                  <a:tcPr anchor="ctr">
                    <a:lnL w="12700" cap="flat" cmpd="sng" algn="ctr">
                      <a:solidFill>
                        <a:schemeClr val="bg1">
                          <a:lumMod val="65000"/>
                        </a:schemeClr>
                      </a:solidFill>
                      <a:prstDash val="solid"/>
                      <a:round/>
                      <a:headEnd type="none" w="med" len="med"/>
                      <a:tailEnd type="none" w="med" len="med"/>
                    </a:lnL>
                    <a:lnB w="12700" cap="flat" cmpd="sng" algn="ctr">
                      <a:solidFill>
                        <a:schemeClr val="bg1">
                          <a:lumMod val="65000"/>
                        </a:schemeClr>
                      </a:solidFill>
                      <a:prstDash val="solid"/>
                      <a:round/>
                      <a:headEnd type="none" w="med" len="med"/>
                      <a:tailEnd type="none" w="med" len="med"/>
                    </a:lnB>
                  </a:tcPr>
                </a:tc>
                <a:tc>
                  <a:txBody>
                    <a:bodyPr/>
                    <a:lstStyle/>
                    <a:p>
                      <a:pPr algn="ctr"/>
                      <a:r>
                        <a:rPr sz="1100" b="0"/>
                        <a:t>&lt;0.001*</a:t>
                      </a:r>
                    </a:p>
                  </a:txBody>
                  <a:tcPr anchor="ctr">
                    <a:lnR w="12700" cap="flat" cmpd="sng" algn="ctr">
                      <a:solidFill>
                        <a:schemeClr val="bg1">
                          <a:lumMod val="65000"/>
                        </a:schemeClr>
                      </a:solidFill>
                      <a:prstDash val="solid"/>
                      <a:round/>
                      <a:headEnd type="none" w="med" len="med"/>
                      <a:tailEnd type="none" w="med" len="med"/>
                    </a:lnR>
                    <a:lnB w="12700" cap="flat" cmpd="sng" algn="ctr">
                      <a:solidFill>
                        <a:schemeClr val="bg1">
                          <a:lumMod val="65000"/>
                        </a:schemeClr>
                      </a:solidFill>
                      <a:prstDash val="solid"/>
                      <a:round/>
                      <a:headEnd type="none" w="med" len="med"/>
                      <a:tailEnd type="none" w="med" len="med"/>
                    </a:lnB>
                  </a:tcPr>
                </a:tc>
                <a:tc>
                  <a:txBody>
                    <a:bodyPr/>
                    <a:lstStyle/>
                    <a:p>
                      <a:pPr algn="ctr"/>
                      <a:r>
                        <a:rPr sz="1100" b="0"/>
                        <a:t>0.107</a:t>
                      </a:r>
                    </a:p>
                  </a:txBody>
                  <a:tcPr anchor="ctr">
                    <a:lnL w="12700" cap="flat" cmpd="sng" algn="ctr">
                      <a:solidFill>
                        <a:schemeClr val="bg1">
                          <a:lumMod val="65000"/>
                        </a:schemeClr>
                      </a:solidFill>
                      <a:prstDash val="solid"/>
                      <a:round/>
                      <a:headEnd type="none" w="med" len="med"/>
                      <a:tailEnd type="none" w="med" len="med"/>
                    </a:lnL>
                    <a:lnB w="12700" cap="flat" cmpd="sng" algn="ctr">
                      <a:solidFill>
                        <a:schemeClr val="bg1">
                          <a:lumMod val="65000"/>
                        </a:schemeClr>
                      </a:solidFill>
                      <a:prstDash val="solid"/>
                      <a:round/>
                      <a:headEnd type="none" w="med" len="med"/>
                      <a:tailEnd type="none" w="med" len="med"/>
                    </a:lnB>
                  </a:tcPr>
                </a:tc>
                <a:tc>
                  <a:txBody>
                    <a:bodyPr/>
                    <a:lstStyle/>
                    <a:p>
                      <a:pPr algn="ctr"/>
                      <a:r>
                        <a:rPr sz="1100" b="0"/>
                        <a:t>0.529</a:t>
                      </a:r>
                    </a:p>
                  </a:txBody>
                  <a:tcPr anchor="ctr">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5"/>
                  </a:ext>
                </a:extLst>
              </a:tr>
              <a:tr h="322432">
                <a:tc rowSpan="4">
                  <a:txBody>
                    <a:bodyPr/>
                    <a:lstStyle/>
                    <a:p>
                      <a:pPr algn="ctr"/>
                      <a:r>
                        <a:rPr sz="1100" b="0" dirty="0" err="1"/>
                        <a:t>당뇨병</a:t>
                      </a:r>
                      <a:r>
                        <a:rPr sz="1100" b="0" dirty="0"/>
                        <a:t>(DM)</a:t>
                      </a:r>
                    </a:p>
                  </a:txBody>
                  <a:tcPr anchor="ctr">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r>
                        <a:rPr sz="1100" b="0"/>
                        <a:t>Sex (M)</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tcPr>
                </a:tc>
                <a:tc>
                  <a:txBody>
                    <a:bodyPr/>
                    <a:lstStyle/>
                    <a:p>
                      <a:pPr algn="ctr"/>
                      <a:r>
                        <a:rPr sz="1100" b="0"/>
                        <a:t>0.675</a:t>
                      </a:r>
                    </a:p>
                  </a:txBody>
                  <a:tcPr anchor="ctr">
                    <a:lnL w="12700" cap="flat" cmpd="sng" algn="ctr">
                      <a:solidFill>
                        <a:schemeClr val="bg1">
                          <a:lumMod val="65000"/>
                        </a:schemeClr>
                      </a:solidFill>
                      <a:prstDash val="solid"/>
                      <a:round/>
                      <a:headEnd type="none" w="med" len="med"/>
                      <a:tailEnd type="none" w="med" len="med"/>
                    </a:lnL>
                    <a:lnT w="12700" cap="flat" cmpd="sng" algn="ctr">
                      <a:solidFill>
                        <a:schemeClr val="bg1">
                          <a:lumMod val="65000"/>
                        </a:schemeClr>
                      </a:solidFill>
                      <a:prstDash val="solid"/>
                      <a:round/>
                      <a:headEnd type="none" w="med" len="med"/>
                      <a:tailEnd type="none" w="med" len="med"/>
                    </a:lnT>
                  </a:tcPr>
                </a:tc>
                <a:tc>
                  <a:txBody>
                    <a:bodyPr/>
                    <a:lstStyle/>
                    <a:p>
                      <a:pPr algn="ctr"/>
                      <a:r>
                        <a:rPr sz="1100" b="0"/>
                        <a:t>0.004*</a:t>
                      </a:r>
                    </a:p>
                  </a:txBody>
                  <a:tcPr anchor="ctr">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tcPr>
                </a:tc>
                <a:tc>
                  <a:txBody>
                    <a:bodyPr/>
                    <a:lstStyle/>
                    <a:p>
                      <a:pPr algn="ctr"/>
                      <a:r>
                        <a:rPr sz="1100" b="0"/>
                        <a:t>0.508</a:t>
                      </a:r>
                    </a:p>
                  </a:txBody>
                  <a:tcPr anchor="ctr">
                    <a:lnL w="12700" cap="flat" cmpd="sng" algn="ctr">
                      <a:solidFill>
                        <a:schemeClr val="bg1">
                          <a:lumMod val="65000"/>
                        </a:schemeClr>
                      </a:solidFill>
                      <a:prstDash val="solid"/>
                      <a:round/>
                      <a:headEnd type="none" w="med" len="med"/>
                      <a:tailEnd type="none" w="med" len="med"/>
                    </a:lnL>
                    <a:lnT w="12700" cap="flat" cmpd="sng" algn="ctr">
                      <a:solidFill>
                        <a:schemeClr val="bg1">
                          <a:lumMod val="65000"/>
                        </a:schemeClr>
                      </a:solidFill>
                      <a:prstDash val="solid"/>
                      <a:round/>
                      <a:headEnd type="none" w="med" len="med"/>
                      <a:tailEnd type="none" w="med" len="med"/>
                    </a:lnT>
                  </a:tcPr>
                </a:tc>
                <a:tc>
                  <a:txBody>
                    <a:bodyPr/>
                    <a:lstStyle/>
                    <a:p>
                      <a:pPr algn="ctr"/>
                      <a:r>
                        <a:rPr sz="1100" b="0"/>
                        <a:t>0.148</a:t>
                      </a:r>
                    </a:p>
                  </a:txBody>
                  <a:tcPr anchor="ctr">
                    <a:lnT w="12700" cap="flat" cmpd="sng" algn="ctr">
                      <a:solidFill>
                        <a:schemeClr val="bg1">
                          <a:lumMod val="65000"/>
                        </a:schemeClr>
                      </a:solidFill>
                      <a:prstDash val="solid"/>
                      <a:round/>
                      <a:headEnd type="none" w="med" len="med"/>
                      <a:tailEnd type="none" w="med" len="med"/>
                    </a:lnT>
                  </a:tcPr>
                </a:tc>
                <a:extLst>
                  <a:ext uri="{0D108BD9-81ED-4DB2-BD59-A6C34878D82A}">
                    <a16:rowId xmlns:a16="http://schemas.microsoft.com/office/drawing/2014/main" val="10006"/>
                  </a:ext>
                </a:extLst>
              </a:tr>
              <a:tr h="356728">
                <a:tc vMerge="1">
                  <a:txBody>
                    <a:bodyPr/>
                    <a:lstStyle/>
                    <a:p>
                      <a:pPr algn="ctr"/>
                      <a:endParaRPr dirty="0"/>
                    </a:p>
                  </a:txBody>
                  <a:tcPr/>
                </a:tc>
                <a:tc>
                  <a:txBody>
                    <a:bodyPr/>
                    <a:lstStyle/>
                    <a:p>
                      <a:pPr algn="ctr"/>
                      <a:r>
                        <a:rPr sz="1100" b="0"/>
                        <a:t>Age</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tcPr>
                </a:tc>
                <a:tc>
                  <a:txBody>
                    <a:bodyPr/>
                    <a:lstStyle/>
                    <a:p>
                      <a:pPr algn="ctr"/>
                      <a:r>
                        <a:rPr sz="1100" b="0"/>
                        <a:t>0.544</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&lt;0.001*</a:t>
                      </a:r>
                    </a:p>
                  </a:txBody>
                  <a:tcPr anchor="ctr">
                    <a:lnR w="12700" cap="flat" cmpd="sng" algn="ctr">
                      <a:solidFill>
                        <a:schemeClr val="bg1">
                          <a:lumMod val="65000"/>
                        </a:schemeClr>
                      </a:solidFill>
                      <a:prstDash val="solid"/>
                      <a:round/>
                      <a:headEnd type="none" w="med" len="med"/>
                      <a:tailEnd type="none" w="med" len="med"/>
                    </a:lnR>
                  </a:tcPr>
                </a:tc>
                <a:tc>
                  <a:txBody>
                    <a:bodyPr/>
                    <a:lstStyle/>
                    <a:p>
                      <a:pPr algn="ctr"/>
                      <a:r>
                        <a:rPr sz="1100" b="0"/>
                        <a:t>0.360</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0.004*</a:t>
                      </a:r>
                    </a:p>
                  </a:txBody>
                  <a:tcPr anchor="ctr"/>
                </a:tc>
                <a:extLst>
                  <a:ext uri="{0D108BD9-81ED-4DB2-BD59-A6C34878D82A}">
                    <a16:rowId xmlns:a16="http://schemas.microsoft.com/office/drawing/2014/main" val="10007"/>
                  </a:ext>
                </a:extLst>
              </a:tr>
              <a:tr h="356728">
                <a:tc vMerge="1">
                  <a:txBody>
                    <a:bodyPr/>
                    <a:lstStyle/>
                    <a:p>
                      <a:pPr algn="ctr"/>
                      <a:endParaRPr dirty="0"/>
                    </a:p>
                  </a:txBody>
                  <a:tcPr/>
                </a:tc>
                <a:tc>
                  <a:txBody>
                    <a:bodyPr/>
                    <a:lstStyle/>
                    <a:p>
                      <a:pPr algn="ctr"/>
                      <a:r>
                        <a:rPr sz="1100" b="0"/>
                        <a:t>Height</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tcPr>
                </a:tc>
                <a:tc>
                  <a:txBody>
                    <a:bodyPr/>
                    <a:lstStyle/>
                    <a:p>
                      <a:pPr algn="ctr"/>
                      <a:r>
                        <a:rPr sz="1100" b="0"/>
                        <a:t>-0.434</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&lt;0.001*</a:t>
                      </a:r>
                    </a:p>
                  </a:txBody>
                  <a:tcPr anchor="ctr">
                    <a:lnR w="12700" cap="flat" cmpd="sng" algn="ctr">
                      <a:solidFill>
                        <a:schemeClr val="bg1">
                          <a:lumMod val="65000"/>
                        </a:schemeClr>
                      </a:solidFill>
                      <a:prstDash val="solid"/>
                      <a:round/>
                      <a:headEnd type="none" w="med" len="med"/>
                      <a:tailEnd type="none" w="med" len="med"/>
                    </a:lnR>
                  </a:tcPr>
                </a:tc>
                <a:tc>
                  <a:txBody>
                    <a:bodyPr/>
                    <a:lstStyle/>
                    <a:p>
                      <a:pPr algn="ctr"/>
                      <a:r>
                        <a:rPr sz="1100" b="0"/>
                        <a:t>-0.246</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0.084</a:t>
                      </a:r>
                    </a:p>
                  </a:txBody>
                  <a:tcPr anchor="ctr"/>
                </a:tc>
                <a:extLst>
                  <a:ext uri="{0D108BD9-81ED-4DB2-BD59-A6C34878D82A}">
                    <a16:rowId xmlns:a16="http://schemas.microsoft.com/office/drawing/2014/main" val="10008"/>
                  </a:ext>
                </a:extLst>
              </a:tr>
              <a:tr h="356728">
                <a:tc vMerge="1">
                  <a:txBody>
                    <a:bodyPr/>
                    <a:lstStyle/>
                    <a:p>
                      <a:pPr algn="ctr"/>
                      <a:endParaRPr dirty="0"/>
                    </a:p>
                  </a:txBody>
                  <a:tcPr/>
                </a:tc>
                <a:tc>
                  <a:txBody>
                    <a:bodyPr/>
                    <a:lstStyle/>
                    <a:p>
                      <a:pPr algn="ctr"/>
                      <a:r>
                        <a:rPr sz="1100" b="0"/>
                        <a:t>Weight</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B w="12700" cap="flat" cmpd="sng" algn="ctr">
                      <a:solidFill>
                        <a:schemeClr val="bg1">
                          <a:lumMod val="65000"/>
                        </a:schemeClr>
                      </a:solidFill>
                      <a:prstDash val="solid"/>
                      <a:round/>
                      <a:headEnd type="none" w="med" len="med"/>
                      <a:tailEnd type="none" w="med" len="med"/>
                    </a:lnB>
                  </a:tcPr>
                </a:tc>
                <a:tc>
                  <a:txBody>
                    <a:bodyPr/>
                    <a:lstStyle/>
                    <a:p>
                      <a:pPr algn="ctr"/>
                      <a:r>
                        <a:rPr sz="1100" b="0"/>
                        <a:t>0.624</a:t>
                      </a:r>
                    </a:p>
                  </a:txBody>
                  <a:tcPr anchor="ctr">
                    <a:lnL w="12700" cap="flat" cmpd="sng" algn="ctr">
                      <a:solidFill>
                        <a:schemeClr val="bg1">
                          <a:lumMod val="65000"/>
                        </a:schemeClr>
                      </a:solidFill>
                      <a:prstDash val="solid"/>
                      <a:round/>
                      <a:headEnd type="none" w="med" len="med"/>
                      <a:tailEnd type="none" w="med" len="med"/>
                    </a:lnL>
                    <a:lnB w="12700" cap="flat" cmpd="sng" algn="ctr">
                      <a:solidFill>
                        <a:schemeClr val="bg1">
                          <a:lumMod val="65000"/>
                        </a:schemeClr>
                      </a:solidFill>
                      <a:prstDash val="solid"/>
                      <a:round/>
                      <a:headEnd type="none" w="med" len="med"/>
                      <a:tailEnd type="none" w="med" len="med"/>
                    </a:lnB>
                  </a:tcPr>
                </a:tc>
                <a:tc>
                  <a:txBody>
                    <a:bodyPr/>
                    <a:lstStyle/>
                    <a:p>
                      <a:pPr algn="ctr"/>
                      <a:r>
                        <a:rPr sz="1100" b="0"/>
                        <a:t>&lt;0.001*</a:t>
                      </a:r>
                    </a:p>
                  </a:txBody>
                  <a:tcPr anchor="ctr">
                    <a:lnR w="12700" cap="flat" cmpd="sng" algn="ctr">
                      <a:solidFill>
                        <a:schemeClr val="bg1">
                          <a:lumMod val="65000"/>
                        </a:schemeClr>
                      </a:solidFill>
                      <a:prstDash val="solid"/>
                      <a:round/>
                      <a:headEnd type="none" w="med" len="med"/>
                      <a:tailEnd type="none" w="med" len="med"/>
                    </a:lnR>
                    <a:lnB w="12700" cap="flat" cmpd="sng" algn="ctr">
                      <a:solidFill>
                        <a:schemeClr val="bg1">
                          <a:lumMod val="65000"/>
                        </a:schemeClr>
                      </a:solidFill>
                      <a:prstDash val="solid"/>
                      <a:round/>
                      <a:headEnd type="none" w="med" len="med"/>
                      <a:tailEnd type="none" w="med" len="med"/>
                    </a:lnB>
                  </a:tcPr>
                </a:tc>
                <a:tc>
                  <a:txBody>
                    <a:bodyPr/>
                    <a:lstStyle/>
                    <a:p>
                      <a:pPr algn="ctr"/>
                      <a:r>
                        <a:rPr sz="1100" b="0"/>
                        <a:t>0.450</a:t>
                      </a:r>
                    </a:p>
                  </a:txBody>
                  <a:tcPr anchor="ctr">
                    <a:lnL w="12700" cap="flat" cmpd="sng" algn="ctr">
                      <a:solidFill>
                        <a:schemeClr val="bg1">
                          <a:lumMod val="65000"/>
                        </a:schemeClr>
                      </a:solidFill>
                      <a:prstDash val="solid"/>
                      <a:round/>
                      <a:headEnd type="none" w="med" len="med"/>
                      <a:tailEnd type="none" w="med" len="med"/>
                    </a:lnL>
                    <a:lnB w="12700" cap="flat" cmpd="sng" algn="ctr">
                      <a:solidFill>
                        <a:schemeClr val="bg1">
                          <a:lumMod val="65000"/>
                        </a:schemeClr>
                      </a:solidFill>
                      <a:prstDash val="solid"/>
                      <a:round/>
                      <a:headEnd type="none" w="med" len="med"/>
                      <a:tailEnd type="none" w="med" len="med"/>
                    </a:lnB>
                  </a:tcPr>
                </a:tc>
                <a:tc>
                  <a:txBody>
                    <a:bodyPr/>
                    <a:lstStyle/>
                    <a:p>
                      <a:pPr algn="ctr"/>
                      <a:r>
                        <a:rPr sz="1100" b="0"/>
                        <a:t>0.013*</a:t>
                      </a:r>
                    </a:p>
                  </a:txBody>
                  <a:tcPr anchor="ctr">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9"/>
                  </a:ext>
                </a:extLst>
              </a:tr>
              <a:tr h="322432">
                <a:tc rowSpan="4">
                  <a:txBody>
                    <a:bodyPr/>
                    <a:lstStyle/>
                    <a:p>
                      <a:pPr algn="ctr"/>
                      <a:r>
                        <a:rPr sz="1100" b="0" dirty="0" err="1"/>
                        <a:t>만성신장질환</a:t>
                      </a:r>
                      <a:r>
                        <a:rPr sz="1100" b="0" dirty="0"/>
                        <a:t>(CKD)</a:t>
                      </a:r>
                    </a:p>
                  </a:txBody>
                  <a:tcPr anchor="ctr">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tcPr>
                </a:tc>
                <a:tc>
                  <a:txBody>
                    <a:bodyPr/>
                    <a:lstStyle/>
                    <a:p>
                      <a:pPr algn="ctr"/>
                      <a:r>
                        <a:rPr sz="1100" b="0"/>
                        <a:t>Sex (M)</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tcPr>
                </a:tc>
                <a:tc>
                  <a:txBody>
                    <a:bodyPr/>
                    <a:lstStyle/>
                    <a:p>
                      <a:pPr algn="ctr"/>
                      <a:r>
                        <a:rPr sz="1100" b="0"/>
                        <a:t>1.283</a:t>
                      </a:r>
                    </a:p>
                  </a:txBody>
                  <a:tcPr anchor="ctr">
                    <a:lnL w="12700" cap="flat" cmpd="sng" algn="ctr">
                      <a:solidFill>
                        <a:schemeClr val="bg1">
                          <a:lumMod val="65000"/>
                        </a:schemeClr>
                      </a:solidFill>
                      <a:prstDash val="solid"/>
                      <a:round/>
                      <a:headEnd type="none" w="med" len="med"/>
                      <a:tailEnd type="none" w="med" len="med"/>
                    </a:lnL>
                    <a:lnT w="12700" cap="flat" cmpd="sng" algn="ctr">
                      <a:solidFill>
                        <a:schemeClr val="bg1">
                          <a:lumMod val="65000"/>
                        </a:schemeClr>
                      </a:solidFill>
                      <a:prstDash val="solid"/>
                      <a:round/>
                      <a:headEnd type="none" w="med" len="med"/>
                      <a:tailEnd type="none" w="med" len="med"/>
                    </a:lnT>
                  </a:tcPr>
                </a:tc>
                <a:tc>
                  <a:txBody>
                    <a:bodyPr/>
                    <a:lstStyle/>
                    <a:p>
                      <a:pPr algn="ctr"/>
                      <a:r>
                        <a:rPr sz="1100" b="0"/>
                        <a:t>&lt;0.001*</a:t>
                      </a:r>
                    </a:p>
                  </a:txBody>
                  <a:tcPr anchor="ctr">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tcPr>
                </a:tc>
                <a:tc>
                  <a:txBody>
                    <a:bodyPr/>
                    <a:lstStyle/>
                    <a:p>
                      <a:pPr algn="ctr"/>
                      <a:r>
                        <a:rPr sz="1100" b="0"/>
                        <a:t>1.153</a:t>
                      </a:r>
                    </a:p>
                  </a:txBody>
                  <a:tcPr anchor="ctr">
                    <a:lnL w="12700" cap="flat" cmpd="sng" algn="ctr">
                      <a:solidFill>
                        <a:schemeClr val="bg1">
                          <a:lumMod val="65000"/>
                        </a:schemeClr>
                      </a:solidFill>
                      <a:prstDash val="solid"/>
                      <a:round/>
                      <a:headEnd type="none" w="med" len="med"/>
                      <a:tailEnd type="none" w="med" len="med"/>
                    </a:lnL>
                    <a:lnT w="12700" cap="flat" cmpd="sng" algn="ctr">
                      <a:solidFill>
                        <a:schemeClr val="bg1">
                          <a:lumMod val="65000"/>
                        </a:schemeClr>
                      </a:solidFill>
                      <a:prstDash val="solid"/>
                      <a:round/>
                      <a:headEnd type="none" w="med" len="med"/>
                      <a:tailEnd type="none" w="med" len="med"/>
                    </a:lnT>
                  </a:tcPr>
                </a:tc>
                <a:tc>
                  <a:txBody>
                    <a:bodyPr/>
                    <a:lstStyle/>
                    <a:p>
                      <a:pPr algn="ctr"/>
                      <a:r>
                        <a:rPr sz="1100" b="0"/>
                        <a:t>0.018*</a:t>
                      </a:r>
                    </a:p>
                  </a:txBody>
                  <a:tcPr anchor="ctr">
                    <a:lnT w="12700" cap="flat" cmpd="sng" algn="ctr">
                      <a:solidFill>
                        <a:schemeClr val="bg1">
                          <a:lumMod val="65000"/>
                        </a:schemeClr>
                      </a:solidFill>
                      <a:prstDash val="solid"/>
                      <a:round/>
                      <a:headEnd type="none" w="med" len="med"/>
                      <a:tailEnd type="none" w="med" len="med"/>
                    </a:lnT>
                  </a:tcPr>
                </a:tc>
                <a:extLst>
                  <a:ext uri="{0D108BD9-81ED-4DB2-BD59-A6C34878D82A}">
                    <a16:rowId xmlns:a16="http://schemas.microsoft.com/office/drawing/2014/main" val="10010"/>
                  </a:ext>
                </a:extLst>
              </a:tr>
              <a:tr h="356728">
                <a:tc vMerge="1">
                  <a:txBody>
                    <a:bodyPr/>
                    <a:lstStyle/>
                    <a:p>
                      <a:pPr algn="ctr"/>
                      <a:endParaRPr dirty="0"/>
                    </a:p>
                  </a:txBody>
                  <a:tcPr/>
                </a:tc>
                <a:tc>
                  <a:txBody>
                    <a:bodyPr/>
                    <a:lstStyle/>
                    <a:p>
                      <a:pPr algn="ctr"/>
                      <a:r>
                        <a:rPr sz="1100" b="0"/>
                        <a:t>Age</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tcPr>
                </a:tc>
                <a:tc>
                  <a:txBody>
                    <a:bodyPr/>
                    <a:lstStyle/>
                    <a:p>
                      <a:pPr algn="ctr"/>
                      <a:r>
                        <a:rPr sz="1100" b="0"/>
                        <a:t>0.703</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&lt;0.001*</a:t>
                      </a:r>
                    </a:p>
                  </a:txBody>
                  <a:tcPr anchor="ctr">
                    <a:lnR w="12700" cap="flat" cmpd="sng" algn="ctr">
                      <a:solidFill>
                        <a:schemeClr val="bg1">
                          <a:lumMod val="65000"/>
                        </a:schemeClr>
                      </a:solidFill>
                      <a:prstDash val="solid"/>
                      <a:round/>
                      <a:headEnd type="none" w="med" len="med"/>
                      <a:tailEnd type="none" w="med" len="med"/>
                    </a:lnR>
                  </a:tcPr>
                </a:tc>
                <a:tc>
                  <a:txBody>
                    <a:bodyPr/>
                    <a:lstStyle/>
                    <a:p>
                      <a:pPr algn="ctr"/>
                      <a:r>
                        <a:rPr sz="1100" b="0"/>
                        <a:t>0.498</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0.006*</a:t>
                      </a:r>
                    </a:p>
                  </a:txBody>
                  <a:tcPr anchor="ctr"/>
                </a:tc>
                <a:extLst>
                  <a:ext uri="{0D108BD9-81ED-4DB2-BD59-A6C34878D82A}">
                    <a16:rowId xmlns:a16="http://schemas.microsoft.com/office/drawing/2014/main" val="10011"/>
                  </a:ext>
                </a:extLst>
              </a:tr>
              <a:tr h="356728">
                <a:tc vMerge="1">
                  <a:txBody>
                    <a:bodyPr/>
                    <a:lstStyle/>
                    <a:p>
                      <a:pPr algn="ctr"/>
                      <a:endParaRPr dirty="0"/>
                    </a:p>
                  </a:txBody>
                  <a:tcPr/>
                </a:tc>
                <a:tc>
                  <a:txBody>
                    <a:bodyPr/>
                    <a:lstStyle/>
                    <a:p>
                      <a:pPr algn="ctr"/>
                      <a:r>
                        <a:rPr sz="1100" b="0"/>
                        <a:t>Height</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tcPr>
                </a:tc>
                <a:tc>
                  <a:txBody>
                    <a:bodyPr/>
                    <a:lstStyle/>
                    <a:p>
                      <a:pPr algn="ctr"/>
                      <a:r>
                        <a:rPr sz="1100" b="0"/>
                        <a:t>-0.372</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0.036*</a:t>
                      </a:r>
                    </a:p>
                  </a:txBody>
                  <a:tcPr anchor="ctr">
                    <a:lnR w="12700" cap="flat" cmpd="sng" algn="ctr">
                      <a:solidFill>
                        <a:schemeClr val="bg1">
                          <a:lumMod val="65000"/>
                        </a:schemeClr>
                      </a:solidFill>
                      <a:prstDash val="solid"/>
                      <a:round/>
                      <a:headEnd type="none" w="med" len="med"/>
                      <a:tailEnd type="none" w="med" len="med"/>
                    </a:lnR>
                  </a:tcPr>
                </a:tc>
                <a:tc>
                  <a:txBody>
                    <a:bodyPr/>
                    <a:lstStyle/>
                    <a:p>
                      <a:pPr algn="ctr"/>
                      <a:r>
                        <a:rPr sz="1100" b="0"/>
                        <a:t>-0.196</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0.313</a:t>
                      </a:r>
                    </a:p>
                  </a:txBody>
                  <a:tcPr anchor="ctr"/>
                </a:tc>
                <a:extLst>
                  <a:ext uri="{0D108BD9-81ED-4DB2-BD59-A6C34878D82A}">
                    <a16:rowId xmlns:a16="http://schemas.microsoft.com/office/drawing/2014/main" val="10012"/>
                  </a:ext>
                </a:extLst>
              </a:tr>
              <a:tr h="356728">
                <a:tc vMerge="1">
                  <a:txBody>
                    <a:bodyPr/>
                    <a:lstStyle/>
                    <a:p>
                      <a:pPr algn="ctr"/>
                      <a:endParaRPr dirty="0"/>
                    </a:p>
                  </a:txBody>
                  <a:tcPr/>
                </a:tc>
                <a:tc>
                  <a:txBody>
                    <a:bodyPr/>
                    <a:lstStyle/>
                    <a:p>
                      <a:pPr algn="ctr"/>
                      <a:r>
                        <a:rPr sz="1100" b="0"/>
                        <a:t>Weight</a:t>
                      </a:r>
                    </a:p>
                  </a:txBody>
                  <a:tcPr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tcPr>
                </a:tc>
                <a:tc>
                  <a:txBody>
                    <a:bodyPr/>
                    <a:lstStyle/>
                    <a:p>
                      <a:pPr algn="ctr"/>
                      <a:r>
                        <a:rPr sz="1100" b="0"/>
                        <a:t>0.540</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a:t>&lt;0.001*</a:t>
                      </a:r>
                    </a:p>
                  </a:txBody>
                  <a:tcPr anchor="ctr">
                    <a:lnR w="12700" cap="flat" cmpd="sng" algn="ctr">
                      <a:solidFill>
                        <a:schemeClr val="bg1">
                          <a:lumMod val="65000"/>
                        </a:schemeClr>
                      </a:solidFill>
                      <a:prstDash val="solid"/>
                      <a:round/>
                      <a:headEnd type="none" w="med" len="med"/>
                      <a:tailEnd type="none" w="med" len="med"/>
                    </a:lnR>
                  </a:tcPr>
                </a:tc>
                <a:tc>
                  <a:txBody>
                    <a:bodyPr/>
                    <a:lstStyle/>
                    <a:p>
                      <a:pPr algn="ctr"/>
                      <a:r>
                        <a:rPr sz="1100" b="0"/>
                        <a:t>0.303</a:t>
                      </a:r>
                    </a:p>
                  </a:txBody>
                  <a:tcPr anchor="ctr">
                    <a:lnL w="12700" cap="flat" cmpd="sng" algn="ctr">
                      <a:solidFill>
                        <a:schemeClr val="bg1">
                          <a:lumMod val="65000"/>
                        </a:schemeClr>
                      </a:solidFill>
                      <a:prstDash val="solid"/>
                      <a:round/>
                      <a:headEnd type="none" w="med" len="med"/>
                      <a:tailEnd type="none" w="med" len="med"/>
                    </a:lnL>
                  </a:tcPr>
                </a:tc>
                <a:tc>
                  <a:txBody>
                    <a:bodyPr/>
                    <a:lstStyle/>
                    <a:p>
                      <a:pPr algn="ctr"/>
                      <a:r>
                        <a:rPr sz="1100" b="0" dirty="0"/>
                        <a:t>0.223</a:t>
                      </a:r>
                    </a:p>
                  </a:txBody>
                  <a:tcPr anchor="ctr"/>
                </a:tc>
                <a:extLst>
                  <a:ext uri="{0D108BD9-81ED-4DB2-BD59-A6C34878D82A}">
                    <a16:rowId xmlns:a16="http://schemas.microsoft.com/office/drawing/2014/main" val="10013"/>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Table 4. Best 모델 FPCA 점수 Coefficient</a:t>
            </a:r>
          </a:p>
        </p:txBody>
      </p:sp>
      <p:sp>
        <p:nvSpPr>
          <p:cNvPr id="3" name="내용 개체 틀 2">
            <a:extLst>
              <a:ext uri="{FF2B5EF4-FFF2-40B4-BE49-F238E27FC236}">
                <a16:creationId xmlns:a16="http://schemas.microsoft.com/office/drawing/2014/main" id="{E9891E5D-39AF-0C58-D5D9-BF4A51EBFA3A}"/>
              </a:ext>
            </a:extLst>
          </p:cNvPr>
          <p:cNvSpPr>
            <a:spLocks noGrp="1"/>
          </p:cNvSpPr>
          <p:nvPr>
            <p:ph idx="1"/>
          </p:nvPr>
        </p:nvSpPr>
        <p:spPr/>
        <p:txBody>
          <a:bodyPr>
            <a:normAutofit/>
          </a:bodyPr>
          <a:lstStyle/>
          <a:p>
            <a:pPr>
              <a:lnSpc>
                <a:spcPct val="150000"/>
              </a:lnSpc>
            </a:pPr>
            <a:r>
              <a:rPr lang="en-US" altLang="ko-KR" sz="1600" b="1" dirty="0">
                <a:latin typeface="KoPub돋움체 Medium" panose="00000600000000000000" pitchFamily="2" charset="-127"/>
              </a:rPr>
              <a:t>체성분과 함께 넣으면 AEC 점수는 세 질환 모두 비유의(AEC 단독 모델은 PC2가 유의, OR 0.61~0.71, Table S5). 유의한 점수는 체성분(VAT·SAT·LAMA·NAMA·IMATA)에서 나옴</a:t>
            </a:r>
          </a:p>
          <a:p>
            <a:pPr>
              <a:lnSpc>
                <a:spcPct val="150000"/>
              </a:lnSpc>
            </a:pPr>
            <a:r>
              <a:rPr lang="en-US" altLang="ko-KR" sz="1600" b="1" dirty="0">
                <a:latin typeface="KoPub돋움체 Medium" panose="00000600000000000000" pitchFamily="2" charset="-127"/>
              </a:rPr>
              <a:t>FPCA 점수는 곡선 모양의 변화량이라 개별 해석이 어려움(위치별 해석은 Figure 1)</a:t>
            </a:r>
          </a:p>
        </p:txBody>
      </p:sp>
      <p:sp>
        <p:nvSpPr>
          <p:cNvPr id="6" name="슬라이드 번호 개체 틀 5">
            <a:extLst>
              <a:ext uri="{FF2B5EF4-FFF2-40B4-BE49-F238E27FC236}">
                <a16:creationId xmlns:a16="http://schemas.microsoft.com/office/drawing/2014/main" id="{01BE1C60-4ECF-9664-17AD-85523EF39D85}"/>
              </a:ext>
            </a:extLst>
          </p:cNvPr>
          <p:cNvSpPr>
            <a:spLocks noGrp="1"/>
          </p:cNvSpPr>
          <p:nvPr>
            <p:ph type="sldNum" sz="quarter" idx="12"/>
          </p:nvPr>
        </p:nvSpPr>
        <p:spPr/>
        <p:txBody>
          <a:bodyPr/>
          <a:lstStyle/>
          <a:p>
            <a:fld id="{9F4AF89A-28FA-47FA-B28F-9A9C6913CB7A}" type="slidenum">
              <a:rPr lang="ko-KR" altLang="en-US" smtClean="0"/>
              <a:pPr/>
              <a:t>10</a:t>
            </a:fld>
            <a:endParaRPr lang="ko-KR" altLang="en-US" dirty="0"/>
          </a:p>
        </p:txBody>
      </p:sp>
      <p:graphicFrame>
        <p:nvGraphicFramePr>
          <p:cNvPr id="7" name="Table 6"/>
          <p:cNvGraphicFramePr>
            <a:graphicFrameLocks noGrp="1"/>
          </p:cNvGraphicFramePr>
          <p:nvPr>
            <p:extLst>
              <p:ext uri="{D42A27DB-BD31-4B8C-83A1-F6EECF244321}">
                <p14:modId xmlns:p14="http://schemas.microsoft.com/office/powerpoint/2010/main" val="1971789089"/>
              </p:ext>
            </p:extLst>
          </p:nvPr>
        </p:nvGraphicFramePr>
        <p:xfrm>
          <a:off x="512064" y="2061868"/>
          <a:ext cx="11173967" cy="4389120"/>
        </p:xfrm>
        <a:graphic>
          <a:graphicData uri="http://schemas.openxmlformats.org/drawingml/2006/table">
            <a:tbl>
              <a:tblPr firstRow="1" bandRow="1">
                <a:tableStyleId>{C083E6E3-FA7D-4D7B-A595-EF9225AFEA82}</a:tableStyleId>
              </a:tblPr>
              <a:tblGrid>
                <a:gridCol w="1596281">
                  <a:extLst>
                    <a:ext uri="{9D8B030D-6E8A-4147-A177-3AD203B41FA5}">
                      <a16:colId xmlns:a16="http://schemas.microsoft.com/office/drawing/2014/main" val="20000"/>
                    </a:ext>
                  </a:extLst>
                </a:gridCol>
                <a:gridCol w="1596281">
                  <a:extLst>
                    <a:ext uri="{9D8B030D-6E8A-4147-A177-3AD203B41FA5}">
                      <a16:colId xmlns:a16="http://schemas.microsoft.com/office/drawing/2014/main" val="20001"/>
                    </a:ext>
                  </a:extLst>
                </a:gridCol>
                <a:gridCol w="1596281">
                  <a:extLst>
                    <a:ext uri="{9D8B030D-6E8A-4147-A177-3AD203B41FA5}">
                      <a16:colId xmlns:a16="http://schemas.microsoft.com/office/drawing/2014/main" val="20002"/>
                    </a:ext>
                  </a:extLst>
                </a:gridCol>
                <a:gridCol w="1596281">
                  <a:extLst>
                    <a:ext uri="{9D8B030D-6E8A-4147-A177-3AD203B41FA5}">
                      <a16:colId xmlns:a16="http://schemas.microsoft.com/office/drawing/2014/main" val="20003"/>
                    </a:ext>
                  </a:extLst>
                </a:gridCol>
                <a:gridCol w="1596281">
                  <a:extLst>
                    <a:ext uri="{9D8B030D-6E8A-4147-A177-3AD203B41FA5}">
                      <a16:colId xmlns:a16="http://schemas.microsoft.com/office/drawing/2014/main" val="20004"/>
                    </a:ext>
                  </a:extLst>
                </a:gridCol>
                <a:gridCol w="1596281">
                  <a:extLst>
                    <a:ext uri="{9D8B030D-6E8A-4147-A177-3AD203B41FA5}">
                      <a16:colId xmlns:a16="http://schemas.microsoft.com/office/drawing/2014/main" val="20005"/>
                    </a:ext>
                  </a:extLst>
                </a:gridCol>
                <a:gridCol w="1596281">
                  <a:extLst>
                    <a:ext uri="{9D8B030D-6E8A-4147-A177-3AD203B41FA5}">
                      <a16:colId xmlns:a16="http://schemas.microsoft.com/office/drawing/2014/main" val="20006"/>
                    </a:ext>
                  </a:extLst>
                </a:gridCol>
              </a:tblGrid>
              <a:tr h="256994">
                <a:tc rowSpan="2">
                  <a:txBody>
                    <a:bodyPr/>
                    <a:lstStyle/>
                    <a:p>
                      <a:pPr algn="ctr"/>
                      <a:r>
                        <a:rPr sz="1200" b="1"/>
                        <a:t>Term</a:t>
                      </a:r>
                    </a:p>
                  </a:txBody>
                  <a:tcPr anchor="ctr"/>
                </a:tc>
                <a:tc gridSpan="2">
                  <a:txBody>
                    <a:bodyPr/>
                    <a:lstStyle/>
                    <a:p>
                      <a:pPr algn="ctr"/>
                      <a:r>
                        <a:rPr sz="1200" b="1"/>
                        <a:t>고혈압(HTN)</a:t>
                      </a:r>
                    </a:p>
                  </a:txBody>
                  <a:tcPr anchor="ctr"/>
                </a:tc>
                <a:tc hMerge="1">
                  <a:txBody>
                    <a:bodyPr/>
                    <a:lstStyle/>
                    <a:p>
                      <a:endParaRPr/>
                    </a:p>
                  </a:txBody>
                  <a:tcPr/>
                </a:tc>
                <a:tc gridSpan="2">
                  <a:txBody>
                    <a:bodyPr/>
                    <a:lstStyle/>
                    <a:p>
                      <a:pPr algn="ctr"/>
                      <a:r>
                        <a:rPr sz="1200" b="1"/>
                        <a:t>당뇨병(DM)</a:t>
                      </a:r>
                    </a:p>
                  </a:txBody>
                  <a:tcPr anchor="ctr"/>
                </a:tc>
                <a:tc hMerge="1">
                  <a:txBody>
                    <a:bodyPr/>
                    <a:lstStyle/>
                    <a:p>
                      <a:endParaRPr/>
                    </a:p>
                  </a:txBody>
                  <a:tcPr/>
                </a:tc>
                <a:tc gridSpan="2">
                  <a:txBody>
                    <a:bodyPr/>
                    <a:lstStyle/>
                    <a:p>
                      <a:pPr algn="ctr"/>
                      <a:r>
                        <a:rPr sz="1200" b="1"/>
                        <a:t>만성신장질환(CKD)</a:t>
                      </a:r>
                    </a:p>
                  </a:txBody>
                  <a:tcPr anchor="ctr"/>
                </a:tc>
                <a:tc hMerge="1">
                  <a:txBody>
                    <a:bodyPr/>
                    <a:lstStyle/>
                    <a:p>
                      <a:endParaRPr/>
                    </a:p>
                  </a:txBody>
                  <a:tcPr/>
                </a:tc>
                <a:extLst>
                  <a:ext uri="{0D108BD9-81ED-4DB2-BD59-A6C34878D82A}">
                    <a16:rowId xmlns:a16="http://schemas.microsoft.com/office/drawing/2014/main" val="10000"/>
                  </a:ext>
                </a:extLst>
              </a:tr>
              <a:tr h="256994">
                <a:tc vMerge="1">
                  <a:txBody>
                    <a:bodyPr/>
                    <a:lstStyle/>
                    <a:p>
                      <a:endParaRPr/>
                    </a:p>
                  </a:txBody>
                  <a:tcPr/>
                </a:tc>
                <a:tc>
                  <a:txBody>
                    <a:bodyPr/>
                    <a:lstStyle/>
                    <a:p>
                      <a:pPr algn="ctr"/>
                      <a:r>
                        <a:rPr sz="1200" b="1"/>
                        <a:t>Coefficient</a:t>
                      </a:r>
                    </a:p>
                  </a:txBody>
                  <a:tcPr anchor="ctr"/>
                </a:tc>
                <a:tc>
                  <a:txBody>
                    <a:bodyPr/>
                    <a:lstStyle/>
                    <a:p>
                      <a:pPr algn="ctr"/>
                      <a:r>
                        <a:rPr sz="1200" b="1"/>
                        <a:t>p-value</a:t>
                      </a:r>
                    </a:p>
                  </a:txBody>
                  <a:tcPr anchor="ctr"/>
                </a:tc>
                <a:tc>
                  <a:txBody>
                    <a:bodyPr/>
                    <a:lstStyle/>
                    <a:p>
                      <a:pPr algn="ctr"/>
                      <a:r>
                        <a:rPr sz="1200" b="1"/>
                        <a:t>Coefficient</a:t>
                      </a:r>
                    </a:p>
                  </a:txBody>
                  <a:tcPr anchor="ctr"/>
                </a:tc>
                <a:tc>
                  <a:txBody>
                    <a:bodyPr/>
                    <a:lstStyle/>
                    <a:p>
                      <a:pPr algn="ctr"/>
                      <a:r>
                        <a:rPr sz="1200" b="1"/>
                        <a:t>p-value</a:t>
                      </a:r>
                    </a:p>
                  </a:txBody>
                  <a:tcPr anchor="ctr"/>
                </a:tc>
                <a:tc>
                  <a:txBody>
                    <a:bodyPr/>
                    <a:lstStyle/>
                    <a:p>
                      <a:pPr algn="ctr"/>
                      <a:r>
                        <a:rPr sz="1200" b="1"/>
                        <a:t>Coefficient</a:t>
                      </a:r>
                    </a:p>
                  </a:txBody>
                  <a:tcPr anchor="ctr"/>
                </a:tc>
                <a:tc>
                  <a:txBody>
                    <a:bodyPr/>
                    <a:lstStyle/>
                    <a:p>
                      <a:pPr algn="ctr"/>
                      <a:r>
                        <a:rPr sz="1200" b="1"/>
                        <a:t>p-value</a:t>
                      </a:r>
                    </a:p>
                  </a:txBody>
                  <a:tcPr anchor="ctr"/>
                </a:tc>
                <a:extLst>
                  <a:ext uri="{0D108BD9-81ED-4DB2-BD59-A6C34878D82A}">
                    <a16:rowId xmlns:a16="http://schemas.microsoft.com/office/drawing/2014/main" val="10001"/>
                  </a:ext>
                </a:extLst>
              </a:tr>
              <a:tr h="256994">
                <a:tc>
                  <a:txBody>
                    <a:bodyPr/>
                    <a:lstStyle/>
                    <a:p>
                      <a:pPr algn="ctr"/>
                      <a:r>
                        <a:rPr sz="1200" b="0"/>
                        <a:t>aec_fpca_pc1</a:t>
                      </a:r>
                    </a:p>
                  </a:txBody>
                  <a:tcPr anchor="ctr"/>
                </a:tc>
                <a:tc>
                  <a:txBody>
                    <a:bodyPr/>
                    <a:lstStyle/>
                    <a:p>
                      <a:pPr algn="ctr"/>
                      <a:r>
                        <a:rPr sz="1200" b="0"/>
                        <a:t>0.129</a:t>
                      </a:r>
                    </a:p>
                  </a:txBody>
                  <a:tcPr anchor="ctr"/>
                </a:tc>
                <a:tc>
                  <a:txBody>
                    <a:bodyPr/>
                    <a:lstStyle/>
                    <a:p>
                      <a:pPr algn="ctr"/>
                      <a:r>
                        <a:rPr sz="1200" b="0"/>
                        <a:t>0.181</a:t>
                      </a:r>
                    </a:p>
                  </a:txBody>
                  <a:tcPr anchor="ctr"/>
                </a:tc>
                <a:tc>
                  <a:txBody>
                    <a:bodyPr/>
                    <a:lstStyle/>
                    <a:p>
                      <a:pPr algn="ctr"/>
                      <a:r>
                        <a:rPr sz="1200" b="0"/>
                        <a:t>0.022</a:t>
                      </a:r>
                    </a:p>
                  </a:txBody>
                  <a:tcPr anchor="ctr"/>
                </a:tc>
                <a:tc>
                  <a:txBody>
                    <a:bodyPr/>
                    <a:lstStyle/>
                    <a:p>
                      <a:pPr algn="ctr"/>
                      <a:r>
                        <a:rPr sz="1200" b="0"/>
                        <a:t>0.823</a:t>
                      </a:r>
                    </a:p>
                  </a:txBody>
                  <a:tcPr anchor="ctr"/>
                </a:tc>
                <a:tc>
                  <a:txBody>
                    <a:bodyPr/>
                    <a:lstStyle/>
                    <a:p>
                      <a:pPr algn="ctr"/>
                      <a:r>
                        <a:rPr sz="1200" b="0"/>
                        <a:t>-0.034</a:t>
                      </a:r>
                    </a:p>
                  </a:txBody>
                  <a:tcPr anchor="ctr"/>
                </a:tc>
                <a:tc>
                  <a:txBody>
                    <a:bodyPr/>
                    <a:lstStyle/>
                    <a:p>
                      <a:pPr algn="ctr"/>
                      <a:r>
                        <a:rPr sz="1200" b="0"/>
                        <a:t>0.800</a:t>
                      </a:r>
                    </a:p>
                  </a:txBody>
                  <a:tcPr anchor="ctr"/>
                </a:tc>
                <a:extLst>
                  <a:ext uri="{0D108BD9-81ED-4DB2-BD59-A6C34878D82A}">
                    <a16:rowId xmlns:a16="http://schemas.microsoft.com/office/drawing/2014/main" val="10002"/>
                  </a:ext>
                </a:extLst>
              </a:tr>
              <a:tr h="256994">
                <a:tc>
                  <a:txBody>
                    <a:bodyPr/>
                    <a:lstStyle/>
                    <a:p>
                      <a:pPr algn="ctr"/>
                      <a:r>
                        <a:rPr sz="1200" b="0"/>
                        <a:t>aec_fpca_pc2</a:t>
                      </a:r>
                    </a:p>
                  </a:txBody>
                  <a:tcPr anchor="ctr"/>
                </a:tc>
                <a:tc>
                  <a:txBody>
                    <a:bodyPr/>
                    <a:lstStyle/>
                    <a:p>
                      <a:pPr algn="ctr"/>
                      <a:r>
                        <a:rPr sz="1200" b="0"/>
                        <a:t>-0.121</a:t>
                      </a:r>
                    </a:p>
                  </a:txBody>
                  <a:tcPr anchor="ctr"/>
                </a:tc>
                <a:tc>
                  <a:txBody>
                    <a:bodyPr/>
                    <a:lstStyle/>
                    <a:p>
                      <a:pPr algn="ctr"/>
                      <a:r>
                        <a:rPr sz="1200" b="0"/>
                        <a:t>0.352</a:t>
                      </a:r>
                    </a:p>
                  </a:txBody>
                  <a:tcPr anchor="ctr"/>
                </a:tc>
                <a:tc>
                  <a:txBody>
                    <a:bodyPr/>
                    <a:lstStyle/>
                    <a:p>
                      <a:pPr algn="ctr"/>
                      <a:r>
                        <a:rPr sz="1200" b="0"/>
                        <a:t>-0.239</a:t>
                      </a:r>
                    </a:p>
                  </a:txBody>
                  <a:tcPr anchor="ctr"/>
                </a:tc>
                <a:tc>
                  <a:txBody>
                    <a:bodyPr/>
                    <a:lstStyle/>
                    <a:p>
                      <a:pPr algn="ctr"/>
                      <a:r>
                        <a:rPr sz="1200" b="0"/>
                        <a:t>0.091</a:t>
                      </a:r>
                    </a:p>
                  </a:txBody>
                  <a:tcPr anchor="ctr"/>
                </a:tc>
                <a:tc>
                  <a:txBody>
                    <a:bodyPr/>
                    <a:lstStyle/>
                    <a:p>
                      <a:pPr algn="ctr"/>
                      <a:r>
                        <a:rPr sz="1200" b="0"/>
                        <a:t>-0.146</a:t>
                      </a:r>
                    </a:p>
                  </a:txBody>
                  <a:tcPr anchor="ctr"/>
                </a:tc>
                <a:tc>
                  <a:txBody>
                    <a:bodyPr/>
                    <a:lstStyle/>
                    <a:p>
                      <a:pPr algn="ctr"/>
                      <a:r>
                        <a:rPr sz="1200" b="0"/>
                        <a:t>0.430</a:t>
                      </a:r>
                    </a:p>
                  </a:txBody>
                  <a:tcPr anchor="ctr"/>
                </a:tc>
                <a:extLst>
                  <a:ext uri="{0D108BD9-81ED-4DB2-BD59-A6C34878D82A}">
                    <a16:rowId xmlns:a16="http://schemas.microsoft.com/office/drawing/2014/main" val="10003"/>
                  </a:ext>
                </a:extLst>
              </a:tr>
              <a:tr h="256994">
                <a:tc>
                  <a:txBody>
                    <a:bodyPr/>
                    <a:lstStyle/>
                    <a:p>
                      <a:pPr algn="ctr"/>
                      <a:r>
                        <a:rPr sz="1200" b="0"/>
                        <a:t>aec_fpca_pc3</a:t>
                      </a:r>
                    </a:p>
                  </a:txBody>
                  <a:tcPr anchor="ctr"/>
                </a:tc>
                <a:tc>
                  <a:txBody>
                    <a:bodyPr/>
                    <a:lstStyle/>
                    <a:p>
                      <a:pPr algn="ctr"/>
                      <a:r>
                        <a:rPr sz="1200" b="0"/>
                        <a:t>-0.084</a:t>
                      </a:r>
                    </a:p>
                  </a:txBody>
                  <a:tcPr anchor="ctr"/>
                </a:tc>
                <a:tc>
                  <a:txBody>
                    <a:bodyPr/>
                    <a:lstStyle/>
                    <a:p>
                      <a:pPr algn="ctr"/>
                      <a:r>
                        <a:rPr sz="1200" b="0"/>
                        <a:t>0.367</a:t>
                      </a:r>
                    </a:p>
                  </a:txBody>
                  <a:tcPr anchor="ctr"/>
                </a:tc>
                <a:tc>
                  <a:txBody>
                    <a:bodyPr/>
                    <a:lstStyle/>
                    <a:p>
                      <a:pPr algn="ctr"/>
                      <a:r>
                        <a:rPr sz="1200" b="0"/>
                        <a:t>0.143</a:t>
                      </a:r>
                    </a:p>
                  </a:txBody>
                  <a:tcPr anchor="ctr"/>
                </a:tc>
                <a:tc>
                  <a:txBody>
                    <a:bodyPr/>
                    <a:lstStyle/>
                    <a:p>
                      <a:pPr algn="ctr"/>
                      <a:r>
                        <a:rPr sz="1200" b="0"/>
                        <a:t>0.146</a:t>
                      </a:r>
                    </a:p>
                  </a:txBody>
                  <a:tcPr anchor="ctr"/>
                </a:tc>
                <a:tc>
                  <a:txBody>
                    <a:bodyPr/>
                    <a:lstStyle/>
                    <a:p>
                      <a:pPr algn="ctr"/>
                      <a:r>
                        <a:rPr sz="1200" b="0"/>
                        <a:t>-0.016</a:t>
                      </a:r>
                    </a:p>
                  </a:txBody>
                  <a:tcPr anchor="ctr"/>
                </a:tc>
                <a:tc>
                  <a:txBody>
                    <a:bodyPr/>
                    <a:lstStyle/>
                    <a:p>
                      <a:pPr algn="ctr"/>
                      <a:r>
                        <a:rPr sz="1200" b="0"/>
                        <a:t>0.908</a:t>
                      </a:r>
                    </a:p>
                  </a:txBody>
                  <a:tcPr anchor="ctr"/>
                </a:tc>
                <a:extLst>
                  <a:ext uri="{0D108BD9-81ED-4DB2-BD59-A6C34878D82A}">
                    <a16:rowId xmlns:a16="http://schemas.microsoft.com/office/drawing/2014/main" val="10004"/>
                  </a:ext>
                </a:extLst>
              </a:tr>
              <a:tr h="256994">
                <a:tc>
                  <a:txBody>
                    <a:bodyPr/>
                    <a:lstStyle/>
                    <a:p>
                      <a:pPr algn="ctr"/>
                      <a:r>
                        <a:rPr sz="1200" b="0"/>
                        <a:t>vat_fpca_pc1</a:t>
                      </a:r>
                    </a:p>
                  </a:txBody>
                  <a:tcPr anchor="ctr"/>
                </a:tc>
                <a:tc>
                  <a:txBody>
                    <a:bodyPr/>
                    <a:lstStyle/>
                    <a:p>
                      <a:pPr algn="ctr"/>
                      <a:r>
                        <a:rPr sz="1200" b="1" dirty="0"/>
                        <a:t>0.501</a:t>
                      </a:r>
                    </a:p>
                  </a:txBody>
                  <a:tcPr anchor="ctr"/>
                </a:tc>
                <a:tc>
                  <a:txBody>
                    <a:bodyPr/>
                    <a:lstStyle/>
                    <a:p>
                      <a:pPr algn="ctr"/>
                      <a:r>
                        <a:rPr sz="1200" b="1" dirty="0"/>
                        <a:t>&lt;0.001*</a:t>
                      </a:r>
                    </a:p>
                  </a:txBody>
                  <a:tcPr anchor="ctr"/>
                </a:tc>
                <a:tc>
                  <a:txBody>
                    <a:bodyPr/>
                    <a:lstStyle/>
                    <a:p>
                      <a:pPr algn="ctr"/>
                      <a:r>
                        <a:rPr sz="1200" b="0" dirty="0"/>
                        <a:t>0.055</a:t>
                      </a:r>
                    </a:p>
                  </a:txBody>
                  <a:tcPr anchor="ctr"/>
                </a:tc>
                <a:tc>
                  <a:txBody>
                    <a:bodyPr/>
                    <a:lstStyle/>
                    <a:p>
                      <a:pPr algn="ctr"/>
                      <a:r>
                        <a:rPr sz="1200" b="0"/>
                        <a:t>0.696</a:t>
                      </a:r>
                    </a:p>
                  </a:txBody>
                  <a:tcPr anchor="ctr"/>
                </a:tc>
                <a:tc>
                  <a:txBody>
                    <a:bodyPr/>
                    <a:lstStyle/>
                    <a:p>
                      <a:pPr algn="ctr"/>
                      <a:r>
                        <a:rPr sz="1200" b="0"/>
                        <a:t>-0.323</a:t>
                      </a:r>
                    </a:p>
                  </a:txBody>
                  <a:tcPr anchor="ctr"/>
                </a:tc>
                <a:tc>
                  <a:txBody>
                    <a:bodyPr/>
                    <a:lstStyle/>
                    <a:p>
                      <a:pPr algn="ctr"/>
                      <a:r>
                        <a:rPr sz="1200" b="0"/>
                        <a:t>0.092</a:t>
                      </a:r>
                    </a:p>
                  </a:txBody>
                  <a:tcPr anchor="ctr"/>
                </a:tc>
                <a:extLst>
                  <a:ext uri="{0D108BD9-81ED-4DB2-BD59-A6C34878D82A}">
                    <a16:rowId xmlns:a16="http://schemas.microsoft.com/office/drawing/2014/main" val="10005"/>
                  </a:ext>
                </a:extLst>
              </a:tr>
              <a:tr h="256994">
                <a:tc>
                  <a:txBody>
                    <a:bodyPr/>
                    <a:lstStyle/>
                    <a:p>
                      <a:pPr algn="ctr"/>
                      <a:r>
                        <a:rPr sz="1200" b="0"/>
                        <a:t>vat_fpca_pc2</a:t>
                      </a:r>
                    </a:p>
                  </a:txBody>
                  <a:tcPr anchor="ctr"/>
                </a:tc>
                <a:tc>
                  <a:txBody>
                    <a:bodyPr/>
                    <a:lstStyle/>
                    <a:p>
                      <a:pPr algn="ctr"/>
                      <a:r>
                        <a:rPr sz="1200" b="0"/>
                        <a:t>0.046</a:t>
                      </a:r>
                    </a:p>
                  </a:txBody>
                  <a:tcPr anchor="ctr"/>
                </a:tc>
                <a:tc>
                  <a:txBody>
                    <a:bodyPr/>
                    <a:lstStyle/>
                    <a:p>
                      <a:pPr algn="ctr"/>
                      <a:r>
                        <a:rPr sz="1200" b="0"/>
                        <a:t>0.594</a:t>
                      </a:r>
                    </a:p>
                  </a:txBody>
                  <a:tcPr anchor="ctr"/>
                </a:tc>
                <a:tc>
                  <a:txBody>
                    <a:bodyPr/>
                    <a:lstStyle/>
                    <a:p>
                      <a:pPr algn="ctr"/>
                      <a:r>
                        <a:rPr sz="1200" b="0"/>
                        <a:t>0.034</a:t>
                      </a:r>
                    </a:p>
                  </a:txBody>
                  <a:tcPr anchor="ctr"/>
                </a:tc>
                <a:tc>
                  <a:txBody>
                    <a:bodyPr/>
                    <a:lstStyle/>
                    <a:p>
                      <a:pPr algn="ctr"/>
                      <a:r>
                        <a:rPr sz="1200" b="0"/>
                        <a:t>0.700</a:t>
                      </a:r>
                    </a:p>
                  </a:txBody>
                  <a:tcPr anchor="ctr"/>
                </a:tc>
                <a:tc>
                  <a:txBody>
                    <a:bodyPr/>
                    <a:lstStyle/>
                    <a:p>
                      <a:pPr algn="ctr"/>
                      <a:r>
                        <a:rPr sz="1200" b="1" dirty="0"/>
                        <a:t>0.330</a:t>
                      </a:r>
                    </a:p>
                  </a:txBody>
                  <a:tcPr anchor="ctr"/>
                </a:tc>
                <a:tc>
                  <a:txBody>
                    <a:bodyPr/>
                    <a:lstStyle/>
                    <a:p>
                      <a:pPr algn="ctr"/>
                      <a:r>
                        <a:rPr sz="1200" b="1" dirty="0"/>
                        <a:t>0.015*</a:t>
                      </a:r>
                    </a:p>
                  </a:txBody>
                  <a:tcPr anchor="ctr"/>
                </a:tc>
                <a:extLst>
                  <a:ext uri="{0D108BD9-81ED-4DB2-BD59-A6C34878D82A}">
                    <a16:rowId xmlns:a16="http://schemas.microsoft.com/office/drawing/2014/main" val="10006"/>
                  </a:ext>
                </a:extLst>
              </a:tr>
              <a:tr h="256994">
                <a:tc>
                  <a:txBody>
                    <a:bodyPr/>
                    <a:lstStyle/>
                    <a:p>
                      <a:pPr algn="ctr"/>
                      <a:r>
                        <a:rPr sz="1200" b="0"/>
                        <a:t>sat_fpca_pc1</a:t>
                      </a:r>
                    </a:p>
                  </a:txBody>
                  <a:tcPr anchor="ctr"/>
                </a:tc>
                <a:tc>
                  <a:txBody>
                    <a:bodyPr/>
                    <a:lstStyle/>
                    <a:p>
                      <a:pPr algn="ctr"/>
                      <a:r>
                        <a:rPr sz="1200" b="0"/>
                        <a:t>0.126</a:t>
                      </a:r>
                    </a:p>
                  </a:txBody>
                  <a:tcPr anchor="ctr"/>
                </a:tc>
                <a:tc>
                  <a:txBody>
                    <a:bodyPr/>
                    <a:lstStyle/>
                    <a:p>
                      <a:pPr algn="ctr"/>
                      <a:r>
                        <a:rPr sz="1200" b="0"/>
                        <a:t>0.331</a:t>
                      </a:r>
                    </a:p>
                  </a:txBody>
                  <a:tcPr anchor="ctr"/>
                </a:tc>
                <a:tc>
                  <a:txBody>
                    <a:bodyPr/>
                    <a:lstStyle/>
                    <a:p>
                      <a:pPr algn="ctr"/>
                      <a:r>
                        <a:rPr sz="1200" b="0"/>
                        <a:t>-0.132</a:t>
                      </a:r>
                    </a:p>
                  </a:txBody>
                  <a:tcPr anchor="ctr"/>
                </a:tc>
                <a:tc>
                  <a:txBody>
                    <a:bodyPr/>
                    <a:lstStyle/>
                    <a:p>
                      <a:pPr algn="ctr"/>
                      <a:r>
                        <a:rPr sz="1200" b="0"/>
                        <a:t>0.347</a:t>
                      </a:r>
                    </a:p>
                  </a:txBody>
                  <a:tcPr anchor="ctr"/>
                </a:tc>
                <a:tc>
                  <a:txBody>
                    <a:bodyPr/>
                    <a:lstStyle/>
                    <a:p>
                      <a:pPr algn="ctr"/>
                      <a:r>
                        <a:rPr sz="1200" b="0"/>
                        <a:t>-0.060</a:t>
                      </a:r>
                    </a:p>
                  </a:txBody>
                  <a:tcPr anchor="ctr"/>
                </a:tc>
                <a:tc>
                  <a:txBody>
                    <a:bodyPr/>
                    <a:lstStyle/>
                    <a:p>
                      <a:pPr algn="ctr"/>
                      <a:r>
                        <a:rPr sz="1200" b="0"/>
                        <a:t>0.765</a:t>
                      </a:r>
                    </a:p>
                  </a:txBody>
                  <a:tcPr anchor="ctr"/>
                </a:tc>
                <a:extLst>
                  <a:ext uri="{0D108BD9-81ED-4DB2-BD59-A6C34878D82A}">
                    <a16:rowId xmlns:a16="http://schemas.microsoft.com/office/drawing/2014/main" val="10007"/>
                  </a:ext>
                </a:extLst>
              </a:tr>
              <a:tr h="256994">
                <a:tc>
                  <a:txBody>
                    <a:bodyPr/>
                    <a:lstStyle/>
                    <a:p>
                      <a:pPr algn="ctr"/>
                      <a:r>
                        <a:rPr sz="1200" b="0"/>
                        <a:t>sat_fpca_pc2</a:t>
                      </a:r>
                    </a:p>
                  </a:txBody>
                  <a:tcPr anchor="ctr"/>
                </a:tc>
                <a:tc>
                  <a:txBody>
                    <a:bodyPr/>
                    <a:lstStyle/>
                    <a:p>
                      <a:pPr algn="ctr"/>
                      <a:r>
                        <a:rPr sz="1200" b="0"/>
                        <a:t>-0.142</a:t>
                      </a:r>
                    </a:p>
                  </a:txBody>
                  <a:tcPr anchor="ctr"/>
                </a:tc>
                <a:tc>
                  <a:txBody>
                    <a:bodyPr/>
                    <a:lstStyle/>
                    <a:p>
                      <a:pPr algn="ctr"/>
                      <a:r>
                        <a:rPr sz="1200" b="0"/>
                        <a:t>0.131</a:t>
                      </a:r>
                    </a:p>
                  </a:txBody>
                  <a:tcPr anchor="ctr"/>
                </a:tc>
                <a:tc>
                  <a:txBody>
                    <a:bodyPr/>
                    <a:lstStyle/>
                    <a:p>
                      <a:pPr algn="ctr"/>
                      <a:r>
                        <a:rPr sz="1200" b="1" dirty="0"/>
                        <a:t>-0.208</a:t>
                      </a:r>
                    </a:p>
                  </a:txBody>
                  <a:tcPr anchor="ctr"/>
                </a:tc>
                <a:tc>
                  <a:txBody>
                    <a:bodyPr/>
                    <a:lstStyle/>
                    <a:p>
                      <a:pPr algn="ctr"/>
                      <a:r>
                        <a:rPr sz="1200" b="1" dirty="0"/>
                        <a:t>0.041*</a:t>
                      </a:r>
                    </a:p>
                  </a:txBody>
                  <a:tcPr anchor="ctr"/>
                </a:tc>
                <a:tc>
                  <a:txBody>
                    <a:bodyPr/>
                    <a:lstStyle/>
                    <a:p>
                      <a:pPr algn="ctr"/>
                      <a:r>
                        <a:rPr sz="1200" b="0"/>
                        <a:t>-0.204</a:t>
                      </a:r>
                    </a:p>
                  </a:txBody>
                  <a:tcPr anchor="ctr"/>
                </a:tc>
                <a:tc>
                  <a:txBody>
                    <a:bodyPr/>
                    <a:lstStyle/>
                    <a:p>
                      <a:pPr algn="ctr"/>
                      <a:r>
                        <a:rPr sz="1200" b="0"/>
                        <a:t>0.158</a:t>
                      </a:r>
                    </a:p>
                  </a:txBody>
                  <a:tcPr anchor="ctr"/>
                </a:tc>
                <a:extLst>
                  <a:ext uri="{0D108BD9-81ED-4DB2-BD59-A6C34878D82A}">
                    <a16:rowId xmlns:a16="http://schemas.microsoft.com/office/drawing/2014/main" val="10008"/>
                  </a:ext>
                </a:extLst>
              </a:tr>
              <a:tr h="256994">
                <a:tc>
                  <a:txBody>
                    <a:bodyPr/>
                    <a:lstStyle/>
                    <a:p>
                      <a:pPr algn="ctr"/>
                      <a:r>
                        <a:rPr sz="1200" b="0"/>
                        <a:t>lama_fpca_pc1</a:t>
                      </a:r>
                    </a:p>
                  </a:txBody>
                  <a:tcPr anchor="ctr"/>
                </a:tc>
                <a:tc>
                  <a:txBody>
                    <a:bodyPr/>
                    <a:lstStyle/>
                    <a:p>
                      <a:pPr algn="ctr"/>
                      <a:r>
                        <a:rPr sz="1200" b="0"/>
                        <a:t>0.031</a:t>
                      </a:r>
                    </a:p>
                  </a:txBody>
                  <a:tcPr anchor="ctr"/>
                </a:tc>
                <a:tc>
                  <a:txBody>
                    <a:bodyPr/>
                    <a:lstStyle/>
                    <a:p>
                      <a:pPr algn="ctr"/>
                      <a:r>
                        <a:rPr sz="1200" b="0"/>
                        <a:t>0.802</a:t>
                      </a:r>
                    </a:p>
                  </a:txBody>
                  <a:tcPr anchor="ctr"/>
                </a:tc>
                <a:tc>
                  <a:txBody>
                    <a:bodyPr/>
                    <a:lstStyle/>
                    <a:p>
                      <a:pPr algn="ctr"/>
                      <a:r>
                        <a:rPr sz="1200" b="0"/>
                        <a:t>0.064</a:t>
                      </a:r>
                    </a:p>
                  </a:txBody>
                  <a:tcPr anchor="ctr"/>
                </a:tc>
                <a:tc>
                  <a:txBody>
                    <a:bodyPr/>
                    <a:lstStyle/>
                    <a:p>
                      <a:pPr algn="ctr"/>
                      <a:r>
                        <a:rPr sz="1200" b="0"/>
                        <a:t>0.614</a:t>
                      </a:r>
                    </a:p>
                  </a:txBody>
                  <a:tcPr anchor="ctr"/>
                </a:tc>
                <a:tc>
                  <a:txBody>
                    <a:bodyPr/>
                    <a:lstStyle/>
                    <a:p>
                      <a:pPr algn="ctr"/>
                      <a:r>
                        <a:rPr sz="1200" b="1" dirty="0"/>
                        <a:t>0.337</a:t>
                      </a:r>
                    </a:p>
                  </a:txBody>
                  <a:tcPr anchor="ctr"/>
                </a:tc>
                <a:tc>
                  <a:txBody>
                    <a:bodyPr/>
                    <a:lstStyle/>
                    <a:p>
                      <a:pPr algn="ctr"/>
                      <a:r>
                        <a:rPr sz="1200" b="1" dirty="0"/>
                        <a:t>0.043*</a:t>
                      </a:r>
                    </a:p>
                  </a:txBody>
                  <a:tcPr anchor="ctr"/>
                </a:tc>
                <a:extLst>
                  <a:ext uri="{0D108BD9-81ED-4DB2-BD59-A6C34878D82A}">
                    <a16:rowId xmlns:a16="http://schemas.microsoft.com/office/drawing/2014/main" val="10009"/>
                  </a:ext>
                </a:extLst>
              </a:tr>
              <a:tr h="256994">
                <a:tc>
                  <a:txBody>
                    <a:bodyPr/>
                    <a:lstStyle/>
                    <a:p>
                      <a:pPr algn="ctr"/>
                      <a:r>
                        <a:rPr sz="1200" b="0"/>
                        <a:t>lama_fpca_pc2</a:t>
                      </a:r>
                    </a:p>
                  </a:txBody>
                  <a:tcPr anchor="ctr"/>
                </a:tc>
                <a:tc>
                  <a:txBody>
                    <a:bodyPr/>
                    <a:lstStyle/>
                    <a:p>
                      <a:pPr algn="ctr"/>
                      <a:r>
                        <a:rPr sz="1200" b="0"/>
                        <a:t>0.063</a:t>
                      </a:r>
                    </a:p>
                  </a:txBody>
                  <a:tcPr anchor="ctr"/>
                </a:tc>
                <a:tc>
                  <a:txBody>
                    <a:bodyPr/>
                    <a:lstStyle/>
                    <a:p>
                      <a:pPr algn="ctr"/>
                      <a:r>
                        <a:rPr sz="1200" b="0"/>
                        <a:t>0.448</a:t>
                      </a:r>
                    </a:p>
                  </a:txBody>
                  <a:tcPr anchor="ctr"/>
                </a:tc>
                <a:tc>
                  <a:txBody>
                    <a:bodyPr/>
                    <a:lstStyle/>
                    <a:p>
                      <a:pPr algn="ctr"/>
                      <a:r>
                        <a:rPr sz="1200" b="0"/>
                        <a:t>-0.048</a:t>
                      </a:r>
                    </a:p>
                  </a:txBody>
                  <a:tcPr anchor="ctr"/>
                </a:tc>
                <a:tc>
                  <a:txBody>
                    <a:bodyPr/>
                    <a:lstStyle/>
                    <a:p>
                      <a:pPr algn="ctr"/>
                      <a:r>
                        <a:rPr sz="1200" b="0"/>
                        <a:t>0.560</a:t>
                      </a:r>
                    </a:p>
                  </a:txBody>
                  <a:tcPr anchor="ctr"/>
                </a:tc>
                <a:tc>
                  <a:txBody>
                    <a:bodyPr/>
                    <a:lstStyle/>
                    <a:p>
                      <a:pPr algn="ctr"/>
                      <a:r>
                        <a:rPr sz="1200" b="0"/>
                        <a:t>0.014</a:t>
                      </a:r>
                    </a:p>
                  </a:txBody>
                  <a:tcPr anchor="ctr"/>
                </a:tc>
                <a:tc>
                  <a:txBody>
                    <a:bodyPr/>
                    <a:lstStyle/>
                    <a:p>
                      <a:pPr algn="ctr"/>
                      <a:r>
                        <a:rPr sz="1200" b="0"/>
                        <a:t>0.897</a:t>
                      </a:r>
                    </a:p>
                  </a:txBody>
                  <a:tcPr anchor="ctr"/>
                </a:tc>
                <a:extLst>
                  <a:ext uri="{0D108BD9-81ED-4DB2-BD59-A6C34878D82A}">
                    <a16:rowId xmlns:a16="http://schemas.microsoft.com/office/drawing/2014/main" val="10010"/>
                  </a:ext>
                </a:extLst>
              </a:tr>
              <a:tr h="256994">
                <a:tc>
                  <a:txBody>
                    <a:bodyPr/>
                    <a:lstStyle/>
                    <a:p>
                      <a:pPr algn="ctr"/>
                      <a:r>
                        <a:rPr sz="1200" b="0"/>
                        <a:t>nama_fpca_pc1</a:t>
                      </a:r>
                    </a:p>
                  </a:txBody>
                  <a:tcPr anchor="ctr"/>
                </a:tc>
                <a:tc>
                  <a:txBody>
                    <a:bodyPr/>
                    <a:lstStyle/>
                    <a:p>
                      <a:pPr algn="ctr"/>
                      <a:r>
                        <a:rPr sz="1200" b="1" dirty="0"/>
                        <a:t>-0.383</a:t>
                      </a:r>
                    </a:p>
                  </a:txBody>
                  <a:tcPr anchor="ctr"/>
                </a:tc>
                <a:tc>
                  <a:txBody>
                    <a:bodyPr/>
                    <a:lstStyle/>
                    <a:p>
                      <a:pPr algn="ctr"/>
                      <a:r>
                        <a:rPr sz="1200" b="1" dirty="0"/>
                        <a:t>0.012*</a:t>
                      </a:r>
                    </a:p>
                  </a:txBody>
                  <a:tcPr anchor="ctr"/>
                </a:tc>
                <a:tc>
                  <a:txBody>
                    <a:bodyPr/>
                    <a:lstStyle/>
                    <a:p>
                      <a:pPr algn="ctr"/>
                      <a:r>
                        <a:rPr sz="1200" b="0"/>
                        <a:t>-0.253</a:t>
                      </a:r>
                    </a:p>
                  </a:txBody>
                  <a:tcPr anchor="ctr"/>
                </a:tc>
                <a:tc>
                  <a:txBody>
                    <a:bodyPr/>
                    <a:lstStyle/>
                    <a:p>
                      <a:pPr algn="ctr"/>
                      <a:r>
                        <a:rPr sz="1200" b="0"/>
                        <a:t>0.114</a:t>
                      </a:r>
                    </a:p>
                  </a:txBody>
                  <a:tcPr anchor="ctr"/>
                </a:tc>
                <a:tc>
                  <a:txBody>
                    <a:bodyPr/>
                    <a:lstStyle/>
                    <a:p>
                      <a:pPr algn="ctr"/>
                      <a:r>
                        <a:rPr sz="1200" b="0"/>
                        <a:t>-0.111</a:t>
                      </a:r>
                    </a:p>
                  </a:txBody>
                  <a:tcPr anchor="ctr"/>
                </a:tc>
                <a:tc>
                  <a:txBody>
                    <a:bodyPr/>
                    <a:lstStyle/>
                    <a:p>
                      <a:pPr algn="ctr"/>
                      <a:r>
                        <a:rPr sz="1200" b="0"/>
                        <a:t>0.614</a:t>
                      </a:r>
                    </a:p>
                  </a:txBody>
                  <a:tcPr anchor="ctr"/>
                </a:tc>
                <a:extLst>
                  <a:ext uri="{0D108BD9-81ED-4DB2-BD59-A6C34878D82A}">
                    <a16:rowId xmlns:a16="http://schemas.microsoft.com/office/drawing/2014/main" val="10011"/>
                  </a:ext>
                </a:extLst>
              </a:tr>
              <a:tr h="256994">
                <a:tc>
                  <a:txBody>
                    <a:bodyPr/>
                    <a:lstStyle/>
                    <a:p>
                      <a:pPr algn="ctr"/>
                      <a:r>
                        <a:rPr sz="1200" b="0"/>
                        <a:t>nama_fpca_pc2</a:t>
                      </a:r>
                    </a:p>
                  </a:txBody>
                  <a:tcPr anchor="ctr"/>
                </a:tc>
                <a:tc>
                  <a:txBody>
                    <a:bodyPr/>
                    <a:lstStyle/>
                    <a:p>
                      <a:pPr algn="ctr"/>
                      <a:r>
                        <a:rPr sz="1200" b="0"/>
                        <a:t>-0.060</a:t>
                      </a:r>
                    </a:p>
                  </a:txBody>
                  <a:tcPr anchor="ctr"/>
                </a:tc>
                <a:tc>
                  <a:txBody>
                    <a:bodyPr/>
                    <a:lstStyle/>
                    <a:p>
                      <a:pPr algn="ctr"/>
                      <a:r>
                        <a:rPr sz="1200" b="0"/>
                        <a:t>0.544</a:t>
                      </a:r>
                    </a:p>
                  </a:txBody>
                  <a:tcPr anchor="ctr"/>
                </a:tc>
                <a:tc>
                  <a:txBody>
                    <a:bodyPr/>
                    <a:lstStyle/>
                    <a:p>
                      <a:pPr algn="ctr"/>
                      <a:r>
                        <a:rPr sz="1200" b="0"/>
                        <a:t>-0.049</a:t>
                      </a:r>
                    </a:p>
                  </a:txBody>
                  <a:tcPr anchor="ctr"/>
                </a:tc>
                <a:tc>
                  <a:txBody>
                    <a:bodyPr/>
                    <a:lstStyle/>
                    <a:p>
                      <a:pPr algn="ctr"/>
                      <a:r>
                        <a:rPr sz="1200" b="0"/>
                        <a:t>0.639</a:t>
                      </a:r>
                    </a:p>
                  </a:txBody>
                  <a:tcPr anchor="ctr"/>
                </a:tc>
                <a:tc>
                  <a:txBody>
                    <a:bodyPr/>
                    <a:lstStyle/>
                    <a:p>
                      <a:pPr algn="ctr"/>
                      <a:r>
                        <a:rPr sz="1200" b="0"/>
                        <a:t>-0.089</a:t>
                      </a:r>
                    </a:p>
                  </a:txBody>
                  <a:tcPr anchor="ctr"/>
                </a:tc>
                <a:tc>
                  <a:txBody>
                    <a:bodyPr/>
                    <a:lstStyle/>
                    <a:p>
                      <a:pPr algn="ctr"/>
                      <a:r>
                        <a:rPr sz="1200" b="0"/>
                        <a:t>0.538</a:t>
                      </a:r>
                    </a:p>
                  </a:txBody>
                  <a:tcPr anchor="ctr"/>
                </a:tc>
                <a:extLst>
                  <a:ext uri="{0D108BD9-81ED-4DB2-BD59-A6C34878D82A}">
                    <a16:rowId xmlns:a16="http://schemas.microsoft.com/office/drawing/2014/main" val="10012"/>
                  </a:ext>
                </a:extLst>
              </a:tr>
              <a:tr h="256994">
                <a:tc>
                  <a:txBody>
                    <a:bodyPr/>
                    <a:lstStyle/>
                    <a:p>
                      <a:pPr algn="ctr"/>
                      <a:r>
                        <a:rPr sz="1200" b="0"/>
                        <a:t>imata_fpca_pc1</a:t>
                      </a:r>
                    </a:p>
                  </a:txBody>
                  <a:tcPr anchor="ctr"/>
                </a:tc>
                <a:tc>
                  <a:txBody>
                    <a:bodyPr/>
                    <a:lstStyle/>
                    <a:p>
                      <a:pPr algn="ctr"/>
                      <a:r>
                        <a:rPr sz="1200" b="0"/>
                        <a:t>0.062</a:t>
                      </a:r>
                    </a:p>
                  </a:txBody>
                  <a:tcPr anchor="ctr"/>
                </a:tc>
                <a:tc>
                  <a:txBody>
                    <a:bodyPr/>
                    <a:lstStyle/>
                    <a:p>
                      <a:pPr algn="ctr"/>
                      <a:r>
                        <a:rPr sz="1200" b="0"/>
                        <a:t>0.637</a:t>
                      </a:r>
                    </a:p>
                  </a:txBody>
                  <a:tcPr anchor="ctr"/>
                </a:tc>
                <a:tc>
                  <a:txBody>
                    <a:bodyPr/>
                    <a:lstStyle/>
                    <a:p>
                      <a:pPr algn="ctr"/>
                      <a:r>
                        <a:rPr sz="1200" b="0"/>
                        <a:t>0.056</a:t>
                      </a:r>
                    </a:p>
                  </a:txBody>
                  <a:tcPr anchor="ctr"/>
                </a:tc>
                <a:tc>
                  <a:txBody>
                    <a:bodyPr/>
                    <a:lstStyle/>
                    <a:p>
                      <a:pPr algn="ctr"/>
                      <a:r>
                        <a:rPr sz="1200" b="0"/>
                        <a:t>0.679</a:t>
                      </a:r>
                    </a:p>
                  </a:txBody>
                  <a:tcPr anchor="ctr"/>
                </a:tc>
                <a:tc>
                  <a:txBody>
                    <a:bodyPr/>
                    <a:lstStyle/>
                    <a:p>
                      <a:pPr algn="ctr"/>
                      <a:r>
                        <a:rPr sz="1200" b="0"/>
                        <a:t>0.332</a:t>
                      </a:r>
                    </a:p>
                  </a:txBody>
                  <a:tcPr anchor="ctr"/>
                </a:tc>
                <a:tc>
                  <a:txBody>
                    <a:bodyPr/>
                    <a:lstStyle/>
                    <a:p>
                      <a:pPr algn="ctr"/>
                      <a:r>
                        <a:rPr sz="1200" b="0"/>
                        <a:t>0.065</a:t>
                      </a:r>
                    </a:p>
                  </a:txBody>
                  <a:tcPr anchor="ctr"/>
                </a:tc>
                <a:extLst>
                  <a:ext uri="{0D108BD9-81ED-4DB2-BD59-A6C34878D82A}">
                    <a16:rowId xmlns:a16="http://schemas.microsoft.com/office/drawing/2014/main" val="10013"/>
                  </a:ext>
                </a:extLst>
              </a:tr>
              <a:tr h="256994">
                <a:tc>
                  <a:txBody>
                    <a:bodyPr/>
                    <a:lstStyle/>
                    <a:p>
                      <a:pPr algn="ctr"/>
                      <a:r>
                        <a:rPr sz="1200" b="0"/>
                        <a:t>imata_fpca_pc2</a:t>
                      </a:r>
                    </a:p>
                  </a:txBody>
                  <a:tcPr anchor="ctr"/>
                </a:tc>
                <a:tc>
                  <a:txBody>
                    <a:bodyPr/>
                    <a:lstStyle/>
                    <a:p>
                      <a:pPr algn="ctr"/>
                      <a:r>
                        <a:rPr sz="1200" b="0"/>
                        <a:t>0.005</a:t>
                      </a:r>
                    </a:p>
                  </a:txBody>
                  <a:tcPr anchor="ctr"/>
                </a:tc>
                <a:tc>
                  <a:txBody>
                    <a:bodyPr/>
                    <a:lstStyle/>
                    <a:p>
                      <a:pPr algn="ctr"/>
                      <a:r>
                        <a:rPr sz="1200" b="0"/>
                        <a:t>0.956</a:t>
                      </a:r>
                    </a:p>
                  </a:txBody>
                  <a:tcPr anchor="ctr"/>
                </a:tc>
                <a:tc>
                  <a:txBody>
                    <a:bodyPr/>
                    <a:lstStyle/>
                    <a:p>
                      <a:pPr algn="ctr"/>
                      <a:r>
                        <a:rPr sz="1200" b="0"/>
                        <a:t>-0.052</a:t>
                      </a:r>
                    </a:p>
                  </a:txBody>
                  <a:tcPr anchor="ctr"/>
                </a:tc>
                <a:tc>
                  <a:txBody>
                    <a:bodyPr/>
                    <a:lstStyle/>
                    <a:p>
                      <a:pPr algn="ctr"/>
                      <a:r>
                        <a:rPr sz="1200" b="0"/>
                        <a:t>0.493</a:t>
                      </a:r>
                    </a:p>
                  </a:txBody>
                  <a:tcPr anchor="ctr"/>
                </a:tc>
                <a:tc>
                  <a:txBody>
                    <a:bodyPr/>
                    <a:lstStyle/>
                    <a:p>
                      <a:pPr algn="ctr"/>
                      <a:r>
                        <a:rPr sz="1200" b="0"/>
                        <a:t>0.107</a:t>
                      </a:r>
                    </a:p>
                  </a:txBody>
                  <a:tcPr anchor="ctr"/>
                </a:tc>
                <a:tc>
                  <a:txBody>
                    <a:bodyPr/>
                    <a:lstStyle/>
                    <a:p>
                      <a:pPr algn="ctr"/>
                      <a:r>
                        <a:rPr sz="1200" b="0"/>
                        <a:t>0.234</a:t>
                      </a:r>
                    </a:p>
                  </a:txBody>
                  <a:tcPr anchor="ctr"/>
                </a:tc>
                <a:extLst>
                  <a:ext uri="{0D108BD9-81ED-4DB2-BD59-A6C34878D82A}">
                    <a16:rowId xmlns:a16="http://schemas.microsoft.com/office/drawing/2014/main" val="10014"/>
                  </a:ext>
                </a:extLst>
              </a:tr>
              <a:tr h="256994">
                <a:tc>
                  <a:txBody>
                    <a:bodyPr/>
                    <a:lstStyle/>
                    <a:p>
                      <a:pPr algn="ctr"/>
                      <a:r>
                        <a:rPr sz="1200" b="0"/>
                        <a:t>imata_fpca_pc3</a:t>
                      </a:r>
                    </a:p>
                  </a:txBody>
                  <a:tcPr anchor="ctr"/>
                </a:tc>
                <a:tc>
                  <a:txBody>
                    <a:bodyPr/>
                    <a:lstStyle/>
                    <a:p>
                      <a:pPr algn="ctr"/>
                      <a:r>
                        <a:rPr sz="1200" b="0"/>
                        <a:t>-0.010</a:t>
                      </a:r>
                    </a:p>
                  </a:txBody>
                  <a:tcPr anchor="ctr"/>
                </a:tc>
                <a:tc>
                  <a:txBody>
                    <a:bodyPr/>
                    <a:lstStyle/>
                    <a:p>
                      <a:pPr algn="ctr"/>
                      <a:r>
                        <a:rPr sz="1200" b="0"/>
                        <a:t>0.911</a:t>
                      </a:r>
                    </a:p>
                  </a:txBody>
                  <a:tcPr anchor="ctr"/>
                </a:tc>
                <a:tc>
                  <a:txBody>
                    <a:bodyPr/>
                    <a:lstStyle/>
                    <a:p>
                      <a:pPr algn="ctr"/>
                      <a:r>
                        <a:rPr sz="1200" b="0"/>
                        <a:t>0.230</a:t>
                      </a:r>
                    </a:p>
                  </a:txBody>
                  <a:tcPr anchor="ctr"/>
                </a:tc>
                <a:tc>
                  <a:txBody>
                    <a:bodyPr/>
                    <a:lstStyle/>
                    <a:p>
                      <a:pPr algn="ctr"/>
                      <a:r>
                        <a:rPr sz="1200" b="0"/>
                        <a:t>0.018*</a:t>
                      </a:r>
                    </a:p>
                  </a:txBody>
                  <a:tcPr anchor="ctr"/>
                </a:tc>
                <a:tc>
                  <a:txBody>
                    <a:bodyPr/>
                    <a:lstStyle/>
                    <a:p>
                      <a:pPr algn="ctr"/>
                      <a:r>
                        <a:rPr sz="1200" b="0"/>
                        <a:t>0.155</a:t>
                      </a:r>
                    </a:p>
                  </a:txBody>
                  <a:tcPr anchor="ctr"/>
                </a:tc>
                <a:tc>
                  <a:txBody>
                    <a:bodyPr/>
                    <a:lstStyle/>
                    <a:p>
                      <a:pPr algn="ctr"/>
                      <a:r>
                        <a:rPr sz="1200" b="0" dirty="0"/>
                        <a:t>0.214</a:t>
                      </a:r>
                    </a:p>
                  </a:txBody>
                  <a:tcPr anchor="ctr"/>
                </a:tc>
                <a:extLst>
                  <a:ext uri="{0D108BD9-81ED-4DB2-BD59-A6C34878D82A}">
                    <a16:rowId xmlns:a16="http://schemas.microsoft.com/office/drawing/2014/main" val="10015"/>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Figure 1. AEC 위치별 질환 기여도 (FPCA 계수 역변환)</a:t>
            </a:r>
          </a:p>
        </p:txBody>
      </p:sp>
      <p:sp>
        <p:nvSpPr>
          <p:cNvPr id="3" name="내용 개체 틀 2">
            <a:extLst>
              <a:ext uri="{FF2B5EF4-FFF2-40B4-BE49-F238E27FC236}">
                <a16:creationId xmlns:a16="http://schemas.microsoft.com/office/drawing/2014/main" id="{6230690C-CB5E-CA5A-DE9D-751E6647AF85}"/>
              </a:ext>
            </a:extLst>
          </p:cNvPr>
          <p:cNvSpPr>
            <a:spLocks noGrp="1"/>
          </p:cNvSpPr>
          <p:nvPr>
            <p:ph idx="1"/>
          </p:nvPr>
        </p:nvSpPr>
        <p:spPr/>
        <p:txBody>
          <a:bodyPr>
            <a:normAutofit/>
          </a:bodyPr>
          <a:lstStyle/>
          <a:p>
            <a:r>
              <a:rPr lang="ko-KR" altLang="en-US" sz="1600" b="1" dirty="0">
                <a:latin typeface="KoPub돋움체 Medium" panose="00000600000000000000" pitchFamily="2" charset="-127"/>
              </a:rPr>
              <a:t>목적: 계수를 원래 곡선 위치(slice)로 되돌려, 어느 위치의 AEC가 질환에 기여하는지 확인</a:t>
            </a:r>
            <a:endParaRPr lang="ko-KR" altLang="en-US" dirty="0"/>
          </a:p>
          <a:p>
            <a:pPr lvl="1"/>
            <a:r>
              <a:rPr lang="ko-KR" altLang="en-US" sz="1600" dirty="0">
                <a:latin typeface="KoPub돋움체 Medium" panose="00000600000000000000" pitchFamily="2" charset="-127"/>
              </a:rPr>
              <a:t>읽는 법: 0보다 위 = 그 위치 AEC가 높을수록 질환 확률 ↑, 아래 = ↓</a:t>
            </a:r>
            <a:endParaRPr lang="ko-KR" altLang="en-US" dirty="0"/>
          </a:p>
          <a:p>
            <a:pPr lvl="1"/>
            <a:r>
              <a:rPr lang="ko-KR" altLang="en-US" sz="1600" dirty="0">
                <a:latin typeface="KoPub돋움체 Medium" panose="00000600000000000000" pitchFamily="2" charset="-127"/>
              </a:rPr>
              <a:t>세 질환 모두 간 쪽은 +, 치골 쪽은 -. 부호 전환 위치는 질환마다 다름(slice 55~80)</a:t>
            </a:r>
            <a:endParaRPr lang="ko-KR" altLang="en-US" dirty="0"/>
          </a:p>
          <a:p>
            <a:pPr lvl="1"/>
            <a:r>
              <a:rPr lang="ko-KR" altLang="en-US" sz="1600" dirty="0">
                <a:latin typeface="KoPub돋움체 Medium" panose="00000600000000000000" pitchFamily="2" charset="-127"/>
              </a:rPr>
              <a:t>한계: slice 번호가 환자 간 같은 해부학적 위치인지 미확인(가설 수준)</a:t>
            </a:r>
            <a:endParaRPr lang="ko-KR" altLang="en-US" dirty="0"/>
          </a:p>
        </p:txBody>
      </p:sp>
      <p:sp>
        <p:nvSpPr>
          <p:cNvPr id="4" name="슬라이드 번호 개체 틀 3">
            <a:extLst>
              <a:ext uri="{FF2B5EF4-FFF2-40B4-BE49-F238E27FC236}">
                <a16:creationId xmlns:a16="http://schemas.microsoft.com/office/drawing/2014/main" id="{6F985A2A-E881-0F89-38EF-8306EF68B806}"/>
              </a:ext>
            </a:extLst>
          </p:cNvPr>
          <p:cNvSpPr>
            <a:spLocks noGrp="1"/>
          </p:cNvSpPr>
          <p:nvPr>
            <p:ph type="sldNum" sz="quarter" idx="12"/>
          </p:nvPr>
        </p:nvSpPr>
        <p:spPr/>
        <p:txBody>
          <a:bodyPr/>
          <a:lstStyle/>
          <a:p>
            <a:fld id="{9F4AF89A-28FA-47FA-B28F-9A9C6913CB7A}" type="slidenum">
              <a:rPr lang="ko-KR" altLang="en-US" smtClean="0"/>
              <a:pPr/>
              <a:t>11</a:t>
            </a:fld>
            <a:endParaRPr lang="ko-KR" altLang="en-US" dirty="0"/>
          </a:p>
        </p:txBody>
      </p:sp>
      <p:pic>
        <p:nvPicPr>
          <p:cNvPr id="5" name="Picture 4" descr="fpca_recovered_curve_annotated.png"/>
          <p:cNvPicPr>
            <a:picLocks noChangeAspect="1"/>
          </p:cNvPicPr>
          <p:nvPr/>
        </p:nvPicPr>
        <p:blipFill>
          <a:blip r:embed="rId3"/>
          <a:stretch>
            <a:fillRect/>
          </a:stretch>
        </p:blipFill>
        <p:spPr>
          <a:xfrm>
            <a:off x="1062036" y="2851468"/>
            <a:ext cx="10067928" cy="354853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0" y="365126"/>
            <a:ext cx="11176000" cy="532342"/>
          </a:xfrm>
        </p:spPr>
        <p:txBody>
          <a:bodyPr/>
          <a:lstStyle/>
          <a:p>
            <a:r>
              <a:t>Discussion: 체성분 효과는 병원마다 다름</a:t>
            </a:r>
          </a:p>
        </p:txBody>
      </p:sp>
      <p:sp>
        <p:nvSpPr>
          <p:cNvPr id="3" name="Content Placeholder 2"/>
          <p:cNvSpPr>
            <a:spLocks noGrp="1"/>
          </p:cNvSpPr>
          <p:nvPr>
            <p:ph idx="1"/>
          </p:nvPr>
        </p:nvSpPr>
        <p:spPr>
          <a:xfrm>
            <a:off x="512064" y="1131824"/>
            <a:ext cx="11173968" cy="3460053"/>
          </a:xfrm>
        </p:spPr>
        <p:txBody>
          <a:bodyPr wrap="square">
            <a:normAutofit/>
          </a:bodyPr>
          <a:lstStyle/>
          <a:p>
            <a:r>
              <a:rPr sz="1800" dirty="0"/>
              <a:t>AEC만 추가 시 개선 작음(신촌도 3개 중 2개 유의). 체성분까지 추가하면 개선 커지나 주로 신촌에서 유의</a:t>
            </a:r>
          </a:p>
          <a:p>
            <a:r>
              <a:rPr sz="1800" dirty="0" err="1"/>
              <a:t>같은 정보도 부위·질환·병원에 따라 효과가 다름</a:t>
            </a:r>
            <a:endParaRPr lang="en-US" sz="1800" dirty="0"/>
          </a:p>
          <a:p>
            <a:pPr lvl="1"/>
            <a:r>
              <a:rPr sz="1600" dirty="0"/>
              <a:t>예: 강남 만성신장질환은 체성분만 추가 시 AUC +0.015, AEC만 추가 시 -0.016</a:t>
            </a:r>
          </a:p>
          <a:p>
            <a:r>
              <a:rPr sz="1800" dirty="0" err="1"/>
              <a:t>추정 원인: 같은 간~치골 범위여도 환자마다 장기 위치가 달라 같은 slice 번호가 다른 부위일 수 있음</a:t>
            </a:r>
            <a:endParaRPr sz="1800" dirty="0"/>
          </a:p>
          <a:p>
            <a:r>
              <a:rPr sz="1800" dirty="0" err="1"/>
              <a:t>한계: 위치 불일치는 미확인 가설, 추가 검증 필요</a:t>
            </a:r>
            <a:endParaRPr sz="1800" dirty="0"/>
          </a:p>
        </p:txBody>
      </p:sp>
      <p:sp>
        <p:nvSpPr>
          <p:cNvPr id="5" name="슬라이드 번호 개체 틀 4">
            <a:extLst>
              <a:ext uri="{FF2B5EF4-FFF2-40B4-BE49-F238E27FC236}">
                <a16:creationId xmlns:a16="http://schemas.microsoft.com/office/drawing/2014/main" id="{BCF90836-9E69-7EFC-2877-0FBBA2FAD373}"/>
              </a:ext>
            </a:extLst>
          </p:cNvPr>
          <p:cNvSpPr>
            <a:spLocks noGrp="1"/>
          </p:cNvSpPr>
          <p:nvPr>
            <p:ph type="sldNum" sz="quarter" idx="12"/>
          </p:nvPr>
        </p:nvSpPr>
        <p:spPr/>
        <p:txBody>
          <a:bodyPr/>
          <a:lstStyle/>
          <a:p>
            <a:fld id="{9F4AF89A-28FA-47FA-B28F-9A9C6913CB7A}" type="slidenum">
              <a:rPr lang="ko-KR" altLang="en-US" smtClean="0"/>
              <a:pPr/>
              <a:t>12</a:t>
            </a:fld>
            <a:endParaRPr lang="ko-KR" alt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0" y="365126"/>
            <a:ext cx="11176000" cy="532342"/>
          </a:xfrm>
        </p:spPr>
        <p:txBody>
          <a:bodyPr/>
          <a:lstStyle/>
          <a:p>
            <a:r>
              <a:t>Conclusion</a:t>
            </a:r>
          </a:p>
        </p:txBody>
      </p:sp>
      <p:sp>
        <p:nvSpPr>
          <p:cNvPr id="3" name="Content Placeholder 2"/>
          <p:cNvSpPr>
            <a:spLocks noGrp="1"/>
          </p:cNvSpPr>
          <p:nvPr>
            <p:ph idx="1"/>
          </p:nvPr>
        </p:nvSpPr>
        <p:spPr>
          <a:xfrm>
            <a:off x="508000" y="897468"/>
            <a:ext cx="11176000" cy="5063066"/>
          </a:xfrm>
        </p:spPr>
        <p:txBody>
          <a:bodyPr wrap="square"/>
          <a:lstStyle/>
          <a:p>
            <a:r>
              <a:rPr sz="1800" dirty="0" err="1"/>
              <a:t>기본 정보만으로 AUC 강남 0.71~0.80, 신촌 0.62~0.72</a:t>
            </a:r>
            <a:endParaRPr sz="1800" dirty="0"/>
          </a:p>
          <a:p>
            <a:r>
              <a:rPr sz="1800" dirty="0" err="1"/>
              <a:t>AEC만 추가 시 변화 미미(-0.017~+0.027), 강남 만성신장질환은 오히려 하락(-0.017, Table S6)</a:t>
            </a:r>
          </a:p>
          <a:p>
            <a:r>
              <a:rPr sz="1800" dirty="0" err="1"/>
              <a:t>체성분까지 추가 시 +0.014~+0.066. 신촌은 3개 질환 모두 유의, 강남은 고혈압만 유의해 병원 간 불일치</a:t>
            </a:r>
            <a:endParaRPr sz="1800" dirty="0"/>
          </a:p>
          <a:p>
            <a:r>
              <a:rPr sz="1800" dirty="0" err="1"/>
              <a:t>한계: slice 위치 불일치가 원인이라는 추정은 미확인, 추가 검증 필요</a:t>
            </a:r>
            <a:endParaRPr sz="1800" dirty="0"/>
          </a:p>
        </p:txBody>
      </p:sp>
      <p:sp>
        <p:nvSpPr>
          <p:cNvPr id="4" name="슬라이드 번호 개체 틀 3">
            <a:extLst>
              <a:ext uri="{FF2B5EF4-FFF2-40B4-BE49-F238E27FC236}">
                <a16:creationId xmlns:a16="http://schemas.microsoft.com/office/drawing/2014/main" id="{25FC0757-D1D4-11B5-E65D-AF1C9B6A5716}"/>
              </a:ext>
            </a:extLst>
          </p:cNvPr>
          <p:cNvSpPr>
            <a:spLocks noGrp="1"/>
          </p:cNvSpPr>
          <p:nvPr>
            <p:ph type="sldNum" sz="quarter" idx="12"/>
          </p:nvPr>
        </p:nvSpPr>
        <p:spPr/>
        <p:txBody>
          <a:bodyPr/>
          <a:lstStyle/>
          <a:p>
            <a:fld id="{9F4AF89A-28FA-47FA-B28F-9A9C6913CB7A}" type="slidenum">
              <a:rPr lang="ko-KR" altLang="en-US" smtClean="0"/>
              <a:pPr/>
              <a:t>13</a:t>
            </a:fld>
            <a:endParaRPr lang="ko-KR" alt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cratch_image18.png"/>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743A7-2DE1-484D-10ED-54E154F4C5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CE494A-8665-27CC-F400-B88484969F80}"/>
              </a:ext>
            </a:extLst>
          </p:cNvPr>
          <p:cNvSpPr>
            <a:spLocks noGrp="1"/>
          </p:cNvSpPr>
          <p:nvPr>
            <p:ph type="title"/>
          </p:nvPr>
        </p:nvSpPr>
        <p:spPr/>
        <p:txBody>
          <a:bodyPr>
            <a:normAutofit/>
          </a:bodyPr>
          <a:lstStyle/>
          <a:p>
            <a:r>
              <a:rPr lang="en-US" altLang="ko-KR" dirty="0"/>
              <a:t>Figure S1. Calibration Plot (Baseline vs Best)</a:t>
            </a:r>
            <a:endParaRPr dirty="0"/>
          </a:p>
        </p:txBody>
      </p:sp>
      <p:sp>
        <p:nvSpPr>
          <p:cNvPr id="4" name="슬라이드 번호 개체 틀 3">
            <a:extLst>
              <a:ext uri="{FF2B5EF4-FFF2-40B4-BE49-F238E27FC236}">
                <a16:creationId xmlns:a16="http://schemas.microsoft.com/office/drawing/2014/main" id="{258CA5B1-7A51-6B75-7EFD-944329CBC36D}"/>
              </a:ext>
            </a:extLst>
          </p:cNvPr>
          <p:cNvSpPr>
            <a:spLocks noGrp="1"/>
          </p:cNvSpPr>
          <p:nvPr>
            <p:ph type="sldNum" sz="quarter" idx="12"/>
          </p:nvPr>
        </p:nvSpPr>
        <p:spPr/>
        <p:txBody>
          <a:bodyPr/>
          <a:lstStyle/>
          <a:p>
            <a:fld id="{9F4AF89A-28FA-47FA-B28F-9A9C6913CB7A}" type="slidenum">
              <a:rPr lang="ko-KR" altLang="en-US" smtClean="0"/>
              <a:pPr/>
              <a:t>15</a:t>
            </a:fld>
            <a:endParaRPr lang="ko-KR" altLang="en-US" dirty="0"/>
          </a:p>
        </p:txBody>
      </p:sp>
      <p:pic>
        <p:nvPicPr>
          <p:cNvPr id="5" name="Picture 4" descr="calibration_plot_baseline.png"/>
          <p:cNvPicPr>
            <a:picLocks noChangeAspect="1"/>
          </p:cNvPicPr>
          <p:nvPr/>
        </p:nvPicPr>
        <p:blipFill>
          <a:blip r:embed="rId3"/>
          <a:stretch>
            <a:fillRect/>
          </a:stretch>
        </p:blipFill>
        <p:spPr>
          <a:xfrm>
            <a:off x="2120999" y="1000000"/>
            <a:ext cx="7950001" cy="2650000"/>
          </a:xfrm>
          <a:prstGeom prst="rect">
            <a:avLst/>
          </a:prstGeom>
        </p:spPr>
      </p:pic>
      <p:pic>
        <p:nvPicPr>
          <p:cNvPr id="6" name="Picture 5" descr="calibration_plot_best.png"/>
          <p:cNvPicPr>
            <a:picLocks noChangeAspect="1"/>
          </p:cNvPicPr>
          <p:nvPr/>
        </p:nvPicPr>
        <p:blipFill>
          <a:blip r:embed="rId4"/>
          <a:stretch>
            <a:fillRect/>
          </a:stretch>
        </p:blipFill>
        <p:spPr>
          <a:xfrm>
            <a:off x="2120999" y="3710000"/>
            <a:ext cx="7950001" cy="2650000"/>
          </a:xfrm>
          <a:prstGeom prst="rect">
            <a:avLst/>
          </a:prstGeom>
        </p:spPr>
      </p:pic>
    </p:spTree>
    <p:extLst>
      <p:ext uri="{BB962C8B-B14F-4D97-AF65-F5344CB8AC3E}">
        <p14:creationId xmlns:p14="http://schemas.microsoft.com/office/powerpoint/2010/main" val="7867076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Figure S2. FPCA Inverse Transform (</a:t>
            </a:r>
            <a:r>
              <a:rPr dirty="0" err="1"/>
              <a:t>체성분</a:t>
            </a:r>
            <a:r>
              <a:rPr dirty="0"/>
              <a:t>)</a:t>
            </a:r>
          </a:p>
        </p:txBody>
      </p:sp>
      <p:sp>
        <p:nvSpPr>
          <p:cNvPr id="4" name="슬라이드 번호 개체 틀 3">
            <a:extLst>
              <a:ext uri="{FF2B5EF4-FFF2-40B4-BE49-F238E27FC236}">
                <a16:creationId xmlns:a16="http://schemas.microsoft.com/office/drawing/2014/main" id="{37412909-25DE-E3CF-2D11-6AA6372F1E27}"/>
              </a:ext>
            </a:extLst>
          </p:cNvPr>
          <p:cNvSpPr>
            <a:spLocks noGrp="1"/>
          </p:cNvSpPr>
          <p:nvPr>
            <p:ph type="sldNum" sz="quarter" idx="12"/>
          </p:nvPr>
        </p:nvSpPr>
        <p:spPr/>
        <p:txBody>
          <a:bodyPr/>
          <a:lstStyle/>
          <a:p>
            <a:fld id="{9F4AF89A-28FA-47FA-B28F-9A9C6913CB7A}" type="slidenum">
              <a:rPr lang="ko-KR" altLang="en-US" smtClean="0"/>
              <a:pPr/>
              <a:t>16</a:t>
            </a:fld>
            <a:endParaRPr lang="ko-KR" altLang="en-US" dirty="0"/>
          </a:p>
        </p:txBody>
      </p:sp>
      <p:pic>
        <p:nvPicPr>
          <p:cNvPr id="5" name="Picture 4" descr="fpca_recovered_bodycomp.png"/>
          <p:cNvPicPr>
            <a:picLocks noChangeAspect="1"/>
          </p:cNvPicPr>
          <p:nvPr/>
        </p:nvPicPr>
        <p:blipFill>
          <a:blip r:embed="rId3"/>
          <a:stretch>
            <a:fillRect/>
          </a:stretch>
        </p:blipFill>
        <p:spPr>
          <a:xfrm>
            <a:off x="508000" y="1000000"/>
            <a:ext cx="11176000" cy="51245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Table S1. </a:t>
            </a:r>
            <a:r>
              <a:rPr dirty="0" err="1"/>
              <a:t>전체</a:t>
            </a:r>
            <a:r>
              <a:rPr dirty="0"/>
              <a:t> </a:t>
            </a:r>
            <a:r>
              <a:rPr dirty="0" err="1"/>
              <a:t>확장모델</a:t>
            </a:r>
            <a:r>
              <a:rPr dirty="0"/>
              <a:t> AUC </a:t>
            </a:r>
            <a:r>
              <a:rPr dirty="0" err="1"/>
              <a:t>비교</a:t>
            </a:r>
            <a:endParaRPr dirty="0"/>
          </a:p>
        </p:txBody>
      </p:sp>
      <p:sp>
        <p:nvSpPr>
          <p:cNvPr id="4" name="슬라이드 번호 개체 틀 3">
            <a:extLst>
              <a:ext uri="{FF2B5EF4-FFF2-40B4-BE49-F238E27FC236}">
                <a16:creationId xmlns:a16="http://schemas.microsoft.com/office/drawing/2014/main" id="{02C5A0FE-4927-3A33-20F9-1AA1153E4106}"/>
              </a:ext>
            </a:extLst>
          </p:cNvPr>
          <p:cNvSpPr>
            <a:spLocks noGrp="1"/>
          </p:cNvSpPr>
          <p:nvPr>
            <p:ph type="sldNum" sz="quarter" idx="12"/>
          </p:nvPr>
        </p:nvSpPr>
        <p:spPr/>
        <p:txBody>
          <a:bodyPr/>
          <a:lstStyle/>
          <a:p>
            <a:fld id="{9F4AF89A-28FA-47FA-B28F-9A9C6913CB7A}" type="slidenum">
              <a:rPr lang="ko-KR" altLang="en-US" smtClean="0"/>
              <a:pPr/>
              <a:t>17</a:t>
            </a:fld>
            <a:endParaRPr lang="ko-KR" altLang="en-US" dirty="0"/>
          </a:p>
        </p:txBody>
      </p:sp>
      <p:graphicFrame>
        <p:nvGraphicFramePr>
          <p:cNvPr id="5" name="Table 4"/>
          <p:cNvGraphicFramePr>
            <a:graphicFrameLocks noGrp="1"/>
          </p:cNvGraphicFramePr>
          <p:nvPr>
            <p:extLst>
              <p:ext uri="{D42A27DB-BD31-4B8C-83A1-F6EECF244321}">
                <p14:modId xmlns:p14="http://schemas.microsoft.com/office/powerpoint/2010/main" val="135236854"/>
              </p:ext>
            </p:extLst>
          </p:nvPr>
        </p:nvGraphicFramePr>
        <p:xfrm>
          <a:off x="486912" y="1070727"/>
          <a:ext cx="11218175" cy="5124630"/>
        </p:xfrm>
        <a:graphic>
          <a:graphicData uri="http://schemas.openxmlformats.org/drawingml/2006/table">
            <a:tbl>
              <a:tblPr firstRow="1" bandRow="1">
                <a:tableStyleId>{C083E6E3-FA7D-4D7B-A595-EF9225AFEA82}</a:tableStyleId>
              </a:tblPr>
              <a:tblGrid>
                <a:gridCol w="1540192">
                  <a:extLst>
                    <a:ext uri="{9D8B030D-6E8A-4147-A177-3AD203B41FA5}">
                      <a16:colId xmlns:a16="http://schemas.microsoft.com/office/drawing/2014/main" val="20000"/>
                    </a:ext>
                  </a:extLst>
                </a:gridCol>
                <a:gridCol w="1015815">
                  <a:extLst>
                    <a:ext uri="{9D8B030D-6E8A-4147-A177-3AD203B41FA5}">
                      <a16:colId xmlns:a16="http://schemas.microsoft.com/office/drawing/2014/main" val="20001"/>
                    </a:ext>
                  </a:extLst>
                </a:gridCol>
                <a:gridCol w="828992">
                  <a:extLst>
                    <a:ext uri="{9D8B030D-6E8A-4147-A177-3AD203B41FA5}">
                      <a16:colId xmlns:a16="http://schemas.microsoft.com/office/drawing/2014/main" val="20002"/>
                    </a:ext>
                  </a:extLst>
                </a:gridCol>
                <a:gridCol w="1208405">
                  <a:extLst>
                    <a:ext uri="{9D8B030D-6E8A-4147-A177-3AD203B41FA5}">
                      <a16:colId xmlns:a16="http://schemas.microsoft.com/office/drawing/2014/main" val="20003"/>
                    </a:ext>
                  </a:extLst>
                </a:gridCol>
                <a:gridCol w="1173480">
                  <a:extLst>
                    <a:ext uri="{9D8B030D-6E8A-4147-A177-3AD203B41FA5}">
                      <a16:colId xmlns:a16="http://schemas.microsoft.com/office/drawing/2014/main" val="20004"/>
                    </a:ext>
                  </a:extLst>
                </a:gridCol>
                <a:gridCol w="1171892">
                  <a:extLst>
                    <a:ext uri="{9D8B030D-6E8A-4147-A177-3AD203B41FA5}">
                      <a16:colId xmlns:a16="http://schemas.microsoft.com/office/drawing/2014/main" val="20005"/>
                    </a:ext>
                  </a:extLst>
                </a:gridCol>
                <a:gridCol w="767080">
                  <a:extLst>
                    <a:ext uri="{9D8B030D-6E8A-4147-A177-3AD203B41FA5}">
                      <a16:colId xmlns:a16="http://schemas.microsoft.com/office/drawing/2014/main" val="20006"/>
                    </a:ext>
                  </a:extLst>
                </a:gridCol>
                <a:gridCol w="832168">
                  <a:extLst>
                    <a:ext uri="{9D8B030D-6E8A-4147-A177-3AD203B41FA5}">
                      <a16:colId xmlns:a16="http://schemas.microsoft.com/office/drawing/2014/main" val="20007"/>
                    </a:ext>
                  </a:extLst>
                </a:gridCol>
                <a:gridCol w="832168">
                  <a:extLst>
                    <a:ext uri="{9D8B030D-6E8A-4147-A177-3AD203B41FA5}">
                      <a16:colId xmlns:a16="http://schemas.microsoft.com/office/drawing/2014/main" val="20008"/>
                    </a:ext>
                  </a:extLst>
                </a:gridCol>
                <a:gridCol w="832168">
                  <a:extLst>
                    <a:ext uri="{9D8B030D-6E8A-4147-A177-3AD203B41FA5}">
                      <a16:colId xmlns:a16="http://schemas.microsoft.com/office/drawing/2014/main" val="20009"/>
                    </a:ext>
                  </a:extLst>
                </a:gridCol>
                <a:gridCol w="1015815">
                  <a:extLst>
                    <a:ext uri="{9D8B030D-6E8A-4147-A177-3AD203B41FA5}">
                      <a16:colId xmlns:a16="http://schemas.microsoft.com/office/drawing/2014/main" val="20010"/>
                    </a:ext>
                  </a:extLst>
                </a:gridCol>
              </a:tblGrid>
              <a:tr h="732090">
                <a:tc>
                  <a:txBody>
                    <a:bodyPr/>
                    <a:lstStyle/>
                    <a:p>
                      <a:pPr algn="ctr"/>
                      <a:r>
                        <a:rPr sz="1200" b="1"/>
                        <a:t>Disease</a:t>
                      </a:r>
                    </a:p>
                  </a:txBody>
                  <a:tcPr anchor="ctr"/>
                </a:tc>
                <a:tc>
                  <a:txBody>
                    <a:bodyPr/>
                    <a:lstStyle/>
                    <a:p>
                      <a:pPr algn="ctr"/>
                      <a:r>
                        <a:rPr sz="1200" b="1"/>
                        <a:t>Cohort</a:t>
                      </a:r>
                    </a:p>
                  </a:txBody>
                  <a:tcPr anchor="ctr"/>
                </a:tc>
                <a:tc>
                  <a:txBody>
                    <a:bodyPr/>
                    <a:lstStyle/>
                    <a:p>
                      <a:pPr algn="ctr"/>
                      <a:r>
                        <a:rPr sz="1200" b="1"/>
                        <a:t>Baseline</a:t>
                      </a:r>
                    </a:p>
                  </a:txBody>
                  <a:tcPr anchor="ctr"/>
                </a:tc>
                <a:tc>
                  <a:txBody>
                    <a:bodyPr/>
                    <a:lstStyle/>
                    <a:p>
                      <a:pPr algn="ctr"/>
                      <a:r>
                        <a:rPr sz="1200" b="1" dirty="0"/>
                        <a:t>+AEC</a:t>
                      </a:r>
                      <a:endParaRPr lang="en-US" sz="1200" b="1" dirty="0"/>
                    </a:p>
                    <a:p>
                      <a:pPr algn="ctr"/>
                      <a:r>
                        <a:rPr sz="1200" b="1" dirty="0"/>
                        <a:t>(</a:t>
                      </a:r>
                      <a:r>
                        <a:rPr sz="1200" b="1" dirty="0" err="1"/>
                        <a:t>FPCA+Ratio</a:t>
                      </a:r>
                      <a:r>
                        <a:rPr sz="1200" b="1" dirty="0"/>
                        <a:t>)</a:t>
                      </a:r>
                    </a:p>
                  </a:txBody>
                  <a:tcPr anchor="ctr"/>
                </a:tc>
                <a:tc>
                  <a:txBody>
                    <a:bodyPr/>
                    <a:lstStyle/>
                    <a:p>
                      <a:pPr algn="ctr"/>
                      <a:r>
                        <a:rPr sz="1200" b="1" dirty="0"/>
                        <a:t>+AEC (FPCA)</a:t>
                      </a:r>
                    </a:p>
                  </a:txBody>
                  <a:tcPr anchor="ctr"/>
                </a:tc>
                <a:tc>
                  <a:txBody>
                    <a:bodyPr/>
                    <a:lstStyle/>
                    <a:p>
                      <a:pPr algn="ctr"/>
                      <a:r>
                        <a:rPr sz="1200" b="1"/>
                        <a:t>+AEC (Ratio)</a:t>
                      </a:r>
                    </a:p>
                  </a:txBody>
                  <a:tcPr anchor="ctr"/>
                </a:tc>
                <a:tc>
                  <a:txBody>
                    <a:bodyPr/>
                    <a:lstStyle/>
                    <a:p>
                      <a:pPr algn="ctr"/>
                      <a:r>
                        <a:rPr sz="1200" b="1" dirty="0"/>
                        <a:t>+AEC</a:t>
                      </a:r>
                      <a:endParaRPr lang="en-US" sz="1200" b="1" dirty="0"/>
                    </a:p>
                    <a:p>
                      <a:pPr algn="ctr"/>
                      <a:r>
                        <a:rPr sz="1200" b="1" dirty="0"/>
                        <a:t>+VAT</a:t>
                      </a:r>
                    </a:p>
                  </a:txBody>
                  <a:tcPr anchor="ctr"/>
                </a:tc>
                <a:tc>
                  <a:txBody>
                    <a:bodyPr/>
                    <a:lstStyle/>
                    <a:p>
                      <a:pPr algn="ctr"/>
                      <a:r>
                        <a:rPr sz="1200" b="1" dirty="0"/>
                        <a:t>+AEC </a:t>
                      </a:r>
                      <a:endParaRPr lang="en-US" sz="1200" b="1" dirty="0"/>
                    </a:p>
                    <a:p>
                      <a:pPr algn="ctr"/>
                      <a:r>
                        <a:rPr sz="1200" b="1" dirty="0"/>
                        <a:t>+LAMA</a:t>
                      </a:r>
                    </a:p>
                  </a:txBody>
                  <a:tcPr anchor="ctr"/>
                </a:tc>
                <a:tc>
                  <a:txBody>
                    <a:bodyPr/>
                    <a:lstStyle/>
                    <a:p>
                      <a:pPr algn="ctr"/>
                      <a:r>
                        <a:rPr sz="1200" b="1" dirty="0"/>
                        <a:t>+AEC </a:t>
                      </a:r>
                      <a:endParaRPr lang="en-US" sz="1200" b="1" dirty="0"/>
                    </a:p>
                    <a:p>
                      <a:pPr algn="ctr"/>
                      <a:r>
                        <a:rPr sz="1200" b="1" dirty="0"/>
                        <a:t>+NAMA</a:t>
                      </a:r>
                    </a:p>
                  </a:txBody>
                  <a:tcPr anchor="ctr"/>
                </a:tc>
                <a:tc>
                  <a:txBody>
                    <a:bodyPr/>
                    <a:lstStyle/>
                    <a:p>
                      <a:pPr algn="ctr"/>
                      <a:r>
                        <a:rPr sz="1200" b="1" dirty="0"/>
                        <a:t>+AEC </a:t>
                      </a:r>
                      <a:endParaRPr lang="en-US" sz="1200" b="1" dirty="0"/>
                    </a:p>
                    <a:p>
                      <a:pPr algn="ctr"/>
                      <a:r>
                        <a:rPr sz="1200" b="1" dirty="0"/>
                        <a:t>+</a:t>
                      </a:r>
                      <a:r>
                        <a:rPr sz="1200" b="1" dirty="0" err="1"/>
                        <a:t>체성분</a:t>
                      </a:r>
                      <a:endParaRPr sz="1200" b="1" dirty="0"/>
                    </a:p>
                  </a:txBody>
                  <a:tcPr anchor="ctr"/>
                </a:tc>
                <a:tc>
                  <a:txBody>
                    <a:bodyPr/>
                    <a:lstStyle/>
                    <a:p>
                      <a:pPr algn="ctr"/>
                      <a:r>
                        <a:rPr sz="1200" b="1"/>
                        <a:t>체성분만</a:t>
                      </a:r>
                    </a:p>
                  </a:txBody>
                  <a:tcPr anchor="ctr"/>
                </a:tc>
                <a:extLst>
                  <a:ext uri="{0D108BD9-81ED-4DB2-BD59-A6C34878D82A}">
                    <a16:rowId xmlns:a16="http://schemas.microsoft.com/office/drawing/2014/main" val="10000"/>
                  </a:ext>
                </a:extLst>
              </a:tr>
              <a:tr h="732090">
                <a:tc rowSpan="2">
                  <a:txBody>
                    <a:bodyPr/>
                    <a:lstStyle/>
                    <a:p>
                      <a:pPr algn="ctr"/>
                      <a:r>
                        <a:rPr sz="1200" b="0"/>
                        <a:t>고혈압(HTN)</a:t>
                      </a:r>
                    </a:p>
                  </a:txBody>
                  <a:tcPr anchor="ctr"/>
                </a:tc>
                <a:tc>
                  <a:txBody>
                    <a:bodyPr/>
                    <a:lstStyle/>
                    <a:p>
                      <a:pPr algn="ctr"/>
                      <a:r>
                        <a:rPr sz="1200" b="0"/>
                        <a:t>Internal (Gangnam)</a:t>
                      </a:r>
                    </a:p>
                  </a:txBody>
                  <a:tcPr anchor="ctr"/>
                </a:tc>
                <a:tc>
                  <a:txBody>
                    <a:bodyPr/>
                    <a:lstStyle/>
                    <a:p>
                      <a:pPr algn="ctr"/>
                      <a:r>
                        <a:rPr sz="1200" b="0" dirty="0"/>
                        <a:t>0.796</a:t>
                      </a:r>
                      <a:endParaRPr lang="en-US" sz="1200" b="0" dirty="0"/>
                    </a:p>
                    <a:p>
                      <a:pPr algn="ctr"/>
                      <a:r>
                        <a:rPr sz="1200" b="0" dirty="0"/>
                        <a:t>± 0.020</a:t>
                      </a:r>
                    </a:p>
                  </a:txBody>
                  <a:tcPr anchor="ctr"/>
                </a:tc>
                <a:tc>
                  <a:txBody>
                    <a:bodyPr/>
                    <a:lstStyle/>
                    <a:p>
                      <a:pPr algn="ctr"/>
                      <a:r>
                        <a:rPr sz="1200" b="0" dirty="0"/>
                        <a:t>0.804</a:t>
                      </a:r>
                      <a:endParaRPr lang="en-US" sz="1200" b="0" dirty="0"/>
                    </a:p>
                    <a:p>
                      <a:pPr algn="ctr"/>
                      <a:r>
                        <a:rPr sz="1200" b="0" dirty="0"/>
                        <a:t>± 0.033</a:t>
                      </a:r>
                    </a:p>
                  </a:txBody>
                  <a:tcPr anchor="ctr"/>
                </a:tc>
                <a:tc>
                  <a:txBody>
                    <a:bodyPr/>
                    <a:lstStyle/>
                    <a:p>
                      <a:pPr algn="ctr"/>
                      <a:r>
                        <a:rPr sz="1200" b="0" dirty="0"/>
                        <a:t>0.805 </a:t>
                      </a:r>
                      <a:endParaRPr lang="en-US" sz="1200" b="0" dirty="0"/>
                    </a:p>
                    <a:p>
                      <a:pPr algn="ctr"/>
                      <a:r>
                        <a:rPr sz="1200" b="0" dirty="0"/>
                        <a:t>± 0.031</a:t>
                      </a:r>
                    </a:p>
                  </a:txBody>
                  <a:tcPr anchor="ctr"/>
                </a:tc>
                <a:tc>
                  <a:txBody>
                    <a:bodyPr/>
                    <a:lstStyle/>
                    <a:p>
                      <a:pPr algn="ctr"/>
                      <a:r>
                        <a:rPr sz="1200" b="0" dirty="0"/>
                        <a:t>0.800 </a:t>
                      </a:r>
                      <a:endParaRPr lang="en-US" sz="1200" b="0" dirty="0"/>
                    </a:p>
                    <a:p>
                      <a:pPr algn="ctr"/>
                      <a:r>
                        <a:rPr sz="1200" b="0" dirty="0"/>
                        <a:t>± 0.028</a:t>
                      </a:r>
                    </a:p>
                  </a:txBody>
                  <a:tcPr anchor="ctr"/>
                </a:tc>
                <a:tc>
                  <a:txBody>
                    <a:bodyPr/>
                    <a:lstStyle/>
                    <a:p>
                      <a:pPr algn="ctr"/>
                      <a:r>
                        <a:rPr sz="1200" b="0" dirty="0"/>
                        <a:t>0.810 </a:t>
                      </a:r>
                      <a:endParaRPr lang="en-US" sz="1200" b="0" dirty="0"/>
                    </a:p>
                    <a:p>
                      <a:pPr algn="ctr"/>
                      <a:r>
                        <a:rPr sz="1200" b="0" dirty="0"/>
                        <a:t>± 0.042</a:t>
                      </a:r>
                    </a:p>
                  </a:txBody>
                  <a:tcPr anchor="ctr"/>
                </a:tc>
                <a:tc>
                  <a:txBody>
                    <a:bodyPr/>
                    <a:lstStyle/>
                    <a:p>
                      <a:pPr algn="ctr"/>
                      <a:r>
                        <a:rPr sz="1200" b="0" dirty="0"/>
                        <a:t>0.808 </a:t>
                      </a:r>
                      <a:endParaRPr lang="en-US" sz="1200" b="0" dirty="0"/>
                    </a:p>
                    <a:p>
                      <a:pPr algn="ctr"/>
                      <a:r>
                        <a:rPr sz="1200" b="0" dirty="0"/>
                        <a:t>± 0.029*</a:t>
                      </a:r>
                    </a:p>
                  </a:txBody>
                  <a:tcPr anchor="ctr"/>
                </a:tc>
                <a:tc>
                  <a:txBody>
                    <a:bodyPr/>
                    <a:lstStyle/>
                    <a:p>
                      <a:pPr algn="ctr"/>
                      <a:r>
                        <a:rPr sz="1200" b="0" dirty="0"/>
                        <a:t>0.811 </a:t>
                      </a:r>
                      <a:endParaRPr lang="en-US" sz="1200" b="0" dirty="0"/>
                    </a:p>
                    <a:p>
                      <a:pPr algn="ctr"/>
                      <a:r>
                        <a:rPr sz="1200" b="0" dirty="0"/>
                        <a:t>± 0.032*</a:t>
                      </a:r>
                    </a:p>
                  </a:txBody>
                  <a:tcPr anchor="ctr"/>
                </a:tc>
                <a:tc>
                  <a:txBody>
                    <a:bodyPr/>
                    <a:lstStyle/>
                    <a:p>
                      <a:pPr algn="ctr"/>
                      <a:r>
                        <a:rPr sz="1200" b="0" dirty="0"/>
                        <a:t>0.811 </a:t>
                      </a:r>
                      <a:endParaRPr lang="en-US" sz="1200" b="0" dirty="0"/>
                    </a:p>
                    <a:p>
                      <a:pPr algn="ctr"/>
                      <a:r>
                        <a:rPr sz="1200" b="0" dirty="0"/>
                        <a:t>± 0.036*</a:t>
                      </a:r>
                    </a:p>
                  </a:txBody>
                  <a:tcPr anchor="ctr"/>
                </a:tc>
                <a:tc>
                  <a:txBody>
                    <a:bodyPr/>
                    <a:lstStyle/>
                    <a:p>
                      <a:pPr algn="ctr"/>
                      <a:r>
                        <a:rPr sz="1200" b="0" dirty="0"/>
                        <a:t>0.812 </a:t>
                      </a:r>
                      <a:endParaRPr lang="en-US" sz="1200" b="0" dirty="0"/>
                    </a:p>
                    <a:p>
                      <a:pPr algn="ctr"/>
                      <a:r>
                        <a:rPr sz="1200" b="0" dirty="0"/>
                        <a:t>± 0.034*</a:t>
                      </a:r>
                    </a:p>
                  </a:txBody>
                  <a:tcPr anchor="ctr"/>
                </a:tc>
                <a:extLst>
                  <a:ext uri="{0D108BD9-81ED-4DB2-BD59-A6C34878D82A}">
                    <a16:rowId xmlns:a16="http://schemas.microsoft.com/office/drawing/2014/main" val="10001"/>
                  </a:ext>
                </a:extLst>
              </a:tr>
              <a:tr h="732090">
                <a:tc vMerge="1">
                  <a:txBody>
                    <a:bodyPr/>
                    <a:lstStyle/>
                    <a:p>
                      <a:endParaRPr/>
                    </a:p>
                  </a:txBody>
                  <a:tcPr/>
                </a:tc>
                <a:tc>
                  <a:txBody>
                    <a:bodyPr/>
                    <a:lstStyle/>
                    <a:p>
                      <a:pPr algn="ctr"/>
                      <a:r>
                        <a:rPr sz="1200" b="0"/>
                        <a:t>External (Sinchon)</a:t>
                      </a:r>
                    </a:p>
                  </a:txBody>
                  <a:tcPr anchor="ctr"/>
                </a:tc>
                <a:tc>
                  <a:txBody>
                    <a:bodyPr/>
                    <a:lstStyle/>
                    <a:p>
                      <a:pPr algn="ctr"/>
                      <a:r>
                        <a:rPr sz="1200" b="0"/>
                        <a:t>0.718</a:t>
                      </a:r>
                    </a:p>
                  </a:txBody>
                  <a:tcPr anchor="ctr"/>
                </a:tc>
                <a:tc>
                  <a:txBody>
                    <a:bodyPr/>
                    <a:lstStyle/>
                    <a:p>
                      <a:pPr algn="ctr"/>
                      <a:r>
                        <a:rPr sz="1200" b="0"/>
                        <a:t>0.730*</a:t>
                      </a:r>
                    </a:p>
                  </a:txBody>
                  <a:tcPr anchor="ctr"/>
                </a:tc>
                <a:tc>
                  <a:txBody>
                    <a:bodyPr/>
                    <a:lstStyle/>
                    <a:p>
                      <a:pPr algn="ctr"/>
                      <a:r>
                        <a:rPr sz="1200" b="0"/>
                        <a:t>0.730*</a:t>
                      </a:r>
                    </a:p>
                  </a:txBody>
                  <a:tcPr anchor="ctr"/>
                </a:tc>
                <a:tc>
                  <a:txBody>
                    <a:bodyPr/>
                    <a:lstStyle/>
                    <a:p>
                      <a:pPr algn="ctr"/>
                      <a:r>
                        <a:rPr sz="1200" b="0"/>
                        <a:t>0.728</a:t>
                      </a:r>
                    </a:p>
                  </a:txBody>
                  <a:tcPr anchor="ctr"/>
                </a:tc>
                <a:tc>
                  <a:txBody>
                    <a:bodyPr/>
                    <a:lstStyle/>
                    <a:p>
                      <a:pPr algn="ctr"/>
                      <a:r>
                        <a:rPr sz="1200" b="0"/>
                        <a:t>0.735*</a:t>
                      </a:r>
                    </a:p>
                  </a:txBody>
                  <a:tcPr anchor="ctr"/>
                </a:tc>
                <a:tc>
                  <a:txBody>
                    <a:bodyPr/>
                    <a:lstStyle/>
                    <a:p>
                      <a:pPr algn="ctr"/>
                      <a:r>
                        <a:rPr sz="1200" b="0"/>
                        <a:t>0.743*</a:t>
                      </a:r>
                    </a:p>
                  </a:txBody>
                  <a:tcPr anchor="ctr"/>
                </a:tc>
                <a:tc>
                  <a:txBody>
                    <a:bodyPr/>
                    <a:lstStyle/>
                    <a:p>
                      <a:pPr algn="ctr"/>
                      <a:r>
                        <a:rPr sz="1200" b="0"/>
                        <a:t>0.732</a:t>
                      </a:r>
                    </a:p>
                  </a:txBody>
                  <a:tcPr anchor="ctr"/>
                </a:tc>
                <a:tc>
                  <a:txBody>
                    <a:bodyPr/>
                    <a:lstStyle/>
                    <a:p>
                      <a:pPr algn="ctr"/>
                      <a:r>
                        <a:rPr sz="1200" b="0"/>
                        <a:t>0.741*</a:t>
                      </a:r>
                    </a:p>
                  </a:txBody>
                  <a:tcPr anchor="ctr"/>
                </a:tc>
                <a:tc>
                  <a:txBody>
                    <a:bodyPr/>
                    <a:lstStyle/>
                    <a:p>
                      <a:pPr algn="ctr"/>
                      <a:r>
                        <a:rPr sz="1200" b="0"/>
                        <a:t>0.740*</a:t>
                      </a:r>
                    </a:p>
                  </a:txBody>
                  <a:tcPr anchor="ctr"/>
                </a:tc>
                <a:extLst>
                  <a:ext uri="{0D108BD9-81ED-4DB2-BD59-A6C34878D82A}">
                    <a16:rowId xmlns:a16="http://schemas.microsoft.com/office/drawing/2014/main" val="10002"/>
                  </a:ext>
                </a:extLst>
              </a:tr>
              <a:tr h="732090">
                <a:tc rowSpan="2">
                  <a:txBody>
                    <a:bodyPr/>
                    <a:lstStyle/>
                    <a:p>
                      <a:pPr algn="ctr"/>
                      <a:r>
                        <a:rPr sz="1200" b="0"/>
                        <a:t>당뇨병(DM)</a:t>
                      </a:r>
                    </a:p>
                  </a:txBody>
                  <a:tcPr anchor="ctr"/>
                </a:tc>
                <a:tc>
                  <a:txBody>
                    <a:bodyPr/>
                    <a:lstStyle/>
                    <a:p>
                      <a:pPr algn="ctr"/>
                      <a:r>
                        <a:rPr sz="1200" b="0"/>
                        <a:t>Internal (Gangnam)</a:t>
                      </a:r>
                    </a:p>
                  </a:txBody>
                  <a:tcPr anchor="ctr"/>
                </a:tc>
                <a:tc>
                  <a:txBody>
                    <a:bodyPr/>
                    <a:lstStyle/>
                    <a:p>
                      <a:pPr algn="ctr"/>
                      <a:r>
                        <a:rPr sz="1200" b="0" dirty="0"/>
                        <a:t>0.712 </a:t>
                      </a:r>
                      <a:endParaRPr lang="en-US" sz="1200" b="0" dirty="0"/>
                    </a:p>
                    <a:p>
                      <a:pPr algn="ctr"/>
                      <a:r>
                        <a:rPr sz="1200" b="0" dirty="0"/>
                        <a:t>± 0.055</a:t>
                      </a:r>
                    </a:p>
                  </a:txBody>
                  <a:tcPr anchor="ctr"/>
                </a:tc>
                <a:tc>
                  <a:txBody>
                    <a:bodyPr/>
                    <a:lstStyle/>
                    <a:p>
                      <a:pPr algn="ctr"/>
                      <a:r>
                        <a:rPr sz="1200" b="0" dirty="0"/>
                        <a:t>0.733 </a:t>
                      </a:r>
                      <a:endParaRPr lang="en-US" sz="1200" b="0" dirty="0"/>
                    </a:p>
                    <a:p>
                      <a:pPr algn="ctr"/>
                      <a:r>
                        <a:rPr sz="1200" b="0" dirty="0"/>
                        <a:t>± 0.051*</a:t>
                      </a:r>
                    </a:p>
                  </a:txBody>
                  <a:tcPr anchor="ctr"/>
                </a:tc>
                <a:tc>
                  <a:txBody>
                    <a:bodyPr/>
                    <a:lstStyle/>
                    <a:p>
                      <a:pPr algn="ctr"/>
                      <a:r>
                        <a:rPr sz="1200" b="0" dirty="0"/>
                        <a:t>0.732 </a:t>
                      </a:r>
                      <a:endParaRPr lang="en-US" sz="1200" b="0" dirty="0"/>
                    </a:p>
                    <a:p>
                      <a:pPr algn="ctr"/>
                      <a:r>
                        <a:rPr sz="1200" b="0" dirty="0"/>
                        <a:t>± 0.054</a:t>
                      </a:r>
                    </a:p>
                  </a:txBody>
                  <a:tcPr anchor="ctr"/>
                </a:tc>
                <a:tc>
                  <a:txBody>
                    <a:bodyPr/>
                    <a:lstStyle/>
                    <a:p>
                      <a:pPr algn="ctr"/>
                      <a:r>
                        <a:rPr sz="1200" b="0" dirty="0"/>
                        <a:t>0.730 </a:t>
                      </a:r>
                      <a:endParaRPr lang="en-US" sz="1200" b="0" dirty="0"/>
                    </a:p>
                    <a:p>
                      <a:pPr algn="ctr"/>
                      <a:r>
                        <a:rPr sz="1200" b="0" dirty="0"/>
                        <a:t>± 0.038</a:t>
                      </a:r>
                    </a:p>
                  </a:txBody>
                  <a:tcPr anchor="ctr"/>
                </a:tc>
                <a:tc>
                  <a:txBody>
                    <a:bodyPr/>
                    <a:lstStyle/>
                    <a:p>
                      <a:pPr algn="ctr"/>
                      <a:r>
                        <a:rPr sz="1200" b="0" dirty="0"/>
                        <a:t>0.732 </a:t>
                      </a:r>
                      <a:endParaRPr lang="en-US" sz="1200" b="0" dirty="0"/>
                    </a:p>
                    <a:p>
                      <a:pPr algn="ctr"/>
                      <a:r>
                        <a:rPr sz="1200" b="0" dirty="0"/>
                        <a:t>± 0.048</a:t>
                      </a:r>
                    </a:p>
                  </a:txBody>
                  <a:tcPr anchor="ctr"/>
                </a:tc>
                <a:tc>
                  <a:txBody>
                    <a:bodyPr/>
                    <a:lstStyle/>
                    <a:p>
                      <a:pPr algn="ctr"/>
                      <a:r>
                        <a:rPr sz="1200" b="0" dirty="0"/>
                        <a:t>0.738 </a:t>
                      </a:r>
                      <a:endParaRPr lang="en-US" sz="1200" b="0" dirty="0"/>
                    </a:p>
                    <a:p>
                      <a:pPr algn="ctr"/>
                      <a:r>
                        <a:rPr sz="1200" b="0" dirty="0"/>
                        <a:t>± 0.052*</a:t>
                      </a:r>
                    </a:p>
                  </a:txBody>
                  <a:tcPr anchor="ctr"/>
                </a:tc>
                <a:tc>
                  <a:txBody>
                    <a:bodyPr/>
                    <a:lstStyle/>
                    <a:p>
                      <a:pPr algn="ctr"/>
                      <a:r>
                        <a:rPr sz="1200" b="0" dirty="0"/>
                        <a:t>0.732 </a:t>
                      </a:r>
                      <a:endParaRPr lang="en-US" sz="1200" b="0" dirty="0"/>
                    </a:p>
                    <a:p>
                      <a:pPr algn="ctr"/>
                      <a:r>
                        <a:rPr sz="1200" b="0" dirty="0"/>
                        <a:t>± 0.053</a:t>
                      </a:r>
                    </a:p>
                  </a:txBody>
                  <a:tcPr anchor="ctr"/>
                </a:tc>
                <a:tc>
                  <a:txBody>
                    <a:bodyPr/>
                    <a:lstStyle/>
                    <a:p>
                      <a:pPr algn="ctr"/>
                      <a:r>
                        <a:rPr sz="1200" b="0" dirty="0"/>
                        <a:t>0.736 </a:t>
                      </a:r>
                      <a:endParaRPr lang="en-US" sz="1200" b="0" dirty="0"/>
                    </a:p>
                    <a:p>
                      <a:pPr algn="ctr"/>
                      <a:r>
                        <a:rPr sz="1200" b="0" dirty="0"/>
                        <a:t>± 0.044</a:t>
                      </a:r>
                    </a:p>
                  </a:txBody>
                  <a:tcPr anchor="ctr"/>
                </a:tc>
                <a:tc>
                  <a:txBody>
                    <a:bodyPr/>
                    <a:lstStyle/>
                    <a:p>
                      <a:pPr algn="ctr"/>
                      <a:r>
                        <a:rPr sz="1200" b="0" dirty="0"/>
                        <a:t>0.736 </a:t>
                      </a:r>
                      <a:endParaRPr lang="en-US" sz="1200" b="0" dirty="0"/>
                    </a:p>
                    <a:p>
                      <a:pPr algn="ctr"/>
                      <a:r>
                        <a:rPr sz="1200" b="0" dirty="0"/>
                        <a:t>± 0.038</a:t>
                      </a:r>
                    </a:p>
                  </a:txBody>
                  <a:tcPr anchor="ctr"/>
                </a:tc>
                <a:extLst>
                  <a:ext uri="{0D108BD9-81ED-4DB2-BD59-A6C34878D82A}">
                    <a16:rowId xmlns:a16="http://schemas.microsoft.com/office/drawing/2014/main" val="10003"/>
                  </a:ext>
                </a:extLst>
              </a:tr>
              <a:tr h="732090">
                <a:tc vMerge="1">
                  <a:txBody>
                    <a:bodyPr/>
                    <a:lstStyle/>
                    <a:p>
                      <a:endParaRPr/>
                    </a:p>
                  </a:txBody>
                  <a:tcPr/>
                </a:tc>
                <a:tc>
                  <a:txBody>
                    <a:bodyPr/>
                    <a:lstStyle/>
                    <a:p>
                      <a:pPr algn="ctr"/>
                      <a:r>
                        <a:rPr sz="1200" b="0"/>
                        <a:t>External (Sinchon)</a:t>
                      </a:r>
                    </a:p>
                  </a:txBody>
                  <a:tcPr anchor="ctr"/>
                </a:tc>
                <a:tc>
                  <a:txBody>
                    <a:bodyPr/>
                    <a:lstStyle/>
                    <a:p>
                      <a:pPr algn="ctr"/>
                      <a:r>
                        <a:rPr sz="1200" b="0"/>
                        <a:t>0.665</a:t>
                      </a:r>
                    </a:p>
                  </a:txBody>
                  <a:tcPr anchor="ctr"/>
                </a:tc>
                <a:tc>
                  <a:txBody>
                    <a:bodyPr/>
                    <a:lstStyle/>
                    <a:p>
                      <a:pPr algn="ctr"/>
                      <a:r>
                        <a:rPr sz="1200" b="0"/>
                        <a:t>0.679</a:t>
                      </a:r>
                    </a:p>
                  </a:txBody>
                  <a:tcPr anchor="ctr"/>
                </a:tc>
                <a:tc>
                  <a:txBody>
                    <a:bodyPr/>
                    <a:lstStyle/>
                    <a:p>
                      <a:pPr algn="ctr"/>
                      <a:r>
                        <a:rPr sz="1200" b="0"/>
                        <a:t>0.674</a:t>
                      </a:r>
                    </a:p>
                  </a:txBody>
                  <a:tcPr anchor="ctr"/>
                </a:tc>
                <a:tc>
                  <a:txBody>
                    <a:bodyPr/>
                    <a:lstStyle/>
                    <a:p>
                      <a:pPr algn="ctr"/>
                      <a:r>
                        <a:rPr sz="1200" b="0"/>
                        <a:t>0.665</a:t>
                      </a:r>
                    </a:p>
                  </a:txBody>
                  <a:tcPr anchor="ctr"/>
                </a:tc>
                <a:tc>
                  <a:txBody>
                    <a:bodyPr/>
                    <a:lstStyle/>
                    <a:p>
                      <a:pPr algn="ctr"/>
                      <a:r>
                        <a:rPr sz="1200" b="0"/>
                        <a:t>0.681</a:t>
                      </a:r>
                    </a:p>
                  </a:txBody>
                  <a:tcPr anchor="ctr"/>
                </a:tc>
                <a:tc>
                  <a:txBody>
                    <a:bodyPr/>
                    <a:lstStyle/>
                    <a:p>
                      <a:pPr algn="ctr"/>
                      <a:r>
                        <a:rPr sz="1200" b="0"/>
                        <a:t>0.683</a:t>
                      </a:r>
                    </a:p>
                  </a:txBody>
                  <a:tcPr anchor="ctr"/>
                </a:tc>
                <a:tc>
                  <a:txBody>
                    <a:bodyPr/>
                    <a:lstStyle/>
                    <a:p>
                      <a:pPr algn="ctr"/>
                      <a:r>
                        <a:rPr sz="1200" b="0"/>
                        <a:t>0.673</a:t>
                      </a:r>
                    </a:p>
                  </a:txBody>
                  <a:tcPr anchor="ctr"/>
                </a:tc>
                <a:tc>
                  <a:txBody>
                    <a:bodyPr/>
                    <a:lstStyle/>
                    <a:p>
                      <a:pPr algn="ctr"/>
                      <a:r>
                        <a:rPr sz="1200" b="0"/>
                        <a:t>0.706*</a:t>
                      </a:r>
                    </a:p>
                  </a:txBody>
                  <a:tcPr anchor="ctr"/>
                </a:tc>
                <a:tc>
                  <a:txBody>
                    <a:bodyPr/>
                    <a:lstStyle/>
                    <a:p>
                      <a:pPr algn="ctr"/>
                      <a:r>
                        <a:rPr sz="1200" b="0"/>
                        <a:t>0.698*</a:t>
                      </a:r>
                    </a:p>
                  </a:txBody>
                  <a:tcPr anchor="ctr"/>
                </a:tc>
                <a:extLst>
                  <a:ext uri="{0D108BD9-81ED-4DB2-BD59-A6C34878D82A}">
                    <a16:rowId xmlns:a16="http://schemas.microsoft.com/office/drawing/2014/main" val="10004"/>
                  </a:ext>
                </a:extLst>
              </a:tr>
              <a:tr h="732090">
                <a:tc rowSpan="2">
                  <a:txBody>
                    <a:bodyPr/>
                    <a:lstStyle/>
                    <a:p>
                      <a:pPr algn="ctr"/>
                      <a:r>
                        <a:rPr sz="1200" b="0"/>
                        <a:t>만성신장질환(CKD)</a:t>
                      </a:r>
                    </a:p>
                  </a:txBody>
                  <a:tcPr anchor="ctr"/>
                </a:tc>
                <a:tc>
                  <a:txBody>
                    <a:bodyPr/>
                    <a:lstStyle/>
                    <a:p>
                      <a:pPr algn="ctr"/>
                      <a:r>
                        <a:rPr sz="1200" b="0"/>
                        <a:t>Internal (Gangnam)</a:t>
                      </a:r>
                    </a:p>
                  </a:txBody>
                  <a:tcPr anchor="ctr"/>
                </a:tc>
                <a:tc>
                  <a:txBody>
                    <a:bodyPr/>
                    <a:lstStyle/>
                    <a:p>
                      <a:pPr algn="ctr"/>
                      <a:r>
                        <a:rPr sz="1200" b="0" dirty="0"/>
                        <a:t>0.770 </a:t>
                      </a:r>
                      <a:endParaRPr lang="en-US" sz="1200" b="0" dirty="0"/>
                    </a:p>
                    <a:p>
                      <a:pPr algn="ctr"/>
                      <a:r>
                        <a:rPr sz="1200" b="0" dirty="0"/>
                        <a:t>± 0.038</a:t>
                      </a:r>
                    </a:p>
                  </a:txBody>
                  <a:tcPr anchor="ctr"/>
                </a:tc>
                <a:tc>
                  <a:txBody>
                    <a:bodyPr/>
                    <a:lstStyle/>
                    <a:p>
                      <a:pPr algn="ctr"/>
                      <a:r>
                        <a:rPr sz="1200" b="0" dirty="0"/>
                        <a:t>0.774 </a:t>
                      </a:r>
                      <a:endParaRPr lang="en-US" sz="1200" b="0" dirty="0"/>
                    </a:p>
                    <a:p>
                      <a:pPr algn="ctr"/>
                      <a:r>
                        <a:rPr sz="1200" b="0" dirty="0"/>
                        <a:t>± 0.035</a:t>
                      </a:r>
                    </a:p>
                  </a:txBody>
                  <a:tcPr anchor="ctr"/>
                </a:tc>
                <a:tc>
                  <a:txBody>
                    <a:bodyPr/>
                    <a:lstStyle/>
                    <a:p>
                      <a:pPr algn="ctr"/>
                      <a:r>
                        <a:rPr sz="1200" b="0" dirty="0"/>
                        <a:t>0.754 </a:t>
                      </a:r>
                      <a:endParaRPr lang="en-US" sz="1200" b="0" dirty="0"/>
                    </a:p>
                    <a:p>
                      <a:pPr algn="ctr"/>
                      <a:r>
                        <a:rPr sz="1200" b="0" dirty="0"/>
                        <a:t>± 0.041</a:t>
                      </a:r>
                    </a:p>
                  </a:txBody>
                  <a:tcPr anchor="ctr"/>
                </a:tc>
                <a:tc>
                  <a:txBody>
                    <a:bodyPr/>
                    <a:lstStyle/>
                    <a:p>
                      <a:pPr algn="ctr"/>
                      <a:r>
                        <a:rPr sz="1200" b="0" dirty="0"/>
                        <a:t>0.776 </a:t>
                      </a:r>
                      <a:endParaRPr lang="en-US" sz="1200" b="0" dirty="0"/>
                    </a:p>
                    <a:p>
                      <a:pPr algn="ctr"/>
                      <a:r>
                        <a:rPr sz="1200" b="0" dirty="0"/>
                        <a:t>± 0.035</a:t>
                      </a:r>
                    </a:p>
                  </a:txBody>
                  <a:tcPr anchor="ctr"/>
                </a:tc>
                <a:tc>
                  <a:txBody>
                    <a:bodyPr/>
                    <a:lstStyle/>
                    <a:p>
                      <a:pPr algn="ctr"/>
                      <a:r>
                        <a:rPr sz="1200" b="0" dirty="0"/>
                        <a:t>0.772 </a:t>
                      </a:r>
                      <a:endParaRPr lang="en-US" sz="1200" b="0" dirty="0"/>
                    </a:p>
                    <a:p>
                      <a:pPr algn="ctr"/>
                      <a:r>
                        <a:rPr sz="1200" b="0" dirty="0"/>
                        <a:t>± 0.039</a:t>
                      </a:r>
                    </a:p>
                  </a:txBody>
                  <a:tcPr anchor="ctr"/>
                </a:tc>
                <a:tc>
                  <a:txBody>
                    <a:bodyPr/>
                    <a:lstStyle/>
                    <a:p>
                      <a:pPr algn="ctr"/>
                      <a:r>
                        <a:rPr sz="1200" b="0" dirty="0"/>
                        <a:t>0.793 </a:t>
                      </a:r>
                      <a:endParaRPr lang="en-US" sz="1200" b="0" dirty="0"/>
                    </a:p>
                    <a:p>
                      <a:pPr algn="ctr"/>
                      <a:r>
                        <a:rPr sz="1200" b="0" dirty="0"/>
                        <a:t>± 0.032*</a:t>
                      </a:r>
                    </a:p>
                  </a:txBody>
                  <a:tcPr anchor="ctr"/>
                </a:tc>
                <a:tc>
                  <a:txBody>
                    <a:bodyPr/>
                    <a:lstStyle/>
                    <a:p>
                      <a:pPr algn="ctr"/>
                      <a:r>
                        <a:rPr sz="1200" b="0" dirty="0"/>
                        <a:t>0.783 </a:t>
                      </a:r>
                      <a:endParaRPr lang="en-US" sz="1200" b="0" dirty="0"/>
                    </a:p>
                    <a:p>
                      <a:pPr algn="ctr"/>
                      <a:r>
                        <a:rPr sz="1200" b="0" dirty="0"/>
                        <a:t>± 0.037</a:t>
                      </a:r>
                    </a:p>
                  </a:txBody>
                  <a:tcPr anchor="ctr"/>
                </a:tc>
                <a:tc>
                  <a:txBody>
                    <a:bodyPr/>
                    <a:lstStyle/>
                    <a:p>
                      <a:pPr algn="ctr"/>
                      <a:r>
                        <a:rPr sz="1200" b="0" dirty="0"/>
                        <a:t>0.784 </a:t>
                      </a:r>
                      <a:endParaRPr lang="en-US" sz="1200" b="0" dirty="0"/>
                    </a:p>
                    <a:p>
                      <a:pPr algn="ctr"/>
                      <a:r>
                        <a:rPr sz="1200" b="0" dirty="0"/>
                        <a:t>± 0.038</a:t>
                      </a:r>
                    </a:p>
                  </a:txBody>
                  <a:tcPr anchor="ctr"/>
                </a:tc>
                <a:tc>
                  <a:txBody>
                    <a:bodyPr/>
                    <a:lstStyle/>
                    <a:p>
                      <a:pPr algn="ctr"/>
                      <a:r>
                        <a:rPr sz="1200" b="0" dirty="0"/>
                        <a:t>0.785 </a:t>
                      </a:r>
                      <a:endParaRPr lang="en-US" sz="1200" b="0" dirty="0"/>
                    </a:p>
                    <a:p>
                      <a:pPr algn="ctr"/>
                      <a:r>
                        <a:rPr sz="1200" b="0" dirty="0"/>
                        <a:t>± 0.040</a:t>
                      </a:r>
                    </a:p>
                  </a:txBody>
                  <a:tcPr anchor="ctr"/>
                </a:tc>
                <a:extLst>
                  <a:ext uri="{0D108BD9-81ED-4DB2-BD59-A6C34878D82A}">
                    <a16:rowId xmlns:a16="http://schemas.microsoft.com/office/drawing/2014/main" val="10005"/>
                  </a:ext>
                </a:extLst>
              </a:tr>
              <a:tr h="732090">
                <a:tc vMerge="1">
                  <a:txBody>
                    <a:bodyPr/>
                    <a:lstStyle/>
                    <a:p>
                      <a:endParaRPr/>
                    </a:p>
                  </a:txBody>
                  <a:tcPr/>
                </a:tc>
                <a:tc>
                  <a:txBody>
                    <a:bodyPr/>
                    <a:lstStyle/>
                    <a:p>
                      <a:pPr algn="ctr"/>
                      <a:r>
                        <a:rPr sz="1200" b="0"/>
                        <a:t>External (Sinchon)</a:t>
                      </a:r>
                    </a:p>
                  </a:txBody>
                  <a:tcPr anchor="ctr"/>
                </a:tc>
                <a:tc>
                  <a:txBody>
                    <a:bodyPr/>
                    <a:lstStyle/>
                    <a:p>
                      <a:pPr algn="ctr"/>
                      <a:r>
                        <a:rPr sz="1200" b="0"/>
                        <a:t>0.615</a:t>
                      </a:r>
                    </a:p>
                  </a:txBody>
                  <a:tcPr anchor="ctr"/>
                </a:tc>
                <a:tc>
                  <a:txBody>
                    <a:bodyPr/>
                    <a:lstStyle/>
                    <a:p>
                      <a:pPr algn="ctr"/>
                      <a:r>
                        <a:rPr sz="1200" b="0"/>
                        <a:t>0.622</a:t>
                      </a:r>
                    </a:p>
                  </a:txBody>
                  <a:tcPr anchor="ctr"/>
                </a:tc>
                <a:tc>
                  <a:txBody>
                    <a:bodyPr/>
                    <a:lstStyle/>
                    <a:p>
                      <a:pPr algn="ctr"/>
                      <a:r>
                        <a:rPr sz="1200" b="0"/>
                        <a:t>0.643*</a:t>
                      </a:r>
                    </a:p>
                  </a:txBody>
                  <a:tcPr anchor="ctr"/>
                </a:tc>
                <a:tc>
                  <a:txBody>
                    <a:bodyPr/>
                    <a:lstStyle/>
                    <a:p>
                      <a:pPr algn="ctr"/>
                      <a:r>
                        <a:rPr sz="1200" b="0"/>
                        <a:t>0.633*</a:t>
                      </a:r>
                    </a:p>
                  </a:txBody>
                  <a:tcPr anchor="ctr"/>
                </a:tc>
                <a:tc>
                  <a:txBody>
                    <a:bodyPr/>
                    <a:lstStyle/>
                    <a:p>
                      <a:pPr algn="ctr"/>
                      <a:r>
                        <a:rPr sz="1200" b="0"/>
                        <a:t>0.638*</a:t>
                      </a:r>
                    </a:p>
                  </a:txBody>
                  <a:tcPr anchor="ctr"/>
                </a:tc>
                <a:tc>
                  <a:txBody>
                    <a:bodyPr/>
                    <a:lstStyle/>
                    <a:p>
                      <a:pPr algn="ctr"/>
                      <a:r>
                        <a:rPr sz="1200" b="0"/>
                        <a:t>0.669*</a:t>
                      </a:r>
                    </a:p>
                  </a:txBody>
                  <a:tcPr anchor="ctr"/>
                </a:tc>
                <a:tc>
                  <a:txBody>
                    <a:bodyPr/>
                    <a:lstStyle/>
                    <a:p>
                      <a:pPr algn="ctr"/>
                      <a:r>
                        <a:rPr sz="1200" b="0"/>
                        <a:t>0.646*</a:t>
                      </a:r>
                    </a:p>
                  </a:txBody>
                  <a:tcPr anchor="ctr"/>
                </a:tc>
                <a:tc>
                  <a:txBody>
                    <a:bodyPr/>
                    <a:lstStyle/>
                    <a:p>
                      <a:pPr algn="ctr"/>
                      <a:r>
                        <a:rPr sz="1200" b="0"/>
                        <a:t>0.681*</a:t>
                      </a:r>
                    </a:p>
                  </a:txBody>
                  <a:tcPr anchor="ctr"/>
                </a:tc>
                <a:tc>
                  <a:txBody>
                    <a:bodyPr/>
                    <a:lstStyle/>
                    <a:p>
                      <a:pPr algn="ctr"/>
                      <a:r>
                        <a:rPr sz="1200" b="0" dirty="0"/>
                        <a:t>0.675*</a:t>
                      </a:r>
                    </a:p>
                  </a:txBody>
                  <a:tcPr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F4CCB-3F0A-43E8-AB6B-119F8A6B18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800B8A-30B4-4DE0-ED36-E831C7CE1BF3}"/>
              </a:ext>
            </a:extLst>
          </p:cNvPr>
          <p:cNvSpPr>
            <a:spLocks noGrp="1"/>
          </p:cNvSpPr>
          <p:nvPr>
            <p:ph type="title"/>
          </p:nvPr>
        </p:nvSpPr>
        <p:spPr/>
        <p:txBody>
          <a:bodyPr>
            <a:normAutofit/>
          </a:bodyPr>
          <a:lstStyle/>
          <a:p>
            <a:r>
              <a:rPr lang="en-US" altLang="ko-KR" dirty="0"/>
              <a:t>Table S2. Fold별 AUC (전체 확장모델, HTN)</a:t>
            </a:r>
            <a:endParaRPr dirty="0"/>
          </a:p>
        </p:txBody>
      </p:sp>
      <p:sp>
        <p:nvSpPr>
          <p:cNvPr id="4" name="슬라이드 번호 개체 틀 3">
            <a:extLst>
              <a:ext uri="{FF2B5EF4-FFF2-40B4-BE49-F238E27FC236}">
                <a16:creationId xmlns:a16="http://schemas.microsoft.com/office/drawing/2014/main" id="{A7712F35-3F2F-742B-95F1-A7E6949FD973}"/>
              </a:ext>
            </a:extLst>
          </p:cNvPr>
          <p:cNvSpPr>
            <a:spLocks noGrp="1"/>
          </p:cNvSpPr>
          <p:nvPr>
            <p:ph type="sldNum" sz="quarter" idx="12"/>
          </p:nvPr>
        </p:nvSpPr>
        <p:spPr/>
        <p:txBody>
          <a:bodyPr/>
          <a:lstStyle/>
          <a:p>
            <a:fld id="{9F4AF89A-28FA-47FA-B28F-9A9C6913CB7A}" type="slidenum">
              <a:rPr lang="ko-KR" altLang="en-US" smtClean="0"/>
              <a:pPr/>
              <a:t>18</a:t>
            </a:fld>
            <a:endParaRPr lang="ko-KR" altLang="en-US" dirty="0"/>
          </a:p>
        </p:txBody>
      </p:sp>
      <p:graphicFrame>
        <p:nvGraphicFramePr>
          <p:cNvPr id="6" name="Table 2">
            <a:extLst>
              <a:ext uri="{FF2B5EF4-FFF2-40B4-BE49-F238E27FC236}">
                <a16:creationId xmlns:a16="http://schemas.microsoft.com/office/drawing/2014/main" id="{CD25B792-B93D-4E4E-FB4B-0C6522F21F91}"/>
              </a:ext>
            </a:extLst>
          </p:cNvPr>
          <p:cNvGraphicFramePr>
            <a:graphicFrameLocks noGrp="1"/>
          </p:cNvGraphicFramePr>
          <p:nvPr>
            <p:extLst>
              <p:ext uri="{D42A27DB-BD31-4B8C-83A1-F6EECF244321}">
                <p14:modId xmlns:p14="http://schemas.microsoft.com/office/powerpoint/2010/main" val="4171758737"/>
              </p:ext>
            </p:extLst>
          </p:nvPr>
        </p:nvGraphicFramePr>
        <p:xfrm>
          <a:off x="956659" y="2057400"/>
          <a:ext cx="10278682" cy="2743200"/>
        </p:xfrm>
        <a:graphic>
          <a:graphicData uri="http://schemas.openxmlformats.org/drawingml/2006/table">
            <a:tbl>
              <a:tblPr firstRow="1" bandRow="1">
                <a:tableStyleId>{C083E6E3-FA7D-4D7B-A595-EF9225AFEA82}</a:tableStyleId>
              </a:tblPr>
              <a:tblGrid>
                <a:gridCol w="1587818">
                  <a:extLst>
                    <a:ext uri="{9D8B030D-6E8A-4147-A177-3AD203B41FA5}">
                      <a16:colId xmlns:a16="http://schemas.microsoft.com/office/drawing/2014/main" val="20001"/>
                    </a:ext>
                  </a:extLst>
                </a:gridCol>
                <a:gridCol w="1241552">
                  <a:extLst>
                    <a:ext uri="{9D8B030D-6E8A-4147-A177-3AD203B41FA5}">
                      <a16:colId xmlns:a16="http://schemas.microsoft.com/office/drawing/2014/main" val="20002"/>
                    </a:ext>
                  </a:extLst>
                </a:gridCol>
                <a:gridCol w="1241552">
                  <a:extLst>
                    <a:ext uri="{9D8B030D-6E8A-4147-A177-3AD203B41FA5}">
                      <a16:colId xmlns:a16="http://schemas.microsoft.com/office/drawing/2014/main" val="20003"/>
                    </a:ext>
                  </a:extLst>
                </a:gridCol>
                <a:gridCol w="1241552">
                  <a:extLst>
                    <a:ext uri="{9D8B030D-6E8A-4147-A177-3AD203B41FA5}">
                      <a16:colId xmlns:a16="http://schemas.microsoft.com/office/drawing/2014/main" val="20004"/>
                    </a:ext>
                  </a:extLst>
                </a:gridCol>
                <a:gridCol w="1241552">
                  <a:extLst>
                    <a:ext uri="{9D8B030D-6E8A-4147-A177-3AD203B41FA5}">
                      <a16:colId xmlns:a16="http://schemas.microsoft.com/office/drawing/2014/main" val="20005"/>
                    </a:ext>
                  </a:extLst>
                </a:gridCol>
                <a:gridCol w="1241552">
                  <a:extLst>
                    <a:ext uri="{9D8B030D-6E8A-4147-A177-3AD203B41FA5}">
                      <a16:colId xmlns:a16="http://schemas.microsoft.com/office/drawing/2014/main" val="20006"/>
                    </a:ext>
                  </a:extLst>
                </a:gridCol>
                <a:gridCol w="1241552">
                  <a:extLst>
                    <a:ext uri="{9D8B030D-6E8A-4147-A177-3AD203B41FA5}">
                      <a16:colId xmlns:a16="http://schemas.microsoft.com/office/drawing/2014/main" val="20007"/>
                    </a:ext>
                  </a:extLst>
                </a:gridCol>
                <a:gridCol w="1241552">
                  <a:extLst>
                    <a:ext uri="{9D8B030D-6E8A-4147-A177-3AD203B41FA5}">
                      <a16:colId xmlns:a16="http://schemas.microsoft.com/office/drawing/2014/main" val="20008"/>
                    </a:ext>
                  </a:extLst>
                </a:gridCol>
              </a:tblGrid>
              <a:tr h="183022">
                <a:tc>
                  <a:txBody>
                    <a:bodyPr/>
                    <a:lstStyle/>
                    <a:p>
                      <a:pPr algn="ctr"/>
                      <a:r>
                        <a:rPr sz="1200" b="1"/>
                        <a:t>Model</a:t>
                      </a:r>
                    </a:p>
                  </a:txBody>
                  <a:tcPr anchor="ctr"/>
                </a:tc>
                <a:tc>
                  <a:txBody>
                    <a:bodyPr/>
                    <a:lstStyle/>
                    <a:p>
                      <a:pPr algn="ctr"/>
                      <a:r>
                        <a:rPr sz="1200" b="1"/>
                        <a:t>Fold1</a:t>
                      </a:r>
                    </a:p>
                  </a:txBody>
                  <a:tcPr anchor="ctr"/>
                </a:tc>
                <a:tc>
                  <a:txBody>
                    <a:bodyPr/>
                    <a:lstStyle/>
                    <a:p>
                      <a:pPr algn="ctr"/>
                      <a:r>
                        <a:rPr sz="1200" b="1" dirty="0"/>
                        <a:t>Fold2</a:t>
                      </a:r>
                    </a:p>
                  </a:txBody>
                  <a:tcPr anchor="ctr"/>
                </a:tc>
                <a:tc>
                  <a:txBody>
                    <a:bodyPr/>
                    <a:lstStyle/>
                    <a:p>
                      <a:pPr algn="ctr"/>
                      <a:r>
                        <a:rPr sz="1200" b="1"/>
                        <a:t>Fold3</a:t>
                      </a:r>
                    </a:p>
                  </a:txBody>
                  <a:tcPr anchor="ctr"/>
                </a:tc>
                <a:tc>
                  <a:txBody>
                    <a:bodyPr/>
                    <a:lstStyle/>
                    <a:p>
                      <a:pPr algn="ctr"/>
                      <a:r>
                        <a:rPr sz="1200" b="1"/>
                        <a:t>Fold4</a:t>
                      </a:r>
                    </a:p>
                  </a:txBody>
                  <a:tcPr anchor="ctr"/>
                </a:tc>
                <a:tc>
                  <a:txBody>
                    <a:bodyPr/>
                    <a:lstStyle/>
                    <a:p>
                      <a:pPr algn="ctr"/>
                      <a:r>
                        <a:rPr sz="1200" b="1"/>
                        <a:t>Fold5</a:t>
                      </a:r>
                    </a:p>
                  </a:txBody>
                  <a:tcPr anchor="ctr"/>
                </a:tc>
                <a:tc>
                  <a:txBody>
                    <a:bodyPr/>
                    <a:lstStyle/>
                    <a:p>
                      <a:pPr algn="ctr"/>
                      <a:r>
                        <a:rPr sz="1200" b="1"/>
                        <a:t>Mean</a:t>
                      </a:r>
                    </a:p>
                  </a:txBody>
                  <a:tcPr anchor="ctr"/>
                </a:tc>
                <a:tc>
                  <a:txBody>
                    <a:bodyPr/>
                    <a:lstStyle/>
                    <a:p>
                      <a:pPr algn="ctr"/>
                      <a:r>
                        <a:rPr sz="1200" b="1"/>
                        <a:t>SD</a:t>
                      </a:r>
                    </a:p>
                  </a:txBody>
                  <a:tcPr anchor="ctr"/>
                </a:tc>
                <a:extLst>
                  <a:ext uri="{0D108BD9-81ED-4DB2-BD59-A6C34878D82A}">
                    <a16:rowId xmlns:a16="http://schemas.microsoft.com/office/drawing/2014/main" val="10000"/>
                  </a:ext>
                </a:extLst>
              </a:tr>
              <a:tr h="183022">
                <a:tc>
                  <a:txBody>
                    <a:bodyPr/>
                    <a:lstStyle/>
                    <a:p>
                      <a:pPr algn="ctr"/>
                      <a:r>
                        <a:rPr sz="1200" b="0" dirty="0"/>
                        <a:t>Baseline</a:t>
                      </a:r>
                    </a:p>
                  </a:txBody>
                  <a:tcPr anchor="ctr"/>
                </a:tc>
                <a:tc>
                  <a:txBody>
                    <a:bodyPr/>
                    <a:lstStyle/>
                    <a:p>
                      <a:pPr algn="ctr"/>
                      <a:r>
                        <a:rPr sz="1200" b="0"/>
                        <a:t>0.767</a:t>
                      </a:r>
                    </a:p>
                  </a:txBody>
                  <a:tcPr anchor="ctr"/>
                </a:tc>
                <a:tc>
                  <a:txBody>
                    <a:bodyPr/>
                    <a:lstStyle/>
                    <a:p>
                      <a:pPr algn="ctr"/>
                      <a:r>
                        <a:rPr sz="1200" b="0"/>
                        <a:t>0.797</a:t>
                      </a:r>
                    </a:p>
                  </a:txBody>
                  <a:tcPr anchor="ctr"/>
                </a:tc>
                <a:tc>
                  <a:txBody>
                    <a:bodyPr/>
                    <a:lstStyle/>
                    <a:p>
                      <a:pPr algn="ctr"/>
                      <a:r>
                        <a:rPr sz="1200" b="0"/>
                        <a:t>0.814</a:t>
                      </a:r>
                    </a:p>
                  </a:txBody>
                  <a:tcPr anchor="ctr"/>
                </a:tc>
                <a:tc>
                  <a:txBody>
                    <a:bodyPr/>
                    <a:lstStyle/>
                    <a:p>
                      <a:pPr algn="ctr"/>
                      <a:r>
                        <a:rPr sz="1200" b="0"/>
                        <a:t>0.814</a:t>
                      </a:r>
                    </a:p>
                  </a:txBody>
                  <a:tcPr anchor="ctr"/>
                </a:tc>
                <a:tc>
                  <a:txBody>
                    <a:bodyPr/>
                    <a:lstStyle/>
                    <a:p>
                      <a:pPr algn="ctr"/>
                      <a:r>
                        <a:rPr sz="1200" b="0"/>
                        <a:t>0.787</a:t>
                      </a:r>
                    </a:p>
                  </a:txBody>
                  <a:tcPr anchor="ctr"/>
                </a:tc>
                <a:tc>
                  <a:txBody>
                    <a:bodyPr/>
                    <a:lstStyle/>
                    <a:p>
                      <a:pPr algn="ctr"/>
                      <a:r>
                        <a:rPr sz="1200" b="0"/>
                        <a:t>0.796</a:t>
                      </a:r>
                    </a:p>
                  </a:txBody>
                  <a:tcPr anchor="ctr"/>
                </a:tc>
                <a:tc>
                  <a:txBody>
                    <a:bodyPr/>
                    <a:lstStyle/>
                    <a:p>
                      <a:pPr algn="ctr"/>
                      <a:r>
                        <a:rPr sz="1200" b="0"/>
                        <a:t>0.020</a:t>
                      </a:r>
                    </a:p>
                  </a:txBody>
                  <a:tcPr anchor="ctr"/>
                </a:tc>
                <a:extLst>
                  <a:ext uri="{0D108BD9-81ED-4DB2-BD59-A6C34878D82A}">
                    <a16:rowId xmlns:a16="http://schemas.microsoft.com/office/drawing/2014/main" val="10001"/>
                  </a:ext>
                </a:extLst>
              </a:tr>
              <a:tr h="183022">
                <a:tc>
                  <a:txBody>
                    <a:bodyPr/>
                    <a:lstStyle/>
                    <a:p>
                      <a:pPr algn="ctr"/>
                      <a:r>
                        <a:rPr sz="1200" b="0"/>
                        <a:t>+AEC (FPCA+Ratio)</a:t>
                      </a:r>
                    </a:p>
                  </a:txBody>
                  <a:tcPr anchor="ctr"/>
                </a:tc>
                <a:tc>
                  <a:txBody>
                    <a:bodyPr/>
                    <a:lstStyle/>
                    <a:p>
                      <a:pPr algn="ctr"/>
                      <a:r>
                        <a:rPr sz="1200" b="0"/>
                        <a:t>0.758</a:t>
                      </a:r>
                    </a:p>
                  </a:txBody>
                  <a:tcPr anchor="ctr"/>
                </a:tc>
                <a:tc>
                  <a:txBody>
                    <a:bodyPr/>
                    <a:lstStyle/>
                    <a:p>
                      <a:pPr algn="ctr"/>
                      <a:r>
                        <a:rPr sz="1200" b="0"/>
                        <a:t>0.807</a:t>
                      </a:r>
                    </a:p>
                  </a:txBody>
                  <a:tcPr anchor="ctr"/>
                </a:tc>
                <a:tc>
                  <a:txBody>
                    <a:bodyPr/>
                    <a:lstStyle/>
                    <a:p>
                      <a:pPr algn="ctr"/>
                      <a:r>
                        <a:rPr sz="1200" b="0"/>
                        <a:t>0.831</a:t>
                      </a:r>
                    </a:p>
                  </a:txBody>
                  <a:tcPr anchor="ctr"/>
                </a:tc>
                <a:tc>
                  <a:txBody>
                    <a:bodyPr/>
                    <a:lstStyle/>
                    <a:p>
                      <a:pPr algn="ctr"/>
                      <a:r>
                        <a:rPr sz="1200" b="0"/>
                        <a:t>0.837</a:t>
                      </a:r>
                    </a:p>
                  </a:txBody>
                  <a:tcPr anchor="ctr"/>
                </a:tc>
                <a:tc>
                  <a:txBody>
                    <a:bodyPr/>
                    <a:lstStyle/>
                    <a:p>
                      <a:pPr algn="ctr"/>
                      <a:r>
                        <a:rPr sz="1200" b="0"/>
                        <a:t>0.786</a:t>
                      </a:r>
                    </a:p>
                  </a:txBody>
                  <a:tcPr anchor="ctr"/>
                </a:tc>
                <a:tc>
                  <a:txBody>
                    <a:bodyPr/>
                    <a:lstStyle/>
                    <a:p>
                      <a:pPr algn="ctr"/>
                      <a:r>
                        <a:rPr sz="1200" b="0"/>
                        <a:t>0.804</a:t>
                      </a:r>
                    </a:p>
                  </a:txBody>
                  <a:tcPr anchor="ctr"/>
                </a:tc>
                <a:tc>
                  <a:txBody>
                    <a:bodyPr/>
                    <a:lstStyle/>
                    <a:p>
                      <a:pPr algn="ctr"/>
                      <a:r>
                        <a:rPr sz="1200" b="0"/>
                        <a:t>0.033</a:t>
                      </a:r>
                    </a:p>
                  </a:txBody>
                  <a:tcPr anchor="ctr"/>
                </a:tc>
                <a:extLst>
                  <a:ext uri="{0D108BD9-81ED-4DB2-BD59-A6C34878D82A}">
                    <a16:rowId xmlns:a16="http://schemas.microsoft.com/office/drawing/2014/main" val="10002"/>
                  </a:ext>
                </a:extLst>
              </a:tr>
              <a:tr h="183022">
                <a:tc>
                  <a:txBody>
                    <a:bodyPr/>
                    <a:lstStyle/>
                    <a:p>
                      <a:pPr algn="ctr"/>
                      <a:r>
                        <a:rPr sz="1200" b="0"/>
                        <a:t>+AEC (FPCA)</a:t>
                      </a:r>
                    </a:p>
                  </a:txBody>
                  <a:tcPr anchor="ctr"/>
                </a:tc>
                <a:tc>
                  <a:txBody>
                    <a:bodyPr/>
                    <a:lstStyle/>
                    <a:p>
                      <a:pPr algn="ctr"/>
                      <a:r>
                        <a:rPr sz="1200" b="0"/>
                        <a:t>0.762</a:t>
                      </a:r>
                    </a:p>
                  </a:txBody>
                  <a:tcPr anchor="ctr"/>
                </a:tc>
                <a:tc>
                  <a:txBody>
                    <a:bodyPr/>
                    <a:lstStyle/>
                    <a:p>
                      <a:pPr algn="ctr"/>
                      <a:r>
                        <a:rPr sz="1200" b="0"/>
                        <a:t>0.806</a:t>
                      </a:r>
                    </a:p>
                  </a:txBody>
                  <a:tcPr anchor="ctr"/>
                </a:tc>
                <a:tc>
                  <a:txBody>
                    <a:bodyPr/>
                    <a:lstStyle/>
                    <a:p>
                      <a:pPr algn="ctr"/>
                      <a:r>
                        <a:rPr sz="1200" b="0"/>
                        <a:t>0.831</a:t>
                      </a:r>
                    </a:p>
                  </a:txBody>
                  <a:tcPr anchor="ctr"/>
                </a:tc>
                <a:tc>
                  <a:txBody>
                    <a:bodyPr/>
                    <a:lstStyle/>
                    <a:p>
                      <a:pPr algn="ctr"/>
                      <a:r>
                        <a:rPr sz="1200" b="0"/>
                        <a:t>0.836</a:t>
                      </a:r>
                    </a:p>
                  </a:txBody>
                  <a:tcPr anchor="ctr"/>
                </a:tc>
                <a:tc>
                  <a:txBody>
                    <a:bodyPr/>
                    <a:lstStyle/>
                    <a:p>
                      <a:pPr algn="ctr"/>
                      <a:r>
                        <a:rPr sz="1200" b="0"/>
                        <a:t>0.789</a:t>
                      </a:r>
                    </a:p>
                  </a:txBody>
                  <a:tcPr anchor="ctr"/>
                </a:tc>
                <a:tc>
                  <a:txBody>
                    <a:bodyPr/>
                    <a:lstStyle/>
                    <a:p>
                      <a:pPr algn="ctr"/>
                      <a:r>
                        <a:rPr sz="1200" b="0"/>
                        <a:t>0.805</a:t>
                      </a:r>
                    </a:p>
                  </a:txBody>
                  <a:tcPr anchor="ctr"/>
                </a:tc>
                <a:tc>
                  <a:txBody>
                    <a:bodyPr/>
                    <a:lstStyle/>
                    <a:p>
                      <a:pPr algn="ctr"/>
                      <a:r>
                        <a:rPr sz="1200" b="0"/>
                        <a:t>0.031</a:t>
                      </a:r>
                    </a:p>
                  </a:txBody>
                  <a:tcPr anchor="ctr"/>
                </a:tc>
                <a:extLst>
                  <a:ext uri="{0D108BD9-81ED-4DB2-BD59-A6C34878D82A}">
                    <a16:rowId xmlns:a16="http://schemas.microsoft.com/office/drawing/2014/main" val="10003"/>
                  </a:ext>
                </a:extLst>
              </a:tr>
              <a:tr h="183022">
                <a:tc>
                  <a:txBody>
                    <a:bodyPr/>
                    <a:lstStyle/>
                    <a:p>
                      <a:pPr algn="ctr"/>
                      <a:r>
                        <a:rPr sz="1200" b="0"/>
                        <a:t>+AEC (Ratio)</a:t>
                      </a:r>
                    </a:p>
                  </a:txBody>
                  <a:tcPr anchor="ctr"/>
                </a:tc>
                <a:tc>
                  <a:txBody>
                    <a:bodyPr/>
                    <a:lstStyle/>
                    <a:p>
                      <a:pPr algn="ctr"/>
                      <a:r>
                        <a:rPr sz="1200" b="0"/>
                        <a:t>0.768</a:t>
                      </a:r>
                    </a:p>
                  </a:txBody>
                  <a:tcPr anchor="ctr"/>
                </a:tc>
                <a:tc>
                  <a:txBody>
                    <a:bodyPr/>
                    <a:lstStyle/>
                    <a:p>
                      <a:pPr algn="ctr"/>
                      <a:r>
                        <a:rPr sz="1200" b="0"/>
                        <a:t>0.807</a:t>
                      </a:r>
                    </a:p>
                  </a:txBody>
                  <a:tcPr anchor="ctr"/>
                </a:tc>
                <a:tc>
                  <a:txBody>
                    <a:bodyPr/>
                    <a:lstStyle/>
                    <a:p>
                      <a:pPr algn="ctr"/>
                      <a:r>
                        <a:rPr sz="1200" b="0"/>
                        <a:t>0.822</a:t>
                      </a:r>
                    </a:p>
                  </a:txBody>
                  <a:tcPr anchor="ctr"/>
                </a:tc>
                <a:tc>
                  <a:txBody>
                    <a:bodyPr/>
                    <a:lstStyle/>
                    <a:p>
                      <a:pPr algn="ctr"/>
                      <a:r>
                        <a:rPr sz="1200" b="0"/>
                        <a:t>0.829</a:t>
                      </a:r>
                    </a:p>
                  </a:txBody>
                  <a:tcPr anchor="ctr"/>
                </a:tc>
                <a:tc>
                  <a:txBody>
                    <a:bodyPr/>
                    <a:lstStyle/>
                    <a:p>
                      <a:pPr algn="ctr"/>
                      <a:r>
                        <a:rPr sz="1200" b="0"/>
                        <a:t>0.774</a:t>
                      </a:r>
                    </a:p>
                  </a:txBody>
                  <a:tcPr anchor="ctr"/>
                </a:tc>
                <a:tc>
                  <a:txBody>
                    <a:bodyPr/>
                    <a:lstStyle/>
                    <a:p>
                      <a:pPr algn="ctr"/>
                      <a:r>
                        <a:rPr sz="1200" b="0"/>
                        <a:t>0.800</a:t>
                      </a:r>
                    </a:p>
                  </a:txBody>
                  <a:tcPr anchor="ctr"/>
                </a:tc>
                <a:tc>
                  <a:txBody>
                    <a:bodyPr/>
                    <a:lstStyle/>
                    <a:p>
                      <a:pPr algn="ctr"/>
                      <a:r>
                        <a:rPr sz="1200" b="0"/>
                        <a:t>0.028</a:t>
                      </a:r>
                    </a:p>
                  </a:txBody>
                  <a:tcPr anchor="ctr"/>
                </a:tc>
                <a:extLst>
                  <a:ext uri="{0D108BD9-81ED-4DB2-BD59-A6C34878D82A}">
                    <a16:rowId xmlns:a16="http://schemas.microsoft.com/office/drawing/2014/main" val="10004"/>
                  </a:ext>
                </a:extLst>
              </a:tr>
              <a:tr h="183022">
                <a:tc>
                  <a:txBody>
                    <a:bodyPr/>
                    <a:lstStyle/>
                    <a:p>
                      <a:pPr algn="ctr"/>
                      <a:r>
                        <a:rPr sz="1200" b="0"/>
                        <a:t>+AEC +VAT</a:t>
                      </a:r>
                    </a:p>
                  </a:txBody>
                  <a:tcPr anchor="ctr"/>
                </a:tc>
                <a:tc>
                  <a:txBody>
                    <a:bodyPr/>
                    <a:lstStyle/>
                    <a:p>
                      <a:pPr algn="ctr"/>
                      <a:r>
                        <a:rPr sz="1200" b="0"/>
                        <a:t>0.757</a:t>
                      </a:r>
                    </a:p>
                  </a:txBody>
                  <a:tcPr anchor="ctr"/>
                </a:tc>
                <a:tc>
                  <a:txBody>
                    <a:bodyPr/>
                    <a:lstStyle/>
                    <a:p>
                      <a:pPr algn="ctr"/>
                      <a:r>
                        <a:rPr sz="1200" b="0"/>
                        <a:t>0.824</a:t>
                      </a:r>
                    </a:p>
                  </a:txBody>
                  <a:tcPr anchor="ctr"/>
                </a:tc>
                <a:tc>
                  <a:txBody>
                    <a:bodyPr/>
                    <a:lstStyle/>
                    <a:p>
                      <a:pPr algn="ctr"/>
                      <a:r>
                        <a:rPr sz="1200" b="0"/>
                        <a:t>0.849</a:t>
                      </a:r>
                    </a:p>
                  </a:txBody>
                  <a:tcPr anchor="ctr"/>
                </a:tc>
                <a:tc>
                  <a:txBody>
                    <a:bodyPr/>
                    <a:lstStyle/>
                    <a:p>
                      <a:pPr algn="ctr"/>
                      <a:r>
                        <a:rPr sz="1200" b="0"/>
                        <a:t>0.845</a:t>
                      </a:r>
                    </a:p>
                  </a:txBody>
                  <a:tcPr anchor="ctr"/>
                </a:tc>
                <a:tc>
                  <a:txBody>
                    <a:bodyPr/>
                    <a:lstStyle/>
                    <a:p>
                      <a:pPr algn="ctr"/>
                      <a:r>
                        <a:rPr sz="1200" b="0"/>
                        <a:t>0.773</a:t>
                      </a:r>
                    </a:p>
                  </a:txBody>
                  <a:tcPr anchor="ctr"/>
                </a:tc>
                <a:tc>
                  <a:txBody>
                    <a:bodyPr/>
                    <a:lstStyle/>
                    <a:p>
                      <a:pPr algn="ctr"/>
                      <a:r>
                        <a:rPr sz="1200" b="0"/>
                        <a:t>0.810</a:t>
                      </a:r>
                    </a:p>
                  </a:txBody>
                  <a:tcPr anchor="ctr"/>
                </a:tc>
                <a:tc>
                  <a:txBody>
                    <a:bodyPr/>
                    <a:lstStyle/>
                    <a:p>
                      <a:pPr algn="ctr"/>
                      <a:r>
                        <a:rPr sz="1200" b="0"/>
                        <a:t>0.042</a:t>
                      </a:r>
                    </a:p>
                  </a:txBody>
                  <a:tcPr anchor="ctr"/>
                </a:tc>
                <a:extLst>
                  <a:ext uri="{0D108BD9-81ED-4DB2-BD59-A6C34878D82A}">
                    <a16:rowId xmlns:a16="http://schemas.microsoft.com/office/drawing/2014/main" val="10005"/>
                  </a:ext>
                </a:extLst>
              </a:tr>
              <a:tr h="183022">
                <a:tc>
                  <a:txBody>
                    <a:bodyPr/>
                    <a:lstStyle/>
                    <a:p>
                      <a:pPr algn="ctr"/>
                      <a:r>
                        <a:rPr sz="1200" b="0"/>
                        <a:t>+AEC +LAMA</a:t>
                      </a:r>
                    </a:p>
                  </a:txBody>
                  <a:tcPr anchor="ctr"/>
                </a:tc>
                <a:tc>
                  <a:txBody>
                    <a:bodyPr/>
                    <a:lstStyle/>
                    <a:p>
                      <a:pPr algn="ctr"/>
                      <a:r>
                        <a:rPr sz="1200" b="0"/>
                        <a:t>0.765</a:t>
                      </a:r>
                    </a:p>
                  </a:txBody>
                  <a:tcPr anchor="ctr"/>
                </a:tc>
                <a:tc>
                  <a:txBody>
                    <a:bodyPr/>
                    <a:lstStyle/>
                    <a:p>
                      <a:pPr algn="ctr"/>
                      <a:r>
                        <a:rPr sz="1200" b="0"/>
                        <a:t>0.811</a:t>
                      </a:r>
                    </a:p>
                  </a:txBody>
                  <a:tcPr anchor="ctr"/>
                </a:tc>
                <a:tc>
                  <a:txBody>
                    <a:bodyPr/>
                    <a:lstStyle/>
                    <a:p>
                      <a:pPr algn="ctr"/>
                      <a:r>
                        <a:rPr sz="1200" b="0"/>
                        <a:t>0.841</a:t>
                      </a:r>
                    </a:p>
                  </a:txBody>
                  <a:tcPr anchor="ctr"/>
                </a:tc>
                <a:tc>
                  <a:txBody>
                    <a:bodyPr/>
                    <a:lstStyle/>
                    <a:p>
                      <a:pPr algn="ctr"/>
                      <a:r>
                        <a:rPr sz="1200" b="0"/>
                        <a:t>0.825</a:t>
                      </a:r>
                    </a:p>
                  </a:txBody>
                  <a:tcPr anchor="ctr"/>
                </a:tc>
                <a:tc>
                  <a:txBody>
                    <a:bodyPr/>
                    <a:lstStyle/>
                    <a:p>
                      <a:pPr algn="ctr"/>
                      <a:r>
                        <a:rPr sz="1200" b="0"/>
                        <a:t>0.797</a:t>
                      </a:r>
                    </a:p>
                  </a:txBody>
                  <a:tcPr anchor="ctr"/>
                </a:tc>
                <a:tc>
                  <a:txBody>
                    <a:bodyPr/>
                    <a:lstStyle/>
                    <a:p>
                      <a:pPr algn="ctr"/>
                      <a:r>
                        <a:rPr sz="1200" b="0"/>
                        <a:t>0.808</a:t>
                      </a:r>
                    </a:p>
                  </a:txBody>
                  <a:tcPr anchor="ctr"/>
                </a:tc>
                <a:tc>
                  <a:txBody>
                    <a:bodyPr/>
                    <a:lstStyle/>
                    <a:p>
                      <a:pPr algn="ctr"/>
                      <a:r>
                        <a:rPr sz="1200" b="0"/>
                        <a:t>0.029</a:t>
                      </a:r>
                    </a:p>
                  </a:txBody>
                  <a:tcPr anchor="ctr"/>
                </a:tc>
                <a:extLst>
                  <a:ext uri="{0D108BD9-81ED-4DB2-BD59-A6C34878D82A}">
                    <a16:rowId xmlns:a16="http://schemas.microsoft.com/office/drawing/2014/main" val="10006"/>
                  </a:ext>
                </a:extLst>
              </a:tr>
              <a:tr h="183022">
                <a:tc>
                  <a:txBody>
                    <a:bodyPr/>
                    <a:lstStyle/>
                    <a:p>
                      <a:pPr algn="ctr"/>
                      <a:r>
                        <a:rPr sz="1200" b="0"/>
                        <a:t>+AEC +NAMA</a:t>
                      </a:r>
                    </a:p>
                  </a:txBody>
                  <a:tcPr anchor="ctr"/>
                </a:tc>
                <a:tc>
                  <a:txBody>
                    <a:bodyPr/>
                    <a:lstStyle/>
                    <a:p>
                      <a:pPr algn="ctr"/>
                      <a:r>
                        <a:rPr sz="1200" b="0"/>
                        <a:t>0.760</a:t>
                      </a:r>
                    </a:p>
                  </a:txBody>
                  <a:tcPr anchor="ctr"/>
                </a:tc>
                <a:tc>
                  <a:txBody>
                    <a:bodyPr/>
                    <a:lstStyle/>
                    <a:p>
                      <a:pPr algn="ctr"/>
                      <a:r>
                        <a:rPr sz="1200" b="0"/>
                        <a:t>0.823</a:t>
                      </a:r>
                    </a:p>
                  </a:txBody>
                  <a:tcPr anchor="ctr"/>
                </a:tc>
                <a:tc>
                  <a:txBody>
                    <a:bodyPr/>
                    <a:lstStyle/>
                    <a:p>
                      <a:pPr algn="ctr"/>
                      <a:r>
                        <a:rPr sz="1200" b="0"/>
                        <a:t>0.839</a:t>
                      </a:r>
                    </a:p>
                  </a:txBody>
                  <a:tcPr anchor="ctr"/>
                </a:tc>
                <a:tc>
                  <a:txBody>
                    <a:bodyPr/>
                    <a:lstStyle/>
                    <a:p>
                      <a:pPr algn="ctr"/>
                      <a:r>
                        <a:rPr sz="1200" b="0"/>
                        <a:t>0.832</a:t>
                      </a:r>
                    </a:p>
                  </a:txBody>
                  <a:tcPr anchor="ctr"/>
                </a:tc>
                <a:tc>
                  <a:txBody>
                    <a:bodyPr/>
                    <a:lstStyle/>
                    <a:p>
                      <a:pPr algn="ctr"/>
                      <a:r>
                        <a:rPr sz="1200" b="0"/>
                        <a:t>0.801</a:t>
                      </a:r>
                    </a:p>
                  </a:txBody>
                  <a:tcPr anchor="ctr"/>
                </a:tc>
                <a:tc>
                  <a:txBody>
                    <a:bodyPr/>
                    <a:lstStyle/>
                    <a:p>
                      <a:pPr algn="ctr"/>
                      <a:r>
                        <a:rPr sz="1200" b="0"/>
                        <a:t>0.811</a:t>
                      </a:r>
                    </a:p>
                  </a:txBody>
                  <a:tcPr anchor="ctr"/>
                </a:tc>
                <a:tc>
                  <a:txBody>
                    <a:bodyPr/>
                    <a:lstStyle/>
                    <a:p>
                      <a:pPr algn="ctr"/>
                      <a:r>
                        <a:rPr sz="1200" b="0"/>
                        <a:t>0.032</a:t>
                      </a:r>
                    </a:p>
                  </a:txBody>
                  <a:tcPr anchor="ctr"/>
                </a:tc>
                <a:extLst>
                  <a:ext uri="{0D108BD9-81ED-4DB2-BD59-A6C34878D82A}">
                    <a16:rowId xmlns:a16="http://schemas.microsoft.com/office/drawing/2014/main" val="10007"/>
                  </a:ext>
                </a:extLst>
              </a:tr>
              <a:tr h="183022">
                <a:tc>
                  <a:txBody>
                    <a:bodyPr/>
                    <a:lstStyle/>
                    <a:p>
                      <a:pPr algn="ctr"/>
                      <a:r>
                        <a:rPr sz="1200" b="0"/>
                        <a:t>+AEC +체성분</a:t>
                      </a:r>
                    </a:p>
                  </a:txBody>
                  <a:tcPr anchor="ctr"/>
                </a:tc>
                <a:tc>
                  <a:txBody>
                    <a:bodyPr/>
                    <a:lstStyle/>
                    <a:p>
                      <a:pPr algn="ctr"/>
                      <a:r>
                        <a:rPr sz="1200" b="0"/>
                        <a:t>0.761</a:t>
                      </a:r>
                    </a:p>
                  </a:txBody>
                  <a:tcPr anchor="ctr"/>
                </a:tc>
                <a:tc>
                  <a:txBody>
                    <a:bodyPr/>
                    <a:lstStyle/>
                    <a:p>
                      <a:pPr algn="ctr"/>
                      <a:r>
                        <a:rPr sz="1200" b="0"/>
                        <a:t>0.832</a:t>
                      </a:r>
                    </a:p>
                  </a:txBody>
                  <a:tcPr anchor="ctr"/>
                </a:tc>
                <a:tc>
                  <a:txBody>
                    <a:bodyPr/>
                    <a:lstStyle/>
                    <a:p>
                      <a:pPr algn="ctr"/>
                      <a:r>
                        <a:rPr sz="1200" b="0"/>
                        <a:t>0.847</a:t>
                      </a:r>
                    </a:p>
                  </a:txBody>
                  <a:tcPr anchor="ctr"/>
                </a:tc>
                <a:tc>
                  <a:txBody>
                    <a:bodyPr/>
                    <a:lstStyle/>
                    <a:p>
                      <a:pPr algn="ctr"/>
                      <a:r>
                        <a:rPr sz="1200" b="0"/>
                        <a:t>0.828</a:t>
                      </a:r>
                    </a:p>
                  </a:txBody>
                  <a:tcPr anchor="ctr"/>
                </a:tc>
                <a:tc>
                  <a:txBody>
                    <a:bodyPr/>
                    <a:lstStyle/>
                    <a:p>
                      <a:pPr algn="ctr"/>
                      <a:r>
                        <a:rPr sz="1200" b="0"/>
                        <a:t>0.785</a:t>
                      </a:r>
                    </a:p>
                  </a:txBody>
                  <a:tcPr anchor="ctr"/>
                </a:tc>
                <a:tc>
                  <a:txBody>
                    <a:bodyPr/>
                    <a:lstStyle/>
                    <a:p>
                      <a:pPr algn="ctr"/>
                      <a:r>
                        <a:rPr sz="1200" b="0"/>
                        <a:t>0.811</a:t>
                      </a:r>
                    </a:p>
                  </a:txBody>
                  <a:tcPr anchor="ctr"/>
                </a:tc>
                <a:tc>
                  <a:txBody>
                    <a:bodyPr/>
                    <a:lstStyle/>
                    <a:p>
                      <a:pPr algn="ctr"/>
                      <a:r>
                        <a:rPr sz="1200" b="0"/>
                        <a:t>0.036</a:t>
                      </a:r>
                    </a:p>
                  </a:txBody>
                  <a:tcPr anchor="ctr"/>
                </a:tc>
                <a:extLst>
                  <a:ext uri="{0D108BD9-81ED-4DB2-BD59-A6C34878D82A}">
                    <a16:rowId xmlns:a16="http://schemas.microsoft.com/office/drawing/2014/main" val="10008"/>
                  </a:ext>
                </a:extLst>
              </a:tr>
              <a:tr h="183022">
                <a:tc>
                  <a:txBody>
                    <a:bodyPr/>
                    <a:lstStyle/>
                    <a:p>
                      <a:pPr algn="ctr"/>
                      <a:r>
                        <a:rPr sz="1200" b="0" dirty="0" err="1"/>
                        <a:t>체성분만</a:t>
                      </a:r>
                      <a:endParaRPr sz="1200" b="0" dirty="0"/>
                    </a:p>
                  </a:txBody>
                  <a:tcPr anchor="ctr"/>
                </a:tc>
                <a:tc>
                  <a:txBody>
                    <a:bodyPr/>
                    <a:lstStyle/>
                    <a:p>
                      <a:pPr algn="ctr"/>
                      <a:r>
                        <a:rPr sz="1200" b="0"/>
                        <a:t>0.762</a:t>
                      </a:r>
                    </a:p>
                  </a:txBody>
                  <a:tcPr anchor="ctr"/>
                </a:tc>
                <a:tc>
                  <a:txBody>
                    <a:bodyPr/>
                    <a:lstStyle/>
                    <a:p>
                      <a:pPr algn="ctr"/>
                      <a:r>
                        <a:rPr sz="1200" b="0" dirty="0"/>
                        <a:t>0.838</a:t>
                      </a:r>
                    </a:p>
                  </a:txBody>
                  <a:tcPr anchor="ctr"/>
                </a:tc>
                <a:tc>
                  <a:txBody>
                    <a:bodyPr/>
                    <a:lstStyle/>
                    <a:p>
                      <a:pPr algn="ctr"/>
                      <a:r>
                        <a:rPr sz="1200" b="0"/>
                        <a:t>0.844</a:t>
                      </a:r>
                    </a:p>
                  </a:txBody>
                  <a:tcPr anchor="ctr"/>
                </a:tc>
                <a:tc>
                  <a:txBody>
                    <a:bodyPr/>
                    <a:lstStyle/>
                    <a:p>
                      <a:pPr algn="ctr"/>
                      <a:r>
                        <a:rPr sz="1200" b="0"/>
                        <a:t>0.822</a:t>
                      </a:r>
                    </a:p>
                  </a:txBody>
                  <a:tcPr anchor="ctr"/>
                </a:tc>
                <a:tc>
                  <a:txBody>
                    <a:bodyPr/>
                    <a:lstStyle/>
                    <a:p>
                      <a:pPr algn="ctr"/>
                      <a:r>
                        <a:rPr sz="1200" b="0"/>
                        <a:t>0.792</a:t>
                      </a:r>
                    </a:p>
                  </a:txBody>
                  <a:tcPr anchor="ctr"/>
                </a:tc>
                <a:tc>
                  <a:txBody>
                    <a:bodyPr/>
                    <a:lstStyle/>
                    <a:p>
                      <a:pPr algn="ctr"/>
                      <a:r>
                        <a:rPr sz="1200" b="0"/>
                        <a:t>0.812</a:t>
                      </a:r>
                    </a:p>
                  </a:txBody>
                  <a:tcPr anchor="ctr"/>
                </a:tc>
                <a:tc>
                  <a:txBody>
                    <a:bodyPr/>
                    <a:lstStyle/>
                    <a:p>
                      <a:pPr algn="ctr"/>
                      <a:r>
                        <a:rPr sz="1200" b="0" dirty="0"/>
                        <a:t>0.034</a:t>
                      </a:r>
                    </a:p>
                  </a:txBody>
                  <a:tcPr anchor="ct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29360376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F82BA-C09D-0197-4479-9391079D4B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1ED191-D9A4-FA35-31B6-E6C57CD3E2AC}"/>
              </a:ext>
            </a:extLst>
          </p:cNvPr>
          <p:cNvSpPr>
            <a:spLocks noGrp="1"/>
          </p:cNvSpPr>
          <p:nvPr>
            <p:ph type="title"/>
          </p:nvPr>
        </p:nvSpPr>
        <p:spPr/>
        <p:txBody>
          <a:bodyPr>
            <a:normAutofit/>
          </a:bodyPr>
          <a:lstStyle/>
          <a:p>
            <a:r>
              <a:rPr lang="en-US" altLang="ko-KR" dirty="0"/>
              <a:t>Table S3. Fold별 AUC (전체 확장모델, DM)</a:t>
            </a:r>
            <a:endParaRPr dirty="0"/>
          </a:p>
        </p:txBody>
      </p:sp>
      <p:sp>
        <p:nvSpPr>
          <p:cNvPr id="4" name="슬라이드 번호 개체 틀 3">
            <a:extLst>
              <a:ext uri="{FF2B5EF4-FFF2-40B4-BE49-F238E27FC236}">
                <a16:creationId xmlns:a16="http://schemas.microsoft.com/office/drawing/2014/main" id="{4F16272E-70B7-8151-AE51-17FCD411AED6}"/>
              </a:ext>
            </a:extLst>
          </p:cNvPr>
          <p:cNvSpPr>
            <a:spLocks noGrp="1"/>
          </p:cNvSpPr>
          <p:nvPr>
            <p:ph type="sldNum" sz="quarter" idx="12"/>
          </p:nvPr>
        </p:nvSpPr>
        <p:spPr/>
        <p:txBody>
          <a:bodyPr/>
          <a:lstStyle/>
          <a:p>
            <a:fld id="{9F4AF89A-28FA-47FA-B28F-9A9C6913CB7A}" type="slidenum">
              <a:rPr lang="ko-KR" altLang="en-US" smtClean="0"/>
              <a:pPr/>
              <a:t>19</a:t>
            </a:fld>
            <a:endParaRPr lang="ko-KR" altLang="en-US" dirty="0"/>
          </a:p>
        </p:txBody>
      </p:sp>
      <p:graphicFrame>
        <p:nvGraphicFramePr>
          <p:cNvPr id="6" name="Table 2">
            <a:extLst>
              <a:ext uri="{FF2B5EF4-FFF2-40B4-BE49-F238E27FC236}">
                <a16:creationId xmlns:a16="http://schemas.microsoft.com/office/drawing/2014/main" id="{E8BD02EF-2534-89EF-6FC4-D487230B0363}"/>
              </a:ext>
            </a:extLst>
          </p:cNvPr>
          <p:cNvGraphicFramePr>
            <a:graphicFrameLocks noGrp="1"/>
          </p:cNvGraphicFramePr>
          <p:nvPr>
            <p:extLst>
              <p:ext uri="{D42A27DB-BD31-4B8C-83A1-F6EECF244321}">
                <p14:modId xmlns:p14="http://schemas.microsoft.com/office/powerpoint/2010/main" val="1462090782"/>
              </p:ext>
            </p:extLst>
          </p:nvPr>
        </p:nvGraphicFramePr>
        <p:xfrm>
          <a:off x="956659" y="2057400"/>
          <a:ext cx="10278682" cy="2743200"/>
        </p:xfrm>
        <a:graphic>
          <a:graphicData uri="http://schemas.openxmlformats.org/drawingml/2006/table">
            <a:tbl>
              <a:tblPr firstRow="1" bandRow="1">
                <a:tableStyleId>{C083E6E3-FA7D-4D7B-A595-EF9225AFEA82}</a:tableStyleId>
              </a:tblPr>
              <a:tblGrid>
                <a:gridCol w="1587818">
                  <a:extLst>
                    <a:ext uri="{9D8B030D-6E8A-4147-A177-3AD203B41FA5}">
                      <a16:colId xmlns:a16="http://schemas.microsoft.com/office/drawing/2014/main" val="20001"/>
                    </a:ext>
                  </a:extLst>
                </a:gridCol>
                <a:gridCol w="1241552">
                  <a:extLst>
                    <a:ext uri="{9D8B030D-6E8A-4147-A177-3AD203B41FA5}">
                      <a16:colId xmlns:a16="http://schemas.microsoft.com/office/drawing/2014/main" val="20002"/>
                    </a:ext>
                  </a:extLst>
                </a:gridCol>
                <a:gridCol w="1241552">
                  <a:extLst>
                    <a:ext uri="{9D8B030D-6E8A-4147-A177-3AD203B41FA5}">
                      <a16:colId xmlns:a16="http://schemas.microsoft.com/office/drawing/2014/main" val="20003"/>
                    </a:ext>
                  </a:extLst>
                </a:gridCol>
                <a:gridCol w="1241552">
                  <a:extLst>
                    <a:ext uri="{9D8B030D-6E8A-4147-A177-3AD203B41FA5}">
                      <a16:colId xmlns:a16="http://schemas.microsoft.com/office/drawing/2014/main" val="20004"/>
                    </a:ext>
                  </a:extLst>
                </a:gridCol>
                <a:gridCol w="1241552">
                  <a:extLst>
                    <a:ext uri="{9D8B030D-6E8A-4147-A177-3AD203B41FA5}">
                      <a16:colId xmlns:a16="http://schemas.microsoft.com/office/drawing/2014/main" val="20005"/>
                    </a:ext>
                  </a:extLst>
                </a:gridCol>
                <a:gridCol w="1241552">
                  <a:extLst>
                    <a:ext uri="{9D8B030D-6E8A-4147-A177-3AD203B41FA5}">
                      <a16:colId xmlns:a16="http://schemas.microsoft.com/office/drawing/2014/main" val="20006"/>
                    </a:ext>
                  </a:extLst>
                </a:gridCol>
                <a:gridCol w="1241552">
                  <a:extLst>
                    <a:ext uri="{9D8B030D-6E8A-4147-A177-3AD203B41FA5}">
                      <a16:colId xmlns:a16="http://schemas.microsoft.com/office/drawing/2014/main" val="20007"/>
                    </a:ext>
                  </a:extLst>
                </a:gridCol>
                <a:gridCol w="1241552">
                  <a:extLst>
                    <a:ext uri="{9D8B030D-6E8A-4147-A177-3AD203B41FA5}">
                      <a16:colId xmlns:a16="http://schemas.microsoft.com/office/drawing/2014/main" val="20008"/>
                    </a:ext>
                  </a:extLst>
                </a:gridCol>
              </a:tblGrid>
              <a:tr h="183022">
                <a:tc>
                  <a:txBody>
                    <a:bodyPr/>
                    <a:lstStyle/>
                    <a:p>
                      <a:pPr algn="ctr"/>
                      <a:r>
                        <a:rPr sz="1200" b="1" dirty="0"/>
                        <a:t>Model</a:t>
                      </a:r>
                    </a:p>
                  </a:txBody>
                  <a:tcPr anchor="ctr"/>
                </a:tc>
                <a:tc>
                  <a:txBody>
                    <a:bodyPr/>
                    <a:lstStyle/>
                    <a:p>
                      <a:pPr algn="ctr"/>
                      <a:r>
                        <a:rPr sz="1200" b="1"/>
                        <a:t>Fold1</a:t>
                      </a:r>
                    </a:p>
                  </a:txBody>
                  <a:tcPr anchor="ctr"/>
                </a:tc>
                <a:tc>
                  <a:txBody>
                    <a:bodyPr/>
                    <a:lstStyle/>
                    <a:p>
                      <a:pPr algn="ctr"/>
                      <a:r>
                        <a:rPr sz="1200" b="1" dirty="0"/>
                        <a:t>Fold2</a:t>
                      </a:r>
                    </a:p>
                  </a:txBody>
                  <a:tcPr anchor="ctr"/>
                </a:tc>
                <a:tc>
                  <a:txBody>
                    <a:bodyPr/>
                    <a:lstStyle/>
                    <a:p>
                      <a:pPr algn="ctr"/>
                      <a:r>
                        <a:rPr sz="1200" b="1"/>
                        <a:t>Fold3</a:t>
                      </a:r>
                    </a:p>
                  </a:txBody>
                  <a:tcPr anchor="ctr"/>
                </a:tc>
                <a:tc>
                  <a:txBody>
                    <a:bodyPr/>
                    <a:lstStyle/>
                    <a:p>
                      <a:pPr algn="ctr"/>
                      <a:r>
                        <a:rPr sz="1200" b="1"/>
                        <a:t>Fold4</a:t>
                      </a:r>
                    </a:p>
                  </a:txBody>
                  <a:tcPr anchor="ctr"/>
                </a:tc>
                <a:tc>
                  <a:txBody>
                    <a:bodyPr/>
                    <a:lstStyle/>
                    <a:p>
                      <a:pPr algn="ctr"/>
                      <a:r>
                        <a:rPr sz="1200" b="1"/>
                        <a:t>Fold5</a:t>
                      </a:r>
                    </a:p>
                  </a:txBody>
                  <a:tcPr anchor="ctr"/>
                </a:tc>
                <a:tc>
                  <a:txBody>
                    <a:bodyPr/>
                    <a:lstStyle/>
                    <a:p>
                      <a:pPr algn="ctr"/>
                      <a:r>
                        <a:rPr sz="1200" b="1"/>
                        <a:t>Mean</a:t>
                      </a:r>
                    </a:p>
                  </a:txBody>
                  <a:tcPr anchor="ctr"/>
                </a:tc>
                <a:tc>
                  <a:txBody>
                    <a:bodyPr/>
                    <a:lstStyle/>
                    <a:p>
                      <a:pPr algn="ctr"/>
                      <a:r>
                        <a:rPr sz="1200" b="1"/>
                        <a:t>SD</a:t>
                      </a:r>
                    </a:p>
                  </a:txBody>
                  <a:tcPr anchor="ctr"/>
                </a:tc>
                <a:extLst>
                  <a:ext uri="{0D108BD9-81ED-4DB2-BD59-A6C34878D82A}">
                    <a16:rowId xmlns:a16="http://schemas.microsoft.com/office/drawing/2014/main" val="10000"/>
                  </a:ext>
                </a:extLst>
              </a:tr>
              <a:tr h="183022">
                <a:tc>
                  <a:txBody>
                    <a:bodyPr/>
                    <a:lstStyle/>
                    <a:p>
                      <a:pPr algn="ctr"/>
                      <a:r>
                        <a:rPr sz="1200" b="0"/>
                        <a:t>Baseline</a:t>
                      </a:r>
                    </a:p>
                  </a:txBody>
                  <a:tcPr anchor="ctr"/>
                </a:tc>
                <a:tc>
                  <a:txBody>
                    <a:bodyPr/>
                    <a:lstStyle/>
                    <a:p>
                      <a:pPr algn="ctr"/>
                      <a:r>
                        <a:rPr sz="1200" b="0"/>
                        <a:t>0.729</a:t>
                      </a:r>
                    </a:p>
                  </a:txBody>
                  <a:tcPr anchor="ctr"/>
                </a:tc>
                <a:tc>
                  <a:txBody>
                    <a:bodyPr/>
                    <a:lstStyle/>
                    <a:p>
                      <a:pPr algn="ctr"/>
                      <a:r>
                        <a:rPr sz="1200" b="0"/>
                        <a:t>0.760</a:t>
                      </a:r>
                    </a:p>
                  </a:txBody>
                  <a:tcPr anchor="ctr"/>
                </a:tc>
                <a:tc>
                  <a:txBody>
                    <a:bodyPr/>
                    <a:lstStyle/>
                    <a:p>
                      <a:pPr algn="ctr"/>
                      <a:r>
                        <a:rPr sz="1200" b="0"/>
                        <a:t>0.729</a:t>
                      </a:r>
                    </a:p>
                  </a:txBody>
                  <a:tcPr anchor="ctr"/>
                </a:tc>
                <a:tc>
                  <a:txBody>
                    <a:bodyPr/>
                    <a:lstStyle/>
                    <a:p>
                      <a:pPr algn="ctr"/>
                      <a:r>
                        <a:rPr sz="1200" b="0"/>
                        <a:t>0.617</a:t>
                      </a:r>
                    </a:p>
                  </a:txBody>
                  <a:tcPr anchor="ctr"/>
                </a:tc>
                <a:tc>
                  <a:txBody>
                    <a:bodyPr/>
                    <a:lstStyle/>
                    <a:p>
                      <a:pPr algn="ctr"/>
                      <a:r>
                        <a:rPr sz="1200" b="0"/>
                        <a:t>0.726</a:t>
                      </a:r>
                    </a:p>
                  </a:txBody>
                  <a:tcPr anchor="ctr"/>
                </a:tc>
                <a:tc>
                  <a:txBody>
                    <a:bodyPr/>
                    <a:lstStyle/>
                    <a:p>
                      <a:pPr algn="ctr"/>
                      <a:r>
                        <a:rPr sz="1200" b="0"/>
                        <a:t>0.712</a:t>
                      </a:r>
                    </a:p>
                  </a:txBody>
                  <a:tcPr anchor="ctr"/>
                </a:tc>
                <a:tc>
                  <a:txBody>
                    <a:bodyPr/>
                    <a:lstStyle/>
                    <a:p>
                      <a:pPr algn="ctr"/>
                      <a:r>
                        <a:rPr sz="1200" b="0" dirty="0"/>
                        <a:t>0.055</a:t>
                      </a:r>
                    </a:p>
                  </a:txBody>
                  <a:tcPr anchor="ctr"/>
                </a:tc>
                <a:extLst>
                  <a:ext uri="{0D108BD9-81ED-4DB2-BD59-A6C34878D82A}">
                    <a16:rowId xmlns:a16="http://schemas.microsoft.com/office/drawing/2014/main" val="10010"/>
                  </a:ext>
                </a:extLst>
              </a:tr>
              <a:tr h="183022">
                <a:tc>
                  <a:txBody>
                    <a:bodyPr/>
                    <a:lstStyle/>
                    <a:p>
                      <a:pPr algn="ctr"/>
                      <a:r>
                        <a:rPr sz="1200" b="0"/>
                        <a:t>+AEC (FPCA+Ratio)</a:t>
                      </a:r>
                    </a:p>
                  </a:txBody>
                  <a:tcPr anchor="ctr"/>
                </a:tc>
                <a:tc>
                  <a:txBody>
                    <a:bodyPr/>
                    <a:lstStyle/>
                    <a:p>
                      <a:pPr algn="ctr"/>
                      <a:r>
                        <a:rPr sz="1200" b="0"/>
                        <a:t>0.707</a:t>
                      </a:r>
                    </a:p>
                  </a:txBody>
                  <a:tcPr anchor="ctr"/>
                </a:tc>
                <a:tc>
                  <a:txBody>
                    <a:bodyPr/>
                    <a:lstStyle/>
                    <a:p>
                      <a:pPr algn="ctr"/>
                      <a:r>
                        <a:rPr sz="1200" b="0"/>
                        <a:t>0.782</a:t>
                      </a:r>
                    </a:p>
                  </a:txBody>
                  <a:tcPr anchor="ctr"/>
                </a:tc>
                <a:tc>
                  <a:txBody>
                    <a:bodyPr/>
                    <a:lstStyle/>
                    <a:p>
                      <a:pPr algn="ctr"/>
                      <a:r>
                        <a:rPr sz="1200" b="0"/>
                        <a:t>0.746</a:t>
                      </a:r>
                    </a:p>
                  </a:txBody>
                  <a:tcPr anchor="ctr"/>
                </a:tc>
                <a:tc>
                  <a:txBody>
                    <a:bodyPr/>
                    <a:lstStyle/>
                    <a:p>
                      <a:pPr algn="ctr"/>
                      <a:r>
                        <a:rPr sz="1200" b="0"/>
                        <a:t>0.658</a:t>
                      </a:r>
                    </a:p>
                  </a:txBody>
                  <a:tcPr anchor="ctr"/>
                </a:tc>
                <a:tc>
                  <a:txBody>
                    <a:bodyPr/>
                    <a:lstStyle/>
                    <a:p>
                      <a:pPr algn="ctr"/>
                      <a:r>
                        <a:rPr sz="1200" b="0"/>
                        <a:t>0.773</a:t>
                      </a:r>
                    </a:p>
                  </a:txBody>
                  <a:tcPr anchor="ctr"/>
                </a:tc>
                <a:tc>
                  <a:txBody>
                    <a:bodyPr/>
                    <a:lstStyle/>
                    <a:p>
                      <a:pPr algn="ctr"/>
                      <a:r>
                        <a:rPr sz="1200" b="0"/>
                        <a:t>0.733</a:t>
                      </a:r>
                    </a:p>
                  </a:txBody>
                  <a:tcPr anchor="ctr"/>
                </a:tc>
                <a:tc>
                  <a:txBody>
                    <a:bodyPr/>
                    <a:lstStyle/>
                    <a:p>
                      <a:pPr algn="ctr"/>
                      <a:r>
                        <a:rPr sz="1200" b="0"/>
                        <a:t>0.051</a:t>
                      </a:r>
                    </a:p>
                  </a:txBody>
                  <a:tcPr anchor="ctr"/>
                </a:tc>
                <a:extLst>
                  <a:ext uri="{0D108BD9-81ED-4DB2-BD59-A6C34878D82A}">
                    <a16:rowId xmlns:a16="http://schemas.microsoft.com/office/drawing/2014/main" val="10011"/>
                  </a:ext>
                </a:extLst>
              </a:tr>
              <a:tr h="183022">
                <a:tc>
                  <a:txBody>
                    <a:bodyPr/>
                    <a:lstStyle/>
                    <a:p>
                      <a:pPr algn="ctr"/>
                      <a:r>
                        <a:rPr sz="1200" b="0"/>
                        <a:t>+AEC (FPCA)</a:t>
                      </a:r>
                    </a:p>
                  </a:txBody>
                  <a:tcPr anchor="ctr"/>
                </a:tc>
                <a:tc>
                  <a:txBody>
                    <a:bodyPr/>
                    <a:lstStyle/>
                    <a:p>
                      <a:pPr algn="ctr"/>
                      <a:r>
                        <a:rPr sz="1200" b="0"/>
                        <a:t>0.704</a:t>
                      </a:r>
                    </a:p>
                  </a:txBody>
                  <a:tcPr anchor="ctr"/>
                </a:tc>
                <a:tc>
                  <a:txBody>
                    <a:bodyPr/>
                    <a:lstStyle/>
                    <a:p>
                      <a:pPr algn="ctr"/>
                      <a:r>
                        <a:rPr sz="1200" b="0"/>
                        <a:t>0.788</a:t>
                      </a:r>
                    </a:p>
                  </a:txBody>
                  <a:tcPr anchor="ctr"/>
                </a:tc>
                <a:tc>
                  <a:txBody>
                    <a:bodyPr/>
                    <a:lstStyle/>
                    <a:p>
                      <a:pPr algn="ctr"/>
                      <a:r>
                        <a:rPr sz="1200" b="0"/>
                        <a:t>0.736</a:t>
                      </a:r>
                    </a:p>
                  </a:txBody>
                  <a:tcPr anchor="ctr"/>
                </a:tc>
                <a:tc>
                  <a:txBody>
                    <a:bodyPr/>
                    <a:lstStyle/>
                    <a:p>
                      <a:pPr algn="ctr"/>
                      <a:r>
                        <a:rPr sz="1200" b="0"/>
                        <a:t>0.656</a:t>
                      </a:r>
                    </a:p>
                  </a:txBody>
                  <a:tcPr anchor="ctr"/>
                </a:tc>
                <a:tc>
                  <a:txBody>
                    <a:bodyPr/>
                    <a:lstStyle/>
                    <a:p>
                      <a:pPr algn="ctr"/>
                      <a:r>
                        <a:rPr sz="1200" b="0"/>
                        <a:t>0.775</a:t>
                      </a:r>
                    </a:p>
                  </a:txBody>
                  <a:tcPr anchor="ctr"/>
                </a:tc>
                <a:tc>
                  <a:txBody>
                    <a:bodyPr/>
                    <a:lstStyle/>
                    <a:p>
                      <a:pPr algn="ctr"/>
                      <a:r>
                        <a:rPr sz="1200" b="0"/>
                        <a:t>0.732</a:t>
                      </a:r>
                    </a:p>
                  </a:txBody>
                  <a:tcPr anchor="ctr"/>
                </a:tc>
                <a:tc>
                  <a:txBody>
                    <a:bodyPr/>
                    <a:lstStyle/>
                    <a:p>
                      <a:pPr algn="ctr"/>
                      <a:r>
                        <a:rPr sz="1200" b="0"/>
                        <a:t>0.054</a:t>
                      </a:r>
                    </a:p>
                  </a:txBody>
                  <a:tcPr anchor="ctr"/>
                </a:tc>
                <a:extLst>
                  <a:ext uri="{0D108BD9-81ED-4DB2-BD59-A6C34878D82A}">
                    <a16:rowId xmlns:a16="http://schemas.microsoft.com/office/drawing/2014/main" val="10012"/>
                  </a:ext>
                </a:extLst>
              </a:tr>
              <a:tr h="183022">
                <a:tc>
                  <a:txBody>
                    <a:bodyPr/>
                    <a:lstStyle/>
                    <a:p>
                      <a:pPr algn="ctr"/>
                      <a:r>
                        <a:rPr sz="1200" b="0"/>
                        <a:t>+AEC (Ratio)</a:t>
                      </a:r>
                    </a:p>
                  </a:txBody>
                  <a:tcPr anchor="ctr"/>
                </a:tc>
                <a:tc>
                  <a:txBody>
                    <a:bodyPr/>
                    <a:lstStyle/>
                    <a:p>
                      <a:pPr algn="ctr"/>
                      <a:r>
                        <a:rPr sz="1200" b="0"/>
                        <a:t>0.727</a:t>
                      </a:r>
                    </a:p>
                  </a:txBody>
                  <a:tcPr anchor="ctr"/>
                </a:tc>
                <a:tc>
                  <a:txBody>
                    <a:bodyPr/>
                    <a:lstStyle/>
                    <a:p>
                      <a:pPr algn="ctr"/>
                      <a:r>
                        <a:rPr sz="1200" b="0"/>
                        <a:t>0.766</a:t>
                      </a:r>
                    </a:p>
                  </a:txBody>
                  <a:tcPr anchor="ctr"/>
                </a:tc>
                <a:tc>
                  <a:txBody>
                    <a:bodyPr/>
                    <a:lstStyle/>
                    <a:p>
                      <a:pPr algn="ctr"/>
                      <a:r>
                        <a:rPr sz="1200" b="0"/>
                        <a:t>0.720</a:t>
                      </a:r>
                    </a:p>
                  </a:txBody>
                  <a:tcPr anchor="ctr"/>
                </a:tc>
                <a:tc>
                  <a:txBody>
                    <a:bodyPr/>
                    <a:lstStyle/>
                    <a:p>
                      <a:pPr algn="ctr"/>
                      <a:r>
                        <a:rPr sz="1200" b="0"/>
                        <a:t>0.674</a:t>
                      </a:r>
                    </a:p>
                  </a:txBody>
                  <a:tcPr anchor="ctr"/>
                </a:tc>
                <a:tc>
                  <a:txBody>
                    <a:bodyPr/>
                    <a:lstStyle/>
                    <a:p>
                      <a:pPr algn="ctr"/>
                      <a:r>
                        <a:rPr sz="1200" b="0"/>
                        <a:t>0.763</a:t>
                      </a:r>
                    </a:p>
                  </a:txBody>
                  <a:tcPr anchor="ctr"/>
                </a:tc>
                <a:tc>
                  <a:txBody>
                    <a:bodyPr/>
                    <a:lstStyle/>
                    <a:p>
                      <a:pPr algn="ctr"/>
                      <a:r>
                        <a:rPr sz="1200" b="0"/>
                        <a:t>0.730</a:t>
                      </a:r>
                    </a:p>
                  </a:txBody>
                  <a:tcPr anchor="ctr"/>
                </a:tc>
                <a:tc>
                  <a:txBody>
                    <a:bodyPr/>
                    <a:lstStyle/>
                    <a:p>
                      <a:pPr algn="ctr"/>
                      <a:r>
                        <a:rPr sz="1200" b="0"/>
                        <a:t>0.038</a:t>
                      </a:r>
                    </a:p>
                  </a:txBody>
                  <a:tcPr anchor="ctr"/>
                </a:tc>
                <a:extLst>
                  <a:ext uri="{0D108BD9-81ED-4DB2-BD59-A6C34878D82A}">
                    <a16:rowId xmlns:a16="http://schemas.microsoft.com/office/drawing/2014/main" val="10013"/>
                  </a:ext>
                </a:extLst>
              </a:tr>
              <a:tr h="183022">
                <a:tc>
                  <a:txBody>
                    <a:bodyPr/>
                    <a:lstStyle/>
                    <a:p>
                      <a:pPr algn="ctr"/>
                      <a:r>
                        <a:rPr sz="1200" b="0"/>
                        <a:t>+AEC +VAT</a:t>
                      </a:r>
                    </a:p>
                  </a:txBody>
                  <a:tcPr anchor="ctr"/>
                </a:tc>
                <a:tc>
                  <a:txBody>
                    <a:bodyPr/>
                    <a:lstStyle/>
                    <a:p>
                      <a:pPr algn="ctr"/>
                      <a:r>
                        <a:rPr sz="1200" b="0"/>
                        <a:t>0.712</a:t>
                      </a:r>
                    </a:p>
                  </a:txBody>
                  <a:tcPr anchor="ctr"/>
                </a:tc>
                <a:tc>
                  <a:txBody>
                    <a:bodyPr/>
                    <a:lstStyle/>
                    <a:p>
                      <a:pPr algn="ctr"/>
                      <a:r>
                        <a:rPr sz="1200" b="0"/>
                        <a:t>0.772</a:t>
                      </a:r>
                    </a:p>
                  </a:txBody>
                  <a:tcPr anchor="ctr"/>
                </a:tc>
                <a:tc>
                  <a:txBody>
                    <a:bodyPr/>
                    <a:lstStyle/>
                    <a:p>
                      <a:pPr algn="ctr"/>
                      <a:r>
                        <a:rPr sz="1200" b="0"/>
                        <a:t>0.749</a:t>
                      </a:r>
                    </a:p>
                  </a:txBody>
                  <a:tcPr anchor="ctr"/>
                </a:tc>
                <a:tc>
                  <a:txBody>
                    <a:bodyPr/>
                    <a:lstStyle/>
                    <a:p>
                      <a:pPr algn="ctr"/>
                      <a:r>
                        <a:rPr sz="1200" b="0"/>
                        <a:t>0.657</a:t>
                      </a:r>
                    </a:p>
                  </a:txBody>
                  <a:tcPr anchor="ctr"/>
                </a:tc>
                <a:tc>
                  <a:txBody>
                    <a:bodyPr/>
                    <a:lstStyle/>
                    <a:p>
                      <a:pPr algn="ctr"/>
                      <a:r>
                        <a:rPr sz="1200" b="0"/>
                        <a:t>0.769</a:t>
                      </a:r>
                    </a:p>
                  </a:txBody>
                  <a:tcPr anchor="ctr"/>
                </a:tc>
                <a:tc>
                  <a:txBody>
                    <a:bodyPr/>
                    <a:lstStyle/>
                    <a:p>
                      <a:pPr algn="ctr"/>
                      <a:r>
                        <a:rPr sz="1200" b="0"/>
                        <a:t>0.732</a:t>
                      </a:r>
                    </a:p>
                  </a:txBody>
                  <a:tcPr anchor="ctr"/>
                </a:tc>
                <a:tc>
                  <a:txBody>
                    <a:bodyPr/>
                    <a:lstStyle/>
                    <a:p>
                      <a:pPr algn="ctr"/>
                      <a:r>
                        <a:rPr sz="1200" b="0"/>
                        <a:t>0.048</a:t>
                      </a:r>
                    </a:p>
                  </a:txBody>
                  <a:tcPr anchor="ctr"/>
                </a:tc>
                <a:extLst>
                  <a:ext uri="{0D108BD9-81ED-4DB2-BD59-A6C34878D82A}">
                    <a16:rowId xmlns:a16="http://schemas.microsoft.com/office/drawing/2014/main" val="10014"/>
                  </a:ext>
                </a:extLst>
              </a:tr>
              <a:tr h="183022">
                <a:tc>
                  <a:txBody>
                    <a:bodyPr/>
                    <a:lstStyle/>
                    <a:p>
                      <a:pPr algn="ctr"/>
                      <a:r>
                        <a:rPr sz="1200" b="0"/>
                        <a:t>+AEC +LAMA</a:t>
                      </a:r>
                    </a:p>
                  </a:txBody>
                  <a:tcPr anchor="ctr"/>
                </a:tc>
                <a:tc>
                  <a:txBody>
                    <a:bodyPr/>
                    <a:lstStyle/>
                    <a:p>
                      <a:pPr algn="ctr"/>
                      <a:r>
                        <a:rPr sz="1200" b="0"/>
                        <a:t>0.709</a:t>
                      </a:r>
                    </a:p>
                  </a:txBody>
                  <a:tcPr anchor="ctr"/>
                </a:tc>
                <a:tc>
                  <a:txBody>
                    <a:bodyPr/>
                    <a:lstStyle/>
                    <a:p>
                      <a:pPr algn="ctr"/>
                      <a:r>
                        <a:rPr sz="1200" b="0"/>
                        <a:t>0.782</a:t>
                      </a:r>
                    </a:p>
                  </a:txBody>
                  <a:tcPr anchor="ctr"/>
                </a:tc>
                <a:tc>
                  <a:txBody>
                    <a:bodyPr/>
                    <a:lstStyle/>
                    <a:p>
                      <a:pPr algn="ctr"/>
                      <a:r>
                        <a:rPr sz="1200" b="0"/>
                        <a:t>0.762</a:t>
                      </a:r>
                    </a:p>
                  </a:txBody>
                  <a:tcPr anchor="ctr"/>
                </a:tc>
                <a:tc>
                  <a:txBody>
                    <a:bodyPr/>
                    <a:lstStyle/>
                    <a:p>
                      <a:pPr algn="ctr"/>
                      <a:r>
                        <a:rPr sz="1200" b="0"/>
                        <a:t>0.661</a:t>
                      </a:r>
                    </a:p>
                  </a:txBody>
                  <a:tcPr anchor="ctr"/>
                </a:tc>
                <a:tc>
                  <a:txBody>
                    <a:bodyPr/>
                    <a:lstStyle/>
                    <a:p>
                      <a:pPr algn="ctr"/>
                      <a:r>
                        <a:rPr sz="1200" b="0"/>
                        <a:t>0.776</a:t>
                      </a:r>
                    </a:p>
                  </a:txBody>
                  <a:tcPr anchor="ctr"/>
                </a:tc>
                <a:tc>
                  <a:txBody>
                    <a:bodyPr/>
                    <a:lstStyle/>
                    <a:p>
                      <a:pPr algn="ctr"/>
                      <a:r>
                        <a:rPr sz="1200" b="0"/>
                        <a:t>0.738</a:t>
                      </a:r>
                    </a:p>
                  </a:txBody>
                  <a:tcPr anchor="ctr"/>
                </a:tc>
                <a:tc>
                  <a:txBody>
                    <a:bodyPr/>
                    <a:lstStyle/>
                    <a:p>
                      <a:pPr algn="ctr"/>
                      <a:r>
                        <a:rPr sz="1200" b="0"/>
                        <a:t>0.052</a:t>
                      </a:r>
                    </a:p>
                  </a:txBody>
                  <a:tcPr anchor="ctr"/>
                </a:tc>
                <a:extLst>
                  <a:ext uri="{0D108BD9-81ED-4DB2-BD59-A6C34878D82A}">
                    <a16:rowId xmlns:a16="http://schemas.microsoft.com/office/drawing/2014/main" val="10015"/>
                  </a:ext>
                </a:extLst>
              </a:tr>
              <a:tr h="183022">
                <a:tc>
                  <a:txBody>
                    <a:bodyPr/>
                    <a:lstStyle/>
                    <a:p>
                      <a:pPr algn="ctr"/>
                      <a:r>
                        <a:rPr sz="1200" b="0"/>
                        <a:t>+AEC +NAMA</a:t>
                      </a:r>
                    </a:p>
                  </a:txBody>
                  <a:tcPr anchor="ctr"/>
                </a:tc>
                <a:tc>
                  <a:txBody>
                    <a:bodyPr/>
                    <a:lstStyle/>
                    <a:p>
                      <a:pPr algn="ctr"/>
                      <a:r>
                        <a:rPr sz="1200" b="0"/>
                        <a:t>0.702</a:t>
                      </a:r>
                    </a:p>
                  </a:txBody>
                  <a:tcPr anchor="ctr"/>
                </a:tc>
                <a:tc>
                  <a:txBody>
                    <a:bodyPr/>
                    <a:lstStyle/>
                    <a:p>
                      <a:pPr algn="ctr"/>
                      <a:r>
                        <a:rPr sz="1200" b="0"/>
                        <a:t>0.791</a:t>
                      </a:r>
                    </a:p>
                  </a:txBody>
                  <a:tcPr anchor="ctr"/>
                </a:tc>
                <a:tc>
                  <a:txBody>
                    <a:bodyPr/>
                    <a:lstStyle/>
                    <a:p>
                      <a:pPr algn="ctr"/>
                      <a:r>
                        <a:rPr sz="1200" b="0"/>
                        <a:t>0.736</a:t>
                      </a:r>
                    </a:p>
                  </a:txBody>
                  <a:tcPr anchor="ctr"/>
                </a:tc>
                <a:tc>
                  <a:txBody>
                    <a:bodyPr/>
                    <a:lstStyle/>
                    <a:p>
                      <a:pPr algn="ctr"/>
                      <a:r>
                        <a:rPr sz="1200" b="0"/>
                        <a:t>0.659</a:t>
                      </a:r>
                    </a:p>
                  </a:txBody>
                  <a:tcPr anchor="ctr"/>
                </a:tc>
                <a:tc>
                  <a:txBody>
                    <a:bodyPr/>
                    <a:lstStyle/>
                    <a:p>
                      <a:pPr algn="ctr"/>
                      <a:r>
                        <a:rPr sz="1200" b="0"/>
                        <a:t>0.772</a:t>
                      </a:r>
                    </a:p>
                  </a:txBody>
                  <a:tcPr anchor="ctr"/>
                </a:tc>
                <a:tc>
                  <a:txBody>
                    <a:bodyPr/>
                    <a:lstStyle/>
                    <a:p>
                      <a:pPr algn="ctr"/>
                      <a:r>
                        <a:rPr sz="1200" b="0"/>
                        <a:t>0.732</a:t>
                      </a:r>
                    </a:p>
                  </a:txBody>
                  <a:tcPr anchor="ctr"/>
                </a:tc>
                <a:tc>
                  <a:txBody>
                    <a:bodyPr/>
                    <a:lstStyle/>
                    <a:p>
                      <a:pPr algn="ctr"/>
                      <a:r>
                        <a:rPr sz="1200" b="0"/>
                        <a:t>0.053</a:t>
                      </a:r>
                    </a:p>
                  </a:txBody>
                  <a:tcPr anchor="ctr"/>
                </a:tc>
                <a:extLst>
                  <a:ext uri="{0D108BD9-81ED-4DB2-BD59-A6C34878D82A}">
                    <a16:rowId xmlns:a16="http://schemas.microsoft.com/office/drawing/2014/main" val="10016"/>
                  </a:ext>
                </a:extLst>
              </a:tr>
              <a:tr h="183022">
                <a:tc>
                  <a:txBody>
                    <a:bodyPr/>
                    <a:lstStyle/>
                    <a:p>
                      <a:pPr algn="ctr"/>
                      <a:r>
                        <a:rPr sz="1200" b="0"/>
                        <a:t>+AEC +체성분</a:t>
                      </a:r>
                    </a:p>
                  </a:txBody>
                  <a:tcPr anchor="ctr"/>
                </a:tc>
                <a:tc>
                  <a:txBody>
                    <a:bodyPr/>
                    <a:lstStyle/>
                    <a:p>
                      <a:pPr algn="ctr"/>
                      <a:r>
                        <a:rPr sz="1200" b="0"/>
                        <a:t>0.694</a:t>
                      </a:r>
                    </a:p>
                  </a:txBody>
                  <a:tcPr anchor="ctr"/>
                </a:tc>
                <a:tc>
                  <a:txBody>
                    <a:bodyPr/>
                    <a:lstStyle/>
                    <a:p>
                      <a:pPr algn="ctr"/>
                      <a:r>
                        <a:rPr sz="1200" b="0"/>
                        <a:t>0.781</a:t>
                      </a:r>
                    </a:p>
                  </a:txBody>
                  <a:tcPr anchor="ctr"/>
                </a:tc>
                <a:tc>
                  <a:txBody>
                    <a:bodyPr/>
                    <a:lstStyle/>
                    <a:p>
                      <a:pPr algn="ctr"/>
                      <a:r>
                        <a:rPr sz="1200" b="0"/>
                        <a:t>0.760</a:t>
                      </a:r>
                    </a:p>
                  </a:txBody>
                  <a:tcPr anchor="ctr"/>
                </a:tc>
                <a:tc>
                  <a:txBody>
                    <a:bodyPr/>
                    <a:lstStyle/>
                    <a:p>
                      <a:pPr algn="ctr"/>
                      <a:r>
                        <a:rPr sz="1200" b="0"/>
                        <a:t>0.684</a:t>
                      </a:r>
                    </a:p>
                  </a:txBody>
                  <a:tcPr anchor="ctr"/>
                </a:tc>
                <a:tc>
                  <a:txBody>
                    <a:bodyPr/>
                    <a:lstStyle/>
                    <a:p>
                      <a:pPr algn="ctr"/>
                      <a:r>
                        <a:rPr sz="1200" b="0"/>
                        <a:t>0.762</a:t>
                      </a:r>
                    </a:p>
                  </a:txBody>
                  <a:tcPr anchor="ctr"/>
                </a:tc>
                <a:tc>
                  <a:txBody>
                    <a:bodyPr/>
                    <a:lstStyle/>
                    <a:p>
                      <a:pPr algn="ctr"/>
                      <a:r>
                        <a:rPr sz="1200" b="0"/>
                        <a:t>0.736</a:t>
                      </a:r>
                    </a:p>
                  </a:txBody>
                  <a:tcPr anchor="ctr"/>
                </a:tc>
                <a:tc>
                  <a:txBody>
                    <a:bodyPr/>
                    <a:lstStyle/>
                    <a:p>
                      <a:pPr algn="ctr"/>
                      <a:r>
                        <a:rPr sz="1200" b="0"/>
                        <a:t>0.044</a:t>
                      </a:r>
                    </a:p>
                  </a:txBody>
                  <a:tcPr anchor="ctr"/>
                </a:tc>
                <a:extLst>
                  <a:ext uri="{0D108BD9-81ED-4DB2-BD59-A6C34878D82A}">
                    <a16:rowId xmlns:a16="http://schemas.microsoft.com/office/drawing/2014/main" val="10017"/>
                  </a:ext>
                </a:extLst>
              </a:tr>
              <a:tr h="183022">
                <a:tc>
                  <a:txBody>
                    <a:bodyPr/>
                    <a:lstStyle/>
                    <a:p>
                      <a:pPr algn="ctr"/>
                      <a:r>
                        <a:rPr sz="1200" b="0" dirty="0" err="1"/>
                        <a:t>체성분만</a:t>
                      </a:r>
                      <a:endParaRPr sz="1200" b="0" dirty="0"/>
                    </a:p>
                  </a:txBody>
                  <a:tcPr anchor="ctr"/>
                </a:tc>
                <a:tc>
                  <a:txBody>
                    <a:bodyPr/>
                    <a:lstStyle/>
                    <a:p>
                      <a:pPr algn="ctr"/>
                      <a:r>
                        <a:rPr sz="1200" b="0"/>
                        <a:t>0.706</a:t>
                      </a:r>
                    </a:p>
                  </a:txBody>
                  <a:tcPr anchor="ctr"/>
                </a:tc>
                <a:tc>
                  <a:txBody>
                    <a:bodyPr/>
                    <a:lstStyle/>
                    <a:p>
                      <a:pPr algn="ctr"/>
                      <a:r>
                        <a:rPr sz="1200" b="0"/>
                        <a:t>0.772</a:t>
                      </a:r>
                    </a:p>
                  </a:txBody>
                  <a:tcPr anchor="ctr"/>
                </a:tc>
                <a:tc>
                  <a:txBody>
                    <a:bodyPr/>
                    <a:lstStyle/>
                    <a:p>
                      <a:pPr algn="ctr"/>
                      <a:r>
                        <a:rPr sz="1200" b="0"/>
                        <a:t>0.756</a:t>
                      </a:r>
                    </a:p>
                  </a:txBody>
                  <a:tcPr anchor="ctr"/>
                </a:tc>
                <a:tc>
                  <a:txBody>
                    <a:bodyPr/>
                    <a:lstStyle/>
                    <a:p>
                      <a:pPr algn="ctr"/>
                      <a:r>
                        <a:rPr sz="1200" b="0"/>
                        <a:t>0.685</a:t>
                      </a:r>
                    </a:p>
                  </a:txBody>
                  <a:tcPr anchor="ctr"/>
                </a:tc>
                <a:tc>
                  <a:txBody>
                    <a:bodyPr/>
                    <a:lstStyle/>
                    <a:p>
                      <a:pPr algn="ctr"/>
                      <a:r>
                        <a:rPr sz="1200" b="0"/>
                        <a:t>0.759</a:t>
                      </a:r>
                    </a:p>
                  </a:txBody>
                  <a:tcPr anchor="ctr"/>
                </a:tc>
                <a:tc>
                  <a:txBody>
                    <a:bodyPr/>
                    <a:lstStyle/>
                    <a:p>
                      <a:pPr algn="ctr"/>
                      <a:r>
                        <a:rPr sz="1200" b="0"/>
                        <a:t>0.736</a:t>
                      </a:r>
                    </a:p>
                  </a:txBody>
                  <a:tcPr anchor="ctr"/>
                </a:tc>
                <a:tc>
                  <a:txBody>
                    <a:bodyPr/>
                    <a:lstStyle/>
                    <a:p>
                      <a:pPr algn="ctr"/>
                      <a:r>
                        <a:rPr sz="1200" b="0" dirty="0"/>
                        <a:t>0.038</a:t>
                      </a:r>
                    </a:p>
                  </a:txBody>
                  <a:tcPr anchor="ctr"/>
                </a:tc>
                <a:extLst>
                  <a:ext uri="{0D108BD9-81ED-4DB2-BD59-A6C34878D82A}">
                    <a16:rowId xmlns:a16="http://schemas.microsoft.com/office/drawing/2014/main" val="10018"/>
                  </a:ext>
                </a:extLst>
              </a:tr>
            </a:tbl>
          </a:graphicData>
        </a:graphic>
      </p:graphicFrame>
    </p:spTree>
    <p:extLst>
      <p:ext uri="{BB962C8B-B14F-4D97-AF65-F5344CB8AC3E}">
        <p14:creationId xmlns:p14="http://schemas.microsoft.com/office/powerpoint/2010/main" val="22141914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7A112-84AC-9FF6-9B6C-E7A2104FA6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C52BB6-F2FC-4B98-DE93-0764D58B5399}"/>
              </a:ext>
            </a:extLst>
          </p:cNvPr>
          <p:cNvSpPr>
            <a:spLocks noGrp="1"/>
          </p:cNvSpPr>
          <p:nvPr>
            <p:ph type="title"/>
          </p:nvPr>
        </p:nvSpPr>
        <p:spPr/>
        <p:txBody>
          <a:bodyPr>
            <a:normAutofit/>
          </a:bodyPr>
          <a:lstStyle/>
          <a:p>
            <a:r>
              <a:rPr lang="en-US" altLang="ko-KR" dirty="0"/>
              <a:t>Table S4. Fold별 AUC (전체 확장모델, CKD)</a:t>
            </a:r>
            <a:endParaRPr dirty="0"/>
          </a:p>
        </p:txBody>
      </p:sp>
      <p:sp>
        <p:nvSpPr>
          <p:cNvPr id="4" name="슬라이드 번호 개체 틀 3">
            <a:extLst>
              <a:ext uri="{FF2B5EF4-FFF2-40B4-BE49-F238E27FC236}">
                <a16:creationId xmlns:a16="http://schemas.microsoft.com/office/drawing/2014/main" id="{6A30DF12-C68A-6F0C-41B2-9F7E2D84CA41}"/>
              </a:ext>
            </a:extLst>
          </p:cNvPr>
          <p:cNvSpPr>
            <a:spLocks noGrp="1"/>
          </p:cNvSpPr>
          <p:nvPr>
            <p:ph type="sldNum" sz="quarter" idx="12"/>
          </p:nvPr>
        </p:nvSpPr>
        <p:spPr/>
        <p:txBody>
          <a:bodyPr/>
          <a:lstStyle/>
          <a:p>
            <a:fld id="{9F4AF89A-28FA-47FA-B28F-9A9C6913CB7A}" type="slidenum">
              <a:rPr lang="ko-KR" altLang="en-US" smtClean="0"/>
              <a:pPr/>
              <a:t>20</a:t>
            </a:fld>
            <a:endParaRPr lang="ko-KR" altLang="en-US" dirty="0"/>
          </a:p>
        </p:txBody>
      </p:sp>
      <p:graphicFrame>
        <p:nvGraphicFramePr>
          <p:cNvPr id="6" name="Table 2">
            <a:extLst>
              <a:ext uri="{FF2B5EF4-FFF2-40B4-BE49-F238E27FC236}">
                <a16:creationId xmlns:a16="http://schemas.microsoft.com/office/drawing/2014/main" id="{0A2B0E14-5AB4-0663-2CA2-B715AAE1CD07}"/>
              </a:ext>
            </a:extLst>
          </p:cNvPr>
          <p:cNvGraphicFramePr>
            <a:graphicFrameLocks noGrp="1"/>
          </p:cNvGraphicFramePr>
          <p:nvPr>
            <p:extLst>
              <p:ext uri="{D42A27DB-BD31-4B8C-83A1-F6EECF244321}">
                <p14:modId xmlns:p14="http://schemas.microsoft.com/office/powerpoint/2010/main" val="3042860530"/>
              </p:ext>
            </p:extLst>
          </p:nvPr>
        </p:nvGraphicFramePr>
        <p:xfrm>
          <a:off x="956659" y="2057400"/>
          <a:ext cx="10278682" cy="2743200"/>
        </p:xfrm>
        <a:graphic>
          <a:graphicData uri="http://schemas.openxmlformats.org/drawingml/2006/table">
            <a:tbl>
              <a:tblPr firstRow="1" bandRow="1">
                <a:tableStyleId>{C083E6E3-FA7D-4D7B-A595-EF9225AFEA82}</a:tableStyleId>
              </a:tblPr>
              <a:tblGrid>
                <a:gridCol w="1587818">
                  <a:extLst>
                    <a:ext uri="{9D8B030D-6E8A-4147-A177-3AD203B41FA5}">
                      <a16:colId xmlns:a16="http://schemas.microsoft.com/office/drawing/2014/main" val="20001"/>
                    </a:ext>
                  </a:extLst>
                </a:gridCol>
                <a:gridCol w="1241552">
                  <a:extLst>
                    <a:ext uri="{9D8B030D-6E8A-4147-A177-3AD203B41FA5}">
                      <a16:colId xmlns:a16="http://schemas.microsoft.com/office/drawing/2014/main" val="20002"/>
                    </a:ext>
                  </a:extLst>
                </a:gridCol>
                <a:gridCol w="1241552">
                  <a:extLst>
                    <a:ext uri="{9D8B030D-6E8A-4147-A177-3AD203B41FA5}">
                      <a16:colId xmlns:a16="http://schemas.microsoft.com/office/drawing/2014/main" val="20003"/>
                    </a:ext>
                  </a:extLst>
                </a:gridCol>
                <a:gridCol w="1241552">
                  <a:extLst>
                    <a:ext uri="{9D8B030D-6E8A-4147-A177-3AD203B41FA5}">
                      <a16:colId xmlns:a16="http://schemas.microsoft.com/office/drawing/2014/main" val="20004"/>
                    </a:ext>
                  </a:extLst>
                </a:gridCol>
                <a:gridCol w="1241552">
                  <a:extLst>
                    <a:ext uri="{9D8B030D-6E8A-4147-A177-3AD203B41FA5}">
                      <a16:colId xmlns:a16="http://schemas.microsoft.com/office/drawing/2014/main" val="20005"/>
                    </a:ext>
                  </a:extLst>
                </a:gridCol>
                <a:gridCol w="1241552">
                  <a:extLst>
                    <a:ext uri="{9D8B030D-6E8A-4147-A177-3AD203B41FA5}">
                      <a16:colId xmlns:a16="http://schemas.microsoft.com/office/drawing/2014/main" val="20006"/>
                    </a:ext>
                  </a:extLst>
                </a:gridCol>
                <a:gridCol w="1241552">
                  <a:extLst>
                    <a:ext uri="{9D8B030D-6E8A-4147-A177-3AD203B41FA5}">
                      <a16:colId xmlns:a16="http://schemas.microsoft.com/office/drawing/2014/main" val="20007"/>
                    </a:ext>
                  </a:extLst>
                </a:gridCol>
                <a:gridCol w="1241552">
                  <a:extLst>
                    <a:ext uri="{9D8B030D-6E8A-4147-A177-3AD203B41FA5}">
                      <a16:colId xmlns:a16="http://schemas.microsoft.com/office/drawing/2014/main" val="20008"/>
                    </a:ext>
                  </a:extLst>
                </a:gridCol>
              </a:tblGrid>
              <a:tr h="183022">
                <a:tc>
                  <a:txBody>
                    <a:bodyPr/>
                    <a:lstStyle/>
                    <a:p>
                      <a:pPr algn="ctr"/>
                      <a:r>
                        <a:rPr sz="1200" b="1" dirty="0"/>
                        <a:t>Model</a:t>
                      </a:r>
                    </a:p>
                  </a:txBody>
                  <a:tcPr anchor="ctr"/>
                </a:tc>
                <a:tc>
                  <a:txBody>
                    <a:bodyPr/>
                    <a:lstStyle/>
                    <a:p>
                      <a:pPr algn="ctr"/>
                      <a:r>
                        <a:rPr sz="1200" b="1"/>
                        <a:t>Fold1</a:t>
                      </a:r>
                    </a:p>
                  </a:txBody>
                  <a:tcPr anchor="ctr"/>
                </a:tc>
                <a:tc>
                  <a:txBody>
                    <a:bodyPr/>
                    <a:lstStyle/>
                    <a:p>
                      <a:pPr algn="ctr"/>
                      <a:r>
                        <a:rPr sz="1200" b="1" dirty="0"/>
                        <a:t>Fold2</a:t>
                      </a:r>
                    </a:p>
                  </a:txBody>
                  <a:tcPr anchor="ctr"/>
                </a:tc>
                <a:tc>
                  <a:txBody>
                    <a:bodyPr/>
                    <a:lstStyle/>
                    <a:p>
                      <a:pPr algn="ctr"/>
                      <a:r>
                        <a:rPr sz="1200" b="1"/>
                        <a:t>Fold3</a:t>
                      </a:r>
                    </a:p>
                  </a:txBody>
                  <a:tcPr anchor="ctr"/>
                </a:tc>
                <a:tc>
                  <a:txBody>
                    <a:bodyPr/>
                    <a:lstStyle/>
                    <a:p>
                      <a:pPr algn="ctr"/>
                      <a:r>
                        <a:rPr sz="1200" b="1"/>
                        <a:t>Fold4</a:t>
                      </a:r>
                    </a:p>
                  </a:txBody>
                  <a:tcPr anchor="ctr"/>
                </a:tc>
                <a:tc>
                  <a:txBody>
                    <a:bodyPr/>
                    <a:lstStyle/>
                    <a:p>
                      <a:pPr algn="ctr"/>
                      <a:r>
                        <a:rPr sz="1200" b="1"/>
                        <a:t>Fold5</a:t>
                      </a:r>
                    </a:p>
                  </a:txBody>
                  <a:tcPr anchor="ctr"/>
                </a:tc>
                <a:tc>
                  <a:txBody>
                    <a:bodyPr/>
                    <a:lstStyle/>
                    <a:p>
                      <a:pPr algn="ctr"/>
                      <a:r>
                        <a:rPr sz="1200" b="1"/>
                        <a:t>Mean</a:t>
                      </a:r>
                    </a:p>
                  </a:txBody>
                  <a:tcPr anchor="ctr"/>
                </a:tc>
                <a:tc>
                  <a:txBody>
                    <a:bodyPr/>
                    <a:lstStyle/>
                    <a:p>
                      <a:pPr algn="ctr"/>
                      <a:r>
                        <a:rPr sz="1200" b="1"/>
                        <a:t>SD</a:t>
                      </a:r>
                    </a:p>
                  </a:txBody>
                  <a:tcPr anchor="ctr"/>
                </a:tc>
                <a:extLst>
                  <a:ext uri="{0D108BD9-81ED-4DB2-BD59-A6C34878D82A}">
                    <a16:rowId xmlns:a16="http://schemas.microsoft.com/office/drawing/2014/main" val="10000"/>
                  </a:ext>
                </a:extLst>
              </a:tr>
              <a:tr h="183022">
                <a:tc>
                  <a:txBody>
                    <a:bodyPr/>
                    <a:lstStyle/>
                    <a:p>
                      <a:pPr algn="ctr"/>
                      <a:r>
                        <a:rPr sz="1200" b="0"/>
                        <a:t>Baseline</a:t>
                      </a:r>
                    </a:p>
                  </a:txBody>
                  <a:tcPr anchor="ctr"/>
                </a:tc>
                <a:tc>
                  <a:txBody>
                    <a:bodyPr/>
                    <a:lstStyle/>
                    <a:p>
                      <a:pPr algn="ctr"/>
                      <a:r>
                        <a:rPr sz="1200" b="0"/>
                        <a:t>0.754</a:t>
                      </a:r>
                    </a:p>
                  </a:txBody>
                  <a:tcPr anchor="ctr"/>
                </a:tc>
                <a:tc>
                  <a:txBody>
                    <a:bodyPr/>
                    <a:lstStyle/>
                    <a:p>
                      <a:pPr algn="ctr"/>
                      <a:r>
                        <a:rPr sz="1200" b="0" dirty="0"/>
                        <a:t>0.770</a:t>
                      </a:r>
                    </a:p>
                  </a:txBody>
                  <a:tcPr anchor="ctr"/>
                </a:tc>
                <a:tc>
                  <a:txBody>
                    <a:bodyPr/>
                    <a:lstStyle/>
                    <a:p>
                      <a:pPr algn="ctr"/>
                      <a:r>
                        <a:rPr sz="1200" b="0" dirty="0"/>
                        <a:t>0.813</a:t>
                      </a:r>
                    </a:p>
                  </a:txBody>
                  <a:tcPr anchor="ctr"/>
                </a:tc>
                <a:tc>
                  <a:txBody>
                    <a:bodyPr/>
                    <a:lstStyle/>
                    <a:p>
                      <a:pPr algn="ctr"/>
                      <a:r>
                        <a:rPr sz="1200" b="0" dirty="0"/>
                        <a:t>0.799</a:t>
                      </a:r>
                    </a:p>
                  </a:txBody>
                  <a:tcPr anchor="ctr"/>
                </a:tc>
                <a:tc>
                  <a:txBody>
                    <a:bodyPr/>
                    <a:lstStyle/>
                    <a:p>
                      <a:pPr algn="ctr"/>
                      <a:r>
                        <a:rPr sz="1200" b="0" dirty="0"/>
                        <a:t>0.716</a:t>
                      </a:r>
                    </a:p>
                  </a:txBody>
                  <a:tcPr anchor="ctr"/>
                </a:tc>
                <a:tc>
                  <a:txBody>
                    <a:bodyPr/>
                    <a:lstStyle/>
                    <a:p>
                      <a:pPr algn="ctr"/>
                      <a:r>
                        <a:rPr sz="1200" b="0" dirty="0"/>
                        <a:t>0.770</a:t>
                      </a:r>
                    </a:p>
                  </a:txBody>
                  <a:tcPr anchor="ctr"/>
                </a:tc>
                <a:tc>
                  <a:txBody>
                    <a:bodyPr/>
                    <a:lstStyle/>
                    <a:p>
                      <a:pPr algn="ctr"/>
                      <a:r>
                        <a:rPr sz="1200" b="0" dirty="0"/>
                        <a:t>0.038</a:t>
                      </a:r>
                    </a:p>
                  </a:txBody>
                  <a:tcPr anchor="ctr"/>
                </a:tc>
                <a:extLst>
                  <a:ext uri="{0D108BD9-81ED-4DB2-BD59-A6C34878D82A}">
                    <a16:rowId xmlns:a16="http://schemas.microsoft.com/office/drawing/2014/main" val="10019"/>
                  </a:ext>
                </a:extLst>
              </a:tr>
              <a:tr h="183022">
                <a:tc>
                  <a:txBody>
                    <a:bodyPr/>
                    <a:lstStyle/>
                    <a:p>
                      <a:pPr algn="ctr"/>
                      <a:r>
                        <a:rPr sz="1200" b="0"/>
                        <a:t>+AEC (FPCA+Ratio)</a:t>
                      </a:r>
                    </a:p>
                  </a:txBody>
                  <a:tcPr anchor="ctr"/>
                </a:tc>
                <a:tc>
                  <a:txBody>
                    <a:bodyPr/>
                    <a:lstStyle/>
                    <a:p>
                      <a:pPr algn="ctr"/>
                      <a:r>
                        <a:rPr sz="1200" b="0"/>
                        <a:t>0.772</a:t>
                      </a:r>
                    </a:p>
                  </a:txBody>
                  <a:tcPr anchor="ctr"/>
                </a:tc>
                <a:tc>
                  <a:txBody>
                    <a:bodyPr/>
                    <a:lstStyle/>
                    <a:p>
                      <a:pPr algn="ctr"/>
                      <a:r>
                        <a:rPr sz="1200" b="0"/>
                        <a:t>0.756</a:t>
                      </a:r>
                    </a:p>
                  </a:txBody>
                  <a:tcPr anchor="ctr"/>
                </a:tc>
                <a:tc>
                  <a:txBody>
                    <a:bodyPr/>
                    <a:lstStyle/>
                    <a:p>
                      <a:pPr algn="ctr"/>
                      <a:r>
                        <a:rPr sz="1200" b="0"/>
                        <a:t>0.828</a:t>
                      </a:r>
                    </a:p>
                  </a:txBody>
                  <a:tcPr anchor="ctr"/>
                </a:tc>
                <a:tc>
                  <a:txBody>
                    <a:bodyPr/>
                    <a:lstStyle/>
                    <a:p>
                      <a:pPr algn="ctr"/>
                      <a:r>
                        <a:rPr sz="1200" b="0"/>
                        <a:t>0.779</a:t>
                      </a:r>
                    </a:p>
                  </a:txBody>
                  <a:tcPr anchor="ctr"/>
                </a:tc>
                <a:tc>
                  <a:txBody>
                    <a:bodyPr/>
                    <a:lstStyle/>
                    <a:p>
                      <a:pPr algn="ctr"/>
                      <a:r>
                        <a:rPr sz="1200" b="0"/>
                        <a:t>0.735</a:t>
                      </a:r>
                    </a:p>
                  </a:txBody>
                  <a:tcPr anchor="ctr"/>
                </a:tc>
                <a:tc>
                  <a:txBody>
                    <a:bodyPr/>
                    <a:lstStyle/>
                    <a:p>
                      <a:pPr algn="ctr"/>
                      <a:r>
                        <a:rPr sz="1200" b="0"/>
                        <a:t>0.774</a:t>
                      </a:r>
                    </a:p>
                  </a:txBody>
                  <a:tcPr anchor="ctr"/>
                </a:tc>
                <a:tc>
                  <a:txBody>
                    <a:bodyPr/>
                    <a:lstStyle/>
                    <a:p>
                      <a:pPr algn="ctr"/>
                      <a:r>
                        <a:rPr sz="1200" b="0"/>
                        <a:t>0.035</a:t>
                      </a:r>
                    </a:p>
                  </a:txBody>
                  <a:tcPr anchor="ctr"/>
                </a:tc>
                <a:extLst>
                  <a:ext uri="{0D108BD9-81ED-4DB2-BD59-A6C34878D82A}">
                    <a16:rowId xmlns:a16="http://schemas.microsoft.com/office/drawing/2014/main" val="10020"/>
                  </a:ext>
                </a:extLst>
              </a:tr>
              <a:tr h="183022">
                <a:tc>
                  <a:txBody>
                    <a:bodyPr/>
                    <a:lstStyle/>
                    <a:p>
                      <a:pPr algn="ctr"/>
                      <a:r>
                        <a:rPr sz="1200" b="0"/>
                        <a:t>+AEC (FPCA)</a:t>
                      </a:r>
                    </a:p>
                  </a:txBody>
                  <a:tcPr anchor="ctr"/>
                </a:tc>
                <a:tc>
                  <a:txBody>
                    <a:bodyPr/>
                    <a:lstStyle/>
                    <a:p>
                      <a:pPr algn="ctr"/>
                      <a:r>
                        <a:rPr sz="1200" b="0"/>
                        <a:t>0.766</a:t>
                      </a:r>
                    </a:p>
                  </a:txBody>
                  <a:tcPr anchor="ctr"/>
                </a:tc>
                <a:tc>
                  <a:txBody>
                    <a:bodyPr/>
                    <a:lstStyle/>
                    <a:p>
                      <a:pPr algn="ctr"/>
                      <a:r>
                        <a:rPr sz="1200" b="0"/>
                        <a:t>0.696</a:t>
                      </a:r>
                    </a:p>
                  </a:txBody>
                  <a:tcPr anchor="ctr"/>
                </a:tc>
                <a:tc>
                  <a:txBody>
                    <a:bodyPr/>
                    <a:lstStyle/>
                    <a:p>
                      <a:pPr algn="ctr"/>
                      <a:r>
                        <a:rPr sz="1200" b="0"/>
                        <a:t>0.809</a:t>
                      </a:r>
                    </a:p>
                  </a:txBody>
                  <a:tcPr anchor="ctr"/>
                </a:tc>
                <a:tc>
                  <a:txBody>
                    <a:bodyPr/>
                    <a:lstStyle/>
                    <a:p>
                      <a:pPr algn="ctr"/>
                      <a:r>
                        <a:rPr sz="1200" b="0"/>
                        <a:t>0.755</a:t>
                      </a:r>
                    </a:p>
                  </a:txBody>
                  <a:tcPr anchor="ctr"/>
                </a:tc>
                <a:tc>
                  <a:txBody>
                    <a:bodyPr/>
                    <a:lstStyle/>
                    <a:p>
                      <a:pPr algn="ctr"/>
                      <a:r>
                        <a:rPr sz="1200" b="0"/>
                        <a:t>0.745</a:t>
                      </a:r>
                    </a:p>
                  </a:txBody>
                  <a:tcPr anchor="ctr"/>
                </a:tc>
                <a:tc>
                  <a:txBody>
                    <a:bodyPr/>
                    <a:lstStyle/>
                    <a:p>
                      <a:pPr algn="ctr"/>
                      <a:r>
                        <a:rPr sz="1200" b="0"/>
                        <a:t>0.754</a:t>
                      </a:r>
                    </a:p>
                  </a:txBody>
                  <a:tcPr anchor="ctr"/>
                </a:tc>
                <a:tc>
                  <a:txBody>
                    <a:bodyPr/>
                    <a:lstStyle/>
                    <a:p>
                      <a:pPr algn="ctr"/>
                      <a:r>
                        <a:rPr sz="1200" b="0"/>
                        <a:t>0.041</a:t>
                      </a:r>
                    </a:p>
                  </a:txBody>
                  <a:tcPr anchor="ctr"/>
                </a:tc>
                <a:extLst>
                  <a:ext uri="{0D108BD9-81ED-4DB2-BD59-A6C34878D82A}">
                    <a16:rowId xmlns:a16="http://schemas.microsoft.com/office/drawing/2014/main" val="10021"/>
                  </a:ext>
                </a:extLst>
              </a:tr>
              <a:tr h="183022">
                <a:tc>
                  <a:txBody>
                    <a:bodyPr/>
                    <a:lstStyle/>
                    <a:p>
                      <a:pPr algn="ctr"/>
                      <a:r>
                        <a:rPr sz="1200" b="0"/>
                        <a:t>+AEC (Ratio)</a:t>
                      </a:r>
                    </a:p>
                  </a:txBody>
                  <a:tcPr anchor="ctr"/>
                </a:tc>
                <a:tc>
                  <a:txBody>
                    <a:bodyPr/>
                    <a:lstStyle/>
                    <a:p>
                      <a:pPr algn="ctr"/>
                      <a:r>
                        <a:rPr sz="1200" b="0"/>
                        <a:t>0.762</a:t>
                      </a:r>
                    </a:p>
                  </a:txBody>
                  <a:tcPr anchor="ctr"/>
                </a:tc>
                <a:tc>
                  <a:txBody>
                    <a:bodyPr/>
                    <a:lstStyle/>
                    <a:p>
                      <a:pPr algn="ctr"/>
                      <a:r>
                        <a:rPr sz="1200" b="0"/>
                        <a:t>0.771</a:t>
                      </a:r>
                    </a:p>
                  </a:txBody>
                  <a:tcPr anchor="ctr"/>
                </a:tc>
                <a:tc>
                  <a:txBody>
                    <a:bodyPr/>
                    <a:lstStyle/>
                    <a:p>
                      <a:pPr algn="ctr"/>
                      <a:r>
                        <a:rPr sz="1200" b="0"/>
                        <a:t>0.824</a:t>
                      </a:r>
                    </a:p>
                  </a:txBody>
                  <a:tcPr anchor="ctr"/>
                </a:tc>
                <a:tc>
                  <a:txBody>
                    <a:bodyPr/>
                    <a:lstStyle/>
                    <a:p>
                      <a:pPr algn="ctr"/>
                      <a:r>
                        <a:rPr sz="1200" b="0"/>
                        <a:t>0.793</a:t>
                      </a:r>
                    </a:p>
                  </a:txBody>
                  <a:tcPr anchor="ctr"/>
                </a:tc>
                <a:tc>
                  <a:txBody>
                    <a:bodyPr/>
                    <a:lstStyle/>
                    <a:p>
                      <a:pPr algn="ctr"/>
                      <a:r>
                        <a:rPr sz="1200" b="0"/>
                        <a:t>0.730</a:t>
                      </a:r>
                    </a:p>
                  </a:txBody>
                  <a:tcPr anchor="ctr"/>
                </a:tc>
                <a:tc>
                  <a:txBody>
                    <a:bodyPr/>
                    <a:lstStyle/>
                    <a:p>
                      <a:pPr algn="ctr"/>
                      <a:r>
                        <a:rPr sz="1200" b="0"/>
                        <a:t>0.776</a:t>
                      </a:r>
                    </a:p>
                  </a:txBody>
                  <a:tcPr anchor="ctr"/>
                </a:tc>
                <a:tc>
                  <a:txBody>
                    <a:bodyPr/>
                    <a:lstStyle/>
                    <a:p>
                      <a:pPr algn="ctr"/>
                      <a:r>
                        <a:rPr sz="1200" b="0"/>
                        <a:t>0.035</a:t>
                      </a:r>
                    </a:p>
                  </a:txBody>
                  <a:tcPr anchor="ctr"/>
                </a:tc>
                <a:extLst>
                  <a:ext uri="{0D108BD9-81ED-4DB2-BD59-A6C34878D82A}">
                    <a16:rowId xmlns:a16="http://schemas.microsoft.com/office/drawing/2014/main" val="10022"/>
                  </a:ext>
                </a:extLst>
              </a:tr>
              <a:tr h="183022">
                <a:tc>
                  <a:txBody>
                    <a:bodyPr/>
                    <a:lstStyle/>
                    <a:p>
                      <a:pPr algn="ctr"/>
                      <a:r>
                        <a:rPr sz="1200" b="0"/>
                        <a:t>+AEC +VAT</a:t>
                      </a:r>
                    </a:p>
                  </a:txBody>
                  <a:tcPr anchor="ctr"/>
                </a:tc>
                <a:tc>
                  <a:txBody>
                    <a:bodyPr/>
                    <a:lstStyle/>
                    <a:p>
                      <a:pPr algn="ctr"/>
                      <a:r>
                        <a:rPr sz="1200" b="0"/>
                        <a:t>0.763</a:t>
                      </a:r>
                    </a:p>
                  </a:txBody>
                  <a:tcPr anchor="ctr"/>
                </a:tc>
                <a:tc>
                  <a:txBody>
                    <a:bodyPr/>
                    <a:lstStyle/>
                    <a:p>
                      <a:pPr algn="ctr"/>
                      <a:r>
                        <a:rPr sz="1200" b="0"/>
                        <a:t>0.749</a:t>
                      </a:r>
                    </a:p>
                  </a:txBody>
                  <a:tcPr anchor="ctr"/>
                </a:tc>
                <a:tc>
                  <a:txBody>
                    <a:bodyPr/>
                    <a:lstStyle/>
                    <a:p>
                      <a:pPr algn="ctr"/>
                      <a:r>
                        <a:rPr sz="1200" b="0"/>
                        <a:t>0.835</a:t>
                      </a:r>
                    </a:p>
                  </a:txBody>
                  <a:tcPr anchor="ctr"/>
                </a:tc>
                <a:tc>
                  <a:txBody>
                    <a:bodyPr/>
                    <a:lstStyle/>
                    <a:p>
                      <a:pPr algn="ctr"/>
                      <a:r>
                        <a:rPr sz="1200" b="0"/>
                        <a:t>0.779</a:t>
                      </a:r>
                    </a:p>
                  </a:txBody>
                  <a:tcPr anchor="ctr"/>
                </a:tc>
                <a:tc>
                  <a:txBody>
                    <a:bodyPr/>
                    <a:lstStyle/>
                    <a:p>
                      <a:pPr algn="ctr"/>
                      <a:r>
                        <a:rPr sz="1200" b="0"/>
                        <a:t>0.731</a:t>
                      </a:r>
                    </a:p>
                  </a:txBody>
                  <a:tcPr anchor="ctr"/>
                </a:tc>
                <a:tc>
                  <a:txBody>
                    <a:bodyPr/>
                    <a:lstStyle/>
                    <a:p>
                      <a:pPr algn="ctr"/>
                      <a:r>
                        <a:rPr sz="1200" b="0"/>
                        <a:t>0.772</a:t>
                      </a:r>
                    </a:p>
                  </a:txBody>
                  <a:tcPr anchor="ctr"/>
                </a:tc>
                <a:tc>
                  <a:txBody>
                    <a:bodyPr/>
                    <a:lstStyle/>
                    <a:p>
                      <a:pPr algn="ctr"/>
                      <a:r>
                        <a:rPr sz="1200" b="0"/>
                        <a:t>0.039</a:t>
                      </a:r>
                    </a:p>
                  </a:txBody>
                  <a:tcPr anchor="ctr"/>
                </a:tc>
                <a:extLst>
                  <a:ext uri="{0D108BD9-81ED-4DB2-BD59-A6C34878D82A}">
                    <a16:rowId xmlns:a16="http://schemas.microsoft.com/office/drawing/2014/main" val="10023"/>
                  </a:ext>
                </a:extLst>
              </a:tr>
              <a:tr h="183022">
                <a:tc>
                  <a:txBody>
                    <a:bodyPr/>
                    <a:lstStyle/>
                    <a:p>
                      <a:pPr algn="ctr"/>
                      <a:r>
                        <a:rPr sz="1200" b="0"/>
                        <a:t>+AEC +LAMA</a:t>
                      </a:r>
                    </a:p>
                  </a:txBody>
                  <a:tcPr anchor="ctr"/>
                </a:tc>
                <a:tc>
                  <a:txBody>
                    <a:bodyPr/>
                    <a:lstStyle/>
                    <a:p>
                      <a:pPr algn="ctr"/>
                      <a:r>
                        <a:rPr sz="1200" b="0"/>
                        <a:t>0.775</a:t>
                      </a:r>
                    </a:p>
                  </a:txBody>
                  <a:tcPr anchor="ctr"/>
                </a:tc>
                <a:tc>
                  <a:txBody>
                    <a:bodyPr/>
                    <a:lstStyle/>
                    <a:p>
                      <a:pPr algn="ctr"/>
                      <a:r>
                        <a:rPr sz="1200" b="0"/>
                        <a:t>0.799</a:t>
                      </a:r>
                    </a:p>
                  </a:txBody>
                  <a:tcPr anchor="ctr"/>
                </a:tc>
                <a:tc>
                  <a:txBody>
                    <a:bodyPr/>
                    <a:lstStyle/>
                    <a:p>
                      <a:pPr algn="ctr"/>
                      <a:r>
                        <a:rPr sz="1200" b="0"/>
                        <a:t>0.847</a:t>
                      </a:r>
                    </a:p>
                  </a:txBody>
                  <a:tcPr anchor="ctr"/>
                </a:tc>
                <a:tc>
                  <a:txBody>
                    <a:bodyPr/>
                    <a:lstStyle/>
                    <a:p>
                      <a:pPr algn="ctr"/>
                      <a:r>
                        <a:rPr sz="1200" b="0"/>
                        <a:t>0.778</a:t>
                      </a:r>
                    </a:p>
                  </a:txBody>
                  <a:tcPr anchor="ctr"/>
                </a:tc>
                <a:tc>
                  <a:txBody>
                    <a:bodyPr/>
                    <a:lstStyle/>
                    <a:p>
                      <a:pPr algn="ctr"/>
                      <a:r>
                        <a:rPr sz="1200" b="0"/>
                        <a:t>0.767</a:t>
                      </a:r>
                    </a:p>
                  </a:txBody>
                  <a:tcPr anchor="ctr"/>
                </a:tc>
                <a:tc>
                  <a:txBody>
                    <a:bodyPr/>
                    <a:lstStyle/>
                    <a:p>
                      <a:pPr algn="ctr"/>
                      <a:r>
                        <a:rPr sz="1200" b="0"/>
                        <a:t>0.793</a:t>
                      </a:r>
                    </a:p>
                  </a:txBody>
                  <a:tcPr anchor="ctr"/>
                </a:tc>
                <a:tc>
                  <a:txBody>
                    <a:bodyPr/>
                    <a:lstStyle/>
                    <a:p>
                      <a:pPr algn="ctr"/>
                      <a:r>
                        <a:rPr sz="1200" b="0"/>
                        <a:t>0.032</a:t>
                      </a:r>
                    </a:p>
                  </a:txBody>
                  <a:tcPr anchor="ctr"/>
                </a:tc>
                <a:extLst>
                  <a:ext uri="{0D108BD9-81ED-4DB2-BD59-A6C34878D82A}">
                    <a16:rowId xmlns:a16="http://schemas.microsoft.com/office/drawing/2014/main" val="10024"/>
                  </a:ext>
                </a:extLst>
              </a:tr>
              <a:tr h="183022">
                <a:tc>
                  <a:txBody>
                    <a:bodyPr/>
                    <a:lstStyle/>
                    <a:p>
                      <a:pPr algn="ctr"/>
                      <a:r>
                        <a:rPr sz="1200" b="0"/>
                        <a:t>+AEC +NAMA</a:t>
                      </a:r>
                    </a:p>
                  </a:txBody>
                  <a:tcPr anchor="ctr"/>
                </a:tc>
                <a:tc>
                  <a:txBody>
                    <a:bodyPr/>
                    <a:lstStyle/>
                    <a:p>
                      <a:pPr algn="ctr"/>
                      <a:r>
                        <a:rPr sz="1200" b="0"/>
                        <a:t>0.775</a:t>
                      </a:r>
                    </a:p>
                  </a:txBody>
                  <a:tcPr anchor="ctr"/>
                </a:tc>
                <a:tc>
                  <a:txBody>
                    <a:bodyPr/>
                    <a:lstStyle/>
                    <a:p>
                      <a:pPr algn="ctr"/>
                      <a:r>
                        <a:rPr sz="1200" b="0"/>
                        <a:t>0.785</a:t>
                      </a:r>
                    </a:p>
                  </a:txBody>
                  <a:tcPr anchor="ctr"/>
                </a:tc>
                <a:tc>
                  <a:txBody>
                    <a:bodyPr/>
                    <a:lstStyle/>
                    <a:p>
                      <a:pPr algn="ctr"/>
                      <a:r>
                        <a:rPr sz="1200" b="0"/>
                        <a:t>0.842</a:t>
                      </a:r>
                    </a:p>
                  </a:txBody>
                  <a:tcPr anchor="ctr"/>
                </a:tc>
                <a:tc>
                  <a:txBody>
                    <a:bodyPr/>
                    <a:lstStyle/>
                    <a:p>
                      <a:pPr algn="ctr"/>
                      <a:r>
                        <a:rPr sz="1200" b="0"/>
                        <a:t>0.773</a:t>
                      </a:r>
                    </a:p>
                  </a:txBody>
                  <a:tcPr anchor="ctr"/>
                </a:tc>
                <a:tc>
                  <a:txBody>
                    <a:bodyPr/>
                    <a:lstStyle/>
                    <a:p>
                      <a:pPr algn="ctr"/>
                      <a:r>
                        <a:rPr sz="1200" b="0"/>
                        <a:t>0.739</a:t>
                      </a:r>
                    </a:p>
                  </a:txBody>
                  <a:tcPr anchor="ctr"/>
                </a:tc>
                <a:tc>
                  <a:txBody>
                    <a:bodyPr/>
                    <a:lstStyle/>
                    <a:p>
                      <a:pPr algn="ctr"/>
                      <a:r>
                        <a:rPr sz="1200" b="0"/>
                        <a:t>0.783</a:t>
                      </a:r>
                    </a:p>
                  </a:txBody>
                  <a:tcPr anchor="ctr"/>
                </a:tc>
                <a:tc>
                  <a:txBody>
                    <a:bodyPr/>
                    <a:lstStyle/>
                    <a:p>
                      <a:pPr algn="ctr"/>
                      <a:r>
                        <a:rPr sz="1200" b="0"/>
                        <a:t>0.037</a:t>
                      </a:r>
                    </a:p>
                  </a:txBody>
                  <a:tcPr anchor="ctr"/>
                </a:tc>
                <a:extLst>
                  <a:ext uri="{0D108BD9-81ED-4DB2-BD59-A6C34878D82A}">
                    <a16:rowId xmlns:a16="http://schemas.microsoft.com/office/drawing/2014/main" val="10025"/>
                  </a:ext>
                </a:extLst>
              </a:tr>
              <a:tr h="183022">
                <a:tc>
                  <a:txBody>
                    <a:bodyPr/>
                    <a:lstStyle/>
                    <a:p>
                      <a:pPr algn="ctr"/>
                      <a:r>
                        <a:rPr sz="1200" b="0"/>
                        <a:t>+AEC +체성분</a:t>
                      </a:r>
                    </a:p>
                  </a:txBody>
                  <a:tcPr anchor="ctr"/>
                </a:tc>
                <a:tc>
                  <a:txBody>
                    <a:bodyPr/>
                    <a:lstStyle/>
                    <a:p>
                      <a:pPr algn="ctr"/>
                      <a:r>
                        <a:rPr sz="1200" b="0"/>
                        <a:t>0.782</a:t>
                      </a:r>
                    </a:p>
                  </a:txBody>
                  <a:tcPr anchor="ctr"/>
                </a:tc>
                <a:tc>
                  <a:txBody>
                    <a:bodyPr/>
                    <a:lstStyle/>
                    <a:p>
                      <a:pPr algn="ctr"/>
                      <a:r>
                        <a:rPr sz="1200" b="0"/>
                        <a:t>0.781</a:t>
                      </a:r>
                    </a:p>
                  </a:txBody>
                  <a:tcPr anchor="ctr"/>
                </a:tc>
                <a:tc>
                  <a:txBody>
                    <a:bodyPr/>
                    <a:lstStyle/>
                    <a:p>
                      <a:pPr algn="ctr"/>
                      <a:r>
                        <a:rPr sz="1200" b="0"/>
                        <a:t>0.846</a:t>
                      </a:r>
                    </a:p>
                  </a:txBody>
                  <a:tcPr anchor="ctr"/>
                </a:tc>
                <a:tc>
                  <a:txBody>
                    <a:bodyPr/>
                    <a:lstStyle/>
                    <a:p>
                      <a:pPr algn="ctr"/>
                      <a:r>
                        <a:rPr sz="1200" b="0"/>
                        <a:t>0.749</a:t>
                      </a:r>
                    </a:p>
                  </a:txBody>
                  <a:tcPr anchor="ctr"/>
                </a:tc>
                <a:tc>
                  <a:txBody>
                    <a:bodyPr/>
                    <a:lstStyle/>
                    <a:p>
                      <a:pPr algn="ctr"/>
                      <a:r>
                        <a:rPr sz="1200" b="0"/>
                        <a:t>0.760</a:t>
                      </a:r>
                    </a:p>
                  </a:txBody>
                  <a:tcPr anchor="ctr"/>
                </a:tc>
                <a:tc>
                  <a:txBody>
                    <a:bodyPr/>
                    <a:lstStyle/>
                    <a:p>
                      <a:pPr algn="ctr"/>
                      <a:r>
                        <a:rPr sz="1200" b="0"/>
                        <a:t>0.784</a:t>
                      </a:r>
                    </a:p>
                  </a:txBody>
                  <a:tcPr anchor="ctr"/>
                </a:tc>
                <a:tc>
                  <a:txBody>
                    <a:bodyPr/>
                    <a:lstStyle/>
                    <a:p>
                      <a:pPr algn="ctr"/>
                      <a:r>
                        <a:rPr sz="1200" b="0"/>
                        <a:t>0.038</a:t>
                      </a:r>
                    </a:p>
                  </a:txBody>
                  <a:tcPr anchor="ctr"/>
                </a:tc>
                <a:extLst>
                  <a:ext uri="{0D108BD9-81ED-4DB2-BD59-A6C34878D82A}">
                    <a16:rowId xmlns:a16="http://schemas.microsoft.com/office/drawing/2014/main" val="10026"/>
                  </a:ext>
                </a:extLst>
              </a:tr>
              <a:tr h="183022">
                <a:tc>
                  <a:txBody>
                    <a:bodyPr/>
                    <a:lstStyle/>
                    <a:p>
                      <a:pPr algn="ctr"/>
                      <a:r>
                        <a:rPr sz="1200" b="0" dirty="0" err="1"/>
                        <a:t>체성분만</a:t>
                      </a:r>
                      <a:endParaRPr sz="1200" b="0" dirty="0"/>
                    </a:p>
                  </a:txBody>
                  <a:tcPr anchor="ctr"/>
                </a:tc>
                <a:tc>
                  <a:txBody>
                    <a:bodyPr/>
                    <a:lstStyle/>
                    <a:p>
                      <a:pPr algn="ctr"/>
                      <a:r>
                        <a:rPr sz="1200" b="0"/>
                        <a:t>0.763</a:t>
                      </a:r>
                    </a:p>
                  </a:txBody>
                  <a:tcPr anchor="ctr"/>
                </a:tc>
                <a:tc>
                  <a:txBody>
                    <a:bodyPr/>
                    <a:lstStyle/>
                    <a:p>
                      <a:pPr algn="ctr"/>
                      <a:r>
                        <a:rPr sz="1200" b="0"/>
                        <a:t>0.758</a:t>
                      </a:r>
                    </a:p>
                  </a:txBody>
                  <a:tcPr anchor="ctr"/>
                </a:tc>
                <a:tc>
                  <a:txBody>
                    <a:bodyPr/>
                    <a:lstStyle/>
                    <a:p>
                      <a:pPr algn="ctr"/>
                      <a:r>
                        <a:rPr sz="1200" b="0"/>
                        <a:t>0.856</a:t>
                      </a:r>
                    </a:p>
                  </a:txBody>
                  <a:tcPr anchor="ctr"/>
                </a:tc>
                <a:tc>
                  <a:txBody>
                    <a:bodyPr/>
                    <a:lstStyle/>
                    <a:p>
                      <a:pPr algn="ctr"/>
                      <a:r>
                        <a:rPr sz="1200" b="0"/>
                        <a:t>0.776</a:t>
                      </a:r>
                    </a:p>
                  </a:txBody>
                  <a:tcPr anchor="ctr"/>
                </a:tc>
                <a:tc>
                  <a:txBody>
                    <a:bodyPr/>
                    <a:lstStyle/>
                    <a:p>
                      <a:pPr algn="ctr"/>
                      <a:r>
                        <a:rPr sz="1200" b="0"/>
                        <a:t>0.773</a:t>
                      </a:r>
                    </a:p>
                  </a:txBody>
                  <a:tcPr anchor="ctr"/>
                </a:tc>
                <a:tc>
                  <a:txBody>
                    <a:bodyPr/>
                    <a:lstStyle/>
                    <a:p>
                      <a:pPr algn="ctr"/>
                      <a:r>
                        <a:rPr sz="1200" b="0"/>
                        <a:t>0.785</a:t>
                      </a:r>
                    </a:p>
                  </a:txBody>
                  <a:tcPr anchor="ctr"/>
                </a:tc>
                <a:tc>
                  <a:txBody>
                    <a:bodyPr/>
                    <a:lstStyle/>
                    <a:p>
                      <a:pPr algn="ctr"/>
                      <a:r>
                        <a:rPr sz="1200" b="0" dirty="0"/>
                        <a:t>0.040</a:t>
                      </a:r>
                    </a:p>
                  </a:txBody>
                  <a:tcPr anchor="ctr"/>
                </a:tc>
                <a:extLst>
                  <a:ext uri="{0D108BD9-81ED-4DB2-BD59-A6C34878D82A}">
                    <a16:rowId xmlns:a16="http://schemas.microsoft.com/office/drawing/2014/main" val="10027"/>
                  </a:ext>
                </a:extLst>
              </a:tr>
            </a:tbl>
          </a:graphicData>
        </a:graphic>
      </p:graphicFrame>
    </p:spTree>
    <p:extLst>
      <p:ext uri="{BB962C8B-B14F-4D97-AF65-F5344CB8AC3E}">
        <p14:creationId xmlns:p14="http://schemas.microsoft.com/office/powerpoint/2010/main" val="40348603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Table S5. +AEC FPCA-only Coeffici</a:t>
            </a:r>
            <a:r>
              <a:rPr lang="en-US" dirty="0"/>
              <a:t>e</a:t>
            </a:r>
            <a:r>
              <a:rPr dirty="0"/>
              <a:t>nt</a:t>
            </a:r>
          </a:p>
        </p:txBody>
      </p:sp>
      <p:sp>
        <p:nvSpPr>
          <p:cNvPr id="4" name="슬라이드 번호 개체 틀 3">
            <a:extLst>
              <a:ext uri="{FF2B5EF4-FFF2-40B4-BE49-F238E27FC236}">
                <a16:creationId xmlns:a16="http://schemas.microsoft.com/office/drawing/2014/main" id="{62B6C037-1BE8-AD43-7C28-151B04A0A4D8}"/>
              </a:ext>
            </a:extLst>
          </p:cNvPr>
          <p:cNvSpPr>
            <a:spLocks noGrp="1"/>
          </p:cNvSpPr>
          <p:nvPr>
            <p:ph type="sldNum" sz="quarter" idx="12"/>
          </p:nvPr>
        </p:nvSpPr>
        <p:spPr/>
        <p:txBody>
          <a:bodyPr/>
          <a:lstStyle/>
          <a:p>
            <a:fld id="{9F4AF89A-28FA-47FA-B28F-9A9C6913CB7A}" type="slidenum">
              <a:rPr lang="ko-KR" altLang="en-US" smtClean="0"/>
              <a:pPr/>
              <a:t>21</a:t>
            </a:fld>
            <a:endParaRPr lang="ko-KR" altLang="en-US" dirty="0"/>
          </a:p>
        </p:txBody>
      </p:sp>
      <p:graphicFrame>
        <p:nvGraphicFramePr>
          <p:cNvPr id="5" name="Table 4"/>
          <p:cNvGraphicFramePr>
            <a:graphicFrameLocks noGrp="1"/>
          </p:cNvGraphicFramePr>
          <p:nvPr/>
        </p:nvGraphicFramePr>
        <p:xfrm>
          <a:off x="512064" y="978408"/>
          <a:ext cx="10030378" cy="5124630"/>
        </p:xfrm>
        <a:graphic>
          <a:graphicData uri="http://schemas.openxmlformats.org/drawingml/2006/table">
            <a:tbl>
              <a:tblPr firstRow="1" bandRow="1">
                <a:tableStyleId>{C083E6E3-FA7D-4D7B-A595-EF9225AFEA82}</a:tableStyleId>
              </a:tblPr>
              <a:tblGrid>
                <a:gridCol w="1900000">
                  <a:extLst>
                    <a:ext uri="{9D8B030D-6E8A-4147-A177-3AD203B41FA5}">
                      <a16:colId xmlns:a16="http://schemas.microsoft.com/office/drawing/2014/main" val="20000"/>
                    </a:ext>
                  </a:extLst>
                </a:gridCol>
                <a:gridCol w="1900000">
                  <a:extLst>
                    <a:ext uri="{9D8B030D-6E8A-4147-A177-3AD203B41FA5}">
                      <a16:colId xmlns:a16="http://schemas.microsoft.com/office/drawing/2014/main" val="20001"/>
                    </a:ext>
                  </a:extLst>
                </a:gridCol>
                <a:gridCol w="1700000">
                  <a:extLst>
                    <a:ext uri="{9D8B030D-6E8A-4147-A177-3AD203B41FA5}">
                      <a16:colId xmlns:a16="http://schemas.microsoft.com/office/drawing/2014/main" val="20002"/>
                    </a:ext>
                  </a:extLst>
                </a:gridCol>
                <a:gridCol w="3030378"/>
                <a:gridCol w="1500000">
                  <a:extLst>
                    <a:ext uri="{9D8B030D-6E8A-4147-A177-3AD203B41FA5}">
                      <a16:colId xmlns:a16="http://schemas.microsoft.com/office/drawing/2014/main" val="20004"/>
                    </a:ext>
                  </a:extLst>
                </a:gridCol>
              </a:tblGrid>
              <a:tr h="512463">
                <a:tc>
                  <a:txBody>
                    <a:bodyPr/>
                    <a:lstStyle/>
                    <a:p>
                      <a:pPr algn="ctr"/>
                      <a:r>
                        <a:rPr sz="1200" b="1"/>
                        <a:t>Disease</a:t>
                      </a:r>
                    </a:p>
                  </a:txBody>
                  <a:tcPr anchor="ctr"/>
                </a:tc>
                <a:tc>
                  <a:txBody>
                    <a:bodyPr/>
                    <a:lstStyle/>
                    <a:p>
                      <a:pPr algn="ctr"/>
                      <a:r>
                        <a:rPr sz="1200" b="1"/>
                        <a:t>Term</a:t>
                      </a:r>
                    </a:p>
                  </a:txBody>
                  <a:tcPr anchor="ctr"/>
                </a:tc>
                <a:tc>
                  <a:txBody>
                    <a:bodyPr/>
                    <a:lstStyle/>
                    <a:p>
                      <a:pPr algn="ctr"/>
                      <a:r>
                        <a:rPr sz="1200" b="1"/>
                        <a:t>Coefficient</a:t>
                      </a:r>
                    </a:p>
                  </a:txBody>
                  <a:tcPr anchor="ctr"/>
                </a:tc>
                <a:tc>
                  <a:txBody>
                    <a:bodyPr/>
                    <a:lstStyle/>
                    <a:p>
                      <a:pPr algn="ctr"/>
                      <a:r>
                        <a:rPr sz="1200" b="1"/>
                        <a:t>OR (95% CI)</a:t>
                      </a:r>
                    </a:p>
                  </a:txBody>
                  <a:tcPr anchor="ctr"/>
                </a:tc>
                <a:tc>
                  <a:txBody>
                    <a:bodyPr/>
                    <a:lstStyle/>
                    <a:p>
                      <a:pPr algn="ctr"/>
                      <a:r>
                        <a:rPr sz="1200" b="1"/>
                        <a:t>p-value</a:t>
                      </a:r>
                    </a:p>
                  </a:txBody>
                  <a:tcPr anchor="ctr"/>
                </a:tc>
                <a:extLst>
                  <a:ext uri="{0D108BD9-81ED-4DB2-BD59-A6C34878D82A}">
                    <a16:rowId xmlns:a16="http://schemas.microsoft.com/office/drawing/2014/main" val="10000"/>
                  </a:ext>
                </a:extLst>
              </a:tr>
              <a:tr h="512463">
                <a:tc rowSpan="3">
                  <a:txBody>
                    <a:bodyPr/>
                    <a:lstStyle/>
                    <a:p>
                      <a:pPr algn="ctr"/>
                      <a:r>
                        <a:rPr sz="1200" b="0"/>
                        <a:t>고혈압(HTN)</a:t>
                      </a:r>
                    </a:p>
                  </a:txBody>
                  <a:tcPr anchor="ctr"/>
                </a:tc>
                <a:tc>
                  <a:txBody>
                    <a:bodyPr/>
                    <a:lstStyle/>
                    <a:p>
                      <a:pPr algn="ctr"/>
                      <a:r>
                        <a:rPr sz="1200" b="0"/>
                        <a:t>aec_fpca_pc1</a:t>
                      </a:r>
                    </a:p>
                  </a:txBody>
                  <a:tcPr anchor="ctr"/>
                </a:tc>
                <a:tc>
                  <a:txBody>
                    <a:bodyPr/>
                    <a:lstStyle/>
                    <a:p>
                      <a:pPr algn="ctr"/>
                      <a:r>
                        <a:rPr sz="1200" b="0"/>
                        <a:t>0.327</a:t>
                      </a:r>
                    </a:p>
                  </a:txBody>
                  <a:tcPr anchor="ctr"/>
                </a:tc>
                <a:tc>
                  <a:txBody>
                    <a:bodyPr/>
                    <a:lstStyle/>
                    <a:p>
                      <a:pPr algn="ctr"/>
                      <a:r>
                        <a:rPr sz="1200" b="0"/>
                        <a:t>1.39 (1.18–1.64)</a:t>
                      </a:r>
                    </a:p>
                  </a:txBody>
                  <a:tcPr anchor="ctr"/>
                </a:tc>
                <a:tc>
                  <a:txBody>
                    <a:bodyPr/>
                    <a:lstStyle/>
                    <a:p>
                      <a:pPr algn="ctr"/>
                      <a:r>
                        <a:rPr sz="1200" b="0"/>
                        <a:t>&lt;0.001 *</a:t>
                      </a:r>
                    </a:p>
                  </a:txBody>
                  <a:tcPr anchor="ctr"/>
                </a:tc>
                <a:extLst>
                  <a:ext uri="{0D108BD9-81ED-4DB2-BD59-A6C34878D82A}">
                    <a16:rowId xmlns:a16="http://schemas.microsoft.com/office/drawing/2014/main" val="10001"/>
                  </a:ext>
                </a:extLst>
              </a:tr>
              <a:tr h="512463">
                <a:tc vMerge="1">
                  <a:txBody>
                    <a:bodyPr/>
                    <a:lstStyle/>
                    <a:p>
                      <a:endParaRPr/>
                    </a:p>
                  </a:txBody>
                  <a:tcPr/>
                </a:tc>
                <a:tc>
                  <a:txBody>
                    <a:bodyPr/>
                    <a:lstStyle/>
                    <a:p>
                      <a:pPr algn="ctr"/>
                      <a:r>
                        <a:rPr sz="1200" b="0"/>
                        <a:t>aec_fpca_pc2</a:t>
                      </a:r>
                    </a:p>
                  </a:txBody>
                  <a:tcPr anchor="ctr"/>
                </a:tc>
                <a:tc>
                  <a:txBody>
                    <a:bodyPr/>
                    <a:lstStyle/>
                    <a:p>
                      <a:pPr algn="ctr"/>
                      <a:r>
                        <a:rPr sz="1200" b="0"/>
                        <a:t>-0.452</a:t>
                      </a:r>
                    </a:p>
                  </a:txBody>
                  <a:tcPr anchor="ctr"/>
                </a:tc>
                <a:tc>
                  <a:txBody>
                    <a:bodyPr/>
                    <a:lstStyle/>
                    <a:p>
                      <a:pPr algn="ctr"/>
                      <a:r>
                        <a:rPr sz="1200" b="0"/>
                        <a:t>0.64 (0.53–0.77)</a:t>
                      </a:r>
                    </a:p>
                  </a:txBody>
                  <a:tcPr anchor="ctr"/>
                </a:tc>
                <a:tc>
                  <a:txBody>
                    <a:bodyPr/>
                    <a:lstStyle/>
                    <a:p>
                      <a:pPr algn="ctr"/>
                      <a:r>
                        <a:rPr sz="1200" b="0"/>
                        <a:t>&lt;0.001 *</a:t>
                      </a:r>
                    </a:p>
                  </a:txBody>
                  <a:tcPr anchor="ctr"/>
                </a:tc>
                <a:extLst>
                  <a:ext uri="{0D108BD9-81ED-4DB2-BD59-A6C34878D82A}">
                    <a16:rowId xmlns:a16="http://schemas.microsoft.com/office/drawing/2014/main" val="10002"/>
                  </a:ext>
                </a:extLst>
              </a:tr>
              <a:tr h="512463">
                <a:tc vMerge="1">
                  <a:txBody>
                    <a:bodyPr/>
                    <a:lstStyle/>
                    <a:p>
                      <a:endParaRPr/>
                    </a:p>
                  </a:txBody>
                  <a:tcPr/>
                </a:tc>
                <a:tc>
                  <a:txBody>
                    <a:bodyPr/>
                    <a:lstStyle/>
                    <a:p>
                      <a:pPr algn="ctr"/>
                      <a:r>
                        <a:rPr sz="1200" b="0"/>
                        <a:t>aec_fpca_pc3</a:t>
                      </a:r>
                    </a:p>
                  </a:txBody>
                  <a:tcPr anchor="ctr"/>
                </a:tc>
                <a:tc>
                  <a:txBody>
                    <a:bodyPr/>
                    <a:lstStyle/>
                    <a:p>
                      <a:pPr algn="ctr"/>
                      <a:r>
                        <a:rPr sz="1200" b="0"/>
                        <a:t>0.048</a:t>
                      </a:r>
                    </a:p>
                  </a:txBody>
                  <a:tcPr anchor="ctr"/>
                </a:tc>
                <a:tc>
                  <a:txBody>
                    <a:bodyPr/>
                    <a:lstStyle/>
                    <a:p>
                      <a:pPr algn="ctr"/>
                      <a:r>
                        <a:rPr sz="1200" b="0"/>
                        <a:t>1.05 (0.90–1.22)</a:t>
                      </a:r>
                    </a:p>
                  </a:txBody>
                  <a:tcPr anchor="ctr"/>
                </a:tc>
                <a:tc>
                  <a:txBody>
                    <a:bodyPr/>
                    <a:lstStyle/>
                    <a:p>
                      <a:pPr algn="ctr"/>
                      <a:r>
                        <a:rPr sz="1200" b="0"/>
                        <a:t>0.537</a:t>
                      </a:r>
                    </a:p>
                  </a:txBody>
                  <a:tcPr anchor="ctr"/>
                </a:tc>
                <a:extLst>
                  <a:ext uri="{0D108BD9-81ED-4DB2-BD59-A6C34878D82A}">
                    <a16:rowId xmlns:a16="http://schemas.microsoft.com/office/drawing/2014/main" val="10003"/>
                  </a:ext>
                </a:extLst>
              </a:tr>
              <a:tr h="512463">
                <a:tc rowSpan="3">
                  <a:txBody>
                    <a:bodyPr/>
                    <a:lstStyle/>
                    <a:p>
                      <a:pPr algn="ctr"/>
                      <a:r>
                        <a:rPr sz="1200" b="0"/>
                        <a:t>당뇨병(DM)</a:t>
                      </a:r>
                    </a:p>
                  </a:txBody>
                  <a:tcPr anchor="ctr"/>
                </a:tc>
                <a:tc>
                  <a:txBody>
                    <a:bodyPr/>
                    <a:lstStyle/>
                    <a:p>
                      <a:pPr algn="ctr"/>
                      <a:r>
                        <a:rPr sz="1200" b="0"/>
                        <a:t>aec_fpca_pc1</a:t>
                      </a:r>
                    </a:p>
                  </a:txBody>
                  <a:tcPr anchor="ctr"/>
                </a:tc>
                <a:tc>
                  <a:txBody>
                    <a:bodyPr/>
                    <a:lstStyle/>
                    <a:p>
                      <a:pPr algn="ctr"/>
                      <a:r>
                        <a:rPr sz="1200" b="0"/>
                        <a:t>0.085</a:t>
                      </a:r>
                    </a:p>
                  </a:txBody>
                  <a:tcPr anchor="ctr"/>
                </a:tc>
                <a:tc>
                  <a:txBody>
                    <a:bodyPr/>
                    <a:lstStyle/>
                    <a:p>
                      <a:pPr algn="ctr"/>
                      <a:r>
                        <a:rPr sz="1200" b="0"/>
                        <a:t>1.09 (0.92–1.29)</a:t>
                      </a:r>
                    </a:p>
                  </a:txBody>
                  <a:tcPr anchor="ctr"/>
                </a:tc>
                <a:tc>
                  <a:txBody>
                    <a:bodyPr/>
                    <a:lstStyle/>
                    <a:p>
                      <a:pPr algn="ctr"/>
                      <a:r>
                        <a:rPr sz="1200" b="0"/>
                        <a:t>0.326</a:t>
                      </a:r>
                    </a:p>
                  </a:txBody>
                  <a:tcPr anchor="ctr"/>
                </a:tc>
                <a:extLst>
                  <a:ext uri="{0D108BD9-81ED-4DB2-BD59-A6C34878D82A}">
                    <a16:rowId xmlns:a16="http://schemas.microsoft.com/office/drawing/2014/main" val="10004"/>
                  </a:ext>
                </a:extLst>
              </a:tr>
              <a:tr h="512463">
                <a:tc vMerge="1">
                  <a:txBody>
                    <a:bodyPr/>
                    <a:lstStyle/>
                    <a:p>
                      <a:endParaRPr/>
                    </a:p>
                  </a:txBody>
                  <a:tcPr/>
                </a:tc>
                <a:tc>
                  <a:txBody>
                    <a:bodyPr/>
                    <a:lstStyle/>
                    <a:p>
                      <a:pPr algn="ctr"/>
                      <a:r>
                        <a:rPr sz="1200" b="0"/>
                        <a:t>aec_fpca_pc2</a:t>
                      </a:r>
                    </a:p>
                  </a:txBody>
                  <a:tcPr anchor="ctr"/>
                </a:tc>
                <a:tc>
                  <a:txBody>
                    <a:bodyPr/>
                    <a:lstStyle/>
                    <a:p>
                      <a:pPr algn="ctr"/>
                      <a:r>
                        <a:rPr sz="1200" b="0"/>
                        <a:t>-0.494</a:t>
                      </a:r>
                    </a:p>
                  </a:txBody>
                  <a:tcPr anchor="ctr"/>
                </a:tc>
                <a:tc>
                  <a:txBody>
                    <a:bodyPr/>
                    <a:lstStyle/>
                    <a:p>
                      <a:pPr algn="ctr"/>
                      <a:r>
                        <a:rPr sz="1200" b="0"/>
                        <a:t>0.61 (0.50–0.75)</a:t>
                      </a:r>
                    </a:p>
                  </a:txBody>
                  <a:tcPr anchor="ctr"/>
                </a:tc>
                <a:tc>
                  <a:txBody>
                    <a:bodyPr/>
                    <a:lstStyle/>
                    <a:p>
                      <a:pPr algn="ctr"/>
                      <a:r>
                        <a:rPr sz="1200" b="0"/>
                        <a:t>&lt;0.001 *</a:t>
                      </a:r>
                    </a:p>
                  </a:txBody>
                  <a:tcPr anchor="ctr"/>
                </a:tc>
                <a:extLst>
                  <a:ext uri="{0D108BD9-81ED-4DB2-BD59-A6C34878D82A}">
                    <a16:rowId xmlns:a16="http://schemas.microsoft.com/office/drawing/2014/main" val="10005"/>
                  </a:ext>
                </a:extLst>
              </a:tr>
              <a:tr h="512463">
                <a:tc vMerge="1">
                  <a:txBody>
                    <a:bodyPr/>
                    <a:lstStyle/>
                    <a:p>
                      <a:endParaRPr/>
                    </a:p>
                  </a:txBody>
                  <a:tcPr/>
                </a:tc>
                <a:tc>
                  <a:txBody>
                    <a:bodyPr/>
                    <a:lstStyle/>
                    <a:p>
                      <a:pPr algn="ctr"/>
                      <a:r>
                        <a:rPr sz="1200" b="0"/>
                        <a:t>aec_fpca_pc3</a:t>
                      </a:r>
                    </a:p>
                  </a:txBody>
                  <a:tcPr anchor="ctr"/>
                </a:tc>
                <a:tc>
                  <a:txBody>
                    <a:bodyPr/>
                    <a:lstStyle/>
                    <a:p>
                      <a:pPr algn="ctr"/>
                      <a:r>
                        <a:rPr sz="1200" b="0"/>
                        <a:t>0.142</a:t>
                      </a:r>
                    </a:p>
                  </a:txBody>
                  <a:tcPr anchor="ctr"/>
                </a:tc>
                <a:tc>
                  <a:txBody>
                    <a:bodyPr/>
                    <a:lstStyle/>
                    <a:p>
                      <a:pPr algn="ctr"/>
                      <a:r>
                        <a:rPr sz="1200" b="0"/>
                        <a:t>1.15 (0.98–1.36)</a:t>
                      </a:r>
                    </a:p>
                  </a:txBody>
                  <a:tcPr anchor="ctr"/>
                </a:tc>
                <a:tc>
                  <a:txBody>
                    <a:bodyPr/>
                    <a:lstStyle/>
                    <a:p>
                      <a:pPr algn="ctr"/>
                      <a:r>
                        <a:rPr sz="1200" b="0"/>
                        <a:t>0.087</a:t>
                      </a:r>
                    </a:p>
                  </a:txBody>
                  <a:tcPr anchor="ctr"/>
                </a:tc>
                <a:extLst>
                  <a:ext uri="{0D108BD9-81ED-4DB2-BD59-A6C34878D82A}">
                    <a16:rowId xmlns:a16="http://schemas.microsoft.com/office/drawing/2014/main" val="10006"/>
                  </a:ext>
                </a:extLst>
              </a:tr>
              <a:tr h="512463">
                <a:tc rowSpan="3">
                  <a:txBody>
                    <a:bodyPr/>
                    <a:lstStyle/>
                    <a:p>
                      <a:pPr algn="ctr"/>
                      <a:r>
                        <a:rPr sz="1200" b="0"/>
                        <a:t>만성신장질환(CKD)</a:t>
                      </a:r>
                    </a:p>
                  </a:txBody>
                  <a:tcPr anchor="ctr"/>
                </a:tc>
                <a:tc>
                  <a:txBody>
                    <a:bodyPr/>
                    <a:lstStyle/>
                    <a:p>
                      <a:pPr algn="ctr"/>
                      <a:r>
                        <a:rPr sz="1200" b="0"/>
                        <a:t>aec_fpca_pc1</a:t>
                      </a:r>
                    </a:p>
                  </a:txBody>
                  <a:tcPr anchor="ctr"/>
                </a:tc>
                <a:tc>
                  <a:txBody>
                    <a:bodyPr/>
                    <a:lstStyle/>
                    <a:p>
                      <a:pPr algn="ctr"/>
                      <a:r>
                        <a:rPr sz="1200" b="0"/>
                        <a:t>0.113</a:t>
                      </a:r>
                    </a:p>
                  </a:txBody>
                  <a:tcPr anchor="ctr"/>
                </a:tc>
                <a:tc>
                  <a:txBody>
                    <a:bodyPr/>
                    <a:lstStyle/>
                    <a:p>
                      <a:pPr algn="ctr"/>
                      <a:r>
                        <a:rPr sz="1200" b="0"/>
                        <a:t>1.12 (0.89–1.41)</a:t>
                      </a:r>
                    </a:p>
                  </a:txBody>
                  <a:tcPr anchor="ctr"/>
                </a:tc>
                <a:tc>
                  <a:txBody>
                    <a:bodyPr/>
                    <a:lstStyle/>
                    <a:p>
                      <a:pPr algn="ctr"/>
                      <a:r>
                        <a:rPr sz="1200" b="0"/>
                        <a:t>0.334</a:t>
                      </a:r>
                    </a:p>
                  </a:txBody>
                  <a:tcPr anchor="ctr"/>
                </a:tc>
                <a:extLst>
                  <a:ext uri="{0D108BD9-81ED-4DB2-BD59-A6C34878D82A}">
                    <a16:rowId xmlns:a16="http://schemas.microsoft.com/office/drawing/2014/main" val="10007"/>
                  </a:ext>
                </a:extLst>
              </a:tr>
              <a:tr h="512463">
                <a:tc vMerge="1">
                  <a:txBody>
                    <a:bodyPr/>
                    <a:lstStyle/>
                    <a:p>
                      <a:endParaRPr/>
                    </a:p>
                  </a:txBody>
                  <a:tcPr/>
                </a:tc>
                <a:tc>
                  <a:txBody>
                    <a:bodyPr/>
                    <a:lstStyle/>
                    <a:p>
                      <a:pPr algn="ctr"/>
                      <a:r>
                        <a:rPr sz="1200" b="0"/>
                        <a:t>aec_fpca_pc2</a:t>
                      </a:r>
                    </a:p>
                  </a:txBody>
                  <a:tcPr anchor="ctr"/>
                </a:tc>
                <a:tc>
                  <a:txBody>
                    <a:bodyPr/>
                    <a:lstStyle/>
                    <a:p>
                      <a:pPr algn="ctr"/>
                      <a:r>
                        <a:rPr sz="1200" b="0"/>
                        <a:t>-0.342</a:t>
                      </a:r>
                    </a:p>
                  </a:txBody>
                  <a:tcPr anchor="ctr"/>
                </a:tc>
                <a:tc>
                  <a:txBody>
                    <a:bodyPr/>
                    <a:lstStyle/>
                    <a:p>
                      <a:pPr algn="ctr"/>
                      <a:r>
                        <a:rPr sz="1200" b="0"/>
                        <a:t>0.71 (0.54–0.94)</a:t>
                      </a:r>
                    </a:p>
                  </a:txBody>
                  <a:tcPr anchor="ctr"/>
                </a:tc>
                <a:tc>
                  <a:txBody>
                    <a:bodyPr/>
                    <a:lstStyle/>
                    <a:p>
                      <a:pPr algn="ctr"/>
                      <a:r>
                        <a:rPr sz="1200" b="0"/>
                        <a:t>0.015 *</a:t>
                      </a:r>
                    </a:p>
                  </a:txBody>
                  <a:tcPr anchor="ctr"/>
                </a:tc>
                <a:extLst>
                  <a:ext uri="{0D108BD9-81ED-4DB2-BD59-A6C34878D82A}">
                    <a16:rowId xmlns:a16="http://schemas.microsoft.com/office/drawing/2014/main" val="10008"/>
                  </a:ext>
                </a:extLst>
              </a:tr>
              <a:tr h="512463">
                <a:tc vMerge="1">
                  <a:txBody>
                    <a:bodyPr/>
                    <a:lstStyle/>
                    <a:p>
                      <a:endParaRPr/>
                    </a:p>
                  </a:txBody>
                  <a:tcPr/>
                </a:tc>
                <a:tc>
                  <a:txBody>
                    <a:bodyPr/>
                    <a:lstStyle/>
                    <a:p>
                      <a:pPr algn="ctr"/>
                      <a:r>
                        <a:rPr sz="1200" b="0"/>
                        <a:t>aec_fpca_pc3</a:t>
                      </a:r>
                    </a:p>
                  </a:txBody>
                  <a:tcPr anchor="ctr"/>
                </a:tc>
                <a:tc>
                  <a:txBody>
                    <a:bodyPr/>
                    <a:lstStyle/>
                    <a:p>
                      <a:pPr algn="ctr"/>
                      <a:r>
                        <a:rPr sz="1200" b="0"/>
                        <a:t>-0.101</a:t>
                      </a:r>
                    </a:p>
                  </a:txBody>
                  <a:tcPr anchor="ctr"/>
                </a:tc>
                <a:tc>
                  <a:txBody>
                    <a:bodyPr/>
                    <a:lstStyle/>
                    <a:p>
                      <a:pPr algn="ctr"/>
                      <a:r>
                        <a:rPr sz="1200" b="0"/>
                        <a:t>0.90 (0.73–1.12)</a:t>
                      </a:r>
                    </a:p>
                  </a:txBody>
                  <a:tcPr anchor="ctr"/>
                </a:tc>
                <a:tc>
                  <a:txBody>
                    <a:bodyPr/>
                    <a:lstStyle/>
                    <a:p>
                      <a:pPr algn="ctr"/>
                      <a:r>
                        <a:rPr sz="1200" b="0" dirty="0"/>
                        <a:t>0.359</a:t>
                      </a:r>
                    </a:p>
                  </a:txBody>
                  <a:tcPr anchor="ctr"/>
                </a:tc>
                <a:extLst>
                  <a:ext uri="{0D108BD9-81ED-4DB2-BD59-A6C34878D82A}">
                    <a16:rowId xmlns:a16="http://schemas.microsoft.com/office/drawing/2014/main" val="10009"/>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A5D747-8719-E607-8411-9800E9B05D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F79701-6829-C21E-E4B0-6949698C3AAF}"/>
              </a:ext>
            </a:extLst>
          </p:cNvPr>
          <p:cNvSpPr>
            <a:spLocks noGrp="1"/>
          </p:cNvSpPr>
          <p:nvPr>
            <p:ph type="title"/>
          </p:nvPr>
        </p:nvSpPr>
        <p:spPr/>
        <p:txBody>
          <a:bodyPr>
            <a:normAutofit/>
          </a:bodyPr>
          <a:lstStyle/>
          <a:p>
            <a:r>
              <a:rPr lang="en-US" altLang="ko-KR" dirty="0"/>
              <a:t>Table S6. Baseline vs +AEC(FPCA), 5-fold CV</a:t>
            </a:r>
            <a:endParaRPr dirty="0"/>
          </a:p>
        </p:txBody>
      </p:sp>
      <p:sp>
        <p:nvSpPr>
          <p:cNvPr id="6" name="슬라이드 번호 개체 틀 5">
            <a:extLst>
              <a:ext uri="{FF2B5EF4-FFF2-40B4-BE49-F238E27FC236}">
                <a16:creationId xmlns:a16="http://schemas.microsoft.com/office/drawing/2014/main" id="{01BE1C60-4ECF-9664-17AD-85523EF39D85}"/>
              </a:ext>
            </a:extLst>
          </p:cNvPr>
          <p:cNvSpPr>
            <a:spLocks noGrp="1"/>
          </p:cNvSpPr>
          <p:nvPr>
            <p:ph type="sldNum" sz="quarter" idx="12"/>
          </p:nvPr>
        </p:nvSpPr>
        <p:spPr/>
        <p:txBody>
          <a:bodyPr/>
          <a:lstStyle/>
          <a:p>
            <a:fld id="{9F4AF89A-28FA-47FA-B28F-9A9C6913CB7A}" type="slidenum">
              <a:rPr lang="ko-KR" altLang="en-US" smtClean="0"/>
              <a:pPr/>
              <a:t>22</a:t>
            </a:fld>
            <a:endParaRPr lang="ko-KR" altLang="en-US" dirty="0"/>
          </a:p>
        </p:txBody>
      </p:sp>
      <p:graphicFrame>
        <p:nvGraphicFramePr>
          <p:cNvPr id="5" name="Table 2">
            <a:extLst>
              <a:ext uri="{FF2B5EF4-FFF2-40B4-BE49-F238E27FC236}">
                <a16:creationId xmlns:a16="http://schemas.microsoft.com/office/drawing/2014/main" id="{72236941-0B35-C074-8F8B-37B42298389A}"/>
              </a:ext>
            </a:extLst>
          </p:cNvPr>
          <p:cNvGraphicFramePr>
            <a:graphicFrameLocks noGrp="1"/>
          </p:cNvGraphicFramePr>
          <p:nvPr>
            <p:extLst>
              <p:ext uri="{D42A27DB-BD31-4B8C-83A1-F6EECF244321}">
                <p14:modId xmlns:p14="http://schemas.microsoft.com/office/powerpoint/2010/main" val="3085741623"/>
              </p:ext>
            </p:extLst>
          </p:nvPr>
        </p:nvGraphicFramePr>
        <p:xfrm>
          <a:off x="512064" y="978408"/>
          <a:ext cx="11173968" cy="5124636"/>
        </p:xfrm>
        <a:graphic>
          <a:graphicData uri="http://schemas.openxmlformats.org/drawingml/2006/table">
            <a:tbl>
              <a:tblPr firstRow="1" bandRow="1">
                <a:tableStyleId>{C083E6E3-FA7D-4D7B-A595-EF9225AFEA82}</a:tableStyleId>
              </a:tblPr>
              <a:tblGrid>
                <a:gridCol w="1396746">
                  <a:extLst>
                    <a:ext uri="{9D8B030D-6E8A-4147-A177-3AD203B41FA5}">
                      <a16:colId xmlns:a16="http://schemas.microsoft.com/office/drawing/2014/main" val="20000"/>
                    </a:ext>
                  </a:extLst>
                </a:gridCol>
                <a:gridCol w="1396746">
                  <a:extLst>
                    <a:ext uri="{9D8B030D-6E8A-4147-A177-3AD203B41FA5}">
                      <a16:colId xmlns:a16="http://schemas.microsoft.com/office/drawing/2014/main" val="20001"/>
                    </a:ext>
                  </a:extLst>
                </a:gridCol>
                <a:gridCol w="1396746">
                  <a:extLst>
                    <a:ext uri="{9D8B030D-6E8A-4147-A177-3AD203B41FA5}">
                      <a16:colId xmlns:a16="http://schemas.microsoft.com/office/drawing/2014/main" val="20002"/>
                    </a:ext>
                  </a:extLst>
                </a:gridCol>
                <a:gridCol w="1396746">
                  <a:extLst>
                    <a:ext uri="{9D8B030D-6E8A-4147-A177-3AD203B41FA5}">
                      <a16:colId xmlns:a16="http://schemas.microsoft.com/office/drawing/2014/main" val="20003"/>
                    </a:ext>
                  </a:extLst>
                </a:gridCol>
                <a:gridCol w="1396746">
                  <a:extLst>
                    <a:ext uri="{9D8B030D-6E8A-4147-A177-3AD203B41FA5}">
                      <a16:colId xmlns:a16="http://schemas.microsoft.com/office/drawing/2014/main" val="20004"/>
                    </a:ext>
                  </a:extLst>
                </a:gridCol>
                <a:gridCol w="1396746">
                  <a:extLst>
                    <a:ext uri="{9D8B030D-6E8A-4147-A177-3AD203B41FA5}">
                      <a16:colId xmlns:a16="http://schemas.microsoft.com/office/drawing/2014/main" val="20005"/>
                    </a:ext>
                  </a:extLst>
                </a:gridCol>
                <a:gridCol w="1396746">
                  <a:extLst>
                    <a:ext uri="{9D8B030D-6E8A-4147-A177-3AD203B41FA5}">
                      <a16:colId xmlns:a16="http://schemas.microsoft.com/office/drawing/2014/main" val="20006"/>
                    </a:ext>
                  </a:extLst>
                </a:gridCol>
                <a:gridCol w="1396746">
                  <a:extLst>
                    <a:ext uri="{9D8B030D-6E8A-4147-A177-3AD203B41FA5}">
                      <a16:colId xmlns:a16="http://schemas.microsoft.com/office/drawing/2014/main" val="20007"/>
                    </a:ext>
                  </a:extLst>
                </a:gridCol>
              </a:tblGrid>
              <a:tr h="1281159">
                <a:tc>
                  <a:txBody>
                    <a:bodyPr/>
                    <a:lstStyle/>
                    <a:p>
                      <a:pPr algn="ctr"/>
                      <a:r>
                        <a:rPr sz="1200" b="1"/>
                        <a:t>Disease</a:t>
                      </a:r>
                    </a:p>
                  </a:txBody>
                  <a:tcPr anchor="ctr"/>
                </a:tc>
                <a:tc>
                  <a:txBody>
                    <a:bodyPr/>
                    <a:lstStyle/>
                    <a:p>
                      <a:pPr algn="ctr"/>
                      <a:r>
                        <a:rPr sz="1200" b="1"/>
                        <a:t>n (pos)</a:t>
                      </a:r>
                    </a:p>
                  </a:txBody>
                  <a:tcPr anchor="ctr"/>
                </a:tc>
                <a:tc>
                  <a:txBody>
                    <a:bodyPr/>
                    <a:lstStyle/>
                    <a:p>
                      <a:pPr algn="ctr"/>
                      <a:r>
                        <a:rPr sz="1200" b="1" dirty="0"/>
                        <a:t>Fold AUC</a:t>
                      </a:r>
                      <a:endParaRPr lang="en-US" sz="1200" b="1" dirty="0"/>
                    </a:p>
                    <a:p>
                      <a:pPr algn="ctr"/>
                      <a:r>
                        <a:rPr sz="1200" b="1" dirty="0"/>
                        <a:t>(Baseline)</a:t>
                      </a:r>
                    </a:p>
                  </a:txBody>
                  <a:tcPr anchor="ctr"/>
                </a:tc>
                <a:tc>
                  <a:txBody>
                    <a:bodyPr/>
                    <a:lstStyle/>
                    <a:p>
                      <a:pPr algn="ctr"/>
                      <a:r>
                        <a:rPr sz="1200" b="1" dirty="0"/>
                        <a:t>Fold AUC</a:t>
                      </a:r>
                      <a:endParaRPr lang="en-US" sz="1200" b="1" dirty="0"/>
                    </a:p>
                    <a:p>
                      <a:pPr algn="ctr"/>
                      <a:r>
                        <a:rPr sz="1200" b="1" dirty="0"/>
                        <a:t>(+AEC)</a:t>
                      </a:r>
                    </a:p>
                  </a:txBody>
                  <a:tcPr anchor="ctr"/>
                </a:tc>
                <a:tc>
                  <a:txBody>
                    <a:bodyPr/>
                    <a:lstStyle/>
                    <a:p>
                      <a:pPr algn="ctr"/>
                      <a:r>
                        <a:rPr sz="1200" b="1" dirty="0"/>
                        <a:t>OOF AUC</a:t>
                      </a:r>
                      <a:endParaRPr lang="en-US" sz="1200" b="1" dirty="0"/>
                    </a:p>
                    <a:p>
                      <a:pPr algn="ctr"/>
                      <a:r>
                        <a:rPr sz="1200" b="1" dirty="0"/>
                        <a:t>(Baseline)</a:t>
                      </a:r>
                    </a:p>
                  </a:txBody>
                  <a:tcPr anchor="ctr"/>
                </a:tc>
                <a:tc>
                  <a:txBody>
                    <a:bodyPr/>
                    <a:lstStyle/>
                    <a:p>
                      <a:pPr algn="ctr"/>
                      <a:r>
                        <a:rPr sz="1200" b="1" dirty="0"/>
                        <a:t>OOF AUC</a:t>
                      </a:r>
                      <a:endParaRPr lang="en-US" sz="1200" b="1" dirty="0"/>
                    </a:p>
                    <a:p>
                      <a:pPr algn="ctr"/>
                      <a:r>
                        <a:rPr sz="1200" b="1" dirty="0"/>
                        <a:t>(+AEC)</a:t>
                      </a:r>
                    </a:p>
                  </a:txBody>
                  <a:tcPr anchor="ctr"/>
                </a:tc>
                <a:tc>
                  <a:txBody>
                    <a:bodyPr/>
                    <a:lstStyle/>
                    <a:p>
                      <a:pPr algn="ctr"/>
                      <a:r>
                        <a:rPr sz="1200" b="1"/>
                        <a:t>Δ(OOF AUC)</a:t>
                      </a:r>
                    </a:p>
                  </a:txBody>
                  <a:tcPr anchor="ctr"/>
                </a:tc>
                <a:tc>
                  <a:txBody>
                    <a:bodyPr/>
                    <a:lstStyle/>
                    <a:p>
                      <a:pPr algn="ctr"/>
                      <a:r>
                        <a:rPr sz="1200" b="1"/>
                        <a:t>DeLong p (OOF)</a:t>
                      </a:r>
                    </a:p>
                  </a:txBody>
                  <a:tcPr anchor="ctr"/>
                </a:tc>
                <a:extLst>
                  <a:ext uri="{0D108BD9-81ED-4DB2-BD59-A6C34878D82A}">
                    <a16:rowId xmlns:a16="http://schemas.microsoft.com/office/drawing/2014/main" val="10000"/>
                  </a:ext>
                </a:extLst>
              </a:tr>
              <a:tr h="1281159">
                <a:tc>
                  <a:txBody>
                    <a:bodyPr/>
                    <a:lstStyle/>
                    <a:p>
                      <a:pPr algn="ctr"/>
                      <a:r>
                        <a:rPr sz="1200" b="0"/>
                        <a:t>고혈압(HTN)</a:t>
                      </a:r>
                    </a:p>
                  </a:txBody>
                  <a:tcPr anchor="ctr"/>
                </a:tc>
                <a:tc>
                  <a:txBody>
                    <a:bodyPr/>
                    <a:lstStyle/>
                    <a:p>
                      <a:pPr algn="ctr"/>
                      <a:r>
                        <a:rPr sz="1200" b="0"/>
                        <a:t>386</a:t>
                      </a:r>
                    </a:p>
                  </a:txBody>
                  <a:tcPr anchor="ctr"/>
                </a:tc>
                <a:tc>
                  <a:txBody>
                    <a:bodyPr/>
                    <a:lstStyle/>
                    <a:p>
                      <a:pPr algn="ctr"/>
                      <a:r>
                        <a:rPr sz="1200" b="0"/>
                        <a:t>0.796 ± 0.020</a:t>
                      </a:r>
                    </a:p>
                  </a:txBody>
                  <a:tcPr anchor="ctr"/>
                </a:tc>
                <a:tc>
                  <a:txBody>
                    <a:bodyPr/>
                    <a:lstStyle/>
                    <a:p>
                      <a:pPr algn="ctr"/>
                      <a:r>
                        <a:rPr sz="1200" b="0"/>
                        <a:t>0.805 ± 0.031</a:t>
                      </a:r>
                    </a:p>
                  </a:txBody>
                  <a:tcPr anchor="ctr"/>
                </a:tc>
                <a:tc>
                  <a:txBody>
                    <a:bodyPr/>
                    <a:lstStyle/>
                    <a:p>
                      <a:pPr algn="ctr"/>
                      <a:r>
                        <a:rPr sz="1200" b="0"/>
                        <a:t>0.795</a:t>
                      </a:r>
                    </a:p>
                  </a:txBody>
                  <a:tcPr anchor="ctr"/>
                </a:tc>
                <a:tc>
                  <a:txBody>
                    <a:bodyPr/>
                    <a:lstStyle/>
                    <a:p>
                      <a:pPr algn="ctr"/>
                      <a:r>
                        <a:rPr sz="1200" b="0"/>
                        <a:t>0.804</a:t>
                      </a:r>
                    </a:p>
                  </a:txBody>
                  <a:tcPr anchor="ctr"/>
                </a:tc>
                <a:tc>
                  <a:txBody>
                    <a:bodyPr/>
                    <a:lstStyle/>
                    <a:p>
                      <a:pPr algn="ctr"/>
                      <a:r>
                        <a:rPr sz="1200" b="0"/>
                        <a:t>+0.009</a:t>
                      </a:r>
                    </a:p>
                  </a:txBody>
                  <a:tcPr anchor="ctr"/>
                </a:tc>
                <a:tc>
                  <a:txBody>
                    <a:bodyPr/>
                    <a:lstStyle/>
                    <a:p>
                      <a:pPr algn="ctr"/>
                      <a:r>
                        <a:rPr sz="1200" b="0"/>
                        <a:t>0.050</a:t>
                      </a:r>
                    </a:p>
                  </a:txBody>
                  <a:tcPr anchor="ctr"/>
                </a:tc>
                <a:extLst>
                  <a:ext uri="{0D108BD9-81ED-4DB2-BD59-A6C34878D82A}">
                    <a16:rowId xmlns:a16="http://schemas.microsoft.com/office/drawing/2014/main" val="10001"/>
                  </a:ext>
                </a:extLst>
              </a:tr>
              <a:tr h="1281159">
                <a:tc>
                  <a:txBody>
                    <a:bodyPr/>
                    <a:lstStyle/>
                    <a:p>
                      <a:pPr algn="ctr"/>
                      <a:r>
                        <a:rPr sz="1200" b="0"/>
                        <a:t>당뇨병(DM)</a:t>
                      </a:r>
                    </a:p>
                  </a:txBody>
                  <a:tcPr anchor="ctr"/>
                </a:tc>
                <a:tc>
                  <a:txBody>
                    <a:bodyPr/>
                    <a:lstStyle/>
                    <a:p>
                      <a:pPr algn="ctr"/>
                      <a:r>
                        <a:rPr sz="1200" b="0"/>
                        <a:t>233</a:t>
                      </a:r>
                    </a:p>
                  </a:txBody>
                  <a:tcPr anchor="ctr"/>
                </a:tc>
                <a:tc>
                  <a:txBody>
                    <a:bodyPr/>
                    <a:lstStyle/>
                    <a:p>
                      <a:pPr algn="ctr"/>
                      <a:r>
                        <a:rPr sz="1200" b="0"/>
                        <a:t>0.712 ± 0.055</a:t>
                      </a:r>
                    </a:p>
                  </a:txBody>
                  <a:tcPr anchor="ctr"/>
                </a:tc>
                <a:tc>
                  <a:txBody>
                    <a:bodyPr/>
                    <a:lstStyle/>
                    <a:p>
                      <a:pPr algn="ctr"/>
                      <a:r>
                        <a:rPr sz="1200" b="0"/>
                        <a:t>0.732 ± 0.054</a:t>
                      </a:r>
                    </a:p>
                  </a:txBody>
                  <a:tcPr anchor="ctr"/>
                </a:tc>
                <a:tc>
                  <a:txBody>
                    <a:bodyPr/>
                    <a:lstStyle/>
                    <a:p>
                      <a:pPr algn="ctr"/>
                      <a:r>
                        <a:rPr sz="1200" b="0"/>
                        <a:t>0.714</a:t>
                      </a:r>
                    </a:p>
                  </a:txBody>
                  <a:tcPr anchor="ctr"/>
                </a:tc>
                <a:tc>
                  <a:txBody>
                    <a:bodyPr/>
                    <a:lstStyle/>
                    <a:p>
                      <a:pPr algn="ctr"/>
                      <a:r>
                        <a:rPr sz="1200" b="0"/>
                        <a:t>0.732</a:t>
                      </a:r>
                    </a:p>
                  </a:txBody>
                  <a:tcPr anchor="ctr"/>
                </a:tc>
                <a:tc>
                  <a:txBody>
                    <a:bodyPr/>
                    <a:lstStyle/>
                    <a:p>
                      <a:pPr algn="ctr"/>
                      <a:r>
                        <a:rPr sz="1200" b="0"/>
                        <a:t>+0.018</a:t>
                      </a:r>
                    </a:p>
                  </a:txBody>
                  <a:tcPr anchor="ctr"/>
                </a:tc>
                <a:tc>
                  <a:txBody>
                    <a:bodyPr/>
                    <a:lstStyle/>
                    <a:p>
                      <a:pPr algn="ctr"/>
                      <a:r>
                        <a:rPr sz="1200" b="0"/>
                        <a:t>0.069</a:t>
                      </a:r>
                    </a:p>
                  </a:txBody>
                  <a:tcPr anchor="ctr"/>
                </a:tc>
                <a:extLst>
                  <a:ext uri="{0D108BD9-81ED-4DB2-BD59-A6C34878D82A}">
                    <a16:rowId xmlns:a16="http://schemas.microsoft.com/office/drawing/2014/main" val="10002"/>
                  </a:ext>
                </a:extLst>
              </a:tr>
              <a:tr h="1281159">
                <a:tc>
                  <a:txBody>
                    <a:bodyPr/>
                    <a:lstStyle/>
                    <a:p>
                      <a:pPr algn="ctr"/>
                      <a:r>
                        <a:rPr sz="1200" b="0"/>
                        <a:t>만성신장질환(CKD)</a:t>
                      </a:r>
                    </a:p>
                  </a:txBody>
                  <a:tcPr anchor="ctr"/>
                </a:tc>
                <a:tc>
                  <a:txBody>
                    <a:bodyPr/>
                    <a:lstStyle/>
                    <a:p>
                      <a:pPr algn="ctr"/>
                      <a:r>
                        <a:rPr sz="1200" b="0"/>
                        <a:t>105</a:t>
                      </a:r>
                    </a:p>
                  </a:txBody>
                  <a:tcPr anchor="ctr"/>
                </a:tc>
                <a:tc>
                  <a:txBody>
                    <a:bodyPr/>
                    <a:lstStyle/>
                    <a:p>
                      <a:pPr algn="ctr"/>
                      <a:r>
                        <a:rPr sz="1200" b="0"/>
                        <a:t>0.770 ± 0.038</a:t>
                      </a:r>
                    </a:p>
                  </a:txBody>
                  <a:tcPr anchor="ctr"/>
                </a:tc>
                <a:tc>
                  <a:txBody>
                    <a:bodyPr/>
                    <a:lstStyle/>
                    <a:p>
                      <a:pPr algn="ctr"/>
                      <a:r>
                        <a:rPr sz="1200" b="0"/>
                        <a:t>0.754 ± 0.041</a:t>
                      </a:r>
                    </a:p>
                  </a:txBody>
                  <a:tcPr anchor="ctr"/>
                </a:tc>
                <a:tc>
                  <a:txBody>
                    <a:bodyPr/>
                    <a:lstStyle/>
                    <a:p>
                      <a:pPr algn="ctr"/>
                      <a:r>
                        <a:rPr sz="1200" b="0"/>
                        <a:t>0.769</a:t>
                      </a:r>
                    </a:p>
                  </a:txBody>
                  <a:tcPr anchor="ctr"/>
                </a:tc>
                <a:tc>
                  <a:txBody>
                    <a:bodyPr/>
                    <a:lstStyle/>
                    <a:p>
                      <a:pPr algn="ctr"/>
                      <a:r>
                        <a:rPr sz="1200" b="0"/>
                        <a:t>0.752</a:t>
                      </a:r>
                    </a:p>
                  </a:txBody>
                  <a:tcPr anchor="ctr"/>
                </a:tc>
                <a:tc>
                  <a:txBody>
                    <a:bodyPr/>
                    <a:lstStyle/>
                    <a:p>
                      <a:pPr algn="ctr"/>
                      <a:r>
                        <a:rPr sz="1200" b="0"/>
                        <a:t>-0.017</a:t>
                      </a:r>
                    </a:p>
                  </a:txBody>
                  <a:tcPr anchor="ctr"/>
                </a:tc>
                <a:tc>
                  <a:txBody>
                    <a:bodyPr/>
                    <a:lstStyle/>
                    <a:p>
                      <a:pPr algn="ctr"/>
                      <a:r>
                        <a:rPr sz="1200" b="0" dirty="0"/>
                        <a:t>0.273</a:t>
                      </a:r>
                    </a:p>
                  </a:txBody>
                  <a:tcPr anchor="ct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451463955"/>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A4B9BE-6ABB-4644-A858-A1BE01A7D227}">
  <we:reference id="wa200010725" version="1.0.0.1" store="ko-KR" storeType="OMEX"/>
  <we:alternateReferences>
    <we:reference id="WA200010725" version="1.0.0.1" store="WA200010725" storeType="OMEX"/>
  </we:alternateReferences>
  <we:properties>
    <we:property name="claude.fileId" value="&quot;b67ecc52-606c-4d9b-921c-389ac737e61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7308</TotalTime>
  <Words>3746</Words>
  <Application>Microsoft Office PowerPoint</Application>
  <PresentationFormat>와이드스크린</PresentationFormat>
  <Paragraphs>1065</Paragraphs>
  <Slides>22</Slides>
  <Notes>22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22</vt:i4>
      </vt:variant>
    </vt:vector>
  </HeadingPairs>
  <TitlesOfParts>
    <vt:vector size="26" baseType="lpstr">
      <vt:lpstr>KoPub돋움체 Medium</vt:lpstr>
      <vt:lpstr>KoPub돋움체 Bold</vt:lpstr>
      <vt:lpstr>Arial</vt:lpstr>
      <vt:lpstr>Office 테마</vt:lpstr>
      <vt:lpstr>PowerPoint 프레젠테이션</vt:lpstr>
      <vt:lpstr>Background &amp; Objective</vt:lpstr>
      <vt:lpstr>Methods</vt:lpstr>
      <vt:lpstr>Table 1. Data Distribution</vt:lpstr>
      <vt:lpstr>Table 2-1. Performance (고혈압)</vt:lpstr>
      <vt:lpstr>Table 2-2. Performance (당뇨)</vt:lpstr>
      <vt:lpstr>Table 2-3. Performance (만성신장질환)</vt:lpstr>
      <vt:lpstr>Coefficient 산출 과정 (Table 3·4)</vt:lpstr>
      <vt:lpstr>Table 3. Coefficient 비교 (Baseline vs Best)</vt:lpstr>
      <vt:lpstr>Table 4. Best 모델 FPCA 점수 Coefficient</vt:lpstr>
      <vt:lpstr>Figure 1. AEC 위치별 질환 기여도 (FPCA 계수 역변환)</vt:lpstr>
      <vt:lpstr>Discussion: 체성분 효과는 병원마다 다름</vt:lpstr>
      <vt:lpstr>Conclusion</vt:lpstr>
      <vt:lpstr>PowerPoint 프레젠테이션</vt:lpstr>
      <vt:lpstr>Figure S1. Calibration Plot (Baseline vs Best)</vt:lpstr>
      <vt:lpstr>Figure S2. FPCA Inverse Transform (체성분)</vt:lpstr>
      <vt:lpstr>Table S1. 전체 확장모델 AUC 비교</vt:lpstr>
      <vt:lpstr>Table S2. Fold별 AUC (전체 확장모델, HTN)</vt:lpstr>
      <vt:lpstr>Table S3. Fold별 AUC (전체 확장모델, DM)</vt:lpstr>
      <vt:lpstr>Table S4. Fold별 AUC (전체 확장모델, CKD)</vt:lpstr>
      <vt:lpstr>Table S5. +AEC FPCA-only Coefficient</vt:lpstr>
      <vt:lpstr>Table S6. Baseline vs +AEC(FPCA), 5-fold CV</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전장훈</dc:creator>
  <cp:lastModifiedBy>전장훈</cp:lastModifiedBy>
  <cp:revision>748</cp:revision>
  <dcterms:created xsi:type="dcterms:W3CDTF">2026-04-09T07:05:16Z</dcterms:created>
  <dcterms:modified xsi:type="dcterms:W3CDTF">2026-10-01T10:17:23Z</dcterms:modified>
</cp:coreProperties>
</file>