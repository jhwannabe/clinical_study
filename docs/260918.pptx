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70" r:id="rId3"/>
    <p:sldId id="303" r:id="rId45"/>
    <p:sldId id="258" r:id="rId4"/>
    <p:sldId id="259" r:id="rId5"/>
    <p:sldId id="260" r:id="rId6"/>
    <p:sldId id="285" r:id="rId8"/>
    <p:sldId id="286" r:id="rId9"/>
    <p:sldId id="287" r:id="rId10"/>
    <p:sldId id="288" r:id="rId11"/>
    <p:sldId id="289" r:id="rId12"/>
    <p:sldId id="272" r:id="rId14"/>
    <p:sldId id="291" r:id="rId15"/>
    <p:sldId id="298" r:id="rId40"/>
    <p:sldId id="273" r:id="rId16"/>
    <p:sldId id="292" r:id="rId17"/>
    <p:sldId id="299" r:id="rId41"/>
    <p:sldId id="274" r:id="rId18"/>
    <p:sldId id="293" r:id="rId19"/>
    <p:sldId id="300" r:id="rId42"/>
    <p:sldId id="275" r:id="rId20"/>
    <p:sldId id="294" r:id="rId21"/>
    <p:sldId id="301" r:id="rId43"/>
    <p:sldId id="283" r:id="rId22"/>
    <p:sldId id="295" r:id="rId23"/>
    <p:sldId id="302" r:id="rId44"/>
    <p:sldId id="276" r:id="rId25"/>
    <p:sldId id="281" r:id="rId26"/>
    <p:sldId id="282" r:id="rId27"/>
    <p:sldId id="266" r:id="rId28"/>
    <p:sldId id="297" r:id="rId29"/>
    <p:sldId id="268" r:id="rId30"/>
  </p:sldIdLst>
  <p:sldSz cx="12192000" cy="6858000"/>
  <p:notesSz cx="6858000" cy="9144000"/>
  <p:embeddedFontLst>
    <p:embeddedFont>
      <p:font typeface="KoPub돋움체 Bold" panose="00000800000000000000" pitchFamily="2" charset="-127"/>
      <p:bold r:id="rId32"/>
    </p:embeddedFont>
    <p:embeddedFont>
      <p:font typeface="KoPub돋움체 Medium" panose="00000600000000000000" pitchFamily="2" charset="-127"/>
      <p:regular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70"/>
            <p14:sldId id="303"/>
            <p14:sldId id="258"/>
            <p14:sldId id="259"/>
            <p14:sldId id="260"/>
            <p14:sldId id="285"/>
            <p14:sldId id="286"/>
            <p14:sldId id="287"/>
            <p14:sldId id="288"/>
            <p14:sldId id="289"/>
            <p14:sldId id="272"/>
            <p14:sldId id="291"/>
            <p14:sldId id="298"/>
            <p14:sldId id="273"/>
            <p14:sldId id="292"/>
            <p14:sldId id="299"/>
            <p14:sldId id="274"/>
            <p14:sldId id="293"/>
            <p14:sldId id="300"/>
            <p14:sldId id="275"/>
            <p14:sldId id="294"/>
            <p14:sldId id="301"/>
            <p14:sldId id="283"/>
            <p14:sldId id="295"/>
            <p14:sldId id="302"/>
            <p14:sldId id="276"/>
            <p14:sldId id="281"/>
            <p14:sldId id="282"/>
            <p14:sldId id="266"/>
            <p14:sldId id="29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commentAuthors" Target="commentAuthor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Relationship Id="rId40" Type="http://schemas.openxmlformats.org/officeDocument/2006/relationships/slide" Target="slides/slide14.xml"/><Relationship Id="rId41" Type="http://schemas.openxmlformats.org/officeDocument/2006/relationships/slide" Target="slides/slide17.xml"/><Relationship Id="rId42" Type="http://schemas.openxmlformats.org/officeDocument/2006/relationships/slide" Target="slides/slide20.xml"/><Relationship Id="rId43" Type="http://schemas.openxmlformats.org/officeDocument/2006/relationships/slide" Target="slides/slide23.xml"/><Relationship Id="rId44" Type="http://schemas.openxmlformats.org/officeDocument/2006/relationships/slide" Target="slides/slide26.xml"/><Relationship Id="rId45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연구미팅용 발표자료. 0910 체성분 개별변수 vs AEC 성능비교 결과 발표 — 배경(AEC 신호 부재)→방법→결과→논의 순으로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기존 AEC 연구 트랙에서 fusion·CNN·FPCA·전처리 변형 등 20여 개 독립 방법론을 시도했지만 clinic4 baseline 대비 유의미한 추가 signal을 찾지 못했음(family-wise 보정 후 대부분 생존 0건). 반면 데이터셋에는 이미 VAT/SAT/IMATA/NAMA/LAMA/TAMA 체성분 값과 그 128구간 곡선이 확보돼 있어, 같은 평가 프레임으로 재활용 가능한지 탐색한 것이 이번 분석의 출발점. 세그멘테이션 대체(비열등성) 프레임과는 별개로, 이번엔 '어떤 변수가 실제로 우월한 예측력을 주는가'를 우월성 관점에서 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숫자만 먼저 제시. baseline AUC는 HTN/DM/CKD 순으로 외부검증 0.718/0.666/0.616 — CKD가 가장 낮아 개선 여지가 큼. BH-FDR 보정 후 96건(3질환×32확장모델) 중 17건 생존은 결코 낮은 비율이 아님(AEC family는 과거 60개 중 1건 수준이었던 것과 대비). CKD의 myosteatosis 신호는 비율·스칼라·FPCA·slope 네 가지 서로 다른 표현에서 모두 살아남아 우연일 가능성이 낮다는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AEC와 동일하게 clinic4에 변수를 1개씩만 추가하는 것이 핵심 설계 원칙 — 여러 변수를 한 번에 합치면 SMI=TAMA/Height² 같은 파생관계로 다중공선성이 생기기 때문에 의도적으로 개별 추가만 봄. 변수간 비율 3종은 임상적으로 이미 의미가 정립된 지표(VAT/SAT=중심비만, LAMA/TAMA=myosteatosis)만 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VIF는 clinic4+체성분 설계행렬에만 의존해 HTN/DM/CKD 값이 완전히 동일(대표로 HTN 표시). BMI는 개별모델에서도 Height/Weight와 겹쳐 VIF≈100(위험). SMI는 개별모델 자체 VIF는 낮지만(1.3~1.6) BMI와 마찬가지로 Height/Weight의 파생지표(SMI=TAMA/Height², 슬라이드4 참조)라 스칼라 9종을 한 모델에 같이 넣으면 VIF&gt;100까지 치솟는 변수 — 그래서 BMI와 함께 이 개별 비교에서도 제외. 나머지 6개(VAT/SAT/IMATA/NAMA/LAMA/TAMA)는 각각 개별모델 기준 VIF&lt;2.5로 안전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VIF는 clinic4+체성분 설계행렬에만 의존해 HTN/DM/CKD 값이 완전히 동일(대표로 HTN 표시). VAT/SAT ratio·LAMA/TAMA ratio·IMATA/TAMA ratio 각 개별모델 모두 VIF&lt;3로 안전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VIF는 clinic4+체성분 설계행렬에만 의존해 HTN/DM/CKD 값이 완전히 동일(대표로 HTN 표시). AEC/VAT/SAT/IMATA/NAMA/LAMA/TAMA FPCA 각 개별모델(해당 곡선의 PC만 사용) 모두 VIF&lt;4로 안전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VIF는 clinic4+체성분 설계행렬에만 의존해 HTN/DM/CKD 값이 완전히 동일(대표로 HTN 표시). AEC/VAT/SAT/IMATA/NAMA/LAMA/TAMA uplow_ratio 각 개별모델 모두 VIF&lt;3로 안전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VIF는 clinic4+체성분 설계행렬에만 의존해 HTN/DM/CKD 값이 완전히 동일(대표로 HTN 표시). AEC/VAT/SAT/IMATA/NAMA/LAMA/TAMA slope 각 개별모델 모두 VIF&lt;3로 안전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9021-3954-7807-A929-63B7F847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B23FA-6F05-7A68-4EED-4D1D24038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D3A8D-395D-FA09-B9BD-99210E977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 스칼라 8종 중 LAMA가 3질환 모두에서 clinic4 대비 external ΔAUC가 가장 큼(HTN +0.017, DM +0.016, CKD +0.043) — 이후 비율·FPCA·slope에서도 LAMA 계열이 반복해서 상위권인 것의 출발점.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DBFC5-43C5-9D99-1A72-0FE6B0B13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5450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패널 legend는 clinic4 + 해당 섹션 변수들의 internal/external AUC. component별 판별력(ROC)·보정(Calibration)·임상순이익(DCA)을 한 장에서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3FD2-D6B3-DDBF-607D-E6677DD3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B95E-2841-0EFA-B406-7DAE06FB2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2525-F6C2-2291-00D0-FAE3A741C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 비율 3종 중 HTN·CKD는 LAMA/TAMA ratio, DM은 VAT/SAT ratio가 근소하게 최고(DM에서도 LAMA/TAMA ratio가 근소한 2위) — 어느 비율을 쓰든 clinic4 대비 개선은 뚜렷.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1F13A-7AE4-D714-6967-1D5C38679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2807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패널 legend는 clinic4 + 해당 섹션 변수들의 internal/external AUC. component별 판별력(ROC)·보정(Calibration)·임상순이익(DCA)을 한 장에서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9803-0BC6-EC07-CD32-5E53B406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56E70-7F9F-B7FB-E311-3B822DFFE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C6431-BDF9-A5CE-A23D-D83C81AF7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고정값 n=3 대신 곡선별 elbow(Kneedle) 검증값을 그대로 사용(AEC·IMATA=3, 나머지=2). LAMA/NAMA FPCA가 CKD에서 스칼라·비율과 같은 방향으로 개선을 보여 표현 방식이 달라도 결과가 일관됨을 시사.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C9F9D-C088-7FF0-FB35-BA8D77A26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8879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패널 legend는 clinic4 + 해당 섹션 변수들의 internal/external AUC. component별 판별력(ROC)·보정(Calibration)·임상순이익(DCA)을 한 장에서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B811A-8B0C-F7C9-EFAD-5FCCEFA7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56DCA-5230-01B8-6C27-A7C07E8E9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A292B-8EC8-90F1-37B8-F92313F08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 Upper/Lower ratio 7종 중 DM·CKD는 AEC, HTN은 VAT가 최고 — AEC가 스칼라·비율에서는 top5에 못 들었지만 이 표현에서는 유일하게 경쟁력을 보여 체성분과는 다른 축의 신호일 가능성을 시사.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06AE-AC15-7EE0-2C18-BC8E0C893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161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패널 legend는 clinic4 + 해당 섹션 변수들의 internal/external AUC. component별 판별력(ROC)·보정(Calibration)·임상순이익(DCA)을 한 장에서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A528-9910-2AA7-92AF-C33B4BA6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C210-EECD-E7B9-FF0F-DF1BCF8BE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D67F9-E8F1-E2A9-4C82-533517C13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 slope 7종 중 최고 모델이 질환마다 다름(HTN=VAT, DM=AEC, CKD=LAMA) — 5개 섹션을 통틀어 AEC가 단독 1위를 차지하는 유일한 표현.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EFDB-8268-35A7-C4FF-CE423890E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12207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패널 legend는 clinic4 + 해당 섹션 변수들의 internal/external AUC. component별 판별력(ROC)·보정(Calibration)·임상순이익(DCA)을 한 장에서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4CC5-41D3-E1FC-A090-16EE69C8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80679-D17B-00CF-6509-FFFF63D54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AFEC2-5F7B-0F24-0DFF-876175EE2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7404-9264-32B4-8B36-CED1BA681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93855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D876-89A4-67D2-E7A4-11DDD301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C1837-6FF5-5FAB-F4EE-7D1FA9D5C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980F9-92C7-69A7-8D0B-D286AA81D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DM의 top5(IMATA FPCA, AEC slope, LAMA, AEC FPCA, AEC Upper/Lower ratio)는 HTN·CKD와 달리 AEC·IMATA 계열이 주를 이루고 LAMA는 1개뿐 - VAT 계열은 top5 밖.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2286-55CD-24A3-62A7-3BE5ED522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93325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EDA9-CE55-9BC0-F257-3AAE13E3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55855-68B3-2884-43BF-1D6D68FD2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28069-4228-C2C3-7529-FC30975C9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CKD의 top5(LAMA/TAMA ratio, LAMA, LAMA FPCA, LAMA slope, IMATA FPCA)는 5개 중 4개가 LAMA 계열(myosteatosis)로 구성 - VAT·AEC는 top5 밖, HTN·DM과 달리 CKD는 근감소·지방침윤 신호가 특히 지배적.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C66B-5593-EE68-DB30-13412170B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1996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다중비교 보정 후에도 살아남은 17건 전체 표(32모델로 확장). slope 표현이 3곳(HTN IMATA, DM IMATA, CKD LAMA/AEC)에 새로 등장한 점을 짚을 것. 표가 이전보다 길어졌으니 발표 시 CKD/HTN/DM 순으로 묶어 설명. 예상 질문 대비: CKD TAMA Upper/Lower ratio는 ΔAUC=-0.0014(사실상 0에 가까운 악화)인데도 q=0.022로 유의 — external n=1,123이라 표본이 커 미세한 차이도 통계적으로는 유의하게 잡히는 것(통계적 유의성≠임상적 유의미)이라고 먼저 설명할 것. DM IMATA Upper/Lower ratio(ΔAUC=+0.0011)도 같은 케이스.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gangnam(internal)으로 학습한 frozen 모델을 new10000에 그대로 적용해 평가만 함(재학습 없음). clinic4 baseline AUC: HTN 0.655(n=10,400), DM 0.642(n=10,400) - 기존 external(신촌, HTN 0.718/DM 0.666)보다 낮음(40~79세로 좁은 연령대). 표는 신촌과 동일하게 섹션별 best 모델의 clinic4 대비 ΔAUC로 표기(그래프 대신 표 형식). DM에서 VAT 계열(비율·FPCA·Upper/Lower·slope)이 +0.007~+0.014로 방향은 일관되게 개선이지만, BH-FDR 보정 후 10건 모두 q≥0.05로 유의하지 않음(최저 q=0.090) — 신촌에서 본 개선이 이 코호트에서는 통계적으로 재현되지 않았다는 점을 분명히 말할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myosteatosis(LAMA/NAMA)와 지방침윤 방향성(IMATA slope)이 표현 방식에 관계없이 반복적으로 유의했다는 것이 핵심 메시지. 곡선 표현을 3종까지 늘려도(FPCA/Upper-Lower ratio/slope) 결론이 흔들리지 않고 오히려 새 신호로 보강됐다는 점이 강건성 주장을 뒷받침.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Confusion Matrix는 external(신촌) 코호트, 각 모델의 internal(강남) OOF에서 구한 Youden index 임계값 기준(로지스틱 회귀 예측확률 cutoff, 사용자 확인 항목). 스칼라 8종 중 3질환 모두 LAMA가 best. HTN은 민감도·특이도가 clinic4 대비 고르게 소폭 개선. DM은 특이도가 개선(TN 323→409)되는 대신 민감도는 소폭 하락(FN 68→83). CKD는 반대로 민감도가 크게 개선(FN 91→49, TP 97→139)되는 대신 특이도가 하락(TN 589→452) — AUC 개선폭이 비슷해도 Youden 임계값에 따라 민감도/특이도 중 어느 쪽이 좋아지는지는 질환마다 다름.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Confusion Matrix는 external(신촌), Youden index 임계값 기준(위 스칼라 슬라이드와 동일 방식). HTN·CKD는 LAMA/TAMA ratio, DM은 VAT/SAT ratio가 best. CKD에서 개선폭이 가장 커 민감도가 크게 상승(FN 91→43, TP 97→145)하는 대신 특이도는 하락(TN 589→444) — myosteatosis 비율이 CKD의 참양성 포착에 특히 유리함을 시사.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Confusion Matrix는 external(신촌), Youden index 임계값 기준. HTN·CKD는 LAMA FPCA(n=2), DM은 IMATA FPCA(n=3)가 best. 3질환 모두 민감도(TP) 쪽으로 개선이 나타남 — DM은 FN 68→50, CKD는 FN 91→61로 감소, 대신 특이도는 소폭 하락.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Confusion Matrix는 external(신촌), Youden index 임계값 기준. HTN은 VAT, DM·CKD는 AEC의 Upper/Lower ratio가 best. HTN·CKD는 민감도가 크게 개선(CKD FN 91→54)되고 특이도가 하락하는 반면, DM은 반대로 특이도가 개선(TN 323→362)되고 민감도가 소폭 하락 — 질환마다 trade-off 방향이 다름.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Confusion Matrix는 external(신촌), Youden index 임계값 기준. HTN은 VAT, DM은 AEC, CKD는 LAMA의 slope가 best. HTN은 특이도가 개선(FP 274→257)되는 방향, DM·CKD는 민감도가 개선되는 방향(FN 68→52, 91→70)으로 — 5개 섹션 전체를 통틀어 AUC 개선이 민감도/특이도 중 어느 쪽으로 나타나는지는 질환·체성분 표현별로 상이함을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0904 미팅 이후 두 번의 중간 미팅(0908, 0914)이 있었음을 먼저 짚고 시작 — 오늘 자료가 그 연장선임을 분명히 할 것. 0908은 AEC 자체를 baseline에 추가하는 실험이었고 Bonferroni 보정 후 강건한 신호가 없었던 것이 체성분 쪽으로 방향을 튼 계기. 0914에서 체성분으로 전환한 첫 결과(HTN/DM/CKD baseline AUC, 17/96건 생존, CKD myosteatosis)가 오늘 발표의 뼈대이고, 오늘은 거기에 VIF·Top5·Confusion Matrix·new10000 검증을 추가해 같은 결론이 여러 각도에서 재현되는지 보강한 것이라는 흐름으로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9672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chemeClr val="bg1"/>
                </a:solidFill>
              </a:rPr>
              <a:t>체성분 개별 변수 vs AEC 성능비교 (HTN·DM·CKD)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2026. 09. </a:t>
            </a:r>
            <a:r>
              <a:rPr sz="1600">
                <a:solidFill>
                  <a:schemeClr val="bg1"/>
                </a:solidFill>
              </a:rPr>
              <a:t>1</a:t>
            </a:r>
            <a:r>
              <a:rPr lang="en-US" sz="1600">
                <a:solidFill>
                  <a:schemeClr val="bg1"/>
                </a:solidFill>
              </a:rPr>
              <a:t>8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err="1"/>
              <a:t>기존</a:t>
            </a:r>
            <a:r>
              <a:rPr sz="1800" dirty="0"/>
              <a:t> AEC-128 </a:t>
            </a:r>
            <a:r>
              <a:rPr sz="1800" dirty="0" err="1"/>
              <a:t>곡선</a:t>
            </a:r>
            <a:r>
              <a:rPr sz="1800" dirty="0"/>
              <a:t> </a:t>
            </a:r>
            <a:r>
              <a:rPr sz="1800" dirty="0" err="1"/>
              <a:t>연구</a:t>
            </a:r>
            <a:r>
              <a:rPr sz="1800" dirty="0"/>
              <a:t>: 20여 개 </a:t>
            </a:r>
            <a:r>
              <a:rPr sz="1800" dirty="0" err="1"/>
              <a:t>독립</a:t>
            </a:r>
            <a:r>
              <a:rPr sz="1800" dirty="0"/>
              <a:t> </a:t>
            </a:r>
            <a:r>
              <a:rPr sz="1800" dirty="0" err="1"/>
              <a:t>방법론</a:t>
            </a:r>
            <a:r>
              <a:rPr sz="1800" dirty="0"/>
              <a:t>(FPCA, 1D CNN, GAF </a:t>
            </a:r>
            <a:r>
              <a:rPr sz="1800" dirty="0" err="1"/>
              <a:t>이미지</a:t>
            </a:r>
            <a:r>
              <a:rPr sz="1800" dirty="0"/>
              <a:t>, multimodal fusion 등)</a:t>
            </a:r>
            <a:r>
              <a:rPr sz="1800" dirty="0" err="1"/>
              <a:t>에서</a:t>
            </a:r>
            <a:r>
              <a:rPr sz="1800" dirty="0"/>
              <a:t> clinic4 </a:t>
            </a:r>
            <a:r>
              <a:rPr sz="1800" dirty="0" err="1"/>
              <a:t>대비</a:t>
            </a:r>
            <a:r>
              <a:rPr sz="1800" dirty="0"/>
              <a:t> </a:t>
            </a:r>
            <a:r>
              <a:rPr sz="1800" dirty="0" err="1"/>
              <a:t>유의미한</a:t>
            </a:r>
            <a:r>
              <a:rPr sz="1800" dirty="0"/>
              <a:t> </a:t>
            </a:r>
            <a:r>
              <a:rPr sz="1800" dirty="0" err="1"/>
              <a:t>추가</a:t>
            </a:r>
            <a:r>
              <a:rPr sz="1800" dirty="0"/>
              <a:t> signal </a:t>
            </a:r>
            <a:r>
              <a:rPr sz="1800" dirty="0" err="1"/>
              <a:t>확인</a:t>
            </a:r>
            <a:r>
              <a:rPr sz="1800" dirty="0"/>
              <a:t> 안 됨</a:t>
            </a:r>
          </a:p>
          <a:p>
            <a:r>
              <a:rPr sz="1800" dirty="0" err="1"/>
              <a:t>gangnam</a:t>
            </a:r>
            <a:r>
              <a:rPr sz="1800" dirty="0"/>
              <a:t>/</a:t>
            </a:r>
            <a:r>
              <a:rPr sz="1800" dirty="0" err="1"/>
              <a:t>sinchon_final_dataset.xlsx에는</a:t>
            </a:r>
            <a:r>
              <a:rPr sz="1800" dirty="0"/>
              <a:t> AEC </a:t>
            </a:r>
            <a:r>
              <a:rPr sz="1800" dirty="0" err="1"/>
              <a:t>외에도</a:t>
            </a:r>
            <a:r>
              <a:rPr sz="1800" dirty="0"/>
              <a:t> VAT/SAT/IMATA/NAMA/LAMA/TAMA </a:t>
            </a:r>
            <a:r>
              <a:rPr sz="1800" dirty="0" err="1"/>
              <a:t>체성분</a:t>
            </a:r>
            <a:r>
              <a:rPr sz="1800" dirty="0"/>
              <a:t> 스칼라·128구간 </a:t>
            </a:r>
            <a:r>
              <a:rPr sz="1800" dirty="0" err="1"/>
              <a:t>곡선</a:t>
            </a:r>
            <a:r>
              <a:rPr sz="1800" dirty="0"/>
              <a:t> </a:t>
            </a:r>
            <a:r>
              <a:rPr sz="1800" dirty="0" err="1"/>
              <a:t>데이터가</a:t>
            </a:r>
            <a:r>
              <a:rPr sz="1800" dirty="0"/>
              <a:t> </a:t>
            </a:r>
            <a:r>
              <a:rPr sz="1800" dirty="0" err="1"/>
              <a:t>이미</a:t>
            </a:r>
            <a:r>
              <a:rPr sz="1800" dirty="0"/>
              <a:t> </a:t>
            </a:r>
            <a:r>
              <a:rPr sz="1800" dirty="0" err="1"/>
              <a:t>확보되어</a:t>
            </a:r>
            <a:r>
              <a:rPr sz="1800" dirty="0"/>
              <a:t> </a:t>
            </a:r>
            <a:r>
              <a:rPr sz="1800" dirty="0" err="1"/>
              <a:t>있음</a:t>
            </a:r>
            <a:endParaRPr sz="1800" dirty="0"/>
          </a:p>
          <a:p>
            <a:r>
              <a:rPr sz="1800" dirty="0" err="1"/>
              <a:t>질문</a:t>
            </a:r>
            <a:r>
              <a:rPr sz="1800" dirty="0"/>
              <a:t>: </a:t>
            </a:r>
            <a:r>
              <a:rPr sz="1800" dirty="0" err="1"/>
              <a:t>AEC와</a:t>
            </a:r>
            <a:r>
              <a:rPr sz="1800" dirty="0"/>
              <a:t> </a:t>
            </a:r>
            <a:r>
              <a:rPr sz="1800" dirty="0" err="1"/>
              <a:t>동일한</a:t>
            </a:r>
            <a:r>
              <a:rPr sz="1800" dirty="0"/>
              <a:t> </a:t>
            </a:r>
            <a:r>
              <a:rPr sz="1800" dirty="0" err="1"/>
              <a:t>프레임</a:t>
            </a:r>
            <a:r>
              <a:rPr sz="1800" dirty="0"/>
              <a:t>(clinic4 + </a:t>
            </a:r>
            <a:r>
              <a:rPr sz="1800" dirty="0" err="1"/>
              <a:t>변수</a:t>
            </a:r>
            <a:r>
              <a:rPr sz="1800" dirty="0"/>
              <a:t> 1개, internal </a:t>
            </a:r>
            <a:r>
              <a:rPr sz="1800" dirty="0" err="1"/>
              <a:t>CV·external</a:t>
            </a:r>
            <a:r>
              <a:rPr sz="1800" dirty="0"/>
              <a:t> </a:t>
            </a:r>
            <a:r>
              <a:rPr sz="1800" dirty="0" err="1"/>
              <a:t>DeLong·BH-FDR</a:t>
            </a:r>
            <a:r>
              <a:rPr sz="1800" dirty="0"/>
              <a:t>)</a:t>
            </a:r>
            <a:r>
              <a:rPr sz="1800" dirty="0" err="1"/>
              <a:t>으로</a:t>
            </a:r>
            <a:r>
              <a:rPr sz="1800" dirty="0"/>
              <a:t> </a:t>
            </a:r>
            <a:r>
              <a:rPr sz="1800" dirty="0" err="1"/>
              <a:t>비교했을</a:t>
            </a:r>
            <a:r>
              <a:rPr sz="1800" dirty="0"/>
              <a:t> 때, </a:t>
            </a:r>
            <a:r>
              <a:rPr sz="1800" dirty="0" err="1"/>
              <a:t>다른</a:t>
            </a:r>
            <a:r>
              <a:rPr sz="1800" dirty="0"/>
              <a:t> </a:t>
            </a:r>
            <a:r>
              <a:rPr sz="1800" dirty="0" err="1"/>
              <a:t>체성분</a:t>
            </a:r>
            <a:r>
              <a:rPr sz="1800" dirty="0"/>
              <a:t> </a:t>
            </a:r>
            <a:r>
              <a:rPr sz="1800" dirty="0" err="1"/>
              <a:t>데이터가</a:t>
            </a:r>
            <a:r>
              <a:rPr sz="1800" dirty="0"/>
              <a:t> 더 </a:t>
            </a:r>
            <a:r>
              <a:rPr sz="1800" dirty="0" err="1"/>
              <a:t>강한</a:t>
            </a:r>
            <a:r>
              <a:rPr sz="1800" dirty="0"/>
              <a:t> </a:t>
            </a:r>
            <a:r>
              <a:rPr sz="1800" dirty="0" err="1"/>
              <a:t>신호를</a:t>
            </a:r>
            <a:r>
              <a:rPr sz="1800" dirty="0"/>
              <a:t> </a:t>
            </a:r>
            <a:r>
              <a:rPr sz="1800" dirty="0" err="1"/>
              <a:t>보이는가</a:t>
            </a:r>
            <a:r>
              <a:rPr sz="1800"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미팅(0904) 이후 진행 경과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 dirty="0"/>
              <a:t>0908(AEC baseline 확장): </a:t>
            </a:r>
            <a:r>
              <a:rPr sz="1800" dirty="0"/>
              <a:t>baseline 6종 × AEC feature 2종(FPCA/Upper-Lower ratio) × 3질환, 72건 DeLong 검정 — Bonferroni 보정 후 개별유의 22건 전부 미달(생존 0건). 예외적으로 CKD + Upper/Lower ratio만 baseline 6종 전부에서 개별유의</a:t>
            </a:r>
          </a:p>
          <a:p>
            <a:r>
              <a:rPr sz="1800" b="1" dirty="0"/>
              <a:t>0914(체성분 개별변수로 전환): </a:t>
            </a:r>
            <a:r>
              <a:rPr sz="1800" dirty="0"/>
              <a:t>AEC 대신 이미 확보된 체성분 스칼라·곡선 데이터로 동일 프레임 재적용 — clinic4 대비 external ΔAUC 최대 HTN·DM +0.018, CKD +0.046, BH-FDR 후 17/96건 생존, CKD myosteatosis(LAMA 계열) 신호 첫 확인</a:t>
            </a:r>
          </a:p>
          <a:p>
            <a:r>
              <a:rPr sz="1800" b="1" dirty="0"/>
              <a:t>오늘(0918): </a:t>
            </a:r>
            <a:r>
              <a:rPr sz="1800" dirty="0"/>
              <a:t>위 체성분 분석에 VIF 다중공선성 검증, Top5 교차비교, Confusion Matrix, 3번째 검증 코호트(new10000)를 추가해 강건성을 재확인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1800" dirty="0"/>
              <a:t>clinic4(age/sex/height/weight) </a:t>
            </a:r>
            <a:r>
              <a:rPr sz="1800" dirty="0" err="1"/>
              <a:t>baseline에</a:t>
            </a:r>
            <a:r>
              <a:rPr sz="1800" dirty="0"/>
              <a:t> </a:t>
            </a:r>
            <a:r>
              <a:rPr sz="1800" dirty="0" err="1"/>
              <a:t>체성분</a:t>
            </a:r>
            <a:r>
              <a:rPr sz="1800" dirty="0"/>
              <a:t> 32개 </a:t>
            </a:r>
            <a:r>
              <a:rPr sz="1800" dirty="0" err="1"/>
              <a:t>확장모델을</a:t>
            </a:r>
            <a:r>
              <a:rPr sz="1800" dirty="0"/>
              <a:t> 1개씩 </a:t>
            </a:r>
            <a:r>
              <a:rPr sz="1800" dirty="0" err="1"/>
              <a:t>개별</a:t>
            </a:r>
            <a:r>
              <a:rPr sz="1800" dirty="0"/>
              <a:t> </a:t>
            </a:r>
            <a:r>
              <a:rPr sz="1800" dirty="0" err="1"/>
              <a:t>추가해</a:t>
            </a:r>
            <a:r>
              <a:rPr sz="1800" dirty="0"/>
              <a:t> </a:t>
            </a:r>
            <a:r>
              <a:rPr sz="1800" dirty="0" err="1"/>
              <a:t>AEC와</a:t>
            </a:r>
            <a:r>
              <a:rPr sz="1800" dirty="0"/>
              <a:t> </a:t>
            </a:r>
            <a:r>
              <a:rPr sz="1800" dirty="0" err="1"/>
              <a:t>동일한</a:t>
            </a:r>
            <a:r>
              <a:rPr sz="1800" dirty="0"/>
              <a:t> </a:t>
            </a:r>
            <a:r>
              <a:rPr sz="1800" dirty="0" err="1"/>
              <a:t>방식으로</a:t>
            </a:r>
            <a:r>
              <a:rPr sz="1800" dirty="0"/>
              <a:t> </a:t>
            </a:r>
            <a:r>
              <a:rPr sz="1800" dirty="0" err="1"/>
              <a:t>성능비교</a:t>
            </a:r>
            <a:r>
              <a:rPr sz="1800" dirty="0"/>
              <a:t>(</a:t>
            </a:r>
            <a:r>
              <a:rPr sz="1800" dirty="0" err="1"/>
              <a:t>스칼라</a:t>
            </a:r>
            <a:r>
              <a:rPr sz="1800" dirty="0"/>
              <a:t> 8종 · </a:t>
            </a:r>
            <a:r>
              <a:rPr sz="1800" dirty="0" err="1"/>
              <a:t>변수간</a:t>
            </a:r>
            <a:r>
              <a:rPr sz="1800" dirty="0"/>
              <a:t> </a:t>
            </a:r>
            <a:r>
              <a:rPr sz="1800" dirty="0" err="1"/>
              <a:t>비율</a:t>
            </a:r>
            <a:r>
              <a:rPr sz="1800" dirty="0"/>
              <a:t> 3종 · </a:t>
            </a:r>
            <a:r>
              <a:rPr sz="1800" dirty="0" err="1"/>
              <a:t>곡선</a:t>
            </a:r>
            <a:r>
              <a:rPr sz="1800" dirty="0"/>
              <a:t> FPCA/Upper-Lower ratio/slope 7종×3)</a:t>
            </a:r>
          </a:p>
          <a:p>
            <a:r>
              <a:rPr sz="1800" dirty="0" err="1"/>
              <a:t>질환별</a:t>
            </a:r>
            <a:r>
              <a:rPr sz="1800" dirty="0"/>
              <a:t> baseline AUC(external): HTN 0.718 · DM 0.666 · CKD 0.616</a:t>
            </a:r>
          </a:p>
          <a:p>
            <a:r>
              <a:rPr sz="1800" dirty="0" err="1"/>
              <a:t>internal은</a:t>
            </a:r>
            <a:r>
              <a:rPr sz="1800" dirty="0"/>
              <a:t> 5-fold CV OOF, </a:t>
            </a:r>
            <a:r>
              <a:rPr sz="1800" dirty="0" err="1"/>
              <a:t>external은</a:t>
            </a:r>
            <a:r>
              <a:rPr sz="1800" dirty="0"/>
              <a:t> </a:t>
            </a:r>
            <a:r>
              <a:rPr sz="1800" dirty="0" err="1"/>
              <a:t>동결모델</a:t>
            </a:r>
            <a:r>
              <a:rPr sz="1800" dirty="0"/>
              <a:t> 1회 </a:t>
            </a:r>
            <a:r>
              <a:rPr sz="1800" dirty="0" err="1"/>
              <a:t>평가</a:t>
            </a:r>
            <a:r>
              <a:rPr sz="1800" dirty="0"/>
              <a:t> + DeLong test</a:t>
            </a:r>
          </a:p>
          <a:p>
            <a:r>
              <a:rPr sz="1800" dirty="0"/>
              <a:t>BH-FDR </a:t>
            </a:r>
            <a:r>
              <a:rPr sz="1800" dirty="0" err="1"/>
              <a:t>다중비교</a:t>
            </a:r>
            <a:r>
              <a:rPr sz="1800" dirty="0"/>
              <a:t> </a:t>
            </a:r>
            <a:r>
              <a:rPr sz="1800" dirty="0" err="1"/>
              <a:t>보정</a:t>
            </a:r>
            <a:r>
              <a:rPr sz="1800" dirty="0"/>
              <a:t>(3질환×32모델=96건 family) 후 </a:t>
            </a:r>
            <a:r>
              <a:rPr sz="1800" dirty="0" err="1"/>
              <a:t>유의</a:t>
            </a:r>
            <a:r>
              <a:rPr sz="1800" dirty="0"/>
              <a:t>(q&lt;0.05): 17/96건</a:t>
            </a:r>
          </a:p>
          <a:p>
            <a:r>
              <a:rPr sz="1800" dirty="0" err="1"/>
              <a:t>CKD에서</a:t>
            </a:r>
            <a:r>
              <a:rPr sz="1800" dirty="0"/>
              <a:t> </a:t>
            </a:r>
            <a:r>
              <a:rPr sz="1800" dirty="0" err="1"/>
              <a:t>myosteatosis</a:t>
            </a:r>
            <a:r>
              <a:rPr sz="1800" dirty="0"/>
              <a:t> </a:t>
            </a:r>
            <a:r>
              <a:rPr sz="1800" dirty="0" err="1"/>
              <a:t>지표</a:t>
            </a:r>
            <a:r>
              <a:rPr sz="1800" dirty="0"/>
              <a:t>(LAMA/TAMA ratio, LAMA, LAMA FPCA, LAMA slope, NAMA FPCA)가 5가지 </a:t>
            </a:r>
            <a:r>
              <a:rPr sz="1800" dirty="0" err="1"/>
              <a:t>표현</a:t>
            </a:r>
            <a:r>
              <a:rPr sz="1800" dirty="0"/>
              <a:t> </a:t>
            </a:r>
            <a:r>
              <a:rPr sz="1800" dirty="0" err="1"/>
              <a:t>모두</a:t>
            </a:r>
            <a:r>
              <a:rPr sz="1800" dirty="0"/>
              <a:t> </a:t>
            </a:r>
            <a:r>
              <a:rPr sz="1800" dirty="0" err="1"/>
              <a:t>최상위로</a:t>
            </a:r>
            <a:r>
              <a:rPr sz="1800" dirty="0"/>
              <a:t> </a:t>
            </a:r>
            <a:r>
              <a:rPr sz="1800" dirty="0" err="1"/>
              <a:t>생존</a:t>
            </a:r>
            <a:r>
              <a:rPr sz="1800" dirty="0"/>
              <a:t> — </a:t>
            </a:r>
            <a:r>
              <a:rPr sz="1800" dirty="0" err="1"/>
              <a:t>가장</a:t>
            </a:r>
            <a:r>
              <a:rPr sz="1800" dirty="0"/>
              <a:t> </a:t>
            </a:r>
            <a:r>
              <a:rPr sz="1800" dirty="0" err="1"/>
              <a:t>일관된</a:t>
            </a:r>
            <a:r>
              <a:rPr sz="1800" dirty="0"/>
              <a:t> </a:t>
            </a:r>
            <a:r>
              <a:rPr sz="1800" dirty="0" err="1"/>
              <a:t>신호</a:t>
            </a:r>
            <a:endParaRPr sz="1800" dirty="0"/>
          </a:p>
          <a:p>
            <a:r>
              <a:rPr sz="1800" dirty="0"/>
              <a:t>IMATA </a:t>
            </a:r>
            <a:r>
              <a:rPr sz="1800" dirty="0" err="1"/>
              <a:t>slope는</a:t>
            </a:r>
            <a:r>
              <a:rPr sz="1800" dirty="0"/>
              <a:t> HTN·DM 둘 </a:t>
            </a:r>
            <a:r>
              <a:rPr sz="1800" dirty="0" err="1"/>
              <a:t>다에서</a:t>
            </a:r>
            <a:r>
              <a:rPr sz="1800" dirty="0"/>
              <a:t> </a:t>
            </a:r>
            <a:r>
              <a:rPr sz="1800" dirty="0" err="1"/>
              <a:t>유의</a:t>
            </a:r>
            <a:r>
              <a:rPr sz="1800" dirty="0"/>
              <a:t>(q≈0.005) — slope </a:t>
            </a:r>
            <a:r>
              <a:rPr sz="1800" dirty="0" err="1"/>
              <a:t>표현에서만</a:t>
            </a:r>
            <a:r>
              <a:rPr sz="1800" dirty="0"/>
              <a:t> </a:t>
            </a:r>
            <a:r>
              <a:rPr sz="1800" dirty="0" err="1"/>
              <a:t>드러난</a:t>
            </a:r>
            <a:r>
              <a:rPr sz="1800" dirty="0"/>
              <a:t> </a:t>
            </a:r>
            <a:r>
              <a:rPr sz="1800" dirty="0" err="1"/>
              <a:t>신규</a:t>
            </a:r>
            <a:r>
              <a:rPr sz="1800" dirty="0"/>
              <a:t> </a:t>
            </a:r>
            <a:r>
              <a:rPr sz="1800" dirty="0" err="1"/>
              <a:t>발견</a:t>
            </a:r>
            <a:endParaRPr sz="1800" dirty="0"/>
          </a:p>
          <a:p>
            <a:r>
              <a:rPr sz="1800" dirty="0" err="1"/>
              <a:t>체성분</a:t>
            </a:r>
            <a:r>
              <a:rPr sz="1800" dirty="0"/>
              <a:t>(LAMA/TAMA ratio 등)을 </a:t>
            </a:r>
            <a:r>
              <a:rPr sz="1800" dirty="0" err="1"/>
              <a:t>baseline에</a:t>
            </a:r>
            <a:r>
              <a:rPr sz="1800" dirty="0"/>
              <a:t> </a:t>
            </a:r>
            <a:r>
              <a:rPr sz="1800" dirty="0" err="1"/>
              <a:t>고정하면</a:t>
            </a:r>
            <a:r>
              <a:rPr sz="1800" dirty="0"/>
              <a:t> AEC </a:t>
            </a:r>
            <a:r>
              <a:rPr sz="1800" dirty="0" err="1"/>
              <a:t>추가효과는</a:t>
            </a:r>
            <a:r>
              <a:rPr sz="1800" dirty="0"/>
              <a:t> 9건 중 0건 </a:t>
            </a:r>
            <a:r>
              <a:rPr sz="1800" dirty="0" err="1"/>
              <a:t>유의</a:t>
            </a:r>
            <a:r>
              <a:rPr sz="1800" dirty="0"/>
              <a:t> — </a:t>
            </a:r>
            <a:r>
              <a:rPr sz="1800" dirty="0" err="1"/>
              <a:t>체성분이</a:t>
            </a:r>
            <a:r>
              <a:rPr sz="1800" dirty="0"/>
              <a:t> AEC </a:t>
            </a:r>
            <a:r>
              <a:rPr sz="1800" dirty="0" err="1"/>
              <a:t>정보를</a:t>
            </a:r>
            <a:r>
              <a:rPr sz="1800" dirty="0"/>
              <a:t> </a:t>
            </a:r>
            <a:r>
              <a:rPr sz="1800" dirty="0" err="1"/>
              <a:t>상당</a:t>
            </a:r>
            <a:r>
              <a:rPr sz="1800" dirty="0"/>
              <a:t> </a:t>
            </a:r>
            <a:r>
              <a:rPr sz="1800" dirty="0" err="1"/>
              <a:t>부분</a:t>
            </a:r>
            <a:r>
              <a:rPr sz="1800" dirty="0"/>
              <a:t> </a:t>
            </a:r>
            <a:r>
              <a:rPr sz="1800" dirty="0" err="1"/>
              <a:t>포함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① 모델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1800"/>
              <a:t>Baseline clinic4: age, sex, height, weight</a:t>
            </a:r>
          </a:p>
          <a:p>
            <a:r>
              <a:rPr sz="1800"/>
              <a:t>스칼라 8종: BMI, SMI, VAT, SAT, IMATA, NAMA, LAMA, TAMA (metadata 시트 값 그대로 clinic4에 1개씩 추가)</a:t>
            </a:r>
          </a:p>
          <a:p>
            <a:r>
              <a:rPr sz="1800"/>
              <a:t>변수간 비율 3종: VAT/SAT(중심비만), LAMA/TAMA(myosteatosis), IMATA/TAMA(근육 내 지방침윤)</a:t>
            </a:r>
          </a:p>
          <a:p>
            <a:r>
              <a:rPr sz="1800"/>
              <a:t>곡선 7종(AEC 포함) × 3표현: FPCA(elbow-선정 n), Upper/Lower(앞64/뒤64) 평균비율, slope(liver→pubis 선형회귀 기울기)</a:t>
            </a:r>
          </a:p>
          <a:p>
            <a:r>
              <a:rPr sz="1800"/>
              <a:t>slope는 "FPCA·Upper/Lower ratio 말고 다른 방법이 있나"는 질문에서 추가 - 곡선의 단조 증감 방향을 포착하는 표현으로, 시도 결과 신규 유의신호(IMATA slope)가 확인돼 채택</a:t>
            </a:r>
          </a:p>
          <a:p>
            <a:r>
              <a:rPr sz="1800"/>
              <a:t>총 32개 확장모델 = 스칼라 8 + 비율 3 + 곡선 7×3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② 검증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Internal(강남, n≈1259): StratifiedKFold(5) OOF로 AUC 산출 — 모델 선택/탐색은 이 안에서만</a:t>
            </a:r>
          </a:p>
          <a:p>
            <a:r>
              <a:rPr sz="1800"/>
              <a:t>External(신촌, n≈1123): internal 전체로 학습한 동결모델을 1회만 평가(모델 선택에는 사용하지 않음)</a:t>
            </a:r>
          </a:p>
          <a:p>
            <a:r>
              <a:rPr sz="1800"/>
              <a:t>FPCA는 fold별로 학습 fold에서만 PCA를 다시 fit(곡선 정보 누수 방지), n_components은 곡선별 elbow 값 고정 사용(고정값 3에서 elbow 기반으로 전환)</a:t>
            </a:r>
          </a:p>
          <a:p>
            <a:r>
              <a:rPr sz="1800"/>
              <a:t>로지스틱 회귀는 모든 모델에 동일 기본값(C=1.0, L2, lbfgs) 적용 — 변수별 그리드서치는 하지 않음</a:t>
            </a:r>
          </a:p>
          <a:p>
            <a:r>
              <a:rPr sz="1800"/>
              <a:t>DeLong test로 clinic4 대비 ΔAUC 유의성 검정, cohort(internal/external)별로 BH-FDR 다중비교 보정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③-1 개별모델 VIF — 체성분 스칼라 6종</a:t>
            </a:r>
          </a:p>
        </p:txBody>
      </p:sp>
      <p:pic>
        <p:nvPicPr>
          <p:cNvPr id="3" name="Picture 2" descr="per_model_sc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022045"/>
            <a:ext cx="11176000" cy="5386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③-2 개별모델 VIF — 변수간 비율 3종</a:t>
            </a:r>
          </a:p>
        </p:txBody>
      </p:sp>
      <p:pic>
        <p:nvPicPr>
          <p:cNvPr id="3" name="Picture 2" descr="per_model_inter_var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827579"/>
            <a:ext cx="11176000" cy="3775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③-3 개별모델 VIF — 곡선 FPCA(elbow n) 7종</a:t>
            </a:r>
          </a:p>
        </p:txBody>
      </p:sp>
      <p:pic>
        <p:nvPicPr>
          <p:cNvPr id="3" name="Picture 2" descr="per_model_curve_fpca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41571"/>
            <a:ext cx="11176000" cy="49475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③-4 개별모델 VIF — 곡선 Upper/Lower ratio 7종</a:t>
            </a:r>
          </a:p>
        </p:txBody>
      </p:sp>
      <p:pic>
        <p:nvPicPr>
          <p:cNvPr id="3" name="Picture 2" descr="per_model_curve_uplow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43423"/>
            <a:ext cx="11176000" cy="49438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③-5 개별모델 VIF — 곡선 slope 7종</a:t>
            </a:r>
          </a:p>
        </p:txBody>
      </p:sp>
      <p:pic>
        <p:nvPicPr>
          <p:cNvPr id="3" name="Picture 2" descr="per_model_curve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43423"/>
            <a:ext cx="11176000" cy="49438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92A9-C270-BFD1-4BE0-65BC8759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A34-AE2B-4CC6-8304-596321EC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①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 err="1"/>
              <a:t>체성분</a:t>
            </a:r>
            <a:r>
              <a:rPr lang="ko-KR" altLang="en-US" dirty="0"/>
              <a:t> 스칼라</a:t>
            </a:r>
            <a:endParaRPr dirty="0"/>
          </a:p>
        </p:txBody>
      </p:sp>
      <p:pic>
        <p:nvPicPr>
          <p:cNvPr id="7" name="Picture 2" descr="scalar.png">
            <a:extLst>
              <a:ext uri="{FF2B5EF4-FFF2-40B4-BE49-F238E27FC236}">
                <a16:creationId xmlns:a16="http://schemas.microsoft.com/office/drawing/2014/main" id="{DB5C9DB1-2489-F3D0-1976-537E15A9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97112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①-보충1: ROC·Calibration·DCA — 체성분 스칼라</a:t>
            </a:r>
          </a:p>
        </p:txBody>
      </p:sp>
      <p:pic>
        <p:nvPicPr>
          <p:cNvPr id="3" name="Picture 2" descr="sca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3" y="975360"/>
            <a:ext cx="6979013" cy="548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92A9-C270-BFD1-4BE0-65BC8759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A34-AE2B-4CC6-8304-596321EC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①-보충2: Confusion Matrix — 체성분 스칼라</a:t>
            </a:r>
          </a:p>
        </p:txBody>
      </p:sp>
      <p:pic>
        <p:nvPicPr>
          <p:cNvPr id="3" name="Picture 2" descr="sca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930" y="1197112"/>
            <a:ext cx="7440141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829C-CDFC-1114-42D1-70FE58F5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6DD1-59E1-2584-8E19-3E1B5903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②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변수간 비율</a:t>
            </a:r>
            <a:endParaRPr dirty="0"/>
          </a:p>
        </p:txBody>
      </p:sp>
      <p:pic>
        <p:nvPicPr>
          <p:cNvPr id="4" name="Picture 2" descr="inter_var_ratio.png">
            <a:extLst>
              <a:ext uri="{FF2B5EF4-FFF2-40B4-BE49-F238E27FC236}">
                <a16:creationId xmlns:a16="http://schemas.microsoft.com/office/drawing/2014/main" id="{4D791A2B-D934-61D3-05BA-457321A7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79695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1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②-보충1: ROC·Calibration·DCA — 변수간 비율</a:t>
            </a:r>
          </a:p>
        </p:txBody>
      </p:sp>
      <p:pic>
        <p:nvPicPr>
          <p:cNvPr id="3" name="Picture 2" descr="inter_var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3" y="975360"/>
            <a:ext cx="6979013" cy="548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829C-CDFC-1114-42D1-70FE58F5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6DD1-59E1-2584-8E19-3E1B5903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②-보충2: Confusion Matrix — 변수간 비율</a:t>
            </a:r>
          </a:p>
        </p:txBody>
      </p:sp>
      <p:pic>
        <p:nvPicPr>
          <p:cNvPr id="3" name="Picture 2" descr="inter_var_rat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930" y="1179695"/>
            <a:ext cx="7440141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16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78F6-45FC-B519-A6B1-FA426329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39D2-BACD-9BFA-6BEF-E23EB76F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③ AUC 요약 — 곡선 FPCA(elbow n)</a:t>
            </a:r>
          </a:p>
        </p:txBody>
      </p:sp>
      <p:pic>
        <p:nvPicPr>
          <p:cNvPr id="3" name="Picture 2" descr="curve_fpca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22353"/>
            <a:ext cx="11176000" cy="46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07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③-보충1: ROC·Calibration·DCA — 곡선 FPCA(elbow n)</a:t>
            </a:r>
          </a:p>
        </p:txBody>
      </p:sp>
      <p:pic>
        <p:nvPicPr>
          <p:cNvPr id="3" name="Picture 2" descr="curve_fpca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3" y="975360"/>
            <a:ext cx="6979013" cy="548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78F6-45FC-B519-A6B1-FA426329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39D2-BACD-9BFA-6BEF-E23EB76F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③-보충2: Confusion Matrix — 곡선 FPCA(elbow n)</a:t>
            </a:r>
          </a:p>
        </p:txBody>
      </p:sp>
      <p:pic>
        <p:nvPicPr>
          <p:cNvPr id="3" name="Picture 2" descr="curve_fpca_elb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950" y="1222353"/>
            <a:ext cx="7306101" cy="46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07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E6F31-9EAC-1A0D-478B-26004878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DCF-9740-40AC-B307-1426493A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④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곡선 </a:t>
            </a:r>
            <a:r>
              <a:rPr lang="en-US" altLang="ko-KR" dirty="0"/>
              <a:t>Upper/Lower ratio</a:t>
            </a:r>
            <a:endParaRPr dirty="0"/>
          </a:p>
        </p:txBody>
      </p:sp>
      <p:pic>
        <p:nvPicPr>
          <p:cNvPr id="4" name="Picture 2" descr="curve_uplow_ratio.png">
            <a:extLst>
              <a:ext uri="{FF2B5EF4-FFF2-40B4-BE49-F238E27FC236}">
                <a16:creationId xmlns:a16="http://schemas.microsoft.com/office/drawing/2014/main" id="{84710ACD-2049-27DA-4399-42700146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" y="1687373"/>
            <a:ext cx="12096206" cy="381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39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④-보충1: ROC·Calibration·DCA — 곡선 Upper/Lower ratio</a:t>
            </a:r>
          </a:p>
        </p:txBody>
      </p:sp>
      <p:pic>
        <p:nvPicPr>
          <p:cNvPr id="3" name="Picture 2" descr="curve_uplow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3" y="975360"/>
            <a:ext cx="6979013" cy="548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E6F31-9EAC-1A0D-478B-26004878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DCF-9740-40AC-B307-1426493A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④-보충2: Confusion Matrix — 곡선 Upper/Lower ratio</a:t>
            </a:r>
          </a:p>
        </p:txBody>
      </p:sp>
      <p:pic>
        <p:nvPicPr>
          <p:cNvPr id="3" name="Picture 2" descr="curve_uplow_rat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480" y="1687373"/>
            <a:ext cx="6003041" cy="381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39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DF83-7EBC-869F-D81A-C5536DFC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C902-6A79-F840-B2FF-28873F4D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⑤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곡선 </a:t>
            </a:r>
            <a:r>
              <a:rPr lang="en-US" altLang="ko-KR" dirty="0"/>
              <a:t>slope (</a:t>
            </a:r>
            <a:r>
              <a:rPr lang="en-US" altLang="ko-KR" dirty="0" err="1"/>
              <a:t>liver→pubis</a:t>
            </a:r>
            <a:r>
              <a:rPr lang="ko-KR" altLang="en-US" dirty="0"/>
              <a:t> 선형추세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5" name="Picture 2" descr="curve_slope.png">
            <a:extLst>
              <a:ext uri="{FF2B5EF4-FFF2-40B4-BE49-F238E27FC236}">
                <a16:creationId xmlns:a16="http://schemas.microsoft.com/office/drawing/2014/main" id="{31C21536-BC32-0F99-2971-13BD8EBD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79695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73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⑤-보충1: ROC·Calibration·DCA — 곡선 slope</a:t>
            </a:r>
          </a:p>
        </p:txBody>
      </p:sp>
      <p:pic>
        <p:nvPicPr>
          <p:cNvPr id="3" name="Picture 2" descr="curve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3" y="975360"/>
            <a:ext cx="6979013" cy="548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DF83-7EBC-869F-D81A-C5536DFC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C902-6A79-F840-B2FF-28873F4D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⑤-보충2: Confusion Matrix — 곡선 slope</a:t>
            </a:r>
          </a:p>
        </p:txBody>
      </p:sp>
      <p:pic>
        <p:nvPicPr>
          <p:cNvPr id="3" name="Picture 2" descr="curve_s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930" y="1179695"/>
            <a:ext cx="7440141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73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16802-09C9-C1BB-2D65-038A636D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83FB-DF95-E126-F2AF-437AEE94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⑦ Top 5 교차비교(Odds Ratio) — HTN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788" y="897468"/>
            <a:ext cx="9116423" cy="53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38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2536-9DC9-BB32-5C9F-0CA3A88F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AA41-DBC5-A7B4-F20E-4323727B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⑦ </a:t>
            </a:r>
            <a:r>
              <a:rPr lang="en-US" altLang="ko-KR" dirty="0"/>
              <a:t>Top 5 </a:t>
            </a:r>
            <a:r>
              <a:rPr lang="ko-KR" altLang="en-US" dirty="0"/>
              <a:t>교차비교(Odds Ratio) </a:t>
            </a:r>
            <a:r>
              <a:rPr lang="en-US" altLang="ko-KR" dirty="0"/>
              <a:t>— DM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81" y="897468"/>
            <a:ext cx="875343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40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385F-D19A-907F-53B5-ED3061E8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9E53-C20D-877B-9378-5C0750E0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⑦ </a:t>
            </a:r>
            <a:r>
              <a:rPr lang="en-US" altLang="ko-KR" dirty="0"/>
              <a:t>Top 5 </a:t>
            </a:r>
            <a:r>
              <a:rPr lang="ko-KR" altLang="en-US" dirty="0"/>
              <a:t>교차비교(Odds Ratio) </a:t>
            </a:r>
            <a:r>
              <a:rPr lang="en-US" altLang="ko-KR" dirty="0"/>
              <a:t>— CKD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81" y="897468"/>
            <a:ext cx="875343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03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⑧ DeLong·BH-FDR 유의 결과 (external, q&lt;0.05)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818388"/>
            <a:ext cx="1117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/>
              <a:t>BH-FDR family = 3질환 × 32확장모델 = 96건 중 아래 17건만 q&lt;0.05로 유의, 나머지 79건은 q≥0.05로 유의하지 않음(표에서 생략). TAMA Upper/Lower ratio(CKD)는 ΔAUC 음수(악화). slope 추가 후 IMATA slope(HTN·DM)·LAMA slope(CKD)·AEC slope(CKD) 신규 진입.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74595"/>
              </p:ext>
            </p:extLst>
          </p:nvPr>
        </p:nvGraphicFramePr>
        <p:xfrm>
          <a:off x="508000" y="975360"/>
          <a:ext cx="11176000" cy="483646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370">
                <a:tc>
                  <a:txBody>
                    <a:bodyPr/>
                    <a:lstStyle/>
                    <a:p>
                      <a:r>
                        <a:rPr sz="1100" b="1"/>
                        <a:t>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clinic4 + 확장모델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ΔAUC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DeLong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BH-FDR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LAMA/TAMA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+0.0338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TAMA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-0.0014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AEC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AEC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VAT/SAT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0.020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gangnam(internal)으로 학습한 frozen 모델을 new10000(16개 시트 전체에 데이터가 존재하는 3,150명 교집합 코호트, 연령/성별 필터 후 유효표본 n=3,130으로 통일)에 적용, 섹션별 external ΔAUC 최고 모델만 표시(전체 32모델 결과는 outputs/0916 참고). BH-FDR 보정 후 DM에서 3건 유의(VAT/SAT ratio q=0.021, NAMA FPCA(n=2) q=0.008, NAMA slope q=0.008) — HTN은 10건 중 유의한 것 없음(최저 q=0.244, VAT/SAT ratio).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8000" y="975360"/>
          <a:ext cx="11176000" cy="483646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00000"/>
                <a:gridCol w="2000000"/>
                <a:gridCol w="2600000"/>
                <a:gridCol w="900000"/>
                <a:gridCol w="1400000"/>
                <a:gridCol w="1688000"/>
                <a:gridCol w="1688000"/>
              </a:tblGrid>
              <a:tr h="276370">
                <a:tc>
                  <a:txBody>
                    <a:bodyPr/>
                    <a:lstStyle/>
                    <a:p>
                      <a:r>
                        <a:rPr sz="1050" b="1"/>
                        <a:t>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/>
                        <a:t>섹션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/>
                        <a:t>clinic4 + 확장모델(섹션 내 best)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/>
                        <a:t>ΔAUC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/>
                        <a:t>DeLong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/>
                        <a:t>BH-FDR q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스칼라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0.777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VAT/SAT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0.244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곡선 FPCA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0.777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곡선 Upper/Lower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0.870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곡선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0.526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0.777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스칼라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0.936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VAT/SAT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0.021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곡선 FPCA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&lt;0.001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0.008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곡선 Upper/Lower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0.118</a:t>
                      </a:r>
                    </a:p>
                  </a:txBody>
                  <a:tcPr anchor="ctr"/>
                </a:tc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곡선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3,130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8000" y="5911827"/>
            <a:ext cx="11176000" cy="46173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50" i="1"/>
              <a:t>gangnam(internal)으로 학습한 frozen 모델을 new10000(16개 시트 전체에 데이터가 존재하는 3,150명 교집합 코호트, 연령/성별 필터 후 유효표본 n=3,130으로 통일)에 적용, 섹션별 external ΔAUC 최고 모델만 표시(전체 32모델 결과는 outputs/0916 참고). BH-FDR 보정 후 DM에서 3건 유의(VAT/SAT ratio q=0.021, NAMA FPCA(n=2) q=0.008, NAMA slope q=0.008) — HTN은 10건 중 유의한 것 없음(최저 q=0.244, VAT/SAT ratio).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800"/>
              <a:t>CKD: LAMA/TAMA ratio·LAMA·LAMA FPCA·LAMA slope·NAMA FPCA까지 myosteatosis 관련 5개 표현이 모두 생존 — 가장 강건한 신호</a:t>
            </a:r>
          </a:p>
          <a:p>
            <a:r>
              <a:rPr sz="1800"/>
              <a:t>HTN·DM: IMATA slope가 공통으로 유의 — slope 표현에서만 드러나는 신규 신호</a:t>
            </a:r>
          </a:p>
          <a:p>
            <a:r>
              <a:rPr sz="1800"/>
              <a:t>AEC는 CKD에서만 2/3표현 생존 — 체성분 개별변수(15/87건)가 3질환 전반에서 더 폭넓게 강건</a:t>
            </a:r>
          </a:p>
          <a:p>
            <a:r>
              <a:rPr sz="1800"/>
              <a:t>체성분(LAMA/TAMA ratio 등)을 baseline에 고정하면 AEC를 추가해도 9건 중 0건 유의 — AEC가 담던 정보 상당수를 체성분이 이미 포함한다는 직접적 증거</a:t>
            </a:r>
          </a:p>
          <a:p>
            <a:r>
              <a:rPr sz="1800"/>
              <a:t>FPCA n_components을 elbow로 조정하고 slope를 추가해도 결론 불변, 오히려 신규 신호(NAMA FPCA, IMATA slope)로 보강됨</a:t>
            </a:r>
          </a:p>
          <a:p>
            <a:r>
              <a:rPr sz="1800"/>
              <a:t>SMI·BMI·TAMA(스칼라)·SAT 계열은 3질환 모두 뚜렷한 신호 없음</a:t>
            </a:r>
          </a:p>
          <a:p>
            <a:r>
              <a:rPr sz="1800"/>
              <a:t>VIF 점검: 실제 사용된 32개 개별모델(clinic4+변수1개) 중 BMI만 위험(VIF≈100), 나머지는 모두 VIF&lt;4로 안전 — 지금까지처럼 변수를 1개씩만 추가하는 설계가 다중공선성 관점에서 타당함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7225</TotalTime>
  <Words>2813</Words>
  <Application>Microsoft Office PowerPoint</Application>
  <PresentationFormat>와이드스크린</PresentationFormat>
  <Paragraphs>182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KoPub돋움체 Bold</vt:lpstr>
      <vt:lpstr>Arial</vt:lpstr>
      <vt:lpstr>KoPub돋움체 Medium</vt:lpstr>
      <vt:lpstr>Office 테마</vt:lpstr>
      <vt:lpstr>PowerPoint 프레젠테이션</vt:lpstr>
      <vt:lpstr>연구 배경 및 목적</vt:lpstr>
      <vt:lpstr>Research Summary</vt:lpstr>
      <vt:lpstr>실험설계 ① 모델 정의</vt:lpstr>
      <vt:lpstr>실험설계 ② 검증 원칙</vt:lpstr>
      <vt:lpstr>실험설계 ③-0 VIF — 체성분 스칼라 9종 동시 투입 시</vt:lpstr>
      <vt:lpstr>실험설계 ③-1 개별모델 VIF — 체성분 스칼라 8종</vt:lpstr>
      <vt:lpstr>실험설계 ③-2 개별모델 VIF — 변수간 비율 3종</vt:lpstr>
      <vt:lpstr>실험설계 ③-3 개별모델 VIF — 곡선 FPCA(elbow n) 7종</vt:lpstr>
      <vt:lpstr>실험설계 ③-4 개별모델 VIF — 곡선 Upper/Lower ratio 7종</vt:lpstr>
      <vt:lpstr>실험설계 ③-5 개별모델 VIF — 곡선 slope 7종</vt:lpstr>
      <vt:lpstr>실험설계 ③-6 개별모델 VIF 종합 (32개 전체 한눈에)</vt:lpstr>
      <vt:lpstr>결과 ① AUC 요약 — 체성분 스칼라 8종</vt:lpstr>
      <vt:lpstr>결과 ①-보충: ROC·Calibration·DCA — 체성분 스칼라 8종</vt:lpstr>
      <vt:lpstr>결과 ② AUC 요약 — 변수간 비율 3종</vt:lpstr>
      <vt:lpstr>결과 ②-보충: ROC·Calibration·DCA — 변수간 비율 3종</vt:lpstr>
      <vt:lpstr>결과 ③ AUC 요약 — 곡선 FPCA(elbow n)</vt:lpstr>
      <vt:lpstr>결과 ③-보충: ROC·Calibration·DCA — 곡선 FPCA(elbow n)</vt:lpstr>
      <vt:lpstr>결과 ④ AUC 요약 — 곡선 Upper/Lower ratio</vt:lpstr>
      <vt:lpstr>결과 ④-보충: ROC·Calibration·DCA — 곡선 Upper/Lower ratio</vt:lpstr>
      <vt:lpstr>결과 ⑤ AUC 요약 — 곡선 slope (liver→pubis 선형추세)</vt:lpstr>
      <vt:lpstr>결과 ⑤-보충: ROC·Calibration·DCA — 곡선 slope</vt:lpstr>
      <vt:lpstr>결과 ⑥ Top5 종합 비교 (3질환 한눈에)</vt:lpstr>
      <vt:lpstr>결과 ⑦ Top 5 교차비교 — HTN</vt:lpstr>
      <vt:lpstr>결과 ⑦ Top 5 교차비교 — DM</vt:lpstr>
      <vt:lpstr>결과 ⑦ Top 5 교차비교 — CKD</vt:lpstr>
      <vt:lpstr>결과 ⑧ DeLong·BH-FDR 유의 결과 (external, q&lt;0.05)</vt:lpstr>
      <vt:lpstr>결과 ⑨ 3번째 검증 코호트(new10000) AUC 비교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700</cp:revision>
  <dcterms:created xsi:type="dcterms:W3CDTF">2026-04-09T07:05:16Z</dcterms:created>
  <dcterms:modified xsi:type="dcterms:W3CDTF">2026-09-17T03:19:59Z</dcterms:modified>
</cp:coreProperties>
</file>