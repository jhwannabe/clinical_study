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8" r:id="rId8"/>
    <p:sldId id="263" r:id="rId9"/>
    <p:sldId id="264" r:id="rId10"/>
    <p:sldId id="265" r:id="rId11"/>
    <p:sldId id="269" r:id="rId12"/>
    <p:sldId id="270" r:id="rId13"/>
    <p:sldId id="271" r:id="rId14"/>
    <p:sldId id="272" r:id="rId15"/>
    <p:sldId id="273" r:id="rId16"/>
    <p:sldId id="274" r:id="rId17"/>
    <p:sldId id="275" r:id="rId18"/>
    <p:sldId id="276" r:id="rId19"/>
    <p:sldId id="266" r:id="rId20"/>
    <p:sldId id="267" r:id="rId21"/>
  </p:sldIdLst>
  <p:sldSz cx="12192000" cy="6858000"/>
  <p:notesSz cx="6858000" cy="9144000"/>
  <p:embeddedFontLst>
    <p:embeddedFont>
      <p:font typeface="KoPub돋움체 Bold" panose="00000800000000000000" pitchFamily="2" charset="-127"/>
      <p:bold r:id="rId23"/>
    </p:embeddedFont>
    <p:embeddedFont>
      <p:font typeface="KoPub돋움체 Medium" panose="00000600000000000000" pitchFamily="2" charset="-127"/>
      <p:regular r:id="rId24"/>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097B6DF2-66C3-4074-9053-F9AA00FED5D5}">
          <p14:sldIdLst>
            <p14:sldId id="256"/>
            <p14:sldId id="257"/>
            <p14:sldId id="258"/>
            <p14:sldId id="259"/>
            <p14:sldId id="260"/>
            <p14:sldId id="261"/>
            <p14:sldId id="268"/>
            <p14:sldId id="263"/>
            <p14:sldId id="264"/>
            <p14:sldId id="265"/>
            <p14:sldId id="269"/>
            <p14:sldId id="270"/>
            <p14:sldId id="271"/>
            <p14:sldId id="272"/>
            <p14:sldId id="273"/>
            <p14:sldId id="274"/>
            <p14:sldId id="275"/>
            <p14:sldId id="276"/>
            <p14:sldId id="266"/>
            <p14:sldId id="26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전장훈" initials="전" lastIdx="19" clrIdx="0">
    <p:extLst>
      <p:ext uri="{19B8F6BF-5375-455C-9EA6-DF929625EA0E}">
        <p15:presenceInfo xmlns:p15="http://schemas.microsoft.com/office/powerpoint/2012/main" userId="전장훈"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597"/>
    <a:srgbClr val="5C7DD0"/>
    <a:srgbClr val="1F346B"/>
    <a:srgbClr val="023670"/>
    <a:srgbClr val="17A5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밝은 스타일 1 - 강조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7152" autoAdjust="0"/>
  </p:normalViewPr>
  <p:slideViewPr>
    <p:cSldViewPr snapToGrid="0">
      <p:cViewPr varScale="1">
        <p:scale>
          <a:sx n="110" d="100"/>
          <a:sy n="110" d="100"/>
        </p:scale>
        <p:origin x="576" y="114"/>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ghoon jun" userId="056a5883350c2f5e" providerId="LiveId" clId="{6DA654A6-03B0-40F7-A259-B276216985A6}"/>
    <pc:docChg chg="undo redo custSel addSld delSld modSld sldOrd modSection">
      <pc:chgData name="janghoon jun" userId="056a5883350c2f5e" providerId="LiveId" clId="{6DA654A6-03B0-40F7-A259-B276216985A6}" dt="2026-09-10T03:23:26.413" v="4549" actId="2710"/>
      <pc:docMkLst>
        <pc:docMk/>
      </pc:docMkLst>
      <pc:sldChg chg="modSp mod modNotes modNotesTx">
        <pc:chgData name="janghoon jun" userId="056a5883350c2f5e" providerId="LiveId" clId="{6DA654A6-03B0-40F7-A259-B276216985A6}" dt="2026-09-10T03:15:55.305" v="4487" actId="207"/>
        <pc:sldMkLst>
          <pc:docMk/>
          <pc:sldMk cId="0" sldId="256"/>
        </pc:sldMkLst>
        <pc:spChg chg="mod">
          <ac:chgData name="janghoon jun" userId="056a5883350c2f5e" providerId="LiveId" clId="{6DA654A6-03B0-40F7-A259-B276216985A6}" dt="2026-09-10T03:15:55.305" v="4487" actId="207"/>
          <ac:spMkLst>
            <pc:docMk/>
            <pc:sldMk cId="0" sldId="256"/>
            <ac:spMk id="2" creationId="{00000000-0000-0000-0000-000000000000}"/>
          </ac:spMkLst>
        </pc:spChg>
        <pc:spChg chg="mod">
          <ac:chgData name="janghoon jun" userId="056a5883350c2f5e" providerId="LiveId" clId="{6DA654A6-03B0-40F7-A259-B276216985A6}" dt="2026-09-08T01:45:56.152" v="4345" actId="1076"/>
          <ac:spMkLst>
            <pc:docMk/>
            <pc:sldMk cId="0" sldId="256"/>
            <ac:spMk id="3" creationId="{00000000-0000-0000-0000-000000000000}"/>
          </ac:spMkLst>
        </pc:spChg>
        <pc:spChg chg="mod">
          <ac:chgData name="janghoon jun" userId="056a5883350c2f5e" providerId="LiveId" clId="{6DA654A6-03B0-40F7-A259-B276216985A6}" dt="2026-09-08T01:45:56.152" v="4345" actId="1076"/>
          <ac:spMkLst>
            <pc:docMk/>
            <pc:sldMk cId="0" sldId="256"/>
            <ac:spMk id="4" creationId="{00000000-0000-0000-0000-000000000000}"/>
          </ac:spMkLst>
        </pc:spChg>
        <pc:spChg chg="mod">
          <ac:chgData name="janghoon jun" userId="056a5883350c2f5e" providerId="LiveId" clId="{6DA654A6-03B0-40F7-A259-B276216985A6}" dt="2026-09-08T01:45:56.152" v="4345" actId="1076"/>
          <ac:spMkLst>
            <pc:docMk/>
            <pc:sldMk cId="0" sldId="256"/>
            <ac:spMk id="5" creationId="{00000000-0000-0000-0000-000000000000}"/>
          </ac:spMkLst>
        </pc:spChg>
      </pc:sldChg>
      <pc:sldChg chg="addSp delSp modSp mod chgLayout modNotes modNotesTx">
        <pc:chgData name="janghoon jun" userId="056a5883350c2f5e" providerId="LiveId" clId="{6DA654A6-03B0-40F7-A259-B276216985A6}" dt="2026-09-10T03:17:23.413" v="4527" actId="6549"/>
        <pc:sldMkLst>
          <pc:docMk/>
          <pc:sldMk cId="0" sldId="257"/>
        </pc:sldMkLst>
        <pc:spChg chg="mod ord">
          <ac:chgData name="janghoon jun" userId="056a5883350c2f5e" providerId="LiveId" clId="{6DA654A6-03B0-40F7-A259-B276216985A6}" dt="2026-09-02T02:37:45.894" v="3728" actId="6549"/>
          <ac:spMkLst>
            <pc:docMk/>
            <pc:sldMk cId="0" sldId="257"/>
            <ac:spMk id="2" creationId="{00000000-0000-0000-0000-000000000000}"/>
          </ac:spMkLst>
        </pc:spChg>
        <pc:spChg chg="mod">
          <ac:chgData name="janghoon jun" userId="056a5883350c2f5e" providerId="LiveId" clId="{6DA654A6-03B0-40F7-A259-B276216985A6}" dt="2026-09-10T03:17:23.413" v="4527" actId="6549"/>
          <ac:spMkLst>
            <pc:docMk/>
            <pc:sldMk cId="0" sldId="257"/>
            <ac:spMk id="3" creationId="{00000000-0000-0000-0000-000000000000}"/>
          </ac:spMkLst>
        </pc:spChg>
      </pc:sldChg>
      <pc:sldChg chg="modSp mod">
        <pc:chgData name="janghoon jun" userId="056a5883350c2f5e" providerId="LiveId" clId="{6DA654A6-03B0-40F7-A259-B276216985A6}" dt="2026-09-10T03:16:00.971" v="4488" actId="404"/>
        <pc:sldMkLst>
          <pc:docMk/>
          <pc:sldMk cId="0" sldId="258"/>
        </pc:sldMkLst>
        <pc:spChg chg="mod">
          <ac:chgData name="janghoon jun" userId="056a5883350c2f5e" providerId="LiveId" clId="{6DA654A6-03B0-40F7-A259-B276216985A6}" dt="2026-09-10T03:16:00.971" v="4488" actId="404"/>
          <ac:spMkLst>
            <pc:docMk/>
            <pc:sldMk cId="0" sldId="258"/>
            <ac:spMk id="3" creationId="{00000000-0000-0000-0000-000000000000}"/>
          </ac:spMkLst>
        </pc:spChg>
      </pc:sldChg>
      <pc:sldChg chg="modSp mod">
        <pc:chgData name="janghoon jun" userId="056a5883350c2f5e" providerId="LiveId" clId="{6DA654A6-03B0-40F7-A259-B276216985A6}" dt="2026-09-08T03:15:38.775" v="4423" actId="2062"/>
        <pc:sldMkLst>
          <pc:docMk/>
          <pc:sldMk cId="0" sldId="259"/>
        </pc:sldMkLst>
        <pc:graphicFrameChg chg="modGraphic">
          <ac:chgData name="janghoon jun" userId="056a5883350c2f5e" providerId="LiveId" clId="{6DA654A6-03B0-40F7-A259-B276216985A6}" dt="2026-09-08T03:15:38.775" v="4423" actId="2062"/>
          <ac:graphicFrameMkLst>
            <pc:docMk/>
            <pc:sldMk cId="0" sldId="259"/>
            <ac:graphicFrameMk id="3" creationId="{00000000-0000-0000-0000-000000000000}"/>
          </ac:graphicFrameMkLst>
        </pc:graphicFrameChg>
      </pc:sldChg>
      <pc:sldChg chg="modSp mod">
        <pc:chgData name="janghoon jun" userId="056a5883350c2f5e" providerId="LiveId" clId="{6DA654A6-03B0-40F7-A259-B276216985A6}" dt="2026-09-08T03:16:04.210" v="4425" actId="2062"/>
        <pc:sldMkLst>
          <pc:docMk/>
          <pc:sldMk cId="0" sldId="261"/>
        </pc:sldMkLst>
        <pc:graphicFrameChg chg="modGraphic">
          <ac:chgData name="janghoon jun" userId="056a5883350c2f5e" providerId="LiveId" clId="{6DA654A6-03B0-40F7-A259-B276216985A6}" dt="2026-09-08T03:16:04.210" v="4425" actId="2062"/>
          <ac:graphicFrameMkLst>
            <pc:docMk/>
            <pc:sldMk cId="0" sldId="261"/>
            <ac:graphicFrameMk id="3" creationId="{00000000-0000-0000-0000-000000000000}"/>
          </ac:graphicFrameMkLst>
        </pc:graphicFrameChg>
      </pc:sldChg>
      <pc:sldChg chg="modSp mod">
        <pc:chgData name="janghoon jun" userId="056a5883350c2f5e" providerId="LiveId" clId="{6DA654A6-03B0-40F7-A259-B276216985A6}" dt="2026-09-08T03:17:38.014" v="4443" actId="2062"/>
        <pc:sldMkLst>
          <pc:docMk/>
          <pc:sldMk cId="0" sldId="263"/>
        </pc:sldMkLst>
        <pc:graphicFrameChg chg="modGraphic">
          <ac:chgData name="janghoon jun" userId="056a5883350c2f5e" providerId="LiveId" clId="{6DA654A6-03B0-40F7-A259-B276216985A6}" dt="2026-09-08T03:17:38.014" v="4443" actId="2062"/>
          <ac:graphicFrameMkLst>
            <pc:docMk/>
            <pc:sldMk cId="0" sldId="263"/>
            <ac:graphicFrameMk id="3" creationId="{00000000-0000-0000-0000-000000000000}"/>
          </ac:graphicFrameMkLst>
        </pc:graphicFrameChg>
      </pc:sldChg>
      <pc:sldChg chg="delSp modSp mod">
        <pc:chgData name="janghoon jun" userId="056a5883350c2f5e" providerId="LiveId" clId="{6DA654A6-03B0-40F7-A259-B276216985A6}" dt="2026-09-08T03:18:56.138" v="4458" actId="404"/>
        <pc:sldMkLst>
          <pc:docMk/>
          <pc:sldMk cId="0" sldId="264"/>
        </pc:sldMkLst>
        <pc:spChg chg="mod">
          <ac:chgData name="janghoon jun" userId="056a5883350c2f5e" providerId="LiveId" clId="{6DA654A6-03B0-40F7-A259-B276216985A6}" dt="2026-09-08T03:18:56.138" v="4458" actId="404"/>
          <ac:spMkLst>
            <pc:docMk/>
            <pc:sldMk cId="0" sldId="264"/>
            <ac:spMk id="4" creationId="{00000000-0000-0000-0000-000000000000}"/>
          </ac:spMkLst>
        </pc:spChg>
        <pc:picChg chg="mod">
          <ac:chgData name="janghoon jun" userId="056a5883350c2f5e" providerId="LiveId" clId="{6DA654A6-03B0-40F7-A259-B276216985A6}" dt="2026-09-08T03:18:15.614" v="4451" actId="1076"/>
          <ac:picMkLst>
            <pc:docMk/>
            <pc:sldMk cId="0" sldId="264"/>
            <ac:picMk id="3" creationId="{00000000-0000-0000-0000-000000000000}"/>
          </ac:picMkLst>
        </pc:picChg>
      </pc:sldChg>
      <pc:sldChg chg="modSp mod">
        <pc:chgData name="janghoon jun" userId="056a5883350c2f5e" providerId="LiveId" clId="{6DA654A6-03B0-40F7-A259-B276216985A6}" dt="2026-09-10T03:22:54.047" v="4543" actId="255"/>
        <pc:sldMkLst>
          <pc:docMk/>
          <pc:sldMk cId="0" sldId="265"/>
        </pc:sldMkLst>
        <pc:graphicFrameChg chg="modGraphic">
          <ac:chgData name="janghoon jun" userId="056a5883350c2f5e" providerId="LiveId" clId="{6DA654A6-03B0-40F7-A259-B276216985A6}" dt="2026-09-10T03:22:54.047" v="4543" actId="255"/>
          <ac:graphicFrameMkLst>
            <pc:docMk/>
            <pc:sldMk cId="0" sldId="265"/>
            <ac:graphicFrameMk id="3" creationId="{00000000-0000-0000-0000-000000000000}"/>
          </ac:graphicFrameMkLst>
        </pc:graphicFrameChg>
      </pc:sldChg>
      <pc:sldChg chg="delSp modSp mod">
        <pc:chgData name="janghoon jun" userId="056a5883350c2f5e" providerId="LiveId" clId="{6DA654A6-03B0-40F7-A259-B276216985A6}" dt="2026-09-10T03:16:18.752" v="4490" actId="404"/>
        <pc:sldMkLst>
          <pc:docMk/>
          <pc:sldMk cId="0" sldId="266"/>
        </pc:sldMkLst>
        <pc:spChg chg="mod">
          <ac:chgData name="janghoon jun" userId="056a5883350c2f5e" providerId="LiveId" clId="{6DA654A6-03B0-40F7-A259-B276216985A6}" dt="2026-09-10T03:16:18.752" v="4490" actId="404"/>
          <ac:spMkLst>
            <pc:docMk/>
            <pc:sldMk cId="0" sldId="266"/>
            <ac:spMk id="3" creationId="{00000000-0000-0000-0000-000000000000}"/>
          </ac:spMkLst>
        </pc:spChg>
      </pc:sldChg>
      <pc:sldChg chg="delSp modSp del mod">
        <pc:chgData name="janghoon jun" userId="056a5883350c2f5e" providerId="LiveId" clId="{6DA654A6-03B0-40F7-A259-B276216985A6}" dt="2026-09-10T03:16:15.187" v="4489" actId="404"/>
        <pc:sldMkLst>
          <pc:docMk/>
          <pc:sldMk cId="0" sldId="267"/>
        </pc:sldMkLst>
        <pc:spChg chg="mod">
          <ac:chgData name="janghoon jun" userId="056a5883350c2f5e" providerId="LiveId" clId="{6DA654A6-03B0-40F7-A259-B276216985A6}" dt="2026-09-08T03:22:06.514" v="4485" actId="20577"/>
          <ac:spMkLst>
            <pc:docMk/>
            <pc:sldMk cId="0" sldId="267"/>
            <ac:spMk id="2" creationId="{00000000-0000-0000-0000-000000000000}"/>
          </ac:spMkLst>
        </pc:spChg>
        <pc:spChg chg="mod">
          <ac:chgData name="janghoon jun" userId="056a5883350c2f5e" providerId="LiveId" clId="{6DA654A6-03B0-40F7-A259-B276216985A6}" dt="2026-09-10T03:16:15.187" v="4489" actId="404"/>
          <ac:spMkLst>
            <pc:docMk/>
            <pc:sldMk cId="0" sldId="267"/>
            <ac:spMk id="3" creationId="{00000000-0000-0000-0000-000000000000}"/>
          </ac:spMkLst>
        </pc:spChg>
      </pc:sldChg>
      <pc:sldChg chg="addSp delSp modSp add mod">
        <pc:chgData name="janghoon jun" userId="056a5883350c2f5e" providerId="LiveId" clId="{6DA654A6-03B0-40F7-A259-B276216985A6}" dt="2026-09-08T03:17:19.368" v="4440" actId="1076"/>
        <pc:sldMkLst>
          <pc:docMk/>
          <pc:sldMk cId="2123164912" sldId="268"/>
        </pc:sldMkLst>
        <pc:spChg chg="mod">
          <ac:chgData name="janghoon jun" userId="056a5883350c2f5e" providerId="LiveId" clId="{6DA654A6-03B0-40F7-A259-B276216985A6}" dt="2026-09-08T03:16:57.170" v="4432"/>
          <ac:spMkLst>
            <pc:docMk/>
            <pc:sldMk cId="2123164912" sldId="268"/>
            <ac:spMk id="2" creationId="{A86C2A42-ED56-FD2C-9182-4E40CE11854C}"/>
          </ac:spMkLst>
        </pc:spChg>
        <pc:graphicFrameChg chg="add mod">
          <ac:chgData name="janghoon jun" userId="056a5883350c2f5e" providerId="LiveId" clId="{6DA654A6-03B0-40F7-A259-B276216985A6}" dt="2026-09-08T03:17:14.683" v="4438" actId="1076"/>
          <ac:graphicFrameMkLst>
            <pc:docMk/>
            <pc:sldMk cId="2123164912" sldId="268"/>
            <ac:graphicFrameMk id="6" creationId="{E510CECF-189E-7B95-A7D1-8CF39243907A}"/>
          </ac:graphicFrameMkLst>
        </pc:graphicFrameChg>
        <pc:picChg chg="add mod">
          <ac:chgData name="janghoon jun" userId="056a5883350c2f5e" providerId="LiveId" clId="{6DA654A6-03B0-40F7-A259-B276216985A6}" dt="2026-09-08T03:17:19.368" v="4440" actId="1076"/>
          <ac:picMkLst>
            <pc:docMk/>
            <pc:sldMk cId="2123164912" sldId="268"/>
            <ac:picMk id="8" creationId="{6B98038E-8619-9FA7-A331-11F5D18983D5}"/>
          </ac:picMkLst>
        </pc:picChg>
      </pc:sldChg>
      <pc:sldChg chg="modSp mod">
        <pc:chgData name="janghoon jun" userId="056a5883350c2f5e" providerId="LiveId" clId="{6DA654A6-03B0-40F7-A259-B276216985A6}" dt="2026-09-10T03:22:45.138" v="4542" actId="255"/>
        <pc:sldMkLst>
          <pc:docMk/>
          <pc:sldMk cId="0" sldId="269"/>
        </pc:sldMkLst>
        <pc:graphicFrameChg chg="modGraphic">
          <ac:chgData name="janghoon jun" userId="056a5883350c2f5e" providerId="LiveId" clId="{6DA654A6-03B0-40F7-A259-B276216985A6}" dt="2026-09-10T03:22:45.138" v="4542" actId="255"/>
          <ac:graphicFrameMkLst>
            <pc:docMk/>
            <pc:sldMk cId="0" sldId="269"/>
            <ac:graphicFrameMk id="6" creationId="{E510CECF-189E-7B95-A7D1-8CF39243907A}"/>
          </ac:graphicFrameMkLst>
        </pc:graphicFrameChg>
      </pc:sldChg>
      <pc:sldChg chg="modSp mod">
        <pc:chgData name="janghoon jun" userId="056a5883350c2f5e" providerId="LiveId" clId="{6DA654A6-03B0-40F7-A259-B276216985A6}" dt="2026-09-10T03:22:37.115" v="4541" actId="255"/>
        <pc:sldMkLst>
          <pc:docMk/>
          <pc:sldMk cId="0" sldId="270"/>
        </pc:sldMkLst>
        <pc:spChg chg="mod">
          <ac:chgData name="janghoon jun" userId="056a5883350c2f5e" providerId="LiveId" clId="{6DA654A6-03B0-40F7-A259-B276216985A6}" dt="2026-09-10T03:22:37.115" v="4541" actId="255"/>
          <ac:spMkLst>
            <pc:docMk/>
            <pc:sldMk cId="0" sldId="270"/>
            <ac:spMk id="4" creationId="{00000000-0000-0000-0000-000000000000}"/>
          </ac:spMkLst>
        </pc:spChg>
        <pc:graphicFrameChg chg="modGraphic">
          <ac:chgData name="janghoon jun" userId="056a5883350c2f5e" providerId="LiveId" clId="{6DA654A6-03B0-40F7-A259-B276216985A6}" dt="2026-09-10T03:22:33.054" v="4540" actId="255"/>
          <ac:graphicFrameMkLst>
            <pc:docMk/>
            <pc:sldMk cId="0" sldId="270"/>
            <ac:graphicFrameMk id="3" creationId="{00000000-0000-0000-0000-000000000000}"/>
          </ac:graphicFrameMkLst>
        </pc:graphicFrameChg>
      </pc:sldChg>
      <pc:sldChg chg="modSp mod">
        <pc:chgData name="janghoon jun" userId="056a5883350c2f5e" providerId="LiveId" clId="{6DA654A6-03B0-40F7-A259-B276216985A6}" dt="2026-09-10T03:23:12.656" v="4546" actId="2710"/>
        <pc:sldMkLst>
          <pc:docMk/>
          <pc:sldMk cId="0" sldId="271"/>
        </pc:sldMkLst>
        <pc:spChg chg="mod">
          <ac:chgData name="janghoon jun" userId="056a5883350c2f5e" providerId="LiveId" clId="{6DA654A6-03B0-40F7-A259-B276216985A6}" dt="2026-09-10T03:23:12.656" v="4546" actId="2710"/>
          <ac:spMkLst>
            <pc:docMk/>
            <pc:sldMk cId="0" sldId="271"/>
            <ac:spMk id="4" creationId="{00000000-0000-0000-0000-000000000000}"/>
          </ac:spMkLst>
        </pc:spChg>
      </pc:sldChg>
      <pc:sldChg chg="modSp mod">
        <pc:chgData name="janghoon jun" userId="056a5883350c2f5e" providerId="LiveId" clId="{6DA654A6-03B0-40F7-A259-B276216985A6}" dt="2026-09-10T03:22:18.743" v="4536" actId="255"/>
        <pc:sldMkLst>
          <pc:docMk/>
          <pc:sldMk cId="0" sldId="272"/>
        </pc:sldMkLst>
        <pc:graphicFrameChg chg="modGraphic">
          <ac:chgData name="janghoon jun" userId="056a5883350c2f5e" providerId="LiveId" clId="{6DA654A6-03B0-40F7-A259-B276216985A6}" dt="2026-09-10T03:22:18.743" v="4536" actId="255"/>
          <ac:graphicFrameMkLst>
            <pc:docMk/>
            <pc:sldMk cId="0" sldId="272"/>
            <ac:graphicFrameMk id="3" creationId="{00000000-0000-0000-0000-000000000000}"/>
          </ac:graphicFrameMkLst>
        </pc:graphicFrameChg>
      </pc:sldChg>
      <pc:sldChg chg="modSp mod">
        <pc:chgData name="janghoon jun" userId="056a5883350c2f5e" providerId="LiveId" clId="{6DA654A6-03B0-40F7-A259-B276216985A6}" dt="2026-09-10T03:21:38.729" v="4528" actId="255"/>
        <pc:sldMkLst>
          <pc:docMk/>
          <pc:sldMk cId="0" sldId="273"/>
        </pc:sldMkLst>
        <pc:graphicFrameChg chg="modGraphic">
          <ac:chgData name="janghoon jun" userId="056a5883350c2f5e" providerId="LiveId" clId="{6DA654A6-03B0-40F7-A259-B276216985A6}" dt="2026-09-10T03:21:38.729" v="4528" actId="255"/>
          <ac:graphicFrameMkLst>
            <pc:docMk/>
            <pc:sldMk cId="0" sldId="273"/>
            <ac:graphicFrameMk id="6" creationId="{E510CECF-189E-7B95-A7D1-8CF39243907A}"/>
          </ac:graphicFrameMkLst>
        </pc:graphicFrameChg>
      </pc:sldChg>
      <pc:sldChg chg="modSp mod">
        <pc:chgData name="janghoon jun" userId="056a5883350c2f5e" providerId="LiveId" clId="{6DA654A6-03B0-40F7-A259-B276216985A6}" dt="2026-09-10T03:21:46.220" v="4529" actId="255"/>
        <pc:sldMkLst>
          <pc:docMk/>
          <pc:sldMk cId="0" sldId="274"/>
        </pc:sldMkLst>
        <pc:graphicFrameChg chg="modGraphic">
          <ac:chgData name="janghoon jun" userId="056a5883350c2f5e" providerId="LiveId" clId="{6DA654A6-03B0-40F7-A259-B276216985A6}" dt="2026-09-10T03:21:46.220" v="4529" actId="255"/>
          <ac:graphicFrameMkLst>
            <pc:docMk/>
            <pc:sldMk cId="0" sldId="274"/>
            <ac:graphicFrameMk id="3" creationId="{00000000-0000-0000-0000-000000000000}"/>
          </ac:graphicFrameMkLst>
        </pc:graphicFrameChg>
      </pc:sldChg>
      <pc:sldChg chg="modSp mod">
        <pc:chgData name="janghoon jun" userId="056a5883350c2f5e" providerId="LiveId" clId="{6DA654A6-03B0-40F7-A259-B276216985A6}" dt="2026-09-10T03:23:26.413" v="4549" actId="2710"/>
        <pc:sldMkLst>
          <pc:docMk/>
          <pc:sldMk cId="0" sldId="275"/>
        </pc:sldMkLst>
        <pc:spChg chg="mod">
          <ac:chgData name="janghoon jun" userId="056a5883350c2f5e" providerId="LiveId" clId="{6DA654A6-03B0-40F7-A259-B276216985A6}" dt="2026-09-10T03:23:26.413" v="4549" actId="2710"/>
          <ac:spMkLst>
            <pc:docMk/>
            <pc:sldMk cId="0" sldId="275"/>
            <ac:spMk id="4" creationId="{00000000-0000-0000-0000-000000000000}"/>
          </ac:spMkLst>
        </pc:spChg>
      </pc:sldChg>
      <pc:sldChg chg="modSp mod">
        <pc:chgData name="janghoon jun" userId="056a5883350c2f5e" providerId="LiveId" clId="{6DA654A6-03B0-40F7-A259-B276216985A6}" dt="2026-09-10T03:21:51.722" v="4530" actId="255"/>
        <pc:sldMkLst>
          <pc:docMk/>
          <pc:sldMk cId="0" sldId="276"/>
        </pc:sldMkLst>
        <pc:graphicFrameChg chg="modGraphic">
          <ac:chgData name="janghoon jun" userId="056a5883350c2f5e" providerId="LiveId" clId="{6DA654A6-03B0-40F7-A259-B276216985A6}" dt="2026-09-10T03:21:51.722" v="4530" actId="255"/>
          <ac:graphicFrameMkLst>
            <pc:docMk/>
            <pc:sldMk cId="0" sldId="276"/>
            <ac:graphicFrameMk id="3"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KoPub돋움체 Medium" panose="00000600000000000000" pitchFamily="2" charset="-127"/>
                <a:ea typeface="KoPub돋움체 Medium" panose="00000600000000000000" pitchFamily="2" charset="-127"/>
              </a:defRPr>
            </a:lvl1pPr>
          </a:lstStyle>
          <a:p>
            <a:fld id="{33074436-1BEA-4F09-AD5C-9DF87C96BF5A}" type="datetimeFigureOut">
              <a:rPr lang="ko-KR" altLang="en-US" smtClean="0"/>
              <a:pPr/>
              <a:t>2026-09-10</a:t>
            </a:fld>
            <a:endParaRPr lang="ko-KR" altLang="en-US" dirty="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KoPub돋움체 Medium" panose="00000600000000000000" pitchFamily="2" charset="-127"/>
                <a:ea typeface="KoPub돋움체 Medium" panose="00000600000000000000" pitchFamily="2" charset="-127"/>
              </a:defRPr>
            </a:lvl1pPr>
          </a:lstStyle>
          <a:p>
            <a:fld id="{433C9518-700F-4811-95BB-24DAF3FA92F2}" type="slidenum">
              <a:rPr lang="ko-KR" altLang="en-US" smtClean="0"/>
              <a:pPr/>
              <a:t>‹#›</a:t>
            </a:fld>
            <a:endParaRPr lang="ko-KR" altLang="en-US" dirty="0"/>
          </a:p>
        </p:txBody>
      </p:sp>
    </p:spTree>
    <p:extLst>
      <p:ext uri="{BB962C8B-B14F-4D97-AF65-F5344CB8AC3E}">
        <p14:creationId xmlns:p14="http://schemas.microsoft.com/office/powerpoint/2010/main" val="257764944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KoPub돋움체 Medium" panose="00000600000000000000" pitchFamily="2" charset="-127"/>
        <a:ea typeface="KoPub돋움체 Medium" panose="00000600000000000000" pitchFamily="2" charset="-127"/>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AUC는 모델이 질병 있는 사람과 없는 사람을 얼마나 잘 구별하는지를 0.5(무작위)~1.0(완벽)로 나타낸 수치이고, Odds Ratio(승산비)는 특정 변수가 1단위 증가할 때 질병 발생 승산(오즈)이 몇 배가 되는지를 나타냅니다(1보다 크면 위험증가, 작으면 보호적). 이번 발표는 고혈압(HTN)·당뇨병(DM)·만성콩팥병(CKD) 세 질환 모두에 대해 같은 6가지 baseline과 2가지 AEC feature로 비교한 결과를 보여드립니다. 핵심은 'AEC 곡선 정보를 추가하면 AUC가 약간 올라가고 Odds Ratio 방향도 일관되지만, 여러 번 반복 검정한 것을 감안한 보정(Bonferroni)을 거치면 통계적으로 강건한 개선이라고 단언하기는 어렵다'는 것입니다. 다만 CKD에서 Upper/Lower ratio만은 baseline을 무엇으로 바꿔도 항상 개별적으로 유의하게 나타나는 예외적인 패턴입니다.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AEC를 전혀 넣지 않은 6가지 baseline 조합만으로 예측했을 때의 성능(AUC)입니다. 고혈압(HTN)이 세 질환 중 가장 예측이 잘 되고(0.79~0.82), 당뇨병(DM)은 중간(0.72~0.73/0.66~0.69), 만성콩팥병(CKD)이 가장 어렵습니다(0.61~0.63). 체지방이나 근육량 지표를 더한 baseline이 대체로 소폭 더 좋아서 이후 슬라이드의 AEC 추가효과를 해석할 때 '체성분 정보가 이미 baseline에 들어있으면 AEC가 줄 수 있는 추가정보가 적어진다'는 맥락으로 참고할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703C0-E886-11D4-9F7E-8207FFEC0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086AB2-086D-DB00-A7E2-E319F422111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35F6189-A3BC-E858-26B7-9AD900FB38C5}"/>
              </a:ext>
            </a:extLst>
          </p:cNvPr>
          <p:cNvSpPr>
            <a:spLocks noGrp="1"/>
          </p:cNvSpPr>
          <p:nvPr>
            <p:ph type="body" sz="quarter" idx="3"/>
          </p:nvPr>
        </p:nvSpPr>
        <p:spPr/>
        <p:txBody>
          <a:bodyPr/>
          <a:lstStyle/>
          <a:p>
            <a:r>
              <a:t>AEC를 전혀 넣지 않은 6가지 baseline 조합만으로 예측했을 때의 성능(AUC)입니다. 고혈압(HTN)이 세 질환 중 가장 예측이 잘 되고(0.79~0.82), 당뇨병(DM)은 중간(0.72~0.73/0.66~0.69), 만성콩팥병(CKD)이 가장 어렵습니다(0.61~0.63). 체지방이나 근육량 지표를 더한 baseline이 대체로 소폭 더 좋아서 이후 슬라이드의 AEC 추가효과를 해석할 때 '체성분 정보가 이미 baseline에 들어있으면 AEC가 줄 수 있는 추가정보가 적어진다'는 맥락으로 참고할 수 있습니다.</a:t>
            </a:r>
          </a:p>
        </p:txBody>
      </p:sp>
      <p:sp>
        <p:nvSpPr>
          <p:cNvPr id="4" name="Slide Number Placeholder 3">
            <a:extLst>
              <a:ext uri="{FF2B5EF4-FFF2-40B4-BE49-F238E27FC236}">
                <a16:creationId xmlns:a16="http://schemas.microsoft.com/office/drawing/2014/main" id="{DC14A392-A752-A926-456C-D1C8C8425571}"/>
              </a:ext>
            </a:extLst>
          </p:cNvPr>
          <p:cNvSpPr>
            <a:spLocks noGrp="1"/>
          </p:cNvSpPr>
          <p:nvPr>
            <p:ph type="sldNum" sz="quarter" idx="5"/>
          </p:nvPr>
        </p:nvSpPr>
        <p:spPr/>
      </p:sp>
    </p:spTree>
    <p:extLst>
      <p:ext uri="{BB962C8B-B14F-4D97-AF65-F5344CB8AC3E}">
        <p14:creationId xmlns:p14="http://schemas.microsoft.com/office/powerpoint/2010/main" val="380793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DM external 코호트에서 AEC 추가의 DeLong 검정 결과입니다. clinic9(all)+FPCA에서만 p=0.006으로 개별적으로 유의하고, clinic9+Upper/Lower도 p=0.046으로 간신히 유의하지만, 이를 전체 72번 검정을 감안한 Bonferroni 기준(약 0.0007)으로 보면 셀 다 미달합니다. 즉, DM도 다른 질환과 마찬가지로 AEC 추가가 통계적으로 확실한 개선으로는 입증되지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clinic4(baseline)만으로 만든 당뇨병 예측 모델의 승산비(Odds Ratio) 그림입니다. 점이 1보다 오른쪽에 있을수록(예: 나이, 체중) 해당 변수가 클수록 당뇨병 위험이 높아진다는 뜻이고, 왼쪽에 있으면(예: 키) 반대로 위험이 낮아집니다. 세 모델(baseline만 / FPCA 추가 / Upper-Lower 비율 추가) 모두에서 이 방향이 또같이 유지되는 것을 확인할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AEC 관련 항들의 승산비를 6가지 baseline에 걸쳐 모은 표입니다. Upper/Lower 비율은 baseline을 무엇으로 하든 항상 1보다 크게(1.51~1.67) 나와 위험을 높이는 방향이고, FPCA의 세 번째 주성분(PC2)만은 항상 1보다 작게(0.58~0.63) 나와 보호적 방향입니다. 방향은 일관되지만 앞 슬라이드의 DeLong 검정에서 보았듯 통계적 유의성은 다중비교를 넘지 못해, '방향은 있지만 확실하지는 않다'로 요약됩니다.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고혈압(HTN) baseline에 AEC를 추가했을 때의 AUC 변화입니다. clinic6(scanner)에서 FPCA 추가 시 external AUC가 0.712→0.733으로 오르고 이 변화는 개별적으로 유의(p=0.005)하지만, 다른 baseline에서는 개선폭이 훨씬 작습니다. DM과 마찬가지로 baseline이 무엇이냐에 따라 AEC 추가효과의 크기가 들쭉날쭉합니다.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HTN external 코호트에서 AEC 추가의 DeLong 검정 결과입니다. clinic4·clinic6(scanner)의 FPCA, clinic6(scanner)의 Upper/Lower ratio 3곳에서 개별적으로 유의(p&lt;0.05)하지만, 72번 검정을 감안한 Bonferroni 기준(약 0.0007)으로는 전부 미달합니다.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clinic4(baseline)만으로 만든 고혈압 예측 모델의 승산비(Odds Ratio) 그림입니다. 나이·체중이 클수록, 남성일수록 고혈압 위험이 높고 키가 클수록 위험이 낮다는 임상적으로 알려진 방향과 일치합니다. AEC를 추가하면 정규화(L1) 때문에 sex나 height 같은 일부 계수가 아예 0으로 눌리는 경우가 있는데, 이는 계수가 사라졌다기보다 AEC 변수와 정보가 겹쳐 모델이 굳이 두 변수를 다 쓰지 않았다고 해석합니다.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HTN에서 AEC 관련 항들의 승산비를 6가지 baseline에 걸쳐 모은 표입니다. Upper/Lower 비율은 항상 1보다 크게(1.39~1.62) 나와 위험 증가 방향이고, FPCA PC2는 항상 1보다 작게(0.62~0.71) 나와 보호적 방향입니다. DM에서 본 패턴과 방향이 같습니다.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만성콩팥병(CKD) baseline에 AEC를 추가했을 때의 AUC 변화입니다. 특히 Upper/Lower ratio를 추가하면 6가지 baseline 전부에서 external AUC가 +0.015~+0.023 오르고 이 개선은 baseline과 무관하게 항상 개별적으로 유의(p&lt;0.05)합니다. 세 질환 중 가장 일관된 개선 신호입니다.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CKD external 코호트에서 AEC 추가의 DeLong 검정 결과입니다. Upper/Lower ratio는 6개 baseline 전부에서 개별적으로 유의(p&lt;0.05)하고, FPCA도 clinic4에서 유의합니다. 다만 72번 검정 전체를 감안한 Bonferroni 기준(약 0.0007)에는 7건 모두 미달해 '개별적으로는 꾸준히 나타나지만 다중비교 보정에는 강건하지 않은' 신호로 요약됩니다.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clinic4(baseline)만으로 만든 만성콩팥병 예측 모델의 승산비(Odds Ratio) 그림입니다. 나이·체중이 클수록, 남성일수록 위험이 높고 키가 클수록 위험이 낮다는 방향이 HTN·DM과 동일하게 나타납니다. AEC를 추가해도 이 4개 변수의 방향과 크기는 거의 그대로 유지됩니다.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CKD에서 AEC 관련 항들의 승산비를 6가지 baseline에 걸쳐 모은 표입니다. Upper/Lower 비율은 항상 1보다 크게(1.27~1.69) 나와 위험 증가 방향이고, FPCA PC2는 항상 1보다 작게(0.62~0.75) 나와 보호적 방향입니다. 방향은 HTN·DM과 같지만, 앞 슬라이드에서 보았듯 CKD는 Upper/Lower ratio의 개별 유의성이 baseline 6종 전부에서 나타난다는 점이 특징적입니다.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AUC/Odds Ratio 외에 함께 진행한 3가지 보조 검증을 간단히 요약한 슬라이드입니다. 만성콩팥병(CKD) 외부코호트에서만 Upper/Lower 비율이 baseline과 무관하게 항상 유의하게 개선되는 특이한 패턴이 있고, 크롭하지 않은 전체 스캔 구간과 비교해도 성능이 통계적으로 동등해 크롭·리샘플링 과정에서 정보가 손실되지 않았음을 확인했습니다. 비선형 시각화(t-SNE)로도 질병군이 특별히 분리되어 뭉치지 않아, 선형 방법(FPCA)으로 내렸던 기존 결론이 재확인되었습니다.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7" name="object 2">
            <a:extLst>
              <a:ext uri="{FF2B5EF4-FFF2-40B4-BE49-F238E27FC236}">
                <a16:creationId xmlns:a16="http://schemas.microsoft.com/office/drawing/2014/main" id="{D279837B-A00B-4327-9AB8-97044CBDABA7}"/>
              </a:ext>
            </a:extLst>
          </p:cNvPr>
          <p:cNvPicPr/>
          <p:nvPr userDrawn="1"/>
        </p:nvPicPr>
        <p:blipFill rotWithShape="1">
          <a:blip r:embed="rId2"/>
          <a:stretch>
            <a:fillRect/>
          </a:stretch>
        </p:blipFill>
        <p:spPr>
          <a:xfrm>
            <a:off x="0" y="228731"/>
            <a:ext cx="12192000" cy="6400538"/>
          </a:xfrm>
          <a:prstGeom prst="rect">
            <a:avLst/>
          </a:prstGeom>
        </p:spPr>
      </p:pic>
      <p:pic>
        <p:nvPicPr>
          <p:cNvPr id="3" name="그림 2">
            <a:extLst>
              <a:ext uri="{FF2B5EF4-FFF2-40B4-BE49-F238E27FC236}">
                <a16:creationId xmlns:a16="http://schemas.microsoft.com/office/drawing/2014/main" id="{4B17CE84-3562-483D-8448-6A30899AF09E}"/>
              </a:ext>
            </a:extLst>
          </p:cNvPr>
          <p:cNvPicPr>
            <a:picLocks noChangeAspect="1"/>
          </p:cNvPicPr>
          <p:nvPr userDrawn="1"/>
        </p:nvPicPr>
        <p:blipFill rotWithShape="1">
          <a:blip r:embed="rId3">
            <a:clrChange>
              <a:clrFrom>
                <a:srgbClr val="FFFFFF"/>
              </a:clrFrom>
              <a:clrTo>
                <a:srgbClr val="FFFFFF">
                  <a:alpha val="0"/>
                </a:srgbClr>
              </a:clrTo>
            </a:clrChange>
          </a:blip>
          <a:srcRect t="19699" b="22132"/>
          <a:stretch/>
        </p:blipFill>
        <p:spPr>
          <a:xfrm>
            <a:off x="3461866" y="5273477"/>
            <a:ext cx="4168803" cy="982769"/>
          </a:xfrm>
          <a:prstGeom prst="rect">
            <a:avLst/>
          </a:prstGeom>
        </p:spPr>
      </p:pic>
      <p:pic>
        <p:nvPicPr>
          <p:cNvPr id="8" name="object 4">
            <a:extLst>
              <a:ext uri="{FF2B5EF4-FFF2-40B4-BE49-F238E27FC236}">
                <a16:creationId xmlns:a16="http://schemas.microsoft.com/office/drawing/2014/main" id="{8EF8DD5B-0316-4193-BCC7-D6CFCAE8969D}"/>
              </a:ext>
            </a:extLst>
          </p:cNvPr>
          <p:cNvPicPr/>
          <p:nvPr userDrawn="1"/>
        </p:nvPicPr>
        <p:blipFill rotWithShape="1">
          <a:blip r:embed="rId4"/>
          <a:stretch>
            <a:fillRect/>
          </a:stretch>
        </p:blipFill>
        <p:spPr>
          <a:xfrm>
            <a:off x="-277376" y="5274173"/>
            <a:ext cx="4550839" cy="992767"/>
          </a:xfrm>
          <a:prstGeom prst="rect">
            <a:avLst/>
          </a:prstGeom>
        </p:spPr>
      </p:pic>
    </p:spTree>
    <p:extLst>
      <p:ext uri="{BB962C8B-B14F-4D97-AF65-F5344CB8AC3E}">
        <p14:creationId xmlns:p14="http://schemas.microsoft.com/office/powerpoint/2010/main" val="3368578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grpSp>
        <p:nvGrpSpPr>
          <p:cNvPr id="24" name="그룹 23">
            <a:extLst>
              <a:ext uri="{FF2B5EF4-FFF2-40B4-BE49-F238E27FC236}">
                <a16:creationId xmlns:a16="http://schemas.microsoft.com/office/drawing/2014/main" id="{5EC22856-02EF-4559-9B66-BD5C863FF254}"/>
              </a:ext>
            </a:extLst>
          </p:cNvPr>
          <p:cNvGrpSpPr/>
          <p:nvPr userDrawn="1"/>
        </p:nvGrpSpPr>
        <p:grpSpPr>
          <a:xfrm>
            <a:off x="-8467" y="6463089"/>
            <a:ext cx="12200467" cy="403574"/>
            <a:chOff x="-8467" y="6470661"/>
            <a:chExt cx="12200467" cy="390527"/>
          </a:xfrm>
        </p:grpSpPr>
        <p:sp>
          <p:nvSpPr>
            <p:cNvPr id="9" name="직사각형 8">
              <a:extLst>
                <a:ext uri="{FF2B5EF4-FFF2-40B4-BE49-F238E27FC236}">
                  <a16:creationId xmlns:a16="http://schemas.microsoft.com/office/drawing/2014/main" id="{0DFE1C4B-A7EE-47E1-8AAE-3EF4E43D16F6}"/>
                </a:ext>
              </a:extLst>
            </p:cNvPr>
            <p:cNvSpPr/>
            <p:nvPr userDrawn="1"/>
          </p:nvSpPr>
          <p:spPr>
            <a:xfrm>
              <a:off x="0" y="6496062"/>
              <a:ext cx="12192000" cy="365126"/>
            </a:xfrm>
            <a:prstGeom prst="rect">
              <a:avLst/>
            </a:prstGeom>
            <a:solidFill>
              <a:srgbClr val="1F34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돋움체 Medium" panose="00000600000000000000" pitchFamily="2" charset="-127"/>
                <a:ea typeface="KoPub돋움체 Medium" panose="00000600000000000000" pitchFamily="2" charset="-127"/>
              </a:endParaRPr>
            </a:p>
          </p:txBody>
        </p:sp>
        <p:cxnSp>
          <p:nvCxnSpPr>
            <p:cNvPr id="15" name="직선 연결선 14">
              <a:extLst>
                <a:ext uri="{FF2B5EF4-FFF2-40B4-BE49-F238E27FC236}">
                  <a16:creationId xmlns:a16="http://schemas.microsoft.com/office/drawing/2014/main" id="{28C131E4-1CD9-49D8-B343-8379436586CB}"/>
                </a:ext>
              </a:extLst>
            </p:cNvPr>
            <p:cNvCxnSpPr>
              <a:cxnSpLocks/>
            </p:cNvCxnSpPr>
            <p:nvPr userDrawn="1"/>
          </p:nvCxnSpPr>
          <p:spPr>
            <a:xfrm>
              <a:off x="-8467" y="6470661"/>
              <a:ext cx="12200467"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 name="제목 1">
            <a:extLst>
              <a:ext uri="{FF2B5EF4-FFF2-40B4-BE49-F238E27FC236}">
                <a16:creationId xmlns:a16="http://schemas.microsoft.com/office/drawing/2014/main" id="{FE4F955D-C3E9-4033-8442-9095377B0662}"/>
              </a:ext>
            </a:extLst>
          </p:cNvPr>
          <p:cNvSpPr>
            <a:spLocks noGrp="1"/>
          </p:cNvSpPr>
          <p:nvPr>
            <p:ph type="title" hasCustomPrompt="1"/>
          </p:nvPr>
        </p:nvSpPr>
        <p:spPr>
          <a:xfrm>
            <a:off x="508000" y="365126"/>
            <a:ext cx="11176000" cy="532342"/>
          </a:xfrm>
        </p:spPr>
        <p:txBody>
          <a:bodyPr>
            <a:normAutofit/>
          </a:bodyPr>
          <a:lstStyle>
            <a:lvl1pPr>
              <a:defRPr sz="2400" b="1">
                <a:solidFill>
                  <a:srgbClr val="023670"/>
                </a:solidFill>
                <a:latin typeface="KoPub돋움체 Bold" panose="02020603020101020101" pitchFamily="18" charset="-127"/>
                <a:ea typeface="KoPub돋움체 Bold" panose="02020603020101020101" pitchFamily="18" charset="-127"/>
                <a:cs typeface="Arial" panose="020B0604020202020204" pitchFamily="34" charset="0"/>
              </a:defRPr>
            </a:lvl1pPr>
          </a:lstStyle>
          <a:p>
            <a:r>
              <a:rPr lang="ko-KR" altLang="en-US" dirty="0"/>
              <a:t>마스터 제목 스타일 편집</a:t>
            </a:r>
          </a:p>
        </p:txBody>
      </p:sp>
      <p:sp>
        <p:nvSpPr>
          <p:cNvPr id="3" name="내용 개체 틀 2">
            <a:extLst>
              <a:ext uri="{FF2B5EF4-FFF2-40B4-BE49-F238E27FC236}">
                <a16:creationId xmlns:a16="http://schemas.microsoft.com/office/drawing/2014/main" id="{9CA482F1-FC12-443E-892A-B48F9C50AA53}"/>
              </a:ext>
            </a:extLst>
          </p:cNvPr>
          <p:cNvSpPr>
            <a:spLocks noGrp="1"/>
          </p:cNvSpPr>
          <p:nvPr>
            <p:ph idx="1" hasCustomPrompt="1"/>
          </p:nvPr>
        </p:nvSpPr>
        <p:spPr>
          <a:xfrm>
            <a:off x="508000" y="897468"/>
            <a:ext cx="11176000" cy="5063066"/>
          </a:xfrm>
        </p:spPr>
        <p:txBody>
          <a:bodyPr/>
          <a:lstStyle>
            <a:lvl1pPr>
              <a:lnSpc>
                <a:spcPct val="200000"/>
              </a:lnSpc>
              <a:defRPr sz="2000" b="0">
                <a:latin typeface="KoPub돋움체 Bold" panose="02020603020101020101" pitchFamily="18" charset="-127"/>
                <a:ea typeface="KoPub돋움체 Bold" panose="02020603020101020101" pitchFamily="18" charset="-127"/>
              </a:defRPr>
            </a:lvl1pPr>
            <a:lvl2pPr>
              <a:lnSpc>
                <a:spcPct val="150000"/>
              </a:lnSpc>
              <a:defRPr sz="1800">
                <a:latin typeface="KoPub돋움체 Medium" panose="02020603020101020101" pitchFamily="18" charset="-127"/>
                <a:ea typeface="KoPub돋움체 Medium" panose="02020603020101020101" pitchFamily="18" charset="-127"/>
              </a:defRPr>
            </a:lvl2pPr>
            <a:lvl3pPr>
              <a:lnSpc>
                <a:spcPct val="150000"/>
              </a:lnSpc>
              <a:defRPr sz="1600">
                <a:latin typeface="KoPub돋움체 Medium" panose="02020603020101020101" pitchFamily="18" charset="-127"/>
                <a:ea typeface="KoPub돋움체 Medium" panose="02020603020101020101" pitchFamily="18" charset="-127"/>
              </a:defRPr>
            </a:lvl3pPr>
            <a:lvl4pPr>
              <a:lnSpc>
                <a:spcPct val="150000"/>
              </a:lnSpc>
              <a:defRPr sz="1600">
                <a:latin typeface="KoPub돋움체 Medium" panose="02020603020101020101" pitchFamily="18" charset="-127"/>
                <a:ea typeface="KoPub돋움체 Medium" panose="02020603020101020101" pitchFamily="18" charset="-127"/>
              </a:defRPr>
            </a:lvl4pPr>
            <a:lvl5pPr>
              <a:lnSpc>
                <a:spcPct val="150000"/>
              </a:lnSpc>
              <a:defRPr sz="1600">
                <a:latin typeface="KoPub돋움체 Medium" panose="02020603020101020101" pitchFamily="18" charset="-127"/>
                <a:ea typeface="KoPub돋움체 Medium" panose="02020603020101020101" pitchFamily="18" charset="-127"/>
              </a:defRPr>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pic>
        <p:nvPicPr>
          <p:cNvPr id="11" name="그림 10">
            <a:extLst>
              <a:ext uri="{FF2B5EF4-FFF2-40B4-BE49-F238E27FC236}">
                <a16:creationId xmlns:a16="http://schemas.microsoft.com/office/drawing/2014/main" id="{95A1225D-0BD8-42FD-A091-144615FF0733}"/>
              </a:ext>
            </a:extLst>
          </p:cNvPr>
          <p:cNvPicPr>
            <a:picLocks noChangeAspect="1"/>
          </p:cNvPicPr>
          <p:nvPr userDrawn="1"/>
        </p:nvPicPr>
        <p:blipFill rotWithShape="1">
          <a:blip r:embed="rId2"/>
          <a:srcRect t="-583" b="3459"/>
          <a:stretch/>
        </p:blipFill>
        <p:spPr>
          <a:xfrm>
            <a:off x="5452198" y="6510701"/>
            <a:ext cx="1279135" cy="347299"/>
          </a:xfrm>
          <a:prstGeom prst="rect">
            <a:avLst/>
          </a:prstGeom>
          <a:solidFill>
            <a:srgbClr val="1F346B"/>
          </a:solidFill>
        </p:spPr>
      </p:pic>
      <p:sp>
        <p:nvSpPr>
          <p:cNvPr id="6" name="슬라이드 번호 개체 틀 5">
            <a:extLst>
              <a:ext uri="{FF2B5EF4-FFF2-40B4-BE49-F238E27FC236}">
                <a16:creationId xmlns:a16="http://schemas.microsoft.com/office/drawing/2014/main" id="{831EFF5A-1B85-42B1-95F5-C4213C5AD98D}"/>
              </a:ext>
            </a:extLst>
          </p:cNvPr>
          <p:cNvSpPr>
            <a:spLocks noGrp="1"/>
          </p:cNvSpPr>
          <p:nvPr>
            <p:ph type="sldNum" sz="quarter" idx="12"/>
          </p:nvPr>
        </p:nvSpPr>
        <p:spPr>
          <a:xfrm>
            <a:off x="11404600" y="6517302"/>
            <a:ext cx="558800" cy="321398"/>
          </a:xfrm>
        </p:spPr>
        <p:txBody>
          <a:bodyPr/>
          <a:lstStyle>
            <a:lvl1pPr>
              <a:defRPr>
                <a:solidFill>
                  <a:schemeClr val="bg1"/>
                </a:solidFill>
              </a:defRPr>
            </a:lvl1pPr>
          </a:lstStyle>
          <a:p>
            <a:fld id="{9F4AF89A-28FA-47FA-B28F-9A9C6913CB7A}" type="slidenum">
              <a:rPr lang="ko-KR" altLang="en-US" smtClean="0"/>
              <a:pPr/>
              <a:t>‹#›</a:t>
            </a:fld>
            <a:endParaRPr lang="ko-KR" altLang="en-US" dirty="0"/>
          </a:p>
        </p:txBody>
      </p:sp>
      <p:pic>
        <p:nvPicPr>
          <p:cNvPr id="13" name="그림 12">
            <a:extLst>
              <a:ext uri="{FF2B5EF4-FFF2-40B4-BE49-F238E27FC236}">
                <a16:creationId xmlns:a16="http://schemas.microsoft.com/office/drawing/2014/main" id="{DAEAB581-7B9E-4552-9BEC-BDB2FB36C0F9}"/>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6482" b="96122" l="16219" r="85171">
                        <a14:foregroundMark x1="20111" y1="81440" x2="20111" y2="81440"/>
                        <a14:foregroundMark x1="16404" y1="81440" x2="16404" y2="81440"/>
                        <a14:foregroundMark x1="25950" y1="81717" x2="25950" y2="81717"/>
                        <a14:foregroundMark x1="35959" y1="86704" x2="35959" y2="86704"/>
                        <a14:foregroundMark x1="44300" y1="83657" x2="44300" y2="83657"/>
                        <a14:foregroundMark x1="53197" y1="73961" x2="53197" y2="73961"/>
                        <a14:foregroundMark x1="82947" y1="81717" x2="82947" y2="81717"/>
                        <a14:foregroundMark x1="85171" y1="87812" x2="85171" y2="87812"/>
                      </a14:backgroundRemoval>
                    </a14:imgEffect>
                  </a14:imgLayer>
                </a14:imgProps>
              </a:ext>
              <a:ext uri="{28A0092B-C50C-407E-A947-70E740481C1C}">
                <a14:useLocalDpi xmlns:a14="http://schemas.microsoft.com/office/drawing/2010/main" val="0"/>
              </a:ext>
            </a:extLst>
          </a:blip>
          <a:srcRect l="12517" t="63297" r="13176"/>
          <a:stretch/>
        </p:blipFill>
        <p:spPr>
          <a:xfrm>
            <a:off x="112017" y="6545265"/>
            <a:ext cx="1744133" cy="288231"/>
          </a:xfrm>
          <a:prstGeom prst="rect">
            <a:avLst/>
          </a:prstGeom>
        </p:spPr>
      </p:pic>
      <p:sp>
        <p:nvSpPr>
          <p:cNvPr id="16" name="날짜 개체 틀 3">
            <a:extLst>
              <a:ext uri="{FF2B5EF4-FFF2-40B4-BE49-F238E27FC236}">
                <a16:creationId xmlns:a16="http://schemas.microsoft.com/office/drawing/2014/main" id="{3920A115-BF94-4DB0-B759-905F580E6ABC}"/>
              </a:ext>
            </a:extLst>
          </p:cNvPr>
          <p:cNvSpPr>
            <a:spLocks noGrp="1"/>
          </p:cNvSpPr>
          <p:nvPr>
            <p:ph type="dt" sz="half" idx="10"/>
          </p:nvPr>
        </p:nvSpPr>
        <p:spPr>
          <a:xfrm>
            <a:off x="9698025" y="6495439"/>
            <a:ext cx="1258711" cy="365125"/>
          </a:xfrm>
        </p:spPr>
        <p:txBody>
          <a:bodyPr/>
          <a:lstStyle>
            <a:lvl1pPr>
              <a:defRPr>
                <a:solidFill>
                  <a:schemeClr val="bg1"/>
                </a:solidFill>
              </a:defRPr>
            </a:lvl1pPr>
          </a:lstStyle>
          <a:p>
            <a:endParaRPr lang="ko-KR" altLang="en-US" dirty="0"/>
          </a:p>
        </p:txBody>
      </p:sp>
      <p:sp>
        <p:nvSpPr>
          <p:cNvPr id="17" name="바닥글 개체 틀 4">
            <a:extLst>
              <a:ext uri="{FF2B5EF4-FFF2-40B4-BE49-F238E27FC236}">
                <a16:creationId xmlns:a16="http://schemas.microsoft.com/office/drawing/2014/main" id="{CB761E04-ABC5-4F9B-B7F4-0370F3F02EDD}"/>
              </a:ext>
            </a:extLst>
          </p:cNvPr>
          <p:cNvSpPr>
            <a:spLocks noGrp="1"/>
          </p:cNvSpPr>
          <p:nvPr>
            <p:ph type="ftr" sz="quarter" idx="11"/>
          </p:nvPr>
        </p:nvSpPr>
        <p:spPr>
          <a:xfrm>
            <a:off x="7308348" y="6495439"/>
            <a:ext cx="1888067" cy="365125"/>
          </a:xfrm>
        </p:spPr>
        <p:txBody>
          <a:bodyPr/>
          <a:lstStyle>
            <a:lvl1pPr>
              <a:defRPr>
                <a:solidFill>
                  <a:schemeClr val="bg1"/>
                </a:solidFill>
              </a:defRPr>
            </a:lvl1pPr>
          </a:lstStyle>
          <a:p>
            <a:endParaRPr lang="ko-KR" altLang="en-US" dirty="0"/>
          </a:p>
        </p:txBody>
      </p:sp>
    </p:spTree>
    <p:extLst>
      <p:ext uri="{BB962C8B-B14F-4D97-AF65-F5344CB8AC3E}">
        <p14:creationId xmlns:p14="http://schemas.microsoft.com/office/powerpoint/2010/main" val="3176484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D0B4DC-8072-4B8E-A822-FE3A08C0D63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BD927B99-20C3-4D37-8275-EA6400E5C1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C7C6CE84-6AD8-453A-AD6E-FEAF6049C1C5}"/>
              </a:ext>
            </a:extLst>
          </p:cNvPr>
          <p:cNvSpPr>
            <a:spLocks noGrp="1"/>
          </p:cNvSpPr>
          <p:nvPr>
            <p:ph type="dt" sz="half" idx="10"/>
          </p:nvPr>
        </p:nvSpPr>
        <p:spPr>
          <a:xfrm>
            <a:off x="838200" y="6044141"/>
            <a:ext cx="2743200" cy="365125"/>
          </a:xfrm>
        </p:spPr>
        <p:txBody>
          <a:bodyPr/>
          <a:lstStyle/>
          <a:p>
            <a:endParaRPr lang="ko-KR" altLang="en-US"/>
          </a:p>
        </p:txBody>
      </p:sp>
      <p:sp>
        <p:nvSpPr>
          <p:cNvPr id="5" name="바닥글 개체 틀 4">
            <a:extLst>
              <a:ext uri="{FF2B5EF4-FFF2-40B4-BE49-F238E27FC236}">
                <a16:creationId xmlns:a16="http://schemas.microsoft.com/office/drawing/2014/main" id="{549EF105-0337-4580-9111-FD2F527F97D8}"/>
              </a:ext>
            </a:extLst>
          </p:cNvPr>
          <p:cNvSpPr>
            <a:spLocks noGrp="1"/>
          </p:cNvSpPr>
          <p:nvPr>
            <p:ph type="ftr" sz="quarter" idx="11"/>
          </p:nvPr>
        </p:nvSpPr>
        <p:spPr>
          <a:xfrm>
            <a:off x="4038600" y="6044141"/>
            <a:ext cx="4114800" cy="365125"/>
          </a:xfrm>
        </p:spPr>
        <p:txBody>
          <a:bodyPr/>
          <a:lstStyle/>
          <a:p>
            <a:endParaRPr lang="ko-KR" altLang="en-US"/>
          </a:p>
        </p:txBody>
      </p:sp>
      <p:sp>
        <p:nvSpPr>
          <p:cNvPr id="7" name="슬라이드 번호 개체 틀 5">
            <a:extLst>
              <a:ext uri="{FF2B5EF4-FFF2-40B4-BE49-F238E27FC236}">
                <a16:creationId xmlns:a16="http://schemas.microsoft.com/office/drawing/2014/main" id="{AB31AF83-2C46-4BF6-B48E-DD76F99A3E2F}"/>
              </a:ext>
            </a:extLst>
          </p:cNvPr>
          <p:cNvSpPr>
            <a:spLocks noGrp="1"/>
          </p:cNvSpPr>
          <p:nvPr>
            <p:ph type="sldNum" sz="quarter" idx="12"/>
          </p:nvPr>
        </p:nvSpPr>
        <p:spPr>
          <a:xfrm>
            <a:off x="8940800" y="6044141"/>
            <a:ext cx="2743200" cy="365125"/>
          </a:xfrm>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451779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88C8B6C-1DEF-4332-8A14-F6B6981FD99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78B35E-5C7A-4650-863C-461C8592BBB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FA0FC85E-DA01-4C94-8312-2EAB20EAB35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96ADE796-457C-4E05-BBB8-BC7FD1390133}"/>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65A564A-D398-41C0-BEF2-5D2A53F3709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BD0DB09-1DC7-4816-820B-2EDD19BADB2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2129832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073845-DA08-4E02-89E5-279477CDC15E}"/>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FA0F8E2-8F9C-4936-8D92-FA7FE49702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59C35784-8D42-4310-8640-07C1BEB330B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B31B950-6CB7-42DB-A303-B407EF83D2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0F35007-CA56-4CB7-8C5F-CF3E2924C586}"/>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290CD9AE-54AB-44CB-8910-A70F24EB3AAA}"/>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42AFA608-2F47-4FBC-8A45-AC037C64C08E}"/>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EA635AC-BD3D-4D4A-AB07-EAABF5013766}"/>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307660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D27486-42F6-4B67-8DF8-769971D09AF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9BBFFFA3-6C08-4D2B-B714-F2729D0D945F}"/>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001B550E-4A2E-4405-8F29-A9633B7A925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840B985F-0B0F-472E-A18E-72C776E3022C}"/>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6909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5995497-1A46-4FDE-B4B1-CA2510A4E863}"/>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66BDDD35-FFDF-4936-8645-AC2A1F2AB0E2}"/>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5A31037F-312F-4D9B-9119-F134F49B2903}"/>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59211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062E35-F23E-4CDC-9C00-11DCB7E970E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765F35A-C1B0-4F2A-8536-7C9C4EF9C0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86B6DFEF-5929-42A1-B17A-6AD3F1AC5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B8A33CA-A779-4AE7-8BB3-0DF9C81A742A}"/>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1539BD6-447C-4ABC-97CC-BCC453A3890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6A96239-5406-4F31-95AA-C4BD1AB5053A}"/>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47807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FCC7A7-4C8B-434F-9C38-C6E5AC9E37D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97AD0D2C-AE0D-4BDF-B9E8-D91CD7556C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A9F58740-6BDA-46A2-A629-765E7E175B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92C1AD5-7F55-4125-8A2F-BC07A86DA481}"/>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CAB58409-227F-4B89-B306-5E32E6E4F5A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7C64012-3A7B-4999-BA77-06258A04A4F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43037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54230E-387F-465D-9111-5F8ACFE1D2C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C53B19F-7C90-4073-858B-0BD87654EFB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96123FE-787A-4904-AA9D-8ACC7B307BB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F1EAC67-5F52-452E-9E50-F587C648176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50EEB5A-4207-4ADB-95D4-B87AA305BAB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90071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DACCBB6-C18F-485C-A53E-8683CFFE909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112DC10F-92E5-436B-9D63-2A68B11CB04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5DDDF8-BB20-4C9B-9571-A39BA7D6E91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7354DDF5-9EDE-406E-BFC5-8359CD70849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B989F03-47B6-4B39-B0CA-2A216789CA9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77719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A31B03D-0C42-48E6-948A-722C5EE3FD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495A6E46-0B48-4B44-9DA0-C7C1E05C33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B20D4B93-E437-4DCC-9E09-16EA88BBC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5" name="바닥글 개체 틀 4">
            <a:extLst>
              <a:ext uri="{FF2B5EF4-FFF2-40B4-BE49-F238E27FC236}">
                <a16:creationId xmlns:a16="http://schemas.microsoft.com/office/drawing/2014/main" id="{84A7A77E-05D0-4203-B655-9A2A21B58D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6" name="슬라이드 번호 개체 틀 5">
            <a:extLst>
              <a:ext uri="{FF2B5EF4-FFF2-40B4-BE49-F238E27FC236}">
                <a16:creationId xmlns:a16="http://schemas.microsoft.com/office/drawing/2014/main" id="{4C09CEAC-52D1-4D7C-99C4-13222A951E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fld id="{9F4AF89A-28FA-47FA-B28F-9A9C6913CB7A}" type="slidenum">
              <a:rPr lang="ko-KR" altLang="en-US" smtClean="0"/>
              <a:pPr/>
              <a:t>‹#›</a:t>
            </a:fld>
            <a:endParaRPr lang="ko-KR" altLang="en-US" dirty="0"/>
          </a:p>
        </p:txBody>
      </p:sp>
    </p:spTree>
    <p:extLst>
      <p:ext uri="{BB962C8B-B14F-4D97-AF65-F5344CB8AC3E}">
        <p14:creationId xmlns:p14="http://schemas.microsoft.com/office/powerpoint/2010/main" val="2755485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KoPub돋움체 Medium" panose="00000600000000000000" pitchFamily="2" charset="-127"/>
          <a:ea typeface="KoPub돋움체 Medium" panose="00000600000000000000" pitchFamily="2"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KoPub돋움체 Medium" panose="00000600000000000000" pitchFamily="2" charset="-127"/>
          <a:ea typeface="KoPub돋움체 Medium" panose="00000600000000000000" pitchFamily="2"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KoPub돋움체 Medium" panose="00000600000000000000" pitchFamily="2" charset="-127"/>
          <a:ea typeface="KoPub돋움체 Medium" panose="00000600000000000000" pitchFamily="2"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KoPub돋움체 Medium" panose="00000600000000000000" pitchFamily="2" charset="-127"/>
          <a:ea typeface="KoPub돋움체 Medium" panose="00000600000000000000" pitchFamily="2"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1074" y="2203269"/>
            <a:ext cx="10498183" cy="369332"/>
          </a:xfrm>
          <a:prstGeom prst="rect">
            <a:avLst/>
          </a:prstGeom>
          <a:noFill/>
        </p:spPr>
        <p:txBody>
          <a:bodyPr wrap="square">
            <a:spAutoFit/>
          </a:bodyPr>
          <a:lstStyle/>
          <a:p>
            <a:r>
              <a:rPr dirty="0">
                <a:solidFill>
                  <a:schemeClr val="bg1"/>
                </a:solidFill>
                <a:latin typeface="KoPub돋움체 Bold" panose="00000800000000000000" pitchFamily="2" charset="-127"/>
                <a:ea typeface="KoPub돋움체 Bold" panose="00000800000000000000" pitchFamily="2" charset="-127"/>
              </a:rPr>
              <a:t>Clinic Baseline AUC · Odds Ratio </a:t>
            </a:r>
            <a:r>
              <a:rPr dirty="0" err="1">
                <a:solidFill>
                  <a:schemeClr val="bg1"/>
                </a:solidFill>
                <a:latin typeface="KoPub돋움체 Bold" panose="00000800000000000000" pitchFamily="2" charset="-127"/>
                <a:ea typeface="KoPub돋움체 Bold" panose="00000800000000000000" pitchFamily="2" charset="-127"/>
              </a:rPr>
              <a:t>재정리</a:t>
            </a:r>
            <a:r>
              <a:rPr dirty="0">
                <a:solidFill>
                  <a:schemeClr val="bg1"/>
                </a:solidFill>
                <a:latin typeface="KoPub돋움체 Bold" panose="00000800000000000000" pitchFamily="2" charset="-127"/>
                <a:ea typeface="KoPub돋움체 Bold" panose="00000800000000000000" pitchFamily="2" charset="-127"/>
              </a:rPr>
              <a:t> (HTN·DM·CKD)</a:t>
            </a:r>
          </a:p>
        </p:txBody>
      </p:sp>
      <p:sp>
        <p:nvSpPr>
          <p:cNvPr id="3" name="TextBox 2"/>
          <p:cNvSpPr txBox="1"/>
          <p:nvPr/>
        </p:nvSpPr>
        <p:spPr>
          <a:xfrm>
            <a:off x="431074" y="3091544"/>
            <a:ext cx="3624701" cy="338554"/>
          </a:xfrm>
          <a:prstGeom prst="rect">
            <a:avLst/>
          </a:prstGeom>
          <a:noFill/>
        </p:spPr>
        <p:txBody>
          <a:bodyPr wrap="square">
            <a:spAutoFit/>
          </a:bodyPr>
          <a:lstStyle/>
          <a:p>
            <a:r>
              <a:rPr sz="1600">
                <a:solidFill>
                  <a:schemeClr val="bg1"/>
                </a:solidFill>
              </a:rPr>
              <a:t>2026. 09. 08</a:t>
            </a:r>
          </a:p>
        </p:txBody>
      </p:sp>
      <p:sp>
        <p:nvSpPr>
          <p:cNvPr id="4" name="TextBox 3"/>
          <p:cNvSpPr txBox="1"/>
          <p:nvPr/>
        </p:nvSpPr>
        <p:spPr>
          <a:xfrm>
            <a:off x="431074" y="3548744"/>
            <a:ext cx="3624701" cy="369332"/>
          </a:xfrm>
          <a:prstGeom prst="rect">
            <a:avLst/>
          </a:prstGeom>
          <a:noFill/>
        </p:spPr>
        <p:txBody>
          <a:bodyPr wrap="square">
            <a:spAutoFit/>
          </a:bodyPr>
          <a:lstStyle/>
          <a:p>
            <a:r>
              <a:rPr sz="1800" b="1">
                <a:solidFill>
                  <a:schemeClr val="bg1"/>
                </a:solidFill>
              </a:rPr>
              <a:t>JangHoon Chun</a:t>
            </a:r>
          </a:p>
        </p:txBody>
      </p:sp>
      <p:sp>
        <p:nvSpPr>
          <p:cNvPr id="5" name="TextBox 4"/>
          <p:cNvSpPr txBox="1"/>
          <p:nvPr/>
        </p:nvSpPr>
        <p:spPr>
          <a:xfrm>
            <a:off x="431074" y="4005944"/>
            <a:ext cx="8155577" cy="738664"/>
          </a:xfrm>
          <a:prstGeom prst="rect">
            <a:avLst/>
          </a:prstGeom>
          <a:noFill/>
        </p:spPr>
        <p:txBody>
          <a:bodyPr wrap="square">
            <a:spAutoFit/>
          </a:bodyPr>
          <a:lstStyle/>
          <a:p>
            <a:r>
              <a:rPr sz="1400">
                <a:solidFill>
                  <a:schemeClr val="bg1"/>
                </a:solidFill>
              </a:rPr>
              <a:t>Department of, Medical Device Engineering &amp; Management</a:t>
            </a:r>
          </a:p>
          <a:p>
            <a:r>
              <a:rPr sz="1400">
                <a:solidFill>
                  <a:schemeClr val="bg1"/>
                </a:solidFill>
              </a:rPr>
              <a:t>Gangnam Severance Hospital,</a:t>
            </a:r>
          </a:p>
          <a:p>
            <a:r>
              <a:rPr sz="1400">
                <a:solidFill>
                  <a:schemeClr val="bg1"/>
                </a:solidFill>
              </a:rPr>
              <a:t>Yonsei University College of Medicine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목차</a:t>
            </a:r>
          </a:p>
        </p:txBody>
      </p:sp>
      <p:sp>
        <p:nvSpPr>
          <p:cNvPr id="3" name="Content Placeholder 2"/>
          <p:cNvSpPr>
            <a:spLocks noGrp="1"/>
          </p:cNvSpPr>
          <p:nvPr>
            <p:ph idx="1"/>
          </p:nvPr>
        </p:nvSpPr>
        <p:spPr/>
        <p:txBody>
          <a:bodyPr wrap="square">
            <a:normAutofit fontScale="85000" lnSpcReduction="20000"/>
          </a:bodyPr>
          <a:lstStyle/>
          <a:p>
            <a:r>
              <a:rPr dirty="0"/>
              <a:t>Research Summary</a:t>
            </a:r>
          </a:p>
          <a:p>
            <a:r>
              <a:rPr dirty="0" err="1"/>
              <a:t>실험설계</a:t>
            </a:r>
            <a:r>
              <a:rPr dirty="0"/>
              <a:t>: Baseline 6종 · AEC Feature 2종</a:t>
            </a:r>
          </a:p>
          <a:p>
            <a:r>
              <a:rPr dirty="0" err="1"/>
              <a:t>결과</a:t>
            </a:r>
            <a:r>
              <a:rPr dirty="0"/>
              <a:t> ① </a:t>
            </a:r>
            <a:r>
              <a:rPr dirty="0" err="1"/>
              <a:t>Baseline별</a:t>
            </a:r>
            <a:r>
              <a:rPr dirty="0"/>
              <a:t> AUC </a:t>
            </a:r>
            <a:r>
              <a:rPr dirty="0" err="1"/>
              <a:t>요약</a:t>
            </a:r>
            <a:r>
              <a:rPr dirty="0"/>
              <a:t> (HTN/DM/CKD)</a:t>
            </a:r>
          </a:p>
          <a:p>
            <a:r>
              <a:rPr b="1" dirty="0"/>
              <a:t>DM</a:t>
            </a:r>
            <a:r>
              <a:rPr lang="en-US" b="1" dirty="0"/>
              <a:t> / HTN / CKD</a:t>
            </a:r>
            <a:endParaRPr b="1" dirty="0"/>
          </a:p>
          <a:p>
            <a:pPr lvl="1"/>
            <a:r>
              <a:rPr dirty="0"/>
              <a:t>AUC — Baseline vs AEC </a:t>
            </a:r>
            <a:r>
              <a:rPr dirty="0" err="1"/>
              <a:t>추가</a:t>
            </a:r>
            <a:endParaRPr dirty="0"/>
          </a:p>
          <a:p>
            <a:pPr lvl="1"/>
            <a:r>
              <a:rPr dirty="0"/>
              <a:t>AUC </a:t>
            </a:r>
            <a:r>
              <a:rPr dirty="0" err="1"/>
              <a:t>개선</a:t>
            </a:r>
            <a:r>
              <a:rPr dirty="0"/>
              <a:t> </a:t>
            </a:r>
            <a:r>
              <a:rPr dirty="0" err="1"/>
              <a:t>유의성</a:t>
            </a:r>
            <a:r>
              <a:rPr dirty="0"/>
              <a:t> (DeLong)</a:t>
            </a:r>
          </a:p>
          <a:p>
            <a:pPr lvl="1"/>
            <a:r>
              <a:rPr dirty="0"/>
              <a:t>Odds Ratio — Baseline </a:t>
            </a:r>
            <a:r>
              <a:rPr dirty="0" err="1"/>
              <a:t>계수</a:t>
            </a:r>
            <a:endParaRPr dirty="0"/>
          </a:p>
          <a:p>
            <a:pPr lvl="1"/>
            <a:r>
              <a:rPr dirty="0"/>
              <a:t>Odds Ratio — AEC 항 </a:t>
            </a:r>
            <a:r>
              <a:rPr dirty="0" err="1"/>
              <a:t>요약</a:t>
            </a:r>
            <a:endParaRPr dirty="0"/>
          </a:p>
          <a:p>
            <a:r>
              <a:rPr dirty="0" err="1"/>
              <a:t>부록</a:t>
            </a:r>
            <a:r>
              <a:rPr dirty="0"/>
              <a:t>: </a:t>
            </a:r>
            <a:r>
              <a:rPr dirty="0" err="1"/>
              <a:t>기타</a:t>
            </a:r>
            <a:r>
              <a:rPr dirty="0"/>
              <a:t> </a:t>
            </a:r>
            <a:r>
              <a:rPr dirty="0" err="1"/>
              <a:t>강건성</a:t>
            </a:r>
            <a:r>
              <a:rPr dirty="0"/>
              <a:t> </a:t>
            </a:r>
            <a:r>
              <a:rPr dirty="0" err="1"/>
              <a:t>체크</a:t>
            </a:r>
            <a:r>
              <a:rPr dirty="0"/>
              <a:t> (</a:t>
            </a:r>
            <a:r>
              <a:rPr dirty="0" err="1"/>
              <a:t>CKD·AEC-total·t-SNE</a:t>
            </a:r>
            <a:r>
              <a:rPr dirty="0"/>
              <a:t>)</a:t>
            </a:r>
          </a:p>
          <a:p>
            <a:r>
              <a:rPr dirty="0"/>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Research Summary</a:t>
            </a:r>
          </a:p>
        </p:txBody>
      </p:sp>
      <p:sp>
        <p:nvSpPr>
          <p:cNvPr id="3" name="Content Placeholder 2"/>
          <p:cNvSpPr>
            <a:spLocks noGrp="1"/>
          </p:cNvSpPr>
          <p:nvPr>
            <p:ph idx="1"/>
          </p:nvPr>
        </p:nvSpPr>
        <p:spPr/>
        <p:txBody>
          <a:bodyPr wrap="square">
            <a:noAutofit/>
          </a:bodyPr>
          <a:lstStyle/>
          <a:p>
            <a:r>
              <a:rPr sz="1800" dirty="0"/>
              <a:t>Baseline 6종 × AEC feature 2종(FPCA(3)/Upper-Lower ratio) × 3질환 × 2코호트 = 72개 DeLong </a:t>
            </a:r>
            <a:r>
              <a:rPr sz="1800" dirty="0" err="1"/>
              <a:t>검정</a:t>
            </a:r>
            <a:endParaRPr sz="1800" dirty="0"/>
          </a:p>
          <a:p>
            <a:r>
              <a:rPr sz="1800" dirty="0" err="1"/>
              <a:t>질환별</a:t>
            </a:r>
            <a:r>
              <a:rPr sz="1800" dirty="0"/>
              <a:t> baseline AUC(external): HTN 0.71~0.74 · DM 0.66~0.69 · CKD 0.61~0.63</a:t>
            </a:r>
          </a:p>
          <a:p>
            <a:r>
              <a:rPr sz="1800" dirty="0"/>
              <a:t>AEC </a:t>
            </a:r>
            <a:r>
              <a:rPr sz="1800" dirty="0" err="1"/>
              <a:t>추가</a:t>
            </a:r>
            <a:r>
              <a:rPr sz="1800" dirty="0"/>
              <a:t> 시 ΔAUC(external): +0.001~+0.027(</a:t>
            </a:r>
            <a:r>
              <a:rPr sz="1800" dirty="0" err="1"/>
              <a:t>질환·baseline별</a:t>
            </a:r>
            <a:r>
              <a:rPr sz="1800" dirty="0"/>
              <a:t> </a:t>
            </a:r>
            <a:r>
              <a:rPr sz="1800" dirty="0" err="1"/>
              <a:t>상이</a:t>
            </a:r>
            <a:r>
              <a:rPr sz="1800" dirty="0"/>
              <a:t>), </a:t>
            </a:r>
            <a:r>
              <a:rPr sz="1800" dirty="0" err="1"/>
              <a:t>개별유의</a:t>
            </a:r>
            <a:r>
              <a:rPr sz="1800" dirty="0"/>
              <a:t>(p&lt;0.05) 22/72건</a:t>
            </a:r>
          </a:p>
          <a:p>
            <a:r>
              <a:rPr sz="1800" dirty="0" err="1"/>
              <a:t>다중비교</a:t>
            </a:r>
            <a:r>
              <a:rPr sz="1800" dirty="0"/>
              <a:t> </a:t>
            </a:r>
            <a:r>
              <a:rPr sz="1800" dirty="0" err="1"/>
              <a:t>보정</a:t>
            </a:r>
            <a:r>
              <a:rPr sz="1800" dirty="0"/>
              <a:t>(Bonferroni α=0.05/72≈0.0007) </a:t>
            </a:r>
            <a:r>
              <a:rPr sz="1800" dirty="0" err="1"/>
              <a:t>후에는</a:t>
            </a:r>
            <a:r>
              <a:rPr sz="1800" dirty="0"/>
              <a:t> 22건의 </a:t>
            </a:r>
            <a:r>
              <a:rPr sz="1800" dirty="0" err="1"/>
              <a:t>개별유의</a:t>
            </a:r>
            <a:r>
              <a:rPr sz="1800" dirty="0"/>
              <a:t> </a:t>
            </a:r>
            <a:r>
              <a:rPr sz="1800" dirty="0" err="1"/>
              <a:t>전부</a:t>
            </a:r>
            <a:r>
              <a:rPr sz="1800" dirty="0"/>
              <a:t> </a:t>
            </a:r>
            <a:r>
              <a:rPr sz="1800" dirty="0" err="1"/>
              <a:t>미달</a:t>
            </a:r>
            <a:r>
              <a:rPr sz="1800" dirty="0"/>
              <a:t>(</a:t>
            </a:r>
            <a:r>
              <a:rPr sz="1800" dirty="0" err="1"/>
              <a:t>생존</a:t>
            </a:r>
            <a:r>
              <a:rPr sz="1800" dirty="0"/>
              <a:t> 0건) — </a:t>
            </a:r>
            <a:r>
              <a:rPr sz="1800" dirty="0" err="1"/>
              <a:t>강건하지</a:t>
            </a:r>
            <a:r>
              <a:rPr sz="1800" dirty="0"/>
              <a:t> </a:t>
            </a:r>
            <a:r>
              <a:rPr sz="1800" dirty="0" err="1"/>
              <a:t>않음</a:t>
            </a:r>
            <a:endParaRPr sz="1800" dirty="0"/>
          </a:p>
          <a:p>
            <a:r>
              <a:rPr sz="1800" dirty="0"/>
              <a:t>Odds Ratio: AEC Upper/Lower </a:t>
            </a:r>
            <a:r>
              <a:rPr sz="1800" dirty="0" err="1"/>
              <a:t>ratio는</a:t>
            </a:r>
            <a:r>
              <a:rPr sz="1800" dirty="0"/>
              <a:t> </a:t>
            </a:r>
            <a:r>
              <a:rPr sz="1800" dirty="0" err="1"/>
              <a:t>일관되게</a:t>
            </a:r>
            <a:r>
              <a:rPr sz="1800" dirty="0"/>
              <a:t> </a:t>
            </a:r>
            <a:r>
              <a:rPr sz="1800" dirty="0" err="1"/>
              <a:t>위험증가</a:t>
            </a:r>
            <a:r>
              <a:rPr sz="1800" dirty="0"/>
              <a:t>(OR 1.27~1.69), FPCA PC2는 </a:t>
            </a:r>
            <a:r>
              <a:rPr sz="1800" dirty="0" err="1"/>
              <a:t>일관되게</a:t>
            </a:r>
            <a:r>
              <a:rPr sz="1800" dirty="0"/>
              <a:t> </a:t>
            </a:r>
            <a:r>
              <a:rPr sz="1800" dirty="0" err="1"/>
              <a:t>보호적</a:t>
            </a:r>
            <a:r>
              <a:rPr sz="1800" dirty="0"/>
              <a:t>(OR 0.58~0.75)</a:t>
            </a:r>
          </a:p>
          <a:p>
            <a:r>
              <a:rPr sz="1800" dirty="0" err="1"/>
              <a:t>예외</a:t>
            </a:r>
            <a:r>
              <a:rPr sz="1800" dirty="0"/>
              <a:t>: CKD external + Upper/Lower </a:t>
            </a:r>
            <a:r>
              <a:rPr sz="1800" dirty="0" err="1"/>
              <a:t>ratio는</a:t>
            </a:r>
            <a:r>
              <a:rPr sz="1800" dirty="0"/>
              <a:t> baseline 6종 </a:t>
            </a:r>
            <a:r>
              <a:rPr sz="1800" dirty="0" err="1"/>
              <a:t>전부</a:t>
            </a:r>
            <a:r>
              <a:rPr sz="1800" dirty="0"/>
              <a:t> </a:t>
            </a:r>
            <a:r>
              <a:rPr sz="1800" dirty="0" err="1"/>
              <a:t>개별유의</a:t>
            </a:r>
            <a:r>
              <a:rPr sz="1800" dirty="0"/>
              <a:t> — 세 </a:t>
            </a:r>
            <a:r>
              <a:rPr sz="1800" dirty="0" err="1"/>
              <a:t>질환</a:t>
            </a:r>
            <a:r>
              <a:rPr sz="1800" dirty="0"/>
              <a:t> 중 </a:t>
            </a:r>
            <a:r>
              <a:rPr sz="1800" dirty="0" err="1"/>
              <a:t>가장</a:t>
            </a:r>
            <a:r>
              <a:rPr sz="1800" dirty="0"/>
              <a:t> </a:t>
            </a:r>
            <a:r>
              <a:rPr sz="1800" dirty="0" err="1"/>
              <a:t>일관된</a:t>
            </a:r>
            <a:r>
              <a:rPr sz="1800" dirty="0"/>
              <a:t> </a:t>
            </a:r>
            <a:r>
              <a:rPr sz="1800" dirty="0" err="1"/>
              <a:t>신호</a:t>
            </a:r>
            <a:r>
              <a:rPr sz="1800" dirty="0"/>
              <a:t>(</a:t>
            </a:r>
            <a:r>
              <a:rPr sz="1800" dirty="0" err="1"/>
              <a:t>부록</a:t>
            </a:r>
            <a:r>
              <a:rPr sz="1800" dirty="0"/>
              <a:t> </a:t>
            </a:r>
            <a:r>
              <a:rPr sz="1800" dirty="0" err="1"/>
              <a:t>참고</a:t>
            </a:r>
            <a:r>
              <a:rPr sz="18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실험설계 ① Baseline 6종 정의</a:t>
            </a:r>
          </a:p>
        </p:txBody>
      </p:sp>
      <p:graphicFrame>
        <p:nvGraphicFramePr>
          <p:cNvPr id="3" name="Table 2"/>
          <p:cNvGraphicFramePr>
            <a:graphicFrameLocks noGrp="1"/>
          </p:cNvGraphicFramePr>
          <p:nvPr>
            <p:extLst>
              <p:ext uri="{D42A27DB-BD31-4B8C-83A1-F6EECF244321}">
                <p14:modId xmlns:p14="http://schemas.microsoft.com/office/powerpoint/2010/main" val="3014505063"/>
              </p:ext>
            </p:extLst>
          </p:nvPr>
        </p:nvGraphicFramePr>
        <p:xfrm>
          <a:off x="508000" y="897468"/>
          <a:ext cx="11175998" cy="5063066"/>
        </p:xfrm>
        <a:graphic>
          <a:graphicData uri="http://schemas.openxmlformats.org/drawingml/2006/table">
            <a:tbl>
              <a:tblPr firstRow="1" bandRow="1">
                <a:tableStyleId>{C083E6E3-FA7D-4D7B-A595-EF9225AFEA82}</a:tableStyleId>
              </a:tblPr>
              <a:tblGrid>
                <a:gridCol w="2672521">
                  <a:extLst>
                    <a:ext uri="{9D8B030D-6E8A-4147-A177-3AD203B41FA5}">
                      <a16:colId xmlns:a16="http://schemas.microsoft.com/office/drawing/2014/main" val="20000"/>
                    </a:ext>
                  </a:extLst>
                </a:gridCol>
                <a:gridCol w="5466521">
                  <a:extLst>
                    <a:ext uri="{9D8B030D-6E8A-4147-A177-3AD203B41FA5}">
                      <a16:colId xmlns:a16="http://schemas.microsoft.com/office/drawing/2014/main" val="20001"/>
                    </a:ext>
                  </a:extLst>
                </a:gridCol>
                <a:gridCol w="3036956">
                  <a:extLst>
                    <a:ext uri="{9D8B030D-6E8A-4147-A177-3AD203B41FA5}">
                      <a16:colId xmlns:a16="http://schemas.microsoft.com/office/drawing/2014/main" val="20002"/>
                    </a:ext>
                  </a:extLst>
                </a:gridCol>
              </a:tblGrid>
              <a:tr h="723295">
                <a:tc>
                  <a:txBody>
                    <a:bodyPr/>
                    <a:lstStyle/>
                    <a:p>
                      <a:pPr algn="ctr"/>
                      <a:r>
                        <a:rPr sz="1400" b="1"/>
                        <a:t>Baseline</a:t>
                      </a:r>
                    </a:p>
                  </a:txBody>
                  <a:tcPr anchor="ctr"/>
                </a:tc>
                <a:tc>
                  <a:txBody>
                    <a:bodyPr/>
                    <a:lstStyle/>
                    <a:p>
                      <a:pPr algn="ctr"/>
                      <a:r>
                        <a:rPr sz="1400" b="1"/>
                        <a:t>구성 변수</a:t>
                      </a:r>
                    </a:p>
                  </a:txBody>
                  <a:tcPr anchor="ctr"/>
                </a:tc>
                <a:tc>
                  <a:txBody>
                    <a:bodyPr/>
                    <a:lstStyle/>
                    <a:p>
                      <a:pPr algn="ctr"/>
                      <a:r>
                        <a:rPr sz="1400" b="1"/>
                        <a:t>비고</a:t>
                      </a:r>
                    </a:p>
                  </a:txBody>
                  <a:tcPr anchor="ctr"/>
                </a:tc>
                <a:extLst>
                  <a:ext uri="{0D108BD9-81ED-4DB2-BD59-A6C34878D82A}">
                    <a16:rowId xmlns:a16="http://schemas.microsoft.com/office/drawing/2014/main" val="10000"/>
                  </a:ext>
                </a:extLst>
              </a:tr>
              <a:tr h="723295">
                <a:tc>
                  <a:txBody>
                    <a:bodyPr/>
                    <a:lstStyle/>
                    <a:p>
                      <a:pPr algn="l"/>
                      <a:r>
                        <a:rPr sz="1300"/>
                        <a:t>clinic4</a:t>
                      </a:r>
                    </a:p>
                  </a:txBody>
                  <a:tcPr anchor="ctr"/>
                </a:tc>
                <a:tc>
                  <a:txBody>
                    <a:bodyPr/>
                    <a:lstStyle/>
                    <a:p>
                      <a:pPr algn="ctr"/>
                      <a:r>
                        <a:rPr sz="1300"/>
                        <a:t>Age, Sex, Height, Weight</a:t>
                      </a:r>
                    </a:p>
                  </a:txBody>
                  <a:tcPr anchor="ctr"/>
                </a:tc>
                <a:tc>
                  <a:txBody>
                    <a:bodyPr/>
                    <a:lstStyle/>
                    <a:p>
                      <a:pPr algn="ctr"/>
                      <a:r>
                        <a:rPr sz="1300"/>
                        <a:t>기본 baseline</a:t>
                      </a:r>
                    </a:p>
                  </a:txBody>
                  <a:tcPr anchor="ctr"/>
                </a:tc>
                <a:extLst>
                  <a:ext uri="{0D108BD9-81ED-4DB2-BD59-A6C34878D82A}">
                    <a16:rowId xmlns:a16="http://schemas.microsoft.com/office/drawing/2014/main" val="10001"/>
                  </a:ext>
                </a:extLst>
              </a:tr>
              <a:tr h="723295">
                <a:tc>
                  <a:txBody>
                    <a:bodyPr/>
                    <a:lstStyle/>
                    <a:p>
                      <a:pPr algn="l"/>
                      <a:r>
                        <a:rPr sz="1300"/>
                        <a:t>clinic6 (scanner)</a:t>
                      </a:r>
                    </a:p>
                  </a:txBody>
                  <a:tcPr anchor="ctr"/>
                </a:tc>
                <a:tc>
                  <a:txBody>
                    <a:bodyPr/>
                    <a:lstStyle/>
                    <a:p>
                      <a:pPr algn="ctr"/>
                      <a:r>
                        <a:rPr sz="1300"/>
                        <a:t>clinic4 + kVp, Vendor(정수라벨)</a:t>
                      </a:r>
                    </a:p>
                  </a:txBody>
                  <a:tcPr anchor="ctr"/>
                </a:tc>
                <a:tc>
                  <a:txBody>
                    <a:bodyPr/>
                    <a:lstStyle/>
                    <a:p>
                      <a:pPr algn="ctr"/>
                      <a:r>
                        <a:rPr sz="1300"/>
                        <a:t>스캐너 요인 추가</a:t>
                      </a:r>
                    </a:p>
                  </a:txBody>
                  <a:tcPr anchor="ctr"/>
                </a:tc>
                <a:extLst>
                  <a:ext uri="{0D108BD9-81ED-4DB2-BD59-A6C34878D82A}">
                    <a16:rowId xmlns:a16="http://schemas.microsoft.com/office/drawing/2014/main" val="10002"/>
                  </a:ext>
                </a:extLst>
              </a:tr>
              <a:tr h="723295">
                <a:tc>
                  <a:txBody>
                    <a:bodyPr/>
                    <a:lstStyle/>
                    <a:p>
                      <a:pPr algn="l"/>
                      <a:r>
                        <a:rPr sz="1300"/>
                        <a:t>clinic7</a:t>
                      </a:r>
                    </a:p>
                  </a:txBody>
                  <a:tcPr anchor="ctr"/>
                </a:tc>
                <a:tc>
                  <a:txBody>
                    <a:bodyPr/>
                    <a:lstStyle/>
                    <a:p>
                      <a:pPr algn="ctr"/>
                      <a:r>
                        <a:rPr sz="1300"/>
                        <a:t>clinic4 + VAT, SAT, SMI</a:t>
                      </a:r>
                    </a:p>
                  </a:txBody>
                  <a:tcPr anchor="ctr"/>
                </a:tc>
                <a:tc>
                  <a:txBody>
                    <a:bodyPr/>
                    <a:lstStyle/>
                    <a:p>
                      <a:pPr algn="ctr"/>
                      <a:r>
                        <a:rPr sz="1300"/>
                        <a:t>체성분 3종 추가</a:t>
                      </a:r>
                    </a:p>
                  </a:txBody>
                  <a:tcPr anchor="ctr"/>
                </a:tc>
                <a:extLst>
                  <a:ext uri="{0D108BD9-81ED-4DB2-BD59-A6C34878D82A}">
                    <a16:rowId xmlns:a16="http://schemas.microsoft.com/office/drawing/2014/main" val="10003"/>
                  </a:ext>
                </a:extLst>
              </a:tr>
              <a:tr h="723295">
                <a:tc>
                  <a:txBody>
                    <a:bodyPr/>
                    <a:lstStyle/>
                    <a:p>
                      <a:pPr algn="l"/>
                      <a:r>
                        <a:rPr sz="1300"/>
                        <a:t>clinic6 (VSR)</a:t>
                      </a:r>
                    </a:p>
                  </a:txBody>
                  <a:tcPr anchor="ctr"/>
                </a:tc>
                <a:tc>
                  <a:txBody>
                    <a:bodyPr/>
                    <a:lstStyle/>
                    <a:p>
                      <a:pPr algn="ctr"/>
                      <a:r>
                        <a:rPr sz="1300"/>
                        <a:t>clinic4 + VAT/SAT ratio, SMI</a:t>
                      </a:r>
                    </a:p>
                  </a:txBody>
                  <a:tcPr anchor="ctr"/>
                </a:tc>
                <a:tc>
                  <a:txBody>
                    <a:bodyPr/>
                    <a:lstStyle/>
                    <a:p>
                      <a:pPr algn="ctr"/>
                      <a:r>
                        <a:rPr sz="1300"/>
                        <a:t>체성분을 비율 1개로 압축</a:t>
                      </a:r>
                    </a:p>
                  </a:txBody>
                  <a:tcPr anchor="ctr"/>
                </a:tc>
                <a:extLst>
                  <a:ext uri="{0D108BD9-81ED-4DB2-BD59-A6C34878D82A}">
                    <a16:rowId xmlns:a16="http://schemas.microsoft.com/office/drawing/2014/main" val="10004"/>
                  </a:ext>
                </a:extLst>
              </a:tr>
              <a:tr h="723295">
                <a:tc>
                  <a:txBody>
                    <a:bodyPr/>
                    <a:lstStyle/>
                    <a:p>
                      <a:pPr algn="l"/>
                      <a:r>
                        <a:rPr sz="1300"/>
                        <a:t>clinic9 (all)</a:t>
                      </a:r>
                    </a:p>
                  </a:txBody>
                  <a:tcPr anchor="ctr"/>
                </a:tc>
                <a:tc>
                  <a:txBody>
                    <a:bodyPr/>
                    <a:lstStyle/>
                    <a:p>
                      <a:pPr algn="ctr"/>
                      <a:r>
                        <a:rPr sz="1300"/>
                        <a:t>clinic4 + kVp, Vendor, VAT, SAT, SMI</a:t>
                      </a:r>
                    </a:p>
                  </a:txBody>
                  <a:tcPr anchor="ctr"/>
                </a:tc>
                <a:tc>
                  <a:txBody>
                    <a:bodyPr/>
                    <a:lstStyle/>
                    <a:p>
                      <a:pPr algn="ctr"/>
                      <a:r>
                        <a:rPr sz="1300"/>
                        <a:t>전부 결합 (4+5=9)</a:t>
                      </a:r>
                    </a:p>
                  </a:txBody>
                  <a:tcPr anchor="ctr"/>
                </a:tc>
                <a:extLst>
                  <a:ext uri="{0D108BD9-81ED-4DB2-BD59-A6C34878D82A}">
                    <a16:rowId xmlns:a16="http://schemas.microsoft.com/office/drawing/2014/main" val="10005"/>
                  </a:ext>
                </a:extLst>
              </a:tr>
              <a:tr h="723296">
                <a:tc>
                  <a:txBody>
                    <a:bodyPr/>
                    <a:lstStyle/>
                    <a:p>
                      <a:pPr algn="l"/>
                      <a:r>
                        <a:rPr sz="1300"/>
                        <a:t>clinic8 (all ratio)</a:t>
                      </a:r>
                    </a:p>
                  </a:txBody>
                  <a:tcPr anchor="ctr"/>
                </a:tc>
                <a:tc>
                  <a:txBody>
                    <a:bodyPr/>
                    <a:lstStyle/>
                    <a:p>
                      <a:pPr algn="ctr"/>
                      <a:r>
                        <a:rPr sz="1300" dirty="0"/>
                        <a:t>clinic4 + </a:t>
                      </a:r>
                      <a:r>
                        <a:rPr sz="1300" dirty="0" err="1"/>
                        <a:t>kVp</a:t>
                      </a:r>
                      <a:r>
                        <a:rPr sz="1300" dirty="0"/>
                        <a:t>, Vendor, VAT/SAT ratio, SMI</a:t>
                      </a:r>
                    </a:p>
                  </a:txBody>
                  <a:tcPr anchor="ctr"/>
                </a:tc>
                <a:tc>
                  <a:txBody>
                    <a:bodyPr/>
                    <a:lstStyle/>
                    <a:p>
                      <a:pPr algn="ctr"/>
                      <a:r>
                        <a:rPr sz="1300" dirty="0" err="1"/>
                        <a:t>전부</a:t>
                      </a:r>
                      <a:r>
                        <a:rPr sz="1300" dirty="0"/>
                        <a:t> </a:t>
                      </a:r>
                      <a:r>
                        <a:rPr sz="1300" dirty="0" err="1"/>
                        <a:t>결합</a:t>
                      </a:r>
                      <a:r>
                        <a:rPr sz="1300" dirty="0"/>
                        <a:t>, </a:t>
                      </a:r>
                      <a:r>
                        <a:rPr sz="1300" dirty="0" err="1"/>
                        <a:t>체성분은</a:t>
                      </a:r>
                      <a:r>
                        <a:rPr sz="1300" dirty="0"/>
                        <a:t> </a:t>
                      </a:r>
                      <a:r>
                        <a:rPr sz="1300" dirty="0" err="1"/>
                        <a:t>비율</a:t>
                      </a:r>
                      <a:r>
                        <a:rPr sz="1300" dirty="0"/>
                        <a:t> (4+4=8)</a:t>
                      </a:r>
                    </a:p>
                  </a:txBody>
                  <a:tcPr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실험설계 ② AEC Feature · 검증 원칙</a:t>
            </a:r>
          </a:p>
        </p:txBody>
      </p:sp>
      <p:sp>
        <p:nvSpPr>
          <p:cNvPr id="3" name="Content Placeholder 2"/>
          <p:cNvSpPr>
            <a:spLocks noGrp="1"/>
          </p:cNvSpPr>
          <p:nvPr>
            <p:ph idx="1"/>
          </p:nvPr>
        </p:nvSpPr>
        <p:spPr/>
        <p:txBody>
          <a:bodyPr wrap="square"/>
          <a:lstStyle/>
          <a:p>
            <a:r>
              <a:rPr sz="2000"/>
              <a:t>FPCA(3): AEC-128 곡선 → internal PCA → n_components 고정 3 (elbow는 참고진단값)</a:t>
            </a:r>
          </a:p>
          <a:p>
            <a:r>
              <a:rPr sz="2000"/>
              <a:t>Upper/Lower ratio: 앞 64 slice(liver측) 평균 / 뒤 64 slice(hip측) 평균</a:t>
            </a:r>
          </a:p>
          <a:p>
            <a:r>
              <a:rPr sz="2000"/>
              <a:t>Hyperparameter: internal 5-fold CV grid search(C × L1/L2/ElasticNet) → 질환·모델별 best 고정</a:t>
            </a:r>
          </a:p>
          <a:p>
            <a:r>
              <a:rPr sz="2000"/>
              <a:t>Validation discipline: internal = 모델 선택/탐색 전용, external = 동결 모델 1회 최종평가만</a:t>
            </a:r>
          </a:p>
          <a:p>
            <a:r>
              <a:rPr sz="2000"/>
              <a:t>이 원칙은 AUC와 Odds Ratio 둘 다에 동일하게 적용(external 계수는 보고하지 않고 internal full-fit 계수만 사용)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결과 ① Baseline별 AUC 요약</a:t>
            </a:r>
          </a:p>
        </p:txBody>
      </p:sp>
      <p:graphicFrame>
        <p:nvGraphicFramePr>
          <p:cNvPr id="3" name="Table 2"/>
          <p:cNvGraphicFramePr>
            <a:graphicFrameLocks noGrp="1"/>
          </p:cNvGraphicFramePr>
          <p:nvPr>
            <p:extLst>
              <p:ext uri="{D42A27DB-BD31-4B8C-83A1-F6EECF244321}">
                <p14:modId xmlns:p14="http://schemas.microsoft.com/office/powerpoint/2010/main" val="609810960"/>
              </p:ext>
            </p:extLst>
          </p:nvPr>
        </p:nvGraphicFramePr>
        <p:xfrm>
          <a:off x="508000" y="897468"/>
          <a:ext cx="11176000" cy="4455498"/>
        </p:xfrm>
        <a:graphic>
          <a:graphicData uri="http://schemas.openxmlformats.org/drawingml/2006/table">
            <a:tbl>
              <a:tblPr firstRow="1" bandRow="1">
                <a:tableStyleId>{C083E6E3-FA7D-4D7B-A595-EF9225AFEA82}</a:tableStyleId>
              </a:tblPr>
              <a:tblGrid>
                <a:gridCol w="2794000">
                  <a:extLst>
                    <a:ext uri="{9D8B030D-6E8A-4147-A177-3AD203B41FA5}">
                      <a16:colId xmlns:a16="http://schemas.microsoft.com/office/drawing/2014/main" val="20000"/>
                    </a:ext>
                  </a:extLst>
                </a:gridCol>
                <a:gridCol w="2794000">
                  <a:extLst>
                    <a:ext uri="{9D8B030D-6E8A-4147-A177-3AD203B41FA5}">
                      <a16:colId xmlns:a16="http://schemas.microsoft.com/office/drawing/2014/main" val="20001"/>
                    </a:ext>
                  </a:extLst>
                </a:gridCol>
                <a:gridCol w="2794000">
                  <a:extLst>
                    <a:ext uri="{9D8B030D-6E8A-4147-A177-3AD203B41FA5}">
                      <a16:colId xmlns:a16="http://schemas.microsoft.com/office/drawing/2014/main" val="20002"/>
                    </a:ext>
                  </a:extLst>
                </a:gridCol>
                <a:gridCol w="2794000">
                  <a:extLst>
                    <a:ext uri="{9D8B030D-6E8A-4147-A177-3AD203B41FA5}">
                      <a16:colId xmlns:a16="http://schemas.microsoft.com/office/drawing/2014/main" val="20003"/>
                    </a:ext>
                  </a:extLst>
                </a:gridCol>
              </a:tblGrid>
              <a:tr h="636499">
                <a:tc>
                  <a:txBody>
                    <a:bodyPr/>
                    <a:lstStyle/>
                    <a:p>
                      <a:pPr algn="ctr"/>
                      <a:r>
                        <a:rPr sz="1400" b="1"/>
                        <a:t>Baseline</a:t>
                      </a:r>
                    </a:p>
                  </a:txBody>
                  <a:tcPr anchor="ctr"/>
                </a:tc>
                <a:tc>
                  <a:txBody>
                    <a:bodyPr/>
                    <a:lstStyle/>
                    <a:p>
                      <a:pPr algn="ctr"/>
                      <a:r>
                        <a:rPr sz="1400" b="1"/>
                        <a:t>HTN (int/ext)</a:t>
                      </a:r>
                    </a:p>
                  </a:txBody>
                  <a:tcPr anchor="ctr"/>
                </a:tc>
                <a:tc>
                  <a:txBody>
                    <a:bodyPr/>
                    <a:lstStyle/>
                    <a:p>
                      <a:pPr algn="ctr"/>
                      <a:r>
                        <a:rPr sz="1400" b="1"/>
                        <a:t>DM (int/ext)</a:t>
                      </a:r>
                    </a:p>
                  </a:txBody>
                  <a:tcPr anchor="ctr"/>
                </a:tc>
                <a:tc>
                  <a:txBody>
                    <a:bodyPr/>
                    <a:lstStyle/>
                    <a:p>
                      <a:pPr algn="ctr"/>
                      <a:r>
                        <a:rPr sz="1400" b="1"/>
                        <a:t>CKD (int/ext)</a:t>
                      </a:r>
                    </a:p>
                  </a:txBody>
                  <a:tcPr anchor="ctr"/>
                </a:tc>
                <a:extLst>
                  <a:ext uri="{0D108BD9-81ED-4DB2-BD59-A6C34878D82A}">
                    <a16:rowId xmlns:a16="http://schemas.microsoft.com/office/drawing/2014/main" val="10000"/>
                  </a:ext>
                </a:extLst>
              </a:tr>
              <a:tr h="636499">
                <a:tc>
                  <a:txBody>
                    <a:bodyPr/>
                    <a:lstStyle/>
                    <a:p>
                      <a:pPr algn="l"/>
                      <a:r>
                        <a:rPr sz="1300"/>
                        <a:t>clinic4</a:t>
                      </a:r>
                    </a:p>
                  </a:txBody>
                  <a:tcPr anchor="ctr"/>
                </a:tc>
                <a:tc>
                  <a:txBody>
                    <a:bodyPr/>
                    <a:lstStyle/>
                    <a:p>
                      <a:pPr algn="ctr"/>
                      <a:r>
                        <a:rPr sz="1300"/>
                        <a:t>0.794 / 0.719</a:t>
                      </a:r>
                    </a:p>
                  </a:txBody>
                  <a:tcPr anchor="ctr"/>
                </a:tc>
                <a:tc>
                  <a:txBody>
                    <a:bodyPr/>
                    <a:lstStyle/>
                    <a:p>
                      <a:pPr algn="ctr"/>
                      <a:r>
                        <a:rPr sz="1300"/>
                        <a:t>0.722 / 0.666</a:t>
                      </a:r>
                    </a:p>
                  </a:txBody>
                  <a:tcPr anchor="ctr"/>
                </a:tc>
                <a:tc>
                  <a:txBody>
                    <a:bodyPr/>
                    <a:lstStyle/>
                    <a:p>
                      <a:pPr algn="ctr"/>
                      <a:r>
                        <a:rPr sz="1300"/>
                        <a:t>0.768 / 0.616</a:t>
                      </a:r>
                    </a:p>
                  </a:txBody>
                  <a:tcPr anchor="ctr"/>
                </a:tc>
                <a:extLst>
                  <a:ext uri="{0D108BD9-81ED-4DB2-BD59-A6C34878D82A}">
                    <a16:rowId xmlns:a16="http://schemas.microsoft.com/office/drawing/2014/main" val="10001"/>
                  </a:ext>
                </a:extLst>
              </a:tr>
              <a:tr h="636499">
                <a:tc>
                  <a:txBody>
                    <a:bodyPr/>
                    <a:lstStyle/>
                    <a:p>
                      <a:pPr algn="l"/>
                      <a:r>
                        <a:rPr sz="1300"/>
                        <a:t>clinic6 (scanner)</a:t>
                      </a:r>
                    </a:p>
                  </a:txBody>
                  <a:tcPr anchor="ctr"/>
                </a:tc>
                <a:tc>
                  <a:txBody>
                    <a:bodyPr/>
                    <a:lstStyle/>
                    <a:p>
                      <a:pPr algn="ctr"/>
                      <a:r>
                        <a:rPr sz="1300"/>
                        <a:t>0.793 / 0.712</a:t>
                      </a:r>
                    </a:p>
                  </a:txBody>
                  <a:tcPr anchor="ctr"/>
                </a:tc>
                <a:tc>
                  <a:txBody>
                    <a:bodyPr/>
                    <a:lstStyle/>
                    <a:p>
                      <a:pPr algn="ctr"/>
                      <a:r>
                        <a:rPr sz="1300"/>
                        <a:t>0.721 / 0.659</a:t>
                      </a:r>
                    </a:p>
                  </a:txBody>
                  <a:tcPr anchor="ctr"/>
                </a:tc>
                <a:tc>
                  <a:txBody>
                    <a:bodyPr/>
                    <a:lstStyle/>
                    <a:p>
                      <a:pPr algn="ctr"/>
                      <a:r>
                        <a:rPr sz="1300"/>
                        <a:t>0.772 / 0.614</a:t>
                      </a:r>
                    </a:p>
                  </a:txBody>
                  <a:tcPr anchor="ctr"/>
                </a:tc>
                <a:extLst>
                  <a:ext uri="{0D108BD9-81ED-4DB2-BD59-A6C34878D82A}">
                    <a16:rowId xmlns:a16="http://schemas.microsoft.com/office/drawing/2014/main" val="10002"/>
                  </a:ext>
                </a:extLst>
              </a:tr>
              <a:tr h="636499">
                <a:tc>
                  <a:txBody>
                    <a:bodyPr/>
                    <a:lstStyle/>
                    <a:p>
                      <a:pPr algn="l"/>
                      <a:r>
                        <a:rPr sz="1300"/>
                        <a:t>clinic7</a:t>
                      </a:r>
                    </a:p>
                  </a:txBody>
                  <a:tcPr anchor="ctr"/>
                </a:tc>
                <a:tc>
                  <a:txBody>
                    <a:bodyPr/>
                    <a:lstStyle/>
                    <a:p>
                      <a:pPr algn="ctr"/>
                      <a:r>
                        <a:rPr sz="1300"/>
                        <a:t>0.818 / 0.735</a:t>
                      </a:r>
                    </a:p>
                  </a:txBody>
                  <a:tcPr anchor="ctr"/>
                </a:tc>
                <a:tc>
                  <a:txBody>
                    <a:bodyPr/>
                    <a:lstStyle/>
                    <a:p>
                      <a:pPr algn="ctr"/>
                      <a:r>
                        <a:rPr sz="1300"/>
                        <a:t>0.726 / 0.681</a:t>
                      </a:r>
                    </a:p>
                  </a:txBody>
                  <a:tcPr anchor="ctr"/>
                </a:tc>
                <a:tc>
                  <a:txBody>
                    <a:bodyPr/>
                    <a:lstStyle/>
                    <a:p>
                      <a:pPr algn="ctr"/>
                      <a:r>
                        <a:rPr sz="1300"/>
                        <a:t>0.784 / 0.625</a:t>
                      </a:r>
                    </a:p>
                  </a:txBody>
                  <a:tcPr anchor="ctr"/>
                </a:tc>
                <a:extLst>
                  <a:ext uri="{0D108BD9-81ED-4DB2-BD59-A6C34878D82A}">
                    <a16:rowId xmlns:a16="http://schemas.microsoft.com/office/drawing/2014/main" val="10003"/>
                  </a:ext>
                </a:extLst>
              </a:tr>
              <a:tr h="636499">
                <a:tc>
                  <a:txBody>
                    <a:bodyPr/>
                    <a:lstStyle/>
                    <a:p>
                      <a:pPr algn="l"/>
                      <a:r>
                        <a:rPr sz="1300"/>
                        <a:t>clinic6 (VSR)</a:t>
                      </a:r>
                    </a:p>
                  </a:txBody>
                  <a:tcPr anchor="ctr"/>
                </a:tc>
                <a:tc>
                  <a:txBody>
                    <a:bodyPr/>
                    <a:lstStyle/>
                    <a:p>
                      <a:pPr algn="ctr"/>
                      <a:r>
                        <a:rPr sz="1300"/>
                        <a:t>0.812 / 0.743</a:t>
                      </a:r>
                    </a:p>
                  </a:txBody>
                  <a:tcPr anchor="ctr"/>
                </a:tc>
                <a:tc>
                  <a:txBody>
                    <a:bodyPr/>
                    <a:lstStyle/>
                    <a:p>
                      <a:pPr algn="ctr"/>
                      <a:r>
                        <a:rPr sz="1300"/>
                        <a:t>0.730 / 0.694</a:t>
                      </a:r>
                    </a:p>
                  </a:txBody>
                  <a:tcPr anchor="ctr"/>
                </a:tc>
                <a:tc>
                  <a:txBody>
                    <a:bodyPr/>
                    <a:lstStyle/>
                    <a:p>
                      <a:pPr algn="ctr"/>
                      <a:r>
                        <a:rPr sz="1300"/>
                        <a:t>0.784 / 0.625</a:t>
                      </a:r>
                    </a:p>
                  </a:txBody>
                  <a:tcPr anchor="ctr"/>
                </a:tc>
                <a:extLst>
                  <a:ext uri="{0D108BD9-81ED-4DB2-BD59-A6C34878D82A}">
                    <a16:rowId xmlns:a16="http://schemas.microsoft.com/office/drawing/2014/main" val="10004"/>
                  </a:ext>
                </a:extLst>
              </a:tr>
              <a:tr h="636499">
                <a:tc>
                  <a:txBody>
                    <a:bodyPr/>
                    <a:lstStyle/>
                    <a:p>
                      <a:pPr algn="l"/>
                      <a:r>
                        <a:rPr sz="1300"/>
                        <a:t>clinic9 (all)</a:t>
                      </a:r>
                    </a:p>
                  </a:txBody>
                  <a:tcPr anchor="ctr"/>
                </a:tc>
                <a:tc>
                  <a:txBody>
                    <a:bodyPr/>
                    <a:lstStyle/>
                    <a:p>
                      <a:pPr algn="ctr"/>
                      <a:r>
                        <a:rPr sz="1300"/>
                        <a:t>0.817 / 0.731</a:t>
                      </a:r>
                    </a:p>
                  </a:txBody>
                  <a:tcPr anchor="ctr"/>
                </a:tc>
                <a:tc>
                  <a:txBody>
                    <a:bodyPr/>
                    <a:lstStyle/>
                    <a:p>
                      <a:pPr algn="ctr"/>
                      <a:r>
                        <a:rPr sz="1300"/>
                        <a:t>0.723 / 0.667</a:t>
                      </a:r>
                    </a:p>
                  </a:txBody>
                  <a:tcPr anchor="ctr"/>
                </a:tc>
                <a:tc>
                  <a:txBody>
                    <a:bodyPr/>
                    <a:lstStyle/>
                    <a:p>
                      <a:pPr algn="ctr"/>
                      <a:r>
                        <a:rPr sz="1300"/>
                        <a:t>0.786 / 0.628</a:t>
                      </a:r>
                    </a:p>
                  </a:txBody>
                  <a:tcPr anchor="ctr"/>
                </a:tc>
                <a:extLst>
                  <a:ext uri="{0D108BD9-81ED-4DB2-BD59-A6C34878D82A}">
                    <a16:rowId xmlns:a16="http://schemas.microsoft.com/office/drawing/2014/main" val="10005"/>
                  </a:ext>
                </a:extLst>
              </a:tr>
              <a:tr h="636504">
                <a:tc>
                  <a:txBody>
                    <a:bodyPr/>
                    <a:lstStyle/>
                    <a:p>
                      <a:pPr algn="l"/>
                      <a:r>
                        <a:rPr sz="1300"/>
                        <a:t>clinic8 (all ratio)</a:t>
                      </a:r>
                    </a:p>
                  </a:txBody>
                  <a:tcPr anchor="ctr"/>
                </a:tc>
                <a:tc>
                  <a:txBody>
                    <a:bodyPr/>
                    <a:lstStyle/>
                    <a:p>
                      <a:pPr algn="ctr"/>
                      <a:r>
                        <a:rPr sz="1300"/>
                        <a:t>0.811 / 0.737</a:t>
                      </a:r>
                    </a:p>
                  </a:txBody>
                  <a:tcPr anchor="ctr"/>
                </a:tc>
                <a:tc>
                  <a:txBody>
                    <a:bodyPr/>
                    <a:lstStyle/>
                    <a:p>
                      <a:pPr algn="ctr"/>
                      <a:r>
                        <a:rPr sz="1300"/>
                        <a:t>0.728 / 0.685</a:t>
                      </a:r>
                    </a:p>
                  </a:txBody>
                  <a:tcPr anchor="ctr"/>
                </a:tc>
                <a:tc>
                  <a:txBody>
                    <a:bodyPr/>
                    <a:lstStyle/>
                    <a:p>
                      <a:pPr algn="ctr"/>
                      <a:r>
                        <a:rPr sz="1300" dirty="0"/>
                        <a:t>0.788 / 0.629</a:t>
                      </a:r>
                    </a:p>
                  </a:txBody>
                  <a:tcPr anchor="ctr"/>
                </a:tc>
                <a:extLst>
                  <a:ext uri="{0D108BD9-81ED-4DB2-BD59-A6C34878D82A}">
                    <a16:rowId xmlns:a16="http://schemas.microsoft.com/office/drawing/2014/main" val="10006"/>
                  </a:ext>
                </a:extLst>
              </a:tr>
            </a:tbl>
          </a:graphicData>
        </a:graphic>
      </p:graphicFrame>
      <p:sp>
        <p:nvSpPr>
          <p:cNvPr id="4" name="TextBox 3"/>
          <p:cNvSpPr txBox="1"/>
          <p:nvPr/>
        </p:nvSpPr>
        <p:spPr>
          <a:xfrm>
            <a:off x="508000" y="5352966"/>
            <a:ext cx="11176000" cy="411480"/>
          </a:xfrm>
          <a:prstGeom prst="rect">
            <a:avLst/>
          </a:prstGeom>
          <a:noFill/>
        </p:spPr>
        <p:txBody>
          <a:bodyPr wrap="none">
            <a:spAutoFit/>
          </a:bodyPr>
          <a:lstStyle/>
          <a:p>
            <a:r>
              <a:rPr sz="1100" i="1"/>
              <a:t>값은 baseline 단독(AEC 미포함) 모델의 AUC, internal은 5-fold CV OOF, external은 동결평가</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AF133-2072-D56A-6C0B-4E26AC5B55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C2A42-ED56-FD2C-9182-4E40CE11854C}"/>
              </a:ext>
            </a:extLst>
          </p:cNvPr>
          <p:cNvSpPr>
            <a:spLocks noGrp="1"/>
          </p:cNvSpPr>
          <p:nvPr>
            <p:ph type="title"/>
          </p:nvPr>
        </p:nvSpPr>
        <p:spPr/>
        <p:txBody>
          <a:bodyPr/>
          <a:lstStyle/>
          <a:p>
            <a:r>
              <a:rPr lang="ko-KR" altLang="en-US" dirty="0"/>
              <a:t>결과 ② </a:t>
            </a:r>
            <a:r>
              <a:rPr lang="en-US" altLang="ko-KR" dirty="0"/>
              <a:t>DM AUC — Baseline vs AEC </a:t>
            </a:r>
            <a:r>
              <a:rPr lang="ko-KR" altLang="en-US" dirty="0"/>
              <a:t>추가</a:t>
            </a:r>
            <a:endParaRPr dirty="0"/>
          </a:p>
        </p:txBody>
      </p:sp>
      <p:graphicFrame>
        <p:nvGraphicFramePr>
          <p:cNvPr id="6" name="Table 2">
            <a:extLst>
              <a:ext uri="{FF2B5EF4-FFF2-40B4-BE49-F238E27FC236}">
                <a16:creationId xmlns:a16="http://schemas.microsoft.com/office/drawing/2014/main" id="{E510CECF-189E-7B95-A7D1-8CF39243907A}"/>
              </a:ext>
            </a:extLst>
          </p:cNvPr>
          <p:cNvGraphicFramePr>
            <a:graphicFrameLocks noGrp="1"/>
          </p:cNvGraphicFramePr>
          <p:nvPr>
            <p:extLst>
              <p:ext uri="{D42A27DB-BD31-4B8C-83A1-F6EECF244321}">
                <p14:modId xmlns:p14="http://schemas.microsoft.com/office/powerpoint/2010/main" val="959389869"/>
              </p:ext>
            </p:extLst>
          </p:nvPr>
        </p:nvGraphicFramePr>
        <p:xfrm>
          <a:off x="508000" y="1407613"/>
          <a:ext cx="5181598" cy="4351338"/>
        </p:xfrm>
        <a:graphic>
          <a:graphicData uri="http://schemas.openxmlformats.org/drawingml/2006/table">
            <a:tbl>
              <a:tblPr firstRow="1" bandRow="1">
                <a:tableStyleId>{C083E6E3-FA7D-4D7B-A595-EF9225AFEA82}</a:tableStyleId>
              </a:tblPr>
              <a:tblGrid>
                <a:gridCol w="1615044">
                  <a:extLst>
                    <a:ext uri="{9D8B030D-6E8A-4147-A177-3AD203B41FA5}">
                      <a16:colId xmlns:a16="http://schemas.microsoft.com/office/drawing/2014/main" val="20000"/>
                    </a:ext>
                  </a:extLst>
                </a:gridCol>
                <a:gridCol w="1143989">
                  <a:extLst>
                    <a:ext uri="{9D8B030D-6E8A-4147-A177-3AD203B41FA5}">
                      <a16:colId xmlns:a16="http://schemas.microsoft.com/office/drawing/2014/main" val="20001"/>
                    </a:ext>
                  </a:extLst>
                </a:gridCol>
                <a:gridCol w="1143989">
                  <a:extLst>
                    <a:ext uri="{9D8B030D-6E8A-4147-A177-3AD203B41FA5}">
                      <a16:colId xmlns:a16="http://schemas.microsoft.com/office/drawing/2014/main" val="20002"/>
                    </a:ext>
                  </a:extLst>
                </a:gridCol>
                <a:gridCol w="1278576">
                  <a:extLst>
                    <a:ext uri="{9D8B030D-6E8A-4147-A177-3AD203B41FA5}">
                      <a16:colId xmlns:a16="http://schemas.microsoft.com/office/drawing/2014/main" val="20003"/>
                    </a:ext>
                  </a:extLst>
                </a:gridCol>
              </a:tblGrid>
              <a:tr h="621619">
                <a:tc>
                  <a:txBody>
                    <a:bodyPr/>
                    <a:lstStyle/>
                    <a:p>
                      <a:pPr algn="ctr"/>
                      <a:r>
                        <a:rPr sz="1200" b="1"/>
                        <a:t>Baseline</a:t>
                      </a:r>
                    </a:p>
                  </a:txBody>
                  <a:tcPr anchor="ctr"/>
                </a:tc>
                <a:tc>
                  <a:txBody>
                    <a:bodyPr/>
                    <a:lstStyle/>
                    <a:p>
                      <a:pPr algn="ctr"/>
                      <a:r>
                        <a:rPr sz="1200" b="1"/>
                        <a:t>Baseline</a:t>
                      </a:r>
                    </a:p>
                    <a:p>
                      <a:pPr algn="ctr"/>
                      <a:r>
                        <a:rPr sz="1200" b="1"/>
                        <a:t>(int/ext)</a:t>
                      </a:r>
                    </a:p>
                  </a:txBody>
                  <a:tcPr anchor="ctr"/>
                </a:tc>
                <a:tc>
                  <a:txBody>
                    <a:bodyPr/>
                    <a:lstStyle/>
                    <a:p>
                      <a:pPr algn="ctr"/>
                      <a:r>
                        <a:rPr sz="1200" b="1"/>
                        <a:t>+FPCA(3)</a:t>
                      </a:r>
                    </a:p>
                    <a:p>
                      <a:pPr algn="ctr"/>
                      <a:r>
                        <a:rPr sz="1200" b="1"/>
                        <a:t>(int/ext)</a:t>
                      </a:r>
                    </a:p>
                  </a:txBody>
                  <a:tcPr anchor="ctr"/>
                </a:tc>
                <a:tc>
                  <a:txBody>
                    <a:bodyPr/>
                    <a:lstStyle/>
                    <a:p>
                      <a:pPr algn="ctr"/>
                      <a:r>
                        <a:rPr sz="1200" b="1"/>
                        <a:t>+Up/Low ratio</a:t>
                      </a:r>
                    </a:p>
                    <a:p>
                      <a:pPr algn="ctr"/>
                      <a:r>
                        <a:rPr sz="1200" b="1"/>
                        <a:t>(int/ext)</a:t>
                      </a:r>
                    </a:p>
                  </a:txBody>
                  <a:tcPr anchor="ctr"/>
                </a:tc>
                <a:extLst>
                  <a:ext uri="{0D108BD9-81ED-4DB2-BD59-A6C34878D82A}">
                    <a16:rowId xmlns:a16="http://schemas.microsoft.com/office/drawing/2014/main" val="10000"/>
                  </a:ext>
                </a:extLst>
              </a:tr>
              <a:tr h="621619">
                <a:tc>
                  <a:txBody>
                    <a:bodyPr/>
                    <a:lstStyle/>
                    <a:p>
                      <a:pPr algn="l"/>
                      <a:r>
                        <a:rPr sz="1100"/>
                        <a:t>clinic4</a:t>
                      </a:r>
                    </a:p>
                  </a:txBody>
                  <a:tcPr anchor="ctr"/>
                </a:tc>
                <a:tc>
                  <a:txBody>
                    <a:bodyPr/>
                    <a:lstStyle/>
                    <a:p>
                      <a:pPr algn="ctr"/>
                      <a:r>
                        <a:rPr sz="1100"/>
                        <a:t>0.722/0.665</a:t>
                      </a:r>
                    </a:p>
                  </a:txBody>
                  <a:tcPr anchor="ctr"/>
                </a:tc>
                <a:tc>
                  <a:txBody>
                    <a:bodyPr/>
                    <a:lstStyle/>
                    <a:p>
                      <a:pPr algn="ctr"/>
                      <a:r>
                        <a:rPr sz="1100"/>
                        <a:t>0.740/0.681</a:t>
                      </a:r>
                    </a:p>
                  </a:txBody>
                  <a:tcPr anchor="ctr"/>
                </a:tc>
                <a:tc>
                  <a:txBody>
                    <a:bodyPr/>
                    <a:lstStyle/>
                    <a:p>
                      <a:pPr algn="ctr"/>
                      <a:r>
                        <a:rPr sz="1100"/>
                        <a:t>0.737/0.677</a:t>
                      </a:r>
                    </a:p>
                  </a:txBody>
                  <a:tcPr anchor="ctr"/>
                </a:tc>
                <a:extLst>
                  <a:ext uri="{0D108BD9-81ED-4DB2-BD59-A6C34878D82A}">
                    <a16:rowId xmlns:a16="http://schemas.microsoft.com/office/drawing/2014/main" val="10001"/>
                  </a:ext>
                </a:extLst>
              </a:tr>
              <a:tr h="621619">
                <a:tc>
                  <a:txBody>
                    <a:bodyPr/>
                    <a:lstStyle/>
                    <a:p>
                      <a:pPr algn="l"/>
                      <a:r>
                        <a:rPr sz="1100"/>
                        <a:t>clinic6(scanner)</a:t>
                      </a:r>
                    </a:p>
                  </a:txBody>
                  <a:tcPr anchor="ctr"/>
                </a:tc>
                <a:tc>
                  <a:txBody>
                    <a:bodyPr/>
                    <a:lstStyle/>
                    <a:p>
                      <a:pPr algn="ctr"/>
                      <a:r>
                        <a:rPr sz="1100"/>
                        <a:t>0.721/0.659</a:t>
                      </a:r>
                    </a:p>
                  </a:txBody>
                  <a:tcPr anchor="ctr"/>
                </a:tc>
                <a:tc>
                  <a:txBody>
                    <a:bodyPr/>
                    <a:lstStyle/>
                    <a:p>
                      <a:pPr algn="ctr"/>
                      <a:r>
                        <a:rPr sz="1100"/>
                        <a:t>0.742/0.671</a:t>
                      </a:r>
                    </a:p>
                  </a:txBody>
                  <a:tcPr anchor="ctr"/>
                </a:tc>
                <a:tc>
                  <a:txBody>
                    <a:bodyPr/>
                    <a:lstStyle/>
                    <a:p>
                      <a:pPr algn="ctr"/>
                      <a:r>
                        <a:rPr sz="1100"/>
                        <a:t>0.739/0.670</a:t>
                      </a:r>
                    </a:p>
                  </a:txBody>
                  <a:tcPr anchor="ctr"/>
                </a:tc>
                <a:extLst>
                  <a:ext uri="{0D108BD9-81ED-4DB2-BD59-A6C34878D82A}">
                    <a16:rowId xmlns:a16="http://schemas.microsoft.com/office/drawing/2014/main" val="10002"/>
                  </a:ext>
                </a:extLst>
              </a:tr>
              <a:tr h="621619">
                <a:tc>
                  <a:txBody>
                    <a:bodyPr/>
                    <a:lstStyle/>
                    <a:p>
                      <a:pPr algn="l"/>
                      <a:r>
                        <a:rPr sz="1100"/>
                        <a:t>clinic7</a:t>
                      </a:r>
                    </a:p>
                  </a:txBody>
                  <a:tcPr anchor="ctr"/>
                </a:tc>
                <a:tc>
                  <a:txBody>
                    <a:bodyPr/>
                    <a:lstStyle/>
                    <a:p>
                      <a:pPr algn="ctr"/>
                      <a:r>
                        <a:rPr sz="1100"/>
                        <a:t>0.726/0.681</a:t>
                      </a:r>
                    </a:p>
                  </a:txBody>
                  <a:tcPr anchor="ctr"/>
                </a:tc>
                <a:tc>
                  <a:txBody>
                    <a:bodyPr/>
                    <a:lstStyle/>
                    <a:p>
                      <a:pPr algn="ctr"/>
                      <a:r>
                        <a:rPr sz="1100"/>
                        <a:t>0.741/0.696</a:t>
                      </a:r>
                    </a:p>
                  </a:txBody>
                  <a:tcPr anchor="ctr"/>
                </a:tc>
                <a:tc>
                  <a:txBody>
                    <a:bodyPr/>
                    <a:lstStyle/>
                    <a:p>
                      <a:pPr algn="ctr"/>
                      <a:r>
                        <a:rPr sz="1100"/>
                        <a:t>0.739/0.691</a:t>
                      </a:r>
                    </a:p>
                  </a:txBody>
                  <a:tcPr anchor="ctr"/>
                </a:tc>
                <a:extLst>
                  <a:ext uri="{0D108BD9-81ED-4DB2-BD59-A6C34878D82A}">
                    <a16:rowId xmlns:a16="http://schemas.microsoft.com/office/drawing/2014/main" val="10003"/>
                  </a:ext>
                </a:extLst>
              </a:tr>
              <a:tr h="621619">
                <a:tc>
                  <a:txBody>
                    <a:bodyPr/>
                    <a:lstStyle/>
                    <a:p>
                      <a:pPr algn="l"/>
                      <a:r>
                        <a:rPr sz="1100"/>
                        <a:t>clinic6(VSR)</a:t>
                      </a:r>
                    </a:p>
                  </a:txBody>
                  <a:tcPr anchor="ctr"/>
                </a:tc>
                <a:tc>
                  <a:txBody>
                    <a:bodyPr/>
                    <a:lstStyle/>
                    <a:p>
                      <a:pPr algn="ctr"/>
                      <a:r>
                        <a:rPr sz="1100"/>
                        <a:t>0.730/0.694</a:t>
                      </a:r>
                    </a:p>
                  </a:txBody>
                  <a:tcPr anchor="ctr"/>
                </a:tc>
                <a:tc>
                  <a:txBody>
                    <a:bodyPr/>
                    <a:lstStyle/>
                    <a:p>
                      <a:pPr algn="ctr"/>
                      <a:r>
                        <a:rPr sz="1100"/>
                        <a:t>0.743/0.706</a:t>
                      </a:r>
                    </a:p>
                  </a:txBody>
                  <a:tcPr anchor="ctr"/>
                </a:tc>
                <a:tc>
                  <a:txBody>
                    <a:bodyPr/>
                    <a:lstStyle/>
                    <a:p>
                      <a:pPr algn="ctr"/>
                      <a:r>
                        <a:rPr sz="1100"/>
                        <a:t>0.741/0.702</a:t>
                      </a:r>
                    </a:p>
                  </a:txBody>
                  <a:tcPr anchor="ctr"/>
                </a:tc>
                <a:extLst>
                  <a:ext uri="{0D108BD9-81ED-4DB2-BD59-A6C34878D82A}">
                    <a16:rowId xmlns:a16="http://schemas.microsoft.com/office/drawing/2014/main" val="10004"/>
                  </a:ext>
                </a:extLst>
              </a:tr>
              <a:tr h="621619">
                <a:tc>
                  <a:txBody>
                    <a:bodyPr/>
                    <a:lstStyle/>
                    <a:p>
                      <a:pPr algn="l"/>
                      <a:r>
                        <a:rPr sz="1100"/>
                        <a:t>clinic9(all)</a:t>
                      </a:r>
                    </a:p>
                  </a:txBody>
                  <a:tcPr anchor="ctr"/>
                </a:tc>
                <a:tc>
                  <a:txBody>
                    <a:bodyPr/>
                    <a:lstStyle/>
                    <a:p>
                      <a:pPr algn="ctr"/>
                      <a:r>
                        <a:rPr sz="1100"/>
                        <a:t>0.723/0.667</a:t>
                      </a:r>
                    </a:p>
                  </a:txBody>
                  <a:tcPr anchor="ctr"/>
                </a:tc>
                <a:tc>
                  <a:txBody>
                    <a:bodyPr/>
                    <a:lstStyle/>
                    <a:p>
                      <a:pPr algn="ctr"/>
                      <a:r>
                        <a:rPr sz="1100"/>
                        <a:t>0.739/0.695</a:t>
                      </a:r>
                    </a:p>
                  </a:txBody>
                  <a:tcPr anchor="ctr"/>
                </a:tc>
                <a:tc>
                  <a:txBody>
                    <a:bodyPr/>
                    <a:lstStyle/>
                    <a:p>
                      <a:pPr algn="ctr"/>
                      <a:r>
                        <a:rPr sz="1100"/>
                        <a:t>0.739/0.688</a:t>
                      </a:r>
                    </a:p>
                  </a:txBody>
                  <a:tcPr anchor="ctr"/>
                </a:tc>
                <a:extLst>
                  <a:ext uri="{0D108BD9-81ED-4DB2-BD59-A6C34878D82A}">
                    <a16:rowId xmlns:a16="http://schemas.microsoft.com/office/drawing/2014/main" val="10005"/>
                  </a:ext>
                </a:extLst>
              </a:tr>
              <a:tr h="621624">
                <a:tc>
                  <a:txBody>
                    <a:bodyPr/>
                    <a:lstStyle/>
                    <a:p>
                      <a:pPr algn="l"/>
                      <a:r>
                        <a:rPr sz="1100"/>
                        <a:t>clinic8(all ratio)</a:t>
                      </a:r>
                    </a:p>
                  </a:txBody>
                  <a:tcPr anchor="ctr"/>
                </a:tc>
                <a:tc>
                  <a:txBody>
                    <a:bodyPr/>
                    <a:lstStyle/>
                    <a:p>
                      <a:pPr algn="ctr"/>
                      <a:r>
                        <a:rPr sz="1100"/>
                        <a:t>0.728/0.685</a:t>
                      </a:r>
                    </a:p>
                  </a:txBody>
                  <a:tcPr anchor="ctr"/>
                </a:tc>
                <a:tc>
                  <a:txBody>
                    <a:bodyPr/>
                    <a:lstStyle/>
                    <a:p>
                      <a:pPr algn="ctr"/>
                      <a:r>
                        <a:rPr sz="1100"/>
                        <a:t>0.742/0.702</a:t>
                      </a:r>
                    </a:p>
                  </a:txBody>
                  <a:tcPr anchor="ctr"/>
                </a:tc>
                <a:tc>
                  <a:txBody>
                    <a:bodyPr/>
                    <a:lstStyle/>
                    <a:p>
                      <a:pPr algn="ctr"/>
                      <a:r>
                        <a:rPr sz="1100" dirty="0"/>
                        <a:t>0.741/0.695</a:t>
                      </a:r>
                    </a:p>
                  </a:txBody>
                  <a:tcPr anchor="ctr"/>
                </a:tc>
                <a:extLst>
                  <a:ext uri="{0D108BD9-81ED-4DB2-BD59-A6C34878D82A}">
                    <a16:rowId xmlns:a16="http://schemas.microsoft.com/office/drawing/2014/main" val="10006"/>
                  </a:ext>
                </a:extLst>
              </a:tr>
            </a:tbl>
          </a:graphicData>
        </a:graphic>
      </p:graphicFrame>
      <p:pic>
        <p:nvPicPr>
          <p:cNvPr id="8" name="Picture 3" descr="dm_roc_curve_aec_compare.png">
            <a:extLst>
              <a:ext uri="{FF2B5EF4-FFF2-40B4-BE49-F238E27FC236}">
                <a16:creationId xmlns:a16="http://schemas.microsoft.com/office/drawing/2014/main" id="{6B98038E-8619-9FA7-A331-11F5D18983D5}"/>
              </a:ext>
            </a:extLst>
          </p:cNvPr>
          <p:cNvPicPr>
            <a:picLocks noChangeAspect="1"/>
          </p:cNvPicPr>
          <p:nvPr/>
        </p:nvPicPr>
        <p:blipFill>
          <a:blip r:embed="rId3"/>
          <a:stretch>
            <a:fillRect/>
          </a:stretch>
        </p:blipFill>
        <p:spPr>
          <a:xfrm>
            <a:off x="5689598" y="1549513"/>
            <a:ext cx="6424749" cy="4067537"/>
          </a:xfrm>
          <a:prstGeom prst="rect">
            <a:avLst/>
          </a:prstGeom>
        </p:spPr>
      </p:pic>
    </p:spTree>
    <p:extLst>
      <p:ext uri="{BB962C8B-B14F-4D97-AF65-F5344CB8AC3E}">
        <p14:creationId xmlns:p14="http://schemas.microsoft.com/office/powerpoint/2010/main" val="2123164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결과 ③ DM AUC 개선 유의성 (DeLong, external)</a:t>
            </a:r>
          </a:p>
        </p:txBody>
      </p:sp>
      <p:graphicFrame>
        <p:nvGraphicFramePr>
          <p:cNvPr id="3" name="Table 2"/>
          <p:cNvGraphicFramePr>
            <a:graphicFrameLocks noGrp="1"/>
          </p:cNvGraphicFramePr>
          <p:nvPr>
            <p:extLst>
              <p:ext uri="{D42A27DB-BD31-4B8C-83A1-F6EECF244321}">
                <p14:modId xmlns:p14="http://schemas.microsoft.com/office/powerpoint/2010/main" val="4020260610"/>
              </p:ext>
            </p:extLst>
          </p:nvPr>
        </p:nvGraphicFramePr>
        <p:xfrm>
          <a:off x="508000" y="897468"/>
          <a:ext cx="11175997" cy="4455498"/>
        </p:xfrm>
        <a:graphic>
          <a:graphicData uri="http://schemas.openxmlformats.org/drawingml/2006/table">
            <a:tbl>
              <a:tblPr firstRow="1" bandRow="1">
                <a:tableStyleId>{C083E6E3-FA7D-4D7B-A595-EF9225AFEA82}</a:tableStyleId>
              </a:tblPr>
              <a:tblGrid>
                <a:gridCol w="3047999">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777999">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1777999">
                  <a:extLst>
                    <a:ext uri="{9D8B030D-6E8A-4147-A177-3AD203B41FA5}">
                      <a16:colId xmlns:a16="http://schemas.microsoft.com/office/drawing/2014/main" val="20004"/>
                    </a:ext>
                  </a:extLst>
                </a:gridCol>
              </a:tblGrid>
              <a:tr h="636499">
                <a:tc>
                  <a:txBody>
                    <a:bodyPr/>
                    <a:lstStyle/>
                    <a:p>
                      <a:pPr algn="ctr"/>
                      <a:r>
                        <a:rPr sz="1400" b="1"/>
                        <a:t>Baseline</a:t>
                      </a:r>
                    </a:p>
                  </a:txBody>
                  <a:tcPr anchor="ctr"/>
                </a:tc>
                <a:tc>
                  <a:txBody>
                    <a:bodyPr/>
                    <a:lstStyle/>
                    <a:p>
                      <a:pPr algn="ctr"/>
                      <a:r>
                        <a:rPr sz="1400" b="1"/>
                        <a:t>ΔAUC (+FPCA)</a:t>
                      </a:r>
                    </a:p>
                  </a:txBody>
                  <a:tcPr anchor="ctr"/>
                </a:tc>
                <a:tc>
                  <a:txBody>
                    <a:bodyPr/>
                    <a:lstStyle/>
                    <a:p>
                      <a:pPr algn="ctr"/>
                      <a:r>
                        <a:rPr sz="1400" b="1"/>
                        <a:t>p (+FPCA)</a:t>
                      </a:r>
                    </a:p>
                  </a:txBody>
                  <a:tcPr anchor="ctr"/>
                </a:tc>
                <a:tc>
                  <a:txBody>
                    <a:bodyPr/>
                    <a:lstStyle/>
                    <a:p>
                      <a:pPr algn="ctr"/>
                      <a:r>
                        <a:rPr sz="1400" b="1"/>
                        <a:t>ΔAUC (+Up/Low)</a:t>
                      </a:r>
                    </a:p>
                  </a:txBody>
                  <a:tcPr anchor="ctr"/>
                </a:tc>
                <a:tc>
                  <a:txBody>
                    <a:bodyPr/>
                    <a:lstStyle/>
                    <a:p>
                      <a:pPr algn="ctr"/>
                      <a:r>
                        <a:rPr sz="1400" b="1"/>
                        <a:t>p (+Up/Low)</a:t>
                      </a:r>
                    </a:p>
                  </a:txBody>
                  <a:tcPr anchor="ctr"/>
                </a:tc>
                <a:extLst>
                  <a:ext uri="{0D108BD9-81ED-4DB2-BD59-A6C34878D82A}">
                    <a16:rowId xmlns:a16="http://schemas.microsoft.com/office/drawing/2014/main" val="10000"/>
                  </a:ext>
                </a:extLst>
              </a:tr>
              <a:tr h="636499">
                <a:tc>
                  <a:txBody>
                    <a:bodyPr/>
                    <a:lstStyle/>
                    <a:p>
                      <a:pPr algn="l"/>
                      <a:r>
                        <a:rPr sz="1300"/>
                        <a:t>clinic4</a:t>
                      </a:r>
                    </a:p>
                  </a:txBody>
                  <a:tcPr anchor="ctr"/>
                </a:tc>
                <a:tc>
                  <a:txBody>
                    <a:bodyPr/>
                    <a:lstStyle/>
                    <a:p>
                      <a:pPr algn="ctr"/>
                      <a:r>
                        <a:rPr sz="1300"/>
                        <a:t>+0.0154</a:t>
                      </a:r>
                    </a:p>
                  </a:txBody>
                  <a:tcPr anchor="ctr"/>
                </a:tc>
                <a:tc>
                  <a:txBody>
                    <a:bodyPr/>
                    <a:lstStyle/>
                    <a:p>
                      <a:pPr algn="ctr"/>
                      <a:r>
                        <a:rPr sz="1300"/>
                        <a:t>0.072</a:t>
                      </a:r>
                    </a:p>
                  </a:txBody>
                  <a:tcPr anchor="ctr"/>
                </a:tc>
                <a:tc>
                  <a:txBody>
                    <a:bodyPr/>
                    <a:lstStyle/>
                    <a:p>
                      <a:pPr algn="ctr"/>
                      <a:r>
                        <a:rPr sz="1300"/>
                        <a:t>+0.0116</a:t>
                      </a:r>
                    </a:p>
                  </a:txBody>
                  <a:tcPr anchor="ctr"/>
                </a:tc>
                <a:tc>
                  <a:txBody>
                    <a:bodyPr/>
                    <a:lstStyle/>
                    <a:p>
                      <a:pPr algn="ctr"/>
                      <a:r>
                        <a:rPr sz="1300"/>
                        <a:t>0.226</a:t>
                      </a:r>
                    </a:p>
                  </a:txBody>
                  <a:tcPr anchor="ctr"/>
                </a:tc>
                <a:extLst>
                  <a:ext uri="{0D108BD9-81ED-4DB2-BD59-A6C34878D82A}">
                    <a16:rowId xmlns:a16="http://schemas.microsoft.com/office/drawing/2014/main" val="10001"/>
                  </a:ext>
                </a:extLst>
              </a:tr>
              <a:tr h="636499">
                <a:tc>
                  <a:txBody>
                    <a:bodyPr/>
                    <a:lstStyle/>
                    <a:p>
                      <a:pPr algn="l"/>
                      <a:r>
                        <a:rPr sz="1300"/>
                        <a:t>clinic6(scanner)</a:t>
                      </a:r>
                    </a:p>
                  </a:txBody>
                  <a:tcPr anchor="ctr"/>
                </a:tc>
                <a:tc>
                  <a:txBody>
                    <a:bodyPr/>
                    <a:lstStyle/>
                    <a:p>
                      <a:pPr algn="ctr"/>
                      <a:r>
                        <a:rPr sz="1300"/>
                        <a:t>+0.0128</a:t>
                      </a:r>
                    </a:p>
                  </a:txBody>
                  <a:tcPr anchor="ctr"/>
                </a:tc>
                <a:tc>
                  <a:txBody>
                    <a:bodyPr/>
                    <a:lstStyle/>
                    <a:p>
                      <a:pPr algn="ctr"/>
                      <a:r>
                        <a:rPr sz="1300"/>
                        <a:t>0.167</a:t>
                      </a:r>
                    </a:p>
                  </a:txBody>
                  <a:tcPr anchor="ctr"/>
                </a:tc>
                <a:tc>
                  <a:txBody>
                    <a:bodyPr/>
                    <a:lstStyle/>
                    <a:p>
                      <a:pPr algn="ctr"/>
                      <a:r>
                        <a:rPr sz="1300"/>
                        <a:t>+0.0115</a:t>
                      </a:r>
                    </a:p>
                  </a:txBody>
                  <a:tcPr anchor="ctr"/>
                </a:tc>
                <a:tc>
                  <a:txBody>
                    <a:bodyPr/>
                    <a:lstStyle/>
                    <a:p>
                      <a:pPr algn="ctr"/>
                      <a:r>
                        <a:rPr sz="1300"/>
                        <a:t>0.266</a:t>
                      </a:r>
                    </a:p>
                  </a:txBody>
                  <a:tcPr anchor="ctr"/>
                </a:tc>
                <a:extLst>
                  <a:ext uri="{0D108BD9-81ED-4DB2-BD59-A6C34878D82A}">
                    <a16:rowId xmlns:a16="http://schemas.microsoft.com/office/drawing/2014/main" val="10002"/>
                  </a:ext>
                </a:extLst>
              </a:tr>
              <a:tr h="636499">
                <a:tc>
                  <a:txBody>
                    <a:bodyPr/>
                    <a:lstStyle/>
                    <a:p>
                      <a:pPr algn="l"/>
                      <a:r>
                        <a:rPr sz="1300"/>
                        <a:t>clinic7</a:t>
                      </a:r>
                    </a:p>
                  </a:txBody>
                  <a:tcPr anchor="ctr"/>
                </a:tc>
                <a:tc>
                  <a:txBody>
                    <a:bodyPr/>
                    <a:lstStyle/>
                    <a:p>
                      <a:pPr algn="ctr"/>
                      <a:r>
                        <a:rPr sz="1300"/>
                        <a:t>+0.0152</a:t>
                      </a:r>
                    </a:p>
                  </a:txBody>
                  <a:tcPr anchor="ctr"/>
                </a:tc>
                <a:tc>
                  <a:txBody>
                    <a:bodyPr/>
                    <a:lstStyle/>
                    <a:p>
                      <a:pPr algn="ctr"/>
                      <a:r>
                        <a:rPr sz="1300"/>
                        <a:t>0.039*</a:t>
                      </a:r>
                    </a:p>
                  </a:txBody>
                  <a:tcPr anchor="ctr"/>
                </a:tc>
                <a:tc>
                  <a:txBody>
                    <a:bodyPr/>
                    <a:lstStyle/>
                    <a:p>
                      <a:pPr algn="ctr"/>
                      <a:r>
                        <a:rPr sz="1300"/>
                        <a:t>+0.0103</a:t>
                      </a:r>
                    </a:p>
                  </a:txBody>
                  <a:tcPr anchor="ctr"/>
                </a:tc>
                <a:tc>
                  <a:txBody>
                    <a:bodyPr/>
                    <a:lstStyle/>
                    <a:p>
                      <a:pPr algn="ctr"/>
                      <a:r>
                        <a:rPr sz="1300"/>
                        <a:t>0.185</a:t>
                      </a:r>
                    </a:p>
                  </a:txBody>
                  <a:tcPr anchor="ctr"/>
                </a:tc>
                <a:extLst>
                  <a:ext uri="{0D108BD9-81ED-4DB2-BD59-A6C34878D82A}">
                    <a16:rowId xmlns:a16="http://schemas.microsoft.com/office/drawing/2014/main" val="10003"/>
                  </a:ext>
                </a:extLst>
              </a:tr>
              <a:tr h="636499">
                <a:tc>
                  <a:txBody>
                    <a:bodyPr/>
                    <a:lstStyle/>
                    <a:p>
                      <a:pPr algn="l"/>
                      <a:r>
                        <a:rPr sz="1300"/>
                        <a:t>clinic6(VSR)</a:t>
                      </a:r>
                    </a:p>
                  </a:txBody>
                  <a:tcPr anchor="ctr"/>
                </a:tc>
                <a:tc>
                  <a:txBody>
                    <a:bodyPr/>
                    <a:lstStyle/>
                    <a:p>
                      <a:pPr algn="ctr"/>
                      <a:r>
                        <a:rPr sz="1300"/>
                        <a:t>+0.0118</a:t>
                      </a:r>
                    </a:p>
                  </a:txBody>
                  <a:tcPr anchor="ctr"/>
                </a:tc>
                <a:tc>
                  <a:txBody>
                    <a:bodyPr/>
                    <a:lstStyle/>
                    <a:p>
                      <a:pPr algn="ctr"/>
                      <a:r>
                        <a:rPr sz="1300"/>
                        <a:t>0.119</a:t>
                      </a:r>
                    </a:p>
                  </a:txBody>
                  <a:tcPr anchor="ctr"/>
                </a:tc>
                <a:tc>
                  <a:txBody>
                    <a:bodyPr/>
                    <a:lstStyle/>
                    <a:p>
                      <a:pPr algn="ctr"/>
                      <a:r>
                        <a:rPr sz="1300"/>
                        <a:t>+0.0078</a:t>
                      </a:r>
                    </a:p>
                  </a:txBody>
                  <a:tcPr anchor="ctr"/>
                </a:tc>
                <a:tc>
                  <a:txBody>
                    <a:bodyPr/>
                    <a:lstStyle/>
                    <a:p>
                      <a:pPr algn="ctr"/>
                      <a:r>
                        <a:rPr sz="1300"/>
                        <a:t>0.320</a:t>
                      </a:r>
                    </a:p>
                  </a:txBody>
                  <a:tcPr anchor="ctr"/>
                </a:tc>
                <a:extLst>
                  <a:ext uri="{0D108BD9-81ED-4DB2-BD59-A6C34878D82A}">
                    <a16:rowId xmlns:a16="http://schemas.microsoft.com/office/drawing/2014/main" val="10004"/>
                  </a:ext>
                </a:extLst>
              </a:tr>
              <a:tr h="636499">
                <a:tc>
                  <a:txBody>
                    <a:bodyPr/>
                    <a:lstStyle/>
                    <a:p>
                      <a:pPr algn="l"/>
                      <a:r>
                        <a:rPr sz="1300"/>
                        <a:t>clinic9(all)</a:t>
                      </a:r>
                    </a:p>
                  </a:txBody>
                  <a:tcPr anchor="ctr"/>
                </a:tc>
                <a:tc>
                  <a:txBody>
                    <a:bodyPr/>
                    <a:lstStyle/>
                    <a:p>
                      <a:pPr algn="ctr"/>
                      <a:r>
                        <a:rPr sz="1300"/>
                        <a:t>+0.0273</a:t>
                      </a:r>
                    </a:p>
                  </a:txBody>
                  <a:tcPr anchor="ctr"/>
                </a:tc>
                <a:tc>
                  <a:txBody>
                    <a:bodyPr/>
                    <a:lstStyle/>
                    <a:p>
                      <a:pPr algn="ctr"/>
                      <a:r>
                        <a:rPr sz="1300"/>
                        <a:t>0.006*</a:t>
                      </a:r>
                    </a:p>
                  </a:txBody>
                  <a:tcPr anchor="ctr"/>
                </a:tc>
                <a:tc>
                  <a:txBody>
                    <a:bodyPr/>
                    <a:lstStyle/>
                    <a:p>
                      <a:pPr algn="ctr"/>
                      <a:r>
                        <a:rPr sz="1300"/>
                        <a:t>+0.0206</a:t>
                      </a:r>
                    </a:p>
                  </a:txBody>
                  <a:tcPr anchor="ctr"/>
                </a:tc>
                <a:tc>
                  <a:txBody>
                    <a:bodyPr/>
                    <a:lstStyle/>
                    <a:p>
                      <a:pPr algn="ctr"/>
                      <a:r>
                        <a:rPr sz="1300"/>
                        <a:t>0.046*</a:t>
                      </a:r>
                    </a:p>
                  </a:txBody>
                  <a:tcPr anchor="ctr"/>
                </a:tc>
                <a:extLst>
                  <a:ext uri="{0D108BD9-81ED-4DB2-BD59-A6C34878D82A}">
                    <a16:rowId xmlns:a16="http://schemas.microsoft.com/office/drawing/2014/main" val="10005"/>
                  </a:ext>
                </a:extLst>
              </a:tr>
              <a:tr h="636504">
                <a:tc>
                  <a:txBody>
                    <a:bodyPr/>
                    <a:lstStyle/>
                    <a:p>
                      <a:pPr algn="l"/>
                      <a:r>
                        <a:rPr sz="1300"/>
                        <a:t>clinic8(all ratio)</a:t>
                      </a:r>
                    </a:p>
                  </a:txBody>
                  <a:tcPr anchor="ctr"/>
                </a:tc>
                <a:tc>
                  <a:txBody>
                    <a:bodyPr/>
                    <a:lstStyle/>
                    <a:p>
                      <a:pPr algn="ctr"/>
                      <a:r>
                        <a:rPr sz="1300"/>
                        <a:t>+0.0165</a:t>
                      </a:r>
                    </a:p>
                  </a:txBody>
                  <a:tcPr anchor="ctr"/>
                </a:tc>
                <a:tc>
                  <a:txBody>
                    <a:bodyPr/>
                    <a:lstStyle/>
                    <a:p>
                      <a:pPr algn="ctr"/>
                      <a:r>
                        <a:rPr sz="1300"/>
                        <a:t>0.080</a:t>
                      </a:r>
                    </a:p>
                  </a:txBody>
                  <a:tcPr anchor="ctr"/>
                </a:tc>
                <a:tc>
                  <a:txBody>
                    <a:bodyPr/>
                    <a:lstStyle/>
                    <a:p>
                      <a:pPr algn="ctr"/>
                      <a:r>
                        <a:rPr sz="1300"/>
                        <a:t>+0.0092</a:t>
                      </a:r>
                    </a:p>
                  </a:txBody>
                  <a:tcPr anchor="ctr"/>
                </a:tc>
                <a:tc>
                  <a:txBody>
                    <a:bodyPr/>
                    <a:lstStyle/>
                    <a:p>
                      <a:pPr algn="ctr"/>
                      <a:r>
                        <a:rPr sz="1300" dirty="0"/>
                        <a:t>0.327</a:t>
                      </a:r>
                    </a:p>
                  </a:txBody>
                  <a:tcPr anchor="ctr"/>
                </a:tc>
                <a:extLst>
                  <a:ext uri="{0D108BD9-81ED-4DB2-BD59-A6C34878D82A}">
                    <a16:rowId xmlns:a16="http://schemas.microsoft.com/office/drawing/2014/main" val="10006"/>
                  </a:ext>
                </a:extLst>
              </a:tr>
            </a:tbl>
          </a:graphicData>
        </a:graphic>
      </p:graphicFrame>
      <p:sp>
        <p:nvSpPr>
          <p:cNvPr id="4" name="TextBox 3"/>
          <p:cNvSpPr txBox="1"/>
          <p:nvPr/>
        </p:nvSpPr>
        <p:spPr>
          <a:xfrm>
            <a:off x="508000" y="5352966"/>
            <a:ext cx="11176000" cy="411480"/>
          </a:xfrm>
          <a:prstGeom prst="rect">
            <a:avLst/>
          </a:prstGeom>
          <a:noFill/>
        </p:spPr>
        <p:txBody>
          <a:bodyPr wrap="none">
            <a:spAutoFit/>
          </a:bodyPr>
          <a:lstStyle/>
          <a:p>
            <a:r>
              <a:rPr sz="1100" i="1"/>
              <a:t>* p&lt;0.05(개별 검정). Bonferroni 임계값 α=0.05/72≈0.0007 — 3건 모두 미달(다중비교 보정 미생존)</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결과 ④ DM Odds Ratio — Baseline(clinic4)</a:t>
            </a:r>
          </a:p>
        </p:txBody>
      </p:sp>
      <p:pic>
        <p:nvPicPr>
          <p:cNvPr id="3" name="Picture 2" descr="dm_or_forest.png"/>
          <p:cNvPicPr>
            <a:picLocks noChangeAspect="1"/>
          </p:cNvPicPr>
          <p:nvPr/>
        </p:nvPicPr>
        <p:blipFill>
          <a:blip r:embed="rId3"/>
          <a:stretch>
            <a:fillRect/>
          </a:stretch>
        </p:blipFill>
        <p:spPr>
          <a:xfrm>
            <a:off x="508000" y="2799803"/>
            <a:ext cx="11176000" cy="3122028"/>
          </a:xfrm>
          <a:prstGeom prst="rect">
            <a:avLst/>
          </a:prstGeom>
        </p:spPr>
      </p:pic>
      <p:sp>
        <p:nvSpPr>
          <p:cNvPr id="4" name="TextBox 3"/>
          <p:cNvSpPr txBox="1"/>
          <p:nvPr/>
        </p:nvSpPr>
        <p:spPr>
          <a:xfrm>
            <a:off x="508000" y="1133641"/>
            <a:ext cx="11065691" cy="1010085"/>
          </a:xfrm>
          <a:prstGeom prst="rect">
            <a:avLst/>
          </a:prstGeom>
          <a:noFill/>
        </p:spPr>
        <p:txBody>
          <a:bodyPr wrap="square">
            <a:spAutoFit/>
          </a:bodyPr>
          <a:lstStyle/>
          <a:p>
            <a:pPr marL="285750" indent="-285750">
              <a:lnSpc>
                <a:spcPct val="200000"/>
              </a:lnSpc>
              <a:buFont typeface="Arial" panose="020B0604020202020204" pitchFamily="34" charset="0"/>
              <a:buChar char="•"/>
            </a:pPr>
            <a:r>
              <a:rPr sz="1600" dirty="0">
                <a:latin typeface="KoPub돋움체 Bold" panose="00000800000000000000" pitchFamily="2" charset="-127"/>
                <a:ea typeface="KoPub돋움체 Bold" panose="00000800000000000000" pitchFamily="2" charset="-127"/>
              </a:rPr>
              <a:t>Age/Sex/Weight ↑ → DM </a:t>
            </a:r>
            <a:r>
              <a:rPr sz="1600" dirty="0" err="1">
                <a:latin typeface="KoPub돋움체 Bold" panose="00000800000000000000" pitchFamily="2" charset="-127"/>
                <a:ea typeface="KoPub돋움체 Bold" panose="00000800000000000000" pitchFamily="2" charset="-127"/>
              </a:rPr>
              <a:t>위험</a:t>
            </a:r>
            <a:r>
              <a:rPr sz="1600" dirty="0">
                <a:latin typeface="KoPub돋움체 Bold" panose="00000800000000000000" pitchFamily="2" charset="-127"/>
                <a:ea typeface="KoPub돋움체 Bold" panose="00000800000000000000" pitchFamily="2" charset="-127"/>
              </a:rPr>
              <a:t> ↑(OR&gt;1), Height ↑ → </a:t>
            </a:r>
            <a:r>
              <a:rPr sz="1600" dirty="0" err="1">
                <a:latin typeface="KoPub돋움체 Bold" panose="00000800000000000000" pitchFamily="2" charset="-127"/>
                <a:ea typeface="KoPub돋움체 Bold" panose="00000800000000000000" pitchFamily="2" charset="-127"/>
              </a:rPr>
              <a:t>위험</a:t>
            </a:r>
            <a:r>
              <a:rPr sz="1600" dirty="0">
                <a:latin typeface="KoPub돋움체 Bold" panose="00000800000000000000" pitchFamily="2" charset="-127"/>
                <a:ea typeface="KoPub돋움체 Bold" panose="00000800000000000000" pitchFamily="2" charset="-127"/>
              </a:rPr>
              <a:t> ↓(OR&lt;1) — </a:t>
            </a:r>
            <a:r>
              <a:rPr sz="1600" dirty="0" err="1">
                <a:latin typeface="KoPub돋움체 Bold" panose="00000800000000000000" pitchFamily="2" charset="-127"/>
                <a:ea typeface="KoPub돋움체 Bold" panose="00000800000000000000" pitchFamily="2" charset="-127"/>
              </a:rPr>
              <a:t>임상적</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방향과</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일치</a:t>
            </a:r>
            <a:endParaRPr sz="1600" dirty="0">
              <a:latin typeface="KoPub돋움체 Bold" panose="00000800000000000000" pitchFamily="2" charset="-127"/>
              <a:ea typeface="KoPub돋움체 Bold" panose="00000800000000000000" pitchFamily="2" charset="-127"/>
            </a:endParaRPr>
          </a:p>
          <a:p>
            <a:pPr marL="285750" indent="-285750">
              <a:lnSpc>
                <a:spcPct val="200000"/>
              </a:lnSpc>
              <a:buFont typeface="Arial" panose="020B0604020202020204" pitchFamily="34" charset="0"/>
              <a:buChar char="•"/>
            </a:pPr>
            <a:r>
              <a:rPr sz="1600" dirty="0">
                <a:latin typeface="KoPub돋움체 Bold" panose="00000800000000000000" pitchFamily="2" charset="-127"/>
                <a:ea typeface="KoPub돋움체 Bold" panose="00000800000000000000" pitchFamily="2" charset="-127"/>
              </a:rPr>
              <a:t>AEC </a:t>
            </a:r>
            <a:r>
              <a:rPr sz="1600" dirty="0" err="1">
                <a:latin typeface="KoPub돋움체 Bold" panose="00000800000000000000" pitchFamily="2" charset="-127"/>
                <a:ea typeface="KoPub돋움체 Bold" panose="00000800000000000000" pitchFamily="2" charset="-127"/>
              </a:rPr>
              <a:t>추가</a:t>
            </a:r>
            <a:r>
              <a:rPr sz="1600" dirty="0">
                <a:latin typeface="KoPub돋움체 Bold" panose="00000800000000000000" pitchFamily="2" charset="-127"/>
                <a:ea typeface="KoPub돋움체 Bold" panose="00000800000000000000" pitchFamily="2" charset="-127"/>
              </a:rPr>
              <a:t>(FPCA/Upper-Lower ratio) </a:t>
            </a:r>
            <a:r>
              <a:rPr sz="1600" dirty="0" err="1">
                <a:latin typeface="KoPub돋움체 Bold" panose="00000800000000000000" pitchFamily="2" charset="-127"/>
                <a:ea typeface="KoPub돋움체 Bold" panose="00000800000000000000" pitchFamily="2" charset="-127"/>
              </a:rPr>
              <a:t>후에도</a:t>
            </a:r>
            <a:r>
              <a:rPr sz="1600" dirty="0">
                <a:latin typeface="KoPub돋움체 Bold" panose="00000800000000000000" pitchFamily="2" charset="-127"/>
                <a:ea typeface="KoPub돋움체 Bold" panose="00000800000000000000" pitchFamily="2" charset="-127"/>
              </a:rPr>
              <a:t> clinic4 4개 </a:t>
            </a:r>
            <a:r>
              <a:rPr sz="1600" dirty="0" err="1">
                <a:latin typeface="KoPub돋움체 Bold" panose="00000800000000000000" pitchFamily="2" charset="-127"/>
                <a:ea typeface="KoPub돋움체 Bold" panose="00000800000000000000" pitchFamily="2" charset="-127"/>
              </a:rPr>
              <a:t>변수의</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방향성은</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유지되고</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크기만</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소폭</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감소</a:t>
            </a:r>
            <a:r>
              <a:rPr sz="1600" dirty="0">
                <a:latin typeface="KoPub돋움체 Bold" panose="00000800000000000000" pitchFamily="2" charset="-127"/>
                <a:ea typeface="KoPub돋움체 Bold" panose="00000800000000000000" pitchFamily="2" charset="-127"/>
              </a:rPr>
              <a:t>(</a:t>
            </a:r>
            <a:r>
              <a:rPr sz="1600" dirty="0" err="1">
                <a:latin typeface="KoPub돋움체 Bold" panose="00000800000000000000" pitchFamily="2" charset="-127"/>
                <a:ea typeface="KoPub돋움체 Bold" panose="00000800000000000000" pitchFamily="2" charset="-127"/>
              </a:rPr>
              <a:t>다중공선성</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반영</a:t>
            </a:r>
            <a:r>
              <a:rPr sz="1600" dirty="0">
                <a:latin typeface="KoPub돋움체 Bold" panose="00000800000000000000" pitchFamily="2" charset="-127"/>
                <a:ea typeface="KoPub돋움체 Bold" panose="00000800000000000000" pitchFamily="2" charset="-127"/>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결과 ⑤ DM Odds Ratio — AEC 항 요약 (internal full-fit)</a:t>
            </a:r>
          </a:p>
        </p:txBody>
      </p:sp>
      <p:graphicFrame>
        <p:nvGraphicFramePr>
          <p:cNvPr id="3" name="Table 2"/>
          <p:cNvGraphicFramePr>
            <a:graphicFrameLocks noGrp="1"/>
          </p:cNvGraphicFramePr>
          <p:nvPr>
            <p:extLst>
              <p:ext uri="{D42A27DB-BD31-4B8C-83A1-F6EECF244321}">
                <p14:modId xmlns:p14="http://schemas.microsoft.com/office/powerpoint/2010/main" val="1969227559"/>
              </p:ext>
            </p:extLst>
          </p:nvPr>
        </p:nvGraphicFramePr>
        <p:xfrm>
          <a:off x="508000" y="897468"/>
          <a:ext cx="11175997" cy="4455498"/>
        </p:xfrm>
        <a:graphic>
          <a:graphicData uri="http://schemas.openxmlformats.org/drawingml/2006/table">
            <a:tbl>
              <a:tblPr firstRow="1" bandRow="1">
                <a:tableStyleId>{C083E6E3-FA7D-4D7B-A595-EF9225AFEA82}</a:tableStyleId>
              </a:tblPr>
              <a:tblGrid>
                <a:gridCol w="2736979">
                  <a:extLst>
                    <a:ext uri="{9D8B030D-6E8A-4147-A177-3AD203B41FA5}">
                      <a16:colId xmlns:a16="http://schemas.microsoft.com/office/drawing/2014/main" val="20000"/>
                    </a:ext>
                  </a:extLst>
                </a:gridCol>
                <a:gridCol w="2280816">
                  <a:extLst>
                    <a:ext uri="{9D8B030D-6E8A-4147-A177-3AD203B41FA5}">
                      <a16:colId xmlns:a16="http://schemas.microsoft.com/office/drawing/2014/main" val="20001"/>
                    </a:ext>
                  </a:extLst>
                </a:gridCol>
                <a:gridCol w="2052734">
                  <a:extLst>
                    <a:ext uri="{9D8B030D-6E8A-4147-A177-3AD203B41FA5}">
                      <a16:colId xmlns:a16="http://schemas.microsoft.com/office/drawing/2014/main" val="20002"/>
                    </a:ext>
                  </a:extLst>
                </a:gridCol>
                <a:gridCol w="2052734">
                  <a:extLst>
                    <a:ext uri="{9D8B030D-6E8A-4147-A177-3AD203B41FA5}">
                      <a16:colId xmlns:a16="http://schemas.microsoft.com/office/drawing/2014/main" val="20003"/>
                    </a:ext>
                  </a:extLst>
                </a:gridCol>
                <a:gridCol w="2052734">
                  <a:extLst>
                    <a:ext uri="{9D8B030D-6E8A-4147-A177-3AD203B41FA5}">
                      <a16:colId xmlns:a16="http://schemas.microsoft.com/office/drawing/2014/main" val="20004"/>
                    </a:ext>
                  </a:extLst>
                </a:gridCol>
              </a:tblGrid>
              <a:tr h="636499">
                <a:tc>
                  <a:txBody>
                    <a:bodyPr/>
                    <a:lstStyle/>
                    <a:p>
                      <a:pPr algn="ctr"/>
                      <a:r>
                        <a:rPr sz="1400" b="1" dirty="0"/>
                        <a:t>Baseline</a:t>
                      </a:r>
                    </a:p>
                  </a:txBody>
                  <a:tcPr anchor="ctr"/>
                </a:tc>
                <a:tc>
                  <a:txBody>
                    <a:bodyPr/>
                    <a:lstStyle/>
                    <a:p>
                      <a:pPr algn="ctr"/>
                      <a:r>
                        <a:rPr sz="1400" b="1" dirty="0"/>
                        <a:t>OR(Up/Low ratio)</a:t>
                      </a:r>
                    </a:p>
                  </a:txBody>
                  <a:tcPr anchor="ctr"/>
                </a:tc>
                <a:tc>
                  <a:txBody>
                    <a:bodyPr/>
                    <a:lstStyle/>
                    <a:p>
                      <a:pPr algn="ctr"/>
                      <a:r>
                        <a:rPr sz="1400" b="1"/>
                        <a:t>OR(FPCA PC1)</a:t>
                      </a:r>
                    </a:p>
                  </a:txBody>
                  <a:tcPr anchor="ctr"/>
                </a:tc>
                <a:tc>
                  <a:txBody>
                    <a:bodyPr/>
                    <a:lstStyle/>
                    <a:p>
                      <a:pPr algn="ctr"/>
                      <a:r>
                        <a:rPr sz="1400" b="1"/>
                        <a:t>OR(FPCA PC2)</a:t>
                      </a:r>
                    </a:p>
                  </a:txBody>
                  <a:tcPr anchor="ctr"/>
                </a:tc>
                <a:tc>
                  <a:txBody>
                    <a:bodyPr/>
                    <a:lstStyle/>
                    <a:p>
                      <a:pPr algn="ctr"/>
                      <a:r>
                        <a:rPr sz="1400" b="1"/>
                        <a:t>OR(FPCA PC3)</a:t>
                      </a:r>
                    </a:p>
                  </a:txBody>
                  <a:tcPr anchor="ctr"/>
                </a:tc>
                <a:extLst>
                  <a:ext uri="{0D108BD9-81ED-4DB2-BD59-A6C34878D82A}">
                    <a16:rowId xmlns:a16="http://schemas.microsoft.com/office/drawing/2014/main" val="10000"/>
                  </a:ext>
                </a:extLst>
              </a:tr>
              <a:tr h="636499">
                <a:tc>
                  <a:txBody>
                    <a:bodyPr/>
                    <a:lstStyle/>
                    <a:p>
                      <a:pPr algn="l"/>
                      <a:r>
                        <a:rPr sz="1400" dirty="0"/>
                        <a:t>clinic4</a:t>
                      </a:r>
                    </a:p>
                  </a:txBody>
                  <a:tcPr anchor="ctr"/>
                </a:tc>
                <a:tc>
                  <a:txBody>
                    <a:bodyPr/>
                    <a:lstStyle/>
                    <a:p>
                      <a:pPr algn="ctr"/>
                      <a:r>
                        <a:rPr sz="1400"/>
                        <a:t>1.560</a:t>
                      </a:r>
                    </a:p>
                  </a:txBody>
                  <a:tcPr anchor="ctr"/>
                </a:tc>
                <a:tc>
                  <a:txBody>
                    <a:bodyPr/>
                    <a:lstStyle/>
                    <a:p>
                      <a:pPr algn="ctr"/>
                      <a:r>
                        <a:rPr sz="1400"/>
                        <a:t>1.093</a:t>
                      </a:r>
                    </a:p>
                  </a:txBody>
                  <a:tcPr anchor="ctr"/>
                </a:tc>
                <a:tc>
                  <a:txBody>
                    <a:bodyPr/>
                    <a:lstStyle/>
                    <a:p>
                      <a:pPr algn="ctr"/>
                      <a:r>
                        <a:rPr sz="1400"/>
                        <a:t>0.611</a:t>
                      </a:r>
                    </a:p>
                  </a:txBody>
                  <a:tcPr anchor="ctr"/>
                </a:tc>
                <a:tc>
                  <a:txBody>
                    <a:bodyPr/>
                    <a:lstStyle/>
                    <a:p>
                      <a:pPr algn="ctr"/>
                      <a:r>
                        <a:rPr sz="1400"/>
                        <a:t>1.148</a:t>
                      </a:r>
                    </a:p>
                  </a:txBody>
                  <a:tcPr anchor="ctr"/>
                </a:tc>
                <a:extLst>
                  <a:ext uri="{0D108BD9-81ED-4DB2-BD59-A6C34878D82A}">
                    <a16:rowId xmlns:a16="http://schemas.microsoft.com/office/drawing/2014/main" val="10001"/>
                  </a:ext>
                </a:extLst>
              </a:tr>
              <a:tr h="636499">
                <a:tc>
                  <a:txBody>
                    <a:bodyPr/>
                    <a:lstStyle/>
                    <a:p>
                      <a:pPr algn="l"/>
                      <a:r>
                        <a:rPr sz="1400"/>
                        <a:t>clinic6(scanner)</a:t>
                      </a:r>
                    </a:p>
                  </a:txBody>
                  <a:tcPr anchor="ctr"/>
                </a:tc>
                <a:tc>
                  <a:txBody>
                    <a:bodyPr/>
                    <a:lstStyle/>
                    <a:p>
                      <a:pPr algn="ctr"/>
                      <a:r>
                        <a:rPr sz="1400"/>
                        <a:t>1.667</a:t>
                      </a:r>
                    </a:p>
                  </a:txBody>
                  <a:tcPr anchor="ctr"/>
                </a:tc>
                <a:tc>
                  <a:txBody>
                    <a:bodyPr/>
                    <a:lstStyle/>
                    <a:p>
                      <a:pPr algn="ctr"/>
                      <a:r>
                        <a:rPr sz="1400"/>
                        <a:t>1.061</a:t>
                      </a:r>
                    </a:p>
                  </a:txBody>
                  <a:tcPr anchor="ctr"/>
                </a:tc>
                <a:tc>
                  <a:txBody>
                    <a:bodyPr/>
                    <a:lstStyle/>
                    <a:p>
                      <a:pPr algn="ctr"/>
                      <a:r>
                        <a:rPr sz="1400"/>
                        <a:t>0.579</a:t>
                      </a:r>
                    </a:p>
                  </a:txBody>
                  <a:tcPr anchor="ctr"/>
                </a:tc>
                <a:tc>
                  <a:txBody>
                    <a:bodyPr/>
                    <a:lstStyle/>
                    <a:p>
                      <a:pPr algn="ctr"/>
                      <a:r>
                        <a:rPr sz="1400"/>
                        <a:t>1.145</a:t>
                      </a:r>
                    </a:p>
                  </a:txBody>
                  <a:tcPr anchor="ctr"/>
                </a:tc>
                <a:extLst>
                  <a:ext uri="{0D108BD9-81ED-4DB2-BD59-A6C34878D82A}">
                    <a16:rowId xmlns:a16="http://schemas.microsoft.com/office/drawing/2014/main" val="10002"/>
                  </a:ext>
                </a:extLst>
              </a:tr>
              <a:tr h="636499">
                <a:tc>
                  <a:txBody>
                    <a:bodyPr/>
                    <a:lstStyle/>
                    <a:p>
                      <a:pPr algn="l"/>
                      <a:r>
                        <a:rPr sz="1400"/>
                        <a:t>clinic7</a:t>
                      </a:r>
                    </a:p>
                  </a:txBody>
                  <a:tcPr anchor="ctr"/>
                </a:tc>
                <a:tc>
                  <a:txBody>
                    <a:bodyPr/>
                    <a:lstStyle/>
                    <a:p>
                      <a:pPr algn="ctr"/>
                      <a:r>
                        <a:rPr sz="1400"/>
                        <a:t>1.547</a:t>
                      </a:r>
                    </a:p>
                  </a:txBody>
                  <a:tcPr anchor="ctr"/>
                </a:tc>
                <a:tc>
                  <a:txBody>
                    <a:bodyPr/>
                    <a:lstStyle/>
                    <a:p>
                      <a:pPr algn="ctr"/>
                      <a:r>
                        <a:rPr sz="1400"/>
                        <a:t>1.111</a:t>
                      </a:r>
                    </a:p>
                  </a:txBody>
                  <a:tcPr anchor="ctr"/>
                </a:tc>
                <a:tc>
                  <a:txBody>
                    <a:bodyPr/>
                    <a:lstStyle/>
                    <a:p>
                      <a:pPr algn="ctr"/>
                      <a:r>
                        <a:rPr sz="1400"/>
                        <a:t>0.627</a:t>
                      </a:r>
                    </a:p>
                  </a:txBody>
                  <a:tcPr anchor="ctr"/>
                </a:tc>
                <a:tc>
                  <a:txBody>
                    <a:bodyPr/>
                    <a:lstStyle/>
                    <a:p>
                      <a:pPr algn="ctr"/>
                      <a:r>
                        <a:rPr sz="1400"/>
                        <a:t>1.090</a:t>
                      </a:r>
                    </a:p>
                  </a:txBody>
                  <a:tcPr anchor="ctr"/>
                </a:tc>
                <a:extLst>
                  <a:ext uri="{0D108BD9-81ED-4DB2-BD59-A6C34878D82A}">
                    <a16:rowId xmlns:a16="http://schemas.microsoft.com/office/drawing/2014/main" val="10003"/>
                  </a:ext>
                </a:extLst>
              </a:tr>
              <a:tr h="636499">
                <a:tc>
                  <a:txBody>
                    <a:bodyPr/>
                    <a:lstStyle/>
                    <a:p>
                      <a:pPr algn="l"/>
                      <a:r>
                        <a:rPr sz="1400"/>
                        <a:t>clinic6(VSR)</a:t>
                      </a:r>
                    </a:p>
                  </a:txBody>
                  <a:tcPr anchor="ctr"/>
                </a:tc>
                <a:tc>
                  <a:txBody>
                    <a:bodyPr/>
                    <a:lstStyle/>
                    <a:p>
                      <a:pPr algn="ctr"/>
                      <a:r>
                        <a:rPr sz="1400"/>
                        <a:t>1.513</a:t>
                      </a:r>
                    </a:p>
                  </a:txBody>
                  <a:tcPr anchor="ctr"/>
                </a:tc>
                <a:tc>
                  <a:txBody>
                    <a:bodyPr/>
                    <a:lstStyle/>
                    <a:p>
                      <a:pPr algn="ctr"/>
                      <a:r>
                        <a:rPr sz="1400"/>
                        <a:t>1.126</a:t>
                      </a:r>
                    </a:p>
                  </a:txBody>
                  <a:tcPr anchor="ctr"/>
                </a:tc>
                <a:tc>
                  <a:txBody>
                    <a:bodyPr/>
                    <a:lstStyle/>
                    <a:p>
                      <a:pPr algn="ctr"/>
                      <a:r>
                        <a:rPr sz="1400"/>
                        <a:t>0.614</a:t>
                      </a:r>
                    </a:p>
                  </a:txBody>
                  <a:tcPr anchor="ctr"/>
                </a:tc>
                <a:tc>
                  <a:txBody>
                    <a:bodyPr/>
                    <a:lstStyle/>
                    <a:p>
                      <a:pPr algn="ctr"/>
                      <a:r>
                        <a:rPr sz="1400"/>
                        <a:t>1.111</a:t>
                      </a:r>
                    </a:p>
                  </a:txBody>
                  <a:tcPr anchor="ctr"/>
                </a:tc>
                <a:extLst>
                  <a:ext uri="{0D108BD9-81ED-4DB2-BD59-A6C34878D82A}">
                    <a16:rowId xmlns:a16="http://schemas.microsoft.com/office/drawing/2014/main" val="10004"/>
                  </a:ext>
                </a:extLst>
              </a:tr>
              <a:tr h="636499">
                <a:tc>
                  <a:txBody>
                    <a:bodyPr/>
                    <a:lstStyle/>
                    <a:p>
                      <a:pPr algn="l"/>
                      <a:r>
                        <a:rPr sz="1400"/>
                        <a:t>clinic9(all)</a:t>
                      </a:r>
                    </a:p>
                  </a:txBody>
                  <a:tcPr anchor="ctr"/>
                </a:tc>
                <a:tc>
                  <a:txBody>
                    <a:bodyPr/>
                    <a:lstStyle/>
                    <a:p>
                      <a:pPr algn="ctr"/>
                      <a:r>
                        <a:rPr sz="1400"/>
                        <a:t>1.664</a:t>
                      </a:r>
                    </a:p>
                  </a:txBody>
                  <a:tcPr anchor="ctr"/>
                </a:tc>
                <a:tc>
                  <a:txBody>
                    <a:bodyPr/>
                    <a:lstStyle/>
                    <a:p>
                      <a:pPr algn="ctr"/>
                      <a:r>
                        <a:rPr sz="1400"/>
                        <a:t>1.137</a:t>
                      </a:r>
                    </a:p>
                  </a:txBody>
                  <a:tcPr anchor="ctr"/>
                </a:tc>
                <a:tc>
                  <a:txBody>
                    <a:bodyPr/>
                    <a:lstStyle/>
                    <a:p>
                      <a:pPr algn="ctr"/>
                      <a:r>
                        <a:rPr sz="1400"/>
                        <a:t>0.576</a:t>
                      </a:r>
                    </a:p>
                  </a:txBody>
                  <a:tcPr anchor="ctr"/>
                </a:tc>
                <a:tc>
                  <a:txBody>
                    <a:bodyPr/>
                    <a:lstStyle/>
                    <a:p>
                      <a:pPr algn="ctr"/>
                      <a:r>
                        <a:rPr sz="1400"/>
                        <a:t>1.080</a:t>
                      </a:r>
                    </a:p>
                  </a:txBody>
                  <a:tcPr anchor="ctr"/>
                </a:tc>
                <a:extLst>
                  <a:ext uri="{0D108BD9-81ED-4DB2-BD59-A6C34878D82A}">
                    <a16:rowId xmlns:a16="http://schemas.microsoft.com/office/drawing/2014/main" val="10005"/>
                  </a:ext>
                </a:extLst>
              </a:tr>
              <a:tr h="636504">
                <a:tc>
                  <a:txBody>
                    <a:bodyPr/>
                    <a:lstStyle/>
                    <a:p>
                      <a:pPr algn="l"/>
                      <a:r>
                        <a:rPr sz="1400"/>
                        <a:t>clinic8(all ratio)</a:t>
                      </a:r>
                    </a:p>
                  </a:txBody>
                  <a:tcPr anchor="ctr"/>
                </a:tc>
                <a:tc>
                  <a:txBody>
                    <a:bodyPr/>
                    <a:lstStyle/>
                    <a:p>
                      <a:pPr algn="ctr"/>
                      <a:r>
                        <a:rPr sz="1400"/>
                        <a:t>1.590</a:t>
                      </a:r>
                    </a:p>
                  </a:txBody>
                  <a:tcPr anchor="ctr"/>
                </a:tc>
                <a:tc>
                  <a:txBody>
                    <a:bodyPr/>
                    <a:lstStyle/>
                    <a:p>
                      <a:pPr algn="ctr"/>
                      <a:r>
                        <a:rPr sz="1400"/>
                        <a:t>1.153</a:t>
                      </a:r>
                    </a:p>
                  </a:txBody>
                  <a:tcPr anchor="ctr"/>
                </a:tc>
                <a:tc>
                  <a:txBody>
                    <a:bodyPr/>
                    <a:lstStyle/>
                    <a:p>
                      <a:pPr algn="ctr"/>
                      <a:r>
                        <a:rPr sz="1400"/>
                        <a:t>0.584</a:t>
                      </a:r>
                    </a:p>
                  </a:txBody>
                  <a:tcPr anchor="ctr"/>
                </a:tc>
                <a:tc>
                  <a:txBody>
                    <a:bodyPr/>
                    <a:lstStyle/>
                    <a:p>
                      <a:pPr algn="ctr"/>
                      <a:r>
                        <a:rPr sz="1400" dirty="0"/>
                        <a:t>1.106</a:t>
                      </a:r>
                    </a:p>
                  </a:txBody>
                  <a:tcPr anchor="ctr"/>
                </a:tc>
                <a:extLst>
                  <a:ext uri="{0D108BD9-81ED-4DB2-BD59-A6C34878D82A}">
                    <a16:rowId xmlns:a16="http://schemas.microsoft.com/office/drawing/2014/main" val="10006"/>
                  </a:ext>
                </a:extLst>
              </a:tr>
            </a:tbl>
          </a:graphicData>
        </a:graphic>
      </p:graphicFrame>
      <p:sp>
        <p:nvSpPr>
          <p:cNvPr id="4" name="TextBox 3"/>
          <p:cNvSpPr txBox="1"/>
          <p:nvPr/>
        </p:nvSpPr>
        <p:spPr>
          <a:xfrm>
            <a:off x="508000" y="5352966"/>
            <a:ext cx="11176000" cy="411480"/>
          </a:xfrm>
          <a:prstGeom prst="rect">
            <a:avLst/>
          </a:prstGeom>
          <a:noFill/>
        </p:spPr>
        <p:txBody>
          <a:bodyPr wrap="none">
            <a:spAutoFit/>
          </a:bodyPr>
          <a:lstStyle/>
          <a:p>
            <a:r>
              <a:rPr sz="1100" i="1"/>
              <a:t>OR&gt;1: 위험 증가 방향, OR&lt;1: 보호적 방향 (패널화(L1/ElasticNet) 계수라 CI는 미산출)</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2A42-ED56-FD2C-9182-4E40CE11854C}"/>
              </a:ext>
            </a:extLst>
          </p:cNvPr>
          <p:cNvSpPr>
            <a:spLocks noGrp="1"/>
          </p:cNvSpPr>
          <p:nvPr>
            <p:ph type="title"/>
          </p:nvPr>
        </p:nvSpPr>
        <p:spPr/>
        <p:txBody>
          <a:bodyPr/>
          <a:lstStyle/>
          <a:p>
            <a:r>
              <a:t>결과 ⑥ HTN AUC — Baseline vs AEC 추가</a:t>
            </a:r>
          </a:p>
        </p:txBody>
      </p:sp>
      <p:graphicFrame>
        <p:nvGraphicFramePr>
          <p:cNvPr id="6" name="Table 2">
            <a:extLst>
              <a:ext uri="{FF2B5EF4-FFF2-40B4-BE49-F238E27FC236}">
                <a16:creationId xmlns:a16="http://schemas.microsoft.com/office/drawing/2014/main" id="{E510CECF-189E-7B95-A7D1-8CF39243907A}"/>
              </a:ext>
            </a:extLst>
          </p:cNvPr>
          <p:cNvGraphicFramePr>
            <a:graphicFrameLocks noGrp="1"/>
          </p:cNvGraphicFramePr>
          <p:nvPr>
            <p:extLst>
              <p:ext uri="{D42A27DB-BD31-4B8C-83A1-F6EECF244321}">
                <p14:modId xmlns:p14="http://schemas.microsoft.com/office/powerpoint/2010/main" val="2333828545"/>
              </p:ext>
            </p:extLst>
          </p:nvPr>
        </p:nvGraphicFramePr>
        <p:xfrm>
          <a:off x="508000" y="1407613"/>
          <a:ext cx="5181598" cy="4351338"/>
        </p:xfrm>
        <a:graphic>
          <a:graphicData uri="http://schemas.openxmlformats.org/drawingml/2006/table">
            <a:tbl>
              <a:tblPr firstRow="1" bandRow="1">
                <a:tableStyleId>{C083E6E3-FA7D-4D7B-A595-EF9225AFEA82}</a:tableStyleId>
              </a:tblPr>
              <a:tblGrid>
                <a:gridCol w="1615044">
                  <a:extLst>
                    <a:ext uri="{9D8B030D-6E8A-4147-A177-3AD203B41FA5}">
                      <a16:colId xmlns:a16="http://schemas.microsoft.com/office/drawing/2014/main" val="20000"/>
                    </a:ext>
                  </a:extLst>
                </a:gridCol>
                <a:gridCol w="1143989">
                  <a:extLst>
                    <a:ext uri="{9D8B030D-6E8A-4147-A177-3AD203B41FA5}">
                      <a16:colId xmlns:a16="http://schemas.microsoft.com/office/drawing/2014/main" val="20001"/>
                    </a:ext>
                  </a:extLst>
                </a:gridCol>
                <a:gridCol w="1143989">
                  <a:extLst>
                    <a:ext uri="{9D8B030D-6E8A-4147-A177-3AD203B41FA5}">
                      <a16:colId xmlns:a16="http://schemas.microsoft.com/office/drawing/2014/main" val="20002"/>
                    </a:ext>
                  </a:extLst>
                </a:gridCol>
                <a:gridCol w="1278576">
                  <a:extLst>
                    <a:ext uri="{9D8B030D-6E8A-4147-A177-3AD203B41FA5}">
                      <a16:colId xmlns:a16="http://schemas.microsoft.com/office/drawing/2014/main" val="20003"/>
                    </a:ext>
                  </a:extLst>
                </a:gridCol>
              </a:tblGrid>
              <a:tr h="621619">
                <a:tc>
                  <a:txBody>
                    <a:bodyPr/>
                    <a:lstStyle/>
                    <a:p>
                      <a:pPr algn="ctr"/>
                      <a:r>
                        <a:rPr sz="1200" b="1"/>
                        <a:t>Baseline</a:t>
                      </a:r>
                    </a:p>
                  </a:txBody>
                  <a:tcPr anchor="ctr"/>
                </a:tc>
                <a:tc>
                  <a:txBody>
                    <a:bodyPr/>
                    <a:lstStyle/>
                    <a:p>
                      <a:pPr algn="ctr"/>
                      <a:r>
                        <a:rPr sz="1200" b="1"/>
                        <a:t>Baseline</a:t>
                      </a:r>
                    </a:p>
                    <a:p>
                      <a:pPr algn="ctr"/>
                      <a:r>
                        <a:rPr sz="1200" b="1"/>
                        <a:t>(int/ext)</a:t>
                      </a:r>
                    </a:p>
                  </a:txBody>
                  <a:tcPr anchor="ctr"/>
                </a:tc>
                <a:tc>
                  <a:txBody>
                    <a:bodyPr/>
                    <a:lstStyle/>
                    <a:p>
                      <a:pPr algn="ctr"/>
                      <a:r>
                        <a:rPr sz="1200" b="1"/>
                        <a:t>+FPCA(3)</a:t>
                      </a:r>
                    </a:p>
                    <a:p>
                      <a:pPr algn="ctr"/>
                      <a:r>
                        <a:rPr sz="1200" b="1"/>
                        <a:t>(int/ext)</a:t>
                      </a:r>
                    </a:p>
                  </a:txBody>
                  <a:tcPr anchor="ctr"/>
                </a:tc>
                <a:tc>
                  <a:txBody>
                    <a:bodyPr/>
                    <a:lstStyle/>
                    <a:p>
                      <a:pPr algn="ctr"/>
                      <a:r>
                        <a:rPr sz="1200" b="1"/>
                        <a:t>+Up/Low ratio</a:t>
                      </a:r>
                    </a:p>
                    <a:p>
                      <a:pPr algn="ctr"/>
                      <a:r>
                        <a:rPr sz="1200" b="1"/>
                        <a:t>(int/ext)</a:t>
                      </a:r>
                    </a:p>
                  </a:txBody>
                  <a:tcPr anchor="ctr"/>
                </a:tc>
                <a:extLst>
                  <a:ext uri="{0D108BD9-81ED-4DB2-BD59-A6C34878D82A}">
                    <a16:rowId xmlns:a16="http://schemas.microsoft.com/office/drawing/2014/main" val="10000"/>
                  </a:ext>
                </a:extLst>
              </a:tr>
              <a:tr h="621619">
                <a:tc>
                  <a:txBody>
                    <a:bodyPr/>
                    <a:lstStyle/>
                    <a:p>
                      <a:pPr algn="l"/>
                      <a:r>
                        <a:rPr sz="1200"/>
                        <a:t>clinic4</a:t>
                      </a:r>
                    </a:p>
                  </a:txBody>
                  <a:tcPr anchor="ctr"/>
                </a:tc>
                <a:tc>
                  <a:txBody>
                    <a:bodyPr/>
                    <a:lstStyle/>
                    <a:p>
                      <a:r>
                        <a:rPr sz="1200"/>
                        <a:t>0.794/0.719</a:t>
                      </a:r>
                    </a:p>
                  </a:txBody>
                  <a:tcPr anchor="ctr"/>
                </a:tc>
                <a:tc>
                  <a:txBody>
                    <a:bodyPr/>
                    <a:lstStyle/>
                    <a:p>
                      <a:r>
                        <a:rPr sz="1200"/>
                        <a:t>0.803/0.733</a:t>
                      </a:r>
                    </a:p>
                  </a:txBody>
                  <a:tcPr anchor="ctr"/>
                </a:tc>
                <a:tc>
                  <a:txBody>
                    <a:bodyPr/>
                    <a:lstStyle/>
                    <a:p>
                      <a:r>
                        <a:rPr sz="1200"/>
                        <a:t>0.800/0.729</a:t>
                      </a:r>
                    </a:p>
                  </a:txBody>
                  <a:tcPr anchor="ctr"/>
                </a:tc>
                <a:extLst>
                  <a:ext uri="{0D108BD9-81ED-4DB2-BD59-A6C34878D82A}">
                    <a16:rowId xmlns:a16="http://schemas.microsoft.com/office/drawing/2014/main" val="10001"/>
                  </a:ext>
                </a:extLst>
              </a:tr>
              <a:tr h="621619">
                <a:tc>
                  <a:txBody>
                    <a:bodyPr/>
                    <a:lstStyle/>
                    <a:p>
                      <a:pPr algn="l"/>
                      <a:r>
                        <a:rPr sz="1200"/>
                        <a:t>clinic6(scanner)</a:t>
                      </a:r>
                    </a:p>
                  </a:txBody>
                  <a:tcPr anchor="ctr"/>
                </a:tc>
                <a:tc>
                  <a:txBody>
                    <a:bodyPr/>
                    <a:lstStyle/>
                    <a:p>
                      <a:r>
                        <a:rPr sz="1200"/>
                        <a:t>0.793/0.712</a:t>
                      </a:r>
                    </a:p>
                  </a:txBody>
                  <a:tcPr anchor="ctr"/>
                </a:tc>
                <a:tc>
                  <a:txBody>
                    <a:bodyPr/>
                    <a:lstStyle/>
                    <a:p>
                      <a:r>
                        <a:rPr sz="1200"/>
                        <a:t>0.803/0.733</a:t>
                      </a:r>
                    </a:p>
                  </a:txBody>
                  <a:tcPr anchor="ctr"/>
                </a:tc>
                <a:tc>
                  <a:txBody>
                    <a:bodyPr/>
                    <a:lstStyle/>
                    <a:p>
                      <a:r>
                        <a:rPr sz="1200"/>
                        <a:t>0.800/0.727</a:t>
                      </a:r>
                    </a:p>
                  </a:txBody>
                  <a:tcPr anchor="ctr"/>
                </a:tc>
                <a:extLst>
                  <a:ext uri="{0D108BD9-81ED-4DB2-BD59-A6C34878D82A}">
                    <a16:rowId xmlns:a16="http://schemas.microsoft.com/office/drawing/2014/main" val="10002"/>
                  </a:ext>
                </a:extLst>
              </a:tr>
              <a:tr h="621619">
                <a:tc>
                  <a:txBody>
                    <a:bodyPr/>
                    <a:lstStyle/>
                    <a:p>
                      <a:pPr algn="l"/>
                      <a:r>
                        <a:rPr sz="1200"/>
                        <a:t>clinic7</a:t>
                      </a:r>
                    </a:p>
                  </a:txBody>
                  <a:tcPr anchor="ctr"/>
                </a:tc>
                <a:tc>
                  <a:txBody>
                    <a:bodyPr/>
                    <a:lstStyle/>
                    <a:p>
                      <a:r>
                        <a:rPr sz="1200"/>
                        <a:t>0.818/0.735</a:t>
                      </a:r>
                    </a:p>
                  </a:txBody>
                  <a:tcPr anchor="ctr"/>
                </a:tc>
                <a:tc>
                  <a:txBody>
                    <a:bodyPr/>
                    <a:lstStyle/>
                    <a:p>
                      <a:r>
                        <a:rPr sz="1200"/>
                        <a:t>0.822/0.740</a:t>
                      </a:r>
                    </a:p>
                  </a:txBody>
                  <a:tcPr anchor="ctr"/>
                </a:tc>
                <a:tc>
                  <a:txBody>
                    <a:bodyPr/>
                    <a:lstStyle/>
                    <a:p>
                      <a:r>
                        <a:rPr sz="1200"/>
                        <a:t>0.820/0.739</a:t>
                      </a:r>
                    </a:p>
                  </a:txBody>
                  <a:tcPr anchor="ctr"/>
                </a:tc>
                <a:extLst>
                  <a:ext uri="{0D108BD9-81ED-4DB2-BD59-A6C34878D82A}">
                    <a16:rowId xmlns:a16="http://schemas.microsoft.com/office/drawing/2014/main" val="10003"/>
                  </a:ext>
                </a:extLst>
              </a:tr>
              <a:tr h="621619">
                <a:tc>
                  <a:txBody>
                    <a:bodyPr/>
                    <a:lstStyle/>
                    <a:p>
                      <a:pPr algn="l"/>
                      <a:r>
                        <a:rPr sz="1200"/>
                        <a:t>clinic6(VSR)</a:t>
                      </a:r>
                    </a:p>
                  </a:txBody>
                  <a:tcPr anchor="ctr"/>
                </a:tc>
                <a:tc>
                  <a:txBody>
                    <a:bodyPr/>
                    <a:lstStyle/>
                    <a:p>
                      <a:r>
                        <a:rPr sz="1200"/>
                        <a:t>0.812/0.743</a:t>
                      </a:r>
                    </a:p>
                  </a:txBody>
                  <a:tcPr anchor="ctr"/>
                </a:tc>
                <a:tc>
                  <a:txBody>
                    <a:bodyPr/>
                    <a:lstStyle/>
                    <a:p>
                      <a:r>
                        <a:rPr sz="1200"/>
                        <a:t>0.817/0.748</a:t>
                      </a:r>
                    </a:p>
                  </a:txBody>
                  <a:tcPr anchor="ctr"/>
                </a:tc>
                <a:tc>
                  <a:txBody>
                    <a:bodyPr/>
                    <a:lstStyle/>
                    <a:p>
                      <a:r>
                        <a:rPr sz="1200"/>
                        <a:t>0.814/0.746</a:t>
                      </a:r>
                    </a:p>
                  </a:txBody>
                  <a:tcPr anchor="ctr"/>
                </a:tc>
                <a:extLst>
                  <a:ext uri="{0D108BD9-81ED-4DB2-BD59-A6C34878D82A}">
                    <a16:rowId xmlns:a16="http://schemas.microsoft.com/office/drawing/2014/main" val="10004"/>
                  </a:ext>
                </a:extLst>
              </a:tr>
              <a:tr h="621619">
                <a:tc>
                  <a:txBody>
                    <a:bodyPr/>
                    <a:lstStyle/>
                    <a:p>
                      <a:pPr algn="l"/>
                      <a:r>
                        <a:rPr sz="1200"/>
                        <a:t>clinic9(all)</a:t>
                      </a:r>
                    </a:p>
                  </a:txBody>
                  <a:tcPr anchor="ctr"/>
                </a:tc>
                <a:tc>
                  <a:txBody>
                    <a:bodyPr/>
                    <a:lstStyle/>
                    <a:p>
                      <a:r>
                        <a:rPr sz="1200"/>
                        <a:t>0.817/0.731</a:t>
                      </a:r>
                    </a:p>
                  </a:txBody>
                  <a:tcPr anchor="ctr"/>
                </a:tc>
                <a:tc>
                  <a:txBody>
                    <a:bodyPr/>
                    <a:lstStyle/>
                    <a:p>
                      <a:r>
                        <a:rPr sz="1200"/>
                        <a:t>0.821/0.737</a:t>
                      </a:r>
                    </a:p>
                  </a:txBody>
                  <a:tcPr anchor="ctr"/>
                </a:tc>
                <a:tc>
                  <a:txBody>
                    <a:bodyPr/>
                    <a:lstStyle/>
                    <a:p>
                      <a:r>
                        <a:rPr sz="1200"/>
                        <a:t>0.819/0.734</a:t>
                      </a:r>
                    </a:p>
                  </a:txBody>
                  <a:tcPr anchor="ctr"/>
                </a:tc>
                <a:extLst>
                  <a:ext uri="{0D108BD9-81ED-4DB2-BD59-A6C34878D82A}">
                    <a16:rowId xmlns:a16="http://schemas.microsoft.com/office/drawing/2014/main" val="10005"/>
                  </a:ext>
                </a:extLst>
              </a:tr>
              <a:tr h="621624">
                <a:tc>
                  <a:txBody>
                    <a:bodyPr/>
                    <a:lstStyle/>
                    <a:p>
                      <a:pPr algn="l"/>
                      <a:r>
                        <a:rPr sz="1200"/>
                        <a:t>clinic8(all ratio)</a:t>
                      </a:r>
                    </a:p>
                  </a:txBody>
                  <a:tcPr anchor="ctr"/>
                </a:tc>
                <a:tc>
                  <a:txBody>
                    <a:bodyPr/>
                    <a:lstStyle/>
                    <a:p>
                      <a:r>
                        <a:rPr sz="1200"/>
                        <a:t>0.811/0.737</a:t>
                      </a:r>
                    </a:p>
                  </a:txBody>
                  <a:tcPr anchor="ctr"/>
                </a:tc>
                <a:tc>
                  <a:txBody>
                    <a:bodyPr/>
                    <a:lstStyle/>
                    <a:p>
                      <a:r>
                        <a:rPr sz="1200" dirty="0"/>
                        <a:t>0.818/0.745</a:t>
                      </a:r>
                    </a:p>
                  </a:txBody>
                  <a:tcPr anchor="ctr"/>
                </a:tc>
                <a:tc>
                  <a:txBody>
                    <a:bodyPr/>
                    <a:lstStyle/>
                    <a:p>
                      <a:r>
                        <a:rPr sz="1200" dirty="0"/>
                        <a:t>0.814/0.737</a:t>
                      </a:r>
                    </a:p>
                  </a:txBody>
                  <a:tcPr anchor="ctr"/>
                </a:tc>
                <a:extLst>
                  <a:ext uri="{0D108BD9-81ED-4DB2-BD59-A6C34878D82A}">
                    <a16:rowId xmlns:a16="http://schemas.microsoft.com/office/drawing/2014/main" val="10006"/>
                  </a:ext>
                </a:extLst>
              </a:tr>
            </a:tbl>
          </a:graphicData>
        </a:graphic>
      </p:graphicFrame>
      <p:pic>
        <p:nvPicPr>
          <p:cNvPr id="7" name="Picture 6" descr="htn_roc_curve_aec_compare.png"/>
          <p:cNvPicPr>
            <a:picLocks noChangeAspect="1"/>
          </p:cNvPicPr>
          <p:nvPr/>
        </p:nvPicPr>
        <p:blipFill>
          <a:blip r:embed="rId3"/>
          <a:stretch>
            <a:fillRect/>
          </a:stretch>
        </p:blipFill>
        <p:spPr>
          <a:xfrm>
            <a:off x="5689598" y="1549513"/>
            <a:ext cx="6424749" cy="406753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결과 ⑦ HTN AUC 개선 유의성 (DeLong, external)</a:t>
            </a:r>
          </a:p>
        </p:txBody>
      </p:sp>
      <p:graphicFrame>
        <p:nvGraphicFramePr>
          <p:cNvPr id="3" name="Table 2"/>
          <p:cNvGraphicFramePr>
            <a:graphicFrameLocks noGrp="1"/>
          </p:cNvGraphicFramePr>
          <p:nvPr>
            <p:extLst>
              <p:ext uri="{D42A27DB-BD31-4B8C-83A1-F6EECF244321}">
                <p14:modId xmlns:p14="http://schemas.microsoft.com/office/powerpoint/2010/main" val="291441761"/>
              </p:ext>
            </p:extLst>
          </p:nvPr>
        </p:nvGraphicFramePr>
        <p:xfrm>
          <a:off x="508000" y="897468"/>
          <a:ext cx="11175997" cy="4455498"/>
        </p:xfrm>
        <a:graphic>
          <a:graphicData uri="http://schemas.openxmlformats.org/drawingml/2006/table">
            <a:tbl>
              <a:tblPr firstRow="1" bandRow="1">
                <a:tableStyleId>{C083E6E3-FA7D-4D7B-A595-EF9225AFEA82}</a:tableStyleId>
              </a:tblPr>
              <a:tblGrid>
                <a:gridCol w="3047999">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777999">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1777999">
                  <a:extLst>
                    <a:ext uri="{9D8B030D-6E8A-4147-A177-3AD203B41FA5}">
                      <a16:colId xmlns:a16="http://schemas.microsoft.com/office/drawing/2014/main" val="20004"/>
                    </a:ext>
                  </a:extLst>
                </a:gridCol>
              </a:tblGrid>
              <a:tr h="636499">
                <a:tc>
                  <a:txBody>
                    <a:bodyPr/>
                    <a:lstStyle/>
                    <a:p>
                      <a:pPr algn="ctr"/>
                      <a:r>
                        <a:rPr sz="1400" b="1"/>
                        <a:t>Baseline</a:t>
                      </a:r>
                    </a:p>
                  </a:txBody>
                  <a:tcPr anchor="ctr"/>
                </a:tc>
                <a:tc>
                  <a:txBody>
                    <a:bodyPr/>
                    <a:lstStyle/>
                    <a:p>
                      <a:pPr algn="ctr"/>
                      <a:r>
                        <a:rPr sz="1400" b="1"/>
                        <a:t>ΔAUC (+FPCA)</a:t>
                      </a:r>
                    </a:p>
                  </a:txBody>
                  <a:tcPr anchor="ctr"/>
                </a:tc>
                <a:tc>
                  <a:txBody>
                    <a:bodyPr/>
                    <a:lstStyle/>
                    <a:p>
                      <a:pPr algn="ctr"/>
                      <a:r>
                        <a:rPr sz="1400" b="1"/>
                        <a:t>p (+FPCA)</a:t>
                      </a:r>
                    </a:p>
                  </a:txBody>
                  <a:tcPr anchor="ctr"/>
                </a:tc>
                <a:tc>
                  <a:txBody>
                    <a:bodyPr/>
                    <a:lstStyle/>
                    <a:p>
                      <a:pPr algn="ctr"/>
                      <a:r>
                        <a:rPr sz="1400" b="1"/>
                        <a:t>ΔAUC (+Up/Low)</a:t>
                      </a:r>
                    </a:p>
                  </a:txBody>
                  <a:tcPr anchor="ctr"/>
                </a:tc>
                <a:tc>
                  <a:txBody>
                    <a:bodyPr/>
                    <a:lstStyle/>
                    <a:p>
                      <a:pPr algn="ctr"/>
                      <a:r>
                        <a:rPr sz="1400" b="1"/>
                        <a:t>p (+Up/Low)</a:t>
                      </a:r>
                    </a:p>
                  </a:txBody>
                  <a:tcPr anchor="ctr"/>
                </a:tc>
                <a:extLst>
                  <a:ext uri="{0D108BD9-81ED-4DB2-BD59-A6C34878D82A}">
                    <a16:rowId xmlns:a16="http://schemas.microsoft.com/office/drawing/2014/main" val="10000"/>
                  </a:ext>
                </a:extLst>
              </a:tr>
              <a:tr h="636499">
                <a:tc>
                  <a:txBody>
                    <a:bodyPr/>
                    <a:lstStyle/>
                    <a:p>
                      <a:pPr algn="l"/>
                      <a:r>
                        <a:rPr sz="1400"/>
                        <a:t>clinic4</a:t>
                      </a:r>
                    </a:p>
                  </a:txBody>
                  <a:tcPr anchor="ctr"/>
                </a:tc>
                <a:tc>
                  <a:txBody>
                    <a:bodyPr/>
                    <a:lstStyle/>
                    <a:p>
                      <a:r>
                        <a:rPr sz="1400"/>
                        <a:t>+0.0132</a:t>
                      </a:r>
                    </a:p>
                  </a:txBody>
                  <a:tcPr anchor="ctr"/>
                </a:tc>
                <a:tc>
                  <a:txBody>
                    <a:bodyPr/>
                    <a:lstStyle/>
                    <a:p>
                      <a:r>
                        <a:rPr sz="1400"/>
                        <a:t>0.041*</a:t>
                      </a:r>
                    </a:p>
                  </a:txBody>
                  <a:tcPr anchor="ctr"/>
                </a:tc>
                <a:tc>
                  <a:txBody>
                    <a:bodyPr/>
                    <a:lstStyle/>
                    <a:p>
                      <a:r>
                        <a:rPr sz="1400"/>
                        <a:t>+0.0100</a:t>
                      </a:r>
                    </a:p>
                  </a:txBody>
                  <a:tcPr anchor="ctr"/>
                </a:tc>
                <a:tc>
                  <a:txBody>
                    <a:bodyPr/>
                    <a:lstStyle/>
                    <a:p>
                      <a:r>
                        <a:rPr sz="1400"/>
                        <a:t>0.141</a:t>
                      </a:r>
                    </a:p>
                  </a:txBody>
                  <a:tcPr anchor="ctr"/>
                </a:tc>
                <a:extLst>
                  <a:ext uri="{0D108BD9-81ED-4DB2-BD59-A6C34878D82A}">
                    <a16:rowId xmlns:a16="http://schemas.microsoft.com/office/drawing/2014/main" val="10001"/>
                  </a:ext>
                </a:extLst>
              </a:tr>
              <a:tr h="636499">
                <a:tc>
                  <a:txBody>
                    <a:bodyPr/>
                    <a:lstStyle/>
                    <a:p>
                      <a:pPr algn="l"/>
                      <a:r>
                        <a:rPr sz="1400"/>
                        <a:t>clinic6(scanner)</a:t>
                      </a:r>
                    </a:p>
                  </a:txBody>
                  <a:tcPr anchor="ctr"/>
                </a:tc>
                <a:tc>
                  <a:txBody>
                    <a:bodyPr/>
                    <a:lstStyle/>
                    <a:p>
                      <a:r>
                        <a:rPr sz="1400"/>
                        <a:t>+0.0209</a:t>
                      </a:r>
                    </a:p>
                  </a:txBody>
                  <a:tcPr anchor="ctr"/>
                </a:tc>
                <a:tc>
                  <a:txBody>
                    <a:bodyPr/>
                    <a:lstStyle/>
                    <a:p>
                      <a:r>
                        <a:rPr sz="1400"/>
                        <a:t>0.005*</a:t>
                      </a:r>
                    </a:p>
                  </a:txBody>
                  <a:tcPr anchor="ctr"/>
                </a:tc>
                <a:tc>
                  <a:txBody>
                    <a:bodyPr/>
                    <a:lstStyle/>
                    <a:p>
                      <a:r>
                        <a:rPr sz="1400"/>
                        <a:t>+0.0156</a:t>
                      </a:r>
                    </a:p>
                  </a:txBody>
                  <a:tcPr anchor="ctr"/>
                </a:tc>
                <a:tc>
                  <a:txBody>
                    <a:bodyPr/>
                    <a:lstStyle/>
                    <a:p>
                      <a:r>
                        <a:rPr sz="1400"/>
                        <a:t>0.032*</a:t>
                      </a:r>
                    </a:p>
                  </a:txBody>
                  <a:tcPr anchor="ctr"/>
                </a:tc>
                <a:extLst>
                  <a:ext uri="{0D108BD9-81ED-4DB2-BD59-A6C34878D82A}">
                    <a16:rowId xmlns:a16="http://schemas.microsoft.com/office/drawing/2014/main" val="10002"/>
                  </a:ext>
                </a:extLst>
              </a:tr>
              <a:tr h="636499">
                <a:tc>
                  <a:txBody>
                    <a:bodyPr/>
                    <a:lstStyle/>
                    <a:p>
                      <a:pPr algn="l"/>
                      <a:r>
                        <a:rPr sz="1400"/>
                        <a:t>clinic7</a:t>
                      </a:r>
                    </a:p>
                  </a:txBody>
                  <a:tcPr anchor="ctr"/>
                </a:tc>
                <a:tc>
                  <a:txBody>
                    <a:bodyPr/>
                    <a:lstStyle/>
                    <a:p>
                      <a:r>
                        <a:rPr sz="1400"/>
                        <a:t>+0.0043</a:t>
                      </a:r>
                    </a:p>
                  </a:txBody>
                  <a:tcPr anchor="ctr"/>
                </a:tc>
                <a:tc>
                  <a:txBody>
                    <a:bodyPr/>
                    <a:lstStyle/>
                    <a:p>
                      <a:r>
                        <a:rPr sz="1400"/>
                        <a:t>0.320</a:t>
                      </a:r>
                    </a:p>
                  </a:txBody>
                  <a:tcPr anchor="ctr"/>
                </a:tc>
                <a:tc>
                  <a:txBody>
                    <a:bodyPr/>
                    <a:lstStyle/>
                    <a:p>
                      <a:r>
                        <a:rPr sz="1400"/>
                        <a:t>+0.0039</a:t>
                      </a:r>
                    </a:p>
                  </a:txBody>
                  <a:tcPr anchor="ctr"/>
                </a:tc>
                <a:tc>
                  <a:txBody>
                    <a:bodyPr/>
                    <a:lstStyle/>
                    <a:p>
                      <a:r>
                        <a:rPr sz="1400"/>
                        <a:t>0.287</a:t>
                      </a:r>
                    </a:p>
                  </a:txBody>
                  <a:tcPr anchor="ctr"/>
                </a:tc>
                <a:extLst>
                  <a:ext uri="{0D108BD9-81ED-4DB2-BD59-A6C34878D82A}">
                    <a16:rowId xmlns:a16="http://schemas.microsoft.com/office/drawing/2014/main" val="10003"/>
                  </a:ext>
                </a:extLst>
              </a:tr>
              <a:tr h="636499">
                <a:tc>
                  <a:txBody>
                    <a:bodyPr/>
                    <a:lstStyle/>
                    <a:p>
                      <a:pPr algn="l"/>
                      <a:r>
                        <a:rPr sz="1400"/>
                        <a:t>clinic6(VSR)</a:t>
                      </a:r>
                    </a:p>
                  </a:txBody>
                  <a:tcPr anchor="ctr"/>
                </a:tc>
                <a:tc>
                  <a:txBody>
                    <a:bodyPr/>
                    <a:lstStyle/>
                    <a:p>
                      <a:r>
                        <a:rPr sz="1400"/>
                        <a:t>+0.0044</a:t>
                      </a:r>
                    </a:p>
                  </a:txBody>
                  <a:tcPr anchor="ctr"/>
                </a:tc>
                <a:tc>
                  <a:txBody>
                    <a:bodyPr/>
                    <a:lstStyle/>
                    <a:p>
                      <a:r>
                        <a:rPr sz="1400"/>
                        <a:t>0.422</a:t>
                      </a:r>
                    </a:p>
                  </a:txBody>
                  <a:tcPr anchor="ctr"/>
                </a:tc>
                <a:tc>
                  <a:txBody>
                    <a:bodyPr/>
                    <a:lstStyle/>
                    <a:p>
                      <a:r>
                        <a:rPr sz="1400"/>
                        <a:t>+0.0021</a:t>
                      </a:r>
                    </a:p>
                  </a:txBody>
                  <a:tcPr anchor="ctr"/>
                </a:tc>
                <a:tc>
                  <a:txBody>
                    <a:bodyPr/>
                    <a:lstStyle/>
                    <a:p>
                      <a:r>
                        <a:rPr sz="1400"/>
                        <a:t>0.643</a:t>
                      </a:r>
                    </a:p>
                  </a:txBody>
                  <a:tcPr anchor="ctr"/>
                </a:tc>
                <a:extLst>
                  <a:ext uri="{0D108BD9-81ED-4DB2-BD59-A6C34878D82A}">
                    <a16:rowId xmlns:a16="http://schemas.microsoft.com/office/drawing/2014/main" val="10004"/>
                  </a:ext>
                </a:extLst>
              </a:tr>
              <a:tr h="636499">
                <a:tc>
                  <a:txBody>
                    <a:bodyPr/>
                    <a:lstStyle/>
                    <a:p>
                      <a:pPr algn="l"/>
                      <a:r>
                        <a:rPr sz="1400"/>
                        <a:t>clinic9(all)</a:t>
                      </a:r>
                    </a:p>
                  </a:txBody>
                  <a:tcPr anchor="ctr"/>
                </a:tc>
                <a:tc>
                  <a:txBody>
                    <a:bodyPr/>
                    <a:lstStyle/>
                    <a:p>
                      <a:r>
                        <a:rPr sz="1400"/>
                        <a:t>+0.0059</a:t>
                      </a:r>
                    </a:p>
                  </a:txBody>
                  <a:tcPr anchor="ctr"/>
                </a:tc>
                <a:tc>
                  <a:txBody>
                    <a:bodyPr/>
                    <a:lstStyle/>
                    <a:p>
                      <a:r>
                        <a:rPr sz="1400"/>
                        <a:t>0.291</a:t>
                      </a:r>
                    </a:p>
                  </a:txBody>
                  <a:tcPr anchor="ctr"/>
                </a:tc>
                <a:tc>
                  <a:txBody>
                    <a:bodyPr/>
                    <a:lstStyle/>
                    <a:p>
                      <a:r>
                        <a:rPr sz="1400"/>
                        <a:t>+0.0030</a:t>
                      </a:r>
                    </a:p>
                  </a:txBody>
                  <a:tcPr anchor="ctr"/>
                </a:tc>
                <a:tc>
                  <a:txBody>
                    <a:bodyPr/>
                    <a:lstStyle/>
                    <a:p>
                      <a:r>
                        <a:rPr sz="1400"/>
                        <a:t>0.466</a:t>
                      </a:r>
                    </a:p>
                  </a:txBody>
                  <a:tcPr anchor="ctr"/>
                </a:tc>
                <a:extLst>
                  <a:ext uri="{0D108BD9-81ED-4DB2-BD59-A6C34878D82A}">
                    <a16:rowId xmlns:a16="http://schemas.microsoft.com/office/drawing/2014/main" val="10005"/>
                  </a:ext>
                </a:extLst>
              </a:tr>
              <a:tr h="636504">
                <a:tc>
                  <a:txBody>
                    <a:bodyPr/>
                    <a:lstStyle/>
                    <a:p>
                      <a:pPr algn="l"/>
                      <a:r>
                        <a:rPr sz="1400"/>
                        <a:t>clinic8(all ratio)</a:t>
                      </a:r>
                    </a:p>
                  </a:txBody>
                  <a:tcPr anchor="ctr"/>
                </a:tc>
                <a:tc>
                  <a:txBody>
                    <a:bodyPr/>
                    <a:lstStyle/>
                    <a:p>
                      <a:r>
                        <a:rPr sz="1400"/>
                        <a:t>+0.0089</a:t>
                      </a:r>
                    </a:p>
                  </a:txBody>
                  <a:tcPr anchor="ctr"/>
                </a:tc>
                <a:tc>
                  <a:txBody>
                    <a:bodyPr/>
                    <a:lstStyle/>
                    <a:p>
                      <a:r>
                        <a:rPr sz="1400"/>
                        <a:t>0.196</a:t>
                      </a:r>
                    </a:p>
                  </a:txBody>
                  <a:tcPr anchor="ctr"/>
                </a:tc>
                <a:tc>
                  <a:txBody>
                    <a:bodyPr/>
                    <a:lstStyle/>
                    <a:p>
                      <a:r>
                        <a:rPr sz="1400"/>
                        <a:t>+0.0008</a:t>
                      </a:r>
                    </a:p>
                  </a:txBody>
                  <a:tcPr anchor="ctr"/>
                </a:tc>
                <a:tc>
                  <a:txBody>
                    <a:bodyPr/>
                    <a:lstStyle/>
                    <a:p>
                      <a:r>
                        <a:rPr sz="1400" dirty="0"/>
                        <a:t>0.880</a:t>
                      </a:r>
                    </a:p>
                  </a:txBody>
                  <a:tcPr anchor="ctr"/>
                </a:tc>
                <a:extLst>
                  <a:ext uri="{0D108BD9-81ED-4DB2-BD59-A6C34878D82A}">
                    <a16:rowId xmlns:a16="http://schemas.microsoft.com/office/drawing/2014/main" val="10006"/>
                  </a:ext>
                </a:extLst>
              </a:tr>
            </a:tbl>
          </a:graphicData>
        </a:graphic>
      </p:graphicFrame>
      <p:sp>
        <p:nvSpPr>
          <p:cNvPr id="4" name="TextBox 3"/>
          <p:cNvSpPr txBox="1"/>
          <p:nvPr/>
        </p:nvSpPr>
        <p:spPr>
          <a:xfrm>
            <a:off x="508000" y="5352966"/>
            <a:ext cx="8195513" cy="307777"/>
          </a:xfrm>
          <a:prstGeom prst="rect">
            <a:avLst/>
          </a:prstGeom>
          <a:noFill/>
        </p:spPr>
        <p:txBody>
          <a:bodyPr wrap="none">
            <a:spAutoFit/>
          </a:bodyPr>
          <a:lstStyle/>
          <a:p>
            <a:r>
              <a:rPr sz="1400"/>
              <a:t>* p&lt;0.05(개별 검정). Bonferroni 임계값 α=0.05/72≈0.0007 — 3건 모두 미달(다중비교 보정 미생존)</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결과 ⑧ HTN Odds Ratio — Baseline(clinic4)</a:t>
            </a:r>
          </a:p>
        </p:txBody>
      </p:sp>
      <p:sp>
        <p:nvSpPr>
          <p:cNvPr id="4" name="TextBox 3"/>
          <p:cNvSpPr txBox="1"/>
          <p:nvPr/>
        </p:nvSpPr>
        <p:spPr>
          <a:xfrm>
            <a:off x="508000" y="1133641"/>
            <a:ext cx="11065691" cy="1502527"/>
          </a:xfrm>
          <a:prstGeom prst="rect">
            <a:avLst/>
          </a:prstGeom>
          <a:noFill/>
        </p:spPr>
        <p:txBody>
          <a:bodyPr wrap="square">
            <a:spAutoFit/>
          </a:bodyPr>
          <a:lstStyle/>
          <a:p>
            <a:pPr marL="285750" indent="-285750">
              <a:lnSpc>
                <a:spcPct val="200000"/>
              </a:lnSpc>
              <a:buFont typeface="Arial" panose="020B0604020202020204" pitchFamily="34" charset="0"/>
              <a:buChar char="•"/>
            </a:pPr>
            <a:r>
              <a:rPr sz="1600" dirty="0">
                <a:latin typeface="KoPub돋움체 Bold" panose="00000800000000000000" pitchFamily="2" charset="-127"/>
                <a:ea typeface="KoPub돋움체 Bold" panose="00000800000000000000" pitchFamily="2" charset="-127"/>
              </a:rPr>
              <a:t>Age/Sex/Weight ↑ → HTN </a:t>
            </a:r>
            <a:r>
              <a:rPr sz="1600" dirty="0" err="1">
                <a:latin typeface="KoPub돋움체 Bold" panose="00000800000000000000" pitchFamily="2" charset="-127"/>
                <a:ea typeface="KoPub돋움체 Bold" panose="00000800000000000000" pitchFamily="2" charset="-127"/>
              </a:rPr>
              <a:t>위험</a:t>
            </a:r>
            <a:r>
              <a:rPr sz="1600" dirty="0">
                <a:latin typeface="KoPub돋움체 Bold" panose="00000800000000000000" pitchFamily="2" charset="-127"/>
                <a:ea typeface="KoPub돋움체 Bold" panose="00000800000000000000" pitchFamily="2" charset="-127"/>
              </a:rPr>
              <a:t> ↑(OR&gt;1), Height ↑ → </a:t>
            </a:r>
            <a:r>
              <a:rPr sz="1600" dirty="0" err="1">
                <a:latin typeface="KoPub돋움체 Bold" panose="00000800000000000000" pitchFamily="2" charset="-127"/>
                <a:ea typeface="KoPub돋움체 Bold" panose="00000800000000000000" pitchFamily="2" charset="-127"/>
              </a:rPr>
              <a:t>위험</a:t>
            </a:r>
            <a:r>
              <a:rPr sz="1600" dirty="0">
                <a:latin typeface="KoPub돋움체 Bold" panose="00000800000000000000" pitchFamily="2" charset="-127"/>
                <a:ea typeface="KoPub돋움체 Bold" panose="00000800000000000000" pitchFamily="2" charset="-127"/>
              </a:rPr>
              <a:t> ↓(OR&lt;1) — </a:t>
            </a:r>
            <a:r>
              <a:rPr sz="1600" dirty="0" err="1">
                <a:latin typeface="KoPub돋움체 Bold" panose="00000800000000000000" pitchFamily="2" charset="-127"/>
                <a:ea typeface="KoPub돋움체 Bold" panose="00000800000000000000" pitchFamily="2" charset="-127"/>
              </a:rPr>
              <a:t>임상적</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방향과</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일치</a:t>
            </a:r>
            <a:endParaRPr sz="1600" dirty="0">
              <a:latin typeface="KoPub돋움체 Bold" panose="00000800000000000000" pitchFamily="2" charset="-127"/>
              <a:ea typeface="KoPub돋움체 Bold" panose="00000800000000000000" pitchFamily="2" charset="-127"/>
            </a:endParaRPr>
          </a:p>
          <a:p>
            <a:pPr marL="285750" indent="-285750">
              <a:lnSpc>
                <a:spcPct val="200000"/>
              </a:lnSpc>
              <a:buFont typeface="Arial" panose="020B0604020202020204" pitchFamily="34" charset="0"/>
              <a:buChar char="•"/>
            </a:pPr>
            <a:r>
              <a:rPr sz="1600" dirty="0">
                <a:latin typeface="KoPub돋움체 Bold" panose="00000800000000000000" pitchFamily="2" charset="-127"/>
                <a:ea typeface="KoPub돋움체 Bold" panose="00000800000000000000" pitchFamily="2" charset="-127"/>
              </a:rPr>
              <a:t>AEC </a:t>
            </a:r>
            <a:r>
              <a:rPr sz="1600" dirty="0" err="1">
                <a:latin typeface="KoPub돋움체 Bold" panose="00000800000000000000" pitchFamily="2" charset="-127"/>
                <a:ea typeface="KoPub돋움체 Bold" panose="00000800000000000000" pitchFamily="2" charset="-127"/>
              </a:rPr>
              <a:t>추가</a:t>
            </a:r>
            <a:r>
              <a:rPr sz="1600" dirty="0">
                <a:latin typeface="KoPub돋움체 Bold" panose="00000800000000000000" pitchFamily="2" charset="-127"/>
                <a:ea typeface="KoPub돋움체 Bold" panose="00000800000000000000" pitchFamily="2" charset="-127"/>
              </a:rPr>
              <a:t>(FPCA/Upper-Lower ratio) 후 L1 </a:t>
            </a:r>
            <a:r>
              <a:rPr sz="1600" dirty="0" err="1">
                <a:latin typeface="KoPub돋움체 Bold" panose="00000800000000000000" pitchFamily="2" charset="-127"/>
                <a:ea typeface="KoPub돋움체 Bold" panose="00000800000000000000" pitchFamily="2" charset="-127"/>
              </a:rPr>
              <a:t>정규화로</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일부</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계수가</a:t>
            </a:r>
            <a:r>
              <a:rPr sz="1600" dirty="0">
                <a:latin typeface="KoPub돋움체 Bold" panose="00000800000000000000" pitchFamily="2" charset="-127"/>
                <a:ea typeface="KoPub돋움체 Bold" panose="00000800000000000000" pitchFamily="2" charset="-127"/>
              </a:rPr>
              <a:t> 0으로 </a:t>
            </a:r>
            <a:r>
              <a:rPr sz="1600" dirty="0" err="1">
                <a:latin typeface="KoPub돋움체 Bold" panose="00000800000000000000" pitchFamily="2" charset="-127"/>
                <a:ea typeface="KoPub돋움체 Bold" panose="00000800000000000000" pitchFamily="2" charset="-127"/>
              </a:rPr>
              <a:t>축소</a:t>
            </a:r>
            <a:r>
              <a:rPr sz="1600" dirty="0">
                <a:latin typeface="KoPub돋움체 Bold" panose="00000800000000000000" pitchFamily="2" charset="-127"/>
                <a:ea typeface="KoPub돋움체 Bold" panose="00000800000000000000" pitchFamily="2" charset="-127"/>
              </a:rPr>
              <a:t>(Up/Low ratio </a:t>
            </a:r>
            <a:r>
              <a:rPr sz="1600" dirty="0" err="1">
                <a:latin typeface="KoPub돋움체 Bold" panose="00000800000000000000" pitchFamily="2" charset="-127"/>
                <a:ea typeface="KoPub돋움체 Bold" panose="00000800000000000000" pitchFamily="2" charset="-127"/>
              </a:rPr>
              <a:t>모델</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sex_M·height</a:t>
            </a:r>
            <a:r>
              <a:rPr sz="1600" dirty="0">
                <a:latin typeface="KoPub돋움체 Bold" panose="00000800000000000000" pitchFamily="2" charset="-127"/>
                <a:ea typeface="KoPub돋움체 Bold" panose="00000800000000000000" pitchFamily="2" charset="-127"/>
              </a:rPr>
              <a:t>, FPCA </a:t>
            </a:r>
            <a:r>
              <a:rPr sz="1600" dirty="0" err="1">
                <a:latin typeface="KoPub돋움체 Bold" panose="00000800000000000000" pitchFamily="2" charset="-127"/>
                <a:ea typeface="KoPub돋움체 Bold" panose="00000800000000000000" pitchFamily="2" charset="-127"/>
              </a:rPr>
              <a:t>모델</a:t>
            </a:r>
            <a:r>
              <a:rPr sz="1600" dirty="0">
                <a:latin typeface="KoPub돋움체 Bold" panose="00000800000000000000" pitchFamily="2" charset="-127"/>
                <a:ea typeface="KoPub돋움체 Bold" panose="00000800000000000000" pitchFamily="2" charset="-127"/>
              </a:rPr>
              <a:t>: height·PC3) — </a:t>
            </a:r>
            <a:r>
              <a:rPr sz="1600" dirty="0" err="1">
                <a:latin typeface="KoPub돋움체 Bold" panose="00000800000000000000" pitchFamily="2" charset="-127"/>
                <a:ea typeface="KoPub돋움체 Bold" panose="00000800000000000000" pitchFamily="2" charset="-127"/>
              </a:rPr>
              <a:t>나머지</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변수는</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방향</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유지</a:t>
            </a:r>
            <a:endParaRPr sz="1600" dirty="0">
              <a:latin typeface="KoPub돋움체 Bold" panose="00000800000000000000" pitchFamily="2" charset="-127"/>
              <a:ea typeface="KoPub돋움체 Bold" panose="00000800000000000000" pitchFamily="2" charset="-127"/>
            </a:endParaRPr>
          </a:p>
        </p:txBody>
      </p:sp>
      <p:pic>
        <p:nvPicPr>
          <p:cNvPr id="5" name="Picture 4" descr="htn_or_forest.png"/>
          <p:cNvPicPr>
            <a:picLocks noChangeAspect="1"/>
          </p:cNvPicPr>
          <p:nvPr/>
        </p:nvPicPr>
        <p:blipFill>
          <a:blip r:embed="rId3"/>
          <a:stretch>
            <a:fillRect/>
          </a:stretch>
        </p:blipFill>
        <p:spPr>
          <a:xfrm>
            <a:off x="508000" y="2799803"/>
            <a:ext cx="11176000" cy="31220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결과 ⑨ HTN Odds Ratio — AEC 항 요약 (internal full-fit)</a:t>
            </a:r>
          </a:p>
        </p:txBody>
      </p:sp>
      <p:graphicFrame>
        <p:nvGraphicFramePr>
          <p:cNvPr id="3" name="Table 2"/>
          <p:cNvGraphicFramePr>
            <a:graphicFrameLocks noGrp="1"/>
          </p:cNvGraphicFramePr>
          <p:nvPr>
            <p:extLst>
              <p:ext uri="{D42A27DB-BD31-4B8C-83A1-F6EECF244321}">
                <p14:modId xmlns:p14="http://schemas.microsoft.com/office/powerpoint/2010/main" val="3760832508"/>
              </p:ext>
            </p:extLst>
          </p:nvPr>
        </p:nvGraphicFramePr>
        <p:xfrm>
          <a:off x="508000" y="897468"/>
          <a:ext cx="11175997" cy="4455498"/>
        </p:xfrm>
        <a:graphic>
          <a:graphicData uri="http://schemas.openxmlformats.org/drawingml/2006/table">
            <a:tbl>
              <a:tblPr firstRow="1" bandRow="1">
                <a:tableStyleId>{C083E6E3-FA7D-4D7B-A595-EF9225AFEA82}</a:tableStyleId>
              </a:tblPr>
              <a:tblGrid>
                <a:gridCol w="2736979">
                  <a:extLst>
                    <a:ext uri="{9D8B030D-6E8A-4147-A177-3AD203B41FA5}">
                      <a16:colId xmlns:a16="http://schemas.microsoft.com/office/drawing/2014/main" val="20000"/>
                    </a:ext>
                  </a:extLst>
                </a:gridCol>
                <a:gridCol w="2280816">
                  <a:extLst>
                    <a:ext uri="{9D8B030D-6E8A-4147-A177-3AD203B41FA5}">
                      <a16:colId xmlns:a16="http://schemas.microsoft.com/office/drawing/2014/main" val="20001"/>
                    </a:ext>
                  </a:extLst>
                </a:gridCol>
                <a:gridCol w="2052734">
                  <a:extLst>
                    <a:ext uri="{9D8B030D-6E8A-4147-A177-3AD203B41FA5}">
                      <a16:colId xmlns:a16="http://schemas.microsoft.com/office/drawing/2014/main" val="20002"/>
                    </a:ext>
                  </a:extLst>
                </a:gridCol>
                <a:gridCol w="2052734">
                  <a:extLst>
                    <a:ext uri="{9D8B030D-6E8A-4147-A177-3AD203B41FA5}">
                      <a16:colId xmlns:a16="http://schemas.microsoft.com/office/drawing/2014/main" val="20003"/>
                    </a:ext>
                  </a:extLst>
                </a:gridCol>
                <a:gridCol w="2052734">
                  <a:extLst>
                    <a:ext uri="{9D8B030D-6E8A-4147-A177-3AD203B41FA5}">
                      <a16:colId xmlns:a16="http://schemas.microsoft.com/office/drawing/2014/main" val="20004"/>
                    </a:ext>
                  </a:extLst>
                </a:gridCol>
              </a:tblGrid>
              <a:tr h="636499">
                <a:tc>
                  <a:txBody>
                    <a:bodyPr/>
                    <a:lstStyle/>
                    <a:p>
                      <a:pPr algn="ctr"/>
                      <a:r>
                        <a:rPr sz="1400" b="1"/>
                        <a:t>Baseline</a:t>
                      </a:r>
                    </a:p>
                  </a:txBody>
                  <a:tcPr anchor="ctr"/>
                </a:tc>
                <a:tc>
                  <a:txBody>
                    <a:bodyPr/>
                    <a:lstStyle/>
                    <a:p>
                      <a:pPr algn="ctr"/>
                      <a:r>
                        <a:rPr sz="1400" b="1" dirty="0"/>
                        <a:t>OR(Up/Low ratio)</a:t>
                      </a:r>
                    </a:p>
                  </a:txBody>
                  <a:tcPr anchor="ctr"/>
                </a:tc>
                <a:tc>
                  <a:txBody>
                    <a:bodyPr/>
                    <a:lstStyle/>
                    <a:p>
                      <a:pPr algn="ctr"/>
                      <a:r>
                        <a:rPr sz="1400" b="1"/>
                        <a:t>OR(FPCA PC1)</a:t>
                      </a:r>
                    </a:p>
                  </a:txBody>
                  <a:tcPr anchor="ctr"/>
                </a:tc>
                <a:tc>
                  <a:txBody>
                    <a:bodyPr/>
                    <a:lstStyle/>
                    <a:p>
                      <a:pPr algn="ctr"/>
                      <a:r>
                        <a:rPr sz="1400" b="1"/>
                        <a:t>OR(FPCA PC2)</a:t>
                      </a:r>
                    </a:p>
                  </a:txBody>
                  <a:tcPr anchor="ctr"/>
                </a:tc>
                <a:tc>
                  <a:txBody>
                    <a:bodyPr/>
                    <a:lstStyle/>
                    <a:p>
                      <a:pPr algn="ctr"/>
                      <a:r>
                        <a:rPr sz="1400" b="1"/>
                        <a:t>OR(FPCA PC3)</a:t>
                      </a:r>
                    </a:p>
                  </a:txBody>
                  <a:tcPr anchor="ctr"/>
                </a:tc>
                <a:extLst>
                  <a:ext uri="{0D108BD9-81ED-4DB2-BD59-A6C34878D82A}">
                    <a16:rowId xmlns:a16="http://schemas.microsoft.com/office/drawing/2014/main" val="10000"/>
                  </a:ext>
                </a:extLst>
              </a:tr>
              <a:tr h="636499">
                <a:tc>
                  <a:txBody>
                    <a:bodyPr/>
                    <a:lstStyle/>
                    <a:p>
                      <a:pPr algn="l"/>
                      <a:r>
                        <a:rPr sz="1400"/>
                        <a:t>clinic4</a:t>
                      </a:r>
                    </a:p>
                  </a:txBody>
                  <a:tcPr anchor="ctr"/>
                </a:tc>
                <a:tc>
                  <a:txBody>
                    <a:bodyPr/>
                    <a:lstStyle/>
                    <a:p>
                      <a:r>
                        <a:rPr sz="1400"/>
                        <a:t>1.608</a:t>
                      </a:r>
                    </a:p>
                  </a:txBody>
                  <a:tcPr anchor="ctr"/>
                </a:tc>
                <a:tc>
                  <a:txBody>
                    <a:bodyPr/>
                    <a:lstStyle/>
                    <a:p>
                      <a:r>
                        <a:rPr sz="1400"/>
                        <a:t>1.349</a:t>
                      </a:r>
                    </a:p>
                  </a:txBody>
                  <a:tcPr anchor="ctr"/>
                </a:tc>
                <a:tc>
                  <a:txBody>
                    <a:bodyPr/>
                    <a:lstStyle/>
                    <a:p>
                      <a:r>
                        <a:rPr sz="1400"/>
                        <a:t>0.621</a:t>
                      </a:r>
                    </a:p>
                  </a:txBody>
                  <a:tcPr anchor="ctr"/>
                </a:tc>
                <a:tc>
                  <a:txBody>
                    <a:bodyPr/>
                    <a:lstStyle/>
                    <a:p>
                      <a:r>
                        <a:rPr sz="1400"/>
                        <a:t>1.000</a:t>
                      </a:r>
                    </a:p>
                  </a:txBody>
                  <a:tcPr anchor="ctr"/>
                </a:tc>
                <a:extLst>
                  <a:ext uri="{0D108BD9-81ED-4DB2-BD59-A6C34878D82A}">
                    <a16:rowId xmlns:a16="http://schemas.microsoft.com/office/drawing/2014/main" val="10001"/>
                  </a:ext>
                </a:extLst>
              </a:tr>
              <a:tr h="636499">
                <a:tc>
                  <a:txBody>
                    <a:bodyPr/>
                    <a:lstStyle/>
                    <a:p>
                      <a:pPr algn="l"/>
                      <a:r>
                        <a:rPr sz="1400"/>
                        <a:t>clinic6(scanner)</a:t>
                      </a:r>
                    </a:p>
                  </a:txBody>
                  <a:tcPr anchor="ctr"/>
                </a:tc>
                <a:tc>
                  <a:txBody>
                    <a:bodyPr/>
                    <a:lstStyle/>
                    <a:p>
                      <a:r>
                        <a:rPr sz="1400"/>
                        <a:t>1.615</a:t>
                      </a:r>
                    </a:p>
                  </a:txBody>
                  <a:tcPr anchor="ctr"/>
                </a:tc>
                <a:tc>
                  <a:txBody>
                    <a:bodyPr/>
                    <a:lstStyle/>
                    <a:p>
                      <a:r>
                        <a:rPr sz="1400"/>
                        <a:t>1.349</a:t>
                      </a:r>
                    </a:p>
                  </a:txBody>
                  <a:tcPr anchor="ctr"/>
                </a:tc>
                <a:tc>
                  <a:txBody>
                    <a:bodyPr/>
                    <a:lstStyle/>
                    <a:p>
                      <a:r>
                        <a:rPr sz="1400"/>
                        <a:t>0.621</a:t>
                      </a:r>
                    </a:p>
                  </a:txBody>
                  <a:tcPr anchor="ctr"/>
                </a:tc>
                <a:tc>
                  <a:txBody>
                    <a:bodyPr/>
                    <a:lstStyle/>
                    <a:p>
                      <a:r>
                        <a:rPr sz="1400"/>
                        <a:t>1.000</a:t>
                      </a:r>
                    </a:p>
                  </a:txBody>
                  <a:tcPr anchor="ctr"/>
                </a:tc>
                <a:extLst>
                  <a:ext uri="{0D108BD9-81ED-4DB2-BD59-A6C34878D82A}">
                    <a16:rowId xmlns:a16="http://schemas.microsoft.com/office/drawing/2014/main" val="10002"/>
                  </a:ext>
                </a:extLst>
              </a:tr>
              <a:tr h="636499">
                <a:tc>
                  <a:txBody>
                    <a:bodyPr/>
                    <a:lstStyle/>
                    <a:p>
                      <a:pPr algn="l"/>
                      <a:r>
                        <a:rPr sz="1400"/>
                        <a:t>clinic7</a:t>
                      </a:r>
                    </a:p>
                  </a:txBody>
                  <a:tcPr anchor="ctr"/>
                </a:tc>
                <a:tc>
                  <a:txBody>
                    <a:bodyPr/>
                    <a:lstStyle/>
                    <a:p>
                      <a:r>
                        <a:rPr sz="1400"/>
                        <a:t>1.393</a:t>
                      </a:r>
                    </a:p>
                  </a:txBody>
                  <a:tcPr anchor="ctr"/>
                </a:tc>
                <a:tc>
                  <a:txBody>
                    <a:bodyPr/>
                    <a:lstStyle/>
                    <a:p>
                      <a:r>
                        <a:rPr sz="1400"/>
                        <a:t>1.370</a:t>
                      </a:r>
                    </a:p>
                  </a:txBody>
                  <a:tcPr anchor="ctr"/>
                </a:tc>
                <a:tc>
                  <a:txBody>
                    <a:bodyPr/>
                    <a:lstStyle/>
                    <a:p>
                      <a:r>
                        <a:rPr sz="1400"/>
                        <a:t>0.707</a:t>
                      </a:r>
                    </a:p>
                  </a:txBody>
                  <a:tcPr anchor="ctr"/>
                </a:tc>
                <a:tc>
                  <a:txBody>
                    <a:bodyPr/>
                    <a:lstStyle/>
                    <a:p>
                      <a:r>
                        <a:rPr sz="1400"/>
                        <a:t>0.936</a:t>
                      </a:r>
                    </a:p>
                  </a:txBody>
                  <a:tcPr anchor="ctr"/>
                </a:tc>
                <a:extLst>
                  <a:ext uri="{0D108BD9-81ED-4DB2-BD59-A6C34878D82A}">
                    <a16:rowId xmlns:a16="http://schemas.microsoft.com/office/drawing/2014/main" val="10003"/>
                  </a:ext>
                </a:extLst>
              </a:tr>
              <a:tr h="636499">
                <a:tc>
                  <a:txBody>
                    <a:bodyPr/>
                    <a:lstStyle/>
                    <a:p>
                      <a:pPr algn="l"/>
                      <a:r>
                        <a:rPr sz="1400"/>
                        <a:t>clinic6(VSR)</a:t>
                      </a:r>
                    </a:p>
                  </a:txBody>
                  <a:tcPr anchor="ctr"/>
                </a:tc>
                <a:tc>
                  <a:txBody>
                    <a:bodyPr/>
                    <a:lstStyle/>
                    <a:p>
                      <a:r>
                        <a:rPr sz="1400"/>
                        <a:t>1.477</a:t>
                      </a:r>
                    </a:p>
                  </a:txBody>
                  <a:tcPr anchor="ctr"/>
                </a:tc>
                <a:tc>
                  <a:txBody>
                    <a:bodyPr/>
                    <a:lstStyle/>
                    <a:p>
                      <a:r>
                        <a:rPr sz="1400"/>
                        <a:t>1.470</a:t>
                      </a:r>
                    </a:p>
                  </a:txBody>
                  <a:tcPr anchor="ctr"/>
                </a:tc>
                <a:tc>
                  <a:txBody>
                    <a:bodyPr/>
                    <a:lstStyle/>
                    <a:p>
                      <a:r>
                        <a:rPr sz="1400"/>
                        <a:t>0.665</a:t>
                      </a:r>
                    </a:p>
                  </a:txBody>
                  <a:tcPr anchor="ctr"/>
                </a:tc>
                <a:tc>
                  <a:txBody>
                    <a:bodyPr/>
                    <a:lstStyle/>
                    <a:p>
                      <a:r>
                        <a:rPr sz="1400"/>
                        <a:t>1.014</a:t>
                      </a:r>
                    </a:p>
                  </a:txBody>
                  <a:tcPr anchor="ctr"/>
                </a:tc>
                <a:extLst>
                  <a:ext uri="{0D108BD9-81ED-4DB2-BD59-A6C34878D82A}">
                    <a16:rowId xmlns:a16="http://schemas.microsoft.com/office/drawing/2014/main" val="10004"/>
                  </a:ext>
                </a:extLst>
              </a:tr>
              <a:tr h="636499">
                <a:tc>
                  <a:txBody>
                    <a:bodyPr/>
                    <a:lstStyle/>
                    <a:p>
                      <a:pPr algn="l"/>
                      <a:r>
                        <a:rPr sz="1400"/>
                        <a:t>clinic9(all)</a:t>
                      </a:r>
                    </a:p>
                  </a:txBody>
                  <a:tcPr anchor="ctr"/>
                </a:tc>
                <a:tc>
                  <a:txBody>
                    <a:bodyPr/>
                    <a:lstStyle/>
                    <a:p>
                      <a:r>
                        <a:rPr sz="1400"/>
                        <a:t>1.427</a:t>
                      </a:r>
                    </a:p>
                  </a:txBody>
                  <a:tcPr anchor="ctr"/>
                </a:tc>
                <a:tc>
                  <a:txBody>
                    <a:bodyPr/>
                    <a:lstStyle/>
                    <a:p>
                      <a:r>
                        <a:rPr sz="1400"/>
                        <a:t>1.407</a:t>
                      </a:r>
                    </a:p>
                  </a:txBody>
                  <a:tcPr anchor="ctr"/>
                </a:tc>
                <a:tc>
                  <a:txBody>
                    <a:bodyPr/>
                    <a:lstStyle/>
                    <a:p>
                      <a:r>
                        <a:rPr sz="1400"/>
                        <a:t>0.681</a:t>
                      </a:r>
                    </a:p>
                  </a:txBody>
                  <a:tcPr anchor="ctr"/>
                </a:tc>
                <a:tc>
                  <a:txBody>
                    <a:bodyPr/>
                    <a:lstStyle/>
                    <a:p>
                      <a:r>
                        <a:rPr sz="1400"/>
                        <a:t>0.938</a:t>
                      </a:r>
                    </a:p>
                  </a:txBody>
                  <a:tcPr anchor="ctr"/>
                </a:tc>
                <a:extLst>
                  <a:ext uri="{0D108BD9-81ED-4DB2-BD59-A6C34878D82A}">
                    <a16:rowId xmlns:a16="http://schemas.microsoft.com/office/drawing/2014/main" val="10005"/>
                  </a:ext>
                </a:extLst>
              </a:tr>
              <a:tr h="636504">
                <a:tc>
                  <a:txBody>
                    <a:bodyPr/>
                    <a:lstStyle/>
                    <a:p>
                      <a:pPr algn="l"/>
                      <a:r>
                        <a:rPr sz="1400"/>
                        <a:t>clinic8(all ratio)</a:t>
                      </a:r>
                    </a:p>
                  </a:txBody>
                  <a:tcPr anchor="ctr"/>
                </a:tc>
                <a:tc>
                  <a:txBody>
                    <a:bodyPr/>
                    <a:lstStyle/>
                    <a:p>
                      <a:r>
                        <a:rPr sz="1400"/>
                        <a:t>1.572</a:t>
                      </a:r>
                    </a:p>
                  </a:txBody>
                  <a:tcPr anchor="ctr"/>
                </a:tc>
                <a:tc>
                  <a:txBody>
                    <a:bodyPr/>
                    <a:lstStyle/>
                    <a:p>
                      <a:r>
                        <a:rPr sz="1400"/>
                        <a:t>1.476</a:t>
                      </a:r>
                    </a:p>
                  </a:txBody>
                  <a:tcPr anchor="ctr"/>
                </a:tc>
                <a:tc>
                  <a:txBody>
                    <a:bodyPr/>
                    <a:lstStyle/>
                    <a:p>
                      <a:r>
                        <a:rPr sz="1400"/>
                        <a:t>0.631</a:t>
                      </a:r>
                    </a:p>
                  </a:txBody>
                  <a:tcPr anchor="ctr"/>
                </a:tc>
                <a:tc>
                  <a:txBody>
                    <a:bodyPr/>
                    <a:lstStyle/>
                    <a:p>
                      <a:r>
                        <a:rPr sz="1400" dirty="0"/>
                        <a:t>1.002</a:t>
                      </a:r>
                    </a:p>
                  </a:txBody>
                  <a:tcPr anchor="ctr"/>
                </a:tc>
                <a:extLst>
                  <a:ext uri="{0D108BD9-81ED-4DB2-BD59-A6C34878D82A}">
                    <a16:rowId xmlns:a16="http://schemas.microsoft.com/office/drawing/2014/main" val="10006"/>
                  </a:ext>
                </a:extLst>
              </a:tr>
            </a:tbl>
          </a:graphicData>
        </a:graphic>
      </p:graphicFrame>
      <p:sp>
        <p:nvSpPr>
          <p:cNvPr id="4" name="TextBox 3"/>
          <p:cNvSpPr txBox="1"/>
          <p:nvPr/>
        </p:nvSpPr>
        <p:spPr>
          <a:xfrm>
            <a:off x="508000" y="5352966"/>
            <a:ext cx="11176000" cy="411480"/>
          </a:xfrm>
          <a:prstGeom prst="rect">
            <a:avLst/>
          </a:prstGeom>
          <a:noFill/>
        </p:spPr>
        <p:txBody>
          <a:bodyPr wrap="none">
            <a:spAutoFit/>
          </a:bodyPr>
          <a:lstStyle/>
          <a:p>
            <a:r>
              <a:rPr sz="1100" i="1"/>
              <a:t>OR&gt;1: 위험 증가 방향, OR&lt;1: 보호적 방향 (패널화(L1/ElasticNet) 계수라 CI는 미산출)</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2A42-ED56-FD2C-9182-4E40CE11854C}"/>
              </a:ext>
            </a:extLst>
          </p:cNvPr>
          <p:cNvSpPr>
            <a:spLocks noGrp="1"/>
          </p:cNvSpPr>
          <p:nvPr>
            <p:ph type="title"/>
          </p:nvPr>
        </p:nvSpPr>
        <p:spPr/>
        <p:txBody>
          <a:bodyPr/>
          <a:lstStyle/>
          <a:p>
            <a:r>
              <a:t>결과 ⑩ CKD AUC — Baseline vs AEC 추가</a:t>
            </a:r>
          </a:p>
        </p:txBody>
      </p:sp>
      <p:graphicFrame>
        <p:nvGraphicFramePr>
          <p:cNvPr id="6" name="Table 2">
            <a:extLst>
              <a:ext uri="{FF2B5EF4-FFF2-40B4-BE49-F238E27FC236}">
                <a16:creationId xmlns:a16="http://schemas.microsoft.com/office/drawing/2014/main" id="{E510CECF-189E-7B95-A7D1-8CF39243907A}"/>
              </a:ext>
            </a:extLst>
          </p:cNvPr>
          <p:cNvGraphicFramePr>
            <a:graphicFrameLocks noGrp="1"/>
          </p:cNvGraphicFramePr>
          <p:nvPr>
            <p:extLst>
              <p:ext uri="{D42A27DB-BD31-4B8C-83A1-F6EECF244321}">
                <p14:modId xmlns:p14="http://schemas.microsoft.com/office/powerpoint/2010/main" val="215816110"/>
              </p:ext>
            </p:extLst>
          </p:nvPr>
        </p:nvGraphicFramePr>
        <p:xfrm>
          <a:off x="508000" y="1407613"/>
          <a:ext cx="5181598" cy="4351338"/>
        </p:xfrm>
        <a:graphic>
          <a:graphicData uri="http://schemas.openxmlformats.org/drawingml/2006/table">
            <a:tbl>
              <a:tblPr firstRow="1" bandRow="1">
                <a:tableStyleId>{C083E6E3-FA7D-4D7B-A595-EF9225AFEA82}</a:tableStyleId>
              </a:tblPr>
              <a:tblGrid>
                <a:gridCol w="1615044">
                  <a:extLst>
                    <a:ext uri="{9D8B030D-6E8A-4147-A177-3AD203B41FA5}">
                      <a16:colId xmlns:a16="http://schemas.microsoft.com/office/drawing/2014/main" val="20000"/>
                    </a:ext>
                  </a:extLst>
                </a:gridCol>
                <a:gridCol w="1143989">
                  <a:extLst>
                    <a:ext uri="{9D8B030D-6E8A-4147-A177-3AD203B41FA5}">
                      <a16:colId xmlns:a16="http://schemas.microsoft.com/office/drawing/2014/main" val="20001"/>
                    </a:ext>
                  </a:extLst>
                </a:gridCol>
                <a:gridCol w="1143989">
                  <a:extLst>
                    <a:ext uri="{9D8B030D-6E8A-4147-A177-3AD203B41FA5}">
                      <a16:colId xmlns:a16="http://schemas.microsoft.com/office/drawing/2014/main" val="20002"/>
                    </a:ext>
                  </a:extLst>
                </a:gridCol>
                <a:gridCol w="1278576">
                  <a:extLst>
                    <a:ext uri="{9D8B030D-6E8A-4147-A177-3AD203B41FA5}">
                      <a16:colId xmlns:a16="http://schemas.microsoft.com/office/drawing/2014/main" val="20003"/>
                    </a:ext>
                  </a:extLst>
                </a:gridCol>
              </a:tblGrid>
              <a:tr h="621619">
                <a:tc>
                  <a:txBody>
                    <a:bodyPr/>
                    <a:lstStyle/>
                    <a:p>
                      <a:pPr algn="ctr"/>
                      <a:r>
                        <a:rPr sz="1100" b="1"/>
                        <a:t>Baseline</a:t>
                      </a:r>
                    </a:p>
                  </a:txBody>
                  <a:tcPr anchor="ctr"/>
                </a:tc>
                <a:tc>
                  <a:txBody>
                    <a:bodyPr/>
                    <a:lstStyle/>
                    <a:p>
                      <a:pPr algn="ctr"/>
                      <a:r>
                        <a:rPr sz="1100" b="1"/>
                        <a:t>Baseline</a:t>
                      </a:r>
                    </a:p>
                    <a:p>
                      <a:pPr algn="ctr"/>
                      <a:r>
                        <a:rPr sz="1100" b="1"/>
                        <a:t>(int/ext)</a:t>
                      </a:r>
                    </a:p>
                  </a:txBody>
                  <a:tcPr anchor="ctr"/>
                </a:tc>
                <a:tc>
                  <a:txBody>
                    <a:bodyPr/>
                    <a:lstStyle/>
                    <a:p>
                      <a:pPr algn="ctr"/>
                      <a:r>
                        <a:rPr sz="1100" b="1"/>
                        <a:t>+FPCA(3)</a:t>
                      </a:r>
                    </a:p>
                    <a:p>
                      <a:pPr algn="ctr"/>
                      <a:r>
                        <a:rPr sz="1100" b="1"/>
                        <a:t>(int/ext)</a:t>
                      </a:r>
                    </a:p>
                  </a:txBody>
                  <a:tcPr anchor="ctr"/>
                </a:tc>
                <a:tc>
                  <a:txBody>
                    <a:bodyPr/>
                    <a:lstStyle/>
                    <a:p>
                      <a:pPr algn="ctr"/>
                      <a:r>
                        <a:rPr sz="1100" b="1"/>
                        <a:t>+Up/Low ratio</a:t>
                      </a:r>
                    </a:p>
                    <a:p>
                      <a:pPr algn="ctr"/>
                      <a:r>
                        <a:rPr sz="1100" b="1"/>
                        <a:t>(int/ext)</a:t>
                      </a:r>
                    </a:p>
                  </a:txBody>
                  <a:tcPr anchor="ctr"/>
                </a:tc>
                <a:extLst>
                  <a:ext uri="{0D108BD9-81ED-4DB2-BD59-A6C34878D82A}">
                    <a16:rowId xmlns:a16="http://schemas.microsoft.com/office/drawing/2014/main" val="10000"/>
                  </a:ext>
                </a:extLst>
              </a:tr>
              <a:tr h="621619">
                <a:tc>
                  <a:txBody>
                    <a:bodyPr/>
                    <a:lstStyle/>
                    <a:p>
                      <a:pPr algn="l"/>
                      <a:r>
                        <a:rPr sz="1100" dirty="0"/>
                        <a:t>clinic4</a:t>
                      </a:r>
                    </a:p>
                  </a:txBody>
                  <a:tcPr anchor="ctr"/>
                </a:tc>
                <a:tc>
                  <a:txBody>
                    <a:bodyPr/>
                    <a:lstStyle/>
                    <a:p>
                      <a:r>
                        <a:rPr sz="1100" dirty="0"/>
                        <a:t>0.768/0.616</a:t>
                      </a:r>
                    </a:p>
                  </a:txBody>
                  <a:tcPr anchor="ctr"/>
                </a:tc>
                <a:tc>
                  <a:txBody>
                    <a:bodyPr/>
                    <a:lstStyle/>
                    <a:p>
                      <a:r>
                        <a:rPr sz="1100"/>
                        <a:t>0.772/0.629</a:t>
                      </a:r>
                    </a:p>
                  </a:txBody>
                  <a:tcPr anchor="ctr"/>
                </a:tc>
                <a:tc>
                  <a:txBody>
                    <a:bodyPr/>
                    <a:lstStyle/>
                    <a:p>
                      <a:r>
                        <a:rPr sz="1100"/>
                        <a:t>0.772/0.633</a:t>
                      </a:r>
                    </a:p>
                  </a:txBody>
                  <a:tcPr anchor="ctr"/>
                </a:tc>
                <a:extLst>
                  <a:ext uri="{0D108BD9-81ED-4DB2-BD59-A6C34878D82A}">
                    <a16:rowId xmlns:a16="http://schemas.microsoft.com/office/drawing/2014/main" val="10001"/>
                  </a:ext>
                </a:extLst>
              </a:tr>
              <a:tr h="621619">
                <a:tc>
                  <a:txBody>
                    <a:bodyPr/>
                    <a:lstStyle/>
                    <a:p>
                      <a:pPr algn="l"/>
                      <a:r>
                        <a:rPr sz="1100"/>
                        <a:t>clinic6(scanner)</a:t>
                      </a:r>
                    </a:p>
                  </a:txBody>
                  <a:tcPr anchor="ctr"/>
                </a:tc>
                <a:tc>
                  <a:txBody>
                    <a:bodyPr/>
                    <a:lstStyle/>
                    <a:p>
                      <a:r>
                        <a:rPr sz="1100"/>
                        <a:t>0.772/0.614</a:t>
                      </a:r>
                    </a:p>
                  </a:txBody>
                  <a:tcPr anchor="ctr"/>
                </a:tc>
                <a:tc>
                  <a:txBody>
                    <a:bodyPr/>
                    <a:lstStyle/>
                    <a:p>
                      <a:r>
                        <a:rPr sz="1100"/>
                        <a:t>0.772/0.623</a:t>
                      </a:r>
                    </a:p>
                  </a:txBody>
                  <a:tcPr anchor="ctr"/>
                </a:tc>
                <a:tc>
                  <a:txBody>
                    <a:bodyPr/>
                    <a:lstStyle/>
                    <a:p>
                      <a:r>
                        <a:rPr sz="1100"/>
                        <a:t>0.774/0.629</a:t>
                      </a:r>
                    </a:p>
                  </a:txBody>
                  <a:tcPr anchor="ctr"/>
                </a:tc>
                <a:extLst>
                  <a:ext uri="{0D108BD9-81ED-4DB2-BD59-A6C34878D82A}">
                    <a16:rowId xmlns:a16="http://schemas.microsoft.com/office/drawing/2014/main" val="10002"/>
                  </a:ext>
                </a:extLst>
              </a:tr>
              <a:tr h="621619">
                <a:tc>
                  <a:txBody>
                    <a:bodyPr/>
                    <a:lstStyle/>
                    <a:p>
                      <a:pPr algn="l"/>
                      <a:r>
                        <a:rPr sz="1100"/>
                        <a:t>clinic7</a:t>
                      </a:r>
                    </a:p>
                  </a:txBody>
                  <a:tcPr anchor="ctr"/>
                </a:tc>
                <a:tc>
                  <a:txBody>
                    <a:bodyPr/>
                    <a:lstStyle/>
                    <a:p>
                      <a:r>
                        <a:rPr sz="1100"/>
                        <a:t>0.784/0.625</a:t>
                      </a:r>
                    </a:p>
                  </a:txBody>
                  <a:tcPr anchor="ctr"/>
                </a:tc>
                <a:tc>
                  <a:txBody>
                    <a:bodyPr/>
                    <a:lstStyle/>
                    <a:p>
                      <a:r>
                        <a:rPr sz="1100"/>
                        <a:t>0.786/0.633</a:t>
                      </a:r>
                    </a:p>
                  </a:txBody>
                  <a:tcPr anchor="ctr"/>
                </a:tc>
                <a:tc>
                  <a:txBody>
                    <a:bodyPr/>
                    <a:lstStyle/>
                    <a:p>
                      <a:r>
                        <a:rPr sz="1100"/>
                        <a:t>0.789/0.646</a:t>
                      </a:r>
                    </a:p>
                  </a:txBody>
                  <a:tcPr anchor="ctr"/>
                </a:tc>
                <a:extLst>
                  <a:ext uri="{0D108BD9-81ED-4DB2-BD59-A6C34878D82A}">
                    <a16:rowId xmlns:a16="http://schemas.microsoft.com/office/drawing/2014/main" val="10003"/>
                  </a:ext>
                </a:extLst>
              </a:tr>
              <a:tr h="621619">
                <a:tc>
                  <a:txBody>
                    <a:bodyPr/>
                    <a:lstStyle/>
                    <a:p>
                      <a:pPr algn="l"/>
                      <a:r>
                        <a:rPr sz="1100"/>
                        <a:t>clinic6(VSR)</a:t>
                      </a:r>
                    </a:p>
                  </a:txBody>
                  <a:tcPr anchor="ctr"/>
                </a:tc>
                <a:tc>
                  <a:txBody>
                    <a:bodyPr/>
                    <a:lstStyle/>
                    <a:p>
                      <a:r>
                        <a:rPr sz="1100"/>
                        <a:t>0.783/0.625</a:t>
                      </a:r>
                    </a:p>
                  </a:txBody>
                  <a:tcPr anchor="ctr"/>
                </a:tc>
                <a:tc>
                  <a:txBody>
                    <a:bodyPr/>
                    <a:lstStyle/>
                    <a:p>
                      <a:r>
                        <a:rPr sz="1100"/>
                        <a:t>0.791/0.632</a:t>
                      </a:r>
                    </a:p>
                  </a:txBody>
                  <a:tcPr anchor="ctr"/>
                </a:tc>
                <a:tc>
                  <a:txBody>
                    <a:bodyPr/>
                    <a:lstStyle/>
                    <a:p>
                      <a:r>
                        <a:rPr sz="1100"/>
                        <a:t>0.792/0.645</a:t>
                      </a:r>
                    </a:p>
                  </a:txBody>
                  <a:tcPr anchor="ctr"/>
                </a:tc>
                <a:extLst>
                  <a:ext uri="{0D108BD9-81ED-4DB2-BD59-A6C34878D82A}">
                    <a16:rowId xmlns:a16="http://schemas.microsoft.com/office/drawing/2014/main" val="10004"/>
                  </a:ext>
                </a:extLst>
              </a:tr>
              <a:tr h="621619">
                <a:tc>
                  <a:txBody>
                    <a:bodyPr/>
                    <a:lstStyle/>
                    <a:p>
                      <a:pPr algn="l"/>
                      <a:r>
                        <a:rPr sz="1100"/>
                        <a:t>clinic9(all)</a:t>
                      </a:r>
                    </a:p>
                  </a:txBody>
                  <a:tcPr anchor="ctr"/>
                </a:tc>
                <a:tc>
                  <a:txBody>
                    <a:bodyPr/>
                    <a:lstStyle/>
                    <a:p>
                      <a:r>
                        <a:rPr sz="1100"/>
                        <a:t>0.785/0.628</a:t>
                      </a:r>
                    </a:p>
                  </a:txBody>
                  <a:tcPr anchor="ctr"/>
                </a:tc>
                <a:tc>
                  <a:txBody>
                    <a:bodyPr/>
                    <a:lstStyle/>
                    <a:p>
                      <a:r>
                        <a:rPr sz="1100"/>
                        <a:t>0.789/0.640</a:t>
                      </a:r>
                    </a:p>
                  </a:txBody>
                  <a:tcPr anchor="ctr"/>
                </a:tc>
                <a:tc>
                  <a:txBody>
                    <a:bodyPr/>
                    <a:lstStyle/>
                    <a:p>
                      <a:r>
                        <a:rPr sz="1100"/>
                        <a:t>0.791/0.651</a:t>
                      </a:r>
                    </a:p>
                  </a:txBody>
                  <a:tcPr anchor="ctr"/>
                </a:tc>
                <a:extLst>
                  <a:ext uri="{0D108BD9-81ED-4DB2-BD59-A6C34878D82A}">
                    <a16:rowId xmlns:a16="http://schemas.microsoft.com/office/drawing/2014/main" val="10005"/>
                  </a:ext>
                </a:extLst>
              </a:tr>
              <a:tr h="621624">
                <a:tc>
                  <a:txBody>
                    <a:bodyPr/>
                    <a:lstStyle/>
                    <a:p>
                      <a:pPr algn="l"/>
                      <a:r>
                        <a:rPr sz="1100"/>
                        <a:t>clinic8(all ratio)</a:t>
                      </a:r>
                    </a:p>
                  </a:txBody>
                  <a:tcPr anchor="ctr"/>
                </a:tc>
                <a:tc>
                  <a:txBody>
                    <a:bodyPr/>
                    <a:lstStyle/>
                    <a:p>
                      <a:r>
                        <a:rPr sz="1100"/>
                        <a:t>0.788/0.629</a:t>
                      </a:r>
                    </a:p>
                  </a:txBody>
                  <a:tcPr anchor="ctr"/>
                </a:tc>
                <a:tc>
                  <a:txBody>
                    <a:bodyPr/>
                    <a:lstStyle/>
                    <a:p>
                      <a:r>
                        <a:rPr sz="1100"/>
                        <a:t>0.791/0.638</a:t>
                      </a:r>
                    </a:p>
                  </a:txBody>
                  <a:tcPr anchor="ctr"/>
                </a:tc>
                <a:tc>
                  <a:txBody>
                    <a:bodyPr/>
                    <a:lstStyle/>
                    <a:p>
                      <a:r>
                        <a:rPr sz="1100" dirty="0"/>
                        <a:t>0.793/0.650</a:t>
                      </a:r>
                    </a:p>
                  </a:txBody>
                  <a:tcPr anchor="ctr"/>
                </a:tc>
                <a:extLst>
                  <a:ext uri="{0D108BD9-81ED-4DB2-BD59-A6C34878D82A}">
                    <a16:rowId xmlns:a16="http://schemas.microsoft.com/office/drawing/2014/main" val="10006"/>
                  </a:ext>
                </a:extLst>
              </a:tr>
            </a:tbl>
          </a:graphicData>
        </a:graphic>
      </p:graphicFrame>
      <p:pic>
        <p:nvPicPr>
          <p:cNvPr id="7" name="Picture 6" descr="ckd_roc_curve_aec_compare.png"/>
          <p:cNvPicPr>
            <a:picLocks noChangeAspect="1"/>
          </p:cNvPicPr>
          <p:nvPr/>
        </p:nvPicPr>
        <p:blipFill>
          <a:blip r:embed="rId3"/>
          <a:stretch>
            <a:fillRect/>
          </a:stretch>
        </p:blipFill>
        <p:spPr>
          <a:xfrm>
            <a:off x="5689598" y="1549513"/>
            <a:ext cx="6424749" cy="406753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결과 ⑪ CKD AUC 개선 유의성 (DeLong, external)</a:t>
            </a:r>
          </a:p>
        </p:txBody>
      </p:sp>
      <p:graphicFrame>
        <p:nvGraphicFramePr>
          <p:cNvPr id="3" name="Table 2"/>
          <p:cNvGraphicFramePr>
            <a:graphicFrameLocks noGrp="1"/>
          </p:cNvGraphicFramePr>
          <p:nvPr>
            <p:extLst>
              <p:ext uri="{D42A27DB-BD31-4B8C-83A1-F6EECF244321}">
                <p14:modId xmlns:p14="http://schemas.microsoft.com/office/powerpoint/2010/main" val="313117204"/>
              </p:ext>
            </p:extLst>
          </p:nvPr>
        </p:nvGraphicFramePr>
        <p:xfrm>
          <a:off x="508000" y="897468"/>
          <a:ext cx="11175997" cy="4455498"/>
        </p:xfrm>
        <a:graphic>
          <a:graphicData uri="http://schemas.openxmlformats.org/drawingml/2006/table">
            <a:tbl>
              <a:tblPr firstRow="1" bandRow="1">
                <a:tableStyleId>{C083E6E3-FA7D-4D7B-A595-EF9225AFEA82}</a:tableStyleId>
              </a:tblPr>
              <a:tblGrid>
                <a:gridCol w="3047999">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777999">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1777999">
                  <a:extLst>
                    <a:ext uri="{9D8B030D-6E8A-4147-A177-3AD203B41FA5}">
                      <a16:colId xmlns:a16="http://schemas.microsoft.com/office/drawing/2014/main" val="20004"/>
                    </a:ext>
                  </a:extLst>
                </a:gridCol>
              </a:tblGrid>
              <a:tr h="636499">
                <a:tc>
                  <a:txBody>
                    <a:bodyPr/>
                    <a:lstStyle/>
                    <a:p>
                      <a:pPr algn="ctr"/>
                      <a:r>
                        <a:rPr sz="1400" b="1" dirty="0"/>
                        <a:t>Baseline</a:t>
                      </a:r>
                    </a:p>
                  </a:txBody>
                  <a:tcPr anchor="ctr"/>
                </a:tc>
                <a:tc>
                  <a:txBody>
                    <a:bodyPr/>
                    <a:lstStyle/>
                    <a:p>
                      <a:pPr algn="ctr"/>
                      <a:r>
                        <a:rPr sz="1400" b="1"/>
                        <a:t>ΔAUC (+FPCA)</a:t>
                      </a:r>
                    </a:p>
                  </a:txBody>
                  <a:tcPr anchor="ctr"/>
                </a:tc>
                <a:tc>
                  <a:txBody>
                    <a:bodyPr/>
                    <a:lstStyle/>
                    <a:p>
                      <a:pPr algn="ctr"/>
                      <a:r>
                        <a:rPr sz="1400" b="1"/>
                        <a:t>p (+FPCA)</a:t>
                      </a:r>
                    </a:p>
                  </a:txBody>
                  <a:tcPr anchor="ctr"/>
                </a:tc>
                <a:tc>
                  <a:txBody>
                    <a:bodyPr/>
                    <a:lstStyle/>
                    <a:p>
                      <a:pPr algn="ctr"/>
                      <a:r>
                        <a:rPr sz="1400" b="1"/>
                        <a:t>ΔAUC (+Up/Low)</a:t>
                      </a:r>
                    </a:p>
                  </a:txBody>
                  <a:tcPr anchor="ctr"/>
                </a:tc>
                <a:tc>
                  <a:txBody>
                    <a:bodyPr/>
                    <a:lstStyle/>
                    <a:p>
                      <a:pPr algn="ctr"/>
                      <a:r>
                        <a:rPr sz="1400" b="1"/>
                        <a:t>p (+Up/Low)</a:t>
                      </a:r>
                    </a:p>
                  </a:txBody>
                  <a:tcPr anchor="ctr"/>
                </a:tc>
                <a:extLst>
                  <a:ext uri="{0D108BD9-81ED-4DB2-BD59-A6C34878D82A}">
                    <a16:rowId xmlns:a16="http://schemas.microsoft.com/office/drawing/2014/main" val="10000"/>
                  </a:ext>
                </a:extLst>
              </a:tr>
              <a:tr h="636499">
                <a:tc>
                  <a:txBody>
                    <a:bodyPr/>
                    <a:lstStyle/>
                    <a:p>
                      <a:pPr algn="l"/>
                      <a:r>
                        <a:rPr sz="1400"/>
                        <a:t>clinic4</a:t>
                      </a:r>
                    </a:p>
                  </a:txBody>
                  <a:tcPr anchor="ctr"/>
                </a:tc>
                <a:tc>
                  <a:txBody>
                    <a:bodyPr/>
                    <a:lstStyle/>
                    <a:p>
                      <a:r>
                        <a:rPr sz="1400"/>
                        <a:t>+0.0138</a:t>
                      </a:r>
                    </a:p>
                  </a:txBody>
                  <a:tcPr anchor="ctr"/>
                </a:tc>
                <a:tc>
                  <a:txBody>
                    <a:bodyPr/>
                    <a:lstStyle/>
                    <a:p>
                      <a:r>
                        <a:rPr sz="1400"/>
                        <a:t>0.014*</a:t>
                      </a:r>
                    </a:p>
                  </a:txBody>
                  <a:tcPr anchor="ctr"/>
                </a:tc>
                <a:tc>
                  <a:txBody>
                    <a:bodyPr/>
                    <a:lstStyle/>
                    <a:p>
                      <a:r>
                        <a:rPr sz="1400"/>
                        <a:t>+0.0175</a:t>
                      </a:r>
                    </a:p>
                  </a:txBody>
                  <a:tcPr anchor="ctr"/>
                </a:tc>
                <a:tc>
                  <a:txBody>
                    <a:bodyPr/>
                    <a:lstStyle/>
                    <a:p>
                      <a:r>
                        <a:rPr sz="1400"/>
                        <a:t>0.005*</a:t>
                      </a:r>
                    </a:p>
                  </a:txBody>
                  <a:tcPr anchor="ctr"/>
                </a:tc>
                <a:extLst>
                  <a:ext uri="{0D108BD9-81ED-4DB2-BD59-A6C34878D82A}">
                    <a16:rowId xmlns:a16="http://schemas.microsoft.com/office/drawing/2014/main" val="10001"/>
                  </a:ext>
                </a:extLst>
              </a:tr>
              <a:tr h="636499">
                <a:tc>
                  <a:txBody>
                    <a:bodyPr/>
                    <a:lstStyle/>
                    <a:p>
                      <a:pPr algn="l"/>
                      <a:r>
                        <a:rPr sz="1400"/>
                        <a:t>clinic6(scanner)</a:t>
                      </a:r>
                    </a:p>
                  </a:txBody>
                  <a:tcPr anchor="ctr"/>
                </a:tc>
                <a:tc>
                  <a:txBody>
                    <a:bodyPr/>
                    <a:lstStyle/>
                    <a:p>
                      <a:r>
                        <a:rPr sz="1400"/>
                        <a:t>+0.0089</a:t>
                      </a:r>
                    </a:p>
                  </a:txBody>
                  <a:tcPr anchor="ctr"/>
                </a:tc>
                <a:tc>
                  <a:txBody>
                    <a:bodyPr/>
                    <a:lstStyle/>
                    <a:p>
                      <a:r>
                        <a:rPr sz="1400"/>
                        <a:t>0.154</a:t>
                      </a:r>
                    </a:p>
                  </a:txBody>
                  <a:tcPr anchor="ctr"/>
                </a:tc>
                <a:tc>
                  <a:txBody>
                    <a:bodyPr/>
                    <a:lstStyle/>
                    <a:p>
                      <a:r>
                        <a:rPr sz="1400"/>
                        <a:t>+0.0146</a:t>
                      </a:r>
                    </a:p>
                  </a:txBody>
                  <a:tcPr anchor="ctr"/>
                </a:tc>
                <a:tc>
                  <a:txBody>
                    <a:bodyPr/>
                    <a:lstStyle/>
                    <a:p>
                      <a:r>
                        <a:rPr sz="1400"/>
                        <a:t>0.006*</a:t>
                      </a:r>
                    </a:p>
                  </a:txBody>
                  <a:tcPr anchor="ctr"/>
                </a:tc>
                <a:extLst>
                  <a:ext uri="{0D108BD9-81ED-4DB2-BD59-A6C34878D82A}">
                    <a16:rowId xmlns:a16="http://schemas.microsoft.com/office/drawing/2014/main" val="10002"/>
                  </a:ext>
                </a:extLst>
              </a:tr>
              <a:tr h="636499">
                <a:tc>
                  <a:txBody>
                    <a:bodyPr/>
                    <a:lstStyle/>
                    <a:p>
                      <a:pPr algn="l"/>
                      <a:r>
                        <a:rPr sz="1400"/>
                        <a:t>clinic7</a:t>
                      </a:r>
                    </a:p>
                  </a:txBody>
                  <a:tcPr anchor="ctr"/>
                </a:tc>
                <a:tc>
                  <a:txBody>
                    <a:bodyPr/>
                    <a:lstStyle/>
                    <a:p>
                      <a:r>
                        <a:rPr sz="1400"/>
                        <a:t>+0.0084</a:t>
                      </a:r>
                    </a:p>
                  </a:txBody>
                  <a:tcPr anchor="ctr"/>
                </a:tc>
                <a:tc>
                  <a:txBody>
                    <a:bodyPr/>
                    <a:lstStyle/>
                    <a:p>
                      <a:r>
                        <a:rPr sz="1400"/>
                        <a:t>0.242</a:t>
                      </a:r>
                    </a:p>
                  </a:txBody>
                  <a:tcPr anchor="ctr"/>
                </a:tc>
                <a:tc>
                  <a:txBody>
                    <a:bodyPr/>
                    <a:lstStyle/>
                    <a:p>
                      <a:r>
                        <a:rPr sz="1400"/>
                        <a:t>+0.0214</a:t>
                      </a:r>
                    </a:p>
                  </a:txBody>
                  <a:tcPr anchor="ctr"/>
                </a:tc>
                <a:tc>
                  <a:txBody>
                    <a:bodyPr/>
                    <a:lstStyle/>
                    <a:p>
                      <a:r>
                        <a:rPr sz="1400"/>
                        <a:t>0.009*</a:t>
                      </a:r>
                    </a:p>
                  </a:txBody>
                  <a:tcPr anchor="ctr"/>
                </a:tc>
                <a:extLst>
                  <a:ext uri="{0D108BD9-81ED-4DB2-BD59-A6C34878D82A}">
                    <a16:rowId xmlns:a16="http://schemas.microsoft.com/office/drawing/2014/main" val="10003"/>
                  </a:ext>
                </a:extLst>
              </a:tr>
              <a:tr h="636499">
                <a:tc>
                  <a:txBody>
                    <a:bodyPr/>
                    <a:lstStyle/>
                    <a:p>
                      <a:pPr algn="l"/>
                      <a:r>
                        <a:rPr sz="1400"/>
                        <a:t>clinic6(VSR)</a:t>
                      </a:r>
                    </a:p>
                  </a:txBody>
                  <a:tcPr anchor="ctr"/>
                </a:tc>
                <a:tc>
                  <a:txBody>
                    <a:bodyPr/>
                    <a:lstStyle/>
                    <a:p>
                      <a:r>
                        <a:rPr sz="1400"/>
                        <a:t>+0.0074</a:t>
                      </a:r>
                    </a:p>
                  </a:txBody>
                  <a:tcPr anchor="ctr"/>
                </a:tc>
                <a:tc>
                  <a:txBody>
                    <a:bodyPr/>
                    <a:lstStyle/>
                    <a:p>
                      <a:r>
                        <a:rPr sz="1400"/>
                        <a:t>0.385</a:t>
                      </a:r>
                    </a:p>
                  </a:txBody>
                  <a:tcPr anchor="ctr"/>
                </a:tc>
                <a:tc>
                  <a:txBody>
                    <a:bodyPr/>
                    <a:lstStyle/>
                    <a:p>
                      <a:r>
                        <a:rPr sz="1400"/>
                        <a:t>+0.0198</a:t>
                      </a:r>
                    </a:p>
                  </a:txBody>
                  <a:tcPr anchor="ctr"/>
                </a:tc>
                <a:tc>
                  <a:txBody>
                    <a:bodyPr/>
                    <a:lstStyle/>
                    <a:p>
                      <a:r>
                        <a:rPr sz="1400"/>
                        <a:t>0.040*</a:t>
                      </a:r>
                    </a:p>
                  </a:txBody>
                  <a:tcPr anchor="ctr"/>
                </a:tc>
                <a:extLst>
                  <a:ext uri="{0D108BD9-81ED-4DB2-BD59-A6C34878D82A}">
                    <a16:rowId xmlns:a16="http://schemas.microsoft.com/office/drawing/2014/main" val="10004"/>
                  </a:ext>
                </a:extLst>
              </a:tr>
              <a:tr h="636499">
                <a:tc>
                  <a:txBody>
                    <a:bodyPr/>
                    <a:lstStyle/>
                    <a:p>
                      <a:pPr algn="l"/>
                      <a:r>
                        <a:rPr sz="1400"/>
                        <a:t>clinic9(all)</a:t>
                      </a:r>
                    </a:p>
                  </a:txBody>
                  <a:tcPr anchor="ctr"/>
                </a:tc>
                <a:tc>
                  <a:txBody>
                    <a:bodyPr/>
                    <a:lstStyle/>
                    <a:p>
                      <a:r>
                        <a:rPr sz="1400"/>
                        <a:t>+0.0115</a:t>
                      </a:r>
                    </a:p>
                  </a:txBody>
                  <a:tcPr anchor="ctr"/>
                </a:tc>
                <a:tc>
                  <a:txBody>
                    <a:bodyPr/>
                    <a:lstStyle/>
                    <a:p>
                      <a:r>
                        <a:rPr sz="1400"/>
                        <a:t>0.134</a:t>
                      </a:r>
                    </a:p>
                  </a:txBody>
                  <a:tcPr anchor="ctr"/>
                </a:tc>
                <a:tc>
                  <a:txBody>
                    <a:bodyPr/>
                    <a:lstStyle/>
                    <a:p>
                      <a:r>
                        <a:rPr sz="1400"/>
                        <a:t>+0.0232</a:t>
                      </a:r>
                    </a:p>
                  </a:txBody>
                  <a:tcPr anchor="ctr"/>
                </a:tc>
                <a:tc>
                  <a:txBody>
                    <a:bodyPr/>
                    <a:lstStyle/>
                    <a:p>
                      <a:r>
                        <a:rPr sz="1400"/>
                        <a:t>0.005*</a:t>
                      </a:r>
                    </a:p>
                  </a:txBody>
                  <a:tcPr anchor="ctr"/>
                </a:tc>
                <a:extLst>
                  <a:ext uri="{0D108BD9-81ED-4DB2-BD59-A6C34878D82A}">
                    <a16:rowId xmlns:a16="http://schemas.microsoft.com/office/drawing/2014/main" val="10005"/>
                  </a:ext>
                </a:extLst>
              </a:tr>
              <a:tr h="636504">
                <a:tc>
                  <a:txBody>
                    <a:bodyPr/>
                    <a:lstStyle/>
                    <a:p>
                      <a:pPr algn="l"/>
                      <a:r>
                        <a:rPr sz="1400"/>
                        <a:t>clinic8(all ratio)</a:t>
                      </a:r>
                    </a:p>
                  </a:txBody>
                  <a:tcPr anchor="ctr"/>
                </a:tc>
                <a:tc>
                  <a:txBody>
                    <a:bodyPr/>
                    <a:lstStyle/>
                    <a:p>
                      <a:r>
                        <a:rPr sz="1400"/>
                        <a:t>+0.0096</a:t>
                      </a:r>
                    </a:p>
                  </a:txBody>
                  <a:tcPr anchor="ctr"/>
                </a:tc>
                <a:tc>
                  <a:txBody>
                    <a:bodyPr/>
                    <a:lstStyle/>
                    <a:p>
                      <a:r>
                        <a:rPr sz="1400"/>
                        <a:t>0.296</a:t>
                      </a:r>
                    </a:p>
                  </a:txBody>
                  <a:tcPr anchor="ctr"/>
                </a:tc>
                <a:tc>
                  <a:txBody>
                    <a:bodyPr/>
                    <a:lstStyle/>
                    <a:p>
                      <a:r>
                        <a:rPr sz="1400"/>
                        <a:t>+0.0211</a:t>
                      </a:r>
                    </a:p>
                  </a:txBody>
                  <a:tcPr anchor="ctr"/>
                </a:tc>
                <a:tc>
                  <a:txBody>
                    <a:bodyPr/>
                    <a:lstStyle/>
                    <a:p>
                      <a:r>
                        <a:rPr sz="1400" dirty="0"/>
                        <a:t>0.031*</a:t>
                      </a:r>
                    </a:p>
                  </a:txBody>
                  <a:tcPr anchor="ctr"/>
                </a:tc>
                <a:extLst>
                  <a:ext uri="{0D108BD9-81ED-4DB2-BD59-A6C34878D82A}">
                    <a16:rowId xmlns:a16="http://schemas.microsoft.com/office/drawing/2014/main" val="10006"/>
                  </a:ext>
                </a:extLst>
              </a:tr>
            </a:tbl>
          </a:graphicData>
        </a:graphic>
      </p:graphicFrame>
      <p:sp>
        <p:nvSpPr>
          <p:cNvPr id="4" name="TextBox 3"/>
          <p:cNvSpPr txBox="1"/>
          <p:nvPr/>
        </p:nvSpPr>
        <p:spPr>
          <a:xfrm>
            <a:off x="508000" y="5352966"/>
            <a:ext cx="11176000" cy="411480"/>
          </a:xfrm>
          <a:prstGeom prst="rect">
            <a:avLst/>
          </a:prstGeom>
          <a:noFill/>
        </p:spPr>
        <p:txBody>
          <a:bodyPr wrap="none">
            <a:spAutoFit/>
          </a:bodyPr>
          <a:lstStyle/>
          <a:p>
            <a:r>
              <a:t>* p&lt;0.05(개별 검정). Bonferroni 임계값 α=0.05/72≈0.0007 — 7건 모두 미달(다중비교 보정 미생존)</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결과 ⑫ CKD Odds Ratio — Baseline(clinic4)</a:t>
            </a:r>
          </a:p>
        </p:txBody>
      </p:sp>
      <p:sp>
        <p:nvSpPr>
          <p:cNvPr id="4" name="TextBox 3"/>
          <p:cNvSpPr txBox="1"/>
          <p:nvPr/>
        </p:nvSpPr>
        <p:spPr>
          <a:xfrm>
            <a:off x="508000" y="1133641"/>
            <a:ext cx="11065691" cy="1010085"/>
          </a:xfrm>
          <a:prstGeom prst="rect">
            <a:avLst/>
          </a:prstGeom>
          <a:noFill/>
        </p:spPr>
        <p:txBody>
          <a:bodyPr wrap="square">
            <a:spAutoFit/>
          </a:bodyPr>
          <a:lstStyle/>
          <a:p>
            <a:pPr marL="285750" indent="-285750">
              <a:lnSpc>
                <a:spcPct val="200000"/>
              </a:lnSpc>
              <a:buFont typeface="Arial" panose="020B0604020202020204" pitchFamily="34" charset="0"/>
              <a:buChar char="•"/>
            </a:pPr>
            <a:r>
              <a:rPr sz="1600" dirty="0">
                <a:latin typeface="KoPub돋움체 Bold" panose="00000800000000000000" pitchFamily="2" charset="-127"/>
                <a:ea typeface="KoPub돋움체 Bold" panose="00000800000000000000" pitchFamily="2" charset="-127"/>
              </a:rPr>
              <a:t>Age/Sex/Weight ↑ → CKD </a:t>
            </a:r>
            <a:r>
              <a:rPr sz="1600" dirty="0" err="1">
                <a:latin typeface="KoPub돋움체 Bold" panose="00000800000000000000" pitchFamily="2" charset="-127"/>
                <a:ea typeface="KoPub돋움체 Bold" panose="00000800000000000000" pitchFamily="2" charset="-127"/>
              </a:rPr>
              <a:t>위험</a:t>
            </a:r>
            <a:r>
              <a:rPr sz="1600" dirty="0">
                <a:latin typeface="KoPub돋움체 Bold" panose="00000800000000000000" pitchFamily="2" charset="-127"/>
                <a:ea typeface="KoPub돋움체 Bold" panose="00000800000000000000" pitchFamily="2" charset="-127"/>
              </a:rPr>
              <a:t> ↑(OR&gt;1), Height ↑ → </a:t>
            </a:r>
            <a:r>
              <a:rPr sz="1600" dirty="0" err="1">
                <a:latin typeface="KoPub돋움체 Bold" panose="00000800000000000000" pitchFamily="2" charset="-127"/>
                <a:ea typeface="KoPub돋움체 Bold" panose="00000800000000000000" pitchFamily="2" charset="-127"/>
              </a:rPr>
              <a:t>위험</a:t>
            </a:r>
            <a:r>
              <a:rPr sz="1600" dirty="0">
                <a:latin typeface="KoPub돋움체 Bold" panose="00000800000000000000" pitchFamily="2" charset="-127"/>
                <a:ea typeface="KoPub돋움체 Bold" panose="00000800000000000000" pitchFamily="2" charset="-127"/>
              </a:rPr>
              <a:t> ↓(OR&lt;1) — </a:t>
            </a:r>
            <a:r>
              <a:rPr sz="1600" dirty="0" err="1">
                <a:latin typeface="KoPub돋움체 Bold" panose="00000800000000000000" pitchFamily="2" charset="-127"/>
                <a:ea typeface="KoPub돋움체 Bold" panose="00000800000000000000" pitchFamily="2" charset="-127"/>
              </a:rPr>
              <a:t>임상적</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방향과</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일치</a:t>
            </a:r>
            <a:endParaRPr sz="1600" dirty="0">
              <a:latin typeface="KoPub돋움체 Bold" panose="00000800000000000000" pitchFamily="2" charset="-127"/>
              <a:ea typeface="KoPub돋움체 Bold" panose="00000800000000000000" pitchFamily="2" charset="-127"/>
            </a:endParaRPr>
          </a:p>
          <a:p>
            <a:pPr marL="285750" indent="-285750">
              <a:lnSpc>
                <a:spcPct val="200000"/>
              </a:lnSpc>
              <a:buFont typeface="Arial" panose="020B0604020202020204" pitchFamily="34" charset="0"/>
              <a:buChar char="•"/>
            </a:pPr>
            <a:r>
              <a:rPr sz="1600" dirty="0">
                <a:latin typeface="KoPub돋움체 Bold" panose="00000800000000000000" pitchFamily="2" charset="-127"/>
                <a:ea typeface="KoPub돋움체 Bold" panose="00000800000000000000" pitchFamily="2" charset="-127"/>
              </a:rPr>
              <a:t>AEC </a:t>
            </a:r>
            <a:r>
              <a:rPr sz="1600" dirty="0" err="1">
                <a:latin typeface="KoPub돋움체 Bold" panose="00000800000000000000" pitchFamily="2" charset="-127"/>
                <a:ea typeface="KoPub돋움체 Bold" panose="00000800000000000000" pitchFamily="2" charset="-127"/>
              </a:rPr>
              <a:t>추가</a:t>
            </a:r>
            <a:r>
              <a:rPr sz="1600" dirty="0">
                <a:latin typeface="KoPub돋움체 Bold" panose="00000800000000000000" pitchFamily="2" charset="-127"/>
                <a:ea typeface="KoPub돋움체 Bold" panose="00000800000000000000" pitchFamily="2" charset="-127"/>
              </a:rPr>
              <a:t>(FPCA/Upper-Lower ratio) </a:t>
            </a:r>
            <a:r>
              <a:rPr sz="1600" dirty="0" err="1">
                <a:latin typeface="KoPub돋움체 Bold" panose="00000800000000000000" pitchFamily="2" charset="-127"/>
                <a:ea typeface="KoPub돋움체 Bold" panose="00000800000000000000" pitchFamily="2" charset="-127"/>
              </a:rPr>
              <a:t>후에도</a:t>
            </a:r>
            <a:r>
              <a:rPr sz="1600" dirty="0">
                <a:latin typeface="KoPub돋움체 Bold" panose="00000800000000000000" pitchFamily="2" charset="-127"/>
                <a:ea typeface="KoPub돋움체 Bold" panose="00000800000000000000" pitchFamily="2" charset="-127"/>
              </a:rPr>
              <a:t> clinic4 4개 </a:t>
            </a:r>
            <a:r>
              <a:rPr sz="1600" dirty="0" err="1">
                <a:latin typeface="KoPub돋움체 Bold" panose="00000800000000000000" pitchFamily="2" charset="-127"/>
                <a:ea typeface="KoPub돋움체 Bold" panose="00000800000000000000" pitchFamily="2" charset="-127"/>
              </a:rPr>
              <a:t>변수의</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방향성은</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유지되고</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크기만</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소폭</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감소</a:t>
            </a:r>
            <a:r>
              <a:rPr sz="1600" dirty="0">
                <a:latin typeface="KoPub돋움체 Bold" panose="00000800000000000000" pitchFamily="2" charset="-127"/>
                <a:ea typeface="KoPub돋움체 Bold" panose="00000800000000000000" pitchFamily="2" charset="-127"/>
              </a:rPr>
              <a:t>(</a:t>
            </a:r>
            <a:r>
              <a:rPr sz="1600" dirty="0" err="1">
                <a:latin typeface="KoPub돋움체 Bold" panose="00000800000000000000" pitchFamily="2" charset="-127"/>
                <a:ea typeface="KoPub돋움체 Bold" panose="00000800000000000000" pitchFamily="2" charset="-127"/>
              </a:rPr>
              <a:t>다중공선성</a:t>
            </a:r>
            <a:r>
              <a:rPr sz="1600" dirty="0">
                <a:latin typeface="KoPub돋움체 Bold" panose="00000800000000000000" pitchFamily="2" charset="-127"/>
                <a:ea typeface="KoPub돋움체 Bold" panose="00000800000000000000" pitchFamily="2" charset="-127"/>
              </a:rPr>
              <a:t> </a:t>
            </a:r>
            <a:r>
              <a:rPr sz="1600" dirty="0" err="1">
                <a:latin typeface="KoPub돋움체 Bold" panose="00000800000000000000" pitchFamily="2" charset="-127"/>
                <a:ea typeface="KoPub돋움체 Bold" panose="00000800000000000000" pitchFamily="2" charset="-127"/>
              </a:rPr>
              <a:t>반영</a:t>
            </a:r>
            <a:r>
              <a:rPr sz="1600" dirty="0">
                <a:latin typeface="KoPub돋움체 Bold" panose="00000800000000000000" pitchFamily="2" charset="-127"/>
                <a:ea typeface="KoPub돋움체 Bold" panose="00000800000000000000" pitchFamily="2" charset="-127"/>
              </a:rPr>
              <a:t>)</a:t>
            </a:r>
          </a:p>
        </p:txBody>
      </p:sp>
      <p:pic>
        <p:nvPicPr>
          <p:cNvPr id="5" name="Picture 4" descr="ckd_or_forest.png"/>
          <p:cNvPicPr>
            <a:picLocks noChangeAspect="1"/>
          </p:cNvPicPr>
          <p:nvPr/>
        </p:nvPicPr>
        <p:blipFill>
          <a:blip r:embed="rId3"/>
          <a:stretch>
            <a:fillRect/>
          </a:stretch>
        </p:blipFill>
        <p:spPr>
          <a:xfrm>
            <a:off x="508000" y="2799803"/>
            <a:ext cx="11176000" cy="312202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결과 ⑬ CKD Odds Ratio — AEC 항 요약 (internal full-fit)</a:t>
            </a:r>
          </a:p>
        </p:txBody>
      </p:sp>
      <p:graphicFrame>
        <p:nvGraphicFramePr>
          <p:cNvPr id="3" name="Table 2"/>
          <p:cNvGraphicFramePr>
            <a:graphicFrameLocks noGrp="1"/>
          </p:cNvGraphicFramePr>
          <p:nvPr>
            <p:extLst>
              <p:ext uri="{D42A27DB-BD31-4B8C-83A1-F6EECF244321}">
                <p14:modId xmlns:p14="http://schemas.microsoft.com/office/powerpoint/2010/main" val="1130775640"/>
              </p:ext>
            </p:extLst>
          </p:nvPr>
        </p:nvGraphicFramePr>
        <p:xfrm>
          <a:off x="508000" y="897468"/>
          <a:ext cx="11175997" cy="4455498"/>
        </p:xfrm>
        <a:graphic>
          <a:graphicData uri="http://schemas.openxmlformats.org/drawingml/2006/table">
            <a:tbl>
              <a:tblPr firstRow="1" bandRow="1">
                <a:tableStyleId>{C083E6E3-FA7D-4D7B-A595-EF9225AFEA82}</a:tableStyleId>
              </a:tblPr>
              <a:tblGrid>
                <a:gridCol w="2736979">
                  <a:extLst>
                    <a:ext uri="{9D8B030D-6E8A-4147-A177-3AD203B41FA5}">
                      <a16:colId xmlns:a16="http://schemas.microsoft.com/office/drawing/2014/main" val="20000"/>
                    </a:ext>
                  </a:extLst>
                </a:gridCol>
                <a:gridCol w="2280816">
                  <a:extLst>
                    <a:ext uri="{9D8B030D-6E8A-4147-A177-3AD203B41FA5}">
                      <a16:colId xmlns:a16="http://schemas.microsoft.com/office/drawing/2014/main" val="20001"/>
                    </a:ext>
                  </a:extLst>
                </a:gridCol>
                <a:gridCol w="2052734">
                  <a:extLst>
                    <a:ext uri="{9D8B030D-6E8A-4147-A177-3AD203B41FA5}">
                      <a16:colId xmlns:a16="http://schemas.microsoft.com/office/drawing/2014/main" val="20002"/>
                    </a:ext>
                  </a:extLst>
                </a:gridCol>
                <a:gridCol w="2052734">
                  <a:extLst>
                    <a:ext uri="{9D8B030D-6E8A-4147-A177-3AD203B41FA5}">
                      <a16:colId xmlns:a16="http://schemas.microsoft.com/office/drawing/2014/main" val="20003"/>
                    </a:ext>
                  </a:extLst>
                </a:gridCol>
                <a:gridCol w="2052734">
                  <a:extLst>
                    <a:ext uri="{9D8B030D-6E8A-4147-A177-3AD203B41FA5}">
                      <a16:colId xmlns:a16="http://schemas.microsoft.com/office/drawing/2014/main" val="20004"/>
                    </a:ext>
                  </a:extLst>
                </a:gridCol>
              </a:tblGrid>
              <a:tr h="636499">
                <a:tc>
                  <a:txBody>
                    <a:bodyPr/>
                    <a:lstStyle/>
                    <a:p>
                      <a:pPr algn="ctr"/>
                      <a:r>
                        <a:rPr sz="1400" b="1"/>
                        <a:t>Baseline</a:t>
                      </a:r>
                    </a:p>
                  </a:txBody>
                  <a:tcPr anchor="ctr"/>
                </a:tc>
                <a:tc>
                  <a:txBody>
                    <a:bodyPr/>
                    <a:lstStyle/>
                    <a:p>
                      <a:pPr algn="ctr"/>
                      <a:r>
                        <a:rPr sz="1400" b="1" dirty="0"/>
                        <a:t>OR(Up/Low ratio)</a:t>
                      </a:r>
                    </a:p>
                  </a:txBody>
                  <a:tcPr anchor="ctr"/>
                </a:tc>
                <a:tc>
                  <a:txBody>
                    <a:bodyPr/>
                    <a:lstStyle/>
                    <a:p>
                      <a:pPr algn="ctr"/>
                      <a:r>
                        <a:rPr sz="1400" b="1"/>
                        <a:t>OR(FPCA PC1)</a:t>
                      </a:r>
                    </a:p>
                  </a:txBody>
                  <a:tcPr anchor="ctr"/>
                </a:tc>
                <a:tc>
                  <a:txBody>
                    <a:bodyPr/>
                    <a:lstStyle/>
                    <a:p>
                      <a:pPr algn="ctr"/>
                      <a:r>
                        <a:rPr sz="1400" b="1"/>
                        <a:t>OR(FPCA PC2)</a:t>
                      </a:r>
                    </a:p>
                  </a:txBody>
                  <a:tcPr anchor="ctr"/>
                </a:tc>
                <a:tc>
                  <a:txBody>
                    <a:bodyPr/>
                    <a:lstStyle/>
                    <a:p>
                      <a:pPr algn="ctr"/>
                      <a:r>
                        <a:rPr sz="1400" b="1"/>
                        <a:t>OR(FPCA PC3)</a:t>
                      </a:r>
                    </a:p>
                  </a:txBody>
                  <a:tcPr anchor="ctr"/>
                </a:tc>
                <a:extLst>
                  <a:ext uri="{0D108BD9-81ED-4DB2-BD59-A6C34878D82A}">
                    <a16:rowId xmlns:a16="http://schemas.microsoft.com/office/drawing/2014/main" val="10000"/>
                  </a:ext>
                </a:extLst>
              </a:tr>
              <a:tr h="636499">
                <a:tc>
                  <a:txBody>
                    <a:bodyPr/>
                    <a:lstStyle/>
                    <a:p>
                      <a:pPr algn="l"/>
                      <a:r>
                        <a:rPr sz="1400"/>
                        <a:t>clinic4</a:t>
                      </a:r>
                    </a:p>
                  </a:txBody>
                  <a:tcPr anchor="ctr"/>
                </a:tc>
                <a:tc>
                  <a:txBody>
                    <a:bodyPr/>
                    <a:lstStyle/>
                    <a:p>
                      <a:r>
                        <a:rPr sz="1400"/>
                        <a:t>1.350</a:t>
                      </a:r>
                    </a:p>
                  </a:txBody>
                  <a:tcPr anchor="ctr"/>
                </a:tc>
                <a:tc>
                  <a:txBody>
                    <a:bodyPr/>
                    <a:lstStyle/>
                    <a:p>
                      <a:r>
                        <a:rPr sz="1400"/>
                        <a:t>1.119</a:t>
                      </a:r>
                    </a:p>
                  </a:txBody>
                  <a:tcPr anchor="ctr"/>
                </a:tc>
                <a:tc>
                  <a:txBody>
                    <a:bodyPr/>
                    <a:lstStyle/>
                    <a:p>
                      <a:r>
                        <a:rPr sz="1400"/>
                        <a:t>0.710</a:t>
                      </a:r>
                    </a:p>
                  </a:txBody>
                  <a:tcPr anchor="ctr"/>
                </a:tc>
                <a:tc>
                  <a:txBody>
                    <a:bodyPr/>
                    <a:lstStyle/>
                    <a:p>
                      <a:r>
                        <a:rPr sz="1400"/>
                        <a:t>0.904</a:t>
                      </a:r>
                    </a:p>
                  </a:txBody>
                  <a:tcPr anchor="ctr"/>
                </a:tc>
                <a:extLst>
                  <a:ext uri="{0D108BD9-81ED-4DB2-BD59-A6C34878D82A}">
                    <a16:rowId xmlns:a16="http://schemas.microsoft.com/office/drawing/2014/main" val="10001"/>
                  </a:ext>
                </a:extLst>
              </a:tr>
              <a:tr h="636499">
                <a:tc>
                  <a:txBody>
                    <a:bodyPr/>
                    <a:lstStyle/>
                    <a:p>
                      <a:pPr algn="l"/>
                      <a:r>
                        <a:rPr sz="1400"/>
                        <a:t>clinic6(scanner)</a:t>
                      </a:r>
                    </a:p>
                  </a:txBody>
                  <a:tcPr anchor="ctr"/>
                </a:tc>
                <a:tc>
                  <a:txBody>
                    <a:bodyPr/>
                    <a:lstStyle/>
                    <a:p>
                      <a:r>
                        <a:rPr sz="1400"/>
                        <a:t>1.270</a:t>
                      </a:r>
                    </a:p>
                  </a:txBody>
                  <a:tcPr anchor="ctr"/>
                </a:tc>
                <a:tc>
                  <a:txBody>
                    <a:bodyPr/>
                    <a:lstStyle/>
                    <a:p>
                      <a:r>
                        <a:rPr sz="1400"/>
                        <a:t>1.172</a:t>
                      </a:r>
                    </a:p>
                  </a:txBody>
                  <a:tcPr anchor="ctr"/>
                </a:tc>
                <a:tc>
                  <a:txBody>
                    <a:bodyPr/>
                    <a:lstStyle/>
                    <a:p>
                      <a:r>
                        <a:rPr sz="1400"/>
                        <a:t>0.751</a:t>
                      </a:r>
                    </a:p>
                  </a:txBody>
                  <a:tcPr anchor="ctr"/>
                </a:tc>
                <a:tc>
                  <a:txBody>
                    <a:bodyPr/>
                    <a:lstStyle/>
                    <a:p>
                      <a:r>
                        <a:rPr sz="1400"/>
                        <a:t>0.915</a:t>
                      </a:r>
                    </a:p>
                  </a:txBody>
                  <a:tcPr anchor="ctr"/>
                </a:tc>
                <a:extLst>
                  <a:ext uri="{0D108BD9-81ED-4DB2-BD59-A6C34878D82A}">
                    <a16:rowId xmlns:a16="http://schemas.microsoft.com/office/drawing/2014/main" val="10002"/>
                  </a:ext>
                </a:extLst>
              </a:tr>
              <a:tr h="636499">
                <a:tc>
                  <a:txBody>
                    <a:bodyPr/>
                    <a:lstStyle/>
                    <a:p>
                      <a:pPr algn="l"/>
                      <a:r>
                        <a:rPr sz="1400"/>
                        <a:t>clinic7</a:t>
                      </a:r>
                    </a:p>
                  </a:txBody>
                  <a:tcPr anchor="ctr"/>
                </a:tc>
                <a:tc>
                  <a:txBody>
                    <a:bodyPr/>
                    <a:lstStyle/>
                    <a:p>
                      <a:r>
                        <a:rPr sz="1400"/>
                        <a:t>1.559</a:t>
                      </a:r>
                    </a:p>
                  </a:txBody>
                  <a:tcPr anchor="ctr"/>
                </a:tc>
                <a:tc>
                  <a:txBody>
                    <a:bodyPr/>
                    <a:lstStyle/>
                    <a:p>
                      <a:r>
                        <a:rPr sz="1400"/>
                        <a:t>1.261</a:t>
                      </a:r>
                    </a:p>
                  </a:txBody>
                  <a:tcPr anchor="ctr"/>
                </a:tc>
                <a:tc>
                  <a:txBody>
                    <a:bodyPr/>
                    <a:lstStyle/>
                    <a:p>
                      <a:r>
                        <a:rPr sz="1400"/>
                        <a:t>0.667</a:t>
                      </a:r>
                    </a:p>
                  </a:txBody>
                  <a:tcPr anchor="ctr"/>
                </a:tc>
                <a:tc>
                  <a:txBody>
                    <a:bodyPr/>
                    <a:lstStyle/>
                    <a:p>
                      <a:r>
                        <a:rPr sz="1400"/>
                        <a:t>0.862</a:t>
                      </a:r>
                    </a:p>
                  </a:txBody>
                  <a:tcPr anchor="ctr"/>
                </a:tc>
                <a:extLst>
                  <a:ext uri="{0D108BD9-81ED-4DB2-BD59-A6C34878D82A}">
                    <a16:rowId xmlns:a16="http://schemas.microsoft.com/office/drawing/2014/main" val="10003"/>
                  </a:ext>
                </a:extLst>
              </a:tr>
              <a:tr h="636499">
                <a:tc>
                  <a:txBody>
                    <a:bodyPr/>
                    <a:lstStyle/>
                    <a:p>
                      <a:pPr algn="l"/>
                      <a:r>
                        <a:rPr sz="1400"/>
                        <a:t>clinic6(VSR)</a:t>
                      </a:r>
                    </a:p>
                  </a:txBody>
                  <a:tcPr anchor="ctr"/>
                </a:tc>
                <a:tc>
                  <a:txBody>
                    <a:bodyPr/>
                    <a:lstStyle/>
                    <a:p>
                      <a:r>
                        <a:rPr sz="1400"/>
                        <a:t>1.685</a:t>
                      </a:r>
                    </a:p>
                  </a:txBody>
                  <a:tcPr anchor="ctr"/>
                </a:tc>
                <a:tc>
                  <a:txBody>
                    <a:bodyPr/>
                    <a:lstStyle/>
                    <a:p>
                      <a:r>
                        <a:rPr sz="1400"/>
                        <a:t>1.317</a:t>
                      </a:r>
                    </a:p>
                  </a:txBody>
                  <a:tcPr anchor="ctr"/>
                </a:tc>
                <a:tc>
                  <a:txBody>
                    <a:bodyPr/>
                    <a:lstStyle/>
                    <a:p>
                      <a:r>
                        <a:rPr sz="1400"/>
                        <a:t>0.624</a:t>
                      </a:r>
                    </a:p>
                  </a:txBody>
                  <a:tcPr anchor="ctr"/>
                </a:tc>
                <a:tc>
                  <a:txBody>
                    <a:bodyPr/>
                    <a:lstStyle/>
                    <a:p>
                      <a:r>
                        <a:rPr sz="1400"/>
                        <a:t>0.892</a:t>
                      </a:r>
                    </a:p>
                  </a:txBody>
                  <a:tcPr anchor="ctr"/>
                </a:tc>
                <a:extLst>
                  <a:ext uri="{0D108BD9-81ED-4DB2-BD59-A6C34878D82A}">
                    <a16:rowId xmlns:a16="http://schemas.microsoft.com/office/drawing/2014/main" val="10004"/>
                  </a:ext>
                </a:extLst>
              </a:tr>
              <a:tr h="636499">
                <a:tc>
                  <a:txBody>
                    <a:bodyPr/>
                    <a:lstStyle/>
                    <a:p>
                      <a:pPr algn="l"/>
                      <a:r>
                        <a:rPr sz="1400"/>
                        <a:t>clinic9(all)</a:t>
                      </a:r>
                    </a:p>
                  </a:txBody>
                  <a:tcPr anchor="ctr"/>
                </a:tc>
                <a:tc>
                  <a:txBody>
                    <a:bodyPr/>
                    <a:lstStyle/>
                    <a:p>
                      <a:r>
                        <a:rPr sz="1400"/>
                        <a:t>1.460</a:t>
                      </a:r>
                    </a:p>
                  </a:txBody>
                  <a:tcPr anchor="ctr"/>
                </a:tc>
                <a:tc>
                  <a:txBody>
                    <a:bodyPr/>
                    <a:lstStyle/>
                    <a:p>
                      <a:r>
                        <a:rPr sz="1400"/>
                        <a:t>1.207</a:t>
                      </a:r>
                    </a:p>
                  </a:txBody>
                  <a:tcPr anchor="ctr"/>
                </a:tc>
                <a:tc>
                  <a:txBody>
                    <a:bodyPr/>
                    <a:lstStyle/>
                    <a:p>
                      <a:r>
                        <a:rPr sz="1400"/>
                        <a:t>0.705</a:t>
                      </a:r>
                    </a:p>
                  </a:txBody>
                  <a:tcPr anchor="ctr"/>
                </a:tc>
                <a:tc>
                  <a:txBody>
                    <a:bodyPr/>
                    <a:lstStyle/>
                    <a:p>
                      <a:r>
                        <a:rPr sz="1400"/>
                        <a:t>0.874</a:t>
                      </a:r>
                    </a:p>
                  </a:txBody>
                  <a:tcPr anchor="ctr"/>
                </a:tc>
                <a:extLst>
                  <a:ext uri="{0D108BD9-81ED-4DB2-BD59-A6C34878D82A}">
                    <a16:rowId xmlns:a16="http://schemas.microsoft.com/office/drawing/2014/main" val="10005"/>
                  </a:ext>
                </a:extLst>
              </a:tr>
              <a:tr h="636504">
                <a:tc>
                  <a:txBody>
                    <a:bodyPr/>
                    <a:lstStyle/>
                    <a:p>
                      <a:pPr algn="l"/>
                      <a:r>
                        <a:rPr sz="1400"/>
                        <a:t>clinic8(all ratio)</a:t>
                      </a:r>
                    </a:p>
                  </a:txBody>
                  <a:tcPr anchor="ctr"/>
                </a:tc>
                <a:tc>
                  <a:txBody>
                    <a:bodyPr/>
                    <a:lstStyle/>
                    <a:p>
                      <a:r>
                        <a:rPr sz="1400"/>
                        <a:t>1.612</a:t>
                      </a:r>
                    </a:p>
                  </a:txBody>
                  <a:tcPr anchor="ctr"/>
                </a:tc>
                <a:tc>
                  <a:txBody>
                    <a:bodyPr/>
                    <a:lstStyle/>
                    <a:p>
                      <a:r>
                        <a:rPr sz="1400"/>
                        <a:t>1.280</a:t>
                      </a:r>
                    </a:p>
                  </a:txBody>
                  <a:tcPr anchor="ctr"/>
                </a:tc>
                <a:tc>
                  <a:txBody>
                    <a:bodyPr/>
                    <a:lstStyle/>
                    <a:p>
                      <a:r>
                        <a:rPr sz="1400"/>
                        <a:t>0.646</a:t>
                      </a:r>
                    </a:p>
                  </a:txBody>
                  <a:tcPr anchor="ctr"/>
                </a:tc>
                <a:tc>
                  <a:txBody>
                    <a:bodyPr/>
                    <a:lstStyle/>
                    <a:p>
                      <a:r>
                        <a:rPr sz="1400" dirty="0"/>
                        <a:t>0.895</a:t>
                      </a:r>
                    </a:p>
                  </a:txBody>
                  <a:tcPr anchor="ctr"/>
                </a:tc>
                <a:extLst>
                  <a:ext uri="{0D108BD9-81ED-4DB2-BD59-A6C34878D82A}">
                    <a16:rowId xmlns:a16="http://schemas.microsoft.com/office/drawing/2014/main" val="10006"/>
                  </a:ext>
                </a:extLst>
              </a:tr>
            </a:tbl>
          </a:graphicData>
        </a:graphic>
      </p:graphicFrame>
      <p:sp>
        <p:nvSpPr>
          <p:cNvPr id="4" name="TextBox 3"/>
          <p:cNvSpPr txBox="1"/>
          <p:nvPr/>
        </p:nvSpPr>
        <p:spPr>
          <a:xfrm>
            <a:off x="508000" y="5352966"/>
            <a:ext cx="11176000" cy="411480"/>
          </a:xfrm>
          <a:prstGeom prst="rect">
            <a:avLst/>
          </a:prstGeom>
          <a:noFill/>
        </p:spPr>
        <p:txBody>
          <a:bodyPr wrap="none">
            <a:spAutoFit/>
          </a:bodyPr>
          <a:lstStyle/>
          <a:p>
            <a:r>
              <a:rPr sz="1100" i="1"/>
              <a:t>OR&gt;1: 위험 증가 방향, OR&lt;1: 보호적 방향 (패널화(L1/ElasticNet) 계수라 CI는 미산출)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부록: 기타 강건성 체크 요약</a:t>
            </a:r>
          </a:p>
        </p:txBody>
      </p:sp>
      <p:sp>
        <p:nvSpPr>
          <p:cNvPr id="3" name="Content Placeholder 2"/>
          <p:cNvSpPr>
            <a:spLocks noGrp="1"/>
          </p:cNvSpPr>
          <p:nvPr>
            <p:ph idx="1"/>
          </p:nvPr>
        </p:nvSpPr>
        <p:spPr/>
        <p:txBody>
          <a:bodyPr wrap="square">
            <a:normAutofit/>
          </a:bodyPr>
          <a:lstStyle/>
          <a:p>
            <a:r>
              <a:rPr sz="1800" dirty="0"/>
              <a:t>CKD external + Upper/Lower ratio: baseline 6종 </a:t>
            </a:r>
            <a:r>
              <a:rPr sz="1800" dirty="0" err="1"/>
              <a:t>전부</a:t>
            </a:r>
            <a:r>
              <a:rPr sz="1800" dirty="0"/>
              <a:t> </a:t>
            </a:r>
            <a:r>
              <a:rPr sz="1800" dirty="0" err="1"/>
              <a:t>명목유의</a:t>
            </a:r>
            <a:r>
              <a:rPr sz="1800" dirty="0"/>
              <a:t>(ΔAUC +0.015~+0.023) — </a:t>
            </a:r>
            <a:r>
              <a:rPr sz="1800" dirty="0" err="1"/>
              <a:t>유일한</a:t>
            </a:r>
            <a:r>
              <a:rPr sz="1800" dirty="0"/>
              <a:t> baseline-</a:t>
            </a:r>
            <a:r>
              <a:rPr sz="1800" dirty="0" err="1"/>
              <a:t>불변</a:t>
            </a:r>
            <a:r>
              <a:rPr sz="1800" dirty="0"/>
              <a:t> </a:t>
            </a:r>
            <a:r>
              <a:rPr sz="1800" dirty="0" err="1"/>
              <a:t>신호</a:t>
            </a:r>
            <a:r>
              <a:rPr sz="1800" dirty="0"/>
              <a:t>(HTN/</a:t>
            </a:r>
            <a:r>
              <a:rPr sz="1800" dirty="0" err="1"/>
              <a:t>DM엔</a:t>
            </a:r>
            <a:r>
              <a:rPr sz="1800" dirty="0"/>
              <a:t> </a:t>
            </a:r>
            <a:r>
              <a:rPr sz="1800" dirty="0" err="1"/>
              <a:t>없음</a:t>
            </a:r>
            <a:r>
              <a:rPr sz="1800" dirty="0"/>
              <a:t>)</a:t>
            </a:r>
          </a:p>
          <a:p>
            <a:r>
              <a:rPr sz="1800" dirty="0"/>
              <a:t>AEC-total(</a:t>
            </a:r>
            <a:r>
              <a:rPr sz="1800" dirty="0" err="1"/>
              <a:t>비크롭</a:t>
            </a:r>
            <a:r>
              <a:rPr sz="1800" dirty="0"/>
              <a:t>) vs AEC-128: 72건 중 3건만 </a:t>
            </a:r>
            <a:r>
              <a:rPr sz="1800" dirty="0" err="1"/>
              <a:t>산발적</a:t>
            </a:r>
            <a:r>
              <a:rPr sz="1800" dirty="0"/>
              <a:t> </a:t>
            </a:r>
            <a:r>
              <a:rPr sz="1800" dirty="0" err="1"/>
              <a:t>유의</a:t>
            </a:r>
            <a:r>
              <a:rPr sz="1800" dirty="0"/>
              <a:t>, </a:t>
            </a:r>
            <a:r>
              <a:rPr sz="1800" dirty="0" err="1"/>
              <a:t>방향</a:t>
            </a:r>
            <a:r>
              <a:rPr sz="1800" dirty="0"/>
              <a:t> </a:t>
            </a:r>
            <a:r>
              <a:rPr sz="1800" dirty="0" err="1"/>
              <a:t>비일관</a:t>
            </a:r>
            <a:r>
              <a:rPr sz="1800" dirty="0"/>
              <a:t> → </a:t>
            </a:r>
            <a:r>
              <a:rPr sz="1800" dirty="0" err="1"/>
              <a:t>크롭·리샘플링</a:t>
            </a:r>
            <a:r>
              <a:rPr sz="1800" dirty="0"/>
              <a:t> </a:t>
            </a:r>
            <a:r>
              <a:rPr sz="1800" dirty="0" err="1"/>
              <a:t>정보손실</a:t>
            </a:r>
            <a:r>
              <a:rPr sz="1800" dirty="0"/>
              <a:t> </a:t>
            </a:r>
            <a:r>
              <a:rPr sz="1800" dirty="0" err="1"/>
              <a:t>근거</a:t>
            </a:r>
            <a:r>
              <a:rPr sz="1800" dirty="0"/>
              <a:t> </a:t>
            </a:r>
            <a:r>
              <a:rPr sz="1800" dirty="0" err="1"/>
              <a:t>없음</a:t>
            </a:r>
            <a:endParaRPr sz="1800" dirty="0"/>
          </a:p>
          <a:p>
            <a:r>
              <a:rPr sz="1800" dirty="0"/>
              <a:t>t-SNE(raw/patient-wise): HTN/DM/CKD </a:t>
            </a:r>
            <a:r>
              <a:rPr sz="1800" dirty="0" err="1"/>
              <a:t>군집</a:t>
            </a:r>
            <a:r>
              <a:rPr sz="1800" dirty="0"/>
              <a:t> </a:t>
            </a:r>
            <a:r>
              <a:rPr sz="1800" dirty="0" err="1"/>
              <a:t>분리</a:t>
            </a:r>
            <a:r>
              <a:rPr sz="1800" dirty="0"/>
              <a:t> </a:t>
            </a:r>
            <a:r>
              <a:rPr sz="1800" dirty="0" err="1"/>
              <a:t>신호</a:t>
            </a:r>
            <a:r>
              <a:rPr sz="1800" dirty="0"/>
              <a:t> </a:t>
            </a:r>
            <a:r>
              <a:rPr sz="1800" dirty="0" err="1"/>
              <a:t>없음</a:t>
            </a:r>
            <a:r>
              <a:rPr sz="1800" dirty="0"/>
              <a:t> — FPCA(</a:t>
            </a:r>
            <a:r>
              <a:rPr sz="1800" dirty="0" err="1"/>
              <a:t>선형</a:t>
            </a:r>
            <a:r>
              <a:rPr sz="1800" dirty="0"/>
              <a:t>) </a:t>
            </a:r>
            <a:r>
              <a:rPr sz="1800" dirty="0" err="1"/>
              <a:t>결론과</a:t>
            </a:r>
            <a:r>
              <a:rPr sz="1800" dirty="0"/>
              <a:t> </a:t>
            </a:r>
            <a:r>
              <a:rPr sz="1800" dirty="0" err="1"/>
              <a:t>일치</a:t>
            </a:r>
            <a:endParaRPr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a:t>
            </a:r>
            <a:r>
              <a:rPr lang="en-US"/>
              <a:t>n</a:t>
            </a:r>
            <a:endParaRPr dirty="0"/>
          </a:p>
        </p:txBody>
      </p:sp>
      <p:sp>
        <p:nvSpPr>
          <p:cNvPr id="3" name="Content Placeholder 2"/>
          <p:cNvSpPr>
            <a:spLocks noGrp="1"/>
          </p:cNvSpPr>
          <p:nvPr>
            <p:ph idx="1"/>
          </p:nvPr>
        </p:nvSpPr>
        <p:spPr/>
        <p:txBody>
          <a:bodyPr wrap="square">
            <a:noAutofit/>
          </a:bodyPr>
          <a:lstStyle/>
          <a:p>
            <a:r>
              <a:rPr sz="1800" dirty="0"/>
              <a:t>세 </a:t>
            </a:r>
            <a:r>
              <a:rPr sz="1800" dirty="0" err="1"/>
              <a:t>질환</a:t>
            </a:r>
            <a:r>
              <a:rPr sz="1800" dirty="0"/>
              <a:t>(HTN/DM/CKD) </a:t>
            </a:r>
            <a:r>
              <a:rPr sz="1800" dirty="0" err="1"/>
              <a:t>공통</a:t>
            </a:r>
            <a:r>
              <a:rPr sz="1800" dirty="0"/>
              <a:t>: AEC </a:t>
            </a:r>
            <a:r>
              <a:rPr sz="1800" dirty="0" err="1"/>
              <a:t>추가</a:t>
            </a:r>
            <a:r>
              <a:rPr sz="1800" dirty="0"/>
              <a:t> 시 AUC +0.001~0.027 </a:t>
            </a:r>
            <a:r>
              <a:rPr sz="1800" dirty="0" err="1"/>
              <a:t>상승</a:t>
            </a:r>
            <a:r>
              <a:rPr sz="1800" dirty="0"/>
              <a:t> </a:t>
            </a:r>
            <a:r>
              <a:rPr sz="1800" dirty="0" err="1"/>
              <a:t>경향</a:t>
            </a:r>
            <a:r>
              <a:rPr sz="1800" dirty="0"/>
              <a:t>, </a:t>
            </a:r>
            <a:r>
              <a:rPr sz="1800" dirty="0" err="1"/>
              <a:t>방향은</a:t>
            </a:r>
            <a:r>
              <a:rPr sz="1800" dirty="0"/>
              <a:t> </a:t>
            </a:r>
            <a:r>
              <a:rPr sz="1800" dirty="0" err="1"/>
              <a:t>일관되나</a:t>
            </a:r>
            <a:r>
              <a:rPr sz="1800" dirty="0"/>
              <a:t> </a:t>
            </a:r>
            <a:r>
              <a:rPr sz="1800" dirty="0" err="1"/>
              <a:t>유의성은</a:t>
            </a:r>
            <a:r>
              <a:rPr sz="1800" dirty="0"/>
              <a:t> </a:t>
            </a:r>
            <a:r>
              <a:rPr sz="1800" dirty="0" err="1"/>
              <a:t>약함</a:t>
            </a:r>
            <a:endParaRPr sz="1800" dirty="0"/>
          </a:p>
          <a:p>
            <a:r>
              <a:rPr sz="1800" dirty="0"/>
              <a:t>Bonferroni </a:t>
            </a:r>
            <a:r>
              <a:rPr sz="1800" dirty="0" err="1"/>
              <a:t>보정</a:t>
            </a:r>
            <a:r>
              <a:rPr sz="1800" dirty="0"/>
              <a:t> </a:t>
            </a:r>
            <a:r>
              <a:rPr sz="1800" dirty="0" err="1"/>
              <a:t>후에는</a:t>
            </a:r>
            <a:r>
              <a:rPr sz="1800" dirty="0"/>
              <a:t> </a:t>
            </a:r>
            <a:r>
              <a:rPr sz="1800" dirty="0" err="1"/>
              <a:t>강건한</a:t>
            </a:r>
            <a:r>
              <a:rPr sz="1800" dirty="0"/>
              <a:t> </a:t>
            </a:r>
            <a:r>
              <a:rPr sz="1800" dirty="0" err="1"/>
              <a:t>개선이</a:t>
            </a:r>
            <a:r>
              <a:rPr sz="1800" dirty="0"/>
              <a:t> </a:t>
            </a:r>
            <a:r>
              <a:rPr sz="1800" dirty="0" err="1"/>
              <a:t>아님</a:t>
            </a:r>
            <a:r>
              <a:rPr sz="1800" dirty="0"/>
              <a:t> (전 </a:t>
            </a:r>
            <a:r>
              <a:rPr sz="1800" dirty="0" err="1"/>
              <a:t>질환·전</a:t>
            </a:r>
            <a:r>
              <a:rPr sz="1800" dirty="0"/>
              <a:t> baseline </a:t>
            </a:r>
            <a:r>
              <a:rPr sz="1800" dirty="0" err="1"/>
              <a:t>개별유의</a:t>
            </a:r>
            <a:r>
              <a:rPr sz="1800" dirty="0"/>
              <a:t> 22/72, </a:t>
            </a:r>
            <a:r>
              <a:rPr sz="1800" dirty="0" err="1"/>
              <a:t>다중비교</a:t>
            </a:r>
            <a:r>
              <a:rPr sz="1800" dirty="0"/>
              <a:t> </a:t>
            </a:r>
            <a:r>
              <a:rPr sz="1800" dirty="0" err="1"/>
              <a:t>생존</a:t>
            </a:r>
            <a:r>
              <a:rPr sz="1800" dirty="0"/>
              <a:t> 0/72)</a:t>
            </a:r>
          </a:p>
          <a:p>
            <a:r>
              <a:rPr sz="1800" dirty="0"/>
              <a:t>Odds </a:t>
            </a:r>
            <a:r>
              <a:rPr sz="1800" dirty="0" err="1"/>
              <a:t>Ratio로</a:t>
            </a:r>
            <a:r>
              <a:rPr sz="1800" dirty="0"/>
              <a:t> </a:t>
            </a:r>
            <a:r>
              <a:rPr sz="1800" dirty="0" err="1"/>
              <a:t>보면</a:t>
            </a:r>
            <a:r>
              <a:rPr sz="1800" dirty="0"/>
              <a:t> AEC Upper/Lower </a:t>
            </a:r>
            <a:r>
              <a:rPr sz="1800" dirty="0" err="1"/>
              <a:t>ratio는</a:t>
            </a:r>
            <a:r>
              <a:rPr sz="1800" dirty="0"/>
              <a:t> </a:t>
            </a:r>
            <a:r>
              <a:rPr sz="1800" dirty="0" err="1"/>
              <a:t>항상</a:t>
            </a:r>
            <a:r>
              <a:rPr sz="1800" dirty="0"/>
              <a:t> </a:t>
            </a:r>
            <a:r>
              <a:rPr sz="1800" dirty="0" err="1"/>
              <a:t>위험증가</a:t>
            </a:r>
            <a:r>
              <a:rPr sz="1800" dirty="0"/>
              <a:t> </a:t>
            </a:r>
            <a:r>
              <a:rPr sz="1800" dirty="0" err="1"/>
              <a:t>방향</a:t>
            </a:r>
            <a:r>
              <a:rPr sz="1800" dirty="0"/>
              <a:t>(OR&gt;1), FPCA PC2는 </a:t>
            </a:r>
            <a:r>
              <a:rPr sz="1800" dirty="0" err="1"/>
              <a:t>항상</a:t>
            </a:r>
            <a:r>
              <a:rPr sz="1800" dirty="0"/>
              <a:t> </a:t>
            </a:r>
            <a:r>
              <a:rPr sz="1800" dirty="0" err="1"/>
              <a:t>보호적</a:t>
            </a:r>
            <a:r>
              <a:rPr sz="1800" dirty="0"/>
              <a:t> </a:t>
            </a:r>
            <a:r>
              <a:rPr sz="1800" dirty="0" err="1"/>
              <a:t>방향</a:t>
            </a:r>
            <a:r>
              <a:rPr sz="1800" dirty="0"/>
              <a:t>(OR&lt;1) — HTN/DM/CKD </a:t>
            </a:r>
            <a:r>
              <a:rPr sz="1800" dirty="0" err="1"/>
              <a:t>전부</a:t>
            </a:r>
            <a:r>
              <a:rPr sz="1800" dirty="0"/>
              <a:t> </a:t>
            </a:r>
            <a:r>
              <a:rPr sz="1800" dirty="0" err="1"/>
              <a:t>동일</a:t>
            </a:r>
            <a:endParaRPr sz="1800" dirty="0"/>
          </a:p>
          <a:p>
            <a:r>
              <a:rPr sz="1800" dirty="0" err="1"/>
              <a:t>예외</a:t>
            </a:r>
            <a:r>
              <a:rPr sz="1800" dirty="0"/>
              <a:t>: CKD external + Upper/Lower </a:t>
            </a:r>
            <a:r>
              <a:rPr sz="1800" dirty="0" err="1"/>
              <a:t>ratio는</a:t>
            </a:r>
            <a:r>
              <a:rPr sz="1800" dirty="0"/>
              <a:t> baseline 6종 </a:t>
            </a:r>
            <a:r>
              <a:rPr sz="1800" dirty="0" err="1"/>
              <a:t>전부에서</a:t>
            </a:r>
            <a:r>
              <a:rPr sz="1800" dirty="0"/>
              <a:t> </a:t>
            </a:r>
            <a:r>
              <a:rPr sz="1800" dirty="0" err="1"/>
              <a:t>개별유의</a:t>
            </a:r>
            <a:r>
              <a:rPr sz="1800" dirty="0"/>
              <a:t> — 세 </a:t>
            </a:r>
            <a:r>
              <a:rPr sz="1800" dirty="0" err="1"/>
              <a:t>질환</a:t>
            </a:r>
            <a:r>
              <a:rPr sz="1800" dirty="0"/>
              <a:t> 중 </a:t>
            </a:r>
            <a:r>
              <a:rPr sz="1800" dirty="0" err="1"/>
              <a:t>유일한</a:t>
            </a:r>
            <a:r>
              <a:rPr sz="1800" dirty="0"/>
              <a:t> baseline-</a:t>
            </a:r>
            <a:r>
              <a:rPr sz="1800" dirty="0" err="1"/>
              <a:t>불변</a:t>
            </a:r>
            <a:r>
              <a:rPr sz="1800" dirty="0"/>
              <a:t> </a:t>
            </a:r>
            <a:r>
              <a:rPr sz="1800" dirty="0" err="1"/>
              <a:t>신호</a:t>
            </a:r>
            <a:endParaRPr sz="1800" dirty="0"/>
          </a:p>
          <a:p>
            <a:r>
              <a:rPr sz="1800" dirty="0" err="1"/>
              <a:t>Baseline을</a:t>
            </a:r>
            <a:r>
              <a:rPr sz="1800" dirty="0"/>
              <a:t> </a:t>
            </a:r>
            <a:r>
              <a:rPr sz="1800" dirty="0" err="1"/>
              <a:t>어떻게</a:t>
            </a:r>
            <a:r>
              <a:rPr sz="1800" dirty="0"/>
              <a:t> </a:t>
            </a:r>
            <a:r>
              <a:rPr sz="1800" dirty="0" err="1"/>
              <a:t>확장해도</a:t>
            </a:r>
            <a:r>
              <a:rPr sz="1800" dirty="0"/>
              <a:t>(</a:t>
            </a:r>
            <a:r>
              <a:rPr sz="1800" dirty="0" err="1"/>
              <a:t>스캐너</a:t>
            </a:r>
            <a:r>
              <a:rPr sz="1800" dirty="0"/>
              <a:t>/</a:t>
            </a:r>
            <a:r>
              <a:rPr sz="1800" dirty="0" err="1"/>
              <a:t>체성분</a:t>
            </a:r>
            <a:r>
              <a:rPr sz="1800" dirty="0"/>
              <a:t>/</a:t>
            </a:r>
            <a:r>
              <a:rPr sz="1800" dirty="0" err="1"/>
              <a:t>비율</a:t>
            </a:r>
            <a:r>
              <a:rPr sz="1800" dirty="0"/>
              <a:t>) 위 </a:t>
            </a:r>
            <a:r>
              <a:rPr sz="1800" dirty="0" err="1"/>
              <a:t>결론은</a:t>
            </a:r>
            <a:r>
              <a:rPr sz="1800" dirty="0"/>
              <a:t> </a:t>
            </a:r>
            <a:r>
              <a:rPr sz="1800" dirty="0" err="1"/>
              <a:t>바뀌지</a:t>
            </a:r>
            <a:r>
              <a:rPr sz="1800" dirty="0"/>
              <a:t> </a:t>
            </a:r>
            <a:r>
              <a:rPr sz="1800" dirty="0" err="1"/>
              <a:t>않음</a:t>
            </a:r>
            <a:r>
              <a:rPr sz="1800" dirty="0"/>
              <a:t>(baseline-invariant)</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A4B9BE-6ABB-4644-A858-A1BE01A7D227}">
  <we:reference id="wa200010725" version="1.0.0.1" store="ko-KR" storeType="OMEX"/>
  <we:alternateReferences>
    <we:reference id="WA200010725" version="1.0.0.1" store="WA200010725" storeType="OMEX"/>
  </we:alternateReferences>
  <we:properties>
    <we:property name="claude.fileId" value="&quot;b67ecc52-606c-4d9b-921c-389ac737e61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7216</TotalTime>
  <Words>2949</Words>
  <Application>Microsoft Office PowerPoint</Application>
  <PresentationFormat>와이드스크린</PresentationFormat>
  <Paragraphs>434</Paragraphs>
  <Slides>20</Slides>
  <Notes>15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20</vt:i4>
      </vt:variant>
    </vt:vector>
  </HeadingPairs>
  <TitlesOfParts>
    <vt:vector size="24" baseType="lpstr">
      <vt:lpstr>KoPub돋움체 Medium</vt:lpstr>
      <vt:lpstr>KoPub돋움체 Bold</vt:lpstr>
      <vt:lpstr>Arial</vt:lpstr>
      <vt:lpstr>Office 테마</vt:lpstr>
      <vt:lpstr>PowerPoint 프레젠테이션</vt:lpstr>
      <vt:lpstr>목차</vt:lpstr>
      <vt:lpstr>Research Summary</vt:lpstr>
      <vt:lpstr>실험설계 ① Baseline 6종 정의</vt:lpstr>
      <vt:lpstr>실험설계 ② AEC Feature · 검증 원칙</vt:lpstr>
      <vt:lpstr>결과 ① Baseline별 AUC 요약</vt:lpstr>
      <vt:lpstr>결과 ② DM AUC — Baseline vs AEC 추가</vt:lpstr>
      <vt:lpstr>결과 ③ DM AUC 개선 유의성 (DeLong, external)</vt:lpstr>
      <vt:lpstr>결과 ④ DM Odds Ratio — Baseline(clinic4)</vt:lpstr>
      <vt:lpstr>결과 ⑤ DM Odds Ratio — AEC 항 요약 (internal full-fit)</vt:lpstr>
      <vt:lpstr>결과 ⑥ HTN AUC — Baseline vs AEC 추가</vt:lpstr>
      <vt:lpstr>결과 ⑦ HTN AUC 개선 유의성 (DeLong, external)</vt:lpstr>
      <vt:lpstr>결과 ⑧ HTN Odds Ratio — Baseline(clinic4)</vt:lpstr>
      <vt:lpstr>결과 ⑨ HTN Odds Ratio — AEC 항 요약 (internal full-fit)</vt:lpstr>
      <vt:lpstr>결과 ⑩ CKD AUC — Baseline vs AEC 추가</vt:lpstr>
      <vt:lpstr>결과 ⑪ CKD AUC 개선 유의성 (DeLong, external)</vt:lpstr>
      <vt:lpstr>결과 ⑫ CKD Odds Ratio — Baseline(clinic4)</vt:lpstr>
      <vt:lpstr>결과 ⑬ CKD Odds Ratio — AEC 항 요약 (internal full-fit)</vt:lpstr>
      <vt:lpstr>부록: 기타 강건성 체크 요약</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전장훈</dc:creator>
  <cp:lastModifiedBy>전장훈</cp:lastModifiedBy>
  <cp:revision>695</cp:revision>
  <dcterms:created xsi:type="dcterms:W3CDTF">2026-04-09T07:05:16Z</dcterms:created>
  <dcterms:modified xsi:type="dcterms:W3CDTF">2026-09-10T03:23:28Z</dcterms:modified>
</cp:coreProperties>
</file>