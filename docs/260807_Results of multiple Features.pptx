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619" r:id="rId3"/>
    <p:sldId id="618" r:id="rId4"/>
    <p:sldId id="624" r:id="rId5"/>
    <p:sldId id="498" r:id="rId6"/>
    <p:sldId id="489" r:id="rId7"/>
    <p:sldId id="620" r:id="rId8"/>
    <p:sldId id="625" r:id="rId9"/>
    <p:sldId id="622" r:id="rId10"/>
    <p:sldId id="499" r:id="rId11"/>
    <p:sldId id="484" r:id="rId12"/>
    <p:sldId id="497" r:id="rId13"/>
    <p:sldId id="500" r:id="rId14"/>
    <p:sldId id="621" r:id="rId15"/>
    <p:sldId id="501" r:id="rId16"/>
    <p:sldId id="623" r:id="rId17"/>
    <p:sldId id="481" r:id="rId18"/>
    <p:sldId id="482" r:id="rId19"/>
    <p:sldId id="488" r:id="rId20"/>
    <p:sldId id="487" r:id="rId21"/>
    <p:sldId id="490" r:id="rId22"/>
    <p:sldId id="491" r:id="rId23"/>
    <p:sldId id="492" r:id="rId24"/>
    <p:sldId id="493" r:id="rId25"/>
    <p:sldId id="494" r:id="rId26"/>
    <p:sldId id="495" r:id="rId27"/>
    <p:sldId id="496" r:id="rId28"/>
  </p:sldIdLst>
  <p:sldSz cx="12192000" cy="6858000"/>
  <p:notesSz cx="6858000" cy="9144000"/>
  <p:embeddedFontLst>
    <p:embeddedFont>
      <p:font typeface="KoPub돋움체 Bold" panose="00000800000000000000" pitchFamily="2" charset="-127"/>
      <p:bold r:id="rId30"/>
    </p:embeddedFont>
    <p:embeddedFont>
      <p:font typeface="KoPub돋움체 Medium" panose="00000600000000000000" pitchFamily="2" charset="-127"/>
      <p:regular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19"/>
            <p14:sldId id="618"/>
            <p14:sldId id="624"/>
            <p14:sldId id="498"/>
            <p14:sldId id="489"/>
            <p14:sldId id="620"/>
            <p14:sldId id="625"/>
          </p14:sldIdLst>
        </p14:section>
        <p14:section name="여기부터 수정요망" id="{ADC672DF-DBA0-48A4-879D-E27D91654A53}">
          <p14:sldIdLst>
            <p14:sldId id="622"/>
            <p14:sldId id="499"/>
            <p14:sldId id="484"/>
            <p14:sldId id="497"/>
            <p14:sldId id="500"/>
            <p14:sldId id="621"/>
            <p14:sldId id="501"/>
            <p14:sldId id="623"/>
            <p14:sldId id="481"/>
            <p14:sldId id="482"/>
            <p14:sldId id="488"/>
            <p14:sldId id="487"/>
            <p14:sldId id="490"/>
            <p14:sldId id="491"/>
            <p14:sldId id="492"/>
            <p14:sldId id="493"/>
            <p14:sldId id="494"/>
            <p14:sldId id="495"/>
            <p14:sldId id="4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545" autoAdjust="0"/>
  </p:normalViewPr>
  <p:slideViewPr>
    <p:cSldViewPr snapToGrid="0">
      <p:cViewPr varScale="1">
        <p:scale>
          <a:sx n="100" d="100"/>
          <a:sy n="100" d="100"/>
        </p:scale>
        <p:origin x="93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2026-08-04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E463-B251-0C2E-E736-5868CF27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AA0AC-1128-84C3-6A31-6254252017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026D2-1F81-C7A4-92DF-45C6CB2DC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5721D-0B49-0A35-0055-ABEAAB0A4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6952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1EDB8-D3F6-3507-04D0-3A38924F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15CE-E7A1-A7FF-51C5-EA691D7A5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5C74F-6EC5-204E-9170-BC4AB6C07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313A3-7C82-396F-2E97-27A91023E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6658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AD335-5AB6-1A72-8095-E8D4D467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7CEBC-5493-AA8E-842A-48A8451CA6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70FF2-C7CF-7DA5-42FD-148A8982D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BB817-497D-5B69-36A9-CF412C7E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75449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6919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clinic4(sex/age/height/weight) 4변수만으로 학습한 baseline 선형회귀 결과(internal, 5-fold OOF), 7개 체성분 feature의 R²가 0.333(IMATA)부터 0.646(TAMA)까지 분포한다. TAMA·NAMA(근육계열)가 가장 높고(0.646, 0.591), IMATA가 가장 낮다(0.333). 나머지(LAMA·VAT·SAT·Total Fat)는 0.419~0.528 구간에 있다.</a:t>
            </a:r>
          </a:p>
          <a:p>
            <a:endParaRPr/>
          </a:p>
          <a:p>
            <a:r>
              <a:t>R²=1-SS_res/SS_tot(잔차제곱합/전체제곱합)로 정의되므로, 모델 예측이 '평균값으로만 예측'하는 것보다 못하면(SS_res&gt;SS_tot) R²는 음수가 될 수 있다. LAMA는 예외적으로 external(신촌) 검증에서 이 경우에 해당해 R²가 -0.035로 붕괴한다 — 강남(internal) 코호트 평균 4192 vs 신촌(external) 코호트 평균 5521(+31.7%)로 코호트 간 평균 차이가 크고, internal에서 학습한 모델을 external에 그대로(frozen) 적용하면 상수 편향(bias=-1206)이 생겨 이 bias²만으로 external MSE의 32%를 차지한다. 편향 제거 시 R²는 약 +0.30까지 회복된다.</a:t>
            </a:r>
          </a:p>
          <a:p>
            <a:endParaRPr/>
          </a:p>
          <a:p>
            <a:r>
              <a:t>잔차 정규성: 7개 feature 전부 internal Shapiro-Wilk 검정에서 p&lt;0.05로 정규성을 위배한다. 잔차 산점도에서 입력값이 커질수록 잔차 분산도 커지는 이분산성 경향도 관찰된다.</a:t>
            </a:r>
          </a:p>
          <a:p>
            <a:endParaRPr/>
          </a:p>
          <a:p>
            <a:r>
              <a:t>그래프에는 R²·Pearson r만 남겼다 — 둘 다 정규화된 지표라 feature 간 직접 비교가 가능하기 때문이다(Pearson r 범위 0.577~0.804, 전 feature 강한 선형연관). RMSE·MAE는 feature의 원 단위(cm²) 절대 스케일에 좌우돼(예: IMATA RMSE 463 vs Total Fat RMSE 8012, 약 17배 차이) feature 간 비교가 무의미해 그래프에서 제외했다.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0D3FF-60B7-09AB-8353-88D491674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72A32-B933-8762-18B6-977F160DA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80D6B-5245-E6C0-1935-770874A18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clinic4(성별·나이·키·몸무게) 4변수에 AEC-128 전체 평균값 1개(N=1)만 추가한 모델의 상관관계 근거다. 우측 히트맵은 AEC 평균과 7개 체성분 feature 간 Pearson r로 internal·external 모두 전 feature에서 유의(p&lt;0.05)하고 부호도 양(+)으로 일관된다 — AEC 평균이라는 정보 자체는 여전히 유의한 상관을 갖는다. 좌측 히트맵은 clinic4 4변수 각각과 AEC 평균의 상관으로, Weight가 internal r=0.536(p=4.8e-82)/external r=0.358(p=2.4e-29)로 다른 3개 변수(0.08~0.19)의 2~4배에 달하는 압도적 상관을 보인다 — 체중이 클수록 CT가 자동으로 관전류(mAs)를 올리는 물리적 인과관계다. 이 다중공선성이 다음 슬라이드(R² 성능 결과)에서 AEC 추가의 순수 기여분이 작고 external에서 오히려 해로워지는 이유의 근거다.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F6766-C890-8603-9DDA-F637A22AF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3836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83C5-F1BE-FC65-5AF9-E7E47CC4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2DCB0-4BC2-B0F8-7007-57F898B82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E90E0-A7DE-89E9-2254-2E8F04AA8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clinic4 4변수에 AEC 평균 1개(N=1)를 추가한 모델의 R² 성능 결과다. Internal(5-fold OOF)에서는 7개 feature 전부 R²가 개선됐다(표 ΔInt 열, +0.004~+0.022, 최대 IMATA). External(신촌, frozen 모델 적용)에서는 반대로 7개 feature 전부 악화됐다(표 ΔExt 열, -0.029~-0.193), NAMA가 -0.193[-0.226,-0.164]로 가장 크게 나빠졌다(paired bootstrap 5,000회 95% CI 전부 0 미만, 유의). 원인은 AEC 정보 자체의 결함이 아니다 — AEC 평균은 7개 feature 전부와 internal·external 모두 유의한 상관을 갖는다(Pearson r 0.08~0.54, 전부 p&lt;0.05). 실제 원인은 128개 슬라이스를 1개 숫자로 지나치게 압축한 것과, AEC가 clinic4 중 이미 가장 강한 예측변수인 Weight와 상당 부분 겹치는 정보(internal r=0.536, p=4.8e-82)라는 데 있다 — 체중이 클수록 CT가 자동으로 관전류(mAs)를 올리는 물리적 인과관계 때문이다. 이는 Step2(형태 feature)·Step3(구간 수 sweep)에서 정보량을 늘렸을 때 결과가 달라지는 것으로 뒷받침된다.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D0F8-7A1D-956F-D937-5469774FD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8656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33A0A-7B13-3D73-9E05-39B762A4E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27186-7844-EE33-0B62-77D0E36D96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BE171-7064-788A-60B4-EF29565F8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AC697-A7FC-C390-0C9C-E987E49C6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49187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5768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EC2C2-F390-6A32-C14E-C8800415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43792-1332-DB9E-6401-E3FFA4641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9A509-5F98-8A57-C8D4-55515E473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93EA-70C6-0D1B-3B22-6C523A8F4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6889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9569-655C-292A-61E2-27F4B371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57233-279B-4066-92C2-7561A13B0D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06744-7F94-666F-5496-2E0F4400A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50010-9EEF-CEAB-0C55-AD5F240D4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91512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Results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of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Multiple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Features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8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07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5B65-D819-B010-E512-17767E2C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9E3E-AFF8-62AC-4EA4-BF05B744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 Papers - AEC 곡선 분석 방법론 근거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3E33AB-7E24-A44A-6C01-1100A59A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7"/>
            <a:ext cx="11176000" cy="535424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Step 1·3 근거 — 구간평균(PAA)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Keogh E, Chakrabarti K, Pazzani M, Mehrotra S., Dimensionality Reduction for Fast Similarity Search in Large Time Series Databases (PAA), Knowledge and Information Systems, 2001.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곡선을 N구간 평균으로 압축하는 표준 차원축소 기법(PAA</a:t>
            </a:r>
            <a:r>
              <a:rPr lang="en-US" altLang="ko-KR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ko-KR" sz="1200" dirty="0" err="1"/>
              <a:t>Piecewise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Aggregate</a:t>
            </a:r>
            <a:r>
              <a:rPr lang="ko-KR" altLang="ko-KR" sz="1200" dirty="0"/>
              <a:t> </a:t>
            </a:r>
            <a:r>
              <a:rPr lang="ko-KR" altLang="ko-KR" sz="1200" dirty="0" err="1"/>
              <a:t>Approximation</a:t>
            </a: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— N=1: 전체평균, N=2: 앞/뒤 50%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2024년 최신 벤치마크(Middlehurst et al., DMKD)에서도 interval mean·variance·slope, SAX 기반 구간요약이 여전히 표준으로 확인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AEC-128 평균 mAs(Step1)·구간수 2~128 Sweep·앞뒤50%(Step3) 설계 근거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Step 2 근거 — 곡선 형태 Feature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Barandas M et al., TSFEL: Time Series Feature Extraction Library, SoftwareX, 2020.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SD·Skewness 등 통계적 모멘트를 곡선 요약 feature로 쓰는 최신 표준 라이브러리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step2_clinic_aec_shape.py의 SD·Skewness·앞뒤비율 형태 feature 설계 근거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Step 3 근거 — 구간 선택(Top-k)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Li J et al., Feature Selection: A Data Perspective, ACM Computing Surveys, 2017.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F-검정 등 통계량 기반 filter법으로 관련성 높은 변수만 선택(SelectKBest)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8구간 중 F-검정 상위 k개 선택(Top-k, k=1~8) 설계 근거</a:t>
            </a:r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CV 내부 선택 — Leakage 방지</a:t>
            </a:r>
          </a:p>
          <a:p>
            <a:pPr marL="788670" lvl="1" indent="-331470">
              <a:spcBef>
                <a:spcPts val="200"/>
              </a:spcBef>
              <a:buFont typeface="Arial"/>
              <a:buChar char="•"/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Vabalas A, Gowen E, Poliakoff E, Casson AJ., Machine learning algorithm validation with a limited sample size, PLOS ONE, 2019.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소표본(n~1000대)에서 K-fold CV가 성능을 낙관적으로 편향시킬 위험을 정량 검증</a:t>
            </a:r>
          </a:p>
          <a:p>
            <a:pPr marL="788670" lvl="1" indent="0">
              <a:spcBef>
                <a:spcPts val="100"/>
              </a:spcBef>
              <a:buNone/>
            </a:pPr>
            <a:r>
              <a:rPr lang="ko-KR" altLang="en-US" sz="1200" dirty="0">
                <a:solidFill>
                  <a:srgbClr val="375623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step3_clinic_aec_segment_select.py의 Pipeline 내 SelectKBest 설계 근거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F58907-C837-7385-930A-51E8D95E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7926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33089-A92C-12D5-3225-F71B1711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3BFE-B078-9DD0-5E70-CD302E75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79CD689-5210-FA41-FC11-2E0897906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0743474" cy="5063066"/>
          </a:xfrm>
        </p:spPr>
        <p:txBody>
          <a:bodyPr>
            <a:normAutofit/>
          </a:bodyPr>
          <a:lstStyle/>
          <a:p>
            <a:r>
              <a:t>핵심 결론: AEC-128 추가는 VAT·Total Fat만 통계적으로 유의하게 개선, NAMA·TAMA는 항상 유의하게 악화(paired bootstrap 확증)</a:t>
            </a:r>
          </a:p>
          <a:p>
            <a:pPr lvl="1"/>
            <a:r>
              <a:t>clinic4 baseline: TAMA 최고(R²=0.646→0.711), LAMA external 붕괴(R²=-0.035)</a:t>
            </a:r>
          </a:p>
          <a:p>
            <a:pPr lvl="1"/>
            <a:r>
              <a:t>AEC 추가 4개 실험(단일평균·형태feature·top-k·앞뒤50%) paired bootstrap 확증: VAT·Total Fat는 정보 보존 표현(형태feature·top-k)에서만 유의개선(단일평균·앞뒤50%에서는 동일하게 유의 악화), IMATA·SAT는 유의 효과 없음(n.s.), NAMA·TAMA는 4개 실험 전부 유의 악화</a:t>
            </a:r>
          </a:p>
          <a:p>
            <a:pPr lvl="1"/>
            <a:r>
              <a:t>기전: 근육 관련 AEC 상관 원래 약함(NAMA |r|&lt;0.25), 지방은 스캔 후반부 구간에서 강함(VAT r≈0.6) — 자체 상관분석(code/step1_clinic_aec_mean.py)</a:t>
            </a:r>
          </a:p>
          <a:p>
            <a:pPr lvl="1"/>
            <a:r>
              <a:t>이진분류(Cutoff→Binary)는 스케일 불일치·cutoff 타당성 문제로 보류 — 재검토 후 재시도 예정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8DE95CB-66E3-4F39-6A11-91F952275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9245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0C5C-FB8E-E360-C861-85CD5A933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C932-6F43-BCAA-29D7-4695CDB4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E4CA7D9-A446-D76A-AC03-9A434A54C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ko-KR" dirty="0"/>
              <a:t>Step 0(Baseline): 4 Clinic Data </a:t>
            </a:r>
            <a:r>
              <a:rPr lang="ko-KR" altLang="en-US" dirty="0"/>
              <a:t>→ </a:t>
            </a:r>
            <a:r>
              <a:rPr lang="en-US" altLang="ko-KR" dirty="0"/>
              <a:t>7 Outputs (IMATA, LAMA, NAMA, TAMA, VAT, SAT, Total Fat)</a:t>
            </a:r>
          </a:p>
          <a:p>
            <a:pPr lvl="1"/>
            <a:r>
              <a:rPr lang="en-US" altLang="ko-KR" dirty="0"/>
              <a:t>AEC </a:t>
            </a:r>
            <a:r>
              <a:rPr lang="ko-KR" altLang="en-US" dirty="0"/>
              <a:t>없는 기준 성능 확인</a:t>
            </a:r>
            <a:endParaRPr lang="en-US" altLang="ko-KR" dirty="0"/>
          </a:p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1: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AEC </a:t>
            </a:r>
            <a:r>
              <a:rPr lang="ko-KR" altLang="en-US" dirty="0"/>
              <a:t>평균 </a:t>
            </a:r>
            <a:r>
              <a:rPr lang="en-US" altLang="ko-KR" dirty="0" err="1"/>
              <a:t>mAs</a:t>
            </a:r>
            <a:r>
              <a:rPr lang="en-US" altLang="ko-KR" dirty="0"/>
              <a:t>(</a:t>
            </a:r>
            <a:r>
              <a:rPr lang="ko-KR" altLang="en-US" dirty="0"/>
              <a:t>단일 숫자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가장 단순한 </a:t>
            </a:r>
            <a:r>
              <a:rPr lang="en-US" altLang="ko-KR" dirty="0"/>
              <a:t>AEC </a:t>
            </a:r>
            <a:r>
              <a:rPr lang="ko-KR" altLang="en-US" dirty="0" err="1"/>
              <a:t>요약값의</a:t>
            </a:r>
            <a:r>
              <a:rPr lang="ko-KR" altLang="en-US" dirty="0"/>
              <a:t> 기여도 확인</a:t>
            </a:r>
            <a:endParaRPr lang="en-US" altLang="ko-KR" dirty="0"/>
          </a:p>
          <a:p>
            <a:r>
              <a:rPr lang="en-US" altLang="ko-KR" dirty="0"/>
              <a:t>Step 2: + </a:t>
            </a:r>
            <a:r>
              <a:rPr lang="ko-KR" altLang="en-US" dirty="0"/>
              <a:t>구간별 평균 비율</a:t>
            </a:r>
            <a:r>
              <a:rPr lang="en-US" altLang="ko-KR" dirty="0"/>
              <a:t> (Region </a:t>
            </a:r>
            <a:r>
              <a:rPr lang="ko-KR" altLang="en-US" dirty="0"/>
              <a:t>간 비율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공간적 분포 정보 추가</a:t>
            </a:r>
            <a:endParaRPr lang="en-US" altLang="ko-KR" dirty="0"/>
          </a:p>
          <a:p>
            <a:r>
              <a:rPr lang="en-US" altLang="ko-KR" dirty="0"/>
              <a:t>Step 3: + SD, Skewness, Upper/Lower 50% </a:t>
            </a:r>
            <a:r>
              <a:rPr lang="ko-KR" altLang="en-US" dirty="0"/>
              <a:t>비율 등</a:t>
            </a:r>
            <a:endParaRPr lang="en-US" altLang="ko-KR" dirty="0"/>
          </a:p>
          <a:p>
            <a:pPr lvl="1"/>
            <a:r>
              <a:rPr lang="ko-KR" altLang="en-US" dirty="0"/>
              <a:t>통계적 형태 피처 순차 추가</a:t>
            </a:r>
            <a:endParaRPr lang="en-US" altLang="ko-KR" dirty="0"/>
          </a:p>
          <a:p>
            <a:r>
              <a:rPr lang="ko-KR" altLang="en-US" dirty="0"/>
              <a:t>최종 목표</a:t>
            </a:r>
            <a:r>
              <a:rPr lang="en-US" altLang="ko-KR" dirty="0"/>
              <a:t>: </a:t>
            </a:r>
            <a:r>
              <a:rPr lang="ko-KR" altLang="en-US" dirty="0"/>
              <a:t>위 </a:t>
            </a:r>
            <a:r>
              <a:rPr lang="en-US" altLang="ko-KR" dirty="0"/>
              <a:t>Feature </a:t>
            </a:r>
            <a:r>
              <a:rPr lang="ko-KR" altLang="en-US" dirty="0"/>
              <a:t>기반 </a:t>
            </a:r>
            <a:r>
              <a:rPr lang="en-US" altLang="ko-KR" dirty="0"/>
              <a:t>Cutoff </a:t>
            </a:r>
            <a:r>
              <a:rPr lang="ko-KR" altLang="en-US" dirty="0"/>
              <a:t>→ </a:t>
            </a:r>
            <a:r>
              <a:rPr lang="en-US" altLang="ko-KR" dirty="0"/>
              <a:t>Binary </a:t>
            </a:r>
            <a:r>
              <a:rPr lang="ko-KR" altLang="en-US" dirty="0"/>
              <a:t>변환</a:t>
            </a:r>
            <a:endParaRPr lang="en-US" altLang="ko-KR" dirty="0"/>
          </a:p>
          <a:p>
            <a:pPr lvl="1"/>
            <a:r>
              <a:rPr lang="en-US" altLang="ko-KR" dirty="0"/>
              <a:t>AUC / Sensitivity / Specificity </a:t>
            </a:r>
            <a:r>
              <a:rPr lang="ko-KR" altLang="en-US" dirty="0"/>
              <a:t>→ </a:t>
            </a:r>
            <a:r>
              <a:rPr lang="en-US" altLang="ko-KR" dirty="0"/>
              <a:t>External Validation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F7C1E4-6AF0-3395-FD37-7238835EF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30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E98C6A9-5F1A-E7EA-9BF1-CCEA81AC7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077" y="2727372"/>
            <a:ext cx="6250923" cy="36924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Feature × Clinic4 — 개별 변수 상관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clinic4 4변수 × 체성분 7종 단순 Pearson r</a:t>
            </a:r>
          </a:p>
          <a:p>
            <a:pPr lvl="1"/>
            <a:r>
              <a:t>Weight: 최강·최다 상관(TAMA r=0.76/0.77)</a:t>
            </a:r>
          </a:p>
          <a:p>
            <a:pPr lvl="1"/>
            <a:r>
              <a:t>Sex(M): 근육계열 양(+), SAT 음(-)(r=-0.34/-0.43)</a:t>
            </a:r>
          </a:p>
          <a:p>
            <a:pPr lvl="1"/>
            <a:r>
              <a:t>Height: 근육계열만 강함(r=0.62~0.69), 지방계열 무관</a:t>
            </a:r>
          </a:p>
          <a:p>
            <a:pPr lvl="1"/>
            <a:r>
              <a:t>Age: 전반 약함(|r|&lt;0.4), TAMA·총지방량 무관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2145F8-B219-4380-F2E5-4AD5BB0C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7820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0 (Baseline): 4 Clinic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clinic4 4변수 baseline(internal): R² 0.333~0.646, feature별 편차 큼</a:t>
            </a:r>
          </a:p>
          <a:p>
            <a:pPr lvl="1"/>
            <a:r>
              <a:rPr dirty="0"/>
              <a:t>TAMA 최고(0.646) · IMATA 최저(0.333) · LAMA만 external 붕괴 참고(R²=-0.035)</a:t>
            </a:r>
          </a:p>
          <a:p>
            <a:pPr lvl="1"/>
            <a:r>
              <a:rPr dirty="0"/>
              <a:t>잔차 정규성 위배(Shapiro p&lt;0.05) · 이분산성</a:t>
            </a:r>
          </a:p>
          <a:p>
            <a:pPr lvl="1"/>
            <a:r>
              <a:t>Pearson r(internal) 0.58~0.80로 전 feature 강한 선형연관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4B9BF3-398F-9C73-2D43-80D55DA4F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6247177-A095-1E54-FE9A-DE047D657BDF}"/>
              </a:ext>
            </a:extLst>
          </p:cNvPr>
          <p:cNvGrpSpPr/>
          <p:nvPr/>
        </p:nvGrpSpPr>
        <p:grpSpPr>
          <a:xfrm>
            <a:off x="844531" y="3169092"/>
            <a:ext cx="10502937" cy="3069826"/>
            <a:chOff x="641197" y="3169092"/>
            <a:chExt cx="10502937" cy="306982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FF84B8F-2DD0-1DA1-02A0-6E6AC2FFDACA}"/>
                </a:ext>
              </a:extLst>
            </p:cNvPr>
            <p:cNvGrpSpPr/>
            <p:nvPr/>
          </p:nvGrpSpPr>
          <p:grpSpPr>
            <a:xfrm>
              <a:off x="4413291" y="3169092"/>
              <a:ext cx="6730843" cy="3069826"/>
              <a:chOff x="3067050" y="3442716"/>
              <a:chExt cx="6057900" cy="2762908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E0E26CE4-9D83-AC1A-E406-7B036EB935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75156"/>
              <a:stretch>
                <a:fillRect/>
              </a:stretch>
            </p:blipFill>
            <p:spPr>
              <a:xfrm>
                <a:off x="3067050" y="3442716"/>
                <a:ext cx="3028950" cy="2762908"/>
              </a:xfrm>
              <a:prstGeom prst="rect">
                <a:avLst/>
              </a:prstGeom>
            </p:spPr>
          </p:pic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A525EC86-985D-BB60-79D2-DE80D4D04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5156"/>
              <a:stretch>
                <a:fillRect/>
              </a:stretch>
            </p:blipFill>
            <p:spPr>
              <a:xfrm>
                <a:off x="6096000" y="3442716"/>
                <a:ext cx="3028950" cy="2762908"/>
              </a:xfrm>
              <a:prstGeom prst="rect">
                <a:avLst/>
              </a:prstGeom>
            </p:spPr>
          </p:pic>
        </p:grpSp>
        <p:pic>
          <p:nvPicPr>
            <p:cNvPr id="5" name="그림 4" descr="결정계수 R-Squared | 블로그 | 모두의연구소">
              <a:extLst>
                <a:ext uri="{FF2B5EF4-FFF2-40B4-BE49-F238E27FC236}">
                  <a16:creationId xmlns:a16="http://schemas.microsoft.com/office/drawing/2014/main" id="{4CA8C47B-CC03-0C7C-24FD-77BEB441F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197" y="4316635"/>
              <a:ext cx="3772094" cy="7747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395B-5A5A-7711-490F-661C2BB4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88FD-9A33-C49B-04EC-5E8D7D4CD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Step 1: + AEC 평균 mAs(단일 숫자) — 상관관계 근거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FF263F8-48B7-8CEA-B6D2-7FF384D3F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clinic4 + AEC 평균(N=1) 추가 모델</a:t>
            </a:r>
            <a:endParaRPr lang="ko-KR" altLang="en-US" dirty="0"/>
          </a:p>
          <a:p>
            <a:pPr lvl="1"/>
            <a:r>
              <a:t>AEC 평균은 7개 feature 전부와 유의한 상관(우측 히트맵, 전부 p&lt;0.05)</a:t>
            </a:r>
          </a:p>
          <a:p>
            <a:pPr lvl="1"/>
            <a:r>
              <a:t>AEC-Weight 상관 r=0.54(다중공선성, 좌측 히트맵) — clinic4 중 최강 예측변수와 정보 중복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3BDA90-B90E-693F-C64F-95FDA136A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1EC7E5-8C53-2722-C8D1-E911A46C8FEA}"/>
              </a:ext>
            </a:extLst>
          </p:cNvPr>
          <p:cNvGrpSpPr/>
          <p:nvPr/>
        </p:nvGrpSpPr>
        <p:grpSpPr>
          <a:xfrm>
            <a:off x="920264" y="2900000"/>
            <a:ext cx="10351472" cy="3400000"/>
            <a:chOff x="508000" y="2900000"/>
            <a:chExt cx="10351472" cy="34000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6066010-AEEA-CD7B-CBAB-39C6473AA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000" y="2900000"/>
              <a:ext cx="5863768" cy="34000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DE2DB61-3054-A8DC-3769-72E66CB1A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1768" y="2900000"/>
              <a:ext cx="4487704" cy="34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169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8847-5C9F-65EA-79C4-E54AA3989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CC4A-1DA9-366C-4423-77F45CAEF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Step 1: + AEC 평균 mAs(단일 숫자) — R² 성능 결과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C7CEEF4-58DB-7529-112E-9BECC891A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clinic4 + AEC 평균(N=1) 추가 모델</a:t>
            </a:r>
            <a:endParaRPr lang="ko-KR" altLang="en-US" dirty="0"/>
          </a:p>
          <a:p>
            <a:pPr lvl="1"/>
            <a:r>
              <a:t>Internal 7/7 개선(+0.004~+0.022) vs External 7/7 유의 악화(최대 NAMA -0.193) — 표 참고</a:t>
            </a:r>
          </a:p>
          <a:p>
            <a:pPr lvl="1"/>
            <a:r>
              <a:t>원인: 정보를 1값으로 압축 — AEC는 7개 feature 전부와 유의한 상관(p&lt;0.05), Weight와도 r=0.54로 정보 중복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2DA3638-551D-D9B3-9304-1BF618C4E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BFC381A-7355-5179-337E-64E364308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660132"/>
              </p:ext>
            </p:extLst>
          </p:nvPr>
        </p:nvGraphicFramePr>
        <p:xfrm>
          <a:off x="2798763" y="3448903"/>
          <a:ext cx="6594473" cy="27900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1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0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02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67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ysClr val="windowText" lastClr="000000"/>
                          </a:solidFill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Int</a:t>
                      </a:r>
                      <a:endParaRPr lang="en-US" sz="12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clinic4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</a:rPr>
                        <a:t>Int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ysClr val="windowText" lastClr="000000"/>
                          </a:solidFill>
                        </a:rPr>
                        <a:t>ΔInt</a:t>
                      </a:r>
                      <a:endParaRPr sz="1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Ext</a:t>
                      </a:r>
                      <a:endParaRPr lang="en-US" sz="12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clinic4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ysClr val="windowText" lastClr="000000"/>
                          </a:solidFill>
                        </a:rPr>
                        <a:t>Ext</a:t>
                      </a:r>
                      <a:endParaRPr lang="en-US" sz="12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ysClr val="windowText" lastClr="000000"/>
                          </a:solidFill>
                        </a:rPr>
                        <a:t>ΔExt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259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IMATA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0.333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0.355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+0.022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0.282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0.191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-0.091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259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NAMA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0.591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0.610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+0.019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0.568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0.374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-0.193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25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Total Fat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0.502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0.518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+0.016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0.492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0.447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-0.045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25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SAT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0.528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0.541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+0.013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0.565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0.536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-0.029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25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VAT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0.523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0.530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+0.007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0.418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0.378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-0.041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259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LAMA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0.419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0.425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+0.006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-0.035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-0.182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-0.147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26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TAMA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0.646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0.650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+0.004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0.711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ysClr val="windowText" lastClr="000000"/>
                          </a:solidFill>
                        </a:rPr>
                        <a:t>0.677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ysClr val="windowText" lastClr="000000"/>
                          </a:solidFill>
                        </a:rPr>
                        <a:t>-0.034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032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A6EF-2446-2C8B-EF3E-ECDAA4C9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9734-298A-5D7D-31B2-58FE2A59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Step 2: + </a:t>
            </a:r>
            <a:r>
              <a:rPr lang="ko-KR" altLang="en-US" dirty="0"/>
              <a:t>구간별 평균 비율</a:t>
            </a:r>
            <a:r>
              <a:rPr lang="en-US" altLang="ko-KR" dirty="0"/>
              <a:t> (Region </a:t>
            </a:r>
            <a:r>
              <a:rPr lang="ko-KR" altLang="en-US" dirty="0"/>
              <a:t>간 비율</a:t>
            </a:r>
            <a:r>
              <a:rPr lang="en-US" altLang="ko-KR" dirty="0"/>
              <a:t>)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D4CDF61-4424-B9D0-0E55-02FE11E38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AEC-128을 2~128구간 </a:t>
            </a:r>
            <a:r>
              <a:rPr dirty="0" err="1"/>
              <a:t>평균·Top-k</a:t>
            </a:r>
            <a:r>
              <a:rPr dirty="0"/>
              <a:t> </a:t>
            </a:r>
            <a:r>
              <a:rPr dirty="0" err="1"/>
              <a:t>선택·앞</a:t>
            </a:r>
            <a:r>
              <a:rPr dirty="0"/>
              <a:t>/뒤 50%로 </a:t>
            </a:r>
            <a:r>
              <a:rPr dirty="0" err="1"/>
              <a:t>분할</a:t>
            </a:r>
            <a:r>
              <a:rPr dirty="0"/>
              <a:t> </a:t>
            </a:r>
            <a:r>
              <a:rPr dirty="0" err="1"/>
              <a:t>추가</a:t>
            </a:r>
            <a:endParaRPr lang="ko-KR" altLang="en-US" dirty="0"/>
          </a:p>
          <a:p>
            <a:pPr lvl="1"/>
            <a:r>
              <a:rPr dirty="0" err="1"/>
              <a:t>확증검증</a:t>
            </a:r>
            <a:r>
              <a:rPr dirty="0"/>
              <a:t>(4개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공통</a:t>
            </a:r>
            <a:r>
              <a:rPr dirty="0"/>
              <a:t> paired bootstrap): </a:t>
            </a:r>
            <a:r>
              <a:rPr dirty="0" err="1"/>
              <a:t>VAT·Total</a:t>
            </a:r>
            <a:r>
              <a:rPr dirty="0"/>
              <a:t> </a:t>
            </a:r>
            <a:r>
              <a:rPr dirty="0" err="1"/>
              <a:t>Fat만</a:t>
            </a:r>
            <a:r>
              <a:rPr dirty="0"/>
              <a:t> </a:t>
            </a:r>
            <a:r>
              <a:rPr dirty="0" err="1"/>
              <a:t>정보를</a:t>
            </a:r>
            <a:r>
              <a:rPr dirty="0"/>
              <a:t> </a:t>
            </a:r>
            <a:r>
              <a:rPr dirty="0" err="1"/>
              <a:t>충분히</a:t>
            </a:r>
            <a:r>
              <a:rPr dirty="0"/>
              <a:t> </a:t>
            </a:r>
            <a:r>
              <a:rPr dirty="0" err="1"/>
              <a:t>담은</a:t>
            </a:r>
            <a:r>
              <a:rPr dirty="0"/>
              <a:t> </a:t>
            </a:r>
            <a:r>
              <a:rPr dirty="0" err="1"/>
              <a:t>표현에서</a:t>
            </a:r>
            <a:r>
              <a:rPr dirty="0"/>
              <a:t> </a:t>
            </a:r>
            <a:r>
              <a:rPr dirty="0" err="1"/>
              <a:t>일관되게</a:t>
            </a:r>
            <a:r>
              <a:rPr dirty="0"/>
              <a:t> </a:t>
            </a:r>
            <a:r>
              <a:rPr dirty="0" err="1"/>
              <a:t>유의</a:t>
            </a:r>
            <a:r>
              <a:rPr dirty="0"/>
              <a:t> </a:t>
            </a:r>
            <a:r>
              <a:rPr dirty="0" err="1"/>
              <a:t>개선</a:t>
            </a:r>
            <a:endParaRPr dirty="0"/>
          </a:p>
          <a:p>
            <a:pPr lvl="1"/>
            <a:r>
              <a:rPr dirty="0" err="1"/>
              <a:t>NAMA·TAMA는</a:t>
            </a:r>
            <a:r>
              <a:rPr dirty="0"/>
              <a:t> 4개 </a:t>
            </a:r>
            <a:r>
              <a:rPr dirty="0" err="1"/>
              <a:t>실험</a:t>
            </a:r>
            <a:r>
              <a:rPr dirty="0"/>
              <a:t>(평균·형태·top-k·앞뒤50%) </a:t>
            </a:r>
            <a:r>
              <a:rPr dirty="0" err="1"/>
              <a:t>전부에서</a:t>
            </a:r>
            <a:r>
              <a:rPr dirty="0"/>
              <a:t>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유의</a:t>
            </a:r>
            <a:r>
              <a:rPr dirty="0"/>
              <a:t> </a:t>
            </a:r>
            <a:r>
              <a:rPr dirty="0" err="1"/>
              <a:t>악화</a:t>
            </a:r>
            <a:endParaRPr dirty="0"/>
          </a:p>
          <a:p>
            <a:pPr lvl="1"/>
            <a:r>
              <a:rPr dirty="0" err="1"/>
              <a:t>기전</a:t>
            </a:r>
            <a:r>
              <a:rPr dirty="0"/>
              <a:t>: </a:t>
            </a:r>
            <a:r>
              <a:rPr dirty="0" err="1"/>
              <a:t>근육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AEC </a:t>
            </a:r>
            <a:r>
              <a:rPr dirty="0" err="1"/>
              <a:t>상관</a:t>
            </a:r>
            <a:r>
              <a:rPr dirty="0"/>
              <a:t> </a:t>
            </a:r>
            <a:r>
              <a:rPr dirty="0" err="1"/>
              <a:t>원래</a:t>
            </a:r>
            <a:r>
              <a:rPr dirty="0"/>
              <a:t> </a:t>
            </a:r>
            <a:r>
              <a:rPr dirty="0" err="1"/>
              <a:t>약함</a:t>
            </a:r>
            <a:r>
              <a:rPr dirty="0"/>
              <a:t>(NAMA |r|&lt;0.25) → </a:t>
            </a:r>
            <a:r>
              <a:rPr dirty="0" err="1"/>
              <a:t>상세는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슬라이드</a:t>
            </a:r>
            <a:endParaRPr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8F62D3E-4952-3D29-3050-90FDD4C1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740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Feature × AEC 구간평균 — 상관 히트맵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AEC-128 → 1/2/4/8구간 평균, 체성분 7종 Pearson r</a:t>
            </a:r>
          </a:p>
          <a:p>
            <a:pPr lvl="1"/>
            <a:r>
              <a:t>전 구간 상관 양(+), 세분화 시 중후반부(50~75%) 집중 — VAT 최대 r=0.60~0.63</a:t>
            </a:r>
          </a:p>
          <a:p>
            <a:pPr lvl="1"/>
            <a:r>
              <a:t>n_seg=2: 6/7 feature 뒷구간 강함(SAT 예외) — 조인트모델 부호반전=다중공선성</a:t>
            </a:r>
          </a:p>
          <a:p>
            <a:pPr lvl="1"/>
            <a:r>
              <a:t>NAMA: 전 해상도 |r|&lt;0.25, R² 개선 최대 +0.02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97D9C4-B382-A6A6-8DE3-DC9B4701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4" name="Picture 3" descr="clinical_only_feature_aec_segment_correlation_heatmap_for_slide.png"/>
          <p:cNvPicPr>
            <a:picLocks noChangeAspect="1"/>
          </p:cNvPicPr>
          <p:nvPr/>
        </p:nvPicPr>
        <p:blipFill>
          <a:blip r:embed="rId3"/>
          <a:srcRect t="32456"/>
          <a:stretch>
            <a:fillRect/>
          </a:stretch>
        </p:blipFill>
        <p:spPr>
          <a:xfrm>
            <a:off x="3089744" y="3101008"/>
            <a:ext cx="6012511" cy="314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AEC 구간 수(Segment Count) Sweep —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clinic4 + AEC-128 구간평균(1→128) 추가, 선형회귀 R² 비교 — 탐색적 스윕(모든 구간수를 한눈에 보기 위한 것, 그 자체가 확증 검증은 아님)</a:t>
            </a:r>
          </a:p>
          <a:p>
            <a:pPr lvl="1"/>
            <a:r>
              <a:t>지방계열(IMATA·VAT·SAT·총지방량): segment=8 부근에서 baseline을 상회하는 경향</a:t>
            </a:r>
          </a:p>
          <a:p>
            <a:pPr lvl="1"/>
            <a:r>
              <a:t>근육계열(NAMA·총근육량): segment 무관 external 항상 baseline 하회, LAMA는 baseline≈0이라 일부 구간에서 근소 상회</a:t>
            </a:r>
          </a:p>
          <a:p>
            <a:pPr lvl="1"/>
            <a:r>
              <a:t>128구간(raw): 전 feature 급락 — 과적합</a:t>
            </a:r>
          </a:p>
          <a:p>
            <a:pPr lvl="1"/>
            <a:r>
              <a:t>확증(internal-best 고정 후 단일 paired bootstrap, docs/clinic4_aec_mean_segment_analysis.md): VAT(mean16)만 유의 개선(+0.062), NAMA·TAMA 유의 악화, IMATA·SAT·Total Fat은 n.s.</a:t>
            </a:r>
          </a:p>
        </p:txBody>
      </p:sp>
      <p:pic>
        <p:nvPicPr>
          <p:cNvPr id="4" name="Picture 3" descr="clinic4_aec_mean_segment_r2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935" y="2985464"/>
            <a:ext cx="7842130" cy="3429701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0A8EDC-A8D4-EF40-D0EE-811DCD3B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AEC 구간 선택(Top-k) — Segment Selection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clinic4 + AEC 8구간 top-k(k=1~8) vs 전체, internal OOF R² 비교 — 탐색적(다음 슬라이드에서 검증할 k값을 고르는 근거)</a:t>
            </a:r>
          </a:p>
          <a:p>
            <a:pPr lvl="1"/>
            <a:r>
              <a:t>k=1만으로 대부분 개선(VAT 0.523→0.557, Total Fat 0.502→0.542)</a:t>
            </a:r>
          </a:p>
          <a:p>
            <a:pPr lvl="1"/>
            <a:r>
              <a:t>지방계열: k↑ 꾸준 개선, 8구간 전체 최적(VAT top8=0.619)</a:t>
            </a:r>
          </a:p>
          <a:p>
            <a:pPr lvl="1"/>
            <a:r>
              <a:t>근육계열: k=3~6 최고점 후 하락(NAMA top3=0.623&gt;top8=0.612)</a:t>
            </a:r>
          </a:p>
        </p:txBody>
      </p:sp>
      <p:pic>
        <p:nvPicPr>
          <p:cNvPr id="4" name="Picture 3" descr="clinic4_aec_segment_select_k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67" y="3056709"/>
            <a:ext cx="7579666" cy="3314914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0D7B3D-DB39-9C8B-C6A3-EED6E0F8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AEC Segment Selection — External(Frozen)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clinic4+AEC top-k(k=1~8) external 탐색적 비교(k별로 다 대조한 것이라 다중비교 문제 있음 — 확증 아님)</a:t>
            </a:r>
          </a:p>
          <a:p>
            <a:pPr lvl="1"/>
            <a:r>
              <a:t>확증(internal-best k 확정 후 단일 paired bootstrap): VAT top8 +0.090[0.058,0.125]·Total Fat top8 +0.032[0.004,0.062] 유의 개선</a:t>
            </a:r>
          </a:p>
          <a:p>
            <a:pPr lvl="1"/>
            <a:r>
              <a:t>NAMA top3 -0.132[-0.158,-0.109]·TAMA top6 -0.035[-0.046,-0.025] 유의 악화</a:t>
            </a:r>
          </a:p>
          <a:p>
            <a:pPr lvl="1"/>
            <a:r>
              <a:t>IMATA·SAT는 CI가 0 포함 — 유의한 효과 없음(n.s.)</a:t>
            </a:r>
          </a:p>
        </p:txBody>
      </p:sp>
      <p:pic>
        <p:nvPicPr>
          <p:cNvPr id="4" name="Picture 3" descr="clinic4_aec_segment_select_k_trend_ex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907" y="3493263"/>
            <a:ext cx="6538186" cy="2857599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8F7300-C273-2457-B093-5C2E9605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F507D-AD63-2EFD-2CA8-89D1AE7B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4240-6A43-AE7E-9C42-C39326CF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Step 3: + SD, Skewness, Upper/Lower 50% </a:t>
            </a:r>
            <a:r>
              <a:rPr lang="ko-KR" altLang="en-US" dirty="0"/>
              <a:t>비율 등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7CF2811-8BBE-BE96-6733-75A1775FF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clinic4 + AEC </a:t>
            </a:r>
            <a:r>
              <a:rPr lang="en-US" dirty="0"/>
              <a:t>shape </a:t>
            </a:r>
            <a:r>
              <a:rPr dirty="0"/>
              <a:t>feature(SD·Skewness·상하위50%비율)</a:t>
            </a:r>
          </a:p>
          <a:p>
            <a:pPr lvl="1"/>
            <a:r>
              <a:rPr dirty="0"/>
              <a:t>VAT +0.067</a:t>
            </a:r>
            <a:r>
              <a:rPr lang="en-US" altLang="ko-KR" dirty="0"/>
              <a:t>[0.0</a:t>
            </a:r>
            <a:r>
              <a:rPr dirty="0"/>
              <a:t>40,0.098]·Total Fat +0.028[0.008,0.049] </a:t>
            </a:r>
            <a:r>
              <a:rPr dirty="0" err="1"/>
              <a:t>유의</a:t>
            </a:r>
            <a:r>
              <a:rPr dirty="0"/>
              <a:t> </a:t>
            </a:r>
            <a:r>
              <a:rPr dirty="0" err="1"/>
              <a:t>개선</a:t>
            </a:r>
            <a:endParaRPr dirty="0"/>
          </a:p>
          <a:p>
            <a:pPr lvl="1"/>
            <a:r>
              <a:rPr dirty="0"/>
              <a:t>NAMA -0.117[-0.141,-0.094]·TAMA -0.039[-0.050,-0.029] </a:t>
            </a:r>
            <a:r>
              <a:rPr dirty="0" err="1"/>
              <a:t>유의</a:t>
            </a:r>
            <a:r>
              <a:rPr dirty="0"/>
              <a:t> </a:t>
            </a:r>
            <a:r>
              <a:rPr dirty="0" err="1"/>
              <a:t>악화</a:t>
            </a:r>
            <a:endParaRPr dirty="0"/>
          </a:p>
          <a:p>
            <a:pPr lvl="1"/>
            <a:r>
              <a:rPr dirty="0" err="1"/>
              <a:t>IMATA·SAT는</a:t>
            </a:r>
            <a:r>
              <a:rPr dirty="0"/>
              <a:t> </a:t>
            </a:r>
            <a:r>
              <a:rPr dirty="0" err="1"/>
              <a:t>CI가</a:t>
            </a:r>
            <a:r>
              <a:rPr dirty="0"/>
              <a:t> 0 </a:t>
            </a:r>
            <a:r>
              <a:rPr dirty="0" err="1"/>
              <a:t>포함</a:t>
            </a:r>
            <a:r>
              <a:rPr dirty="0"/>
              <a:t> — </a:t>
            </a:r>
            <a:r>
              <a:rPr dirty="0" err="1"/>
              <a:t>유의한</a:t>
            </a:r>
            <a:r>
              <a:rPr dirty="0"/>
              <a:t> </a:t>
            </a:r>
            <a:r>
              <a:rPr dirty="0" err="1"/>
              <a:t>효과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(</a:t>
            </a:r>
            <a:r>
              <a:rPr dirty="0" err="1"/>
              <a:t>n.s</a:t>
            </a:r>
            <a:r>
              <a:rPr dirty="0"/>
              <a:t>.)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4150EB-A51C-43AD-6BDF-F6185B85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1E396C-5E37-99D5-39FA-07CA2A697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842" y="3120888"/>
            <a:ext cx="8898315" cy="323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06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AEC 앞/뒤 50% 단독 사용 — Internal vs External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clinic4+AEC 앞50%/뒤50% 단독 사용, internal-best(앞 또는 뒤) 확정 후 external 단일 paired bootstrap 검증</a:t>
            </a:r>
          </a:p>
          <a:p>
            <a:pPr lvl="1"/>
            <a:r>
              <a:t>7개 feature 전부 유의하게 악화(95%CI 전부 0 미만) — 지방계열도 예외 없음(VAT -0.063, Total Fat -0.046, SAT -0.021)</a:t>
            </a:r>
          </a:p>
          <a:p>
            <a:pPr lvl="1"/>
            <a:r>
              <a:t>mean2(앞+뒤를 별도 feature 2개로 동시 결합, Step3 sweep)만 VAT external 개선(0.418→0.493) — 결합해야 이득, 단독이면 항상 손해</a:t>
            </a:r>
          </a:p>
          <a:p>
            <a:pPr lvl="1"/>
            <a:r>
              <a:t>결론: 곡선을 반으로 쪼개 한쪽만 쓰는 건 정보 손실이 너무 커서 항상 해롭다</a:t>
            </a:r>
          </a:p>
        </p:txBody>
      </p:sp>
      <p:pic>
        <p:nvPicPr>
          <p:cNvPr id="4" name="Picture 3" descr="clinic_aec_back_half_r2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369" y="3429000"/>
            <a:ext cx="7689261" cy="2995544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A81C27-87E9-93B8-E4A6-4DDC77DB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6C11-5253-DAC5-9FF3-BA62EBC3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313D-96AE-6D47-983D-F1B1DEF3C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최종 목표</a:t>
            </a:r>
            <a:r>
              <a:rPr lang="en-US" altLang="ko-KR" dirty="0"/>
              <a:t>: </a:t>
            </a:r>
            <a:r>
              <a:rPr lang="ko-KR" altLang="en-US" dirty="0"/>
              <a:t>위 </a:t>
            </a:r>
            <a:r>
              <a:rPr lang="en-US" altLang="ko-KR" dirty="0"/>
              <a:t>Feature </a:t>
            </a:r>
            <a:r>
              <a:rPr lang="ko-KR" altLang="en-US" dirty="0"/>
              <a:t>기반 </a:t>
            </a:r>
            <a:r>
              <a:rPr lang="en-US" altLang="ko-KR" dirty="0"/>
              <a:t>Cutoff </a:t>
            </a:r>
            <a:r>
              <a:rPr lang="ko-KR" altLang="en-US" dirty="0"/>
              <a:t>→ </a:t>
            </a:r>
            <a:r>
              <a:rPr lang="en-US" altLang="ko-KR" dirty="0"/>
              <a:t>Binary </a:t>
            </a:r>
            <a:r>
              <a:rPr lang="ko-KR" altLang="en-US" dirty="0"/>
              <a:t>변환</a:t>
            </a:r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ADAB6F7-4A0B-BE4C-2256-D6AFD772F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연속형 feature → cutoff 적용 → 이진분류(AUC/Se/Sp) → external 검증</a:t>
            </a:r>
            <a:endParaRPr lang="ko-KR" altLang="en-US"/>
          </a:p>
          <a:p>
            <a:pPr lvl="1"/>
            <a:r>
              <a:t>FEATURES 컬럼은 volumetric 합산값 — 문헌 L3 cutoff과 스케일 최대 130배 차이</a:t>
            </a:r>
          </a:p>
          <a:p>
            <a:pPr lvl="1"/>
            <a:r>
              <a:t>internal WHO Asian 정상체중군 mean±2SD cutoff 산출 — 타당성 미검증</a:t>
            </a:r>
          </a:p>
          <a:p>
            <a:pPr lvl="1"/>
            <a:r>
              <a:t>이진분류 결과는 이번 자료에서 보류, cutoff 재검토 후 재시도 예정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5D12E0-8377-CDE9-D23F-B6659E59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1788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스케일 확인 — 문헌 Cutoff 직접 적용 불가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FEATURES(_sum_cm2)는 volumetric 값, L3 단일 슬라이스 아님</a:t>
            </a:r>
          </a:p>
          <a:p>
            <a:pPr lvl="1"/>
            <a:r>
              <a:t>IMATA_sum 1,198.7cm² vs 문헌 L3 ~9.2cm² — 약 130배(=합산 슬라이스 수, n_slices_cropped 평균 146장)</a:t>
            </a:r>
          </a:p>
          <a:p>
            <a:pPr lvl="1"/>
            <a:r>
              <a:t>문헌 L3 cutoff 그대로 적용 시 오분류</a:t>
            </a:r>
          </a:p>
          <a:p>
            <a:pPr lvl="1"/>
            <a:r>
              <a:t>whole-scan cutoff 문헌 부재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4B11A-E71A-DE1A-1400-91ED16B1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 Cutoff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산출</a:t>
            </a:r>
            <a:r>
              <a:rPr dirty="0"/>
              <a:t> (Internal, WHO Asian </a:t>
            </a:r>
            <a:r>
              <a:rPr dirty="0" err="1"/>
              <a:t>정상체중</a:t>
            </a:r>
            <a:r>
              <a:rPr dirty="0"/>
              <a:t>) — </a:t>
            </a:r>
            <a:r>
              <a:rPr dirty="0" err="1"/>
              <a:t>재검토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WHO Asian 정상체중(BMI 18.5–23.0): 남 112 / 여 317명</a:t>
            </a:r>
          </a:p>
          <a:p>
            <a:pPr lvl="1"/>
            <a:r>
              <a:t>성별 mean±2SD cutoff 산출(Derstine/Yoon/Kim 방법론)</a:t>
            </a:r>
          </a:p>
          <a:p>
            <a:pPr lvl="1"/>
            <a:r>
              <a:t>정상체중=건강대조군 근사 — 실제 임상 코호트(평균 57세)</a:t>
            </a:r>
          </a:p>
          <a:p>
            <a:pPr lvl="1"/>
            <a:r>
              <a:t>잠정치 — 재검토 후 이진분류 재시도 예정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114465"/>
              </p:ext>
            </p:extLst>
          </p:nvPr>
        </p:nvGraphicFramePr>
        <p:xfrm>
          <a:off x="811348" y="3219993"/>
          <a:ext cx="10569303" cy="288166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2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1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1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208"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/>
                        <a:t>방향</a:t>
                      </a:r>
                      <a:endParaRPr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남 cutoff (mean+2SD)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/>
                        <a:t>여 cutoff (mean+2SD)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08"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NAMA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낮으면 이상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9,513.17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6,963.06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08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TAMA</a:t>
                      </a:r>
                      <a:endParaRPr sz="13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/>
                        <a:t>낮으면</a:t>
                      </a:r>
                      <a:r>
                        <a:rPr sz="1300" b="0" dirty="0"/>
                        <a:t> </a:t>
                      </a:r>
                      <a:r>
                        <a:rPr sz="1300" b="0" dirty="0" err="1"/>
                        <a:t>이상</a:t>
                      </a:r>
                      <a:endParaRPr sz="13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13,709.40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11,116.93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08"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IMATA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높으면 이상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2,036.65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1,677.89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208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/>
                        <a:t>내장지방</a:t>
                      </a:r>
                      <a:r>
                        <a:rPr lang="en-US" altLang="ko-KR" sz="1300" b="0" dirty="0"/>
                        <a:t>(</a:t>
                      </a:r>
                      <a:r>
                        <a:rPr lang="en-US" sz="1300" b="0" dirty="0"/>
                        <a:t>VAT</a:t>
                      </a:r>
                      <a:r>
                        <a:rPr lang="en-US" altLang="ko-KR" sz="1300" b="0" dirty="0"/>
                        <a:t>)</a:t>
                      </a:r>
                      <a:endParaRPr sz="13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높으면 이상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17,430.18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10,853.48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08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/>
                        <a:t>피하지방</a:t>
                      </a:r>
                      <a:r>
                        <a:rPr sz="1300" b="0" dirty="0"/>
                        <a:t>(SAT)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높으면 이상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22,701.40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28,817.46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208"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총지방량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높으면 이상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38,597.97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37,893.28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208"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LAMA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높으면 이상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7,356.14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5,270.84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DF9986-A4B5-C2A4-3DD4-56F7C1FC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1"/>
              <a:t>체성분 7종 개별 분석 틀 확립 — cutoff 재검토 후 이진분류 재시도</a:t>
            </a:r>
          </a:p>
          <a:p>
            <a:pPr lvl="1"/>
            <a:r>
              <a:t>AEC 추가(paired bootstrap 확증): VAT·Total Fat는 조건부 유의 개선(아래 참조), NAMA·TAMA는 4개 실험 전부 유의 악화, IMATA·SAT는 효과 불확실(n.s.)</a:t>
            </a:r>
          </a:p>
          <a:p>
            <a:pPr lvl="1"/>
            <a:r>
              <a:t>NAMA·TAMA(근육계열) — AEC 추가 방식과 무관하게 예외 없이 유의 악화(4개 실험 전부), 근육-AEC 상관 자체가 약함(NAMA 전 구간 |r|&lt;0.25, output_feature_predictor_correlations 참조)</a:t>
            </a:r>
          </a:p>
          <a:p>
            <a:pPr lvl="1"/>
            <a:r>
              <a:t>VAT·Total Fat(지방계열) 개선은 조건부 — 정보 보존 표현(Step2 형태feature, Step3 top-k 8구간)에서만 유의 개선, 압축 표현(Step1 단일평균, 앞/뒤50% 단독)에서는 동일하게 유의 악화</a:t>
            </a:r>
          </a:p>
          <a:p>
            <a:pPr lvl="1"/>
            <a:r>
              <a:t>IMATA·SAT — 전 실험 n.s., "지방계열 전반 개선"으로 묶은 기존 서술 재검토 필요</a:t>
            </a:r>
          </a:p>
          <a:p>
            <a:pPr lvl="1"/>
            <a:r>
              <a:t>LAMA "유의 개선" — clinic4 baseline external R²가 -0.03~-0.25로 사실상 무의미한 구간, 실질적 예측력 획득으로 보기 어려움(clinic4_aec_mean_segment_analysis.md 참조)</a:t>
            </a:r>
          </a:p>
          <a:p>
            <a:pPr lvl="1"/>
            <a:r>
              <a:t>Comorbidity(HTN·DM·CKD) gangnam·sinchon에 추가 완료 — 분석 미착수, 조정변수/서브그룹 후보</a:t>
            </a:r>
          </a:p>
          <a:p>
            <a:pPr lvl="1"/>
            <a:r>
              <a:t>Next: cutoff 재검증→이진분류, HTN/DM/CKD 임상 타당성 검증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CAD154-7E2F-AE7C-B4AF-2C069A92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IMATA_SUM: Clinical-only 선형회귀 잔차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internal(OOF): R²=0.333 [0.284, 0.382], RMSE=463.4, MAE=321.3, Pearson r=0.577</a:t>
            </a:r>
          </a:p>
          <a:p>
            <a:r>
              <a:rPr b="1" dirty="0"/>
              <a:t>external(frozen): R²=0.282 [0.212, 0.344], RMSE=528.0, MAE=370.2, Pearson r=0.566</a:t>
            </a:r>
          </a:p>
        </p:txBody>
      </p:sp>
      <p:pic>
        <p:nvPicPr>
          <p:cNvPr id="4" name="Picture 3" descr="imata_linear_regression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2283962"/>
            <a:ext cx="9000000" cy="409109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676350-3DF7-16EF-B260-E557728F4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NAMA_SUM: Clinical-only 선형회귀 잔차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internal(OOF): R²=0.591 [0.535, 0.636], RMSE=2737.6, MAE=2045.9, Pearson r=0.769</a:t>
            </a:r>
          </a:p>
          <a:p>
            <a:r>
              <a:rPr b="1" dirty="0"/>
              <a:t>external(frozen): R²=0.568 [0.511, 0.614], RMSE=2960.9, MAE=2319.2, Pearson r=0.790</a:t>
            </a:r>
          </a:p>
        </p:txBody>
      </p:sp>
      <p:pic>
        <p:nvPicPr>
          <p:cNvPr id="4" name="Picture 3" descr="nama_linear_regression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2262924"/>
            <a:ext cx="9000000" cy="4091095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7E22F4-5442-A59A-6658-124F28C44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LAMA_SUM: Clinical-only 선형회귀 잔차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internal(OOF): R²=0.419 [0.373, 0.468], RMSE=1556.9, MAE=996.0, Pearson r=0.648</a:t>
            </a:r>
          </a:p>
          <a:p>
            <a:r>
              <a:rPr b="1" dirty="0"/>
              <a:t>external(frozen): R²=-0.035 [-0.130, 0.045], RMSE=2122.4, MAE=1739.0, Pearson r=0.558</a:t>
            </a:r>
          </a:p>
          <a:p>
            <a:r>
              <a:t>R²&lt;0 원인: 코호트 평균차(강남 4192 vs 신촌 5521, +31.7%) → frozen 모델 상수편향(bias=-1206) → bias²가 external MSE의 32% 기여, 제거 시 R²≈+0.30</a:t>
            </a:r>
          </a:p>
        </p:txBody>
      </p:sp>
      <p:pic>
        <p:nvPicPr>
          <p:cNvPr id="4" name="Picture 3" descr="lama_linear_regression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2307349"/>
            <a:ext cx="9000000" cy="409109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BA0CF1-7790-A06E-C36A-94D44ABB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VAT(내장지방)_SUM: Clinical-only 선형회귀 잔차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internal(OOF): R²=0.523 [0.483, 0.562], RMSE=3588.0, MAE=2609.7, Pearson r=0.723</a:t>
            </a:r>
          </a:p>
          <a:p>
            <a:r>
              <a:rPr b="1" dirty="0"/>
              <a:t>external(frozen): R²=0.418 [0.359, 0.471], RMSE=4091.0, MAE=3127.3, Pearson r=0.66</a:t>
            </a:r>
            <a:r>
              <a:rPr lang="en-US" altLang="ko-KR" b="1" dirty="0"/>
              <a:t>4</a:t>
            </a:r>
            <a:endParaRPr b="1" dirty="0"/>
          </a:p>
        </p:txBody>
      </p:sp>
      <p:pic>
        <p:nvPicPr>
          <p:cNvPr id="4" name="Picture 3" descr="vat_linear_regression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2272514"/>
            <a:ext cx="9000000" cy="409109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B1210D-FFE6-329A-7533-824C0E33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SAT(피하지방)_SUM: Clinical-only 선형회귀 잔차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internal(OOF): R²=0.528 [0.478, 0.573], RMSE=5578.8, MAE=4087.8, Pearson r=0.726</a:t>
            </a:r>
          </a:p>
          <a:p>
            <a:r>
              <a:rPr b="1" dirty="0"/>
              <a:t>external(frozen): R²=0.565 [0.511, 0.613], RMSE=5893.7, MAE=4387.5, Pearson r=0.75</a:t>
            </a:r>
            <a:r>
              <a:rPr lang="en-US" altLang="ko-KR" b="1" dirty="0"/>
              <a:t>9</a:t>
            </a:r>
            <a:endParaRPr b="1" dirty="0"/>
          </a:p>
        </p:txBody>
      </p:sp>
      <p:pic>
        <p:nvPicPr>
          <p:cNvPr id="4" name="Picture 3" descr="sat_linear_regression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2263807"/>
            <a:ext cx="9000000" cy="409109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EA66E2-723A-91E2-8D03-564497DF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TAMA_SUM: Clinical-only 선형회귀 잔차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internal(OOF): R²=0.646 [0.605, 0.683], RMSE=3155.7, MAE=2258.4, Pearson r=0.804</a:t>
            </a:r>
          </a:p>
          <a:p>
            <a:r>
              <a:rPr b="1" dirty="0"/>
              <a:t>external(frozen): R²=0.711 [0.673, 0.743], RMSE=2633.3, MAE=1980.6, Pearson r=0.848</a:t>
            </a:r>
          </a:p>
        </p:txBody>
      </p:sp>
      <p:pic>
        <p:nvPicPr>
          <p:cNvPr id="4" name="Picture 3" descr="tama_linear_regression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2263807"/>
            <a:ext cx="9000000" cy="409109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9AF8D4-DBE7-2CAB-9802-10A271F1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Total Fat_SUM: Clinical-only 선형회귀 잔차 진단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internal(OOF): R²=0.502 [0.452, 0.548], RMSE=8011.9, MAE=5835.2, Pearson r=0.709</a:t>
            </a:r>
          </a:p>
          <a:p>
            <a:r>
              <a:rPr b="1" dirty="0"/>
              <a:t>external(frozen): R²=0.492 [0.428, 0.550], RMSE=8790.2, MAE=6666.6, Pearson r=0.714</a:t>
            </a:r>
          </a:p>
        </p:txBody>
      </p:sp>
      <p:pic>
        <p:nvPicPr>
          <p:cNvPr id="4" name="Picture 3" descr="total_fat_linear_regression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2294594"/>
            <a:ext cx="9000000" cy="4091096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333D71-8B78-51AA-82BB-B1DAA6CB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6387</TotalTime>
  <Words>3245</Words>
  <Application>Microsoft Office PowerPoint</Application>
  <PresentationFormat>와이드스크린</PresentationFormat>
  <Paragraphs>268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Arial</vt:lpstr>
      <vt:lpstr>KoPub돋움체 Medium</vt:lpstr>
      <vt:lpstr>KoPub돋움체 Bold</vt:lpstr>
      <vt:lpstr>Office 테마</vt:lpstr>
      <vt:lpstr>PowerPoint 프레젠테이션</vt:lpstr>
      <vt:lpstr>Reference Papers - AEC 곡선 분석 방법론 근거</vt:lpstr>
      <vt:lpstr>Research Summary</vt:lpstr>
      <vt:lpstr>Overview</vt:lpstr>
      <vt:lpstr>Output Feature × Clinic4 — 개별 변수 상관</vt:lpstr>
      <vt:lpstr>Step 0 (Baseline): 4 Clinic Data</vt:lpstr>
      <vt:lpstr>Step 1: + AEC 평균 mAs(단일 숫자) — 상관관계 근거</vt:lpstr>
      <vt:lpstr>Step 1: + AEC 평균 mAs(단일 숫자) — R² 성능 결과</vt:lpstr>
      <vt:lpstr>Step 2: + 구간별 평균 비율 (Region 간 비율)</vt:lpstr>
      <vt:lpstr>Output Feature × AEC 구간평균 — 상관 히트맵</vt:lpstr>
      <vt:lpstr>AEC 구간 수(Segment Count) Sweep — Regression</vt:lpstr>
      <vt:lpstr>AEC 구간 선택(Top-k) — Segment Selection Regression</vt:lpstr>
      <vt:lpstr>AEC Segment Selection — External(Frozen) 검증</vt:lpstr>
      <vt:lpstr>Step 3: + SD, Skewness, Upper/Lower 50% 비율 등</vt:lpstr>
      <vt:lpstr>AEC 앞/뒤 50% 단독 사용 — Internal vs External</vt:lpstr>
      <vt:lpstr>최종 목표: 위 Feature 기반 Cutoff → Binary 변환</vt:lpstr>
      <vt:lpstr>FEATURES 스케일 확인 — 문헌 Cutoff 직접 적용 불가</vt:lpstr>
      <vt:lpstr>Reference Cutoff 직접 산출 (Internal, WHO Asian 정상체중) — 재검토 필요</vt:lpstr>
      <vt:lpstr>Conclusion / Next Steps</vt:lpstr>
      <vt:lpstr>PowerPoint 프레젠테이션</vt:lpstr>
      <vt:lpstr>Appendix — IMATA_SUM: Clinical-only 선형회귀 잔차 진단</vt:lpstr>
      <vt:lpstr>Appendix — NAMA_SUM: Clinical-only 선형회귀 잔차 진단</vt:lpstr>
      <vt:lpstr>Appendix — LAMA_SUM: Clinical-only 선형회귀 잔차 진단</vt:lpstr>
      <vt:lpstr>Appendix — VAT(내장지방)_SUM: Clinical-only 선형회귀 잔차 진단</vt:lpstr>
      <vt:lpstr>Appendix — SAT(피하지방)_SUM: Clinical-only 선형회귀 잔차 진단</vt:lpstr>
      <vt:lpstr>Appendix — TAMA_SUM: Clinical-only 선형회귀 잔차 진단</vt:lpstr>
      <vt:lpstr>Appendix — Total Fat_SUM: Clinical-only 선형회귀 잔차 진단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626</cp:revision>
  <dcterms:created xsi:type="dcterms:W3CDTF">2026-04-09T07:05:16Z</dcterms:created>
  <dcterms:modified xsi:type="dcterms:W3CDTF">2026-08-04T01:15:07Z</dcterms:modified>
</cp:coreProperties>
</file>