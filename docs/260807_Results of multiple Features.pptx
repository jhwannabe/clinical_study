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36"/>
  </p:notesMasterIdLst>
  <p:sldIdLst>
    <p:sldId id="256" r:id="rId2"/>
    <p:sldId id="619" r:id="rId3"/>
    <p:sldId id="618" r:id="rId4"/>
    <p:sldId id="624" r:id="rId5"/>
    <p:sldId id="489" r:id="rId6"/>
    <p:sldId id="620" r:id="rId7"/>
    <p:sldId id="625" r:id="rId8"/>
    <p:sldId id="499" r:id="rId9"/>
    <p:sldId id="484" r:id="rId10"/>
    <p:sldId id="501" r:id="rId11"/>
    <p:sldId id="622" r:id="rId12"/>
    <p:sldId id="497" r:id="rId13"/>
    <p:sldId id="621" r:id="rId14"/>
    <p:sldId id="623" r:id="rId15"/>
    <p:sldId id="482" r:id="rId16"/>
    <p:sldId id="635" r:id="rId17"/>
    <p:sldId id="636" r:id="rId18"/>
    <p:sldId id="488" r:id="rId19"/>
    <p:sldId id="487" r:id="rId20"/>
    <p:sldId id="634" r:id="rId21"/>
    <p:sldId id="495" r:id="rId22"/>
    <p:sldId id="632" r:id="rId23"/>
    <p:sldId id="491" r:id="rId24"/>
    <p:sldId id="628" r:id="rId25"/>
    <p:sldId id="492" r:id="rId26"/>
    <p:sldId id="629" r:id="rId27"/>
    <p:sldId id="490" r:id="rId28"/>
    <p:sldId id="627" r:id="rId29"/>
    <p:sldId id="494" r:id="rId30"/>
    <p:sldId id="631" r:id="rId31"/>
    <p:sldId id="493" r:id="rId32"/>
    <p:sldId id="630" r:id="rId33"/>
    <p:sldId id="496" r:id="rId34"/>
    <p:sldId id="633" r:id="rId35"/>
  </p:sldIdLst>
  <p:sldSz cx="12192000" cy="6858000"/>
  <p:notesSz cx="6858000" cy="9144000"/>
  <p:embeddedFontLst>
    <p:embeddedFont>
      <p:font typeface="KoPub돋움체 Bold" panose="00000800000000000000" pitchFamily="2" charset="-127"/>
      <p:bold r:id="rId37"/>
    </p:embeddedFont>
    <p:embeddedFont>
      <p:font typeface="KoPub돋움체 Medium" panose="00000600000000000000" pitchFamily="2" charset="-127"/>
      <p:regular r:id="rId38"/>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097B6DF2-66C3-4074-9053-F9AA00FED5D5}">
          <p14:sldIdLst>
            <p14:sldId id="256"/>
            <p14:sldId id="619"/>
            <p14:sldId id="618"/>
            <p14:sldId id="624"/>
            <p14:sldId id="489"/>
            <p14:sldId id="620"/>
            <p14:sldId id="625"/>
            <p14:sldId id="499"/>
            <p14:sldId id="484"/>
            <p14:sldId id="501"/>
            <p14:sldId id="622"/>
            <p14:sldId id="497"/>
            <p14:sldId id="621"/>
            <p14:sldId id="623"/>
            <p14:sldId id="482"/>
            <p14:sldId id="635"/>
            <p14:sldId id="636"/>
            <p14:sldId id="488"/>
            <p14:sldId id="487"/>
            <p14:sldId id="634"/>
            <p14:sldId id="495"/>
            <p14:sldId id="632"/>
            <p14:sldId id="491"/>
            <p14:sldId id="628"/>
            <p14:sldId id="492"/>
            <p14:sldId id="629"/>
            <p14:sldId id="490"/>
            <p14:sldId id="627"/>
            <p14:sldId id="494"/>
            <p14:sldId id="631"/>
            <p14:sldId id="493"/>
            <p14:sldId id="630"/>
            <p14:sldId id="496"/>
            <p14:sldId id="63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전장훈" initials="전" lastIdx="19" clrIdx="0">
    <p:extLst>
      <p:ext uri="{19B8F6BF-5375-455C-9EA6-DF929625EA0E}">
        <p15:presenceInfo xmlns:p15="http://schemas.microsoft.com/office/powerpoint/2012/main" userId="전장훈"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5597"/>
    <a:srgbClr val="5C7DD0"/>
    <a:srgbClr val="1F346B"/>
    <a:srgbClr val="023670"/>
    <a:srgbClr val="17A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보통 스타일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7152" autoAdjust="0"/>
  </p:normalViewPr>
  <p:slideViewPr>
    <p:cSldViewPr snapToGrid="0">
      <p:cViewPr varScale="1">
        <p:scale>
          <a:sx n="96" d="100"/>
          <a:sy n="96" d="100"/>
        </p:scale>
        <p:origin x="1092" y="90"/>
      </p:cViewPr>
      <p:guideLst/>
    </p:cSldViewPr>
  </p:slideViewPr>
  <p:notesTextViewPr>
    <p:cViewPr>
      <p:scale>
        <a:sx n="3" d="2"/>
        <a:sy n="3" d="2"/>
      </p:scale>
      <p:origin x="0" y="-1074"/>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KoPub돋움체 Medium" panose="00000600000000000000" pitchFamily="2" charset="-127"/>
                <a:ea typeface="KoPub돋움체 Medium" panose="00000600000000000000" pitchFamily="2" charset="-127"/>
              </a:defRPr>
            </a:lvl1pPr>
          </a:lstStyle>
          <a:p>
            <a:fld id="{33074436-1BEA-4F09-AD5C-9DF87C96BF5A}" type="datetimeFigureOut">
              <a:rPr lang="ko-KR" altLang="en-US" smtClean="0"/>
              <a:pPr/>
              <a:t>2026-08-05</a:t>
            </a:fld>
            <a:endParaRPr lang="ko-KR" altLang="en-US" dirty="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KoPub돋움체 Medium" panose="00000600000000000000" pitchFamily="2" charset="-127"/>
                <a:ea typeface="KoPub돋움체 Medium" panose="00000600000000000000" pitchFamily="2" charset="-127"/>
              </a:defRPr>
            </a:lvl1pPr>
          </a:lstStyle>
          <a:p>
            <a:fld id="{433C9518-700F-4811-95BB-24DAF3FA92F2}" type="slidenum">
              <a:rPr lang="ko-KR" altLang="en-US" smtClean="0"/>
              <a:pPr/>
              <a:t>‹#›</a:t>
            </a:fld>
            <a:endParaRPr lang="ko-KR" altLang="en-US" dirty="0"/>
          </a:p>
        </p:txBody>
      </p:sp>
    </p:spTree>
    <p:extLst>
      <p:ext uri="{BB962C8B-B14F-4D97-AF65-F5344CB8AC3E}">
        <p14:creationId xmlns:p14="http://schemas.microsoft.com/office/powerpoint/2010/main" val="257764944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KoPub돋움체 Medium" panose="00000600000000000000" pitchFamily="2" charset="-127"/>
        <a:ea typeface="KoPub돋움체 Medium" panose="00000600000000000000" pitchFamily="2" charset="-127"/>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안녕하십니까. 이번 발표는 CT 촬영 시 자동으로 조절되는 관전류 곡선(AEC-128)이 체성분(근육량·지방량) 예측에 실제로 도움이 되는지를 검증한 결과입니다. 강남세브란스 데이터로 모델을 만들고 신촌세브란스 데이터로 검증하는 방식으로 진행했습니다.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4E463-B251-0C2E-E736-5868CF272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AA0AC-1128-84C3-6A31-62542520179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3C026D2-1F81-C7A4-92DF-45C6CB2DC07E}"/>
              </a:ext>
            </a:extLst>
          </p:cNvPr>
          <p:cNvSpPr>
            <a:spLocks noGrp="1"/>
          </p:cNvSpPr>
          <p:nvPr>
            <p:ph type="body" sz="quarter" idx="3"/>
          </p:nvPr>
        </p:nvSpPr>
        <p:spPr/>
        <p:txBody>
          <a:bodyPr/>
          <a:lstStyle/>
          <a:p>
            <a:r>
              <a:rPr dirty="0" err="1"/>
              <a:t>이번</a:t>
            </a:r>
            <a:r>
              <a:rPr dirty="0"/>
              <a:t> </a:t>
            </a:r>
            <a:r>
              <a:rPr dirty="0" err="1"/>
              <a:t>분석에서</a:t>
            </a:r>
            <a:r>
              <a:rPr dirty="0"/>
              <a:t> 쓴 4가지 </a:t>
            </a:r>
            <a:r>
              <a:rPr dirty="0" err="1"/>
              <a:t>방법을</a:t>
            </a:r>
            <a:r>
              <a:rPr dirty="0"/>
              <a:t> </a:t>
            </a:r>
            <a:r>
              <a:rPr dirty="0" err="1"/>
              <a:t>뒷받침하는</a:t>
            </a:r>
            <a:r>
              <a:rPr dirty="0"/>
              <a:t> </a:t>
            </a:r>
            <a:r>
              <a:rPr dirty="0" err="1"/>
              <a:t>논문들입니다</a:t>
            </a:r>
            <a:r>
              <a:rPr dirty="0"/>
              <a:t>. </a:t>
            </a:r>
            <a:r>
              <a:rPr dirty="0" err="1"/>
              <a:t>첫째</a:t>
            </a:r>
            <a:r>
              <a:rPr dirty="0"/>
              <a:t>, </a:t>
            </a:r>
            <a:r>
              <a:rPr dirty="0" err="1"/>
              <a:t>곡선을</a:t>
            </a:r>
            <a:r>
              <a:rPr dirty="0"/>
              <a:t> 몇 </a:t>
            </a:r>
            <a:r>
              <a:rPr dirty="0" err="1"/>
              <a:t>구간으로</a:t>
            </a:r>
            <a:r>
              <a:rPr dirty="0"/>
              <a:t> </a:t>
            </a:r>
            <a:r>
              <a:rPr dirty="0" err="1"/>
              <a:t>나눠</a:t>
            </a:r>
            <a:r>
              <a:rPr dirty="0"/>
              <a:t> </a:t>
            </a:r>
            <a:r>
              <a:rPr dirty="0" err="1"/>
              <a:t>평균</a:t>
            </a:r>
            <a:r>
              <a:rPr dirty="0"/>
              <a:t> </a:t>
            </a:r>
            <a:r>
              <a:rPr dirty="0" err="1"/>
              <a:t>내는</a:t>
            </a:r>
            <a:r>
              <a:rPr dirty="0"/>
              <a:t> </a:t>
            </a:r>
            <a:r>
              <a:rPr dirty="0" err="1"/>
              <a:t>방법은</a:t>
            </a:r>
            <a:r>
              <a:rPr dirty="0"/>
              <a:t> </a:t>
            </a:r>
            <a:r>
              <a:rPr dirty="0" err="1"/>
              <a:t>시계열</a:t>
            </a:r>
            <a:r>
              <a:rPr dirty="0"/>
              <a:t> </a:t>
            </a:r>
            <a:r>
              <a:rPr dirty="0" err="1"/>
              <a:t>데이터를</a:t>
            </a:r>
            <a:r>
              <a:rPr dirty="0"/>
              <a:t> </a:t>
            </a:r>
            <a:r>
              <a:rPr dirty="0" err="1"/>
              <a:t>압축하는</a:t>
            </a:r>
            <a:r>
              <a:rPr dirty="0"/>
              <a:t> </a:t>
            </a:r>
            <a:r>
              <a:rPr dirty="0" err="1"/>
              <a:t>표준</a:t>
            </a:r>
            <a:r>
              <a:rPr dirty="0"/>
              <a:t> </a:t>
            </a:r>
            <a:r>
              <a:rPr dirty="0" err="1"/>
              <a:t>기법이고</a:t>
            </a:r>
            <a:r>
              <a:rPr dirty="0"/>
              <a:t>, </a:t>
            </a:r>
            <a:r>
              <a:rPr dirty="0" err="1"/>
              <a:t>둘째</a:t>
            </a:r>
            <a:r>
              <a:rPr dirty="0"/>
              <a:t> 8개 </a:t>
            </a:r>
            <a:r>
              <a:rPr dirty="0" err="1"/>
              <a:t>구간</a:t>
            </a:r>
            <a:r>
              <a:rPr dirty="0"/>
              <a:t> 중 </a:t>
            </a:r>
            <a:r>
              <a:rPr dirty="0" err="1"/>
              <a:t>통계적으로</a:t>
            </a:r>
            <a:r>
              <a:rPr dirty="0"/>
              <a:t> 더 </a:t>
            </a:r>
            <a:r>
              <a:rPr dirty="0" err="1"/>
              <a:t>관련</a:t>
            </a:r>
            <a:r>
              <a:rPr dirty="0"/>
              <a:t> </a:t>
            </a:r>
            <a:r>
              <a:rPr dirty="0" err="1"/>
              <a:t>있는</a:t>
            </a:r>
            <a:r>
              <a:rPr dirty="0"/>
              <a:t> </a:t>
            </a:r>
            <a:r>
              <a:rPr dirty="0" err="1"/>
              <a:t>구간만</a:t>
            </a:r>
            <a:r>
              <a:rPr dirty="0"/>
              <a:t> </a:t>
            </a:r>
            <a:r>
              <a:rPr dirty="0" err="1"/>
              <a:t>골라</a:t>
            </a:r>
            <a:r>
              <a:rPr dirty="0"/>
              <a:t> </a:t>
            </a:r>
            <a:r>
              <a:rPr dirty="0" err="1"/>
              <a:t>쓰는</a:t>
            </a:r>
            <a:r>
              <a:rPr dirty="0"/>
              <a:t> </a:t>
            </a:r>
            <a:r>
              <a:rPr dirty="0" err="1"/>
              <a:t>방법도</a:t>
            </a:r>
            <a:r>
              <a:rPr dirty="0"/>
              <a:t> </a:t>
            </a:r>
            <a:r>
              <a:rPr dirty="0" err="1"/>
              <a:t>표준</a:t>
            </a:r>
            <a:r>
              <a:rPr dirty="0"/>
              <a:t> </a:t>
            </a:r>
            <a:r>
              <a:rPr dirty="0" err="1"/>
              <a:t>변수선택</a:t>
            </a:r>
            <a:r>
              <a:rPr dirty="0"/>
              <a:t> </a:t>
            </a:r>
            <a:r>
              <a:rPr dirty="0" err="1"/>
              <a:t>기법입니다</a:t>
            </a:r>
            <a:r>
              <a:rPr dirty="0"/>
              <a:t>. </a:t>
            </a:r>
            <a:r>
              <a:rPr dirty="0" err="1"/>
              <a:t>셋째</a:t>
            </a:r>
            <a:r>
              <a:rPr dirty="0"/>
              <a:t>, </a:t>
            </a:r>
            <a:r>
              <a:rPr dirty="0" err="1"/>
              <a:t>곡선의</a:t>
            </a:r>
            <a:r>
              <a:rPr dirty="0"/>
              <a:t> </a:t>
            </a:r>
            <a:r>
              <a:rPr dirty="0" err="1"/>
              <a:t>표준편차·비대칭도</a:t>
            </a:r>
            <a:r>
              <a:rPr dirty="0"/>
              <a:t> </a:t>
            </a:r>
            <a:r>
              <a:rPr dirty="0" err="1"/>
              <a:t>같은</a:t>
            </a:r>
            <a:r>
              <a:rPr dirty="0"/>
              <a:t> </a:t>
            </a:r>
            <a:r>
              <a:rPr dirty="0" err="1"/>
              <a:t>모양</a:t>
            </a:r>
            <a:r>
              <a:rPr dirty="0"/>
              <a:t> </a:t>
            </a:r>
            <a:r>
              <a:rPr dirty="0" err="1"/>
              <a:t>정보를</a:t>
            </a:r>
            <a:r>
              <a:rPr dirty="0"/>
              <a:t> </a:t>
            </a:r>
            <a:r>
              <a:rPr dirty="0" err="1"/>
              <a:t>feature로</a:t>
            </a:r>
            <a:r>
              <a:rPr dirty="0"/>
              <a:t> </a:t>
            </a:r>
            <a:r>
              <a:rPr dirty="0" err="1"/>
              <a:t>쓰는</a:t>
            </a:r>
            <a:r>
              <a:rPr dirty="0"/>
              <a:t> </a:t>
            </a:r>
            <a:r>
              <a:rPr dirty="0" err="1"/>
              <a:t>것도</a:t>
            </a:r>
            <a:r>
              <a:rPr dirty="0"/>
              <a:t> </a:t>
            </a:r>
            <a:r>
              <a:rPr dirty="0" err="1"/>
              <a:t>시계열</a:t>
            </a:r>
            <a:r>
              <a:rPr dirty="0"/>
              <a:t> </a:t>
            </a:r>
            <a:r>
              <a:rPr dirty="0" err="1"/>
              <a:t>분석에서</a:t>
            </a:r>
            <a:r>
              <a:rPr dirty="0"/>
              <a:t> </a:t>
            </a:r>
            <a:r>
              <a:rPr dirty="0" err="1"/>
              <a:t>널리</a:t>
            </a:r>
            <a:r>
              <a:rPr dirty="0"/>
              <a:t> </a:t>
            </a:r>
            <a:r>
              <a:rPr dirty="0" err="1"/>
              <a:t>쓰이는</a:t>
            </a:r>
            <a:r>
              <a:rPr dirty="0"/>
              <a:t> </a:t>
            </a:r>
            <a:r>
              <a:rPr dirty="0" err="1"/>
              <a:t>방식입니다</a:t>
            </a:r>
            <a:r>
              <a:rPr dirty="0"/>
              <a:t>. </a:t>
            </a:r>
            <a:r>
              <a:rPr dirty="0" err="1"/>
              <a:t>넷째</a:t>
            </a:r>
            <a:r>
              <a:rPr dirty="0"/>
              <a:t>, </a:t>
            </a:r>
            <a:r>
              <a:rPr dirty="0" err="1"/>
              <a:t>정상</a:t>
            </a:r>
            <a:r>
              <a:rPr dirty="0"/>
              <a:t>/</a:t>
            </a:r>
            <a:r>
              <a:rPr dirty="0" err="1"/>
              <a:t>이상</a:t>
            </a:r>
            <a:r>
              <a:rPr dirty="0"/>
              <a:t> </a:t>
            </a:r>
            <a:r>
              <a:rPr dirty="0" err="1"/>
              <a:t>기준값</a:t>
            </a:r>
            <a:r>
              <a:rPr dirty="0"/>
              <a:t>(cutoff)을 </a:t>
            </a:r>
            <a:r>
              <a:rPr dirty="0" err="1"/>
              <a:t>건강한</a:t>
            </a:r>
            <a:r>
              <a:rPr dirty="0"/>
              <a:t> </a:t>
            </a:r>
            <a:r>
              <a:rPr dirty="0" err="1"/>
              <a:t>집단</a:t>
            </a:r>
            <a:r>
              <a:rPr dirty="0"/>
              <a:t> </a:t>
            </a:r>
            <a:r>
              <a:rPr dirty="0" err="1"/>
              <a:t>평균에서</a:t>
            </a:r>
            <a:r>
              <a:rPr dirty="0"/>
              <a:t> </a:t>
            </a:r>
            <a:r>
              <a:rPr dirty="0" err="1"/>
              <a:t>표준편차</a:t>
            </a:r>
            <a:r>
              <a:rPr dirty="0"/>
              <a:t> 2배 </a:t>
            </a:r>
            <a:r>
              <a:rPr dirty="0" err="1"/>
              <a:t>벗어난</a:t>
            </a:r>
            <a:r>
              <a:rPr dirty="0"/>
              <a:t> </a:t>
            </a:r>
            <a:r>
              <a:rPr dirty="0" err="1"/>
              <a:t>지점으로</a:t>
            </a:r>
            <a:r>
              <a:rPr dirty="0"/>
              <a:t> </a:t>
            </a:r>
            <a:r>
              <a:rPr dirty="0" err="1"/>
              <a:t>정하는</a:t>
            </a:r>
            <a:r>
              <a:rPr dirty="0"/>
              <a:t> </a:t>
            </a:r>
            <a:r>
              <a:rPr dirty="0" err="1"/>
              <a:t>방법은</a:t>
            </a:r>
            <a:r>
              <a:rPr dirty="0"/>
              <a:t> </a:t>
            </a:r>
            <a:r>
              <a:rPr dirty="0" err="1"/>
              <a:t>근감소증</a:t>
            </a:r>
            <a:r>
              <a:rPr dirty="0"/>
              <a:t> </a:t>
            </a:r>
            <a:r>
              <a:rPr dirty="0" err="1"/>
              <a:t>진단</a:t>
            </a:r>
            <a:r>
              <a:rPr dirty="0"/>
              <a:t> </a:t>
            </a:r>
            <a:r>
              <a:rPr dirty="0" err="1"/>
              <a:t>논문들이</a:t>
            </a:r>
            <a:r>
              <a:rPr dirty="0"/>
              <a:t> </a:t>
            </a:r>
            <a:r>
              <a:rPr dirty="0" err="1"/>
              <a:t>실제로</a:t>
            </a:r>
            <a:r>
              <a:rPr dirty="0"/>
              <a:t> </a:t>
            </a:r>
            <a:r>
              <a:rPr dirty="0" err="1"/>
              <a:t>쓰는</a:t>
            </a:r>
            <a:r>
              <a:rPr dirty="0"/>
              <a:t> </a:t>
            </a:r>
            <a:r>
              <a:rPr dirty="0" err="1"/>
              <a:t>방식인데</a:t>
            </a:r>
            <a:r>
              <a:rPr dirty="0"/>
              <a:t>, 그 </a:t>
            </a:r>
            <a:r>
              <a:rPr dirty="0" err="1"/>
              <a:t>논문들은</a:t>
            </a:r>
            <a:r>
              <a:rPr dirty="0"/>
              <a:t> </a:t>
            </a:r>
            <a:r>
              <a:rPr dirty="0" err="1"/>
              <a:t>별도의</a:t>
            </a:r>
            <a:r>
              <a:rPr dirty="0"/>
              <a:t> </a:t>
            </a:r>
            <a:r>
              <a:rPr dirty="0" err="1"/>
              <a:t>건강한</a:t>
            </a:r>
            <a:r>
              <a:rPr dirty="0"/>
              <a:t> </a:t>
            </a:r>
            <a:r>
              <a:rPr dirty="0" err="1"/>
              <a:t>대조군에서</a:t>
            </a:r>
            <a:r>
              <a:rPr dirty="0"/>
              <a:t> </a:t>
            </a:r>
            <a:r>
              <a:rPr dirty="0" err="1"/>
              <a:t>기준을</a:t>
            </a:r>
            <a:r>
              <a:rPr dirty="0"/>
              <a:t> </a:t>
            </a:r>
            <a:r>
              <a:rPr dirty="0" err="1"/>
              <a:t>뽑은</a:t>
            </a:r>
            <a:r>
              <a:rPr dirty="0"/>
              <a:t> </a:t>
            </a:r>
            <a:r>
              <a:rPr dirty="0" err="1"/>
              <a:t>반면</a:t>
            </a:r>
            <a:r>
              <a:rPr dirty="0"/>
              <a:t> </a:t>
            </a:r>
            <a:r>
              <a:rPr dirty="0" err="1"/>
              <a:t>저희는</a:t>
            </a:r>
            <a:r>
              <a:rPr dirty="0"/>
              <a:t> </a:t>
            </a:r>
            <a:r>
              <a:rPr dirty="0" err="1"/>
              <a:t>대조군</a:t>
            </a:r>
            <a:r>
              <a:rPr dirty="0"/>
              <a:t> </a:t>
            </a:r>
            <a:r>
              <a:rPr dirty="0" err="1"/>
              <a:t>없이</a:t>
            </a:r>
            <a:r>
              <a:rPr dirty="0"/>
              <a:t> </a:t>
            </a:r>
            <a:r>
              <a:rPr dirty="0" err="1"/>
              <a:t>전체</a:t>
            </a:r>
            <a:r>
              <a:rPr dirty="0"/>
              <a:t> </a:t>
            </a:r>
            <a:r>
              <a:rPr dirty="0" err="1"/>
              <a:t>환자</a:t>
            </a:r>
            <a:r>
              <a:rPr dirty="0"/>
              <a:t> </a:t>
            </a:r>
            <a:r>
              <a:rPr dirty="0" err="1"/>
              <a:t>코호트에서</a:t>
            </a:r>
            <a:r>
              <a:rPr dirty="0"/>
              <a:t> </a:t>
            </a:r>
            <a:r>
              <a:rPr dirty="0" err="1"/>
              <a:t>바로</a:t>
            </a:r>
            <a:r>
              <a:rPr dirty="0"/>
              <a:t> </a:t>
            </a:r>
            <a:r>
              <a:rPr dirty="0" err="1"/>
              <a:t>뽑아본</a:t>
            </a:r>
            <a:r>
              <a:rPr dirty="0"/>
              <a:t> </a:t>
            </a:r>
            <a:r>
              <a:rPr dirty="0" err="1"/>
              <a:t>차이가</a:t>
            </a:r>
            <a:r>
              <a:rPr dirty="0"/>
              <a:t> </a:t>
            </a:r>
            <a:r>
              <a:rPr dirty="0" err="1"/>
              <a:t>있고</a:t>
            </a:r>
            <a:r>
              <a:rPr dirty="0"/>
              <a:t>, 이 </a:t>
            </a:r>
            <a:r>
              <a:rPr dirty="0" err="1"/>
              <a:t>차이가</a:t>
            </a:r>
            <a:r>
              <a:rPr dirty="0"/>
              <a:t> </a:t>
            </a:r>
            <a:r>
              <a:rPr dirty="0" err="1"/>
              <a:t>나중에</a:t>
            </a:r>
            <a:r>
              <a:rPr dirty="0"/>
              <a:t> </a:t>
            </a:r>
            <a:r>
              <a:rPr dirty="0" err="1"/>
              <a:t>문제를</a:t>
            </a:r>
            <a:r>
              <a:rPr dirty="0"/>
              <a:t> </a:t>
            </a:r>
            <a:r>
              <a:rPr dirty="0" err="1"/>
              <a:t>일으킵니다</a:t>
            </a:r>
            <a:r>
              <a:rPr dirty="0"/>
              <a:t>.</a:t>
            </a:r>
          </a:p>
        </p:txBody>
      </p:sp>
      <p:sp>
        <p:nvSpPr>
          <p:cNvPr id="4" name="Slide Number Placeholder 3">
            <a:extLst>
              <a:ext uri="{FF2B5EF4-FFF2-40B4-BE49-F238E27FC236}">
                <a16:creationId xmlns:a16="http://schemas.microsoft.com/office/drawing/2014/main" id="{7025721D-0B49-0A35-0055-ABEAAB0A4B5E}"/>
              </a:ext>
            </a:extLst>
          </p:cNvPr>
          <p:cNvSpPr>
            <a:spLocks noGrp="1"/>
          </p:cNvSpPr>
          <p:nvPr>
            <p:ph type="sldNum" sz="quarter" idx="5"/>
          </p:nvPr>
        </p:nvSpPr>
        <p:spPr/>
      </p:sp>
    </p:spTree>
    <p:extLst>
      <p:ext uri="{BB962C8B-B14F-4D97-AF65-F5344CB8AC3E}">
        <p14:creationId xmlns:p14="http://schemas.microsoft.com/office/powerpoint/2010/main" val="2669524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1EDB8-D3F6-3507-04D0-3A38924FB8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215CE-E7A1-A7FF-51C5-EA691D7A5FA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5E5C74F-6EC5-204E-9170-BC4AB6C070EB}"/>
              </a:ext>
            </a:extLst>
          </p:cNvPr>
          <p:cNvSpPr>
            <a:spLocks noGrp="1"/>
          </p:cNvSpPr>
          <p:nvPr>
            <p:ph type="body" sz="quarter" idx="3"/>
          </p:nvPr>
        </p:nvSpPr>
        <p:spPr/>
        <p:txBody>
          <a:bodyPr/>
          <a:lstStyle/>
          <a:p>
            <a:r>
              <a:t>가장 중요한 결론부터 말씀드리면, 같은 AEC 정보를 추가해도 연속적인 수치를 그대로 맞히는 회귀 방식이냐 정상/이상을 나누는 이진분류 방식이냐에 따라 결론이 달라집니다. 회귀에서는 내장지방과 전체지방량 딱 2가지만 조건부로 좋아지고, 근육 관련 지표 2가지는 오히려 나빠집니다 — 애초에 근육량과 AEC 곡선의 상관관계가 약하기 때문입니다. 반면 이진분류로 바꾸면 7개 지표 중 5개가 유의하게 좋아지는 정반대 결과가 나옵니다. 같은 데이터, 같은 AEC 정보인데 예측을 어떤 형태로 하느냐에 따라 결론이 뒤바뀐다는 것이 이 발표의 핵심입니다.</a:t>
            </a:r>
          </a:p>
        </p:txBody>
      </p:sp>
      <p:sp>
        <p:nvSpPr>
          <p:cNvPr id="4" name="Slide Number Placeholder 3">
            <a:extLst>
              <a:ext uri="{FF2B5EF4-FFF2-40B4-BE49-F238E27FC236}">
                <a16:creationId xmlns:a16="http://schemas.microsoft.com/office/drawing/2014/main" id="{756313A3-7C82-396F-2E97-27A91023EF67}"/>
              </a:ext>
            </a:extLst>
          </p:cNvPr>
          <p:cNvSpPr>
            <a:spLocks noGrp="1"/>
          </p:cNvSpPr>
          <p:nvPr>
            <p:ph type="sldNum" sz="quarter" idx="5"/>
          </p:nvPr>
        </p:nvSpPr>
        <p:spPr/>
      </p:sp>
    </p:spTree>
    <p:extLst>
      <p:ext uri="{BB962C8B-B14F-4D97-AF65-F5344CB8AC3E}">
        <p14:creationId xmlns:p14="http://schemas.microsoft.com/office/powerpoint/2010/main" val="33866586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AD335-5AB6-1A72-8095-E8D4D4674A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D7CEBC-5493-AA8E-842A-48A8451CA6F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9970FF2-C7CF-7DA5-42FD-148A8982DA11}"/>
              </a:ext>
            </a:extLst>
          </p:cNvPr>
          <p:cNvSpPr>
            <a:spLocks noGrp="1"/>
          </p:cNvSpPr>
          <p:nvPr>
            <p:ph type="body" sz="quarter" idx="3"/>
          </p:nvPr>
        </p:nvSpPr>
        <p:spPr/>
        <p:txBody>
          <a:bodyPr/>
          <a:lstStyle/>
          <a:p>
            <a:r>
              <a:t>발표 순서입니다. Step0은 키·몸무게·성별·나이 4가지 기본 정보만으로 예측하는 기준선입니다. Step1은 여기에 AEC 곡선 전체를 평균 낸 숫자 하나만 추가해봅니다. Step2는 128개 구간 중 일부만 골라 쓰거나 앞뒤 절반으로 나눠 비교합니다. Step3은 곡선의 표준편차·비대칭도 같은 모양 정보를 추가합니다. 여기까지는 전부 연속적인 수치 예측이고, 마지막 Step4는 이 수치들을 정상/이상으로 나눠 이진분류로 다시 검증한 결과입니다.</a:t>
            </a:r>
          </a:p>
        </p:txBody>
      </p:sp>
      <p:sp>
        <p:nvSpPr>
          <p:cNvPr id="4" name="Slide Number Placeholder 3">
            <a:extLst>
              <a:ext uri="{FF2B5EF4-FFF2-40B4-BE49-F238E27FC236}">
                <a16:creationId xmlns:a16="http://schemas.microsoft.com/office/drawing/2014/main" id="{9AABB817-497D-5B69-36A9-CF412C7EB2CB}"/>
              </a:ext>
            </a:extLst>
          </p:cNvPr>
          <p:cNvSpPr>
            <a:spLocks noGrp="1"/>
          </p:cNvSpPr>
          <p:nvPr>
            <p:ph type="sldNum" sz="quarter" idx="5"/>
          </p:nvPr>
        </p:nvSpPr>
        <p:spPr/>
      </p:sp>
    </p:spTree>
    <p:extLst>
      <p:ext uri="{BB962C8B-B14F-4D97-AF65-F5344CB8AC3E}">
        <p14:creationId xmlns:p14="http://schemas.microsoft.com/office/powerpoint/2010/main" val="4754497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기본 정보 4가지와 체성분 7종의 단순한 상관관계를 보면, 몸무게가 가장 강력한 예측변수입니다(근육총량과 상관 0.76). 성별은 근육 계열과는 양의 관계, 피하지방과는 음의 관계를 보이고, 키는 근육 계열에만 강하게 관련되며, 나이는 전반적으로 영향이 약합니다. 이 4개 변수만으로 예측한 기준 성능(R², 1에 가까울수록 잘 맞음)은 0.33에서 0.65 사이입니다. 다만 근육 감쇠(LAMA) 지표는 외부 검증 코호트(신촌)에서 성능이 완전히 무너지는데(R²가 음수), 이는 두 병원 코호트 간 이 지표의 평균값 자체가 32%가량 차이 나기 때문입니다 — 모델이 못 배운 게 아니라 두 병원의 기준값 자체가 다른 것이 원인입니다.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0D3FF-60B7-09AB-8353-88D491674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A72A32-B933-8762-18B6-977F160DAEC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1080D6B-5245-E6C0-1935-770874A18FE1}"/>
              </a:ext>
            </a:extLst>
          </p:cNvPr>
          <p:cNvSpPr>
            <a:spLocks noGrp="1"/>
          </p:cNvSpPr>
          <p:nvPr>
            <p:ph type="body" sz="quarter" idx="3"/>
          </p:nvPr>
        </p:nvSpPr>
        <p:spPr/>
        <p:txBody>
          <a:bodyPr/>
          <a:lstStyle/>
          <a:p>
            <a:r>
              <a:t>여기서부터는 AEC 곡선 128개 구간을 통째로 평균 낸 숫자 하나를 추가해봅니다. 이 평균값은 체성분 7종 전부와 통계적으로 유의한 상관관계를 보입니다. 문제는 이 AEC 평균이 몸무게와도 상관관계가 0.54로 상당히 겹친다는 점입니다 — 몸무게가 많이 나갈수록 CT 장비가 자동으로 관전류를 더 올리는 물리적인 이유 때문입니다. 이미 쓰고 있는 변수(몸무게)와 새로 추가하는 변수(AEC)가 이렇게 겹치면, 새 변수의 순수한 기여도는 생각보다 작아집니다.</a:t>
            </a:r>
          </a:p>
        </p:txBody>
      </p:sp>
      <p:sp>
        <p:nvSpPr>
          <p:cNvPr id="4" name="Slide Number Placeholder 3">
            <a:extLst>
              <a:ext uri="{FF2B5EF4-FFF2-40B4-BE49-F238E27FC236}">
                <a16:creationId xmlns:a16="http://schemas.microsoft.com/office/drawing/2014/main" id="{17FF6766-C890-8603-9DDA-F637A22AFD99}"/>
              </a:ext>
            </a:extLst>
          </p:cNvPr>
          <p:cNvSpPr>
            <a:spLocks noGrp="1"/>
          </p:cNvSpPr>
          <p:nvPr>
            <p:ph type="sldNum" sz="quarter" idx="5"/>
          </p:nvPr>
        </p:nvSpPr>
        <p:spPr/>
      </p:sp>
    </p:spTree>
    <p:extLst>
      <p:ext uri="{BB962C8B-B14F-4D97-AF65-F5344CB8AC3E}">
        <p14:creationId xmlns:p14="http://schemas.microsoft.com/office/powerpoint/2010/main" val="41238369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83C5-F1BE-FC65-5AF9-E7E47CC45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92DCB0-4BC2-B0F8-7007-57F898B8204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36E90E0-A7DE-89E9-2254-2E8F04AA88FC}"/>
              </a:ext>
            </a:extLst>
          </p:cNvPr>
          <p:cNvSpPr>
            <a:spLocks noGrp="1"/>
          </p:cNvSpPr>
          <p:nvPr>
            <p:ph type="body" sz="quarter" idx="3"/>
          </p:nvPr>
        </p:nvSpPr>
        <p:spPr/>
        <p:txBody>
          <a:bodyPr/>
          <a:lstStyle/>
          <a:p>
            <a:r>
              <a:t>실제로 AEC 평균 하나를 추가한 결과, 내부 검증(강남)에서는 7개 지표 전부 소폭 개선됩니다. 그런데 외부 검증(신촌)에서는 정반대로 7개 전부 성능이 나빠지고, 근육량(NAMA)이 가장 크게 나빠집니다. 원인은 AEC 정보 자체가 나빠서가 아니라, 128개 구간을 숫자 하나로 지나치게 뭉뚱그린 데다 이미 있는 몸무게 변수와 정보가 겹치기 때문입니다. 뒤에 나오는 Step2·Step3에서 압축을 덜 하고 더 많은 정보를 살리면 결과가 달라지는 것으로 이를 확인할 수 있습니다.</a:t>
            </a:r>
          </a:p>
        </p:txBody>
      </p:sp>
      <p:sp>
        <p:nvSpPr>
          <p:cNvPr id="4" name="Slide Number Placeholder 3">
            <a:extLst>
              <a:ext uri="{FF2B5EF4-FFF2-40B4-BE49-F238E27FC236}">
                <a16:creationId xmlns:a16="http://schemas.microsoft.com/office/drawing/2014/main" id="{425FD0F8-7A1D-956F-D937-5469774FD764}"/>
              </a:ext>
            </a:extLst>
          </p:cNvPr>
          <p:cNvSpPr>
            <a:spLocks noGrp="1"/>
          </p:cNvSpPr>
          <p:nvPr>
            <p:ph type="sldNum" sz="quarter" idx="5"/>
          </p:nvPr>
        </p:nvSpPr>
        <p:spPr/>
      </p:sp>
    </p:spTree>
    <p:extLst>
      <p:ext uri="{BB962C8B-B14F-4D97-AF65-F5344CB8AC3E}">
        <p14:creationId xmlns:p14="http://schemas.microsoft.com/office/powerpoint/2010/main" val="6786566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AEC 곡선 128구간을 2·4·8개 구간으로 나눠 각 구간 평균과 체성분 7종의 상관관계를 본 결과, 전 구간에서 상관은 항상 양(+)이고, 구간을 잘게 쪼갤수록 곡선의 중후반부(50~75% 지점)에 관련성이 몰립니다 — 내장지방(VAT)이 가장 강해 상관계수 0.6 정도입니다. 앞/뒤 절반으로만 나눠 보면 대부분 지표가 뒷부분에서 더 강하게 관련되는데, 이 앞뒤 두 구간을 같은 모델에 동시에 넣으면 이상한 일이 생깁니다. 예를 들어 VAT는 앞구간 하나만 보면 약한 양의 관계인데, 둘을 같이 넣은 모델에서는 앞구간의 계수가 마이너스로 뒤집힙니다. 이건 앞구간이 실제로 VAT를 줄인다는 뜻이 아니라, 앞뒤 두 구간이 서로 너무 비슷한 정보를 담고 있어서(상관 0.8) 모델이 헷갈려 하나를 억지로 깎아내는 통계적 착시입니다 — 거의 같은 질문 두 개를 동시에 던지면 어느 쪽 덕분인지 모델이 구분 못 하는 것과 같습니다. 그래서 이 계수를 원인으로 해석하면 안 되고, 단순 상관만 신뢰해야 합니다. 근육량(NAMA)은 어떤 구간 수에서도 상관이 계속 약한데, 이는 나중에 NAMA가 AEC를 추가해도 거의 개선되지 않는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957685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AEC 구간을 1개부터 128개까지 늘려가며 성능을 비교한 결과, 지방 계열 지표들은 구간을 8개 정도로 나눴을 때 기본 성능을 넘어서는 경향이 있습니다. 반면 근육 계열 지표들은 구간 수를 아무리 바꿔도 외부 검증에서는 기본 성능을 넘지 못합니다. 근육 감쇠(LAMA)만 예외적으로 일부 구간에서 기본선을 살짝 넘는데, 이는 원래 기본선 자체가 거의 0에 가까운 무의미한 값이기 때문에 생기는 착시에 가깝습니다.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AEC 곡선을 정확히 반으로 나눠 앞부분과 뒷부분을 각각 따로 추가해본 결과, 지방 계열을 포함해 7개 지표 전부 외부 검증에서 성능이 나빠집니다. 근육 계열은 더 크게 나빠지는데, 이는 절반으로 자르는 것 자체가 정보를 너무 많이 버려서 다른 병원 데이터에 적용할 때 불리하다는 뜻입니다. 유일한 예외는 앞뒤 평균을 버리지 않고 둘 다 변수로 같이 넣었을 때인데, 이때는 내장지방(VAT)만 개선됩니다 — 정보를 버리지 않고 같이 써야 이득이 생긴다는 패턴이 여기서도 반복됩니다.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33A0A-7B13-3D73-9E05-39B762A4E8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B27186-7844-EE33-0B62-77D0E36D96D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50BE171-7064-788A-60B4-EF29565F8FE0}"/>
              </a:ext>
            </a:extLst>
          </p:cNvPr>
          <p:cNvSpPr>
            <a:spLocks noGrp="1"/>
          </p:cNvSpPr>
          <p:nvPr>
            <p:ph type="body" sz="quarter" idx="3"/>
          </p:nvPr>
        </p:nvSpPr>
        <p:spPr/>
        <p:txBody>
          <a:bodyPr/>
          <a:lstStyle/>
          <a:p>
            <a:r>
              <a:t>다음 두 슬라이드에서 볼 상위 구간 선택 방법을 먼저 설명드립니다. AEC 곡선을 8개 구간으로 나눈 뒤, 통계적으로 각 체성분 지표와 더 관련 있는 구간부터 순서를 매겨 상위 k개만(1개부터 8개까지) 골라 씁니다. 기본 정보 4가지는 선택 대상이 아니라 항상 포함됩니다. 구간을 고를 때는 학습 데이터가 검증 데이터를 미리 엿보지 않도록, 교차검증의 각 학습 구간 안에서만 다시 선택하는 절차를 거쳤습니다. 외부 병원 데이터에는 이렇게 확정된 모델을 그대로 적용했습니다. 실제로 대부분의 지표는 곡선의 후반부 구간(전체의 50~88% 지점)이 먼저 선택됐고, 앞부분은 훨씬 나중에야 포함됐습니다 — 뒷부분이 예측에 더 유용하다는 뜻입니다.</a:t>
            </a:r>
          </a:p>
        </p:txBody>
      </p:sp>
      <p:sp>
        <p:nvSpPr>
          <p:cNvPr id="4" name="Slide Number Placeholder 3">
            <a:extLst>
              <a:ext uri="{FF2B5EF4-FFF2-40B4-BE49-F238E27FC236}">
                <a16:creationId xmlns:a16="http://schemas.microsoft.com/office/drawing/2014/main" id="{7FCAC697-A7FC-C390-0C9C-E987E49C6F9E}"/>
              </a:ext>
            </a:extLst>
          </p:cNvPr>
          <p:cNvSpPr>
            <a:spLocks noGrp="1"/>
          </p:cNvSpPr>
          <p:nvPr>
            <p:ph type="sldNum" sz="quarter" idx="5"/>
          </p:nvPr>
        </p:nvSpPr>
        <p:spPr/>
      </p:sp>
    </p:spTree>
    <p:extLst>
      <p:ext uri="{BB962C8B-B14F-4D97-AF65-F5344CB8AC3E}">
        <p14:creationId xmlns:p14="http://schemas.microsoft.com/office/powerpoint/2010/main" val="36491875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상위 구간을 1개만 추가해도 대부분 지표가 기본선보다 좋아집니다. 지방 계열은 구간을 늘릴수록 꾸준히 좋아져서 8개를 다 쓸 때 가장 좋습니다. 근육량(NAMA)은 3개 구간에서 최고점을 찍은 뒤 완만히 내려가지만 그래도 기본선보다는 계속 높습니다. 근육총량(TAMA)은 기본선과 거의 차이가 없어 사실상 AEC를 추가한 효과가 없다고 봐야 합니다. 근육 감쇠(LAMA)는 지방 계열처럼 구간을 늘릴수록 꾸준히 좋아져 기본선 대비 +0.047 개선됩니다. 다만 이건 내부 검증 결과이고, 근육 계열은 외부 검증에서는 이 개선이 사라진다는 점을 다음에 함께 봐야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EC2C2-F390-6A32-C14E-C88004157A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43792-1332-DB9E-6401-E3FFA46415F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3E9A509-5F98-8A57-C8D4-55515E4730CE}"/>
              </a:ext>
            </a:extLst>
          </p:cNvPr>
          <p:cNvSpPr>
            <a:spLocks noGrp="1"/>
          </p:cNvSpPr>
          <p:nvPr>
            <p:ph type="body" sz="quarter" idx="3"/>
          </p:nvPr>
        </p:nvSpPr>
        <p:spPr/>
        <p:txBody>
          <a:bodyPr/>
          <a:lstStyle/>
          <a:p>
            <a:r>
              <a:t>이번엔 곡선의 표준편차·비대칭도 같은 모양 정보를 추가해봤습니다. 내장지방과 전체지방량은 유의하게 좋아지고, 근육량 2개 지표는 유의하게 나빠집니다 — 이 방향성은 앞선 Step1·Step2에서도 똑같이 반복된 패턴입니다. 근육간지방(IMATA)과 피하지방(SAT)은 통계적으로 유의한 변화가 없습니다. 즉 지방 계열은 AEC를 추가하면 다 좋아진다는 말은 정확하지 않고, 일부 지표에만 해당하는 조건부 결론입니다.</a:t>
            </a:r>
          </a:p>
        </p:txBody>
      </p:sp>
      <p:sp>
        <p:nvSpPr>
          <p:cNvPr id="4" name="Slide Number Placeholder 3">
            <a:extLst>
              <a:ext uri="{FF2B5EF4-FFF2-40B4-BE49-F238E27FC236}">
                <a16:creationId xmlns:a16="http://schemas.microsoft.com/office/drawing/2014/main" id="{011893EA-70C6-0D1B-3B22-6C523A8F4027}"/>
              </a:ext>
            </a:extLst>
          </p:cNvPr>
          <p:cNvSpPr>
            <a:spLocks noGrp="1"/>
          </p:cNvSpPr>
          <p:nvPr>
            <p:ph type="sldNum" sz="quarter" idx="5"/>
          </p:nvPr>
        </p:nvSpPr>
        <p:spPr/>
      </p:sp>
    </p:spTree>
    <p:extLst>
      <p:ext uri="{BB962C8B-B14F-4D97-AF65-F5344CB8AC3E}">
        <p14:creationId xmlns:p14="http://schemas.microsoft.com/office/powerpoint/2010/main" val="36668894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E9569-655C-292A-61E2-27F4B3715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857233-279B-4066-92C2-7561A13B0D2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3406744-7F94-666F-5496-2E0F4400ABBE}"/>
              </a:ext>
            </a:extLst>
          </p:cNvPr>
          <p:cNvSpPr>
            <a:spLocks noGrp="1"/>
          </p:cNvSpPr>
          <p:nvPr>
            <p:ph type="body" sz="quarter" idx="3"/>
          </p:nvPr>
        </p:nvSpPr>
        <p:spPr/>
        <p:txBody>
          <a:bodyPr/>
          <a:lstStyle/>
          <a:p>
            <a:r>
              <a:t>지금까지는 체성분 수치를 그대로 맞히는 회귀 문제였다면, 지금부터는 각 수치를 정상/이상으로 나눠 진단 정확도(AUC)로 평가하는 이진분류로 전환합니다. 문제는 저희 데이터가 여러 슬라이스를 합산한 값이라 기존 논문의 기준값(cutoff)을 그대로 못 쓴다는 점입니다(스케일이 최대 130배 차이). 그래서 먼저 문헌 방법대로 건강한 집단 평균에서 표준편차 2배 떨어진 지점을 기준으로 잡아봤는데, 일부 지표에서 이상 판정 인원이 너무 적어 재조정이 필요했습니다. 최종적으로는 표준편차 1배로 기준을 다시 잡아 이진분류를 완료했고, 그 결과가 다음 슬라이드들입니다.</a:t>
            </a:r>
          </a:p>
        </p:txBody>
      </p:sp>
      <p:sp>
        <p:nvSpPr>
          <p:cNvPr id="4" name="Slide Number Placeholder 3">
            <a:extLst>
              <a:ext uri="{FF2B5EF4-FFF2-40B4-BE49-F238E27FC236}">
                <a16:creationId xmlns:a16="http://schemas.microsoft.com/office/drawing/2014/main" id="{5D850010-9EEF-CEAB-0C55-AD5F240D4741}"/>
              </a:ext>
            </a:extLst>
          </p:cNvPr>
          <p:cNvSpPr>
            <a:spLocks noGrp="1"/>
          </p:cNvSpPr>
          <p:nvPr>
            <p:ph type="sldNum" sz="quarter" idx="5"/>
          </p:nvPr>
        </p:nvSpPr>
        <p:spPr/>
      </p:sp>
    </p:spTree>
    <p:extLst>
      <p:ext uri="{BB962C8B-B14F-4D97-AF65-F5344CB8AC3E}">
        <p14:creationId xmlns:p14="http://schemas.microsoft.com/office/powerpoint/2010/main" val="1291512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문헌과 똑같은 방식(건강 집단 평균에서 표준편차 2배 떨어진 지점)으로 기준값을 직접 산출해본 첫 시도입니다. 다만 문헌은 별도의 건강한 대조군에서 기준을 뽑는데, 저희는 대조군 없이 진단 대상 코호트 자체에서 바로 뽑았다는 차이가 있습니다. 그 결과 근육량 관련 2개 지표는 이상 판정 인원이 4명에서 17명까지 너무 적어져서, 안정적으로 분류하기 어려운 상태가 됐습니다. 그래서 다음 슬라이드에서 기준을 다시 잡습니다.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문제를 해결하려고 표준편차 배수를 2에서 1로 줄여 기준값을 다시 잡았습니다 — 이는 근감소증 진단이나 골밀도 진단에서도 실제로 쓰이는 기준입니다. 그 결과 이상 판정 비율이 지표마다 10~16%대로 훨씬 고르게 나왔습니다. 근육총량(TAMA)은 원래 키로 보정한 값을 쓰려 했지만 그러면 외부 검증에서 이상 인원이 2명뿐이라 AUC가 인위적으로 1.000이 나오는 문제가 생겨, 보정하지 않은 원래 값으로 되돌렸습니다. 근육 감쇠(LAMA)는 근육 부위 지표이지만 수치가 낮을수록 지방이 침투한 상태라 지방 계열과 같은 방향(높으면 이상)으로 정의했습니다.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이 </a:t>
            </a:r>
            <a:r>
              <a:rPr dirty="0" err="1"/>
              <a:t>발표에서</a:t>
            </a:r>
            <a:r>
              <a:rPr dirty="0"/>
              <a:t> </a:t>
            </a:r>
            <a:r>
              <a:rPr dirty="0" err="1"/>
              <a:t>가장</a:t>
            </a:r>
            <a:r>
              <a:rPr dirty="0"/>
              <a:t> </a:t>
            </a:r>
            <a:r>
              <a:rPr dirty="0" err="1"/>
              <a:t>핵심적인</a:t>
            </a:r>
            <a:r>
              <a:rPr dirty="0"/>
              <a:t> </a:t>
            </a:r>
            <a:r>
              <a:rPr dirty="0" err="1"/>
              <a:t>결과입니다</a:t>
            </a:r>
            <a:r>
              <a:rPr dirty="0"/>
              <a:t>. </a:t>
            </a:r>
            <a:r>
              <a:rPr dirty="0" err="1"/>
              <a:t>기본</a:t>
            </a:r>
            <a:r>
              <a:rPr dirty="0"/>
              <a:t> </a:t>
            </a:r>
            <a:r>
              <a:rPr dirty="0" err="1"/>
              <a:t>정보</a:t>
            </a:r>
            <a:r>
              <a:rPr dirty="0"/>
              <a:t> 4가지만 쓴 </a:t>
            </a:r>
            <a:r>
              <a:rPr dirty="0" err="1"/>
              <a:t>모델과</a:t>
            </a:r>
            <a:r>
              <a:rPr dirty="0"/>
              <a:t> </a:t>
            </a:r>
            <a:r>
              <a:rPr dirty="0" err="1"/>
              <a:t>여기에</a:t>
            </a:r>
            <a:r>
              <a:rPr dirty="0"/>
              <a:t> AEC 8구간을 </a:t>
            </a:r>
            <a:r>
              <a:rPr dirty="0" err="1"/>
              <a:t>추가한</a:t>
            </a:r>
            <a:r>
              <a:rPr dirty="0"/>
              <a:t> </a:t>
            </a:r>
            <a:r>
              <a:rPr dirty="0" err="1"/>
              <a:t>모델을</a:t>
            </a:r>
            <a:r>
              <a:rPr dirty="0"/>
              <a:t> </a:t>
            </a:r>
            <a:r>
              <a:rPr dirty="0" err="1"/>
              <a:t>각각</a:t>
            </a:r>
            <a:r>
              <a:rPr dirty="0"/>
              <a:t> </a:t>
            </a:r>
            <a:r>
              <a:rPr dirty="0" err="1"/>
              <a:t>만들어</a:t>
            </a:r>
            <a:r>
              <a:rPr dirty="0"/>
              <a:t> </a:t>
            </a:r>
            <a:r>
              <a:rPr dirty="0" err="1"/>
              <a:t>외부</a:t>
            </a:r>
            <a:r>
              <a:rPr dirty="0"/>
              <a:t> </a:t>
            </a:r>
            <a:r>
              <a:rPr dirty="0" err="1"/>
              <a:t>병원</a:t>
            </a:r>
            <a:r>
              <a:rPr dirty="0"/>
              <a:t> </a:t>
            </a:r>
            <a:r>
              <a:rPr dirty="0" err="1"/>
              <a:t>데이터로</a:t>
            </a:r>
            <a:r>
              <a:rPr dirty="0"/>
              <a:t> </a:t>
            </a:r>
            <a:r>
              <a:rPr dirty="0" err="1"/>
              <a:t>진단</a:t>
            </a:r>
            <a:r>
              <a:rPr dirty="0"/>
              <a:t> </a:t>
            </a:r>
            <a:r>
              <a:rPr dirty="0" err="1"/>
              <a:t>정확도</a:t>
            </a:r>
            <a:r>
              <a:rPr dirty="0"/>
              <a:t>(AUC) </a:t>
            </a:r>
            <a:r>
              <a:rPr dirty="0" err="1"/>
              <a:t>차이를</a:t>
            </a:r>
            <a:r>
              <a:rPr dirty="0"/>
              <a:t> </a:t>
            </a:r>
            <a:r>
              <a:rPr dirty="0" err="1"/>
              <a:t>통계적으로</a:t>
            </a:r>
            <a:r>
              <a:rPr dirty="0"/>
              <a:t> </a:t>
            </a:r>
            <a:r>
              <a:rPr dirty="0" err="1"/>
              <a:t>검정했습니다</a:t>
            </a:r>
            <a:r>
              <a:rPr dirty="0"/>
              <a:t>. </a:t>
            </a:r>
            <a:r>
              <a:rPr dirty="0" err="1"/>
              <a:t>회귀와</a:t>
            </a:r>
            <a:r>
              <a:rPr dirty="0"/>
              <a:t> </a:t>
            </a:r>
            <a:r>
              <a:rPr dirty="0" err="1"/>
              <a:t>달리</a:t>
            </a:r>
            <a:r>
              <a:rPr dirty="0"/>
              <a:t> </a:t>
            </a:r>
            <a:r>
              <a:rPr dirty="0" err="1"/>
              <a:t>이진분류는</a:t>
            </a:r>
            <a:r>
              <a:rPr dirty="0"/>
              <a:t> </a:t>
            </a:r>
            <a:r>
              <a:rPr dirty="0" err="1"/>
              <a:t>외부</a:t>
            </a:r>
            <a:r>
              <a:rPr dirty="0"/>
              <a:t> </a:t>
            </a:r>
            <a:r>
              <a:rPr dirty="0" err="1"/>
              <a:t>검증에서도</a:t>
            </a:r>
            <a:r>
              <a:rPr dirty="0"/>
              <a:t> </a:t>
            </a:r>
            <a:r>
              <a:rPr dirty="0" err="1"/>
              <a:t>크게</a:t>
            </a:r>
            <a:r>
              <a:rPr dirty="0"/>
              <a:t> </a:t>
            </a:r>
            <a:r>
              <a:rPr dirty="0" err="1"/>
              <a:t>무너지지</a:t>
            </a:r>
            <a:r>
              <a:rPr dirty="0"/>
              <a:t> </a:t>
            </a:r>
            <a:r>
              <a:rPr dirty="0" err="1"/>
              <a:t>않아</a:t>
            </a:r>
            <a:r>
              <a:rPr dirty="0"/>
              <a:t> 7개 </a:t>
            </a:r>
            <a:r>
              <a:rPr dirty="0" err="1"/>
              <a:t>지표</a:t>
            </a:r>
            <a:r>
              <a:rPr dirty="0"/>
              <a:t> </a:t>
            </a:r>
            <a:r>
              <a:rPr dirty="0" err="1"/>
              <a:t>모두</a:t>
            </a:r>
            <a:r>
              <a:rPr dirty="0"/>
              <a:t> AUC 0.76 </a:t>
            </a:r>
            <a:r>
              <a:rPr dirty="0" err="1"/>
              <a:t>이상을</a:t>
            </a:r>
            <a:r>
              <a:rPr dirty="0"/>
              <a:t> </a:t>
            </a:r>
            <a:r>
              <a:rPr dirty="0" err="1"/>
              <a:t>유지합니다</a:t>
            </a:r>
            <a:r>
              <a:rPr dirty="0"/>
              <a:t>. </a:t>
            </a:r>
            <a:r>
              <a:rPr dirty="0" err="1"/>
              <a:t>내장지방·전체지방량·피하지방·근육간지방·근육감쇠</a:t>
            </a:r>
            <a:r>
              <a:rPr dirty="0"/>
              <a:t> 5개 </a:t>
            </a:r>
            <a:r>
              <a:rPr dirty="0" err="1"/>
              <a:t>지표는</a:t>
            </a:r>
            <a:r>
              <a:rPr dirty="0"/>
              <a:t> </a:t>
            </a:r>
            <a:r>
              <a:rPr dirty="0" err="1"/>
              <a:t>AEC를</a:t>
            </a:r>
            <a:r>
              <a:rPr dirty="0"/>
              <a:t> </a:t>
            </a:r>
            <a:r>
              <a:rPr dirty="0" err="1"/>
              <a:t>추가하면</a:t>
            </a:r>
            <a:r>
              <a:rPr dirty="0"/>
              <a:t> </a:t>
            </a:r>
            <a:r>
              <a:rPr dirty="0" err="1"/>
              <a:t>통계적으로</a:t>
            </a:r>
            <a:r>
              <a:rPr dirty="0"/>
              <a:t> </a:t>
            </a:r>
            <a:r>
              <a:rPr dirty="0" err="1"/>
              <a:t>유의하게</a:t>
            </a:r>
            <a:r>
              <a:rPr dirty="0"/>
              <a:t> 더 </a:t>
            </a:r>
            <a:r>
              <a:rPr dirty="0" err="1"/>
              <a:t>정확해집니다</a:t>
            </a:r>
            <a:r>
              <a:rPr dirty="0"/>
              <a:t>(</a:t>
            </a:r>
            <a:r>
              <a:rPr dirty="0" err="1"/>
              <a:t>가장</a:t>
            </a:r>
            <a:r>
              <a:rPr dirty="0"/>
              <a:t> </a:t>
            </a:r>
            <a:r>
              <a:rPr dirty="0" err="1"/>
              <a:t>크게는</a:t>
            </a:r>
            <a:r>
              <a:rPr dirty="0"/>
              <a:t> </a:t>
            </a:r>
            <a:r>
              <a:rPr dirty="0" err="1"/>
              <a:t>내장지방이</a:t>
            </a:r>
            <a:r>
              <a:rPr dirty="0"/>
              <a:t> 0.813에서 0.869로 </a:t>
            </a:r>
            <a:r>
              <a:rPr dirty="0" err="1"/>
              <a:t>개선</a:t>
            </a:r>
            <a:r>
              <a:rPr dirty="0"/>
              <a:t>). </a:t>
            </a:r>
            <a:r>
              <a:rPr dirty="0" err="1"/>
              <a:t>근육총량</a:t>
            </a:r>
            <a:r>
              <a:rPr dirty="0"/>
              <a:t>(TAMA)은 </a:t>
            </a:r>
            <a:r>
              <a:rPr dirty="0" err="1"/>
              <a:t>반대로</a:t>
            </a:r>
            <a:r>
              <a:rPr dirty="0"/>
              <a:t> </a:t>
            </a:r>
            <a:r>
              <a:rPr dirty="0" err="1"/>
              <a:t>AEC를</a:t>
            </a:r>
            <a:r>
              <a:rPr dirty="0"/>
              <a:t> </a:t>
            </a:r>
            <a:r>
              <a:rPr dirty="0" err="1"/>
              <a:t>추가하면</a:t>
            </a:r>
            <a:r>
              <a:rPr dirty="0"/>
              <a:t> </a:t>
            </a:r>
            <a:r>
              <a:rPr dirty="0" err="1"/>
              <a:t>오히려</a:t>
            </a:r>
            <a:r>
              <a:rPr dirty="0"/>
              <a:t> </a:t>
            </a:r>
            <a:r>
              <a:rPr dirty="0" err="1"/>
              <a:t>유의하게</a:t>
            </a:r>
            <a:r>
              <a:rPr dirty="0"/>
              <a:t> </a:t>
            </a:r>
            <a:r>
              <a:rPr dirty="0" err="1"/>
              <a:t>나빠지고</a:t>
            </a:r>
            <a:r>
              <a:rPr dirty="0"/>
              <a:t>, </a:t>
            </a:r>
            <a:r>
              <a:rPr dirty="0" err="1"/>
              <a:t>근육량</a:t>
            </a:r>
            <a:r>
              <a:rPr dirty="0"/>
              <a:t>(NAMA)은 </a:t>
            </a:r>
            <a:r>
              <a:rPr dirty="0" err="1"/>
              <a:t>유의한</a:t>
            </a:r>
            <a:r>
              <a:rPr dirty="0"/>
              <a:t> </a:t>
            </a:r>
            <a:r>
              <a:rPr dirty="0" err="1"/>
              <a:t>차이가</a:t>
            </a:r>
            <a:r>
              <a:rPr dirty="0"/>
              <a:t> </a:t>
            </a:r>
            <a:r>
              <a:rPr dirty="0" err="1"/>
              <a:t>없습니다</a:t>
            </a:r>
            <a:r>
              <a:rPr dirty="0"/>
              <a:t>. </a:t>
            </a:r>
            <a:r>
              <a:rPr dirty="0" err="1"/>
              <a:t>회귀에서는</a:t>
            </a:r>
            <a:r>
              <a:rPr dirty="0"/>
              <a:t> 딱 2개 </a:t>
            </a:r>
            <a:r>
              <a:rPr dirty="0" err="1"/>
              <a:t>지표만</a:t>
            </a:r>
            <a:r>
              <a:rPr dirty="0"/>
              <a:t> </a:t>
            </a:r>
            <a:r>
              <a:rPr dirty="0" err="1"/>
              <a:t>좋아졌던</a:t>
            </a:r>
            <a:r>
              <a:rPr dirty="0"/>
              <a:t> </a:t>
            </a:r>
            <a:r>
              <a:rPr dirty="0" err="1"/>
              <a:t>것과</a:t>
            </a:r>
            <a:r>
              <a:rPr dirty="0"/>
              <a:t> </a:t>
            </a:r>
            <a:r>
              <a:rPr dirty="0" err="1"/>
              <a:t>비교하면</a:t>
            </a:r>
            <a:r>
              <a:rPr dirty="0"/>
              <a:t>, </a:t>
            </a:r>
            <a:r>
              <a:rPr dirty="0" err="1"/>
              <a:t>이진분류에서는</a:t>
            </a:r>
            <a:r>
              <a:rPr dirty="0"/>
              <a:t> 5개 </a:t>
            </a:r>
            <a:r>
              <a:rPr dirty="0" err="1"/>
              <a:t>지표가</a:t>
            </a:r>
            <a:r>
              <a:rPr dirty="0"/>
              <a:t> </a:t>
            </a:r>
            <a:r>
              <a:rPr dirty="0" err="1"/>
              <a:t>좋아지는</a:t>
            </a:r>
            <a:r>
              <a:rPr dirty="0"/>
              <a:t> </a:t>
            </a:r>
            <a:r>
              <a:rPr dirty="0" err="1"/>
              <a:t>정반대</a:t>
            </a:r>
            <a:r>
              <a:rPr dirty="0"/>
              <a:t> </a:t>
            </a:r>
            <a:r>
              <a:rPr dirty="0" err="1"/>
              <a:t>결과입니다</a:t>
            </a:r>
            <a:r>
              <a:rPr dirty="0"/>
              <a:t> — </a:t>
            </a:r>
            <a:r>
              <a:rPr dirty="0" err="1"/>
              <a:t>예측</a:t>
            </a:r>
            <a:r>
              <a:rPr dirty="0"/>
              <a:t> </a:t>
            </a:r>
            <a:r>
              <a:rPr dirty="0" err="1"/>
              <a:t>방식에</a:t>
            </a:r>
            <a:r>
              <a:rPr dirty="0"/>
              <a:t> </a:t>
            </a:r>
            <a:r>
              <a:rPr dirty="0" err="1"/>
              <a:t>따라</a:t>
            </a:r>
            <a:r>
              <a:rPr dirty="0"/>
              <a:t> </a:t>
            </a:r>
            <a:r>
              <a:rPr dirty="0" err="1"/>
              <a:t>결론이</a:t>
            </a:r>
            <a:r>
              <a:rPr dirty="0"/>
              <a:t> </a:t>
            </a:r>
            <a:r>
              <a:rPr dirty="0" err="1"/>
              <a:t>이렇게</a:t>
            </a:r>
            <a:r>
              <a:rPr dirty="0"/>
              <a:t> </a:t>
            </a:r>
            <a:r>
              <a:rPr dirty="0" err="1"/>
              <a:t>달라진다는</a:t>
            </a:r>
            <a:r>
              <a:rPr dirty="0"/>
              <a:t> 걸 </a:t>
            </a:r>
            <a:r>
              <a:rPr dirty="0" err="1"/>
              <a:t>가장</a:t>
            </a:r>
            <a:r>
              <a:rPr dirty="0"/>
              <a:t> </a:t>
            </a:r>
            <a:r>
              <a:rPr dirty="0" err="1"/>
              <a:t>명확하게</a:t>
            </a:r>
            <a:r>
              <a:rPr dirty="0"/>
              <a:t> </a:t>
            </a:r>
            <a:r>
              <a:rPr dirty="0" err="1"/>
              <a:t>보여주는</a:t>
            </a:r>
            <a:r>
              <a:rPr dirty="0"/>
              <a:t> </a:t>
            </a:r>
            <a:r>
              <a:rPr dirty="0" err="1"/>
              <a:t>표입니다</a:t>
            </a:r>
            <a:r>
              <a:rPr dirty="0"/>
              <a:t>.</a:t>
            </a:r>
          </a:p>
          <a:p>
            <a:r>
              <a:rPr dirty="0" err="1"/>
              <a:t>표에</a:t>
            </a:r>
            <a:r>
              <a:rPr dirty="0"/>
              <a:t> </a:t>
            </a:r>
            <a:r>
              <a:rPr dirty="0" err="1"/>
              <a:t>내부</a:t>
            </a:r>
            <a:r>
              <a:rPr dirty="0"/>
              <a:t> </a:t>
            </a:r>
            <a:r>
              <a:rPr dirty="0" err="1"/>
              <a:t>병원</a:t>
            </a:r>
            <a:r>
              <a:rPr dirty="0"/>
              <a:t>(</a:t>
            </a:r>
            <a:r>
              <a:rPr dirty="0" err="1"/>
              <a:t>강남</a:t>
            </a:r>
            <a:r>
              <a:rPr dirty="0"/>
              <a:t>, </a:t>
            </a:r>
            <a:r>
              <a:rPr dirty="0" err="1"/>
              <a:t>교차검증</a:t>
            </a:r>
            <a:r>
              <a:rPr dirty="0"/>
              <a:t>) DeLong p-</a:t>
            </a:r>
            <a:r>
              <a:rPr dirty="0" err="1"/>
              <a:t>value도</a:t>
            </a:r>
            <a:r>
              <a:rPr dirty="0"/>
              <a:t> </a:t>
            </a:r>
            <a:r>
              <a:rPr dirty="0" err="1"/>
              <a:t>추가했습니다</a:t>
            </a:r>
            <a:r>
              <a:rPr dirty="0"/>
              <a:t>. </a:t>
            </a:r>
            <a:r>
              <a:rPr dirty="0" err="1"/>
              <a:t>외부</a:t>
            </a:r>
            <a:r>
              <a:rPr dirty="0"/>
              <a:t> </a:t>
            </a:r>
            <a:r>
              <a:rPr dirty="0" err="1"/>
              <a:t>병원</a:t>
            </a:r>
            <a:r>
              <a:rPr dirty="0"/>
              <a:t> </a:t>
            </a:r>
            <a:r>
              <a:rPr dirty="0" err="1"/>
              <a:t>검증만</a:t>
            </a:r>
            <a:r>
              <a:rPr dirty="0"/>
              <a:t> </a:t>
            </a:r>
            <a:r>
              <a:rPr dirty="0" err="1"/>
              <a:t>보면</a:t>
            </a:r>
            <a:r>
              <a:rPr dirty="0"/>
              <a:t> 5개 </a:t>
            </a:r>
            <a:r>
              <a:rPr dirty="0" err="1"/>
              <a:t>지표</a:t>
            </a:r>
            <a:r>
              <a:rPr dirty="0"/>
              <a:t>(</a:t>
            </a:r>
            <a:r>
              <a:rPr dirty="0" err="1"/>
              <a:t>내장지방·전체지방량·피하지방·근육간지방·근육감쇠</a:t>
            </a:r>
            <a:r>
              <a:rPr dirty="0"/>
              <a:t>)가 </a:t>
            </a:r>
            <a:r>
              <a:rPr dirty="0" err="1"/>
              <a:t>전부</a:t>
            </a:r>
            <a:r>
              <a:rPr dirty="0"/>
              <a:t> </a:t>
            </a:r>
            <a:r>
              <a:rPr dirty="0" err="1"/>
              <a:t>유의했지만</a:t>
            </a:r>
            <a:r>
              <a:rPr dirty="0"/>
              <a:t>, </a:t>
            </a:r>
            <a:r>
              <a:rPr dirty="0" err="1"/>
              <a:t>내부</a:t>
            </a:r>
            <a:r>
              <a:rPr dirty="0"/>
              <a:t> </a:t>
            </a:r>
            <a:r>
              <a:rPr dirty="0" err="1"/>
              <a:t>병원</a:t>
            </a:r>
            <a:r>
              <a:rPr dirty="0"/>
              <a:t> </a:t>
            </a:r>
            <a:r>
              <a:rPr dirty="0" err="1"/>
              <a:t>교차검증</a:t>
            </a:r>
            <a:r>
              <a:rPr dirty="0"/>
              <a:t> </a:t>
            </a:r>
            <a:r>
              <a:rPr dirty="0" err="1"/>
              <a:t>기준으로만</a:t>
            </a:r>
            <a:r>
              <a:rPr dirty="0"/>
              <a:t> </a:t>
            </a:r>
            <a:r>
              <a:rPr dirty="0" err="1"/>
              <a:t>보면</a:t>
            </a:r>
            <a:r>
              <a:rPr dirty="0"/>
              <a:t> </a:t>
            </a:r>
            <a:r>
              <a:rPr dirty="0" err="1"/>
              <a:t>내장지방</a:t>
            </a:r>
            <a:r>
              <a:rPr dirty="0"/>
              <a:t>(p&lt;0.001)·</a:t>
            </a:r>
            <a:r>
              <a:rPr dirty="0" err="1"/>
              <a:t>전체지방량</a:t>
            </a:r>
            <a:r>
              <a:rPr dirty="0"/>
              <a:t>(p=0.029)·</a:t>
            </a:r>
            <a:r>
              <a:rPr dirty="0" err="1"/>
              <a:t>피하지방</a:t>
            </a:r>
            <a:r>
              <a:rPr dirty="0"/>
              <a:t>(p=0.041) 3개만 </a:t>
            </a:r>
            <a:r>
              <a:rPr dirty="0" err="1"/>
              <a:t>유의하게</a:t>
            </a:r>
            <a:r>
              <a:rPr dirty="0"/>
              <a:t> </a:t>
            </a:r>
            <a:r>
              <a:rPr dirty="0" err="1"/>
              <a:t>남고</a:t>
            </a:r>
            <a:r>
              <a:rPr dirty="0"/>
              <a:t>, </a:t>
            </a:r>
            <a:r>
              <a:rPr dirty="0" err="1"/>
              <a:t>근육간지방</a:t>
            </a:r>
            <a:r>
              <a:rPr dirty="0"/>
              <a:t>(p=0.071)과 </a:t>
            </a:r>
            <a:r>
              <a:rPr dirty="0" err="1"/>
              <a:t>근육감쇠</a:t>
            </a:r>
            <a:r>
              <a:rPr dirty="0"/>
              <a:t>(p=0.102)는 </a:t>
            </a:r>
            <a:r>
              <a:rPr dirty="0" err="1"/>
              <a:t>유의성이</a:t>
            </a:r>
            <a:r>
              <a:rPr dirty="0"/>
              <a:t> </a:t>
            </a:r>
            <a:r>
              <a:rPr dirty="0" err="1"/>
              <a:t>사라집니다</a:t>
            </a:r>
            <a:r>
              <a:rPr dirty="0"/>
              <a:t>(</a:t>
            </a:r>
            <a:r>
              <a:rPr dirty="0" err="1"/>
              <a:t>경계값</a:t>
            </a:r>
            <a:r>
              <a:rPr dirty="0"/>
              <a:t> </a:t>
            </a:r>
            <a:r>
              <a:rPr dirty="0" err="1"/>
              <a:t>근처</a:t>
            </a:r>
            <a:r>
              <a:rPr dirty="0"/>
              <a:t>). </a:t>
            </a:r>
            <a:r>
              <a:rPr dirty="0" err="1"/>
              <a:t>모델을</a:t>
            </a:r>
            <a:r>
              <a:rPr dirty="0"/>
              <a:t> </a:t>
            </a:r>
            <a:r>
              <a:rPr dirty="0" err="1"/>
              <a:t>실제로</a:t>
            </a:r>
            <a:r>
              <a:rPr dirty="0"/>
              <a:t> </a:t>
            </a:r>
            <a:r>
              <a:rPr dirty="0" err="1"/>
              <a:t>채택할지는</a:t>
            </a:r>
            <a:r>
              <a:rPr dirty="0"/>
              <a:t> </a:t>
            </a:r>
            <a:r>
              <a:rPr dirty="0" err="1"/>
              <a:t>외부</a:t>
            </a:r>
            <a:r>
              <a:rPr dirty="0"/>
              <a:t> </a:t>
            </a:r>
            <a:r>
              <a:rPr dirty="0" err="1"/>
              <a:t>검증이</a:t>
            </a:r>
            <a:r>
              <a:rPr dirty="0"/>
              <a:t> </a:t>
            </a:r>
            <a:r>
              <a:rPr dirty="0" err="1"/>
              <a:t>아니라</a:t>
            </a:r>
            <a:r>
              <a:rPr dirty="0"/>
              <a:t> </a:t>
            </a:r>
            <a:r>
              <a:rPr dirty="0" err="1"/>
              <a:t>내부</a:t>
            </a:r>
            <a:r>
              <a:rPr dirty="0"/>
              <a:t> </a:t>
            </a:r>
            <a:r>
              <a:rPr dirty="0" err="1"/>
              <a:t>교차검증</a:t>
            </a:r>
            <a:r>
              <a:rPr dirty="0"/>
              <a:t> </a:t>
            </a:r>
            <a:r>
              <a:rPr dirty="0" err="1"/>
              <a:t>결과를</a:t>
            </a:r>
            <a:r>
              <a:rPr dirty="0"/>
              <a:t> </a:t>
            </a:r>
            <a:r>
              <a:rPr dirty="0" err="1"/>
              <a:t>기준으로</a:t>
            </a:r>
            <a:r>
              <a:rPr dirty="0"/>
              <a:t> </a:t>
            </a:r>
            <a:r>
              <a:rPr dirty="0" err="1"/>
              <a:t>판단해야</a:t>
            </a:r>
            <a:r>
              <a:rPr dirty="0"/>
              <a:t> </a:t>
            </a:r>
            <a:r>
              <a:rPr dirty="0" err="1"/>
              <a:t>하므로</a:t>
            </a:r>
            <a:r>
              <a:rPr dirty="0"/>
              <a:t>, AEC </a:t>
            </a:r>
            <a:r>
              <a:rPr dirty="0" err="1"/>
              <a:t>추가</a:t>
            </a:r>
            <a:r>
              <a:rPr dirty="0"/>
              <a:t> </a:t>
            </a:r>
            <a:r>
              <a:rPr dirty="0" err="1"/>
              <a:t>효과가</a:t>
            </a:r>
            <a:r>
              <a:rPr dirty="0"/>
              <a:t> </a:t>
            </a:r>
            <a:r>
              <a:rPr dirty="0" err="1"/>
              <a:t>내부·외부</a:t>
            </a:r>
            <a:r>
              <a:rPr dirty="0"/>
              <a:t> </a:t>
            </a:r>
            <a:r>
              <a:rPr dirty="0" err="1"/>
              <a:t>양쪽에서</a:t>
            </a:r>
            <a:r>
              <a:rPr dirty="0"/>
              <a:t> </a:t>
            </a:r>
            <a:r>
              <a:rPr dirty="0" err="1"/>
              <a:t>모두</a:t>
            </a:r>
            <a:r>
              <a:rPr dirty="0"/>
              <a:t> </a:t>
            </a:r>
            <a:r>
              <a:rPr dirty="0" err="1"/>
              <a:t>확인되는</a:t>
            </a:r>
            <a:r>
              <a:rPr dirty="0"/>
              <a:t> </a:t>
            </a:r>
            <a:r>
              <a:rPr dirty="0" err="1"/>
              <a:t>지표는</a:t>
            </a:r>
            <a:r>
              <a:rPr dirty="0"/>
              <a:t> </a:t>
            </a:r>
            <a:r>
              <a:rPr dirty="0" err="1"/>
              <a:t>내장지방·전체지방량·피하지방</a:t>
            </a:r>
            <a:r>
              <a:rPr dirty="0"/>
              <a:t> 3개로 </a:t>
            </a:r>
            <a:r>
              <a:rPr dirty="0" err="1"/>
              <a:t>좁혀집니다</a:t>
            </a:r>
            <a:r>
              <a:rPr dirty="0"/>
              <a:t>. </a:t>
            </a:r>
            <a:r>
              <a:rPr dirty="0" err="1"/>
              <a:t>근육총량</a:t>
            </a:r>
            <a:r>
              <a:rPr dirty="0"/>
              <a:t>(TAMA)과 </a:t>
            </a:r>
            <a:r>
              <a:rPr dirty="0" err="1"/>
              <a:t>근육량</a:t>
            </a:r>
            <a:r>
              <a:rPr dirty="0"/>
              <a:t>(NAMA)은 </a:t>
            </a:r>
            <a:r>
              <a:rPr dirty="0" err="1"/>
              <a:t>내부·외부</a:t>
            </a:r>
            <a:r>
              <a:rPr dirty="0"/>
              <a:t> </a:t>
            </a:r>
            <a:r>
              <a:rPr dirty="0" err="1"/>
              <a:t>모두</a:t>
            </a:r>
            <a:r>
              <a:rPr dirty="0"/>
              <a:t> </a:t>
            </a:r>
            <a:r>
              <a:rPr dirty="0" err="1"/>
              <a:t>유의한</a:t>
            </a:r>
            <a:r>
              <a:rPr dirty="0"/>
              <a:t> </a:t>
            </a:r>
            <a:r>
              <a:rPr dirty="0" err="1"/>
              <a:t>차이가</a:t>
            </a:r>
            <a:r>
              <a:rPr dirty="0"/>
              <a:t> </a:t>
            </a:r>
            <a:r>
              <a:rPr dirty="0" err="1"/>
              <a:t>없어</a:t>
            </a:r>
            <a:r>
              <a:rPr dirty="0"/>
              <a:t> </a:t>
            </a:r>
            <a:r>
              <a:rPr dirty="0" err="1"/>
              <a:t>일관됩니다</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마지막으로 전체 결론을 정리하겠습니다. 근육량 관련 2개 지표는 AEC를 어떤 방식으로 추가해도 예외 없이 나빠지는데, 원래 근육량과 AEC 곡선의 상관관계 자체가 약하기 때문입니다. 내장지방과 전체지방량은 곡선 정보를 충분히 살린 표현(모양 feature, 상위 구간 선택)에서만 좋아지고, 정보를 과도하게 압축한 표현(단일 평균, 절반 분할)에서는 똑같이 나빠집니다 — 지방 계열엔 AEC가 무조건 좋다가 아니라 조건부 결론입니다. 근육간지방과 피하지방은 회귀에서는 어떤 실험에서도 유의한 효과가 없었습니다. 근육 감쇠는 회귀에서는 두 병원 간 기준값 차이 때문에 사실상 의미 없는 개선이었지만, 이진분류로 바꾸면 실질적으로 좋아집니다. 이진분류(Step4) 결과는 회귀보다 훨씬 안정적이어서, 7개 지표 모두 외부 검증 AUC 0.76 이상을 유지했습니다. 다만 외부 병원뿐 아니라 내부 병원 교차검증까지 같이 보면, 내장지방·전체지방량·피하지방 3개만 두 검증 모두에서 확실하게 좋아지고, 근육간지방·근육감쇠 2개는 외부 검증에서만 좋아진 것으로 나와서(내부 기준으로는 유의하지 않음) 우연일 가능성을 배제할 수 없습니다. 동반질환(고혈압·당뇨·만성신장질환) 데이터는 추가만 됐고 분석은 아직 시작 전입니다. 다음 단계는 이진분류 결과의 임상적 해석과 동반질환 관련 검증입니다.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여기부터는 부록입니다. Step0(clinic4 baseline) 회귀 결과를 체성분 7종 각각에 대해 더 자세히 뜯어본 진단 자료들입니다.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체성분 7종의 강남→신촌 코호트 평균 변화율을 비교한 표입니다. 근육 감쇠(LAMA)만 유독 31.7%나 차이 나는데, 기본 정보(성별·나이·키·몸무게) 분포는 두 병원이 거의 같으니 이건 모델의 문제가 아니라 LAMA 라벨 자체의 두 병원 간 기준 차이입니다. 감쇠(HU) 임계값으로 정의하는 지표(LAMA·IMATA)가 장비 보정에 민감하고, 면적으로만 정의하는 지표(TAMA·SAT)는 상대적으로 안정적이라는 설명과도 일치합니다.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근육총량(TAMA)을 예측한 잔차 진단입니다. 내부검증 R²=0.646, 외부검증 R²=0.711로 오히려 외부에서 더 잘 맞습니다 — 7종 중 가장 안정적으로 일반화되는 지표입니다.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TAMA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정상감쇠근육량(NAMA)을 예측한 잔차 진단입니다. 내부검증 R²=0.591, 외부검증 R²=0.568로 큰 차이 없이 안정적입니다.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NAMA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저감쇠근육량(LAMA, 지방이 침윤된 근육)을 예측한 잔차 진단입니다. 내부검증 R²=0.419인데 외부검증에서는 R²=-0.035로 무너집니다 — 두 병원 간 LAMA 평균값 자체가 31.7% 차이 나서 생기는 상수 오차(bias) 때문이며(앞 슬라이드 참고), 이 오차만 제거하면 R²가 약 0.30까지 회복됩니다.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LAMA 예측의 실제값-예측값 산점도입니다. 앞 슬라이드에서 본 외부검증 상수 오차(bias=-1206)가 이 그래프에도 그대로 반영돼 있습니다 — 점이 대각선(y=x)에서 얼마나, 어느 방향으로 벗어나 있는지 함께 보면 됩니다.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근육간지방(IMATA)을 예측한 잔차 진단입니다. 내부검증 R²=0.333, 외부검증 R²=0.282로 7종 중 clinic4만으로는 가장 예측하기 어려운 지표입니다.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IMATA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피하지방(SAT)을 예측한 잔차 진단입니다. 내부검증 R²=0.528, 외부검증 R²=0.565로 안정적입니다.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SAT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내장지방(VAT)을 예측한 잔차 진단입니다. 내부검증 R²=0.523, 외부검증 R²=0.418로 다소 낮아지지만 여전히 유의미한 수준입니다.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VAT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clinic4만으로 전체지방량(Total Fat)을 예측한 잔차 진단입니다. 내부검증 R²=0.502, 외부검증 R²=0.492로 안정적입니다.</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Total Fat 예측의 실제값-예측값 산점도입니다. 점이 대각선(y=x)에 가까울수록 예측이 정확하다는 뜻이며, 앞 슬라이드의 잔차 진단과 같은 모델 결과를 다른 방식으로 보여주는 보완 자료입니다.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pic>
        <p:nvPicPr>
          <p:cNvPr id="7" name="object 2">
            <a:extLst>
              <a:ext uri="{FF2B5EF4-FFF2-40B4-BE49-F238E27FC236}">
                <a16:creationId xmlns:a16="http://schemas.microsoft.com/office/drawing/2014/main" id="{D279837B-A00B-4327-9AB8-97044CBDABA7}"/>
              </a:ext>
            </a:extLst>
          </p:cNvPr>
          <p:cNvPicPr/>
          <p:nvPr userDrawn="1"/>
        </p:nvPicPr>
        <p:blipFill rotWithShape="1">
          <a:blip r:embed="rId2"/>
          <a:stretch>
            <a:fillRect/>
          </a:stretch>
        </p:blipFill>
        <p:spPr>
          <a:xfrm>
            <a:off x="0" y="228731"/>
            <a:ext cx="12192000" cy="6400538"/>
          </a:xfrm>
          <a:prstGeom prst="rect">
            <a:avLst/>
          </a:prstGeom>
        </p:spPr>
      </p:pic>
      <p:pic>
        <p:nvPicPr>
          <p:cNvPr id="3" name="그림 2">
            <a:extLst>
              <a:ext uri="{FF2B5EF4-FFF2-40B4-BE49-F238E27FC236}">
                <a16:creationId xmlns:a16="http://schemas.microsoft.com/office/drawing/2014/main" id="{4B17CE84-3562-483D-8448-6A30899AF09E}"/>
              </a:ext>
            </a:extLst>
          </p:cNvPr>
          <p:cNvPicPr>
            <a:picLocks noChangeAspect="1"/>
          </p:cNvPicPr>
          <p:nvPr userDrawn="1"/>
        </p:nvPicPr>
        <p:blipFill rotWithShape="1">
          <a:blip r:embed="rId3">
            <a:clrChange>
              <a:clrFrom>
                <a:srgbClr val="FFFFFF"/>
              </a:clrFrom>
              <a:clrTo>
                <a:srgbClr val="FFFFFF">
                  <a:alpha val="0"/>
                </a:srgbClr>
              </a:clrTo>
            </a:clrChange>
          </a:blip>
          <a:srcRect t="19699" b="22132"/>
          <a:stretch/>
        </p:blipFill>
        <p:spPr>
          <a:xfrm>
            <a:off x="3461866" y="5273477"/>
            <a:ext cx="4168803" cy="982769"/>
          </a:xfrm>
          <a:prstGeom prst="rect">
            <a:avLst/>
          </a:prstGeom>
        </p:spPr>
      </p:pic>
      <p:pic>
        <p:nvPicPr>
          <p:cNvPr id="8" name="object 4">
            <a:extLst>
              <a:ext uri="{FF2B5EF4-FFF2-40B4-BE49-F238E27FC236}">
                <a16:creationId xmlns:a16="http://schemas.microsoft.com/office/drawing/2014/main" id="{8EF8DD5B-0316-4193-BCC7-D6CFCAE8969D}"/>
              </a:ext>
            </a:extLst>
          </p:cNvPr>
          <p:cNvPicPr/>
          <p:nvPr userDrawn="1"/>
        </p:nvPicPr>
        <p:blipFill rotWithShape="1">
          <a:blip r:embed="rId4"/>
          <a:stretch>
            <a:fillRect/>
          </a:stretch>
        </p:blipFill>
        <p:spPr>
          <a:xfrm>
            <a:off x="-277376" y="5274173"/>
            <a:ext cx="4550839" cy="992767"/>
          </a:xfrm>
          <a:prstGeom prst="rect">
            <a:avLst/>
          </a:prstGeom>
        </p:spPr>
      </p:pic>
    </p:spTree>
    <p:extLst>
      <p:ext uri="{BB962C8B-B14F-4D97-AF65-F5344CB8AC3E}">
        <p14:creationId xmlns:p14="http://schemas.microsoft.com/office/powerpoint/2010/main" val="33685786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grpSp>
        <p:nvGrpSpPr>
          <p:cNvPr id="24" name="그룹 23">
            <a:extLst>
              <a:ext uri="{FF2B5EF4-FFF2-40B4-BE49-F238E27FC236}">
                <a16:creationId xmlns:a16="http://schemas.microsoft.com/office/drawing/2014/main" id="{5EC22856-02EF-4559-9B66-BD5C863FF254}"/>
              </a:ext>
            </a:extLst>
          </p:cNvPr>
          <p:cNvGrpSpPr/>
          <p:nvPr userDrawn="1"/>
        </p:nvGrpSpPr>
        <p:grpSpPr>
          <a:xfrm>
            <a:off x="-8467" y="6463089"/>
            <a:ext cx="12200467" cy="403574"/>
            <a:chOff x="-8467" y="6470661"/>
            <a:chExt cx="12200467" cy="390527"/>
          </a:xfrm>
        </p:grpSpPr>
        <p:sp>
          <p:nvSpPr>
            <p:cNvPr id="9" name="직사각형 8">
              <a:extLst>
                <a:ext uri="{FF2B5EF4-FFF2-40B4-BE49-F238E27FC236}">
                  <a16:creationId xmlns:a16="http://schemas.microsoft.com/office/drawing/2014/main" id="{0DFE1C4B-A7EE-47E1-8AAE-3EF4E43D16F6}"/>
                </a:ext>
              </a:extLst>
            </p:cNvPr>
            <p:cNvSpPr/>
            <p:nvPr userDrawn="1"/>
          </p:nvSpPr>
          <p:spPr>
            <a:xfrm>
              <a:off x="0" y="6496062"/>
              <a:ext cx="12192000" cy="365126"/>
            </a:xfrm>
            <a:prstGeom prst="rect">
              <a:avLst/>
            </a:prstGeom>
            <a:solidFill>
              <a:srgbClr val="1F34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KoPub돋움체 Medium" panose="00000600000000000000" pitchFamily="2" charset="-127"/>
                <a:ea typeface="KoPub돋움체 Medium" panose="00000600000000000000" pitchFamily="2" charset="-127"/>
              </a:endParaRPr>
            </a:p>
          </p:txBody>
        </p:sp>
        <p:cxnSp>
          <p:nvCxnSpPr>
            <p:cNvPr id="15" name="직선 연결선 14">
              <a:extLst>
                <a:ext uri="{FF2B5EF4-FFF2-40B4-BE49-F238E27FC236}">
                  <a16:creationId xmlns:a16="http://schemas.microsoft.com/office/drawing/2014/main" id="{28C131E4-1CD9-49D8-B343-8379436586CB}"/>
                </a:ext>
              </a:extLst>
            </p:cNvPr>
            <p:cNvCxnSpPr>
              <a:cxnSpLocks/>
            </p:cNvCxnSpPr>
            <p:nvPr userDrawn="1"/>
          </p:nvCxnSpPr>
          <p:spPr>
            <a:xfrm>
              <a:off x="-8467" y="6470661"/>
              <a:ext cx="12200467" cy="0"/>
            </a:xfrm>
            <a:prstGeom prst="line">
              <a:avLst/>
            </a:pr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 name="제목 1">
            <a:extLst>
              <a:ext uri="{FF2B5EF4-FFF2-40B4-BE49-F238E27FC236}">
                <a16:creationId xmlns:a16="http://schemas.microsoft.com/office/drawing/2014/main" id="{FE4F955D-C3E9-4033-8442-9095377B0662}"/>
              </a:ext>
            </a:extLst>
          </p:cNvPr>
          <p:cNvSpPr>
            <a:spLocks noGrp="1"/>
          </p:cNvSpPr>
          <p:nvPr>
            <p:ph type="title" hasCustomPrompt="1"/>
          </p:nvPr>
        </p:nvSpPr>
        <p:spPr>
          <a:xfrm>
            <a:off x="508000" y="365126"/>
            <a:ext cx="11176000" cy="532342"/>
          </a:xfrm>
        </p:spPr>
        <p:txBody>
          <a:bodyPr>
            <a:normAutofit/>
          </a:bodyPr>
          <a:lstStyle>
            <a:lvl1pPr>
              <a:defRPr sz="2400" b="1">
                <a:solidFill>
                  <a:srgbClr val="023670"/>
                </a:solidFill>
                <a:latin typeface="KoPub돋움체 Bold" panose="02020603020101020101" pitchFamily="18" charset="-127"/>
                <a:ea typeface="KoPub돋움체 Bold" panose="02020603020101020101" pitchFamily="18" charset="-127"/>
                <a:cs typeface="Arial" panose="020B0604020202020204" pitchFamily="34" charset="0"/>
              </a:defRPr>
            </a:lvl1pPr>
          </a:lstStyle>
          <a:p>
            <a:r>
              <a:rPr lang="ko-KR" altLang="en-US" dirty="0"/>
              <a:t>마스터 제목 스타일 편집</a:t>
            </a:r>
          </a:p>
        </p:txBody>
      </p:sp>
      <p:sp>
        <p:nvSpPr>
          <p:cNvPr id="3" name="내용 개체 틀 2">
            <a:extLst>
              <a:ext uri="{FF2B5EF4-FFF2-40B4-BE49-F238E27FC236}">
                <a16:creationId xmlns:a16="http://schemas.microsoft.com/office/drawing/2014/main" id="{9CA482F1-FC12-443E-892A-B48F9C50AA53}"/>
              </a:ext>
            </a:extLst>
          </p:cNvPr>
          <p:cNvSpPr>
            <a:spLocks noGrp="1"/>
          </p:cNvSpPr>
          <p:nvPr>
            <p:ph idx="1" hasCustomPrompt="1"/>
          </p:nvPr>
        </p:nvSpPr>
        <p:spPr>
          <a:xfrm>
            <a:off x="508000" y="897468"/>
            <a:ext cx="11176000" cy="5063066"/>
          </a:xfrm>
        </p:spPr>
        <p:txBody>
          <a:bodyPr/>
          <a:lstStyle>
            <a:lvl1pPr>
              <a:lnSpc>
                <a:spcPct val="200000"/>
              </a:lnSpc>
              <a:defRPr sz="2000" b="0">
                <a:latin typeface="KoPub돋움체 Bold" panose="02020603020101020101" pitchFamily="18" charset="-127"/>
                <a:ea typeface="KoPub돋움체 Bold" panose="02020603020101020101" pitchFamily="18" charset="-127"/>
              </a:defRPr>
            </a:lvl1pPr>
            <a:lvl2pPr>
              <a:lnSpc>
                <a:spcPct val="150000"/>
              </a:lnSpc>
              <a:defRPr sz="1800">
                <a:latin typeface="KoPub돋움체 Medium" panose="02020603020101020101" pitchFamily="18" charset="-127"/>
                <a:ea typeface="KoPub돋움체 Medium" panose="02020603020101020101" pitchFamily="18" charset="-127"/>
              </a:defRPr>
            </a:lvl2pPr>
            <a:lvl3pPr>
              <a:lnSpc>
                <a:spcPct val="150000"/>
              </a:lnSpc>
              <a:defRPr sz="1600">
                <a:latin typeface="KoPub돋움체 Medium" panose="02020603020101020101" pitchFamily="18" charset="-127"/>
                <a:ea typeface="KoPub돋움체 Medium" panose="02020603020101020101" pitchFamily="18" charset="-127"/>
              </a:defRPr>
            </a:lvl3pPr>
            <a:lvl4pPr>
              <a:lnSpc>
                <a:spcPct val="150000"/>
              </a:lnSpc>
              <a:defRPr sz="1600">
                <a:latin typeface="KoPub돋움체 Medium" panose="02020603020101020101" pitchFamily="18" charset="-127"/>
                <a:ea typeface="KoPub돋움체 Medium" panose="02020603020101020101" pitchFamily="18" charset="-127"/>
              </a:defRPr>
            </a:lvl4pPr>
            <a:lvl5pPr>
              <a:lnSpc>
                <a:spcPct val="150000"/>
              </a:lnSpc>
              <a:defRPr sz="1600">
                <a:latin typeface="KoPub돋움체 Medium" panose="02020603020101020101" pitchFamily="18" charset="-127"/>
                <a:ea typeface="KoPub돋움체 Medium" panose="02020603020101020101" pitchFamily="18" charset="-127"/>
              </a:defRPr>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pic>
        <p:nvPicPr>
          <p:cNvPr id="11" name="그림 10">
            <a:extLst>
              <a:ext uri="{FF2B5EF4-FFF2-40B4-BE49-F238E27FC236}">
                <a16:creationId xmlns:a16="http://schemas.microsoft.com/office/drawing/2014/main" id="{95A1225D-0BD8-42FD-A091-144615FF0733}"/>
              </a:ext>
            </a:extLst>
          </p:cNvPr>
          <p:cNvPicPr>
            <a:picLocks noChangeAspect="1"/>
          </p:cNvPicPr>
          <p:nvPr userDrawn="1"/>
        </p:nvPicPr>
        <p:blipFill rotWithShape="1">
          <a:blip r:embed="rId2"/>
          <a:srcRect t="-583" b="3459"/>
          <a:stretch/>
        </p:blipFill>
        <p:spPr>
          <a:xfrm>
            <a:off x="5452198" y="6510701"/>
            <a:ext cx="1279135" cy="347299"/>
          </a:xfrm>
          <a:prstGeom prst="rect">
            <a:avLst/>
          </a:prstGeom>
          <a:solidFill>
            <a:srgbClr val="1F346B"/>
          </a:solidFill>
        </p:spPr>
      </p:pic>
      <p:sp>
        <p:nvSpPr>
          <p:cNvPr id="6" name="슬라이드 번호 개체 틀 5">
            <a:extLst>
              <a:ext uri="{FF2B5EF4-FFF2-40B4-BE49-F238E27FC236}">
                <a16:creationId xmlns:a16="http://schemas.microsoft.com/office/drawing/2014/main" id="{831EFF5A-1B85-42B1-95F5-C4213C5AD98D}"/>
              </a:ext>
            </a:extLst>
          </p:cNvPr>
          <p:cNvSpPr>
            <a:spLocks noGrp="1"/>
          </p:cNvSpPr>
          <p:nvPr>
            <p:ph type="sldNum" sz="quarter" idx="12"/>
          </p:nvPr>
        </p:nvSpPr>
        <p:spPr>
          <a:xfrm>
            <a:off x="11404600" y="6517302"/>
            <a:ext cx="558800" cy="321398"/>
          </a:xfrm>
        </p:spPr>
        <p:txBody>
          <a:bodyPr/>
          <a:lstStyle>
            <a:lvl1pPr>
              <a:defRPr>
                <a:solidFill>
                  <a:schemeClr val="bg1"/>
                </a:solidFill>
              </a:defRPr>
            </a:lvl1pPr>
          </a:lstStyle>
          <a:p>
            <a:fld id="{9F4AF89A-28FA-47FA-B28F-9A9C6913CB7A}" type="slidenum">
              <a:rPr lang="ko-KR" altLang="en-US" smtClean="0"/>
              <a:pPr/>
              <a:t>‹#›</a:t>
            </a:fld>
            <a:endParaRPr lang="ko-KR" altLang="en-US" dirty="0"/>
          </a:p>
        </p:txBody>
      </p:sp>
      <p:pic>
        <p:nvPicPr>
          <p:cNvPr id="13" name="그림 12">
            <a:extLst>
              <a:ext uri="{FF2B5EF4-FFF2-40B4-BE49-F238E27FC236}">
                <a16:creationId xmlns:a16="http://schemas.microsoft.com/office/drawing/2014/main" id="{DAEAB581-7B9E-4552-9BEC-BDB2FB36C0F9}"/>
              </a:ext>
            </a:extLst>
          </p:cNvPr>
          <p:cNvPicPr>
            <a:picLocks noChangeAspect="1"/>
          </p:cNvPicPr>
          <p:nvPr userDrawn="1"/>
        </p:nvPicPr>
        <p:blipFill rotWithShape="1">
          <a:blip r:embed="rId3">
            <a:extLst>
              <a:ext uri="{BEBA8EAE-BF5A-486C-A8C5-ECC9F3942E4B}">
                <a14:imgProps xmlns:a14="http://schemas.microsoft.com/office/drawing/2010/main">
                  <a14:imgLayer r:embed="rId4">
                    <a14:imgEffect>
                      <a14:backgroundRemoval t="66482" b="96122" l="16219" r="85171">
                        <a14:foregroundMark x1="20111" y1="81440" x2="20111" y2="81440"/>
                        <a14:foregroundMark x1="16404" y1="81440" x2="16404" y2="81440"/>
                        <a14:foregroundMark x1="25950" y1="81717" x2="25950" y2="81717"/>
                        <a14:foregroundMark x1="35959" y1="86704" x2="35959" y2="86704"/>
                        <a14:foregroundMark x1="44300" y1="83657" x2="44300" y2="83657"/>
                        <a14:foregroundMark x1="53197" y1="73961" x2="53197" y2="73961"/>
                        <a14:foregroundMark x1="82947" y1="81717" x2="82947" y2="81717"/>
                        <a14:foregroundMark x1="85171" y1="87812" x2="85171" y2="87812"/>
                      </a14:backgroundRemoval>
                    </a14:imgEffect>
                  </a14:imgLayer>
                </a14:imgProps>
              </a:ext>
              <a:ext uri="{28A0092B-C50C-407E-A947-70E740481C1C}">
                <a14:useLocalDpi xmlns:a14="http://schemas.microsoft.com/office/drawing/2010/main" val="0"/>
              </a:ext>
            </a:extLst>
          </a:blip>
          <a:srcRect l="12517" t="63297" r="13176"/>
          <a:stretch/>
        </p:blipFill>
        <p:spPr>
          <a:xfrm>
            <a:off x="112017" y="6545265"/>
            <a:ext cx="1744133" cy="288231"/>
          </a:xfrm>
          <a:prstGeom prst="rect">
            <a:avLst/>
          </a:prstGeom>
        </p:spPr>
      </p:pic>
      <p:sp>
        <p:nvSpPr>
          <p:cNvPr id="16" name="날짜 개체 틀 3">
            <a:extLst>
              <a:ext uri="{FF2B5EF4-FFF2-40B4-BE49-F238E27FC236}">
                <a16:creationId xmlns:a16="http://schemas.microsoft.com/office/drawing/2014/main" id="{3920A115-BF94-4DB0-B759-905F580E6ABC}"/>
              </a:ext>
            </a:extLst>
          </p:cNvPr>
          <p:cNvSpPr>
            <a:spLocks noGrp="1"/>
          </p:cNvSpPr>
          <p:nvPr>
            <p:ph type="dt" sz="half" idx="10"/>
          </p:nvPr>
        </p:nvSpPr>
        <p:spPr>
          <a:xfrm>
            <a:off x="9698025" y="6495439"/>
            <a:ext cx="1258711" cy="365125"/>
          </a:xfrm>
        </p:spPr>
        <p:txBody>
          <a:bodyPr/>
          <a:lstStyle>
            <a:lvl1pPr>
              <a:defRPr>
                <a:solidFill>
                  <a:schemeClr val="bg1"/>
                </a:solidFill>
              </a:defRPr>
            </a:lvl1pPr>
          </a:lstStyle>
          <a:p>
            <a:endParaRPr lang="ko-KR" altLang="en-US" dirty="0"/>
          </a:p>
        </p:txBody>
      </p:sp>
      <p:sp>
        <p:nvSpPr>
          <p:cNvPr id="17" name="바닥글 개체 틀 4">
            <a:extLst>
              <a:ext uri="{FF2B5EF4-FFF2-40B4-BE49-F238E27FC236}">
                <a16:creationId xmlns:a16="http://schemas.microsoft.com/office/drawing/2014/main" id="{CB761E04-ABC5-4F9B-B7F4-0370F3F02EDD}"/>
              </a:ext>
            </a:extLst>
          </p:cNvPr>
          <p:cNvSpPr>
            <a:spLocks noGrp="1"/>
          </p:cNvSpPr>
          <p:nvPr>
            <p:ph type="ftr" sz="quarter" idx="11"/>
          </p:nvPr>
        </p:nvSpPr>
        <p:spPr>
          <a:xfrm>
            <a:off x="7308348" y="6495439"/>
            <a:ext cx="1888067" cy="365125"/>
          </a:xfrm>
        </p:spPr>
        <p:txBody>
          <a:bodyPr/>
          <a:lstStyle>
            <a:lvl1pPr>
              <a:defRPr>
                <a:solidFill>
                  <a:schemeClr val="bg1"/>
                </a:solidFill>
              </a:defRPr>
            </a:lvl1pPr>
          </a:lstStyle>
          <a:p>
            <a:endParaRPr lang="ko-KR" altLang="en-US" dirty="0"/>
          </a:p>
        </p:txBody>
      </p:sp>
    </p:spTree>
    <p:extLst>
      <p:ext uri="{BB962C8B-B14F-4D97-AF65-F5344CB8AC3E}">
        <p14:creationId xmlns:p14="http://schemas.microsoft.com/office/powerpoint/2010/main" val="3176484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D0B4DC-8072-4B8E-A822-FE3A08C0D639}"/>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D927B99-20C3-4D37-8275-EA6400E5C1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C7C6CE84-6AD8-453A-AD6E-FEAF6049C1C5}"/>
              </a:ext>
            </a:extLst>
          </p:cNvPr>
          <p:cNvSpPr>
            <a:spLocks noGrp="1"/>
          </p:cNvSpPr>
          <p:nvPr>
            <p:ph type="dt" sz="half" idx="10"/>
          </p:nvPr>
        </p:nvSpPr>
        <p:spPr>
          <a:xfrm>
            <a:off x="838200" y="6044141"/>
            <a:ext cx="2743200" cy="365125"/>
          </a:xfrm>
        </p:spPr>
        <p:txBody>
          <a:bodyPr/>
          <a:lstStyle/>
          <a:p>
            <a:endParaRPr lang="ko-KR" altLang="en-US"/>
          </a:p>
        </p:txBody>
      </p:sp>
      <p:sp>
        <p:nvSpPr>
          <p:cNvPr id="5" name="바닥글 개체 틀 4">
            <a:extLst>
              <a:ext uri="{FF2B5EF4-FFF2-40B4-BE49-F238E27FC236}">
                <a16:creationId xmlns:a16="http://schemas.microsoft.com/office/drawing/2014/main" id="{549EF105-0337-4580-9111-FD2F527F97D8}"/>
              </a:ext>
            </a:extLst>
          </p:cNvPr>
          <p:cNvSpPr>
            <a:spLocks noGrp="1"/>
          </p:cNvSpPr>
          <p:nvPr>
            <p:ph type="ftr" sz="quarter" idx="11"/>
          </p:nvPr>
        </p:nvSpPr>
        <p:spPr>
          <a:xfrm>
            <a:off x="4038600" y="6044141"/>
            <a:ext cx="4114800" cy="365125"/>
          </a:xfrm>
        </p:spPr>
        <p:txBody>
          <a:bodyPr/>
          <a:lstStyle/>
          <a:p>
            <a:endParaRPr lang="ko-KR" altLang="en-US"/>
          </a:p>
        </p:txBody>
      </p:sp>
      <p:sp>
        <p:nvSpPr>
          <p:cNvPr id="7" name="슬라이드 번호 개체 틀 5">
            <a:extLst>
              <a:ext uri="{FF2B5EF4-FFF2-40B4-BE49-F238E27FC236}">
                <a16:creationId xmlns:a16="http://schemas.microsoft.com/office/drawing/2014/main" id="{AB31AF83-2C46-4BF6-B48E-DD76F99A3E2F}"/>
              </a:ext>
            </a:extLst>
          </p:cNvPr>
          <p:cNvSpPr>
            <a:spLocks noGrp="1"/>
          </p:cNvSpPr>
          <p:nvPr>
            <p:ph type="sldNum" sz="quarter" idx="12"/>
          </p:nvPr>
        </p:nvSpPr>
        <p:spPr>
          <a:xfrm>
            <a:off x="8940800" y="6044141"/>
            <a:ext cx="2743200" cy="365125"/>
          </a:xfrm>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451779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88C8B6C-1DEF-4332-8A14-F6B6981FD99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78B35E-5C7A-4650-863C-461C8592BBB6}"/>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A0FC85E-DA01-4C94-8312-2EAB20EAB35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6ADE796-457C-4E05-BBB8-BC7FD1390133}"/>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65A564A-D398-41C0-BEF2-5D2A53F3709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BD0DB09-1DC7-4816-820B-2EDD19BADB2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2129832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073845-DA08-4E02-89E5-279477CDC15E}"/>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FA0F8E2-8F9C-4936-8D92-FA7FE49702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59C35784-8D42-4310-8640-07C1BEB330B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B31B950-6CB7-42DB-A303-B407EF83D2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0F35007-CA56-4CB7-8C5F-CF3E2924C586}"/>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290CD9AE-54AB-44CB-8910-A70F24EB3AAA}"/>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42AFA608-2F47-4FBC-8A45-AC037C64C08E}"/>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EA635AC-BD3D-4D4A-AB07-EAABF5013766}"/>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307660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D27486-42F6-4B67-8DF8-769971D09AF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BBFFFA3-6C08-4D2B-B714-F2729D0D945F}"/>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001B550E-4A2E-4405-8F29-A9633B7A925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840B985F-0B0F-472E-A18E-72C776E3022C}"/>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69097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5995497-1A46-4FDE-B4B1-CA2510A4E863}"/>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66BDDD35-FFDF-4936-8645-AC2A1F2AB0E2}"/>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5A31037F-312F-4D9B-9119-F134F49B2903}"/>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59211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062E35-F23E-4CDC-9C00-11DCB7E970EA}"/>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765F35A-C1B0-4F2A-8536-7C9C4EF9C0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86B6DFEF-5929-42A1-B17A-6AD3F1AC5E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B8A33CA-A779-4AE7-8BB3-0DF9C81A742A}"/>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1539BD6-447C-4ABC-97CC-BCC453A3890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6A96239-5406-4F31-95AA-C4BD1AB5053A}"/>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478073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FCC7A7-4C8B-434F-9C38-C6E5AC9E37D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97AD0D2C-AE0D-4BDF-B9E8-D91CD7556C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9F58740-6BDA-46A2-A629-765E7E175B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92C1AD5-7F55-4125-8A2F-BC07A86DA481}"/>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CAB58409-227F-4B89-B306-5E32E6E4F5A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7C64012-3A7B-4999-BA77-06258A04A4F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43037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154230E-387F-465D-9111-5F8ACFE1D2C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C53B19F-7C90-4073-858B-0BD87654EFB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6123FE-787A-4904-AA9D-8ACC7B307BBE}"/>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1F1EAC67-5F52-452E-9E50-F587C648176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50EEB5A-4207-4ADB-95D4-B87AA305BAB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90071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4DACCBB6-C18F-485C-A53E-8683CFFE909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112DC10F-92E5-436B-9D63-2A68B11CB04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B5DDDF8-BB20-4C9B-9571-A39BA7D6E91F}"/>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7354DDF5-9EDE-406E-BFC5-8359CD70849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B989F03-47B6-4B39-B0CA-2A216789CA9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777190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DA31B03D-0C42-48E6-948A-722C5EE3FD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dirty="0"/>
              <a:t>마스터 제목 스타일 편집</a:t>
            </a:r>
          </a:p>
        </p:txBody>
      </p:sp>
      <p:sp>
        <p:nvSpPr>
          <p:cNvPr id="3" name="텍스트 개체 틀 2">
            <a:extLst>
              <a:ext uri="{FF2B5EF4-FFF2-40B4-BE49-F238E27FC236}">
                <a16:creationId xmlns:a16="http://schemas.microsoft.com/office/drawing/2014/main" id="{495A6E46-0B48-4B44-9DA0-C7C1E05C33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B20D4B93-E437-4DCC-9E09-16EA88BBC5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5" name="바닥글 개체 틀 4">
            <a:extLst>
              <a:ext uri="{FF2B5EF4-FFF2-40B4-BE49-F238E27FC236}">
                <a16:creationId xmlns:a16="http://schemas.microsoft.com/office/drawing/2014/main" id="{84A7A77E-05D0-4203-B655-9A2A21B58D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6" name="슬라이드 번호 개체 틀 5">
            <a:extLst>
              <a:ext uri="{FF2B5EF4-FFF2-40B4-BE49-F238E27FC236}">
                <a16:creationId xmlns:a16="http://schemas.microsoft.com/office/drawing/2014/main" id="{4C09CEAC-52D1-4D7C-99C4-13222A951E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fld id="{9F4AF89A-28FA-47FA-B28F-9A9C6913CB7A}" type="slidenum">
              <a:rPr lang="ko-KR" altLang="en-US" smtClean="0"/>
              <a:pPr/>
              <a:t>‹#›</a:t>
            </a:fld>
            <a:endParaRPr lang="ko-KR" altLang="en-US" dirty="0"/>
          </a:p>
        </p:txBody>
      </p:sp>
    </p:spTree>
    <p:extLst>
      <p:ext uri="{BB962C8B-B14F-4D97-AF65-F5344CB8AC3E}">
        <p14:creationId xmlns:p14="http://schemas.microsoft.com/office/powerpoint/2010/main" val="2755485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KoPub돋움체 Medium" panose="00000600000000000000" pitchFamily="2" charset="-127"/>
          <a:ea typeface="KoPub돋움체 Medium" panose="00000600000000000000" pitchFamily="2"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KoPub돋움체 Medium" panose="00000600000000000000" pitchFamily="2" charset="-127"/>
          <a:ea typeface="KoPub돋움체 Medium" panose="00000600000000000000" pitchFamily="2"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KoPub돋움체 Medium" panose="00000600000000000000" pitchFamily="2" charset="-127"/>
          <a:ea typeface="KoPub돋움체 Medium" panose="00000600000000000000" pitchFamily="2" charset="-127"/>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KoPub돋움체 Medium" panose="00000600000000000000" pitchFamily="2" charset="-127"/>
          <a:ea typeface="KoPub돋움체 Medium" panose="00000600000000000000" pitchFamily="2" charset="-127"/>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7068" y="2062806"/>
            <a:ext cx="11387837" cy="461665"/>
          </a:xfrm>
          <a:prstGeom prst="rect">
            <a:avLst/>
          </a:prstGeom>
          <a:noFill/>
        </p:spPr>
        <p:txBody>
          <a:bodyPr wrap="square">
            <a:spAutoFit/>
          </a:bodyPr>
          <a:lstStyle/>
          <a:p>
            <a:r>
              <a:rPr lang="en-US" sz="2400" b="1" dirty="0">
                <a:solidFill>
                  <a:schemeClr val="bg1"/>
                </a:solidFill>
                <a:latin typeface="KoPub돋움체 Bold" panose="00000800000000000000" pitchFamily="2" charset="-127"/>
                <a:ea typeface="KoPub돋움체 Bold" panose="00000800000000000000" pitchFamily="2" charset="-127"/>
              </a:rPr>
              <a:t>Results</a:t>
            </a:r>
            <a:r>
              <a:rPr lang="ko-KR" altLang="en-US" sz="2400" b="1" dirty="0">
                <a:solidFill>
                  <a:schemeClr val="bg1"/>
                </a:solidFill>
                <a:latin typeface="KoPub돋움체 Bold" panose="00000800000000000000" pitchFamily="2" charset="-127"/>
                <a:ea typeface="KoPub돋움체 Bold" panose="00000800000000000000" pitchFamily="2" charset="-127"/>
              </a:rPr>
              <a:t> </a:t>
            </a:r>
            <a:r>
              <a:rPr lang="en-US" altLang="ko-KR" sz="2400" b="1" dirty="0">
                <a:solidFill>
                  <a:schemeClr val="bg1"/>
                </a:solidFill>
                <a:latin typeface="KoPub돋움체 Bold" panose="00000800000000000000" pitchFamily="2" charset="-127"/>
                <a:ea typeface="KoPub돋움체 Bold" panose="00000800000000000000" pitchFamily="2" charset="-127"/>
              </a:rPr>
              <a:t>of</a:t>
            </a:r>
            <a:r>
              <a:rPr lang="ko-KR" altLang="en-US" sz="2400" b="1" dirty="0">
                <a:solidFill>
                  <a:schemeClr val="bg1"/>
                </a:solidFill>
                <a:latin typeface="KoPub돋움체 Bold" panose="00000800000000000000" pitchFamily="2" charset="-127"/>
                <a:ea typeface="KoPub돋움체 Bold" panose="00000800000000000000" pitchFamily="2" charset="-127"/>
              </a:rPr>
              <a:t> </a:t>
            </a:r>
            <a:r>
              <a:rPr lang="en-US" altLang="ko-KR" sz="2400" b="1" dirty="0">
                <a:solidFill>
                  <a:schemeClr val="bg1"/>
                </a:solidFill>
                <a:latin typeface="KoPub돋움체 Bold" panose="00000800000000000000" pitchFamily="2" charset="-127"/>
                <a:ea typeface="KoPub돋움체 Bold" panose="00000800000000000000" pitchFamily="2" charset="-127"/>
              </a:rPr>
              <a:t>Multiple</a:t>
            </a:r>
            <a:r>
              <a:rPr lang="ko-KR" altLang="en-US" sz="2400" b="1" dirty="0">
                <a:solidFill>
                  <a:schemeClr val="bg1"/>
                </a:solidFill>
                <a:latin typeface="KoPub돋움체 Bold" panose="00000800000000000000" pitchFamily="2" charset="-127"/>
                <a:ea typeface="KoPub돋움체 Bold" panose="00000800000000000000" pitchFamily="2" charset="-127"/>
              </a:rPr>
              <a:t> </a:t>
            </a:r>
            <a:r>
              <a:rPr lang="en-US" altLang="ko-KR" sz="2400" b="1" dirty="0">
                <a:solidFill>
                  <a:schemeClr val="bg1"/>
                </a:solidFill>
                <a:latin typeface="KoPub돋움체 Bold" panose="00000800000000000000" pitchFamily="2" charset="-127"/>
                <a:ea typeface="KoPub돋움체 Bold" panose="00000800000000000000" pitchFamily="2" charset="-127"/>
              </a:rPr>
              <a:t>Features</a:t>
            </a:r>
            <a:endParaRPr sz="2400" b="1" dirty="0">
              <a:solidFill>
                <a:schemeClr val="bg1"/>
              </a:solidFill>
              <a:latin typeface="KoPub돋움체 Bold" panose="00000800000000000000" pitchFamily="2" charset="-127"/>
              <a:ea typeface="KoPub돋움체 Bold" panose="00000800000000000000" pitchFamily="2" charset="-127"/>
            </a:endParaRPr>
          </a:p>
        </p:txBody>
      </p:sp>
      <p:sp>
        <p:nvSpPr>
          <p:cNvPr id="3" name="TextBox 2"/>
          <p:cNvSpPr txBox="1"/>
          <p:nvPr/>
        </p:nvSpPr>
        <p:spPr>
          <a:xfrm>
            <a:off x="417068" y="3139177"/>
            <a:ext cx="7139940" cy="338554"/>
          </a:xfrm>
          <a:prstGeom prst="rect">
            <a:avLst/>
          </a:prstGeom>
          <a:noFill/>
        </p:spPr>
        <p:txBody>
          <a:bodyPr wrap="square">
            <a:spAutoFit/>
          </a:bodyPr>
          <a:lstStyle/>
          <a:p>
            <a:r>
              <a:rPr sz="1600" dirty="0">
                <a:solidFill>
                  <a:schemeClr val="bg1"/>
                </a:solidFill>
                <a:latin typeface="KoPub돋움체 Medium"/>
              </a:rPr>
              <a:t>2026. 0</a:t>
            </a:r>
            <a:r>
              <a:rPr lang="en-US" sz="1600" dirty="0">
                <a:solidFill>
                  <a:schemeClr val="bg1"/>
                </a:solidFill>
                <a:latin typeface="KoPub돋움체 Medium"/>
              </a:rPr>
              <a:t>8</a:t>
            </a:r>
            <a:r>
              <a:rPr sz="1600" dirty="0">
                <a:solidFill>
                  <a:schemeClr val="bg1"/>
                </a:solidFill>
                <a:latin typeface="KoPub돋움체 Medium"/>
              </a:rPr>
              <a:t>. </a:t>
            </a:r>
            <a:r>
              <a:rPr lang="en-US" sz="1600" dirty="0">
                <a:solidFill>
                  <a:schemeClr val="bg1"/>
                </a:solidFill>
                <a:latin typeface="KoPub돋움체 Medium"/>
              </a:rPr>
              <a:t>07</a:t>
            </a:r>
            <a:endParaRPr sz="1600" dirty="0">
              <a:solidFill>
                <a:schemeClr val="bg1"/>
              </a:solidFill>
              <a:latin typeface="KoPub돋움체 Medium"/>
            </a:endParaRPr>
          </a:p>
        </p:txBody>
      </p:sp>
      <p:sp>
        <p:nvSpPr>
          <p:cNvPr id="4" name="TextBox 3"/>
          <p:cNvSpPr txBox="1"/>
          <p:nvPr/>
        </p:nvSpPr>
        <p:spPr>
          <a:xfrm>
            <a:off x="417068" y="3564777"/>
            <a:ext cx="7139940" cy="289823"/>
          </a:xfrm>
          <a:prstGeom prst="rect">
            <a:avLst/>
          </a:prstGeom>
          <a:noFill/>
        </p:spPr>
        <p:txBody>
          <a:bodyPr wrap="square">
            <a:spAutoFit/>
          </a:bodyPr>
          <a:lstStyle/>
          <a:p>
            <a:r>
              <a:rPr sz="1800" b="1">
                <a:solidFill>
                  <a:srgbClr val="FFFFFF"/>
                </a:solidFill>
                <a:latin typeface="KoPub돋움체 Medium"/>
              </a:rPr>
              <a:t>JangHoon Chun</a:t>
            </a:r>
          </a:p>
        </p:txBody>
      </p:sp>
      <p:sp>
        <p:nvSpPr>
          <p:cNvPr id="5" name="TextBox 4"/>
          <p:cNvSpPr txBox="1"/>
          <p:nvPr/>
        </p:nvSpPr>
        <p:spPr>
          <a:xfrm>
            <a:off x="417068" y="3978214"/>
            <a:ext cx="7139940" cy="1213153"/>
          </a:xfrm>
          <a:prstGeom prst="rect">
            <a:avLst/>
          </a:prstGeom>
          <a:noFill/>
        </p:spPr>
        <p:txBody>
          <a:bodyPr wrap="square">
            <a:spAutoFit/>
          </a:bodyPr>
          <a:lstStyle/>
          <a:p>
            <a:r>
              <a:rPr sz="1600">
                <a:solidFill>
                  <a:srgbClr val="FFFFFF"/>
                </a:solidFill>
                <a:latin typeface="KoPub돋움체 Medium"/>
              </a:rPr>
              <a:t>Department of, Medical Device Engineering &amp; Management</a:t>
            </a:r>
          </a:p>
          <a:p>
            <a:r>
              <a:rPr sz="1600">
                <a:solidFill>
                  <a:srgbClr val="FFFFFF"/>
                </a:solidFill>
                <a:latin typeface="KoPub돋움체 Medium"/>
              </a:rPr>
              <a:t>Gangnam Severance Hospital,</a:t>
            </a:r>
          </a:p>
          <a:p>
            <a:r>
              <a:rPr sz="1600">
                <a:solidFill>
                  <a:srgbClr val="FFFFFF"/>
                </a:solidFill>
                <a:latin typeface="KoPub돋움체 Medium"/>
              </a:rPr>
              <a:t>Yonsei University College of Medicine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A5B65-D819-B010-E512-17767E2CB6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6E9E3E-AFF8-62AC-4EA4-BF05B744AC16}"/>
              </a:ext>
            </a:extLst>
          </p:cNvPr>
          <p:cNvSpPr>
            <a:spLocks noGrp="1"/>
          </p:cNvSpPr>
          <p:nvPr>
            <p:ph type="title"/>
          </p:nvPr>
        </p:nvSpPr>
        <p:spPr/>
        <p:txBody>
          <a:bodyPr/>
          <a:lstStyle/>
          <a:p>
            <a:r>
              <a:t>Reference Papers - 분석 방법론 근거</a:t>
            </a:r>
          </a:p>
        </p:txBody>
      </p:sp>
      <p:sp>
        <p:nvSpPr>
          <p:cNvPr id="4" name="내용 개체 틀 3">
            <a:extLst>
              <a:ext uri="{FF2B5EF4-FFF2-40B4-BE49-F238E27FC236}">
                <a16:creationId xmlns:a16="http://schemas.microsoft.com/office/drawing/2014/main" id="{593E33AB-7E24-A44A-6C01-1100A59A5C52}"/>
              </a:ext>
            </a:extLst>
          </p:cNvPr>
          <p:cNvSpPr>
            <a:spLocks noGrp="1"/>
          </p:cNvSpPr>
          <p:nvPr>
            <p:ph idx="1"/>
          </p:nvPr>
        </p:nvSpPr>
        <p:spPr>
          <a:xfrm>
            <a:off x="508000" y="897467"/>
            <a:ext cx="11176000" cy="5402749"/>
          </a:xfrm>
        </p:spPr>
        <p:txBody>
          <a:bodyPr>
            <a:normAutofit fontScale="85000" lnSpcReduction="20000"/>
          </a:bodyPr>
          <a:lstStyle/>
          <a:p>
            <a:pPr>
              <a:lnSpc>
                <a:spcPct val="150000"/>
              </a:lnSpc>
              <a:spcBef>
                <a:spcPts val="600"/>
              </a:spcBef>
              <a:buNone/>
            </a:pPr>
            <a:r>
              <a:rPr sz="1800" b="1" dirty="0"/>
              <a:t>① Step 1·2 </a:t>
            </a:r>
            <a:r>
              <a:rPr sz="1800" b="1" dirty="0" err="1"/>
              <a:t>근거</a:t>
            </a:r>
            <a:r>
              <a:rPr sz="1800" b="1" dirty="0"/>
              <a:t> — </a:t>
            </a:r>
            <a:r>
              <a:rPr sz="1800" b="1" dirty="0" err="1"/>
              <a:t>구간평균</a:t>
            </a:r>
            <a:r>
              <a:rPr sz="1800" b="1" dirty="0"/>
              <a:t>(PAA)</a:t>
            </a:r>
          </a:p>
          <a:p>
            <a:pPr lvl="1"/>
            <a:r>
              <a:rPr sz="1600" b="0" dirty="0"/>
              <a:t>Keogh E, Chakrabarti K, </a:t>
            </a:r>
            <a:r>
              <a:rPr sz="1600" b="0" dirty="0" err="1"/>
              <a:t>Pazzani</a:t>
            </a:r>
            <a:r>
              <a:rPr sz="1600" b="0" dirty="0"/>
              <a:t> M, Mehrotra S., Dimensionality Reduction for Fast Similarity Search in Large Time Series Databases (PAA), Knowledge and Information Systems, 2001.</a:t>
            </a:r>
          </a:p>
          <a:p>
            <a:pPr lvl="1"/>
            <a:r>
              <a:rPr sz="1200" b="0" dirty="0"/>
              <a:t>→ </a:t>
            </a:r>
            <a:r>
              <a:rPr sz="1200" b="0" dirty="0" err="1"/>
              <a:t>곡선을</a:t>
            </a:r>
            <a:r>
              <a:rPr sz="1200" b="0" dirty="0"/>
              <a:t> </a:t>
            </a:r>
            <a:r>
              <a:rPr sz="1200" b="0" dirty="0" err="1"/>
              <a:t>N구간</a:t>
            </a:r>
            <a:r>
              <a:rPr sz="1200" b="0" dirty="0"/>
              <a:t> </a:t>
            </a:r>
            <a:r>
              <a:rPr sz="1200" b="0" dirty="0" err="1"/>
              <a:t>평균으로</a:t>
            </a:r>
            <a:r>
              <a:rPr sz="1200" b="0" dirty="0"/>
              <a:t> </a:t>
            </a:r>
            <a:r>
              <a:rPr sz="1200" b="0" dirty="0" err="1"/>
              <a:t>압축하는</a:t>
            </a:r>
            <a:r>
              <a:rPr sz="1200" b="0" dirty="0"/>
              <a:t> </a:t>
            </a:r>
            <a:r>
              <a:rPr sz="1200" b="0" dirty="0" err="1"/>
              <a:t>표준</a:t>
            </a:r>
            <a:r>
              <a:rPr sz="1200" b="0" dirty="0"/>
              <a:t> </a:t>
            </a:r>
            <a:r>
              <a:rPr sz="1200" b="0" dirty="0" err="1"/>
              <a:t>차원축소</a:t>
            </a:r>
            <a:r>
              <a:rPr sz="1200" b="0" dirty="0"/>
              <a:t> </a:t>
            </a:r>
            <a:r>
              <a:rPr sz="1200" b="0" dirty="0" err="1"/>
              <a:t>기법</a:t>
            </a:r>
            <a:r>
              <a:rPr sz="1200" b="0" dirty="0"/>
              <a:t>(PAA) — Step1 </a:t>
            </a:r>
            <a:r>
              <a:rPr sz="1200" b="0" dirty="0" err="1"/>
              <a:t>평균·Sweep</a:t>
            </a:r>
            <a:r>
              <a:rPr sz="1200" b="0" dirty="0"/>
              <a:t>, Step2 앞/뒤50% </a:t>
            </a:r>
            <a:r>
              <a:rPr sz="1200" b="0" dirty="0" err="1"/>
              <a:t>설계</a:t>
            </a:r>
            <a:r>
              <a:rPr sz="1200" b="0" dirty="0"/>
              <a:t> </a:t>
            </a:r>
            <a:r>
              <a:rPr sz="1200" b="0" dirty="0" err="1"/>
              <a:t>근거</a:t>
            </a:r>
            <a:endParaRPr sz="1200" b="0" dirty="0"/>
          </a:p>
          <a:p>
            <a:r>
              <a:rPr sz="1800" b="1" dirty="0"/>
              <a:t>② Step 2 </a:t>
            </a:r>
            <a:r>
              <a:rPr sz="1800" b="1" dirty="0" err="1"/>
              <a:t>근거</a:t>
            </a:r>
            <a:r>
              <a:rPr sz="1800" b="1" dirty="0"/>
              <a:t> — </a:t>
            </a:r>
            <a:r>
              <a:rPr sz="1800" b="1" dirty="0" err="1"/>
              <a:t>구간</a:t>
            </a:r>
            <a:r>
              <a:rPr sz="1800" b="1" dirty="0"/>
              <a:t> </a:t>
            </a:r>
            <a:r>
              <a:rPr sz="1800" b="1" dirty="0" err="1"/>
              <a:t>선택</a:t>
            </a:r>
            <a:r>
              <a:rPr sz="1800" b="1" dirty="0"/>
              <a:t>(Top-k)</a:t>
            </a:r>
          </a:p>
          <a:p>
            <a:pPr lvl="1"/>
            <a:r>
              <a:rPr sz="1600" b="0" dirty="0"/>
              <a:t>Li J et al., Feature Selection: A Data Perspective, ACM Computing Surveys, 2017.</a:t>
            </a:r>
          </a:p>
          <a:p>
            <a:pPr lvl="1"/>
            <a:r>
              <a:rPr sz="1200" b="0" dirty="0"/>
              <a:t>→ F-</a:t>
            </a:r>
            <a:r>
              <a:rPr sz="1200" b="0" dirty="0" err="1"/>
              <a:t>검정</a:t>
            </a:r>
            <a:r>
              <a:rPr sz="1200" b="0" dirty="0"/>
              <a:t> </a:t>
            </a:r>
            <a:r>
              <a:rPr sz="1200" b="0" dirty="0" err="1"/>
              <a:t>기반</a:t>
            </a:r>
            <a:r>
              <a:rPr sz="1200" b="0" dirty="0"/>
              <a:t> </a:t>
            </a:r>
            <a:r>
              <a:rPr sz="1200" b="0" dirty="0" err="1"/>
              <a:t>filter법으로</a:t>
            </a:r>
            <a:r>
              <a:rPr sz="1200" b="0" dirty="0"/>
              <a:t> 8구간 중 </a:t>
            </a:r>
            <a:r>
              <a:rPr sz="1200" b="0" dirty="0" err="1"/>
              <a:t>상위</a:t>
            </a:r>
            <a:r>
              <a:rPr sz="1200" b="0" dirty="0"/>
              <a:t> </a:t>
            </a:r>
            <a:r>
              <a:rPr sz="1200" b="0" dirty="0" err="1"/>
              <a:t>k개</a:t>
            </a:r>
            <a:r>
              <a:rPr sz="1200" b="0" dirty="0"/>
              <a:t> </a:t>
            </a:r>
            <a:r>
              <a:rPr sz="1200" b="0" dirty="0" err="1"/>
              <a:t>선택</a:t>
            </a:r>
            <a:r>
              <a:rPr sz="1200" b="0" dirty="0"/>
              <a:t>(</a:t>
            </a:r>
            <a:r>
              <a:rPr sz="1200" b="0" dirty="0" err="1"/>
              <a:t>SelectKBest</a:t>
            </a:r>
            <a:r>
              <a:rPr sz="1200" b="0" dirty="0"/>
              <a:t>) — step2_clinic_aec_segment_select.py </a:t>
            </a:r>
            <a:r>
              <a:rPr sz="1200" b="0" dirty="0" err="1"/>
              <a:t>설계</a:t>
            </a:r>
            <a:r>
              <a:rPr sz="1200" b="0" dirty="0"/>
              <a:t> </a:t>
            </a:r>
            <a:r>
              <a:rPr sz="1200" b="0" dirty="0" err="1"/>
              <a:t>근거</a:t>
            </a:r>
            <a:endParaRPr sz="1200" b="0" dirty="0"/>
          </a:p>
          <a:p>
            <a:r>
              <a:rPr sz="1800" b="1" dirty="0"/>
              <a:t>③ </a:t>
            </a:r>
            <a:r>
              <a:rPr lang="en-US" sz="1800" b="1" dirty="0"/>
              <a:t>Step 3 </a:t>
            </a:r>
            <a:r>
              <a:rPr lang="ko-KR" altLang="en-US" sz="1800" b="1" dirty="0"/>
              <a:t>근거 </a:t>
            </a:r>
            <a:r>
              <a:rPr lang="en-US" altLang="ko-KR" sz="1800" b="1" dirty="0"/>
              <a:t>— </a:t>
            </a:r>
            <a:r>
              <a:rPr lang="ko-KR" altLang="en-US" sz="1800" b="1" dirty="0"/>
              <a:t>곡선 형태 </a:t>
            </a:r>
            <a:r>
              <a:rPr lang="en-US" sz="1800" b="1" dirty="0"/>
              <a:t>Feature</a:t>
            </a:r>
          </a:p>
          <a:p>
            <a:pPr lvl="1"/>
            <a:r>
              <a:rPr sz="1600" b="0" dirty="0"/>
              <a:t>Barandas M et al., TSFEL: Time Series Feature Extraction Library, </a:t>
            </a:r>
            <a:r>
              <a:rPr sz="1600" b="0" dirty="0" err="1"/>
              <a:t>SoftwareX</a:t>
            </a:r>
            <a:r>
              <a:rPr sz="1600" b="0" dirty="0"/>
              <a:t>, 2020.</a:t>
            </a:r>
          </a:p>
          <a:p>
            <a:pPr lvl="1"/>
            <a:r>
              <a:rPr sz="1200" b="0" dirty="0"/>
              <a:t>→ </a:t>
            </a:r>
            <a:r>
              <a:rPr sz="1200" b="0" dirty="0" err="1"/>
              <a:t>SD·Skewness</a:t>
            </a:r>
            <a:r>
              <a:rPr sz="1200" b="0" dirty="0"/>
              <a:t> 등 </a:t>
            </a:r>
            <a:r>
              <a:rPr sz="1200" b="0" dirty="0" err="1"/>
              <a:t>통계적</a:t>
            </a:r>
            <a:r>
              <a:rPr sz="1200" b="0" dirty="0"/>
              <a:t> </a:t>
            </a:r>
            <a:r>
              <a:rPr sz="1200" b="0" dirty="0" err="1"/>
              <a:t>모멘트</a:t>
            </a:r>
            <a:r>
              <a:rPr sz="1200" b="0" dirty="0"/>
              <a:t> </a:t>
            </a:r>
            <a:r>
              <a:rPr sz="1200" b="0" dirty="0" err="1"/>
              <a:t>기반</a:t>
            </a:r>
            <a:r>
              <a:rPr sz="1200" b="0" dirty="0"/>
              <a:t> </a:t>
            </a:r>
            <a:r>
              <a:rPr sz="1200" b="0" dirty="0" err="1"/>
              <a:t>곡선</a:t>
            </a:r>
            <a:r>
              <a:rPr sz="1200" b="0" dirty="0"/>
              <a:t> </a:t>
            </a:r>
            <a:r>
              <a:rPr sz="1200" b="0" dirty="0" err="1"/>
              <a:t>요약</a:t>
            </a:r>
            <a:r>
              <a:rPr sz="1200" b="0" dirty="0"/>
              <a:t> — step3_clinic_aec_shape.py </a:t>
            </a:r>
            <a:r>
              <a:rPr sz="1200" b="0" dirty="0" err="1"/>
              <a:t>설계</a:t>
            </a:r>
            <a:r>
              <a:rPr sz="1200" b="0" dirty="0"/>
              <a:t> </a:t>
            </a:r>
            <a:r>
              <a:rPr sz="1200" b="0" dirty="0" err="1"/>
              <a:t>근거</a:t>
            </a:r>
            <a:endParaRPr sz="1200" b="0" dirty="0"/>
          </a:p>
          <a:p>
            <a:r>
              <a:rPr lang="ko-KR" altLang="en-US" sz="1800" b="1" dirty="0"/>
              <a:t>④</a:t>
            </a:r>
            <a:r>
              <a:rPr sz="1800" b="1" dirty="0"/>
              <a:t> </a:t>
            </a:r>
            <a:r>
              <a:rPr sz="1800" b="1" dirty="0" err="1"/>
              <a:t>최종목표</a:t>
            </a:r>
            <a:r>
              <a:rPr sz="1800" b="1" dirty="0"/>
              <a:t> </a:t>
            </a:r>
            <a:r>
              <a:rPr sz="1800" b="1" dirty="0" err="1"/>
              <a:t>근거</a:t>
            </a:r>
            <a:r>
              <a:rPr sz="1800" b="1" dirty="0"/>
              <a:t> —Cutoff </a:t>
            </a:r>
            <a:r>
              <a:rPr sz="1800" b="1" dirty="0" err="1"/>
              <a:t>산출</a:t>
            </a:r>
            <a:r>
              <a:rPr sz="1800" b="1" dirty="0"/>
              <a:t>(Mean±2SD)</a:t>
            </a:r>
          </a:p>
          <a:p>
            <a:pPr lvl="1"/>
            <a:r>
              <a:rPr sz="1600" b="0" dirty="0"/>
              <a:t>Derstine BA, Holcombe SA, Ross BE, Wang NC, Su GL, Wang SC., Skeletal muscle cutoff values for sarcopenia diagnosis using T10 to L5 measurements in a healthy US population, Scientific Reports, 2018.</a:t>
            </a:r>
          </a:p>
          <a:p>
            <a:pPr lvl="1"/>
            <a:r>
              <a:rPr sz="1200" b="0" dirty="0"/>
              <a:t>→ 건강 reference군의 성별 mean-2SD를 cutoff으로 정의(EWGSOP 권고) — Yoon 2021·Kim 2021(한국인 코호트)도 동일 원리, 세 논문 모두 별도 건강 대조군(연령·기증자 심사 기준)에서 산출 — 본 분석 1차 시도(slide15)는 대조군 없이 전체 임상 코호트 자체에 적용한 차이(방법론적 이탈 배경)</a:t>
            </a:r>
          </a:p>
        </p:txBody>
      </p:sp>
      <p:sp>
        <p:nvSpPr>
          <p:cNvPr id="5" name="슬라이드 번호 개체 틀 4">
            <a:extLst>
              <a:ext uri="{FF2B5EF4-FFF2-40B4-BE49-F238E27FC236}">
                <a16:creationId xmlns:a16="http://schemas.microsoft.com/office/drawing/2014/main" id="{F030454E-EAE4-B981-B1DC-0246FD4AEE87}"/>
              </a:ext>
            </a:extLst>
          </p:cNvPr>
          <p:cNvSpPr>
            <a:spLocks noGrp="1"/>
          </p:cNvSpPr>
          <p:nvPr>
            <p:ph type="sldNum" sz="quarter" idx="12"/>
          </p:nvPr>
        </p:nvSpPr>
        <p:spPr/>
        <p:txBody>
          <a:bodyPr/>
          <a:lstStyle/>
          <a:p>
            <a:fld id="{9F4AF89A-28FA-47FA-B28F-9A9C6913CB7A}" type="slidenum">
              <a:rPr lang="ko-KR" altLang="en-US" smtClean="0"/>
              <a:pPr/>
              <a:t>2</a:t>
            </a:fld>
            <a:endParaRPr lang="ko-KR" altLang="en-US" dirty="0"/>
          </a:p>
        </p:txBody>
      </p:sp>
    </p:spTree>
    <p:extLst>
      <p:ext uri="{BB962C8B-B14F-4D97-AF65-F5344CB8AC3E}">
        <p14:creationId xmlns:p14="http://schemas.microsoft.com/office/powerpoint/2010/main" val="10179260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33089-A92C-12D5-3225-F71B171189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583BFE-B078-9DD0-5E70-CD302E754468}"/>
              </a:ext>
            </a:extLst>
          </p:cNvPr>
          <p:cNvSpPr>
            <a:spLocks noGrp="1"/>
          </p:cNvSpPr>
          <p:nvPr>
            <p:ph type="title"/>
          </p:nvPr>
        </p:nvSpPr>
        <p:spPr/>
        <p:txBody>
          <a:bodyPr/>
          <a:lstStyle/>
          <a:p>
            <a:r>
              <a:rPr lang="en-US" altLang="ko-KR" dirty="0"/>
              <a:t>Research</a:t>
            </a:r>
            <a:r>
              <a:rPr lang="ko-KR" altLang="en-US" dirty="0"/>
              <a:t> </a:t>
            </a:r>
            <a:r>
              <a:rPr lang="en-US" altLang="ko-KR" dirty="0"/>
              <a:t>Summary</a:t>
            </a:r>
          </a:p>
        </p:txBody>
      </p:sp>
      <p:sp>
        <p:nvSpPr>
          <p:cNvPr id="5" name="내용 개체 틀 4">
            <a:extLst>
              <a:ext uri="{FF2B5EF4-FFF2-40B4-BE49-F238E27FC236}">
                <a16:creationId xmlns:a16="http://schemas.microsoft.com/office/drawing/2014/main" id="{B79CD689-5210-FA41-FC11-2E0897906E27}"/>
              </a:ext>
            </a:extLst>
          </p:cNvPr>
          <p:cNvSpPr>
            <a:spLocks noGrp="1"/>
          </p:cNvSpPr>
          <p:nvPr>
            <p:ph idx="1"/>
          </p:nvPr>
        </p:nvSpPr>
        <p:spPr>
          <a:xfrm>
            <a:off x="508000" y="897468"/>
            <a:ext cx="10743474" cy="5063066"/>
          </a:xfrm>
        </p:spPr>
        <p:txBody>
          <a:bodyPr>
            <a:normAutofit/>
          </a:bodyPr>
          <a:lstStyle/>
          <a:p>
            <a:r>
              <a:t>핵심 결론: 연속형 회귀는 VAT·Total Fat만 조건부 유의개선 / 이진분류(Step4)는 5/7종 유의개선 — 예측방식에 따라 결론이 갈림</a:t>
            </a:r>
          </a:p>
          <a:p>
            <a:pPr lvl="1"/>
            <a:r>
              <a:t>clinic4 baseline(연속형): TAMA 최고(0.646→0.711), LAMA external 붕괴(R²=-0.035)</a:t>
            </a:r>
          </a:p>
          <a:p>
            <a:pPr lvl="1"/>
            <a:r>
              <a:t>연속형 AEC 개선은 정보보존 표현(Step2 top-k·Step3 형태)에서만 — 압축표현(Step1·앞뒤50%)은 동일 악화</a:t>
            </a:r>
          </a:p>
          <a:p>
            <a:pPr lvl="1"/>
            <a:r>
              <a:t>Step4 이진분류(mean±1SD+Logistic): AUC internal 0.82~0.87/external 0.76~0.90 — VAT·Total Fat·SAT·IMATA·LAMA 유의개선, TAMA 유의악화, NAMA n.s.</a:t>
            </a:r>
          </a:p>
          <a:p>
            <a:pPr lvl="1"/>
            <a:r>
              <a:t>LAMA: 연속형 external 붕괴(R²=-0.035) ↔ 이진분류 AUC 0.784→0.812 유의개선(p=0.001) — 같은 feature도 framing 따라 결론 반전</a:t>
            </a:r>
          </a:p>
          <a:p>
            <a:pPr lvl="1"/>
            <a:r>
              <a:t>기전: 근육-AEC 상관 원래 약함(NAMA |r|&lt;0.25), 지방은 후반부 구간에서 강함(VAT r≈0.6)</a:t>
            </a:r>
          </a:p>
        </p:txBody>
      </p:sp>
      <p:sp>
        <p:nvSpPr>
          <p:cNvPr id="4" name="슬라이드 번호 개체 틀 3">
            <a:extLst>
              <a:ext uri="{FF2B5EF4-FFF2-40B4-BE49-F238E27FC236}">
                <a16:creationId xmlns:a16="http://schemas.microsoft.com/office/drawing/2014/main" id="{4CBDC32C-D15C-9776-A32D-99A4E0A15B3B}"/>
              </a:ext>
            </a:extLst>
          </p:cNvPr>
          <p:cNvSpPr>
            <a:spLocks noGrp="1"/>
          </p:cNvSpPr>
          <p:nvPr>
            <p:ph type="sldNum" sz="quarter" idx="12"/>
          </p:nvPr>
        </p:nvSpPr>
        <p:spPr/>
        <p:txBody>
          <a:bodyPr/>
          <a:lstStyle/>
          <a:p>
            <a:fld id="{9F4AF89A-28FA-47FA-B28F-9A9C6913CB7A}" type="slidenum">
              <a:rPr lang="ko-KR" altLang="en-US" smtClean="0"/>
              <a:pPr/>
              <a:t>3</a:t>
            </a:fld>
            <a:endParaRPr lang="ko-KR" altLang="en-US" dirty="0"/>
          </a:p>
        </p:txBody>
      </p:sp>
    </p:spTree>
    <p:extLst>
      <p:ext uri="{BB962C8B-B14F-4D97-AF65-F5344CB8AC3E}">
        <p14:creationId xmlns:p14="http://schemas.microsoft.com/office/powerpoint/2010/main" val="1829245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20C5C-FB8E-E360-C861-85CD5A933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BC932-6F43-BCAA-29D7-4695CDB4DC17}"/>
              </a:ext>
            </a:extLst>
          </p:cNvPr>
          <p:cNvSpPr>
            <a:spLocks noGrp="1"/>
          </p:cNvSpPr>
          <p:nvPr>
            <p:ph type="title"/>
          </p:nvPr>
        </p:nvSpPr>
        <p:spPr/>
        <p:txBody>
          <a:bodyPr/>
          <a:lstStyle/>
          <a:p>
            <a:r>
              <a:rPr lang="en-US" altLang="ko-KR" dirty="0"/>
              <a:t>Overview</a:t>
            </a:r>
          </a:p>
        </p:txBody>
      </p:sp>
      <p:sp>
        <p:nvSpPr>
          <p:cNvPr id="5" name="내용 개체 틀 4">
            <a:extLst>
              <a:ext uri="{FF2B5EF4-FFF2-40B4-BE49-F238E27FC236}">
                <a16:creationId xmlns:a16="http://schemas.microsoft.com/office/drawing/2014/main" id="{EE4CA7D9-A446-D76A-AC03-9A434A54C0A1}"/>
              </a:ext>
            </a:extLst>
          </p:cNvPr>
          <p:cNvSpPr>
            <a:spLocks noGrp="1"/>
          </p:cNvSpPr>
          <p:nvPr>
            <p:ph idx="1"/>
          </p:nvPr>
        </p:nvSpPr>
        <p:spPr/>
        <p:txBody>
          <a:bodyPr>
            <a:normAutofit fontScale="85000" lnSpcReduction="10000"/>
          </a:bodyPr>
          <a:lstStyle/>
          <a:p>
            <a:r>
              <a:t>Step 0(Baseline): 4 Clinic Data → 7 Outputs (IMATA, LAMA, NAMA, TAMA, VAT, SAT, Total Fat)</a:t>
            </a:r>
          </a:p>
          <a:p>
            <a:pPr lvl="1"/>
            <a:r>
              <a:t>AEC 없는 기준 성능 확인</a:t>
            </a:r>
          </a:p>
          <a:p>
            <a:r>
              <a:t>Step 1: + AEC 평균 mAs(단일 숫자)</a:t>
            </a:r>
          </a:p>
          <a:p>
            <a:pPr lvl="1"/>
            <a:r>
              <a:t>가장 단순한 AEC 요약값의 기여도 확인</a:t>
            </a:r>
          </a:p>
          <a:p>
            <a:r>
              <a:t>Step 2: + 구간 선택(Top-k) · 앞/뒤 50% 비교</a:t>
            </a:r>
          </a:p>
          <a:p>
            <a:pPr lvl="1"/>
            <a:r>
              <a:t>일부 구간만 선택적으로 활용</a:t>
            </a:r>
          </a:p>
          <a:p>
            <a:r>
              <a:t>Step 3: + SD, Skewness, 상하위 구간 비율 등</a:t>
            </a:r>
          </a:p>
          <a:p>
            <a:pPr lvl="1"/>
            <a:r>
              <a:t>통계적 형태 피처 순차 추가</a:t>
            </a:r>
          </a:p>
          <a:p>
            <a:r>
              <a:t>Step 4: Feature 기반 Cutoff → Binary 변환 (완료)</a:t>
            </a:r>
          </a:p>
          <a:p>
            <a:pPr lvl="1"/>
            <a:r>
              <a:t>성별 mean±1SD cutoff → Logistic Regression → AUC/Se/Sp → External(DeLong) 검증</a:t>
            </a:r>
          </a:p>
        </p:txBody>
      </p:sp>
      <p:sp>
        <p:nvSpPr>
          <p:cNvPr id="4" name="슬라이드 번호 개체 틀 3">
            <a:extLst>
              <a:ext uri="{FF2B5EF4-FFF2-40B4-BE49-F238E27FC236}">
                <a16:creationId xmlns:a16="http://schemas.microsoft.com/office/drawing/2014/main" id="{9AC8C16F-D25B-761D-D29E-4650928355B8}"/>
              </a:ext>
            </a:extLst>
          </p:cNvPr>
          <p:cNvSpPr>
            <a:spLocks noGrp="1"/>
          </p:cNvSpPr>
          <p:nvPr>
            <p:ph type="sldNum" sz="quarter" idx="12"/>
          </p:nvPr>
        </p:nvSpPr>
        <p:spPr/>
        <p:txBody>
          <a:bodyPr/>
          <a:lstStyle/>
          <a:p>
            <a:fld id="{9F4AF89A-28FA-47FA-B28F-9A9C6913CB7A}" type="slidenum">
              <a:rPr lang="ko-KR" altLang="en-US" smtClean="0"/>
              <a:pPr/>
              <a:t>4</a:t>
            </a:fld>
            <a:endParaRPr lang="ko-KR" altLang="en-US" dirty="0"/>
          </a:p>
        </p:txBody>
      </p:sp>
    </p:spTree>
    <p:extLst>
      <p:ext uri="{BB962C8B-B14F-4D97-AF65-F5344CB8AC3E}">
        <p14:creationId xmlns:p14="http://schemas.microsoft.com/office/powerpoint/2010/main" val="1053307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ko-KR" dirty="0"/>
              <a:t>Step 0: Baseline (Clinic4 단독)</a:t>
            </a:r>
            <a:endParaRPr dirty="0"/>
          </a:p>
        </p:txBody>
      </p:sp>
      <p:sp>
        <p:nvSpPr>
          <p:cNvPr id="3" name="Content Placeholder 2"/>
          <p:cNvSpPr>
            <a:spLocks noGrp="1"/>
          </p:cNvSpPr>
          <p:nvPr>
            <p:ph idx="1"/>
          </p:nvPr>
        </p:nvSpPr>
        <p:spPr>
          <a:xfrm>
            <a:off x="512064" y="914399"/>
            <a:ext cx="4946904" cy="3772781"/>
          </a:xfrm>
        </p:spPr>
        <p:txBody>
          <a:bodyPr wrap="square">
            <a:normAutofit/>
          </a:bodyPr>
          <a:lstStyle/>
          <a:p>
            <a:r>
              <a:rPr dirty="0"/>
              <a:t>Clinic4 × </a:t>
            </a:r>
            <a:r>
              <a:rPr dirty="0" err="1"/>
              <a:t>체성분</a:t>
            </a:r>
            <a:r>
              <a:rPr dirty="0"/>
              <a:t> Correlation</a:t>
            </a:r>
          </a:p>
          <a:p>
            <a:pPr lvl="1"/>
            <a:r>
              <a:rPr dirty="0"/>
              <a:t>Weight </a:t>
            </a:r>
            <a:r>
              <a:rPr dirty="0" err="1"/>
              <a:t>최강</a:t>
            </a:r>
            <a:r>
              <a:rPr dirty="0"/>
              <a:t> (TAMA r=0.76)</a:t>
            </a:r>
          </a:p>
          <a:p>
            <a:pPr lvl="1"/>
            <a:r>
              <a:rPr dirty="0"/>
              <a:t>Sex(M) </a:t>
            </a:r>
            <a:r>
              <a:rPr dirty="0" err="1"/>
              <a:t>근육</a:t>
            </a:r>
            <a:r>
              <a:rPr dirty="0"/>
              <a:t>+ / SAT-</a:t>
            </a:r>
          </a:p>
          <a:p>
            <a:pPr lvl="1"/>
            <a:r>
              <a:rPr dirty="0"/>
              <a:t>Height </a:t>
            </a:r>
            <a:r>
              <a:rPr dirty="0" err="1"/>
              <a:t>근육만</a:t>
            </a:r>
            <a:r>
              <a:rPr dirty="0"/>
              <a:t>, Age </a:t>
            </a:r>
            <a:r>
              <a:rPr dirty="0" err="1"/>
              <a:t>전반</a:t>
            </a:r>
            <a:r>
              <a:rPr dirty="0"/>
              <a:t> </a:t>
            </a:r>
            <a:r>
              <a:rPr dirty="0" err="1"/>
              <a:t>약함</a:t>
            </a:r>
            <a:endParaRPr dirty="0"/>
          </a:p>
          <a:p>
            <a:r>
              <a:rPr dirty="0"/>
              <a:t>Clinic4 Baseline</a:t>
            </a:r>
          </a:p>
          <a:p>
            <a:pPr lvl="1"/>
            <a:r>
              <a:rPr dirty="0"/>
              <a:t>R² 0.333~0.646</a:t>
            </a:r>
          </a:p>
          <a:p>
            <a:pPr lvl="1"/>
            <a:r>
              <a:rPr dirty="0"/>
              <a:t>LAMA external </a:t>
            </a:r>
            <a:r>
              <a:rPr dirty="0" err="1"/>
              <a:t>붕괴</a:t>
            </a:r>
            <a:r>
              <a:rPr dirty="0"/>
              <a:t> (R²=-0.035)</a:t>
            </a:r>
          </a:p>
        </p:txBody>
      </p:sp>
      <p:pic>
        <p:nvPicPr>
          <p:cNvPr id="5" name="그림 4" descr="결정계수 R-Squared | 블로그 | 모두의연구소">
            <a:extLst>
              <a:ext uri="{FF2B5EF4-FFF2-40B4-BE49-F238E27FC236}">
                <a16:creationId xmlns:a16="http://schemas.microsoft.com/office/drawing/2014/main" id="{4CA8C47B-CC03-0C7C-24FD-77BEB441F45D}"/>
              </a:ext>
            </a:extLst>
          </p:cNvPr>
          <p:cNvPicPr>
            <a:picLocks noChangeAspect="1"/>
          </p:cNvPicPr>
          <p:nvPr/>
        </p:nvPicPr>
        <p:blipFill>
          <a:blip r:embed="rId3"/>
          <a:stretch>
            <a:fillRect/>
          </a:stretch>
        </p:blipFill>
        <p:spPr>
          <a:xfrm>
            <a:off x="804881" y="4901184"/>
            <a:ext cx="3474512" cy="713620"/>
          </a:xfrm>
          <a:prstGeom prst="rect">
            <a:avLst/>
          </a:prstGeom>
        </p:spPr>
      </p:pic>
      <p:pic>
        <p:nvPicPr>
          <p:cNvPr id="12" name="그림 11">
            <a:extLst>
              <a:ext uri="{FF2B5EF4-FFF2-40B4-BE49-F238E27FC236}">
                <a16:creationId xmlns:a16="http://schemas.microsoft.com/office/drawing/2014/main" id="{B0B64C5D-222E-6719-3044-76792DDD5630}"/>
              </a:ext>
            </a:extLst>
          </p:cNvPr>
          <p:cNvPicPr>
            <a:picLocks noChangeAspect="1"/>
          </p:cNvPicPr>
          <p:nvPr/>
        </p:nvPicPr>
        <p:blipFill>
          <a:blip r:embed="rId4"/>
          <a:stretch>
            <a:fillRect/>
          </a:stretch>
        </p:blipFill>
        <p:spPr>
          <a:xfrm>
            <a:off x="6059514" y="202269"/>
            <a:ext cx="5333910" cy="3043850"/>
          </a:xfrm>
          <a:prstGeom prst="rect">
            <a:avLst/>
          </a:prstGeom>
        </p:spPr>
      </p:pic>
      <p:pic>
        <p:nvPicPr>
          <p:cNvPr id="14" name="그림 13">
            <a:extLst>
              <a:ext uri="{FF2B5EF4-FFF2-40B4-BE49-F238E27FC236}">
                <a16:creationId xmlns:a16="http://schemas.microsoft.com/office/drawing/2014/main" id="{89479B89-F723-FD74-02B4-AA4CB745EF03}"/>
              </a:ext>
            </a:extLst>
          </p:cNvPr>
          <p:cNvPicPr>
            <a:picLocks noChangeAspect="1"/>
          </p:cNvPicPr>
          <p:nvPr/>
        </p:nvPicPr>
        <p:blipFill>
          <a:blip r:embed="rId5"/>
          <a:srcRect r="50299"/>
          <a:stretch>
            <a:fillRect/>
          </a:stretch>
        </p:blipFill>
        <p:spPr>
          <a:xfrm>
            <a:off x="4928282" y="3429000"/>
            <a:ext cx="6458837" cy="2944368"/>
          </a:xfrm>
          <a:prstGeom prst="rect">
            <a:avLst/>
          </a:prstGeom>
        </p:spPr>
      </p:pic>
      <p:sp>
        <p:nvSpPr>
          <p:cNvPr id="6" name="슬라이드 번호 개체 틀 5">
            <a:extLst>
              <a:ext uri="{FF2B5EF4-FFF2-40B4-BE49-F238E27FC236}">
                <a16:creationId xmlns:a16="http://schemas.microsoft.com/office/drawing/2014/main" id="{E1FF39E3-48A4-D6BB-CB2D-C982E273AABD}"/>
              </a:ext>
            </a:extLst>
          </p:cNvPr>
          <p:cNvSpPr>
            <a:spLocks noGrp="1"/>
          </p:cNvSpPr>
          <p:nvPr>
            <p:ph type="sldNum" sz="quarter" idx="12"/>
          </p:nvPr>
        </p:nvSpPr>
        <p:spPr/>
        <p:txBody>
          <a:bodyPr/>
          <a:lstStyle/>
          <a:p>
            <a:fld id="{9F4AF89A-28FA-47FA-B28F-9A9C6913CB7A}" type="slidenum">
              <a:rPr lang="ko-KR" altLang="en-US" smtClean="0"/>
              <a:pPr/>
              <a:t>5</a:t>
            </a:fld>
            <a:endParaRPr lang="ko-KR"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1395B-5A5A-7711-490F-661C2BB4A7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E488FD-9A33-C49B-04EC-5E8D7D4CDF4C}"/>
              </a:ext>
            </a:extLst>
          </p:cNvPr>
          <p:cNvSpPr>
            <a:spLocks noGrp="1"/>
          </p:cNvSpPr>
          <p:nvPr>
            <p:ph type="title"/>
          </p:nvPr>
        </p:nvSpPr>
        <p:spPr/>
        <p:txBody>
          <a:bodyPr>
            <a:normAutofit/>
          </a:bodyPr>
          <a:lstStyle/>
          <a:p>
            <a:r>
              <a:rPr lang="en-US" altLang="ko-KR" dirty="0"/>
              <a:t>Step 1: + AEC 평균 mAs(단일 숫자) — 상관관계 근거</a:t>
            </a:r>
          </a:p>
        </p:txBody>
      </p:sp>
      <p:sp>
        <p:nvSpPr>
          <p:cNvPr id="5" name="내용 개체 틀 4">
            <a:extLst>
              <a:ext uri="{FF2B5EF4-FFF2-40B4-BE49-F238E27FC236}">
                <a16:creationId xmlns:a16="http://schemas.microsoft.com/office/drawing/2014/main" id="{5FF263F8-48B7-8CEA-B6D2-7FF384D3FD1D}"/>
              </a:ext>
            </a:extLst>
          </p:cNvPr>
          <p:cNvSpPr>
            <a:spLocks noGrp="1"/>
          </p:cNvSpPr>
          <p:nvPr>
            <p:ph idx="1"/>
          </p:nvPr>
        </p:nvSpPr>
        <p:spPr/>
        <p:txBody>
          <a:bodyPr/>
          <a:lstStyle/>
          <a:p>
            <a:r>
              <a:rPr lang="en-US" dirty="0"/>
              <a:t>Clinic4 + AEC평균(N=1) 모델</a:t>
            </a:r>
            <a:endParaRPr lang="ko-KR" altLang="en-US" dirty="0"/>
          </a:p>
          <a:p>
            <a:pPr lvl="1"/>
            <a:r>
              <a:rPr dirty="0"/>
              <a:t>AEC평균 ↔ 7종 전부 유의상관 (우측 히트맵, p&lt;0.05)</a:t>
            </a:r>
          </a:p>
          <a:p>
            <a:pPr lvl="1"/>
            <a:r>
              <a:rPr dirty="0"/>
              <a:t>AEC-Weight r=0.54 (다중공선성, 좌측) — 최강 예측변수와 중복</a:t>
            </a:r>
          </a:p>
        </p:txBody>
      </p:sp>
      <p:grpSp>
        <p:nvGrpSpPr>
          <p:cNvPr id="9" name="그룹 8">
            <a:extLst>
              <a:ext uri="{FF2B5EF4-FFF2-40B4-BE49-F238E27FC236}">
                <a16:creationId xmlns:a16="http://schemas.microsoft.com/office/drawing/2014/main" id="{671EC7E5-8C53-2722-C8D1-E911A46C8FEA}"/>
              </a:ext>
            </a:extLst>
          </p:cNvPr>
          <p:cNvGrpSpPr/>
          <p:nvPr/>
        </p:nvGrpSpPr>
        <p:grpSpPr>
          <a:xfrm>
            <a:off x="920264" y="2900000"/>
            <a:ext cx="10351472" cy="3400000"/>
            <a:chOff x="508000" y="2900000"/>
            <a:chExt cx="10351472" cy="3400000"/>
          </a:xfrm>
        </p:grpSpPr>
        <p:pic>
          <p:nvPicPr>
            <p:cNvPr id="6" name="그림 5">
              <a:extLst>
                <a:ext uri="{FF2B5EF4-FFF2-40B4-BE49-F238E27FC236}">
                  <a16:creationId xmlns:a16="http://schemas.microsoft.com/office/drawing/2014/main" id="{E6066010-AEEA-CD7B-CBAB-39C6473AAFF6}"/>
                </a:ext>
              </a:extLst>
            </p:cNvPr>
            <p:cNvPicPr>
              <a:picLocks noChangeAspect="1"/>
            </p:cNvPicPr>
            <p:nvPr/>
          </p:nvPicPr>
          <p:blipFill>
            <a:blip r:embed="rId3"/>
            <a:stretch>
              <a:fillRect/>
            </a:stretch>
          </p:blipFill>
          <p:spPr>
            <a:xfrm>
              <a:off x="508000" y="2900000"/>
              <a:ext cx="5863768" cy="3400000"/>
            </a:xfrm>
            <a:prstGeom prst="rect">
              <a:avLst/>
            </a:prstGeom>
          </p:spPr>
        </p:pic>
        <p:pic>
          <p:nvPicPr>
            <p:cNvPr id="8" name="그림 7">
              <a:extLst>
                <a:ext uri="{FF2B5EF4-FFF2-40B4-BE49-F238E27FC236}">
                  <a16:creationId xmlns:a16="http://schemas.microsoft.com/office/drawing/2014/main" id="{CDE2DB61-3054-A8DC-3769-72E66CB1A634}"/>
                </a:ext>
              </a:extLst>
            </p:cNvPr>
            <p:cNvPicPr>
              <a:picLocks noChangeAspect="1"/>
            </p:cNvPicPr>
            <p:nvPr/>
          </p:nvPicPr>
          <p:blipFill>
            <a:blip r:embed="rId4"/>
            <a:stretch>
              <a:fillRect/>
            </a:stretch>
          </p:blipFill>
          <p:spPr>
            <a:xfrm>
              <a:off x="6371768" y="2900000"/>
              <a:ext cx="4487704" cy="3400000"/>
            </a:xfrm>
            <a:prstGeom prst="rect">
              <a:avLst/>
            </a:prstGeom>
          </p:spPr>
        </p:pic>
      </p:grpSp>
      <p:sp>
        <p:nvSpPr>
          <p:cNvPr id="4" name="슬라이드 번호 개체 틀 3">
            <a:extLst>
              <a:ext uri="{FF2B5EF4-FFF2-40B4-BE49-F238E27FC236}">
                <a16:creationId xmlns:a16="http://schemas.microsoft.com/office/drawing/2014/main" id="{C0ECBEAC-619A-1703-102C-D5BFC563BA95}"/>
              </a:ext>
            </a:extLst>
          </p:cNvPr>
          <p:cNvSpPr>
            <a:spLocks noGrp="1"/>
          </p:cNvSpPr>
          <p:nvPr>
            <p:ph type="sldNum" sz="quarter" idx="12"/>
          </p:nvPr>
        </p:nvSpPr>
        <p:spPr/>
        <p:txBody>
          <a:bodyPr/>
          <a:lstStyle/>
          <a:p>
            <a:fld id="{9F4AF89A-28FA-47FA-B28F-9A9C6913CB7A}" type="slidenum">
              <a:rPr lang="ko-KR" altLang="en-US" smtClean="0"/>
              <a:pPr/>
              <a:t>6</a:t>
            </a:fld>
            <a:endParaRPr lang="ko-KR" altLang="en-US" dirty="0"/>
          </a:p>
        </p:txBody>
      </p:sp>
    </p:spTree>
    <p:extLst>
      <p:ext uri="{BB962C8B-B14F-4D97-AF65-F5344CB8AC3E}">
        <p14:creationId xmlns:p14="http://schemas.microsoft.com/office/powerpoint/2010/main" val="1411694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8847-5C9F-65EA-79C4-E54AA39891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DCC4A-1DA9-366C-4423-77F45CAEF332}"/>
              </a:ext>
            </a:extLst>
          </p:cNvPr>
          <p:cNvSpPr>
            <a:spLocks noGrp="1"/>
          </p:cNvSpPr>
          <p:nvPr>
            <p:ph type="title"/>
          </p:nvPr>
        </p:nvSpPr>
        <p:spPr/>
        <p:txBody>
          <a:bodyPr>
            <a:normAutofit/>
          </a:bodyPr>
          <a:lstStyle/>
          <a:p>
            <a:r>
              <a:rPr lang="en-US" altLang="ko-KR" dirty="0"/>
              <a:t>Step 1: + AEC 평균 mAs(단일 숫자) — R² 성능 결과</a:t>
            </a:r>
          </a:p>
        </p:txBody>
      </p:sp>
      <p:sp>
        <p:nvSpPr>
          <p:cNvPr id="5" name="내용 개체 틀 4">
            <a:extLst>
              <a:ext uri="{FF2B5EF4-FFF2-40B4-BE49-F238E27FC236}">
                <a16:creationId xmlns:a16="http://schemas.microsoft.com/office/drawing/2014/main" id="{0C7CEEF4-58DB-7529-112E-9BECC891A544}"/>
              </a:ext>
            </a:extLst>
          </p:cNvPr>
          <p:cNvSpPr>
            <a:spLocks noGrp="1"/>
          </p:cNvSpPr>
          <p:nvPr>
            <p:ph idx="1"/>
          </p:nvPr>
        </p:nvSpPr>
        <p:spPr/>
        <p:txBody>
          <a:bodyPr/>
          <a:lstStyle/>
          <a:p>
            <a:r>
              <a:rPr lang="en-US" altLang="ko-KR" dirty="0"/>
              <a:t>Clinic4 + AEC평균(N=1) 모델</a:t>
            </a:r>
          </a:p>
          <a:p>
            <a:pPr lvl="1"/>
            <a:r>
              <a:rPr dirty="0"/>
              <a:t>Internal 7/7 개선(+0.004~+0.022) / External 7/7 악화(최대 NAMA -0.193)</a:t>
            </a:r>
          </a:p>
          <a:p>
            <a:pPr lvl="1"/>
            <a:r>
              <a:rPr dirty="0" err="1"/>
              <a:t>원인: 128→1 과압축 + Weight 중복(r=0.54)</a:t>
            </a:r>
            <a:endParaRPr dirty="0"/>
          </a:p>
        </p:txBody>
      </p:sp>
      <p:graphicFrame>
        <p:nvGraphicFramePr>
          <p:cNvPr id="9" name="Table 8">
            <a:extLst>
              <a:ext uri="{FF2B5EF4-FFF2-40B4-BE49-F238E27FC236}">
                <a16:creationId xmlns:a16="http://schemas.microsoft.com/office/drawing/2014/main" id="{9BFC381A-7355-5179-337E-64E364308C47}"/>
              </a:ext>
            </a:extLst>
          </p:cNvPr>
          <p:cNvGraphicFramePr>
            <a:graphicFrameLocks noGrp="1"/>
          </p:cNvGraphicFramePr>
          <p:nvPr>
            <p:extLst>
              <p:ext uri="{D42A27DB-BD31-4B8C-83A1-F6EECF244321}">
                <p14:modId xmlns:p14="http://schemas.microsoft.com/office/powerpoint/2010/main" val="663660132"/>
              </p:ext>
            </p:extLst>
          </p:nvPr>
        </p:nvGraphicFramePr>
        <p:xfrm>
          <a:off x="2798763" y="3448903"/>
          <a:ext cx="6594473" cy="2790015"/>
        </p:xfrm>
        <a:graphic>
          <a:graphicData uri="http://schemas.openxmlformats.org/drawingml/2006/table">
            <a:tbl>
              <a:tblPr firstRow="1" bandRow="1">
                <a:tableStyleId>{9D7B26C5-4107-4FEC-AEDC-1716B250A1EF}</a:tableStyleId>
              </a:tblPr>
              <a:tblGrid>
                <a:gridCol w="1318895">
                  <a:extLst>
                    <a:ext uri="{9D8B030D-6E8A-4147-A177-3AD203B41FA5}">
                      <a16:colId xmlns:a16="http://schemas.microsoft.com/office/drawing/2014/main" val="20000"/>
                    </a:ext>
                  </a:extLst>
                </a:gridCol>
                <a:gridCol w="890254">
                  <a:extLst>
                    <a:ext uri="{9D8B030D-6E8A-4147-A177-3AD203B41FA5}">
                      <a16:colId xmlns:a16="http://schemas.microsoft.com/office/drawing/2014/main" val="20001"/>
                    </a:ext>
                  </a:extLst>
                </a:gridCol>
                <a:gridCol w="890254">
                  <a:extLst>
                    <a:ext uri="{9D8B030D-6E8A-4147-A177-3AD203B41FA5}">
                      <a16:colId xmlns:a16="http://schemas.microsoft.com/office/drawing/2014/main" val="20002"/>
                    </a:ext>
                  </a:extLst>
                </a:gridCol>
                <a:gridCol w="824308">
                  <a:extLst>
                    <a:ext uri="{9D8B030D-6E8A-4147-A177-3AD203B41FA5}">
                      <a16:colId xmlns:a16="http://schemas.microsoft.com/office/drawing/2014/main" val="20003"/>
                    </a:ext>
                  </a:extLst>
                </a:gridCol>
                <a:gridCol w="890254">
                  <a:extLst>
                    <a:ext uri="{9D8B030D-6E8A-4147-A177-3AD203B41FA5}">
                      <a16:colId xmlns:a16="http://schemas.microsoft.com/office/drawing/2014/main" val="20004"/>
                    </a:ext>
                  </a:extLst>
                </a:gridCol>
                <a:gridCol w="890254">
                  <a:extLst>
                    <a:ext uri="{9D8B030D-6E8A-4147-A177-3AD203B41FA5}">
                      <a16:colId xmlns:a16="http://schemas.microsoft.com/office/drawing/2014/main" val="20005"/>
                    </a:ext>
                  </a:extLst>
                </a:gridCol>
                <a:gridCol w="890254">
                  <a:extLst>
                    <a:ext uri="{9D8B030D-6E8A-4147-A177-3AD203B41FA5}">
                      <a16:colId xmlns:a16="http://schemas.microsoft.com/office/drawing/2014/main" val="20006"/>
                    </a:ext>
                  </a:extLst>
                </a:gridCol>
              </a:tblGrid>
              <a:tr h="431676">
                <a:tc>
                  <a:txBody>
                    <a:bodyPr/>
                    <a:lstStyle/>
                    <a:p>
                      <a:pPr algn="ctr"/>
                      <a:r>
                        <a:rPr sz="1200" b="1">
                          <a:solidFill>
                            <a:sysClr val="windowText" lastClr="000000"/>
                          </a:solidFill>
                        </a:rPr>
                        <a:t>Feature</a:t>
                      </a:r>
                    </a:p>
                  </a:txBody>
                  <a:tcPr anchor="ctr"/>
                </a:tc>
                <a:tc>
                  <a:txBody>
                    <a:bodyPr/>
                    <a:lstStyle/>
                    <a:p>
                      <a:pPr algn="ctr"/>
                      <a:r>
                        <a:rPr sz="1200" b="1" dirty="0">
                          <a:solidFill>
                            <a:sysClr val="windowText" lastClr="000000"/>
                          </a:solidFill>
                        </a:rPr>
                        <a:t>Int</a:t>
                      </a:r>
                      <a:endParaRPr lang="en-US" sz="1200" b="1" dirty="0">
                        <a:solidFill>
                          <a:sysClr val="windowText" lastClr="000000"/>
                        </a:solidFill>
                      </a:endParaRPr>
                    </a:p>
                    <a:p>
                      <a:pPr algn="ctr"/>
                      <a:r>
                        <a:rPr sz="1200" dirty="0">
                          <a:solidFill>
                            <a:sysClr val="windowText" lastClr="000000"/>
                          </a:solidFill>
                        </a:rPr>
                        <a:t>clinic4</a:t>
                      </a:r>
                    </a:p>
                  </a:txBody>
                  <a:tcPr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dirty="0">
                          <a:solidFill>
                            <a:sysClr val="windowText" lastClr="000000"/>
                          </a:solidFill>
                        </a:rPr>
                        <a:t>Int</a:t>
                      </a:r>
                    </a:p>
                    <a:p>
                      <a:pPr marL="0" marR="0" lvl="0" indent="0" algn="ctr" defTabSz="914400" rtl="0" eaLnBrk="1" fontAlgn="auto" latinLnBrk="1" hangingPunct="1">
                        <a:lnSpc>
                          <a:spcPct val="100000"/>
                        </a:lnSpc>
                        <a:spcBef>
                          <a:spcPts val="0"/>
                        </a:spcBef>
                        <a:spcAft>
                          <a:spcPts val="0"/>
                        </a:spcAft>
                        <a:buClrTx/>
                        <a:buSzTx/>
                        <a:buFontTx/>
                        <a:buNone/>
                        <a:tabLst/>
                        <a:defRPr/>
                      </a:pPr>
                      <a:r>
                        <a:rPr sz="1200" dirty="0">
                          <a:solidFill>
                            <a:sysClr val="windowText" lastClr="000000"/>
                          </a:solidFill>
                        </a:rPr>
                        <a:t>+AEC</a:t>
                      </a:r>
                    </a:p>
                  </a:txBody>
                  <a:tcPr anchor="ctr"/>
                </a:tc>
                <a:tc>
                  <a:txBody>
                    <a:bodyPr/>
                    <a:lstStyle/>
                    <a:p>
                      <a:pPr algn="ctr"/>
                      <a:r>
                        <a:rPr sz="1200" b="1" dirty="0" err="1">
                          <a:solidFill>
                            <a:sysClr val="windowText" lastClr="000000"/>
                          </a:solidFill>
                        </a:rPr>
                        <a:t>ΔInt</a:t>
                      </a:r>
                      <a:endParaRPr sz="1200" b="1" dirty="0">
                        <a:solidFill>
                          <a:sysClr val="windowText" lastClr="000000"/>
                        </a:solidFill>
                      </a:endParaRPr>
                    </a:p>
                  </a:txBody>
                  <a:tcPr anchor="ctr"/>
                </a:tc>
                <a:tc>
                  <a:txBody>
                    <a:bodyPr/>
                    <a:lstStyle/>
                    <a:p>
                      <a:pPr algn="ctr"/>
                      <a:r>
                        <a:rPr sz="1200" b="1" dirty="0">
                          <a:solidFill>
                            <a:sysClr val="windowText" lastClr="000000"/>
                          </a:solidFill>
                        </a:rPr>
                        <a:t>Ext</a:t>
                      </a:r>
                      <a:endParaRPr lang="en-US" sz="1200" b="1" dirty="0">
                        <a:solidFill>
                          <a:sysClr val="windowText" lastClr="000000"/>
                        </a:solidFill>
                      </a:endParaRPr>
                    </a:p>
                    <a:p>
                      <a:pPr algn="ctr"/>
                      <a:r>
                        <a:rPr sz="1200" dirty="0">
                          <a:solidFill>
                            <a:sysClr val="windowText" lastClr="000000"/>
                          </a:solidFill>
                        </a:rPr>
                        <a:t>clinic4</a:t>
                      </a:r>
                    </a:p>
                  </a:txBody>
                  <a:tcPr anchor="ctr"/>
                </a:tc>
                <a:tc>
                  <a:txBody>
                    <a:bodyPr/>
                    <a:lstStyle/>
                    <a:p>
                      <a:pPr algn="ctr"/>
                      <a:r>
                        <a:rPr sz="1200" b="1" dirty="0">
                          <a:solidFill>
                            <a:sysClr val="windowText" lastClr="000000"/>
                          </a:solidFill>
                        </a:rPr>
                        <a:t>Ext</a:t>
                      </a:r>
                      <a:endParaRPr lang="en-US" sz="1200" b="1" dirty="0">
                        <a:solidFill>
                          <a:sysClr val="windowText" lastClr="000000"/>
                        </a:solidFill>
                      </a:endParaRPr>
                    </a:p>
                    <a:p>
                      <a:pPr algn="ctr"/>
                      <a:r>
                        <a:rPr sz="1200" dirty="0">
                          <a:solidFill>
                            <a:sysClr val="windowText" lastClr="000000"/>
                          </a:solidFill>
                        </a:rPr>
                        <a:t>+AEC</a:t>
                      </a:r>
                    </a:p>
                  </a:txBody>
                  <a:tcPr anchor="ctr"/>
                </a:tc>
                <a:tc>
                  <a:txBody>
                    <a:bodyPr/>
                    <a:lstStyle/>
                    <a:p>
                      <a:pPr algn="ctr"/>
                      <a:r>
                        <a:rPr sz="1200" b="1">
                          <a:solidFill>
                            <a:sysClr val="windowText" lastClr="000000"/>
                          </a:solidFill>
                        </a:rPr>
                        <a:t>ΔExt</a:t>
                      </a:r>
                    </a:p>
                  </a:txBody>
                  <a:tcPr anchor="ctr"/>
                </a:tc>
                <a:extLst>
                  <a:ext uri="{0D108BD9-81ED-4DB2-BD59-A6C34878D82A}">
                    <a16:rowId xmlns:a16="http://schemas.microsoft.com/office/drawing/2014/main" val="10000"/>
                  </a:ext>
                </a:extLst>
              </a:tr>
              <a:tr h="333259">
                <a:tc>
                  <a:txBody>
                    <a:bodyPr/>
                    <a:lstStyle/>
                    <a:p>
                      <a:pPr algn="ctr"/>
                      <a:r>
                        <a:rPr sz="1200" dirty="0">
                          <a:solidFill>
                            <a:sysClr val="windowText" lastClr="000000"/>
                          </a:solidFill>
                        </a:rPr>
                        <a:t>IMATA</a:t>
                      </a:r>
                    </a:p>
                  </a:txBody>
                  <a:tcPr anchor="ctr">
                    <a:solidFill>
                      <a:schemeClr val="bg1"/>
                    </a:solidFill>
                  </a:tcPr>
                </a:tc>
                <a:tc>
                  <a:txBody>
                    <a:bodyPr/>
                    <a:lstStyle/>
                    <a:p>
                      <a:pPr algn="ctr"/>
                      <a:r>
                        <a:rPr sz="1200">
                          <a:solidFill>
                            <a:sysClr val="windowText" lastClr="000000"/>
                          </a:solidFill>
                        </a:rPr>
                        <a:t>0.333</a:t>
                      </a:r>
                    </a:p>
                  </a:txBody>
                  <a:tcPr anchor="ctr">
                    <a:solidFill>
                      <a:schemeClr val="bg1"/>
                    </a:solidFill>
                  </a:tcPr>
                </a:tc>
                <a:tc>
                  <a:txBody>
                    <a:bodyPr/>
                    <a:lstStyle/>
                    <a:p>
                      <a:pPr algn="ctr"/>
                      <a:r>
                        <a:rPr sz="1200">
                          <a:solidFill>
                            <a:sysClr val="windowText" lastClr="000000"/>
                          </a:solidFill>
                        </a:rPr>
                        <a:t>0.355</a:t>
                      </a:r>
                    </a:p>
                  </a:txBody>
                  <a:tcPr anchor="ctr">
                    <a:solidFill>
                      <a:schemeClr val="bg1"/>
                    </a:solidFill>
                  </a:tcPr>
                </a:tc>
                <a:tc>
                  <a:txBody>
                    <a:bodyPr/>
                    <a:lstStyle/>
                    <a:p>
                      <a:pPr algn="ctr"/>
                      <a:r>
                        <a:rPr sz="1200">
                          <a:solidFill>
                            <a:sysClr val="windowText" lastClr="000000"/>
                          </a:solidFill>
                        </a:rPr>
                        <a:t>+0.022</a:t>
                      </a:r>
                    </a:p>
                  </a:txBody>
                  <a:tcPr anchor="ctr">
                    <a:solidFill>
                      <a:schemeClr val="bg1"/>
                    </a:solidFill>
                  </a:tcPr>
                </a:tc>
                <a:tc>
                  <a:txBody>
                    <a:bodyPr/>
                    <a:lstStyle/>
                    <a:p>
                      <a:pPr algn="ctr"/>
                      <a:r>
                        <a:rPr sz="1200">
                          <a:solidFill>
                            <a:sysClr val="windowText" lastClr="000000"/>
                          </a:solidFill>
                        </a:rPr>
                        <a:t>0.282</a:t>
                      </a:r>
                    </a:p>
                  </a:txBody>
                  <a:tcPr anchor="ctr">
                    <a:solidFill>
                      <a:schemeClr val="bg1"/>
                    </a:solidFill>
                  </a:tcPr>
                </a:tc>
                <a:tc>
                  <a:txBody>
                    <a:bodyPr/>
                    <a:lstStyle/>
                    <a:p>
                      <a:pPr algn="ctr"/>
                      <a:r>
                        <a:rPr sz="1200">
                          <a:solidFill>
                            <a:sysClr val="windowText" lastClr="000000"/>
                          </a:solidFill>
                        </a:rPr>
                        <a:t>0.191</a:t>
                      </a:r>
                    </a:p>
                  </a:txBody>
                  <a:tcPr anchor="ctr">
                    <a:solidFill>
                      <a:schemeClr val="bg1"/>
                    </a:solidFill>
                  </a:tcPr>
                </a:tc>
                <a:tc>
                  <a:txBody>
                    <a:bodyPr/>
                    <a:lstStyle/>
                    <a:p>
                      <a:pPr algn="ctr"/>
                      <a:r>
                        <a:rPr sz="1200">
                          <a:solidFill>
                            <a:sysClr val="windowText" lastClr="000000"/>
                          </a:solidFill>
                        </a:rPr>
                        <a:t>-0.091</a:t>
                      </a:r>
                    </a:p>
                  </a:txBody>
                  <a:tcPr anchor="ctr">
                    <a:solidFill>
                      <a:schemeClr val="bg1"/>
                    </a:solidFill>
                  </a:tcPr>
                </a:tc>
                <a:extLst>
                  <a:ext uri="{0D108BD9-81ED-4DB2-BD59-A6C34878D82A}">
                    <a16:rowId xmlns:a16="http://schemas.microsoft.com/office/drawing/2014/main" val="10001"/>
                  </a:ext>
                </a:extLst>
              </a:tr>
              <a:tr h="333259">
                <a:tc>
                  <a:txBody>
                    <a:bodyPr/>
                    <a:lstStyle/>
                    <a:p>
                      <a:pPr algn="ctr"/>
                      <a:r>
                        <a:rPr sz="1200" dirty="0">
                          <a:solidFill>
                            <a:sysClr val="windowText" lastClr="000000"/>
                          </a:solidFill>
                        </a:rPr>
                        <a:t>NAMA</a:t>
                      </a:r>
                    </a:p>
                  </a:txBody>
                  <a:tcPr anchor="ctr">
                    <a:solidFill>
                      <a:schemeClr val="bg1"/>
                    </a:solidFill>
                  </a:tcPr>
                </a:tc>
                <a:tc>
                  <a:txBody>
                    <a:bodyPr/>
                    <a:lstStyle/>
                    <a:p>
                      <a:pPr algn="ctr"/>
                      <a:r>
                        <a:rPr sz="1200" dirty="0">
                          <a:solidFill>
                            <a:sysClr val="windowText" lastClr="000000"/>
                          </a:solidFill>
                        </a:rPr>
                        <a:t>0.591</a:t>
                      </a:r>
                    </a:p>
                  </a:txBody>
                  <a:tcPr anchor="ctr">
                    <a:solidFill>
                      <a:schemeClr val="bg1"/>
                    </a:solidFill>
                  </a:tcPr>
                </a:tc>
                <a:tc>
                  <a:txBody>
                    <a:bodyPr/>
                    <a:lstStyle/>
                    <a:p>
                      <a:pPr algn="ctr"/>
                      <a:r>
                        <a:rPr sz="1200">
                          <a:solidFill>
                            <a:sysClr val="windowText" lastClr="000000"/>
                          </a:solidFill>
                        </a:rPr>
                        <a:t>0.610</a:t>
                      </a:r>
                    </a:p>
                  </a:txBody>
                  <a:tcPr anchor="ctr">
                    <a:solidFill>
                      <a:schemeClr val="bg1"/>
                    </a:solidFill>
                  </a:tcPr>
                </a:tc>
                <a:tc>
                  <a:txBody>
                    <a:bodyPr/>
                    <a:lstStyle/>
                    <a:p>
                      <a:pPr algn="ctr"/>
                      <a:r>
                        <a:rPr sz="1200" dirty="0">
                          <a:solidFill>
                            <a:sysClr val="windowText" lastClr="000000"/>
                          </a:solidFill>
                        </a:rPr>
                        <a:t>+0.019</a:t>
                      </a:r>
                    </a:p>
                  </a:txBody>
                  <a:tcPr anchor="ctr">
                    <a:solidFill>
                      <a:schemeClr val="bg1"/>
                    </a:solidFill>
                  </a:tcPr>
                </a:tc>
                <a:tc>
                  <a:txBody>
                    <a:bodyPr/>
                    <a:lstStyle/>
                    <a:p>
                      <a:pPr algn="ctr"/>
                      <a:r>
                        <a:rPr sz="1200">
                          <a:solidFill>
                            <a:sysClr val="windowText" lastClr="000000"/>
                          </a:solidFill>
                        </a:rPr>
                        <a:t>0.568</a:t>
                      </a:r>
                    </a:p>
                  </a:txBody>
                  <a:tcPr anchor="ctr">
                    <a:solidFill>
                      <a:schemeClr val="bg1"/>
                    </a:solidFill>
                  </a:tcPr>
                </a:tc>
                <a:tc>
                  <a:txBody>
                    <a:bodyPr/>
                    <a:lstStyle/>
                    <a:p>
                      <a:pPr algn="ctr"/>
                      <a:r>
                        <a:rPr sz="1200">
                          <a:solidFill>
                            <a:sysClr val="windowText" lastClr="000000"/>
                          </a:solidFill>
                        </a:rPr>
                        <a:t>0.374</a:t>
                      </a:r>
                    </a:p>
                  </a:txBody>
                  <a:tcPr anchor="ctr">
                    <a:solidFill>
                      <a:schemeClr val="bg1"/>
                    </a:solidFill>
                  </a:tcPr>
                </a:tc>
                <a:tc>
                  <a:txBody>
                    <a:bodyPr/>
                    <a:lstStyle/>
                    <a:p>
                      <a:pPr algn="ctr"/>
                      <a:r>
                        <a:rPr sz="1200">
                          <a:solidFill>
                            <a:sysClr val="windowText" lastClr="000000"/>
                          </a:solidFill>
                        </a:rPr>
                        <a:t>-0.193</a:t>
                      </a:r>
                    </a:p>
                  </a:txBody>
                  <a:tcPr anchor="ctr">
                    <a:solidFill>
                      <a:schemeClr val="bg1"/>
                    </a:solidFill>
                  </a:tcPr>
                </a:tc>
                <a:extLst>
                  <a:ext uri="{0D108BD9-81ED-4DB2-BD59-A6C34878D82A}">
                    <a16:rowId xmlns:a16="http://schemas.microsoft.com/office/drawing/2014/main" val="10002"/>
                  </a:ext>
                </a:extLst>
              </a:tr>
              <a:tr h="333259">
                <a:tc>
                  <a:txBody>
                    <a:bodyPr/>
                    <a:lstStyle/>
                    <a:p>
                      <a:pPr algn="ctr"/>
                      <a:r>
                        <a:rPr sz="1200">
                          <a:solidFill>
                            <a:sysClr val="windowText" lastClr="000000"/>
                          </a:solidFill>
                        </a:rPr>
                        <a:t>Total Fat</a:t>
                      </a:r>
                    </a:p>
                  </a:txBody>
                  <a:tcPr anchor="ctr">
                    <a:solidFill>
                      <a:schemeClr val="bg1"/>
                    </a:solidFill>
                  </a:tcPr>
                </a:tc>
                <a:tc>
                  <a:txBody>
                    <a:bodyPr/>
                    <a:lstStyle/>
                    <a:p>
                      <a:pPr algn="ctr"/>
                      <a:r>
                        <a:rPr sz="1200">
                          <a:solidFill>
                            <a:sysClr val="windowText" lastClr="000000"/>
                          </a:solidFill>
                        </a:rPr>
                        <a:t>0.502</a:t>
                      </a:r>
                    </a:p>
                  </a:txBody>
                  <a:tcPr anchor="ctr">
                    <a:solidFill>
                      <a:schemeClr val="bg1"/>
                    </a:solidFill>
                  </a:tcPr>
                </a:tc>
                <a:tc>
                  <a:txBody>
                    <a:bodyPr/>
                    <a:lstStyle/>
                    <a:p>
                      <a:pPr algn="ctr"/>
                      <a:r>
                        <a:rPr sz="1200">
                          <a:solidFill>
                            <a:sysClr val="windowText" lastClr="000000"/>
                          </a:solidFill>
                        </a:rPr>
                        <a:t>0.518</a:t>
                      </a:r>
                    </a:p>
                  </a:txBody>
                  <a:tcPr anchor="ctr">
                    <a:solidFill>
                      <a:schemeClr val="bg1"/>
                    </a:solidFill>
                  </a:tcPr>
                </a:tc>
                <a:tc>
                  <a:txBody>
                    <a:bodyPr/>
                    <a:lstStyle/>
                    <a:p>
                      <a:pPr algn="ctr"/>
                      <a:r>
                        <a:rPr sz="1200" dirty="0">
                          <a:solidFill>
                            <a:sysClr val="windowText" lastClr="000000"/>
                          </a:solidFill>
                        </a:rPr>
                        <a:t>+0.016</a:t>
                      </a:r>
                    </a:p>
                  </a:txBody>
                  <a:tcPr anchor="ctr">
                    <a:solidFill>
                      <a:schemeClr val="bg1"/>
                    </a:solidFill>
                  </a:tcPr>
                </a:tc>
                <a:tc>
                  <a:txBody>
                    <a:bodyPr/>
                    <a:lstStyle/>
                    <a:p>
                      <a:pPr algn="ctr"/>
                      <a:r>
                        <a:rPr sz="1200">
                          <a:solidFill>
                            <a:sysClr val="windowText" lastClr="000000"/>
                          </a:solidFill>
                        </a:rPr>
                        <a:t>0.492</a:t>
                      </a:r>
                    </a:p>
                  </a:txBody>
                  <a:tcPr anchor="ctr">
                    <a:solidFill>
                      <a:schemeClr val="bg1"/>
                    </a:solidFill>
                  </a:tcPr>
                </a:tc>
                <a:tc>
                  <a:txBody>
                    <a:bodyPr/>
                    <a:lstStyle/>
                    <a:p>
                      <a:pPr algn="ctr"/>
                      <a:r>
                        <a:rPr sz="1200">
                          <a:solidFill>
                            <a:sysClr val="windowText" lastClr="000000"/>
                          </a:solidFill>
                        </a:rPr>
                        <a:t>0.447</a:t>
                      </a:r>
                    </a:p>
                  </a:txBody>
                  <a:tcPr anchor="ctr">
                    <a:solidFill>
                      <a:schemeClr val="bg1"/>
                    </a:solidFill>
                  </a:tcPr>
                </a:tc>
                <a:tc>
                  <a:txBody>
                    <a:bodyPr/>
                    <a:lstStyle/>
                    <a:p>
                      <a:pPr algn="ctr"/>
                      <a:r>
                        <a:rPr sz="1200">
                          <a:solidFill>
                            <a:sysClr val="windowText" lastClr="000000"/>
                          </a:solidFill>
                        </a:rPr>
                        <a:t>-0.045</a:t>
                      </a:r>
                    </a:p>
                  </a:txBody>
                  <a:tcPr anchor="ctr">
                    <a:solidFill>
                      <a:schemeClr val="bg1"/>
                    </a:solidFill>
                  </a:tcPr>
                </a:tc>
                <a:extLst>
                  <a:ext uri="{0D108BD9-81ED-4DB2-BD59-A6C34878D82A}">
                    <a16:rowId xmlns:a16="http://schemas.microsoft.com/office/drawing/2014/main" val="10003"/>
                  </a:ext>
                </a:extLst>
              </a:tr>
              <a:tr h="333259">
                <a:tc>
                  <a:txBody>
                    <a:bodyPr/>
                    <a:lstStyle/>
                    <a:p>
                      <a:pPr algn="ctr"/>
                      <a:r>
                        <a:rPr sz="1200">
                          <a:solidFill>
                            <a:sysClr val="windowText" lastClr="000000"/>
                          </a:solidFill>
                        </a:rPr>
                        <a:t>SAT</a:t>
                      </a:r>
                    </a:p>
                  </a:txBody>
                  <a:tcPr anchor="ctr">
                    <a:solidFill>
                      <a:schemeClr val="bg1"/>
                    </a:solidFill>
                  </a:tcPr>
                </a:tc>
                <a:tc>
                  <a:txBody>
                    <a:bodyPr/>
                    <a:lstStyle/>
                    <a:p>
                      <a:pPr algn="ctr"/>
                      <a:r>
                        <a:rPr sz="1200">
                          <a:solidFill>
                            <a:sysClr val="windowText" lastClr="000000"/>
                          </a:solidFill>
                        </a:rPr>
                        <a:t>0.528</a:t>
                      </a:r>
                    </a:p>
                  </a:txBody>
                  <a:tcPr anchor="ctr">
                    <a:solidFill>
                      <a:schemeClr val="bg1"/>
                    </a:solidFill>
                  </a:tcPr>
                </a:tc>
                <a:tc>
                  <a:txBody>
                    <a:bodyPr/>
                    <a:lstStyle/>
                    <a:p>
                      <a:pPr algn="ctr"/>
                      <a:r>
                        <a:rPr sz="1200">
                          <a:solidFill>
                            <a:sysClr val="windowText" lastClr="000000"/>
                          </a:solidFill>
                        </a:rPr>
                        <a:t>0.541</a:t>
                      </a:r>
                    </a:p>
                  </a:txBody>
                  <a:tcPr anchor="ctr">
                    <a:solidFill>
                      <a:schemeClr val="bg1"/>
                    </a:solidFill>
                  </a:tcPr>
                </a:tc>
                <a:tc>
                  <a:txBody>
                    <a:bodyPr/>
                    <a:lstStyle/>
                    <a:p>
                      <a:pPr algn="ctr"/>
                      <a:r>
                        <a:rPr sz="1200">
                          <a:solidFill>
                            <a:sysClr val="windowText" lastClr="000000"/>
                          </a:solidFill>
                        </a:rPr>
                        <a:t>+0.013</a:t>
                      </a:r>
                    </a:p>
                  </a:txBody>
                  <a:tcPr anchor="ctr">
                    <a:solidFill>
                      <a:schemeClr val="bg1"/>
                    </a:solidFill>
                  </a:tcPr>
                </a:tc>
                <a:tc>
                  <a:txBody>
                    <a:bodyPr/>
                    <a:lstStyle/>
                    <a:p>
                      <a:pPr algn="ctr"/>
                      <a:r>
                        <a:rPr sz="1200" dirty="0">
                          <a:solidFill>
                            <a:sysClr val="windowText" lastClr="000000"/>
                          </a:solidFill>
                        </a:rPr>
                        <a:t>0.565</a:t>
                      </a:r>
                    </a:p>
                  </a:txBody>
                  <a:tcPr anchor="ctr">
                    <a:solidFill>
                      <a:schemeClr val="bg1"/>
                    </a:solidFill>
                  </a:tcPr>
                </a:tc>
                <a:tc>
                  <a:txBody>
                    <a:bodyPr/>
                    <a:lstStyle/>
                    <a:p>
                      <a:pPr algn="ctr"/>
                      <a:r>
                        <a:rPr sz="1200">
                          <a:solidFill>
                            <a:sysClr val="windowText" lastClr="000000"/>
                          </a:solidFill>
                        </a:rPr>
                        <a:t>0.536</a:t>
                      </a:r>
                    </a:p>
                  </a:txBody>
                  <a:tcPr anchor="ctr">
                    <a:solidFill>
                      <a:schemeClr val="bg1"/>
                    </a:solidFill>
                  </a:tcPr>
                </a:tc>
                <a:tc>
                  <a:txBody>
                    <a:bodyPr/>
                    <a:lstStyle/>
                    <a:p>
                      <a:pPr algn="ctr"/>
                      <a:r>
                        <a:rPr sz="1200">
                          <a:solidFill>
                            <a:sysClr val="windowText" lastClr="000000"/>
                          </a:solidFill>
                        </a:rPr>
                        <a:t>-0.029</a:t>
                      </a:r>
                    </a:p>
                  </a:txBody>
                  <a:tcPr anchor="ctr">
                    <a:solidFill>
                      <a:schemeClr val="bg1"/>
                    </a:solidFill>
                  </a:tcPr>
                </a:tc>
                <a:extLst>
                  <a:ext uri="{0D108BD9-81ED-4DB2-BD59-A6C34878D82A}">
                    <a16:rowId xmlns:a16="http://schemas.microsoft.com/office/drawing/2014/main" val="10004"/>
                  </a:ext>
                </a:extLst>
              </a:tr>
              <a:tr h="333259">
                <a:tc>
                  <a:txBody>
                    <a:bodyPr/>
                    <a:lstStyle/>
                    <a:p>
                      <a:pPr algn="ctr"/>
                      <a:r>
                        <a:rPr sz="1200">
                          <a:solidFill>
                            <a:sysClr val="windowText" lastClr="000000"/>
                          </a:solidFill>
                        </a:rPr>
                        <a:t>VAT</a:t>
                      </a:r>
                    </a:p>
                  </a:txBody>
                  <a:tcPr anchor="ctr">
                    <a:solidFill>
                      <a:schemeClr val="bg1"/>
                    </a:solidFill>
                  </a:tcPr>
                </a:tc>
                <a:tc>
                  <a:txBody>
                    <a:bodyPr/>
                    <a:lstStyle/>
                    <a:p>
                      <a:pPr algn="ctr"/>
                      <a:r>
                        <a:rPr sz="1200">
                          <a:solidFill>
                            <a:sysClr val="windowText" lastClr="000000"/>
                          </a:solidFill>
                        </a:rPr>
                        <a:t>0.523</a:t>
                      </a:r>
                    </a:p>
                  </a:txBody>
                  <a:tcPr anchor="ctr">
                    <a:solidFill>
                      <a:schemeClr val="bg1"/>
                    </a:solidFill>
                  </a:tcPr>
                </a:tc>
                <a:tc>
                  <a:txBody>
                    <a:bodyPr/>
                    <a:lstStyle/>
                    <a:p>
                      <a:pPr algn="ctr"/>
                      <a:r>
                        <a:rPr sz="1200">
                          <a:solidFill>
                            <a:sysClr val="windowText" lastClr="000000"/>
                          </a:solidFill>
                        </a:rPr>
                        <a:t>0.530</a:t>
                      </a:r>
                    </a:p>
                  </a:txBody>
                  <a:tcPr anchor="ctr">
                    <a:solidFill>
                      <a:schemeClr val="bg1"/>
                    </a:solidFill>
                  </a:tcPr>
                </a:tc>
                <a:tc>
                  <a:txBody>
                    <a:bodyPr/>
                    <a:lstStyle/>
                    <a:p>
                      <a:pPr algn="ctr"/>
                      <a:r>
                        <a:rPr sz="1200">
                          <a:solidFill>
                            <a:sysClr val="windowText" lastClr="000000"/>
                          </a:solidFill>
                        </a:rPr>
                        <a:t>+0.007</a:t>
                      </a:r>
                    </a:p>
                  </a:txBody>
                  <a:tcPr anchor="ctr">
                    <a:solidFill>
                      <a:schemeClr val="bg1"/>
                    </a:solidFill>
                  </a:tcPr>
                </a:tc>
                <a:tc>
                  <a:txBody>
                    <a:bodyPr/>
                    <a:lstStyle/>
                    <a:p>
                      <a:pPr algn="ctr"/>
                      <a:r>
                        <a:rPr sz="1200">
                          <a:solidFill>
                            <a:sysClr val="windowText" lastClr="000000"/>
                          </a:solidFill>
                        </a:rPr>
                        <a:t>0.418</a:t>
                      </a:r>
                    </a:p>
                  </a:txBody>
                  <a:tcPr anchor="ctr">
                    <a:solidFill>
                      <a:schemeClr val="bg1"/>
                    </a:solidFill>
                  </a:tcPr>
                </a:tc>
                <a:tc>
                  <a:txBody>
                    <a:bodyPr/>
                    <a:lstStyle/>
                    <a:p>
                      <a:pPr algn="ctr"/>
                      <a:r>
                        <a:rPr sz="1200" dirty="0">
                          <a:solidFill>
                            <a:sysClr val="windowText" lastClr="000000"/>
                          </a:solidFill>
                        </a:rPr>
                        <a:t>0.378</a:t>
                      </a:r>
                    </a:p>
                  </a:txBody>
                  <a:tcPr anchor="ctr">
                    <a:solidFill>
                      <a:schemeClr val="bg1"/>
                    </a:solidFill>
                  </a:tcPr>
                </a:tc>
                <a:tc>
                  <a:txBody>
                    <a:bodyPr/>
                    <a:lstStyle/>
                    <a:p>
                      <a:pPr algn="ctr"/>
                      <a:r>
                        <a:rPr sz="1200">
                          <a:solidFill>
                            <a:sysClr val="windowText" lastClr="000000"/>
                          </a:solidFill>
                        </a:rPr>
                        <a:t>-0.041</a:t>
                      </a:r>
                    </a:p>
                  </a:txBody>
                  <a:tcPr anchor="ctr">
                    <a:solidFill>
                      <a:schemeClr val="bg1"/>
                    </a:solidFill>
                  </a:tcPr>
                </a:tc>
                <a:extLst>
                  <a:ext uri="{0D108BD9-81ED-4DB2-BD59-A6C34878D82A}">
                    <a16:rowId xmlns:a16="http://schemas.microsoft.com/office/drawing/2014/main" val="10005"/>
                  </a:ext>
                </a:extLst>
              </a:tr>
              <a:tr h="333259">
                <a:tc>
                  <a:txBody>
                    <a:bodyPr/>
                    <a:lstStyle/>
                    <a:p>
                      <a:pPr algn="ctr"/>
                      <a:r>
                        <a:rPr sz="1200">
                          <a:solidFill>
                            <a:sysClr val="windowText" lastClr="000000"/>
                          </a:solidFill>
                        </a:rPr>
                        <a:t>LAMA</a:t>
                      </a:r>
                    </a:p>
                  </a:txBody>
                  <a:tcPr anchor="ctr">
                    <a:solidFill>
                      <a:schemeClr val="bg1"/>
                    </a:solidFill>
                  </a:tcPr>
                </a:tc>
                <a:tc>
                  <a:txBody>
                    <a:bodyPr/>
                    <a:lstStyle/>
                    <a:p>
                      <a:pPr algn="ctr"/>
                      <a:r>
                        <a:rPr sz="1200">
                          <a:solidFill>
                            <a:sysClr val="windowText" lastClr="000000"/>
                          </a:solidFill>
                        </a:rPr>
                        <a:t>0.419</a:t>
                      </a:r>
                    </a:p>
                  </a:txBody>
                  <a:tcPr anchor="ctr">
                    <a:solidFill>
                      <a:schemeClr val="bg1"/>
                    </a:solidFill>
                  </a:tcPr>
                </a:tc>
                <a:tc>
                  <a:txBody>
                    <a:bodyPr/>
                    <a:lstStyle/>
                    <a:p>
                      <a:pPr algn="ctr"/>
                      <a:r>
                        <a:rPr sz="1200">
                          <a:solidFill>
                            <a:sysClr val="windowText" lastClr="000000"/>
                          </a:solidFill>
                        </a:rPr>
                        <a:t>0.425</a:t>
                      </a:r>
                    </a:p>
                  </a:txBody>
                  <a:tcPr anchor="ctr">
                    <a:solidFill>
                      <a:schemeClr val="bg1"/>
                    </a:solidFill>
                  </a:tcPr>
                </a:tc>
                <a:tc>
                  <a:txBody>
                    <a:bodyPr/>
                    <a:lstStyle/>
                    <a:p>
                      <a:pPr algn="ctr"/>
                      <a:r>
                        <a:rPr sz="1200">
                          <a:solidFill>
                            <a:sysClr val="windowText" lastClr="000000"/>
                          </a:solidFill>
                        </a:rPr>
                        <a:t>+0.006</a:t>
                      </a:r>
                    </a:p>
                  </a:txBody>
                  <a:tcPr anchor="ctr">
                    <a:solidFill>
                      <a:schemeClr val="bg1"/>
                    </a:solidFill>
                  </a:tcPr>
                </a:tc>
                <a:tc>
                  <a:txBody>
                    <a:bodyPr/>
                    <a:lstStyle/>
                    <a:p>
                      <a:pPr algn="ctr"/>
                      <a:r>
                        <a:rPr sz="1200">
                          <a:solidFill>
                            <a:sysClr val="windowText" lastClr="000000"/>
                          </a:solidFill>
                        </a:rPr>
                        <a:t>-0.035</a:t>
                      </a:r>
                    </a:p>
                  </a:txBody>
                  <a:tcPr anchor="ctr">
                    <a:solidFill>
                      <a:schemeClr val="bg1"/>
                    </a:solidFill>
                  </a:tcPr>
                </a:tc>
                <a:tc>
                  <a:txBody>
                    <a:bodyPr/>
                    <a:lstStyle/>
                    <a:p>
                      <a:pPr algn="ctr"/>
                      <a:r>
                        <a:rPr sz="1200">
                          <a:solidFill>
                            <a:sysClr val="windowText" lastClr="000000"/>
                          </a:solidFill>
                        </a:rPr>
                        <a:t>-0.182</a:t>
                      </a:r>
                    </a:p>
                  </a:txBody>
                  <a:tcPr anchor="ctr">
                    <a:solidFill>
                      <a:schemeClr val="bg1"/>
                    </a:solidFill>
                  </a:tcPr>
                </a:tc>
                <a:tc>
                  <a:txBody>
                    <a:bodyPr/>
                    <a:lstStyle/>
                    <a:p>
                      <a:pPr algn="ctr"/>
                      <a:r>
                        <a:rPr sz="1200" dirty="0">
                          <a:solidFill>
                            <a:sysClr val="windowText" lastClr="000000"/>
                          </a:solidFill>
                        </a:rPr>
                        <a:t>-0.147</a:t>
                      </a:r>
                    </a:p>
                  </a:txBody>
                  <a:tcPr anchor="ctr">
                    <a:solidFill>
                      <a:schemeClr val="bg1"/>
                    </a:solidFill>
                  </a:tcPr>
                </a:tc>
                <a:extLst>
                  <a:ext uri="{0D108BD9-81ED-4DB2-BD59-A6C34878D82A}">
                    <a16:rowId xmlns:a16="http://schemas.microsoft.com/office/drawing/2014/main" val="10006"/>
                  </a:ext>
                </a:extLst>
              </a:tr>
              <a:tr h="333261">
                <a:tc>
                  <a:txBody>
                    <a:bodyPr/>
                    <a:lstStyle/>
                    <a:p>
                      <a:pPr algn="ctr"/>
                      <a:r>
                        <a:rPr sz="1200">
                          <a:solidFill>
                            <a:sysClr val="windowText" lastClr="000000"/>
                          </a:solidFill>
                        </a:rPr>
                        <a:t>TAMA</a:t>
                      </a:r>
                    </a:p>
                  </a:txBody>
                  <a:tcPr anchor="ctr">
                    <a:solidFill>
                      <a:schemeClr val="bg1"/>
                    </a:solidFill>
                  </a:tcPr>
                </a:tc>
                <a:tc>
                  <a:txBody>
                    <a:bodyPr/>
                    <a:lstStyle/>
                    <a:p>
                      <a:pPr algn="ctr"/>
                      <a:r>
                        <a:rPr sz="1200">
                          <a:solidFill>
                            <a:sysClr val="windowText" lastClr="000000"/>
                          </a:solidFill>
                        </a:rPr>
                        <a:t>0.646</a:t>
                      </a:r>
                    </a:p>
                  </a:txBody>
                  <a:tcPr anchor="ctr">
                    <a:solidFill>
                      <a:schemeClr val="bg1"/>
                    </a:solidFill>
                  </a:tcPr>
                </a:tc>
                <a:tc>
                  <a:txBody>
                    <a:bodyPr/>
                    <a:lstStyle/>
                    <a:p>
                      <a:pPr algn="ctr"/>
                      <a:r>
                        <a:rPr sz="1200">
                          <a:solidFill>
                            <a:sysClr val="windowText" lastClr="000000"/>
                          </a:solidFill>
                        </a:rPr>
                        <a:t>0.650</a:t>
                      </a:r>
                    </a:p>
                  </a:txBody>
                  <a:tcPr anchor="ctr">
                    <a:solidFill>
                      <a:schemeClr val="bg1"/>
                    </a:solidFill>
                  </a:tcPr>
                </a:tc>
                <a:tc>
                  <a:txBody>
                    <a:bodyPr/>
                    <a:lstStyle/>
                    <a:p>
                      <a:pPr algn="ctr"/>
                      <a:r>
                        <a:rPr sz="1200">
                          <a:solidFill>
                            <a:sysClr val="windowText" lastClr="000000"/>
                          </a:solidFill>
                        </a:rPr>
                        <a:t>+0.004</a:t>
                      </a:r>
                    </a:p>
                  </a:txBody>
                  <a:tcPr anchor="ctr">
                    <a:solidFill>
                      <a:schemeClr val="bg1"/>
                    </a:solidFill>
                  </a:tcPr>
                </a:tc>
                <a:tc>
                  <a:txBody>
                    <a:bodyPr/>
                    <a:lstStyle/>
                    <a:p>
                      <a:pPr algn="ctr"/>
                      <a:r>
                        <a:rPr sz="1200">
                          <a:solidFill>
                            <a:sysClr val="windowText" lastClr="000000"/>
                          </a:solidFill>
                        </a:rPr>
                        <a:t>0.711</a:t>
                      </a:r>
                    </a:p>
                  </a:txBody>
                  <a:tcPr anchor="ctr">
                    <a:solidFill>
                      <a:schemeClr val="bg1"/>
                    </a:solidFill>
                  </a:tcPr>
                </a:tc>
                <a:tc>
                  <a:txBody>
                    <a:bodyPr/>
                    <a:lstStyle/>
                    <a:p>
                      <a:pPr algn="ctr"/>
                      <a:r>
                        <a:rPr sz="1200">
                          <a:solidFill>
                            <a:sysClr val="windowText" lastClr="000000"/>
                          </a:solidFill>
                        </a:rPr>
                        <a:t>0.677</a:t>
                      </a:r>
                    </a:p>
                  </a:txBody>
                  <a:tcPr anchor="ctr">
                    <a:solidFill>
                      <a:schemeClr val="bg1"/>
                    </a:solidFill>
                  </a:tcPr>
                </a:tc>
                <a:tc>
                  <a:txBody>
                    <a:bodyPr/>
                    <a:lstStyle/>
                    <a:p>
                      <a:pPr algn="ctr"/>
                      <a:r>
                        <a:rPr sz="1200" dirty="0">
                          <a:solidFill>
                            <a:sysClr val="windowText" lastClr="000000"/>
                          </a:solidFill>
                        </a:rPr>
                        <a:t>-0.034</a:t>
                      </a:r>
                    </a:p>
                  </a:txBody>
                  <a:tcPr anchor="ctr">
                    <a:solidFill>
                      <a:schemeClr val="bg1"/>
                    </a:solidFill>
                  </a:tcPr>
                </a:tc>
                <a:extLst>
                  <a:ext uri="{0D108BD9-81ED-4DB2-BD59-A6C34878D82A}">
                    <a16:rowId xmlns:a16="http://schemas.microsoft.com/office/drawing/2014/main" val="10007"/>
                  </a:ext>
                </a:extLst>
              </a:tr>
            </a:tbl>
          </a:graphicData>
        </a:graphic>
      </p:graphicFrame>
      <p:sp>
        <p:nvSpPr>
          <p:cNvPr id="4" name="슬라이드 번호 개체 틀 3">
            <a:extLst>
              <a:ext uri="{FF2B5EF4-FFF2-40B4-BE49-F238E27FC236}">
                <a16:creationId xmlns:a16="http://schemas.microsoft.com/office/drawing/2014/main" id="{4960EB7A-A5C7-2514-F993-35F20BE881E6}"/>
              </a:ext>
            </a:extLst>
          </p:cNvPr>
          <p:cNvSpPr>
            <a:spLocks noGrp="1"/>
          </p:cNvSpPr>
          <p:nvPr>
            <p:ph type="sldNum" sz="quarter" idx="12"/>
          </p:nvPr>
        </p:nvSpPr>
        <p:spPr/>
        <p:txBody>
          <a:bodyPr/>
          <a:lstStyle/>
          <a:p>
            <a:fld id="{9F4AF89A-28FA-47FA-B28F-9A9C6913CB7A}" type="slidenum">
              <a:rPr lang="ko-KR" altLang="en-US" smtClean="0"/>
              <a:pPr/>
              <a:t>7</a:t>
            </a:fld>
            <a:endParaRPr lang="ko-KR" altLang="en-US" dirty="0"/>
          </a:p>
        </p:txBody>
      </p:sp>
    </p:spTree>
    <p:extLst>
      <p:ext uri="{BB962C8B-B14F-4D97-AF65-F5344CB8AC3E}">
        <p14:creationId xmlns:p14="http://schemas.microsoft.com/office/powerpoint/2010/main" val="20540322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Output Feature × AEC 구간평균 — 상관 히트맵</a:t>
            </a:r>
          </a:p>
        </p:txBody>
      </p:sp>
      <p:sp>
        <p:nvSpPr>
          <p:cNvPr id="3" name="Content Placeholder 2"/>
          <p:cNvSpPr>
            <a:spLocks noGrp="1"/>
          </p:cNvSpPr>
          <p:nvPr>
            <p:ph idx="1"/>
          </p:nvPr>
        </p:nvSpPr>
        <p:spPr/>
        <p:txBody>
          <a:bodyPr/>
          <a:lstStyle/>
          <a:p>
            <a:r>
              <a:rPr b="1" dirty="0"/>
              <a:t>AEC-128 → 2/4/8구간 평균 × 체성분 7종 Pearson r</a:t>
            </a:r>
          </a:p>
          <a:p>
            <a:pPr lvl="1"/>
            <a:r>
              <a:rPr dirty="0"/>
              <a:t>전 구간 양(+)의 상관, 중후반부(50~75%) 집중 — VAT 최대(r=0.60~0.63)</a:t>
            </a:r>
          </a:p>
          <a:p>
            <a:pPr lvl="1"/>
            <a:r>
              <a:rPr dirty="0" err="1"/>
              <a:t>n_seg</a:t>
            </a:r>
            <a:r>
              <a:rPr dirty="0"/>
              <a:t>=2: </a:t>
            </a:r>
            <a:r>
              <a:rPr lang="ko-KR" altLang="en-US" dirty="0"/>
              <a:t>대부분이 뒷부분에 </a:t>
            </a:r>
            <a:r>
              <a:rPr dirty="0" err="1"/>
              <a:t>강함</a:t>
            </a:r>
            <a:r>
              <a:rPr dirty="0"/>
              <a:t>(SAT </a:t>
            </a:r>
            <a:r>
              <a:rPr dirty="0" err="1"/>
              <a:t>예외</a:t>
            </a:r>
            <a:r>
              <a:rPr dirty="0"/>
              <a:t>), </a:t>
            </a:r>
            <a:r>
              <a:rPr dirty="0" err="1"/>
              <a:t>조인트모델</a:t>
            </a:r>
            <a:r>
              <a:rPr dirty="0"/>
              <a:t> </a:t>
            </a:r>
            <a:r>
              <a:rPr dirty="0" err="1"/>
              <a:t>부호반전</a:t>
            </a:r>
            <a:r>
              <a:rPr dirty="0"/>
              <a:t>=</a:t>
            </a:r>
            <a:r>
              <a:rPr dirty="0" err="1"/>
              <a:t>다중공선성</a:t>
            </a:r>
            <a:endParaRPr dirty="0"/>
          </a:p>
          <a:p>
            <a:pPr lvl="1"/>
            <a:r>
              <a:rPr dirty="0"/>
              <a:t>NAMA: 전 해상도 |r|&lt;0.25 (약함), R² 개선 최대 +0.02</a:t>
            </a:r>
          </a:p>
        </p:txBody>
      </p:sp>
      <p:pic>
        <p:nvPicPr>
          <p:cNvPr id="7" name="그림 6">
            <a:extLst>
              <a:ext uri="{FF2B5EF4-FFF2-40B4-BE49-F238E27FC236}">
                <a16:creationId xmlns:a16="http://schemas.microsoft.com/office/drawing/2014/main" id="{C23FADCE-4F03-0238-ED70-1F5E11B3688B}"/>
              </a:ext>
            </a:extLst>
          </p:cNvPr>
          <p:cNvPicPr>
            <a:picLocks noChangeAspect="1"/>
          </p:cNvPicPr>
          <p:nvPr/>
        </p:nvPicPr>
        <p:blipFill>
          <a:blip r:embed="rId3"/>
          <a:srcRect t="22500" r="10354" b="44584"/>
          <a:stretch>
            <a:fillRect/>
          </a:stretch>
        </p:blipFill>
        <p:spPr>
          <a:xfrm>
            <a:off x="3101170" y="3028950"/>
            <a:ext cx="5989660" cy="3357213"/>
          </a:xfrm>
          <a:prstGeom prst="rect">
            <a:avLst/>
          </a:prstGeom>
        </p:spPr>
      </p:pic>
      <p:sp>
        <p:nvSpPr>
          <p:cNvPr id="4" name="슬라이드 번호 개체 틀 3">
            <a:extLst>
              <a:ext uri="{FF2B5EF4-FFF2-40B4-BE49-F238E27FC236}">
                <a16:creationId xmlns:a16="http://schemas.microsoft.com/office/drawing/2014/main" id="{97B0B2B9-1260-BF7B-9273-EE06DE000DDC}"/>
              </a:ext>
            </a:extLst>
          </p:cNvPr>
          <p:cNvSpPr>
            <a:spLocks noGrp="1"/>
          </p:cNvSpPr>
          <p:nvPr>
            <p:ph type="sldNum" sz="quarter" idx="12"/>
          </p:nvPr>
        </p:nvSpPr>
        <p:spPr/>
        <p:txBody>
          <a:bodyPr/>
          <a:lstStyle/>
          <a:p>
            <a:fld id="{9F4AF89A-28FA-47FA-B28F-9A9C6913CB7A}" type="slidenum">
              <a:rPr lang="ko-KR" altLang="en-US" smtClean="0"/>
              <a:pPr/>
              <a:t>8</a:t>
            </a:fld>
            <a:endParaRPr lang="ko-KR" altLang="en-US" dirty="0"/>
          </a:p>
        </p:txBody>
      </p:sp>
    </p:spTree>
    <p:extLst>
      <p:ext uri="{BB962C8B-B14F-4D97-AF65-F5344CB8AC3E}">
        <p14:creationId xmlns:p14="http://schemas.microsoft.com/office/powerpoint/2010/main" val="37182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그림 8">
            <a:extLst>
              <a:ext uri="{FF2B5EF4-FFF2-40B4-BE49-F238E27FC236}">
                <a16:creationId xmlns:a16="http://schemas.microsoft.com/office/drawing/2014/main" id="{6B078EBB-D00B-3910-04B5-5FE6D0120933}"/>
              </a:ext>
            </a:extLst>
          </p:cNvPr>
          <p:cNvPicPr>
            <a:picLocks noChangeAspect="1"/>
          </p:cNvPicPr>
          <p:nvPr/>
        </p:nvPicPr>
        <p:blipFill>
          <a:blip r:embed="rId3"/>
          <a:stretch>
            <a:fillRect/>
          </a:stretch>
        </p:blipFill>
        <p:spPr>
          <a:xfrm>
            <a:off x="2114550" y="2842646"/>
            <a:ext cx="7962900" cy="3550181"/>
          </a:xfrm>
          <a:prstGeom prst="rect">
            <a:avLst/>
          </a:prstGeom>
        </p:spPr>
      </p:pic>
      <p:sp>
        <p:nvSpPr>
          <p:cNvPr id="2" name="Title 1"/>
          <p:cNvSpPr>
            <a:spLocks noGrp="1"/>
          </p:cNvSpPr>
          <p:nvPr>
            <p:ph type="title"/>
          </p:nvPr>
        </p:nvSpPr>
        <p:spPr/>
        <p:txBody>
          <a:bodyPr/>
          <a:lstStyle/>
          <a:p>
            <a:r>
              <a:t>AEC 구간 수(Segment Count) Sweep — Regression</a:t>
            </a:r>
          </a:p>
        </p:txBody>
      </p:sp>
      <p:sp>
        <p:nvSpPr>
          <p:cNvPr id="3" name="Content Placeholder 2"/>
          <p:cNvSpPr>
            <a:spLocks noGrp="1"/>
          </p:cNvSpPr>
          <p:nvPr>
            <p:ph idx="1"/>
          </p:nvPr>
        </p:nvSpPr>
        <p:spPr/>
        <p:txBody>
          <a:bodyPr/>
          <a:lstStyle/>
          <a:p>
            <a:r>
              <a:rPr dirty="0"/>
              <a:t>clinic4 + AEC-128 구간평균(1~128) sweep, 선형회귀 R²</a:t>
            </a:r>
          </a:p>
          <a:p>
            <a:pPr lvl="1"/>
            <a:r>
              <a:rPr dirty="0" err="1"/>
              <a:t>지방계열(IMATA·VAT·SAT·TotalFat): segment≈8 부근 baseline 상회</a:t>
            </a:r>
            <a:endParaRPr dirty="0"/>
          </a:p>
          <a:p>
            <a:pPr lvl="1"/>
            <a:r>
              <a:rPr dirty="0" err="1"/>
              <a:t>근육계열(NAMA·TAMA): 전 segment external baseline 하회 / LAMA: baseline≈0 → 일부 구간 근소 상회</a:t>
            </a:r>
            <a:endParaRPr dirty="0"/>
          </a:p>
        </p:txBody>
      </p:sp>
      <p:sp>
        <p:nvSpPr>
          <p:cNvPr id="4" name="슬라이드 번호 개체 틀 3">
            <a:extLst>
              <a:ext uri="{FF2B5EF4-FFF2-40B4-BE49-F238E27FC236}">
                <a16:creationId xmlns:a16="http://schemas.microsoft.com/office/drawing/2014/main" id="{D1532713-35E1-789B-009B-FA76F0C80685}"/>
              </a:ext>
            </a:extLst>
          </p:cNvPr>
          <p:cNvSpPr>
            <a:spLocks noGrp="1"/>
          </p:cNvSpPr>
          <p:nvPr>
            <p:ph type="sldNum" sz="quarter" idx="12"/>
          </p:nvPr>
        </p:nvSpPr>
        <p:spPr/>
        <p:txBody>
          <a:bodyPr/>
          <a:lstStyle/>
          <a:p>
            <a:fld id="{9F4AF89A-28FA-47FA-B28F-9A9C6913CB7A}" type="slidenum">
              <a:rPr lang="ko-KR" altLang="en-US" smtClean="0"/>
              <a:pPr/>
              <a:t>9</a:t>
            </a:fld>
            <a:endParaRPr lang="ko-KR"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AEC 앞/뒤 50% 단독 사용 — Internal vs External</a:t>
            </a:r>
          </a:p>
        </p:txBody>
      </p:sp>
      <p:sp>
        <p:nvSpPr>
          <p:cNvPr id="3" name="Content Placeholder 2"/>
          <p:cNvSpPr>
            <a:spLocks noGrp="1"/>
          </p:cNvSpPr>
          <p:nvPr>
            <p:ph idx="1"/>
          </p:nvPr>
        </p:nvSpPr>
        <p:spPr/>
        <p:txBody>
          <a:bodyPr/>
          <a:lstStyle/>
          <a:p>
            <a:r>
              <a:rPr dirty="0"/>
              <a:t>clinic4 + AEC 앞50%/뒤50% 분할 비교</a:t>
            </a:r>
          </a:p>
          <a:p>
            <a:pPr lvl="1"/>
            <a:r>
              <a:rPr dirty="0"/>
              <a:t>7종 전부 external 악화 — 지방계열 포함(VAT -0.063, TotalFat -0.046, SAT -0.021)</a:t>
            </a:r>
          </a:p>
          <a:p>
            <a:pPr lvl="1"/>
            <a:r>
              <a:rPr dirty="0" err="1"/>
              <a:t>근육계열 악화 폭 더 큼(NAMA -0.181, LAMA -0.218)</a:t>
            </a:r>
          </a:p>
          <a:p>
            <a:pPr lvl="1"/>
            <a:r>
              <a:rPr dirty="0"/>
              <a:t>예외: mean2(앞+뒤 결합, Step1) → VAT만 개선(0.418→0.493)</a:t>
            </a:r>
          </a:p>
        </p:txBody>
      </p:sp>
      <p:pic>
        <p:nvPicPr>
          <p:cNvPr id="6" name="그림 5">
            <a:extLst>
              <a:ext uri="{FF2B5EF4-FFF2-40B4-BE49-F238E27FC236}">
                <a16:creationId xmlns:a16="http://schemas.microsoft.com/office/drawing/2014/main" id="{9F20ED32-646F-6D5F-0150-33A68146BBD6}"/>
              </a:ext>
            </a:extLst>
          </p:cNvPr>
          <p:cNvPicPr>
            <a:picLocks noChangeAspect="1"/>
          </p:cNvPicPr>
          <p:nvPr/>
        </p:nvPicPr>
        <p:blipFill>
          <a:blip r:embed="rId3"/>
          <a:stretch>
            <a:fillRect/>
          </a:stretch>
        </p:blipFill>
        <p:spPr>
          <a:xfrm>
            <a:off x="2281778" y="3429000"/>
            <a:ext cx="7628443" cy="2971800"/>
          </a:xfrm>
          <a:prstGeom prst="rect">
            <a:avLst/>
          </a:prstGeom>
        </p:spPr>
      </p:pic>
      <p:sp>
        <p:nvSpPr>
          <p:cNvPr id="4" name="슬라이드 번호 개체 틀 3">
            <a:extLst>
              <a:ext uri="{FF2B5EF4-FFF2-40B4-BE49-F238E27FC236}">
                <a16:creationId xmlns:a16="http://schemas.microsoft.com/office/drawing/2014/main" id="{6A3E339B-C443-7A79-90FA-A2AE49D763A4}"/>
              </a:ext>
            </a:extLst>
          </p:cNvPr>
          <p:cNvSpPr>
            <a:spLocks noGrp="1"/>
          </p:cNvSpPr>
          <p:nvPr>
            <p:ph type="sldNum" sz="quarter" idx="12"/>
          </p:nvPr>
        </p:nvSpPr>
        <p:spPr/>
        <p:txBody>
          <a:bodyPr/>
          <a:lstStyle/>
          <a:p>
            <a:fld id="{9F4AF89A-28FA-47FA-B28F-9A9C6913CB7A}" type="slidenum">
              <a:rPr lang="ko-KR" altLang="en-US" smtClean="0"/>
              <a:pPr/>
              <a:t>10</a:t>
            </a:fld>
            <a:endParaRPr lang="ko-KR" alt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1DA6EF-2446-2C8B-EF3E-ECDAA4C944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D9734-298A-5D7D-31B2-58FE2A5980FB}"/>
              </a:ext>
            </a:extLst>
          </p:cNvPr>
          <p:cNvSpPr>
            <a:spLocks noGrp="1"/>
          </p:cNvSpPr>
          <p:nvPr>
            <p:ph type="title"/>
          </p:nvPr>
        </p:nvSpPr>
        <p:spPr/>
        <p:txBody>
          <a:bodyPr>
            <a:normAutofit/>
          </a:bodyPr>
          <a:lstStyle/>
          <a:p>
            <a:r>
              <a:rPr dirty="0"/>
              <a:t>Step 2: 구간 선택(Top-k) — 방법</a:t>
            </a:r>
          </a:p>
        </p:txBody>
      </p:sp>
      <p:sp>
        <p:nvSpPr>
          <p:cNvPr id="5" name="내용 개체 틀 4">
            <a:extLst>
              <a:ext uri="{FF2B5EF4-FFF2-40B4-BE49-F238E27FC236}">
                <a16:creationId xmlns:a16="http://schemas.microsoft.com/office/drawing/2014/main" id="{0D4CDF61-4424-B9D0-0E55-02FE11E38021}"/>
              </a:ext>
            </a:extLst>
          </p:cNvPr>
          <p:cNvSpPr>
            <a:spLocks noGrp="1"/>
          </p:cNvSpPr>
          <p:nvPr>
            <p:ph idx="1"/>
          </p:nvPr>
        </p:nvSpPr>
        <p:spPr/>
        <p:txBody>
          <a:bodyPr/>
          <a:lstStyle/>
          <a:p>
            <a:r>
              <a:t>AEC-128 → 8구간 균등분할 → SelectKBest(f_regression) 상위 k개(k=1~8), k=8=전체(참조선)</a:t>
            </a:r>
            <a:endParaRPr lang="en-US" dirty="0"/>
          </a:p>
          <a:p>
            <a:pPr lvl="1"/>
            <a:r>
              <a:t>clinic4 항상 포함, feature별 독립 선택(예: k=1 VAT·LAMA→seg6, NAMA·TAMA→seg7)</a:t>
            </a:r>
          </a:p>
          <a:p>
            <a:pPr lvl="1"/>
            <a:r>
              <a:t>Internal: fold별 재선택(leakage 방지) / External: internal 고정모델 그대로 적용</a:t>
            </a:r>
          </a:p>
        </p:txBody>
      </p:sp>
      <p:pic>
        <p:nvPicPr>
          <p:cNvPr id="8" name="그림 7">
            <a:extLst>
              <a:ext uri="{FF2B5EF4-FFF2-40B4-BE49-F238E27FC236}">
                <a16:creationId xmlns:a16="http://schemas.microsoft.com/office/drawing/2014/main" id="{88431192-286D-0804-471B-6E468F54C6C2}"/>
              </a:ext>
            </a:extLst>
          </p:cNvPr>
          <p:cNvPicPr>
            <a:picLocks noChangeAspect="1"/>
          </p:cNvPicPr>
          <p:nvPr/>
        </p:nvPicPr>
        <p:blipFill>
          <a:blip r:embed="rId3"/>
          <a:stretch>
            <a:fillRect/>
          </a:stretch>
        </p:blipFill>
        <p:spPr>
          <a:xfrm>
            <a:off x="2233612" y="2961435"/>
            <a:ext cx="7724775" cy="3443055"/>
          </a:xfrm>
          <a:prstGeom prst="rect">
            <a:avLst/>
          </a:prstGeom>
        </p:spPr>
      </p:pic>
      <p:sp>
        <p:nvSpPr>
          <p:cNvPr id="4" name="슬라이드 번호 개체 틀 3">
            <a:extLst>
              <a:ext uri="{FF2B5EF4-FFF2-40B4-BE49-F238E27FC236}">
                <a16:creationId xmlns:a16="http://schemas.microsoft.com/office/drawing/2014/main" id="{E3DEB4B9-D9D3-D791-D3CA-EFBC343CB621}"/>
              </a:ext>
            </a:extLst>
          </p:cNvPr>
          <p:cNvSpPr>
            <a:spLocks noGrp="1"/>
          </p:cNvSpPr>
          <p:nvPr>
            <p:ph type="sldNum" sz="quarter" idx="12"/>
          </p:nvPr>
        </p:nvSpPr>
        <p:spPr/>
        <p:txBody>
          <a:bodyPr/>
          <a:lstStyle/>
          <a:p>
            <a:fld id="{9F4AF89A-28FA-47FA-B28F-9A9C6913CB7A}" type="slidenum">
              <a:rPr lang="ko-KR" altLang="en-US" smtClean="0"/>
              <a:pPr/>
              <a:t>11</a:t>
            </a:fld>
            <a:endParaRPr lang="ko-KR" altLang="en-US" dirty="0"/>
          </a:p>
        </p:txBody>
      </p:sp>
    </p:spTree>
    <p:extLst>
      <p:ext uri="{BB962C8B-B14F-4D97-AF65-F5344CB8AC3E}">
        <p14:creationId xmlns:p14="http://schemas.microsoft.com/office/powerpoint/2010/main" val="1987407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AEC 구간 선택(Top-k) — Segment Selection Regression</a:t>
            </a:r>
          </a:p>
        </p:txBody>
      </p:sp>
      <p:sp>
        <p:nvSpPr>
          <p:cNvPr id="3" name="Content Placeholder 2"/>
          <p:cNvSpPr>
            <a:spLocks noGrp="1"/>
          </p:cNvSpPr>
          <p:nvPr>
            <p:ph idx="1"/>
          </p:nvPr>
        </p:nvSpPr>
        <p:spPr/>
        <p:txBody>
          <a:bodyPr/>
          <a:lstStyle/>
          <a:p>
            <a:r>
              <a:rPr dirty="0"/>
              <a:t>clinic4 + AEC top-k(k=1~8) vs 전체, internal OOF R²</a:t>
            </a:r>
          </a:p>
          <a:p>
            <a:pPr lvl="1"/>
            <a:r>
              <a:rPr dirty="0"/>
              <a:t>k=1부터 대부분 개선(VAT 0.523→0.557, TotalFat 0.502→0.542)</a:t>
            </a:r>
          </a:p>
          <a:p>
            <a:pPr lvl="1"/>
            <a:r>
              <a:rPr dirty="0" err="1"/>
              <a:t>지방계열(VAT·TotalFat·LAMA): k↑ 꾸준 개선, top8 최적(VAT 0.619, LAMA 0.467)</a:t>
            </a:r>
          </a:p>
          <a:p>
            <a:pPr lvl="1"/>
            <a:r>
              <a:rPr dirty="0"/>
              <a:t>근육계열(NAMA·TAMA): 개선 미미~보합(NAMA k=3 최고 0.623, TAMA 전구간 baseline과 거의 동률)</a:t>
            </a:r>
          </a:p>
        </p:txBody>
      </p:sp>
      <p:pic>
        <p:nvPicPr>
          <p:cNvPr id="6" name="Picture 5" descr="clinic4_aec_segment_select_k_trend.png"/>
          <p:cNvPicPr>
            <a:picLocks noChangeAspect="1"/>
          </p:cNvPicPr>
          <p:nvPr/>
        </p:nvPicPr>
        <p:blipFill>
          <a:blip r:embed="rId3"/>
          <a:stretch>
            <a:fillRect/>
          </a:stretch>
        </p:blipFill>
        <p:spPr>
          <a:xfrm>
            <a:off x="2283048" y="3028583"/>
            <a:ext cx="7625904" cy="3398986"/>
          </a:xfrm>
          <a:prstGeom prst="rect">
            <a:avLst/>
          </a:prstGeom>
        </p:spPr>
      </p:pic>
      <p:sp>
        <p:nvSpPr>
          <p:cNvPr id="4" name="슬라이드 번호 개체 틀 3">
            <a:extLst>
              <a:ext uri="{FF2B5EF4-FFF2-40B4-BE49-F238E27FC236}">
                <a16:creationId xmlns:a16="http://schemas.microsoft.com/office/drawing/2014/main" id="{37D11F39-C4A5-D379-6F6F-1B4948B946B0}"/>
              </a:ext>
            </a:extLst>
          </p:cNvPr>
          <p:cNvSpPr>
            <a:spLocks noGrp="1"/>
          </p:cNvSpPr>
          <p:nvPr>
            <p:ph type="sldNum" sz="quarter" idx="12"/>
          </p:nvPr>
        </p:nvSpPr>
        <p:spPr/>
        <p:txBody>
          <a:bodyPr/>
          <a:lstStyle/>
          <a:p>
            <a:fld id="{9F4AF89A-28FA-47FA-B28F-9A9C6913CB7A}" type="slidenum">
              <a:rPr lang="ko-KR" altLang="en-US" smtClean="0"/>
              <a:pPr/>
              <a:t>12</a:t>
            </a:fld>
            <a:endParaRPr lang="ko-KR"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F507D-AD63-2EFD-2CA8-89D1AE7B06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A4240-6A43-AE7E-9C42-C39326CF3998}"/>
              </a:ext>
            </a:extLst>
          </p:cNvPr>
          <p:cNvSpPr>
            <a:spLocks noGrp="1"/>
          </p:cNvSpPr>
          <p:nvPr>
            <p:ph type="title"/>
          </p:nvPr>
        </p:nvSpPr>
        <p:spPr/>
        <p:txBody>
          <a:bodyPr>
            <a:normAutofit/>
          </a:bodyPr>
          <a:lstStyle/>
          <a:p>
            <a:r>
              <a:rPr lang="en-US" altLang="ko-KR" dirty="0"/>
              <a:t>Step 3: + SD, Skewness, Upper/Lower 50% </a:t>
            </a:r>
            <a:r>
              <a:rPr lang="ko-KR" altLang="en-US" dirty="0"/>
              <a:t>비율 등</a:t>
            </a:r>
            <a:endParaRPr lang="en-US" altLang="ko-KR" dirty="0"/>
          </a:p>
        </p:txBody>
      </p:sp>
      <p:sp>
        <p:nvSpPr>
          <p:cNvPr id="5" name="내용 개체 틀 4">
            <a:extLst>
              <a:ext uri="{FF2B5EF4-FFF2-40B4-BE49-F238E27FC236}">
                <a16:creationId xmlns:a16="http://schemas.microsoft.com/office/drawing/2014/main" id="{C7CF2811-8BBE-BE96-6733-75A1775FF221}"/>
              </a:ext>
            </a:extLst>
          </p:cNvPr>
          <p:cNvSpPr>
            <a:spLocks noGrp="1"/>
          </p:cNvSpPr>
          <p:nvPr>
            <p:ph idx="1"/>
          </p:nvPr>
        </p:nvSpPr>
        <p:spPr/>
        <p:txBody>
          <a:bodyPr/>
          <a:lstStyle/>
          <a:p>
            <a:r>
              <a:rPr dirty="0"/>
              <a:t>clinic4 + AEC shape feature(SD·Skewness·상하위50%비율)</a:t>
            </a:r>
          </a:p>
          <a:p>
            <a:pPr lvl="1"/>
            <a:r>
              <a:rPr dirty="0"/>
              <a:t>VAT +0.067·Total Fat +0.028 유의개선</a:t>
            </a:r>
          </a:p>
          <a:p>
            <a:pPr lvl="1"/>
            <a:r>
              <a:rPr dirty="0"/>
              <a:t>NAMA -0.117·TAMA -0.039 유의악화</a:t>
            </a:r>
          </a:p>
          <a:p>
            <a:pPr lvl="1"/>
            <a:r>
              <a:rPr dirty="0" err="1"/>
              <a:t>IMATA·SAT: CI 0포함 → n.s.</a:t>
            </a:r>
          </a:p>
        </p:txBody>
      </p:sp>
      <p:pic>
        <p:nvPicPr>
          <p:cNvPr id="7" name="그림 6">
            <a:extLst>
              <a:ext uri="{FF2B5EF4-FFF2-40B4-BE49-F238E27FC236}">
                <a16:creationId xmlns:a16="http://schemas.microsoft.com/office/drawing/2014/main" id="{8215DE44-42F2-3D6A-8F59-A476056EBE53}"/>
              </a:ext>
            </a:extLst>
          </p:cNvPr>
          <p:cNvPicPr>
            <a:picLocks noChangeAspect="1"/>
          </p:cNvPicPr>
          <p:nvPr/>
        </p:nvPicPr>
        <p:blipFill>
          <a:blip r:embed="rId3"/>
          <a:stretch>
            <a:fillRect/>
          </a:stretch>
        </p:blipFill>
        <p:spPr>
          <a:xfrm>
            <a:off x="1482852" y="3031661"/>
            <a:ext cx="9226296" cy="3354172"/>
          </a:xfrm>
          <a:prstGeom prst="rect">
            <a:avLst/>
          </a:prstGeom>
        </p:spPr>
      </p:pic>
      <p:sp>
        <p:nvSpPr>
          <p:cNvPr id="4" name="슬라이드 번호 개체 틀 3">
            <a:extLst>
              <a:ext uri="{FF2B5EF4-FFF2-40B4-BE49-F238E27FC236}">
                <a16:creationId xmlns:a16="http://schemas.microsoft.com/office/drawing/2014/main" id="{A2EFD9E8-7DD0-592E-3859-A844DA66AE7C}"/>
              </a:ext>
            </a:extLst>
          </p:cNvPr>
          <p:cNvSpPr>
            <a:spLocks noGrp="1"/>
          </p:cNvSpPr>
          <p:nvPr>
            <p:ph type="sldNum" sz="quarter" idx="12"/>
          </p:nvPr>
        </p:nvSpPr>
        <p:spPr/>
        <p:txBody>
          <a:bodyPr/>
          <a:lstStyle/>
          <a:p>
            <a:fld id="{9F4AF89A-28FA-47FA-B28F-9A9C6913CB7A}" type="slidenum">
              <a:rPr lang="ko-KR" altLang="en-US" smtClean="0"/>
              <a:pPr/>
              <a:t>13</a:t>
            </a:fld>
            <a:endParaRPr lang="ko-KR" altLang="en-US" dirty="0"/>
          </a:p>
        </p:txBody>
      </p:sp>
    </p:spTree>
    <p:extLst>
      <p:ext uri="{BB962C8B-B14F-4D97-AF65-F5344CB8AC3E}">
        <p14:creationId xmlns:p14="http://schemas.microsoft.com/office/powerpoint/2010/main" val="5928063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F6C11-5253-DAC5-9FF3-BA62EBC371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EA313D-96AE-6D47-983D-F1B1DEF3C0CE}"/>
              </a:ext>
            </a:extLst>
          </p:cNvPr>
          <p:cNvSpPr>
            <a:spLocks noGrp="1"/>
          </p:cNvSpPr>
          <p:nvPr>
            <p:ph type="title"/>
          </p:nvPr>
        </p:nvSpPr>
        <p:spPr/>
        <p:txBody>
          <a:bodyPr>
            <a:normAutofit/>
          </a:bodyPr>
          <a:lstStyle/>
          <a:p>
            <a:r>
              <a:rPr lang="ko-KR" altLang="en-US" dirty="0"/>
              <a:t>최종 목표</a:t>
            </a:r>
            <a:r>
              <a:rPr lang="en-US" altLang="ko-KR" dirty="0"/>
              <a:t>: </a:t>
            </a:r>
            <a:r>
              <a:rPr lang="ko-KR" altLang="en-US" dirty="0"/>
              <a:t>위 </a:t>
            </a:r>
            <a:r>
              <a:rPr lang="en-US" altLang="ko-KR" dirty="0"/>
              <a:t>Feature </a:t>
            </a:r>
            <a:r>
              <a:rPr lang="ko-KR" altLang="en-US" dirty="0"/>
              <a:t>기반 </a:t>
            </a:r>
            <a:r>
              <a:rPr lang="en-US" altLang="ko-KR" dirty="0"/>
              <a:t>Cutoff </a:t>
            </a:r>
            <a:r>
              <a:rPr lang="ko-KR" altLang="en-US" dirty="0"/>
              <a:t>→ </a:t>
            </a:r>
            <a:r>
              <a:rPr lang="en-US" altLang="ko-KR" dirty="0"/>
              <a:t>Binary </a:t>
            </a:r>
            <a:r>
              <a:rPr lang="ko-KR" altLang="en-US" dirty="0"/>
              <a:t>변환</a:t>
            </a:r>
            <a:endParaRPr lang="en-US" altLang="ko-KR" dirty="0"/>
          </a:p>
        </p:txBody>
      </p:sp>
      <p:sp>
        <p:nvSpPr>
          <p:cNvPr id="5" name="내용 개체 틀 4">
            <a:extLst>
              <a:ext uri="{FF2B5EF4-FFF2-40B4-BE49-F238E27FC236}">
                <a16:creationId xmlns:a16="http://schemas.microsoft.com/office/drawing/2014/main" id="{DADAB6F7-4A0B-BE4C-2256-D6AFD772F1B1}"/>
              </a:ext>
            </a:extLst>
          </p:cNvPr>
          <p:cNvSpPr>
            <a:spLocks noGrp="1"/>
          </p:cNvSpPr>
          <p:nvPr>
            <p:ph idx="1"/>
          </p:nvPr>
        </p:nvSpPr>
        <p:spPr/>
        <p:txBody>
          <a:bodyPr/>
          <a:lstStyle/>
          <a:p>
            <a:r>
              <a:t>연속형 feature → cutoff → 이진분류(AUC/Se/Sp) → external 검증</a:t>
            </a:r>
            <a:endParaRPr lang="ko-KR" altLang="en-US" dirty="0"/>
          </a:p>
          <a:p>
            <a:pPr lvl="1"/>
            <a:r>
              <a:t>FEATURES=volumetric 합산값, 문헌 L3 대비 최대 130배 스케일差 → 직접 적용 불가</a:t>
            </a:r>
          </a:p>
          <a:p>
            <a:pPr lvl="1"/>
            <a:r>
              <a:t>1차 시도(전체 코호트 mean±2SD): TAMA·NAMA 양성 인원 과소(4~17명) — 보류</a:t>
            </a:r>
          </a:p>
          <a:p>
            <a:pPr lvl="1"/>
            <a:r>
              <a:t>Step4: 전체 코호트 성별 mean±1SD 재산정 → Logistic Regression 완료</a:t>
            </a:r>
          </a:p>
          <a:p>
            <a:pPr lvl="1"/>
            <a:r>
              <a:t>결과: 슬라이드 16~17, clinic4 vs +AEC DeLong paired test</a:t>
            </a:r>
          </a:p>
        </p:txBody>
      </p:sp>
      <p:sp>
        <p:nvSpPr>
          <p:cNvPr id="4" name="슬라이드 번호 개체 틀 3">
            <a:extLst>
              <a:ext uri="{FF2B5EF4-FFF2-40B4-BE49-F238E27FC236}">
                <a16:creationId xmlns:a16="http://schemas.microsoft.com/office/drawing/2014/main" id="{3E9D1ACE-BD2E-1C42-A509-361533634D81}"/>
              </a:ext>
            </a:extLst>
          </p:cNvPr>
          <p:cNvSpPr>
            <a:spLocks noGrp="1"/>
          </p:cNvSpPr>
          <p:nvPr>
            <p:ph type="sldNum" sz="quarter" idx="12"/>
          </p:nvPr>
        </p:nvSpPr>
        <p:spPr/>
        <p:txBody>
          <a:bodyPr/>
          <a:lstStyle/>
          <a:p>
            <a:fld id="{9F4AF89A-28FA-47FA-B28F-9A9C6913CB7A}" type="slidenum">
              <a:rPr lang="ko-KR" altLang="en-US" smtClean="0"/>
              <a:pPr/>
              <a:t>14</a:t>
            </a:fld>
            <a:endParaRPr lang="ko-KR" altLang="en-US" dirty="0"/>
          </a:p>
        </p:txBody>
      </p:sp>
    </p:spTree>
    <p:extLst>
      <p:ext uri="{BB962C8B-B14F-4D97-AF65-F5344CB8AC3E}">
        <p14:creationId xmlns:p14="http://schemas.microsoft.com/office/powerpoint/2010/main" val="24617888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Reference Cutoff 직접 산출 (Internal, 전체 코호트 mean±2SD) (1차 시도)</a:t>
            </a:r>
          </a:p>
        </p:txBody>
      </p:sp>
      <p:sp>
        <p:nvSpPr>
          <p:cNvPr id="3" name="Content Placeholder 2"/>
          <p:cNvSpPr>
            <a:spLocks noGrp="1"/>
          </p:cNvSpPr>
          <p:nvPr>
            <p:ph idx="1"/>
          </p:nvPr>
        </p:nvSpPr>
        <p:spPr/>
        <p:txBody>
          <a:bodyPr/>
          <a:lstStyle/>
          <a:p>
            <a:r>
              <a:rPr b="1" dirty="0" err="1"/>
              <a:t>전체</a:t>
            </a:r>
            <a:r>
              <a:rPr b="1" dirty="0"/>
              <a:t> </a:t>
            </a:r>
            <a:r>
              <a:rPr b="1" dirty="0" err="1"/>
              <a:t>임상</a:t>
            </a:r>
            <a:r>
              <a:rPr b="1" dirty="0"/>
              <a:t> </a:t>
            </a:r>
            <a:r>
              <a:rPr b="1" dirty="0" err="1"/>
              <a:t>코호트</a:t>
            </a:r>
            <a:r>
              <a:rPr b="1" dirty="0"/>
              <a:t>(남</a:t>
            </a:r>
            <a:r>
              <a:rPr lang="en-US" b="1" dirty="0"/>
              <a:t> </a:t>
            </a:r>
            <a:r>
              <a:rPr b="1" dirty="0"/>
              <a:t>390 / 여</a:t>
            </a:r>
            <a:r>
              <a:rPr lang="en-US" b="1" dirty="0"/>
              <a:t> </a:t>
            </a:r>
            <a:r>
              <a:rPr b="1" dirty="0"/>
              <a:t>700) </a:t>
            </a:r>
            <a:r>
              <a:rPr b="1" dirty="0" err="1"/>
              <a:t>대상</a:t>
            </a:r>
            <a:endParaRPr b="1" dirty="0"/>
          </a:p>
          <a:p>
            <a:pPr lvl="1"/>
            <a:r>
              <a:rPr dirty="0" err="1"/>
              <a:t>성별</a:t>
            </a:r>
            <a:r>
              <a:rPr dirty="0"/>
              <a:t> mean±2SD cutoff </a:t>
            </a:r>
            <a:r>
              <a:rPr dirty="0" err="1"/>
              <a:t>산출</a:t>
            </a:r>
            <a:r>
              <a:rPr dirty="0"/>
              <a:t>(Derstine/Yoon/Kim </a:t>
            </a:r>
            <a:r>
              <a:rPr dirty="0" err="1"/>
              <a:t>방법론</a:t>
            </a:r>
            <a:r>
              <a:rPr dirty="0"/>
              <a:t>)</a:t>
            </a:r>
          </a:p>
          <a:p>
            <a:pPr lvl="1"/>
            <a:r>
              <a:rPr dirty="0"/>
              <a:t>TAMA·NAMA(</a:t>
            </a:r>
            <a:r>
              <a:rPr dirty="0" err="1"/>
              <a:t>낮으면</a:t>
            </a:r>
            <a:r>
              <a:rPr dirty="0"/>
              <a:t> </a:t>
            </a:r>
            <a:r>
              <a:rPr dirty="0" err="1"/>
              <a:t>이상</a:t>
            </a:r>
            <a:r>
              <a:rPr dirty="0"/>
              <a:t>) </a:t>
            </a:r>
            <a:r>
              <a:rPr dirty="0" err="1"/>
              <a:t>양성</a:t>
            </a:r>
            <a:r>
              <a:rPr dirty="0"/>
              <a:t> 4~17명 — </a:t>
            </a:r>
            <a:r>
              <a:rPr dirty="0" err="1"/>
              <a:t>표본</a:t>
            </a:r>
            <a:r>
              <a:rPr dirty="0"/>
              <a:t> </a:t>
            </a:r>
            <a:r>
              <a:rPr dirty="0" err="1"/>
              <a:t>과소</a:t>
            </a:r>
            <a:endParaRPr dirty="0"/>
          </a:p>
          <a:p>
            <a:pPr lvl="1"/>
            <a:r>
              <a:rPr dirty="0"/>
              <a:t>→ </a:t>
            </a:r>
            <a:r>
              <a:rPr dirty="0" err="1"/>
              <a:t>전체</a:t>
            </a:r>
            <a:r>
              <a:rPr dirty="0"/>
              <a:t> </a:t>
            </a:r>
            <a:r>
              <a:rPr dirty="0" err="1"/>
              <a:t>코호트</a:t>
            </a:r>
            <a:r>
              <a:rPr dirty="0"/>
              <a:t> mean±1SD </a:t>
            </a:r>
            <a:r>
              <a:rPr dirty="0" err="1"/>
              <a:t>재산정</a:t>
            </a:r>
            <a:r>
              <a:rPr dirty="0"/>
              <a:t>(</a:t>
            </a:r>
            <a:r>
              <a:rPr dirty="0" err="1"/>
              <a:t>다음</a:t>
            </a:r>
            <a:r>
              <a:rPr dirty="0"/>
              <a:t> </a:t>
            </a:r>
            <a:r>
              <a:rPr dirty="0" err="1"/>
              <a:t>슬라이드</a:t>
            </a:r>
            <a:r>
              <a:rPr dirty="0"/>
              <a:t>)</a:t>
            </a:r>
          </a:p>
        </p:txBody>
      </p:sp>
      <p:graphicFrame>
        <p:nvGraphicFramePr>
          <p:cNvPr id="6" name="Table 5"/>
          <p:cNvGraphicFramePr>
            <a:graphicFrameLocks noGrp="1"/>
          </p:cNvGraphicFramePr>
          <p:nvPr>
            <p:extLst>
              <p:ext uri="{D42A27DB-BD31-4B8C-83A1-F6EECF244321}">
                <p14:modId xmlns:p14="http://schemas.microsoft.com/office/powerpoint/2010/main" val="1738376903"/>
              </p:ext>
            </p:extLst>
          </p:nvPr>
        </p:nvGraphicFramePr>
        <p:xfrm>
          <a:off x="320040" y="3587158"/>
          <a:ext cx="11521440" cy="2651760"/>
        </p:xfrm>
        <a:graphic>
          <a:graphicData uri="http://schemas.openxmlformats.org/drawingml/2006/table">
            <a:tbl>
              <a:tblPr firstRow="1" bandRow="1">
                <a:tableStyleId>{9D7B26C5-4107-4FEC-AEDC-1716B250A1EF}</a:tableStyleId>
              </a:tblPr>
              <a:tblGrid>
                <a:gridCol w="1554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331470">
                <a:tc>
                  <a:txBody>
                    <a:bodyPr/>
                    <a:lstStyle/>
                    <a:p>
                      <a:pPr algn="ctr"/>
                      <a:r>
                        <a:rPr sz="1200" b="1"/>
                        <a:t>Feature</a:t>
                      </a:r>
                    </a:p>
                  </a:txBody>
                  <a:tcPr anchor="ctr"/>
                </a:tc>
                <a:tc>
                  <a:txBody>
                    <a:bodyPr/>
                    <a:lstStyle/>
                    <a:p>
                      <a:pPr algn="ctr"/>
                      <a:r>
                        <a:rPr sz="1200" b="1"/>
                        <a:t>방향</a:t>
                      </a:r>
                    </a:p>
                  </a:txBody>
                  <a:tcPr anchor="ctr"/>
                </a:tc>
                <a:tc>
                  <a:txBody>
                    <a:bodyPr/>
                    <a:lstStyle/>
                    <a:p>
                      <a:pPr algn="ctr"/>
                      <a:r>
                        <a:rPr sz="1200" b="1" dirty="0"/>
                        <a:t>남 cutoff (mean</a:t>
                      </a:r>
                      <a:r>
                        <a:rPr lang="en-US" altLang="ko-KR" sz="1200" b="1" dirty="0"/>
                        <a:t>±</a:t>
                      </a:r>
                      <a:r>
                        <a:rPr sz="1200" b="1" dirty="0"/>
                        <a:t>2SD)</a:t>
                      </a:r>
                    </a:p>
                  </a:txBody>
                  <a:tcPr anchor="ctr"/>
                </a:tc>
                <a:tc>
                  <a:txBody>
                    <a:bodyPr/>
                    <a:lstStyle/>
                    <a:p>
                      <a:pPr algn="ctr"/>
                      <a:r>
                        <a:rPr sz="1200" b="1" dirty="0"/>
                        <a:t>여 cutoff (mean</a:t>
                      </a:r>
                      <a:r>
                        <a:rPr lang="en-US" altLang="ko-KR" sz="1200" b="1" dirty="0"/>
                        <a:t>±</a:t>
                      </a:r>
                      <a:r>
                        <a:rPr sz="1200" b="1" dirty="0"/>
                        <a:t>2SD)</a:t>
                      </a:r>
                    </a:p>
                  </a:txBody>
                  <a:tcPr anchor="ctr"/>
                </a:tc>
                <a:tc>
                  <a:txBody>
                    <a:bodyPr/>
                    <a:lstStyle/>
                    <a:p>
                      <a:pPr algn="ctr"/>
                      <a:r>
                        <a:rPr sz="1200" b="1"/>
                        <a:t>남 양성률</a:t>
                      </a:r>
                    </a:p>
                  </a:txBody>
                  <a:tcPr anchor="ctr"/>
                </a:tc>
                <a:tc>
                  <a:txBody>
                    <a:bodyPr/>
                    <a:lstStyle/>
                    <a:p>
                      <a:pPr algn="ctr"/>
                      <a:r>
                        <a:rPr sz="1200" b="1"/>
                        <a:t>여 양성률</a:t>
                      </a:r>
                    </a:p>
                  </a:txBody>
                  <a:tcPr anchor="ctr"/>
                </a:tc>
                <a:extLst>
                  <a:ext uri="{0D108BD9-81ED-4DB2-BD59-A6C34878D82A}">
                    <a16:rowId xmlns:a16="http://schemas.microsoft.com/office/drawing/2014/main" val="10000"/>
                  </a:ext>
                </a:extLst>
              </a:tr>
              <a:tr h="331470">
                <a:tc>
                  <a:txBody>
                    <a:bodyPr/>
                    <a:lstStyle/>
                    <a:p>
                      <a:pPr algn="ctr"/>
                      <a:r>
                        <a:rPr sz="1200"/>
                        <a:t>TAMA</a:t>
                      </a:r>
                    </a:p>
                  </a:txBody>
                  <a:tcPr anchor="ctr">
                    <a:noFill/>
                  </a:tcPr>
                </a:tc>
                <a:tc>
                  <a:txBody>
                    <a:bodyPr/>
                    <a:lstStyle/>
                    <a:p>
                      <a:pPr algn="ctr"/>
                      <a:r>
                        <a:rPr sz="1200"/>
                        <a:t>낮으면 이상</a:t>
                      </a:r>
                    </a:p>
                  </a:txBody>
                  <a:tcPr anchor="ctr">
                    <a:noFill/>
                  </a:tcPr>
                </a:tc>
                <a:tc>
                  <a:txBody>
                    <a:bodyPr/>
                    <a:lstStyle/>
                    <a:p>
                      <a:pPr algn="ctr"/>
                      <a:r>
                        <a:rPr sz="1200"/>
                        <a:t>13,693.53</a:t>
                      </a:r>
                    </a:p>
                  </a:txBody>
                  <a:tcPr anchor="ctr">
                    <a:noFill/>
                  </a:tcPr>
                </a:tc>
                <a:tc>
                  <a:txBody>
                    <a:bodyPr/>
                    <a:lstStyle/>
                    <a:p>
                      <a:pPr algn="ctr"/>
                      <a:r>
                        <a:rPr sz="1200"/>
                        <a:t>10,911.56</a:t>
                      </a:r>
                    </a:p>
                  </a:txBody>
                  <a:tcPr anchor="ctr">
                    <a:noFill/>
                  </a:tcPr>
                </a:tc>
                <a:tc>
                  <a:txBody>
                    <a:bodyPr/>
                    <a:lstStyle/>
                    <a:p>
                      <a:pPr algn="ctr"/>
                      <a:r>
                        <a:rPr sz="1200"/>
                        <a:t>4/390 (1.0%)</a:t>
                      </a:r>
                    </a:p>
                  </a:txBody>
                  <a:tcPr anchor="ctr">
                    <a:noFill/>
                  </a:tcPr>
                </a:tc>
                <a:tc>
                  <a:txBody>
                    <a:bodyPr/>
                    <a:lstStyle/>
                    <a:p>
                      <a:pPr algn="ctr"/>
                      <a:r>
                        <a:rPr sz="1200"/>
                        <a:t>7/700 (1.0%)</a:t>
                      </a:r>
                    </a:p>
                  </a:txBody>
                  <a:tcPr anchor="ctr">
                    <a:noFill/>
                  </a:tcPr>
                </a:tc>
                <a:extLst>
                  <a:ext uri="{0D108BD9-81ED-4DB2-BD59-A6C34878D82A}">
                    <a16:rowId xmlns:a16="http://schemas.microsoft.com/office/drawing/2014/main" val="10001"/>
                  </a:ext>
                </a:extLst>
              </a:tr>
              <a:tr h="331470">
                <a:tc>
                  <a:txBody>
                    <a:bodyPr/>
                    <a:lstStyle/>
                    <a:p>
                      <a:pPr algn="ctr"/>
                      <a:r>
                        <a:rPr sz="1200"/>
                        <a:t>NAMA</a:t>
                      </a:r>
                    </a:p>
                  </a:txBody>
                  <a:tcPr anchor="ctr">
                    <a:noFill/>
                  </a:tcPr>
                </a:tc>
                <a:tc>
                  <a:txBody>
                    <a:bodyPr/>
                    <a:lstStyle/>
                    <a:p>
                      <a:pPr algn="ctr"/>
                      <a:r>
                        <a:rPr sz="1200"/>
                        <a:t>낮으면 이상</a:t>
                      </a:r>
                    </a:p>
                  </a:txBody>
                  <a:tcPr anchor="ctr">
                    <a:noFill/>
                  </a:tcPr>
                </a:tc>
                <a:tc>
                  <a:txBody>
                    <a:bodyPr/>
                    <a:lstStyle/>
                    <a:p>
                      <a:pPr algn="ctr"/>
                      <a:r>
                        <a:rPr sz="1200"/>
                        <a:t>9,700.59</a:t>
                      </a:r>
                    </a:p>
                  </a:txBody>
                  <a:tcPr anchor="ctr">
                    <a:noFill/>
                  </a:tcPr>
                </a:tc>
                <a:tc>
                  <a:txBody>
                    <a:bodyPr/>
                    <a:lstStyle/>
                    <a:p>
                      <a:pPr algn="ctr"/>
                      <a:r>
                        <a:rPr sz="1200"/>
                        <a:t>6,735.54</a:t>
                      </a:r>
                    </a:p>
                  </a:txBody>
                  <a:tcPr anchor="ctr">
                    <a:noFill/>
                  </a:tcPr>
                </a:tc>
                <a:tc>
                  <a:txBody>
                    <a:bodyPr/>
                    <a:lstStyle/>
                    <a:p>
                      <a:pPr algn="ctr"/>
                      <a:r>
                        <a:rPr sz="1200"/>
                        <a:t>11/390 (2.8%)</a:t>
                      </a:r>
                    </a:p>
                  </a:txBody>
                  <a:tcPr anchor="ctr">
                    <a:noFill/>
                  </a:tcPr>
                </a:tc>
                <a:tc>
                  <a:txBody>
                    <a:bodyPr/>
                    <a:lstStyle/>
                    <a:p>
                      <a:pPr algn="ctr"/>
                      <a:r>
                        <a:rPr sz="1200"/>
                        <a:t>17/700 (2.4%)</a:t>
                      </a:r>
                    </a:p>
                  </a:txBody>
                  <a:tcPr anchor="ctr">
                    <a:noFill/>
                  </a:tcPr>
                </a:tc>
                <a:extLst>
                  <a:ext uri="{0D108BD9-81ED-4DB2-BD59-A6C34878D82A}">
                    <a16:rowId xmlns:a16="http://schemas.microsoft.com/office/drawing/2014/main" val="10002"/>
                  </a:ext>
                </a:extLst>
              </a:tr>
              <a:tr h="331470">
                <a:tc>
                  <a:txBody>
                    <a:bodyPr/>
                    <a:lstStyle/>
                    <a:p>
                      <a:pPr algn="ctr"/>
                      <a:r>
                        <a:rPr sz="1200"/>
                        <a:t>LAMA</a:t>
                      </a:r>
                    </a:p>
                  </a:txBody>
                  <a:tcPr anchor="ctr">
                    <a:noFill/>
                  </a:tcPr>
                </a:tc>
                <a:tc>
                  <a:txBody>
                    <a:bodyPr/>
                    <a:lstStyle/>
                    <a:p>
                      <a:pPr algn="ctr"/>
                      <a:r>
                        <a:rPr sz="1200"/>
                        <a:t>높으면 이상</a:t>
                      </a:r>
                    </a:p>
                  </a:txBody>
                  <a:tcPr anchor="ctr">
                    <a:noFill/>
                  </a:tcPr>
                </a:tc>
                <a:tc>
                  <a:txBody>
                    <a:bodyPr/>
                    <a:lstStyle/>
                    <a:p>
                      <a:pPr algn="ctr"/>
                      <a:r>
                        <a:rPr sz="1200"/>
                        <a:t>10,156.52</a:t>
                      </a:r>
                    </a:p>
                  </a:txBody>
                  <a:tcPr anchor="ctr">
                    <a:noFill/>
                  </a:tcPr>
                </a:tc>
                <a:tc>
                  <a:txBody>
                    <a:bodyPr/>
                    <a:lstStyle/>
                    <a:p>
                      <a:pPr algn="ctr"/>
                      <a:r>
                        <a:rPr sz="1200"/>
                        <a:t>6,662.56</a:t>
                      </a:r>
                    </a:p>
                  </a:txBody>
                  <a:tcPr anchor="ctr">
                    <a:noFill/>
                  </a:tcPr>
                </a:tc>
                <a:tc>
                  <a:txBody>
                    <a:bodyPr/>
                    <a:lstStyle/>
                    <a:p>
                      <a:pPr algn="ctr"/>
                      <a:r>
                        <a:rPr sz="1200"/>
                        <a:t>21/390 (5.4%)</a:t>
                      </a:r>
                    </a:p>
                  </a:txBody>
                  <a:tcPr anchor="ctr">
                    <a:noFill/>
                  </a:tcPr>
                </a:tc>
                <a:tc>
                  <a:txBody>
                    <a:bodyPr/>
                    <a:lstStyle/>
                    <a:p>
                      <a:pPr algn="ctr"/>
                      <a:r>
                        <a:rPr sz="1200"/>
                        <a:t>28/700 (4.0%)</a:t>
                      </a:r>
                    </a:p>
                  </a:txBody>
                  <a:tcPr anchor="ctr">
                    <a:noFill/>
                  </a:tcPr>
                </a:tc>
                <a:extLst>
                  <a:ext uri="{0D108BD9-81ED-4DB2-BD59-A6C34878D82A}">
                    <a16:rowId xmlns:a16="http://schemas.microsoft.com/office/drawing/2014/main" val="10003"/>
                  </a:ext>
                </a:extLst>
              </a:tr>
              <a:tr h="331470">
                <a:tc>
                  <a:txBody>
                    <a:bodyPr/>
                    <a:lstStyle/>
                    <a:p>
                      <a:pPr algn="ctr"/>
                      <a:r>
                        <a:rPr sz="1200"/>
                        <a:t>IMATA</a:t>
                      </a:r>
                    </a:p>
                  </a:txBody>
                  <a:tcPr anchor="ctr">
                    <a:noFill/>
                  </a:tcPr>
                </a:tc>
                <a:tc>
                  <a:txBody>
                    <a:bodyPr/>
                    <a:lstStyle/>
                    <a:p>
                      <a:pPr algn="ctr"/>
                      <a:r>
                        <a:rPr sz="1200"/>
                        <a:t>높으면 이상</a:t>
                      </a:r>
                    </a:p>
                  </a:txBody>
                  <a:tcPr anchor="ctr">
                    <a:noFill/>
                  </a:tcPr>
                </a:tc>
                <a:tc>
                  <a:txBody>
                    <a:bodyPr/>
                    <a:lstStyle/>
                    <a:p>
                      <a:pPr algn="ctr"/>
                      <a:r>
                        <a:rPr sz="1200"/>
                        <a:t>2,540.24</a:t>
                      </a:r>
                    </a:p>
                  </a:txBody>
                  <a:tcPr anchor="ctr">
                    <a:noFill/>
                  </a:tcPr>
                </a:tc>
                <a:tc>
                  <a:txBody>
                    <a:bodyPr/>
                    <a:lstStyle/>
                    <a:p>
                      <a:pPr algn="ctr"/>
                      <a:r>
                        <a:rPr sz="1200"/>
                        <a:t>2,204.71</a:t>
                      </a:r>
                    </a:p>
                  </a:txBody>
                  <a:tcPr anchor="ctr">
                    <a:noFill/>
                  </a:tcPr>
                </a:tc>
                <a:tc>
                  <a:txBody>
                    <a:bodyPr/>
                    <a:lstStyle/>
                    <a:p>
                      <a:pPr algn="ctr"/>
                      <a:r>
                        <a:rPr sz="1200"/>
                        <a:t>18/390 (4.6%)</a:t>
                      </a:r>
                    </a:p>
                  </a:txBody>
                  <a:tcPr anchor="ctr">
                    <a:noFill/>
                  </a:tcPr>
                </a:tc>
                <a:tc>
                  <a:txBody>
                    <a:bodyPr/>
                    <a:lstStyle/>
                    <a:p>
                      <a:pPr algn="ctr"/>
                      <a:r>
                        <a:rPr sz="1200"/>
                        <a:t>28/700 (4.0%)</a:t>
                      </a:r>
                    </a:p>
                  </a:txBody>
                  <a:tcPr anchor="ctr">
                    <a:noFill/>
                  </a:tcPr>
                </a:tc>
                <a:extLst>
                  <a:ext uri="{0D108BD9-81ED-4DB2-BD59-A6C34878D82A}">
                    <a16:rowId xmlns:a16="http://schemas.microsoft.com/office/drawing/2014/main" val="10004"/>
                  </a:ext>
                </a:extLst>
              </a:tr>
              <a:tr h="331470">
                <a:tc>
                  <a:txBody>
                    <a:bodyPr/>
                    <a:lstStyle/>
                    <a:p>
                      <a:pPr algn="ctr"/>
                      <a:r>
                        <a:rPr sz="1200"/>
                        <a:t>SAT(피하지방)</a:t>
                      </a:r>
                    </a:p>
                  </a:txBody>
                  <a:tcPr anchor="ctr">
                    <a:noFill/>
                  </a:tcPr>
                </a:tc>
                <a:tc>
                  <a:txBody>
                    <a:bodyPr/>
                    <a:lstStyle/>
                    <a:p>
                      <a:pPr algn="ctr"/>
                      <a:r>
                        <a:rPr sz="1200"/>
                        <a:t>높으면 이상</a:t>
                      </a:r>
                    </a:p>
                  </a:txBody>
                  <a:tcPr anchor="ctr">
                    <a:noFill/>
                  </a:tcPr>
                </a:tc>
                <a:tc>
                  <a:txBody>
                    <a:bodyPr/>
                    <a:lstStyle/>
                    <a:p>
                      <a:pPr algn="ctr"/>
                      <a:r>
                        <a:rPr sz="1200"/>
                        <a:t>30,678.51</a:t>
                      </a:r>
                    </a:p>
                  </a:txBody>
                  <a:tcPr anchor="ctr">
                    <a:noFill/>
                  </a:tcPr>
                </a:tc>
                <a:tc>
                  <a:txBody>
                    <a:bodyPr/>
                    <a:lstStyle/>
                    <a:p>
                      <a:pPr algn="ctr"/>
                      <a:r>
                        <a:rPr sz="1200"/>
                        <a:t>37,633.12</a:t>
                      </a:r>
                    </a:p>
                  </a:txBody>
                  <a:tcPr anchor="ctr">
                    <a:noFill/>
                  </a:tcPr>
                </a:tc>
                <a:tc>
                  <a:txBody>
                    <a:bodyPr/>
                    <a:lstStyle/>
                    <a:p>
                      <a:pPr algn="ctr"/>
                      <a:r>
                        <a:rPr sz="1200"/>
                        <a:t>12/390 (3.1%)</a:t>
                      </a:r>
                    </a:p>
                  </a:txBody>
                  <a:tcPr anchor="ctr">
                    <a:noFill/>
                  </a:tcPr>
                </a:tc>
                <a:tc>
                  <a:txBody>
                    <a:bodyPr/>
                    <a:lstStyle/>
                    <a:p>
                      <a:pPr algn="ctr"/>
                      <a:r>
                        <a:rPr sz="1200"/>
                        <a:t>25/700 (3.6%)</a:t>
                      </a:r>
                    </a:p>
                  </a:txBody>
                  <a:tcPr anchor="ctr">
                    <a:noFill/>
                  </a:tcPr>
                </a:tc>
                <a:extLst>
                  <a:ext uri="{0D108BD9-81ED-4DB2-BD59-A6C34878D82A}">
                    <a16:rowId xmlns:a16="http://schemas.microsoft.com/office/drawing/2014/main" val="10005"/>
                  </a:ext>
                </a:extLst>
              </a:tr>
              <a:tr h="331470">
                <a:tc>
                  <a:txBody>
                    <a:bodyPr/>
                    <a:lstStyle/>
                    <a:p>
                      <a:pPr algn="ctr"/>
                      <a:r>
                        <a:rPr sz="1200"/>
                        <a:t>VAT(내장지방)</a:t>
                      </a:r>
                    </a:p>
                  </a:txBody>
                  <a:tcPr anchor="ctr">
                    <a:noFill/>
                  </a:tcPr>
                </a:tc>
                <a:tc>
                  <a:txBody>
                    <a:bodyPr/>
                    <a:lstStyle/>
                    <a:p>
                      <a:pPr algn="ctr"/>
                      <a:r>
                        <a:rPr sz="1200"/>
                        <a:t>높으면 이상</a:t>
                      </a:r>
                    </a:p>
                  </a:txBody>
                  <a:tcPr anchor="ctr">
                    <a:noFill/>
                  </a:tcPr>
                </a:tc>
                <a:tc>
                  <a:txBody>
                    <a:bodyPr/>
                    <a:lstStyle/>
                    <a:p>
                      <a:pPr algn="ctr"/>
                      <a:r>
                        <a:rPr sz="1200"/>
                        <a:t>23,153.48</a:t>
                      </a:r>
                    </a:p>
                  </a:txBody>
                  <a:tcPr anchor="ctr">
                    <a:noFill/>
                  </a:tcPr>
                </a:tc>
                <a:tc>
                  <a:txBody>
                    <a:bodyPr/>
                    <a:lstStyle/>
                    <a:p>
                      <a:pPr algn="ctr"/>
                      <a:r>
                        <a:rPr sz="1200"/>
                        <a:t>14,896.43</a:t>
                      </a:r>
                    </a:p>
                  </a:txBody>
                  <a:tcPr anchor="ctr">
                    <a:noFill/>
                  </a:tcPr>
                </a:tc>
                <a:tc>
                  <a:txBody>
                    <a:bodyPr/>
                    <a:lstStyle/>
                    <a:p>
                      <a:pPr algn="ctr"/>
                      <a:r>
                        <a:rPr sz="1200"/>
                        <a:t>16/390 (4.1%)</a:t>
                      </a:r>
                    </a:p>
                  </a:txBody>
                  <a:tcPr anchor="ctr">
                    <a:noFill/>
                  </a:tcPr>
                </a:tc>
                <a:tc>
                  <a:txBody>
                    <a:bodyPr/>
                    <a:lstStyle/>
                    <a:p>
                      <a:pPr algn="ctr"/>
                      <a:r>
                        <a:rPr sz="1200"/>
                        <a:t>29/700 (4.1%)</a:t>
                      </a:r>
                    </a:p>
                  </a:txBody>
                  <a:tcPr anchor="ctr">
                    <a:noFill/>
                  </a:tcPr>
                </a:tc>
                <a:extLst>
                  <a:ext uri="{0D108BD9-81ED-4DB2-BD59-A6C34878D82A}">
                    <a16:rowId xmlns:a16="http://schemas.microsoft.com/office/drawing/2014/main" val="10006"/>
                  </a:ext>
                </a:extLst>
              </a:tr>
              <a:tr h="331470">
                <a:tc>
                  <a:txBody>
                    <a:bodyPr/>
                    <a:lstStyle/>
                    <a:p>
                      <a:pPr algn="ctr"/>
                      <a:r>
                        <a:rPr sz="1200"/>
                        <a:t>Total Fat</a:t>
                      </a:r>
                    </a:p>
                  </a:txBody>
                  <a:tcPr anchor="ctr">
                    <a:noFill/>
                  </a:tcPr>
                </a:tc>
                <a:tc>
                  <a:txBody>
                    <a:bodyPr/>
                    <a:lstStyle/>
                    <a:p>
                      <a:pPr algn="ctr"/>
                      <a:r>
                        <a:rPr sz="1200"/>
                        <a:t>높으면 이상</a:t>
                      </a:r>
                    </a:p>
                  </a:txBody>
                  <a:tcPr anchor="ctr">
                    <a:noFill/>
                  </a:tcPr>
                </a:tc>
                <a:tc>
                  <a:txBody>
                    <a:bodyPr/>
                    <a:lstStyle/>
                    <a:p>
                      <a:pPr algn="ctr"/>
                      <a:r>
                        <a:rPr sz="1200"/>
                        <a:t>51,809.34</a:t>
                      </a:r>
                    </a:p>
                  </a:txBody>
                  <a:tcPr anchor="ctr">
                    <a:noFill/>
                  </a:tcPr>
                </a:tc>
                <a:tc>
                  <a:txBody>
                    <a:bodyPr/>
                    <a:lstStyle/>
                    <a:p>
                      <a:pPr algn="ctr"/>
                      <a:r>
                        <a:rPr sz="1200"/>
                        <a:t>50,708.34</a:t>
                      </a:r>
                    </a:p>
                  </a:txBody>
                  <a:tcPr anchor="ctr">
                    <a:noFill/>
                  </a:tcPr>
                </a:tc>
                <a:tc>
                  <a:txBody>
                    <a:bodyPr/>
                    <a:lstStyle/>
                    <a:p>
                      <a:pPr algn="ctr"/>
                      <a:r>
                        <a:rPr sz="1200"/>
                        <a:t>14/390 (3.6%)</a:t>
                      </a:r>
                    </a:p>
                  </a:txBody>
                  <a:tcPr anchor="ctr">
                    <a:noFill/>
                  </a:tcPr>
                </a:tc>
                <a:tc>
                  <a:txBody>
                    <a:bodyPr/>
                    <a:lstStyle/>
                    <a:p>
                      <a:pPr algn="ctr"/>
                      <a:r>
                        <a:rPr sz="1200" dirty="0"/>
                        <a:t>25/700 (3.6%)</a:t>
                      </a:r>
                    </a:p>
                  </a:txBody>
                  <a:tcPr anchor="ctr">
                    <a:noFill/>
                  </a:tcPr>
                </a:tc>
                <a:extLst>
                  <a:ext uri="{0D108BD9-81ED-4DB2-BD59-A6C34878D82A}">
                    <a16:rowId xmlns:a16="http://schemas.microsoft.com/office/drawing/2014/main" val="10007"/>
                  </a:ext>
                </a:extLst>
              </a:tr>
            </a:tbl>
          </a:graphicData>
        </a:graphic>
      </p:graphicFrame>
      <p:sp>
        <p:nvSpPr>
          <p:cNvPr id="4" name="슬라이드 번호 개체 틀 3">
            <a:extLst>
              <a:ext uri="{FF2B5EF4-FFF2-40B4-BE49-F238E27FC236}">
                <a16:creationId xmlns:a16="http://schemas.microsoft.com/office/drawing/2014/main" id="{670FCDB3-E43A-846D-DF23-636A3EC26ADB}"/>
              </a:ext>
            </a:extLst>
          </p:cNvPr>
          <p:cNvSpPr>
            <a:spLocks noGrp="1"/>
          </p:cNvSpPr>
          <p:nvPr>
            <p:ph type="sldNum" sz="quarter" idx="12"/>
          </p:nvPr>
        </p:nvSpPr>
        <p:spPr/>
        <p:txBody>
          <a:bodyPr/>
          <a:lstStyle/>
          <a:p>
            <a:fld id="{9F4AF89A-28FA-47FA-B28F-9A9C6913CB7A}" type="slidenum">
              <a:rPr lang="ko-KR" altLang="en-US" smtClean="0"/>
              <a:pPr/>
              <a:t>15</a:t>
            </a:fld>
            <a:endParaRPr lang="ko-KR" alt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Step4: 이진분류 방법 재검토 — Cutoff 전체 재산정</a:t>
            </a:r>
          </a:p>
        </p:txBody>
      </p:sp>
      <p:sp>
        <p:nvSpPr>
          <p:cNvPr id="3" name="Content Placeholder 2"/>
          <p:cNvSpPr>
            <a:spLocks noGrp="1"/>
          </p:cNvSpPr>
          <p:nvPr>
            <p:ph idx="1"/>
          </p:nvPr>
        </p:nvSpPr>
        <p:spPr/>
        <p:txBody>
          <a:bodyPr/>
          <a:lstStyle/>
          <a:p>
            <a:r>
              <a:rPr dirty="0"/>
              <a:t>전체 코호트 mean±2SD → mean±1SD로 변경</a:t>
            </a:r>
          </a:p>
          <a:p>
            <a:pPr lvl="1"/>
            <a:r>
              <a:rPr lang="en-US" altLang="ko-KR" dirty="0"/>
              <a:t>2SD </a:t>
            </a:r>
            <a:r>
              <a:rPr lang="ko-KR" altLang="en-US" dirty="0"/>
              <a:t>시 </a:t>
            </a:r>
            <a:r>
              <a:rPr lang="en-US" altLang="ko-KR" dirty="0"/>
              <a:t>TAMA·NAMA </a:t>
            </a:r>
            <a:r>
              <a:rPr lang="ko-KR" altLang="en-US" dirty="0"/>
              <a:t>양성 </a:t>
            </a:r>
            <a:r>
              <a:rPr lang="en-US" altLang="ko-KR" dirty="0"/>
              <a:t>4~17</a:t>
            </a:r>
            <a:r>
              <a:rPr lang="ko-KR" altLang="en-US" dirty="0"/>
              <a:t>명 → </a:t>
            </a:r>
            <a:r>
              <a:rPr lang="en-US" altLang="ko-KR" dirty="0"/>
              <a:t>1SD</a:t>
            </a:r>
            <a:r>
              <a:rPr lang="ko-KR" altLang="en-US" dirty="0"/>
              <a:t>로 </a:t>
            </a:r>
            <a:r>
              <a:rPr lang="en-US" altLang="ko-KR" dirty="0"/>
              <a:t>45~98</a:t>
            </a:r>
            <a:r>
              <a:rPr lang="ko-KR" altLang="en-US" dirty="0"/>
              <a:t>명까지 확대</a:t>
            </a:r>
          </a:p>
          <a:p>
            <a:pPr lvl="1"/>
            <a:r>
              <a:rPr dirty="0"/>
              <a:t>TAMA: SMI </a:t>
            </a:r>
            <a:r>
              <a:rPr dirty="0" err="1"/>
              <a:t>대신</a:t>
            </a:r>
            <a:r>
              <a:rPr dirty="0"/>
              <a:t> raw TAMA_SUM — SMI </a:t>
            </a:r>
            <a:r>
              <a:rPr dirty="0" err="1"/>
              <a:t>기준시</a:t>
            </a:r>
            <a:r>
              <a:rPr dirty="0"/>
              <a:t> external </a:t>
            </a:r>
            <a:r>
              <a:rPr dirty="0" err="1"/>
              <a:t>n_pos</a:t>
            </a:r>
            <a:r>
              <a:rPr dirty="0"/>
              <a:t>=2, AUC=1.000 </a:t>
            </a:r>
            <a:r>
              <a:rPr dirty="0" err="1"/>
              <a:t>소표본</a:t>
            </a:r>
            <a:r>
              <a:rPr dirty="0"/>
              <a:t> </a:t>
            </a:r>
            <a:r>
              <a:rPr dirty="0" err="1"/>
              <a:t>아티팩트</a:t>
            </a:r>
            <a:endParaRPr dirty="0"/>
          </a:p>
          <a:p>
            <a:pPr lvl="1"/>
            <a:r>
              <a:rPr dirty="0"/>
              <a:t>mean±1SD </a:t>
            </a:r>
            <a:r>
              <a:rPr dirty="0" err="1"/>
              <a:t>근거</a:t>
            </a:r>
            <a:r>
              <a:rPr dirty="0"/>
              <a:t>: Baumgartner 1998 Class I / WHO T-score −1SD</a:t>
            </a:r>
          </a:p>
          <a:p>
            <a:pPr lvl="1"/>
            <a:r>
              <a:rPr dirty="0"/>
              <a:t>LAMA </a:t>
            </a:r>
            <a:r>
              <a:rPr dirty="0" err="1"/>
              <a:t>방향</a:t>
            </a:r>
            <a:r>
              <a:rPr dirty="0"/>
              <a:t> 'high'(</a:t>
            </a:r>
            <a:r>
              <a:rPr dirty="0" err="1"/>
              <a:t>저감쇠</a:t>
            </a:r>
            <a:r>
              <a:rPr dirty="0"/>
              <a:t>=</a:t>
            </a:r>
            <a:r>
              <a:rPr dirty="0" err="1"/>
              <a:t>지방침윤</a:t>
            </a:r>
            <a:r>
              <a:rPr dirty="0"/>
              <a:t>) — </a:t>
            </a:r>
            <a:r>
              <a:rPr dirty="0" err="1"/>
              <a:t>TAMA·NAMA는</a:t>
            </a:r>
            <a:r>
              <a:rPr dirty="0"/>
              <a:t> 'low'(</a:t>
            </a:r>
            <a:r>
              <a:rPr dirty="0" err="1"/>
              <a:t>근육량</a:t>
            </a:r>
            <a:r>
              <a:rPr dirty="0"/>
              <a:t> </a:t>
            </a:r>
            <a:r>
              <a:rPr dirty="0" err="1"/>
              <a:t>저하</a:t>
            </a:r>
            <a:r>
              <a:rPr dirty="0"/>
              <a:t>)</a:t>
            </a:r>
          </a:p>
        </p:txBody>
      </p:sp>
      <p:graphicFrame>
        <p:nvGraphicFramePr>
          <p:cNvPr id="4" name="Table 3"/>
          <p:cNvGraphicFramePr>
            <a:graphicFrameLocks noGrp="1"/>
          </p:cNvGraphicFramePr>
          <p:nvPr>
            <p:extLst>
              <p:ext uri="{D42A27DB-BD31-4B8C-83A1-F6EECF244321}">
                <p14:modId xmlns:p14="http://schemas.microsoft.com/office/powerpoint/2010/main" val="909909957"/>
              </p:ext>
            </p:extLst>
          </p:nvPr>
        </p:nvGraphicFramePr>
        <p:xfrm>
          <a:off x="320040" y="3587158"/>
          <a:ext cx="11521440" cy="2651760"/>
        </p:xfrm>
        <a:graphic>
          <a:graphicData uri="http://schemas.openxmlformats.org/drawingml/2006/table">
            <a:tbl>
              <a:tblPr firstRow="1" bandRow="1">
                <a:tableStyleId>{9D7B26C5-4107-4FEC-AEDC-1716B250A1EF}</a:tableStyleId>
              </a:tblPr>
              <a:tblGrid>
                <a:gridCol w="1554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331470">
                <a:tc>
                  <a:txBody>
                    <a:bodyPr/>
                    <a:lstStyle/>
                    <a:p>
                      <a:pPr algn="ctr"/>
                      <a:r>
                        <a:rPr sz="1200" b="1"/>
                        <a:t>Feature</a:t>
                      </a:r>
                    </a:p>
                  </a:txBody>
                  <a:tcPr anchor="ctr"/>
                </a:tc>
                <a:tc>
                  <a:txBody>
                    <a:bodyPr/>
                    <a:lstStyle/>
                    <a:p>
                      <a:pPr algn="ctr"/>
                      <a:r>
                        <a:rPr sz="1200" b="1"/>
                        <a:t>방향</a:t>
                      </a:r>
                    </a:p>
                  </a:txBody>
                  <a:tcPr anchor="ctr"/>
                </a:tc>
                <a:tc>
                  <a:txBody>
                    <a:bodyPr/>
                    <a:lstStyle/>
                    <a:p>
                      <a:pPr algn="ctr"/>
                      <a:r>
                        <a:rPr sz="1200" b="1" dirty="0"/>
                        <a:t>남 cutoff (mean±1SD)</a:t>
                      </a:r>
                    </a:p>
                  </a:txBody>
                  <a:tcPr anchor="ctr">
                    <a:noFill/>
                  </a:tcPr>
                </a:tc>
                <a:tc>
                  <a:txBody>
                    <a:bodyPr/>
                    <a:lstStyle/>
                    <a:p>
                      <a:pPr algn="ctr"/>
                      <a:r>
                        <a:rPr sz="1200" b="1" dirty="0"/>
                        <a:t>여 cutoff (mean±1SD)</a:t>
                      </a:r>
                    </a:p>
                  </a:txBody>
                  <a:tcPr anchor="ctr"/>
                </a:tc>
                <a:tc>
                  <a:txBody>
                    <a:bodyPr/>
                    <a:lstStyle/>
                    <a:p>
                      <a:pPr algn="ctr"/>
                      <a:r>
                        <a:rPr sz="1200" b="1"/>
                        <a:t>남 양성률</a:t>
                      </a:r>
                    </a:p>
                  </a:txBody>
                  <a:tcPr anchor="ctr"/>
                </a:tc>
                <a:tc>
                  <a:txBody>
                    <a:bodyPr/>
                    <a:lstStyle/>
                    <a:p>
                      <a:pPr algn="ctr"/>
                      <a:r>
                        <a:rPr sz="1200" b="1"/>
                        <a:t>여 양성률</a:t>
                      </a:r>
                    </a:p>
                  </a:txBody>
                  <a:tcPr anchor="ctr"/>
                </a:tc>
                <a:extLst>
                  <a:ext uri="{0D108BD9-81ED-4DB2-BD59-A6C34878D82A}">
                    <a16:rowId xmlns:a16="http://schemas.microsoft.com/office/drawing/2014/main" val="10000"/>
                  </a:ext>
                </a:extLst>
              </a:tr>
              <a:tr h="331470">
                <a:tc>
                  <a:txBody>
                    <a:bodyPr/>
                    <a:lstStyle/>
                    <a:p>
                      <a:pPr algn="ctr"/>
                      <a:r>
                        <a:rPr sz="1200" dirty="0"/>
                        <a:t>TAMA</a:t>
                      </a:r>
                    </a:p>
                  </a:txBody>
                  <a:tcPr anchor="ctr">
                    <a:noFill/>
                  </a:tcPr>
                </a:tc>
                <a:tc>
                  <a:txBody>
                    <a:bodyPr/>
                    <a:lstStyle/>
                    <a:p>
                      <a:pPr algn="ctr"/>
                      <a:r>
                        <a:rPr sz="1200"/>
                        <a:t>낮으면 이상</a:t>
                      </a:r>
                    </a:p>
                  </a:txBody>
                  <a:tcPr anchor="ctr">
                    <a:noFill/>
                  </a:tcPr>
                </a:tc>
                <a:tc>
                  <a:txBody>
                    <a:bodyPr/>
                    <a:lstStyle/>
                    <a:p>
                      <a:pPr algn="ctr"/>
                      <a:r>
                        <a:rPr sz="1200"/>
                        <a:t>19,026.98</a:t>
                      </a:r>
                    </a:p>
                  </a:txBody>
                  <a:tcPr anchor="ctr">
                    <a:noFill/>
                  </a:tcPr>
                </a:tc>
                <a:tc>
                  <a:txBody>
                    <a:bodyPr/>
                    <a:lstStyle/>
                    <a:p>
                      <a:pPr algn="ctr"/>
                      <a:r>
                        <a:rPr sz="1200"/>
                        <a:t>14,113.98</a:t>
                      </a:r>
                    </a:p>
                  </a:txBody>
                  <a:tcPr anchor="ctr">
                    <a:noFill/>
                  </a:tcPr>
                </a:tc>
                <a:tc>
                  <a:txBody>
                    <a:bodyPr/>
                    <a:lstStyle/>
                    <a:p>
                      <a:pPr algn="ctr"/>
                      <a:r>
                        <a:rPr sz="1200"/>
                        <a:t>45/390 (11.5%)</a:t>
                      </a:r>
                    </a:p>
                  </a:txBody>
                  <a:tcPr anchor="ctr">
                    <a:noFill/>
                  </a:tcPr>
                </a:tc>
                <a:tc>
                  <a:txBody>
                    <a:bodyPr/>
                    <a:lstStyle/>
                    <a:p>
                      <a:pPr algn="ctr"/>
                      <a:r>
                        <a:rPr sz="1200"/>
                        <a:t>91/700 (13.0%)</a:t>
                      </a:r>
                    </a:p>
                  </a:txBody>
                  <a:tcPr anchor="ctr">
                    <a:noFill/>
                  </a:tcPr>
                </a:tc>
                <a:extLst>
                  <a:ext uri="{0D108BD9-81ED-4DB2-BD59-A6C34878D82A}">
                    <a16:rowId xmlns:a16="http://schemas.microsoft.com/office/drawing/2014/main" val="10001"/>
                  </a:ext>
                </a:extLst>
              </a:tr>
              <a:tr h="331470">
                <a:tc>
                  <a:txBody>
                    <a:bodyPr/>
                    <a:lstStyle/>
                    <a:p>
                      <a:pPr algn="ctr"/>
                      <a:r>
                        <a:rPr sz="1200"/>
                        <a:t>NAMA</a:t>
                      </a:r>
                    </a:p>
                  </a:txBody>
                  <a:tcPr anchor="ctr">
                    <a:noFill/>
                  </a:tcPr>
                </a:tc>
                <a:tc>
                  <a:txBody>
                    <a:bodyPr/>
                    <a:lstStyle/>
                    <a:p>
                      <a:pPr algn="ctr"/>
                      <a:r>
                        <a:rPr sz="1200" dirty="0" err="1"/>
                        <a:t>낮으면</a:t>
                      </a:r>
                      <a:r>
                        <a:rPr sz="1200" dirty="0"/>
                        <a:t> </a:t>
                      </a:r>
                      <a:r>
                        <a:rPr sz="1200" dirty="0" err="1"/>
                        <a:t>이상</a:t>
                      </a:r>
                      <a:endParaRPr sz="1200" dirty="0"/>
                    </a:p>
                  </a:txBody>
                  <a:tcPr anchor="ctr">
                    <a:noFill/>
                  </a:tcPr>
                </a:tc>
                <a:tc>
                  <a:txBody>
                    <a:bodyPr/>
                    <a:lstStyle/>
                    <a:p>
                      <a:pPr algn="ctr"/>
                      <a:r>
                        <a:rPr sz="1200"/>
                        <a:t>13,837.32</a:t>
                      </a:r>
                    </a:p>
                  </a:txBody>
                  <a:tcPr anchor="ctr">
                    <a:noFill/>
                  </a:tcPr>
                </a:tc>
                <a:tc>
                  <a:txBody>
                    <a:bodyPr/>
                    <a:lstStyle/>
                    <a:p>
                      <a:pPr algn="ctr"/>
                      <a:r>
                        <a:rPr sz="1200"/>
                        <a:t>9,607.86</a:t>
                      </a:r>
                    </a:p>
                  </a:txBody>
                  <a:tcPr anchor="ctr">
                    <a:noFill/>
                  </a:tcPr>
                </a:tc>
                <a:tc>
                  <a:txBody>
                    <a:bodyPr/>
                    <a:lstStyle/>
                    <a:p>
                      <a:pPr algn="ctr"/>
                      <a:r>
                        <a:rPr sz="1200"/>
                        <a:t>52/390 (13.3%)</a:t>
                      </a:r>
                    </a:p>
                  </a:txBody>
                  <a:tcPr anchor="ctr">
                    <a:noFill/>
                  </a:tcPr>
                </a:tc>
                <a:tc>
                  <a:txBody>
                    <a:bodyPr/>
                    <a:lstStyle/>
                    <a:p>
                      <a:pPr algn="ctr"/>
                      <a:r>
                        <a:rPr sz="1200"/>
                        <a:t>98/700 (14.0%)</a:t>
                      </a:r>
                    </a:p>
                  </a:txBody>
                  <a:tcPr anchor="ctr">
                    <a:noFill/>
                  </a:tcPr>
                </a:tc>
                <a:extLst>
                  <a:ext uri="{0D108BD9-81ED-4DB2-BD59-A6C34878D82A}">
                    <a16:rowId xmlns:a16="http://schemas.microsoft.com/office/drawing/2014/main" val="10002"/>
                  </a:ext>
                </a:extLst>
              </a:tr>
              <a:tr h="331470">
                <a:tc>
                  <a:txBody>
                    <a:bodyPr/>
                    <a:lstStyle/>
                    <a:p>
                      <a:pPr algn="ctr"/>
                      <a:r>
                        <a:rPr sz="1200"/>
                        <a:t>LAMA</a:t>
                      </a:r>
                    </a:p>
                  </a:txBody>
                  <a:tcPr anchor="ctr">
                    <a:noFill/>
                  </a:tcPr>
                </a:tc>
                <a:tc>
                  <a:txBody>
                    <a:bodyPr/>
                    <a:lstStyle/>
                    <a:p>
                      <a:pPr algn="ctr"/>
                      <a:r>
                        <a:rPr sz="1200"/>
                        <a:t>높으면 이상</a:t>
                      </a:r>
                    </a:p>
                  </a:txBody>
                  <a:tcPr anchor="ctr">
                    <a:noFill/>
                  </a:tcPr>
                </a:tc>
                <a:tc>
                  <a:txBody>
                    <a:bodyPr/>
                    <a:lstStyle/>
                    <a:p>
                      <a:pPr algn="ctr"/>
                      <a:r>
                        <a:rPr sz="1200" dirty="0"/>
                        <a:t>7,639.02</a:t>
                      </a:r>
                    </a:p>
                  </a:txBody>
                  <a:tcPr anchor="ctr">
                    <a:noFill/>
                  </a:tcPr>
                </a:tc>
                <a:tc>
                  <a:txBody>
                    <a:bodyPr/>
                    <a:lstStyle/>
                    <a:p>
                      <a:pPr algn="ctr"/>
                      <a:r>
                        <a:rPr sz="1200"/>
                        <a:t>5,168.44</a:t>
                      </a:r>
                    </a:p>
                  </a:txBody>
                  <a:tcPr anchor="ctr">
                    <a:noFill/>
                  </a:tcPr>
                </a:tc>
                <a:tc>
                  <a:txBody>
                    <a:bodyPr/>
                    <a:lstStyle/>
                    <a:p>
                      <a:pPr algn="ctr"/>
                      <a:r>
                        <a:rPr sz="1200"/>
                        <a:t>39/390 (10.0%)</a:t>
                      </a:r>
                    </a:p>
                  </a:txBody>
                  <a:tcPr anchor="ctr">
                    <a:noFill/>
                  </a:tcPr>
                </a:tc>
                <a:tc>
                  <a:txBody>
                    <a:bodyPr/>
                    <a:lstStyle/>
                    <a:p>
                      <a:pPr algn="ctr"/>
                      <a:r>
                        <a:rPr sz="1200"/>
                        <a:t>98/700 (14.0%)</a:t>
                      </a:r>
                    </a:p>
                  </a:txBody>
                  <a:tcPr anchor="ctr">
                    <a:noFill/>
                  </a:tcPr>
                </a:tc>
                <a:extLst>
                  <a:ext uri="{0D108BD9-81ED-4DB2-BD59-A6C34878D82A}">
                    <a16:rowId xmlns:a16="http://schemas.microsoft.com/office/drawing/2014/main" val="10003"/>
                  </a:ext>
                </a:extLst>
              </a:tr>
              <a:tr h="331470">
                <a:tc>
                  <a:txBody>
                    <a:bodyPr/>
                    <a:lstStyle/>
                    <a:p>
                      <a:pPr algn="ctr"/>
                      <a:r>
                        <a:rPr sz="1200"/>
                        <a:t>IMATA</a:t>
                      </a:r>
                    </a:p>
                  </a:txBody>
                  <a:tcPr anchor="ctr">
                    <a:noFill/>
                  </a:tcPr>
                </a:tc>
                <a:tc>
                  <a:txBody>
                    <a:bodyPr/>
                    <a:lstStyle/>
                    <a:p>
                      <a:pPr algn="ctr"/>
                      <a:r>
                        <a:rPr sz="1200"/>
                        <a:t>높으면 이상</a:t>
                      </a:r>
                    </a:p>
                  </a:txBody>
                  <a:tcPr anchor="ctr">
                    <a:noFill/>
                  </a:tcPr>
                </a:tc>
                <a:tc>
                  <a:txBody>
                    <a:bodyPr/>
                    <a:lstStyle/>
                    <a:p>
                      <a:pPr algn="ctr"/>
                      <a:r>
                        <a:rPr sz="1200"/>
                        <a:t>1,902.54</a:t>
                      </a:r>
                    </a:p>
                  </a:txBody>
                  <a:tcPr anchor="ctr">
                    <a:noFill/>
                  </a:tcPr>
                </a:tc>
                <a:tc>
                  <a:txBody>
                    <a:bodyPr/>
                    <a:lstStyle/>
                    <a:p>
                      <a:pPr algn="ctr"/>
                      <a:r>
                        <a:rPr sz="1200"/>
                        <a:t>1,683.31</a:t>
                      </a:r>
                    </a:p>
                  </a:txBody>
                  <a:tcPr anchor="ctr">
                    <a:noFill/>
                  </a:tcPr>
                </a:tc>
                <a:tc>
                  <a:txBody>
                    <a:bodyPr/>
                    <a:lstStyle/>
                    <a:p>
                      <a:pPr algn="ctr"/>
                      <a:r>
                        <a:rPr sz="1200"/>
                        <a:t>51/390 (13.1%)</a:t>
                      </a:r>
                    </a:p>
                  </a:txBody>
                  <a:tcPr anchor="ctr">
                    <a:noFill/>
                  </a:tcPr>
                </a:tc>
                <a:tc>
                  <a:txBody>
                    <a:bodyPr/>
                    <a:lstStyle/>
                    <a:p>
                      <a:pPr algn="ctr"/>
                      <a:r>
                        <a:rPr sz="1200"/>
                        <a:t>100/700 (14.3%)</a:t>
                      </a:r>
                    </a:p>
                  </a:txBody>
                  <a:tcPr anchor="ctr">
                    <a:noFill/>
                  </a:tcPr>
                </a:tc>
                <a:extLst>
                  <a:ext uri="{0D108BD9-81ED-4DB2-BD59-A6C34878D82A}">
                    <a16:rowId xmlns:a16="http://schemas.microsoft.com/office/drawing/2014/main" val="10004"/>
                  </a:ext>
                </a:extLst>
              </a:tr>
              <a:tr h="331470">
                <a:tc>
                  <a:txBody>
                    <a:bodyPr/>
                    <a:lstStyle/>
                    <a:p>
                      <a:pPr algn="ctr"/>
                      <a:r>
                        <a:rPr sz="1200"/>
                        <a:t>SAT(피하지방)</a:t>
                      </a:r>
                    </a:p>
                  </a:txBody>
                  <a:tcPr anchor="ctr">
                    <a:noFill/>
                  </a:tcPr>
                </a:tc>
                <a:tc>
                  <a:txBody>
                    <a:bodyPr/>
                    <a:lstStyle/>
                    <a:p>
                      <a:pPr algn="ctr"/>
                      <a:r>
                        <a:rPr sz="1200"/>
                        <a:t>높으면 이상</a:t>
                      </a:r>
                    </a:p>
                  </a:txBody>
                  <a:tcPr anchor="ctr">
                    <a:noFill/>
                  </a:tcPr>
                </a:tc>
                <a:tc>
                  <a:txBody>
                    <a:bodyPr/>
                    <a:lstStyle/>
                    <a:p>
                      <a:pPr algn="ctr"/>
                      <a:r>
                        <a:rPr sz="1200"/>
                        <a:t>23,421.47</a:t>
                      </a:r>
                    </a:p>
                  </a:txBody>
                  <a:tcPr anchor="ctr">
                    <a:noFill/>
                  </a:tcPr>
                </a:tc>
                <a:tc>
                  <a:txBody>
                    <a:bodyPr/>
                    <a:lstStyle/>
                    <a:p>
                      <a:pPr algn="ctr"/>
                      <a:r>
                        <a:rPr sz="1200" dirty="0"/>
                        <a:t>29,798.28</a:t>
                      </a:r>
                    </a:p>
                  </a:txBody>
                  <a:tcPr anchor="ctr">
                    <a:noFill/>
                  </a:tcPr>
                </a:tc>
                <a:tc>
                  <a:txBody>
                    <a:bodyPr/>
                    <a:lstStyle/>
                    <a:p>
                      <a:pPr algn="ctr"/>
                      <a:r>
                        <a:rPr sz="1200"/>
                        <a:t>44/390 (11.3%)</a:t>
                      </a:r>
                    </a:p>
                  </a:txBody>
                  <a:tcPr anchor="ctr">
                    <a:noFill/>
                  </a:tcPr>
                </a:tc>
                <a:tc>
                  <a:txBody>
                    <a:bodyPr/>
                    <a:lstStyle/>
                    <a:p>
                      <a:pPr algn="ctr"/>
                      <a:r>
                        <a:rPr sz="1200"/>
                        <a:t>104/700 (14.9%)</a:t>
                      </a:r>
                    </a:p>
                  </a:txBody>
                  <a:tcPr anchor="ctr">
                    <a:noFill/>
                  </a:tcPr>
                </a:tc>
                <a:extLst>
                  <a:ext uri="{0D108BD9-81ED-4DB2-BD59-A6C34878D82A}">
                    <a16:rowId xmlns:a16="http://schemas.microsoft.com/office/drawing/2014/main" val="10005"/>
                  </a:ext>
                </a:extLst>
              </a:tr>
              <a:tr h="331470">
                <a:tc>
                  <a:txBody>
                    <a:bodyPr/>
                    <a:lstStyle/>
                    <a:p>
                      <a:pPr algn="ctr"/>
                      <a:r>
                        <a:rPr sz="1200"/>
                        <a:t>VAT(내장지방)</a:t>
                      </a:r>
                    </a:p>
                  </a:txBody>
                  <a:tcPr anchor="ctr">
                    <a:noFill/>
                  </a:tcPr>
                </a:tc>
                <a:tc>
                  <a:txBody>
                    <a:bodyPr/>
                    <a:lstStyle/>
                    <a:p>
                      <a:pPr algn="ctr"/>
                      <a:r>
                        <a:rPr sz="1200"/>
                        <a:t>높으면 이상</a:t>
                      </a:r>
                    </a:p>
                  </a:txBody>
                  <a:tcPr anchor="ctr">
                    <a:noFill/>
                  </a:tcPr>
                </a:tc>
                <a:tc>
                  <a:txBody>
                    <a:bodyPr/>
                    <a:lstStyle/>
                    <a:p>
                      <a:pPr algn="ctr"/>
                      <a:r>
                        <a:rPr sz="1200"/>
                        <a:t>17,286.71</a:t>
                      </a:r>
                    </a:p>
                  </a:txBody>
                  <a:tcPr anchor="ctr">
                    <a:noFill/>
                  </a:tcPr>
                </a:tc>
                <a:tc>
                  <a:txBody>
                    <a:bodyPr/>
                    <a:lstStyle/>
                    <a:p>
                      <a:pPr algn="ctr"/>
                      <a:r>
                        <a:rPr sz="1200"/>
                        <a:t>10,924.34</a:t>
                      </a:r>
                    </a:p>
                  </a:txBody>
                  <a:tcPr anchor="ctr">
                    <a:noFill/>
                  </a:tcPr>
                </a:tc>
                <a:tc>
                  <a:txBody>
                    <a:bodyPr/>
                    <a:lstStyle/>
                    <a:p>
                      <a:pPr algn="ctr"/>
                      <a:r>
                        <a:rPr sz="1200"/>
                        <a:t>53/390 (13.6%)</a:t>
                      </a:r>
                    </a:p>
                  </a:txBody>
                  <a:tcPr anchor="ctr">
                    <a:noFill/>
                  </a:tcPr>
                </a:tc>
                <a:tc>
                  <a:txBody>
                    <a:bodyPr/>
                    <a:lstStyle/>
                    <a:p>
                      <a:pPr algn="ctr"/>
                      <a:r>
                        <a:rPr sz="1200"/>
                        <a:t>112/700 (16.0%)</a:t>
                      </a:r>
                    </a:p>
                  </a:txBody>
                  <a:tcPr anchor="ctr">
                    <a:noFill/>
                  </a:tcPr>
                </a:tc>
                <a:extLst>
                  <a:ext uri="{0D108BD9-81ED-4DB2-BD59-A6C34878D82A}">
                    <a16:rowId xmlns:a16="http://schemas.microsoft.com/office/drawing/2014/main" val="10006"/>
                  </a:ext>
                </a:extLst>
              </a:tr>
              <a:tr h="331470">
                <a:tc>
                  <a:txBody>
                    <a:bodyPr/>
                    <a:lstStyle/>
                    <a:p>
                      <a:pPr algn="ctr"/>
                      <a:r>
                        <a:rPr sz="1200" dirty="0"/>
                        <a:t>Total Fat</a:t>
                      </a:r>
                    </a:p>
                  </a:txBody>
                  <a:tcPr anchor="ctr">
                    <a:noFill/>
                  </a:tcPr>
                </a:tc>
                <a:tc>
                  <a:txBody>
                    <a:bodyPr/>
                    <a:lstStyle/>
                    <a:p>
                      <a:pPr algn="ctr"/>
                      <a:r>
                        <a:rPr sz="1200"/>
                        <a:t>높으면 이상</a:t>
                      </a:r>
                    </a:p>
                  </a:txBody>
                  <a:tcPr anchor="ctr">
                    <a:noFill/>
                  </a:tcPr>
                </a:tc>
                <a:tc>
                  <a:txBody>
                    <a:bodyPr/>
                    <a:lstStyle/>
                    <a:p>
                      <a:pPr algn="ctr"/>
                      <a:r>
                        <a:rPr sz="1200"/>
                        <a:t>39,696.86</a:t>
                      </a:r>
                    </a:p>
                  </a:txBody>
                  <a:tcPr anchor="ctr">
                    <a:noFill/>
                  </a:tcPr>
                </a:tc>
                <a:tc>
                  <a:txBody>
                    <a:bodyPr/>
                    <a:lstStyle/>
                    <a:p>
                      <a:pPr algn="ctr"/>
                      <a:r>
                        <a:rPr sz="1200"/>
                        <a:t>39,812.01</a:t>
                      </a:r>
                    </a:p>
                  </a:txBody>
                  <a:tcPr anchor="ctr">
                    <a:noFill/>
                  </a:tcPr>
                </a:tc>
                <a:tc>
                  <a:txBody>
                    <a:bodyPr/>
                    <a:lstStyle/>
                    <a:p>
                      <a:pPr algn="ctr"/>
                      <a:r>
                        <a:rPr sz="1200" dirty="0"/>
                        <a:t>44/390 (11.3%)</a:t>
                      </a:r>
                    </a:p>
                  </a:txBody>
                  <a:tcPr anchor="ctr">
                    <a:noFill/>
                  </a:tcPr>
                </a:tc>
                <a:tc>
                  <a:txBody>
                    <a:bodyPr/>
                    <a:lstStyle/>
                    <a:p>
                      <a:pPr algn="ctr"/>
                      <a:r>
                        <a:rPr sz="1200" dirty="0"/>
                        <a:t>113/700 (16.1%)</a:t>
                      </a:r>
                    </a:p>
                  </a:txBody>
                  <a:tcPr anchor="ctr">
                    <a:noFill/>
                  </a:tcPr>
                </a:tc>
                <a:extLst>
                  <a:ext uri="{0D108BD9-81ED-4DB2-BD59-A6C34878D82A}">
                    <a16:rowId xmlns:a16="http://schemas.microsoft.com/office/drawing/2014/main" val="10007"/>
                  </a:ext>
                </a:extLst>
              </a:tr>
            </a:tbl>
          </a:graphicData>
        </a:graphic>
      </p:graphicFrame>
      <p:sp>
        <p:nvSpPr>
          <p:cNvPr id="5" name="슬라이드 번호 개체 틀 4">
            <a:extLst>
              <a:ext uri="{FF2B5EF4-FFF2-40B4-BE49-F238E27FC236}">
                <a16:creationId xmlns:a16="http://schemas.microsoft.com/office/drawing/2014/main" id="{D950AB9C-ABB3-EBFA-FF17-16FABB29717D}"/>
              </a:ext>
            </a:extLst>
          </p:cNvPr>
          <p:cNvSpPr>
            <a:spLocks noGrp="1"/>
          </p:cNvSpPr>
          <p:nvPr>
            <p:ph type="sldNum" sz="quarter" idx="12"/>
          </p:nvPr>
        </p:nvSpPr>
        <p:spPr/>
        <p:txBody>
          <a:bodyPr/>
          <a:lstStyle/>
          <a:p>
            <a:fld id="{9F4AF89A-28FA-47FA-B28F-9A9C6913CB7A}" type="slidenum">
              <a:rPr lang="ko-KR" altLang="en-US" smtClean="0"/>
              <a:pPr/>
              <a:t>16</a:t>
            </a:fld>
            <a:endParaRPr lang="ko-KR" alt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Step4: Logistic Regression 결과 — clinic4 vs clinic4+AEC(8구간)</a:t>
            </a:r>
          </a:p>
        </p:txBody>
      </p:sp>
      <p:sp>
        <p:nvSpPr>
          <p:cNvPr id="3" name="Content Placeholder 2"/>
          <p:cNvSpPr>
            <a:spLocks noGrp="1"/>
          </p:cNvSpPr>
          <p:nvPr>
            <p:ph idx="1"/>
          </p:nvPr>
        </p:nvSpPr>
        <p:spPr/>
        <p:txBody>
          <a:bodyPr/>
          <a:lstStyle/>
          <a:p>
            <a:r>
              <a:rPr dirty="0" err="1"/>
              <a:t>이진분류</a:t>
            </a:r>
            <a:r>
              <a:rPr dirty="0"/>
              <a:t>(</a:t>
            </a:r>
            <a:r>
              <a:rPr dirty="0" err="1"/>
              <a:t>Cutoff→AUC</a:t>
            </a:r>
            <a:r>
              <a:rPr dirty="0"/>
              <a:t>): </a:t>
            </a:r>
            <a:r>
              <a:rPr dirty="0" err="1"/>
              <a:t>내부</a:t>
            </a:r>
            <a:r>
              <a:rPr dirty="0"/>
              <a:t> </a:t>
            </a:r>
            <a:r>
              <a:rPr dirty="0" err="1"/>
              <a:t>교차검증</a:t>
            </a:r>
            <a:r>
              <a:rPr dirty="0"/>
              <a:t> </a:t>
            </a:r>
            <a:r>
              <a:rPr dirty="0" err="1"/>
              <a:t>기준</a:t>
            </a:r>
            <a:r>
              <a:rPr dirty="0"/>
              <a:t> </a:t>
            </a:r>
            <a:r>
              <a:rPr lang="ko-KR" altLang="en-US" dirty="0"/>
              <a:t>지방계열</a:t>
            </a:r>
            <a:r>
              <a:rPr lang="en-US" altLang="ko-KR" dirty="0"/>
              <a:t>(</a:t>
            </a:r>
            <a:r>
              <a:rPr dirty="0"/>
              <a:t>VAT·SAT</a:t>
            </a:r>
            <a:r>
              <a:rPr lang="en-US" altLang="ko-KR" dirty="0"/>
              <a:t> ·Total Fat)</a:t>
            </a:r>
            <a:r>
              <a:rPr dirty="0"/>
              <a:t> 3개 </a:t>
            </a:r>
            <a:r>
              <a:rPr dirty="0" err="1"/>
              <a:t>지표만</a:t>
            </a:r>
            <a:r>
              <a:rPr dirty="0"/>
              <a:t> </a:t>
            </a:r>
            <a:r>
              <a:rPr dirty="0" err="1"/>
              <a:t>유의개선</a:t>
            </a:r>
            <a:endParaRPr dirty="0"/>
          </a:p>
        </p:txBody>
      </p:sp>
      <p:graphicFrame>
        <p:nvGraphicFramePr>
          <p:cNvPr id="6" name="Table 5"/>
          <p:cNvGraphicFramePr>
            <a:graphicFrameLocks noGrp="1"/>
          </p:cNvGraphicFramePr>
          <p:nvPr>
            <p:extLst>
              <p:ext uri="{D42A27DB-BD31-4B8C-83A1-F6EECF244321}">
                <p14:modId xmlns:p14="http://schemas.microsoft.com/office/powerpoint/2010/main" val="2267713901"/>
              </p:ext>
            </p:extLst>
          </p:nvPr>
        </p:nvGraphicFramePr>
        <p:xfrm>
          <a:off x="508000" y="2338117"/>
          <a:ext cx="11176000" cy="3088648"/>
        </p:xfrm>
        <a:graphic>
          <a:graphicData uri="http://schemas.openxmlformats.org/drawingml/2006/table">
            <a:tbl>
              <a:tblPr firstRow="1" bandRow="1">
                <a:tableStyleId>{9D7B26C5-4107-4FEC-AEDC-1716B250A1EF}</a:tableStyleId>
              </a:tblPr>
              <a:tblGrid>
                <a:gridCol w="1300000">
                  <a:extLst>
                    <a:ext uri="{9D8B030D-6E8A-4147-A177-3AD203B41FA5}">
                      <a16:colId xmlns:a16="http://schemas.microsoft.com/office/drawing/2014/main" val="20000"/>
                    </a:ext>
                  </a:extLst>
                </a:gridCol>
                <a:gridCol w="1646000">
                  <a:extLst>
                    <a:ext uri="{9D8B030D-6E8A-4147-A177-3AD203B41FA5}">
                      <a16:colId xmlns:a16="http://schemas.microsoft.com/office/drawing/2014/main" val="20001"/>
                    </a:ext>
                  </a:extLst>
                </a:gridCol>
                <a:gridCol w="1646000">
                  <a:extLst>
                    <a:ext uri="{9D8B030D-6E8A-4147-A177-3AD203B41FA5}">
                      <a16:colId xmlns:a16="http://schemas.microsoft.com/office/drawing/2014/main" val="20002"/>
                    </a:ext>
                  </a:extLst>
                </a:gridCol>
                <a:gridCol w="1646000">
                  <a:extLst>
                    <a:ext uri="{9D8B030D-6E8A-4147-A177-3AD203B41FA5}">
                      <a16:colId xmlns:a16="http://schemas.microsoft.com/office/drawing/2014/main" val="20003"/>
                    </a:ext>
                  </a:extLst>
                </a:gridCol>
                <a:gridCol w="1646000">
                  <a:extLst>
                    <a:ext uri="{9D8B030D-6E8A-4147-A177-3AD203B41FA5}">
                      <a16:colId xmlns:a16="http://schemas.microsoft.com/office/drawing/2014/main" val="20004"/>
                    </a:ext>
                  </a:extLst>
                </a:gridCol>
                <a:gridCol w="1646000">
                  <a:extLst>
                    <a:ext uri="{9D8B030D-6E8A-4147-A177-3AD203B41FA5}">
                      <a16:colId xmlns:a16="http://schemas.microsoft.com/office/drawing/2014/main" val="20005"/>
                    </a:ext>
                  </a:extLst>
                </a:gridCol>
                <a:gridCol w="1646000">
                  <a:extLst>
                    <a:ext uri="{9D8B030D-6E8A-4147-A177-3AD203B41FA5}">
                      <a16:colId xmlns:a16="http://schemas.microsoft.com/office/drawing/2014/main" val="20006"/>
                    </a:ext>
                  </a:extLst>
                </a:gridCol>
              </a:tblGrid>
              <a:tr h="386081">
                <a:tc>
                  <a:txBody>
                    <a:bodyPr/>
                    <a:lstStyle/>
                    <a:p>
                      <a:pPr algn="ctr"/>
                      <a:r>
                        <a:rPr sz="1200" b="1"/>
                        <a:t>Feature</a:t>
                      </a:r>
                    </a:p>
                  </a:txBody>
                  <a:tcPr/>
                </a:tc>
                <a:tc>
                  <a:txBody>
                    <a:bodyPr/>
                    <a:lstStyle/>
                    <a:p>
                      <a:pPr algn="ctr"/>
                      <a:r>
                        <a:rPr sz="1200" b="1"/>
                        <a:t>AUC clinic4 (Int)</a:t>
                      </a:r>
                    </a:p>
                  </a:txBody>
                  <a:tcPr/>
                </a:tc>
                <a:tc>
                  <a:txBody>
                    <a:bodyPr/>
                    <a:lstStyle/>
                    <a:p>
                      <a:pPr algn="ctr"/>
                      <a:r>
                        <a:rPr sz="1200" b="1"/>
                        <a:t>AUC +AEC (Int)</a:t>
                      </a:r>
                    </a:p>
                  </a:txBody>
                  <a:tcPr/>
                </a:tc>
                <a:tc>
                  <a:txBody>
                    <a:bodyPr/>
                    <a:lstStyle/>
                    <a:p>
                      <a:pPr algn="ctr"/>
                      <a:r>
                        <a:rPr sz="1200" b="1" dirty="0"/>
                        <a:t>DeLong p (Int)</a:t>
                      </a:r>
                    </a:p>
                  </a:txBody>
                  <a:tcPr/>
                </a:tc>
                <a:tc>
                  <a:txBody>
                    <a:bodyPr/>
                    <a:lstStyle/>
                    <a:p>
                      <a:pPr algn="ctr"/>
                      <a:r>
                        <a:rPr sz="1200" b="1"/>
                        <a:t>AUC clinic4 (Ext)</a:t>
                      </a:r>
                    </a:p>
                  </a:txBody>
                  <a:tcPr/>
                </a:tc>
                <a:tc>
                  <a:txBody>
                    <a:bodyPr/>
                    <a:lstStyle/>
                    <a:p>
                      <a:pPr algn="ctr"/>
                      <a:r>
                        <a:rPr sz="1200" b="1"/>
                        <a:t>AUC +AEC (Ext)</a:t>
                      </a:r>
                    </a:p>
                  </a:txBody>
                  <a:tcPr/>
                </a:tc>
                <a:tc>
                  <a:txBody>
                    <a:bodyPr/>
                    <a:lstStyle/>
                    <a:p>
                      <a:pPr algn="ctr"/>
                      <a:r>
                        <a:rPr sz="1200" b="1"/>
                        <a:t>DeLong p (Ext)</a:t>
                      </a:r>
                    </a:p>
                  </a:txBody>
                  <a:tcPr/>
                </a:tc>
                <a:extLst>
                  <a:ext uri="{0D108BD9-81ED-4DB2-BD59-A6C34878D82A}">
                    <a16:rowId xmlns:a16="http://schemas.microsoft.com/office/drawing/2014/main" val="10000"/>
                  </a:ext>
                </a:extLst>
              </a:tr>
              <a:tr h="386081">
                <a:tc>
                  <a:txBody>
                    <a:bodyPr/>
                    <a:lstStyle/>
                    <a:p>
                      <a:pPr algn="ctr"/>
                      <a:r>
                        <a:rPr sz="1200">
                          <a:solidFill>
                            <a:srgbClr val="1E7A3C"/>
                          </a:solidFill>
                        </a:rPr>
                        <a:t>VAT</a:t>
                      </a:r>
                    </a:p>
                  </a:txBody>
                  <a:tcPr>
                    <a:noFill/>
                  </a:tcPr>
                </a:tc>
                <a:tc>
                  <a:txBody>
                    <a:bodyPr/>
                    <a:lstStyle/>
                    <a:p>
                      <a:pPr algn="ctr"/>
                      <a:r>
                        <a:rPr sz="1200">
                          <a:solidFill>
                            <a:srgbClr val="1E7A3C"/>
                          </a:solidFill>
                        </a:rPr>
                        <a:t>0.847</a:t>
                      </a:r>
                    </a:p>
                  </a:txBody>
                  <a:tcPr>
                    <a:noFill/>
                  </a:tcPr>
                </a:tc>
                <a:tc>
                  <a:txBody>
                    <a:bodyPr/>
                    <a:lstStyle/>
                    <a:p>
                      <a:pPr algn="ctr"/>
                      <a:r>
                        <a:rPr sz="1200">
                          <a:solidFill>
                            <a:srgbClr val="1E7A3C"/>
                          </a:solidFill>
                        </a:rPr>
                        <a:t>0.892</a:t>
                      </a:r>
                    </a:p>
                  </a:txBody>
                  <a:tcPr>
                    <a:noFill/>
                  </a:tcPr>
                </a:tc>
                <a:tc>
                  <a:txBody>
                    <a:bodyPr/>
                    <a:lstStyle/>
                    <a:p>
                      <a:pPr algn="ctr"/>
                      <a:r>
                        <a:rPr sz="1200">
                          <a:solidFill>
                            <a:srgbClr val="1E7A3C"/>
                          </a:solidFill>
                        </a:rPr>
                        <a:t>p&lt;0.001 (+AEC)</a:t>
                      </a:r>
                    </a:p>
                  </a:txBody>
                  <a:tcPr>
                    <a:noFill/>
                  </a:tcPr>
                </a:tc>
                <a:tc>
                  <a:txBody>
                    <a:bodyPr/>
                    <a:lstStyle/>
                    <a:p>
                      <a:pPr algn="ctr"/>
                      <a:r>
                        <a:rPr sz="1200">
                          <a:solidFill>
                            <a:srgbClr val="1E7A3C"/>
                          </a:solidFill>
                        </a:rPr>
                        <a:t>0.813</a:t>
                      </a:r>
                    </a:p>
                  </a:txBody>
                  <a:tcPr>
                    <a:noFill/>
                  </a:tcPr>
                </a:tc>
                <a:tc>
                  <a:txBody>
                    <a:bodyPr/>
                    <a:lstStyle/>
                    <a:p>
                      <a:pPr algn="ctr"/>
                      <a:r>
                        <a:rPr sz="1200">
                          <a:solidFill>
                            <a:srgbClr val="1E7A3C"/>
                          </a:solidFill>
                        </a:rPr>
                        <a:t>0.869</a:t>
                      </a:r>
                    </a:p>
                  </a:txBody>
                  <a:tcPr>
                    <a:noFill/>
                  </a:tcPr>
                </a:tc>
                <a:tc>
                  <a:txBody>
                    <a:bodyPr/>
                    <a:lstStyle/>
                    <a:p>
                      <a:pPr algn="ctr"/>
                      <a:r>
                        <a:rPr sz="1200">
                          <a:solidFill>
                            <a:srgbClr val="1E7A3C"/>
                          </a:solidFill>
                        </a:rPr>
                        <a:t>p&lt;0.001 (+AEC)</a:t>
                      </a:r>
                    </a:p>
                  </a:txBody>
                  <a:tcPr>
                    <a:noFill/>
                  </a:tcPr>
                </a:tc>
                <a:extLst>
                  <a:ext uri="{0D108BD9-81ED-4DB2-BD59-A6C34878D82A}">
                    <a16:rowId xmlns:a16="http://schemas.microsoft.com/office/drawing/2014/main" val="10001"/>
                  </a:ext>
                </a:extLst>
              </a:tr>
              <a:tr h="386081">
                <a:tc>
                  <a:txBody>
                    <a:bodyPr/>
                    <a:lstStyle/>
                    <a:p>
                      <a:pPr algn="ctr"/>
                      <a:r>
                        <a:rPr sz="1200">
                          <a:solidFill>
                            <a:srgbClr val="1E7A3C"/>
                          </a:solidFill>
                        </a:rPr>
                        <a:t>Total Fat</a:t>
                      </a:r>
                    </a:p>
                  </a:txBody>
                  <a:tcPr>
                    <a:noFill/>
                  </a:tcPr>
                </a:tc>
                <a:tc>
                  <a:txBody>
                    <a:bodyPr/>
                    <a:lstStyle/>
                    <a:p>
                      <a:pPr algn="ctr"/>
                      <a:r>
                        <a:rPr sz="1200">
                          <a:solidFill>
                            <a:srgbClr val="1E7A3C"/>
                          </a:solidFill>
                        </a:rPr>
                        <a:t>0.852</a:t>
                      </a:r>
                    </a:p>
                  </a:txBody>
                  <a:tcPr>
                    <a:noFill/>
                  </a:tcPr>
                </a:tc>
                <a:tc>
                  <a:txBody>
                    <a:bodyPr/>
                    <a:lstStyle/>
                    <a:p>
                      <a:pPr algn="ctr"/>
                      <a:r>
                        <a:rPr sz="1200">
                          <a:solidFill>
                            <a:srgbClr val="1E7A3C"/>
                          </a:solidFill>
                        </a:rPr>
                        <a:t>0.873</a:t>
                      </a:r>
                    </a:p>
                  </a:txBody>
                  <a:tcPr>
                    <a:noFill/>
                  </a:tcPr>
                </a:tc>
                <a:tc>
                  <a:txBody>
                    <a:bodyPr/>
                    <a:lstStyle/>
                    <a:p>
                      <a:pPr algn="ctr"/>
                      <a:r>
                        <a:rPr sz="1200">
                          <a:solidFill>
                            <a:srgbClr val="1E7A3C"/>
                          </a:solidFill>
                        </a:rPr>
                        <a:t>p=0.029 (+AEC)</a:t>
                      </a:r>
                    </a:p>
                  </a:txBody>
                  <a:tcPr>
                    <a:noFill/>
                  </a:tcPr>
                </a:tc>
                <a:tc>
                  <a:txBody>
                    <a:bodyPr/>
                    <a:lstStyle/>
                    <a:p>
                      <a:pPr algn="ctr"/>
                      <a:r>
                        <a:rPr sz="1200">
                          <a:solidFill>
                            <a:srgbClr val="1E7A3C"/>
                          </a:solidFill>
                        </a:rPr>
                        <a:t>0.867</a:t>
                      </a:r>
                    </a:p>
                  </a:txBody>
                  <a:tcPr>
                    <a:noFill/>
                  </a:tcPr>
                </a:tc>
                <a:tc>
                  <a:txBody>
                    <a:bodyPr/>
                    <a:lstStyle/>
                    <a:p>
                      <a:pPr algn="ctr"/>
                      <a:r>
                        <a:rPr sz="1200">
                          <a:solidFill>
                            <a:srgbClr val="1E7A3C"/>
                          </a:solidFill>
                        </a:rPr>
                        <a:t>0.897</a:t>
                      </a:r>
                    </a:p>
                  </a:txBody>
                  <a:tcPr>
                    <a:noFill/>
                  </a:tcPr>
                </a:tc>
                <a:tc>
                  <a:txBody>
                    <a:bodyPr/>
                    <a:lstStyle/>
                    <a:p>
                      <a:pPr algn="ctr"/>
                      <a:r>
                        <a:rPr sz="1200">
                          <a:solidFill>
                            <a:srgbClr val="1E7A3C"/>
                          </a:solidFill>
                        </a:rPr>
                        <a:t>p=0.001 (+AEC)</a:t>
                      </a:r>
                    </a:p>
                  </a:txBody>
                  <a:tcPr>
                    <a:noFill/>
                  </a:tcPr>
                </a:tc>
                <a:extLst>
                  <a:ext uri="{0D108BD9-81ED-4DB2-BD59-A6C34878D82A}">
                    <a16:rowId xmlns:a16="http://schemas.microsoft.com/office/drawing/2014/main" val="10002"/>
                  </a:ext>
                </a:extLst>
              </a:tr>
              <a:tr h="386081">
                <a:tc>
                  <a:txBody>
                    <a:bodyPr/>
                    <a:lstStyle/>
                    <a:p>
                      <a:pPr algn="ctr"/>
                      <a:r>
                        <a:rPr sz="1200">
                          <a:solidFill>
                            <a:srgbClr val="1E7A3C"/>
                          </a:solidFill>
                        </a:rPr>
                        <a:t>SAT</a:t>
                      </a:r>
                    </a:p>
                  </a:txBody>
                  <a:tcPr>
                    <a:noFill/>
                  </a:tcPr>
                </a:tc>
                <a:tc>
                  <a:txBody>
                    <a:bodyPr/>
                    <a:lstStyle/>
                    <a:p>
                      <a:pPr algn="ctr"/>
                      <a:r>
                        <a:rPr sz="1200">
                          <a:solidFill>
                            <a:srgbClr val="1E7A3C"/>
                          </a:solidFill>
                        </a:rPr>
                        <a:t>0.841</a:t>
                      </a:r>
                    </a:p>
                  </a:txBody>
                  <a:tcPr>
                    <a:noFill/>
                  </a:tcPr>
                </a:tc>
                <a:tc>
                  <a:txBody>
                    <a:bodyPr/>
                    <a:lstStyle/>
                    <a:p>
                      <a:pPr algn="ctr"/>
                      <a:r>
                        <a:rPr sz="1200">
                          <a:solidFill>
                            <a:srgbClr val="1E7A3C"/>
                          </a:solidFill>
                        </a:rPr>
                        <a:t>0.860</a:t>
                      </a:r>
                    </a:p>
                  </a:txBody>
                  <a:tcPr>
                    <a:noFill/>
                  </a:tcPr>
                </a:tc>
                <a:tc>
                  <a:txBody>
                    <a:bodyPr/>
                    <a:lstStyle/>
                    <a:p>
                      <a:pPr algn="ctr"/>
                      <a:r>
                        <a:rPr sz="1200">
                          <a:solidFill>
                            <a:srgbClr val="1E7A3C"/>
                          </a:solidFill>
                        </a:rPr>
                        <a:t>p=0.041 (+AEC)</a:t>
                      </a:r>
                    </a:p>
                  </a:txBody>
                  <a:tcPr>
                    <a:noFill/>
                  </a:tcPr>
                </a:tc>
                <a:tc>
                  <a:txBody>
                    <a:bodyPr/>
                    <a:lstStyle/>
                    <a:p>
                      <a:pPr algn="ctr"/>
                      <a:r>
                        <a:rPr sz="1200">
                          <a:solidFill>
                            <a:srgbClr val="1E7A3C"/>
                          </a:solidFill>
                        </a:rPr>
                        <a:t>0.873</a:t>
                      </a:r>
                    </a:p>
                  </a:txBody>
                  <a:tcPr>
                    <a:noFill/>
                  </a:tcPr>
                </a:tc>
                <a:tc>
                  <a:txBody>
                    <a:bodyPr/>
                    <a:lstStyle/>
                    <a:p>
                      <a:pPr algn="ctr"/>
                      <a:r>
                        <a:rPr sz="1200">
                          <a:solidFill>
                            <a:srgbClr val="1E7A3C"/>
                          </a:solidFill>
                        </a:rPr>
                        <a:t>0.897</a:t>
                      </a:r>
                    </a:p>
                  </a:txBody>
                  <a:tcPr>
                    <a:noFill/>
                  </a:tcPr>
                </a:tc>
                <a:tc>
                  <a:txBody>
                    <a:bodyPr/>
                    <a:lstStyle/>
                    <a:p>
                      <a:pPr algn="ctr"/>
                      <a:r>
                        <a:rPr sz="1200">
                          <a:solidFill>
                            <a:srgbClr val="1E7A3C"/>
                          </a:solidFill>
                        </a:rPr>
                        <a:t>p=0.003 (+AEC)</a:t>
                      </a:r>
                    </a:p>
                  </a:txBody>
                  <a:tcPr>
                    <a:noFill/>
                  </a:tcPr>
                </a:tc>
                <a:extLst>
                  <a:ext uri="{0D108BD9-81ED-4DB2-BD59-A6C34878D82A}">
                    <a16:rowId xmlns:a16="http://schemas.microsoft.com/office/drawing/2014/main" val="10003"/>
                  </a:ext>
                </a:extLst>
              </a:tr>
              <a:tr h="386081">
                <a:tc>
                  <a:txBody>
                    <a:bodyPr/>
                    <a:lstStyle/>
                    <a:p>
                      <a:pPr algn="ctr"/>
                      <a:r>
                        <a:rPr sz="1200" dirty="0">
                          <a:solidFill>
                            <a:schemeClr val="tx1"/>
                          </a:solidFill>
                        </a:rPr>
                        <a:t>IMATA</a:t>
                      </a:r>
                    </a:p>
                  </a:txBody>
                  <a:tcPr>
                    <a:noFill/>
                  </a:tcPr>
                </a:tc>
                <a:tc>
                  <a:txBody>
                    <a:bodyPr/>
                    <a:lstStyle/>
                    <a:p>
                      <a:pPr algn="ctr"/>
                      <a:r>
                        <a:rPr sz="1200" dirty="0">
                          <a:solidFill>
                            <a:schemeClr val="tx1"/>
                          </a:solidFill>
                        </a:rPr>
                        <a:t>0.823</a:t>
                      </a:r>
                    </a:p>
                  </a:txBody>
                  <a:tcPr>
                    <a:noFill/>
                  </a:tcPr>
                </a:tc>
                <a:tc>
                  <a:txBody>
                    <a:bodyPr/>
                    <a:lstStyle/>
                    <a:p>
                      <a:pPr algn="ctr"/>
                      <a:r>
                        <a:rPr sz="1200" dirty="0">
                          <a:solidFill>
                            <a:schemeClr val="tx1"/>
                          </a:solidFill>
                        </a:rPr>
                        <a:t>0.840</a:t>
                      </a:r>
                    </a:p>
                  </a:txBody>
                  <a:tcPr>
                    <a:noFill/>
                  </a:tcPr>
                </a:tc>
                <a:tc>
                  <a:txBody>
                    <a:bodyPr/>
                    <a:lstStyle/>
                    <a:p>
                      <a:pPr algn="ctr"/>
                      <a:r>
                        <a:rPr sz="1200">
                          <a:solidFill>
                            <a:schemeClr val="tx1"/>
                          </a:solidFill>
                        </a:rPr>
                        <a:t>p=0.071 (n.s.)</a:t>
                      </a:r>
                    </a:p>
                  </a:txBody>
                  <a:tcPr>
                    <a:noFill/>
                  </a:tcPr>
                </a:tc>
                <a:tc>
                  <a:txBody>
                    <a:bodyPr/>
                    <a:lstStyle/>
                    <a:p>
                      <a:pPr algn="ctr"/>
                      <a:r>
                        <a:rPr sz="1200">
                          <a:solidFill>
                            <a:schemeClr val="tx1"/>
                          </a:solidFill>
                        </a:rPr>
                        <a:t>0.831</a:t>
                      </a:r>
                    </a:p>
                  </a:txBody>
                  <a:tcPr>
                    <a:noFill/>
                  </a:tcPr>
                </a:tc>
                <a:tc>
                  <a:txBody>
                    <a:bodyPr/>
                    <a:lstStyle/>
                    <a:p>
                      <a:pPr algn="ctr"/>
                      <a:r>
                        <a:rPr sz="1200">
                          <a:solidFill>
                            <a:schemeClr val="tx1"/>
                          </a:solidFill>
                        </a:rPr>
                        <a:t>0.859</a:t>
                      </a:r>
                    </a:p>
                  </a:txBody>
                  <a:tcPr>
                    <a:noFill/>
                  </a:tcPr>
                </a:tc>
                <a:tc>
                  <a:txBody>
                    <a:bodyPr/>
                    <a:lstStyle/>
                    <a:p>
                      <a:pPr algn="ctr"/>
                      <a:r>
                        <a:rPr sz="1200">
                          <a:solidFill>
                            <a:schemeClr val="tx1"/>
                          </a:solidFill>
                        </a:rPr>
                        <a:t>p=0.003 (+AEC)</a:t>
                      </a:r>
                    </a:p>
                  </a:txBody>
                  <a:tcPr>
                    <a:noFill/>
                  </a:tcPr>
                </a:tc>
                <a:extLst>
                  <a:ext uri="{0D108BD9-81ED-4DB2-BD59-A6C34878D82A}">
                    <a16:rowId xmlns:a16="http://schemas.microsoft.com/office/drawing/2014/main" val="10004"/>
                  </a:ext>
                </a:extLst>
              </a:tr>
              <a:tr h="386081">
                <a:tc>
                  <a:txBody>
                    <a:bodyPr/>
                    <a:lstStyle/>
                    <a:p>
                      <a:pPr algn="ctr"/>
                      <a:r>
                        <a:rPr sz="1200">
                          <a:solidFill>
                            <a:schemeClr val="tx1"/>
                          </a:solidFill>
                        </a:rPr>
                        <a:t>LAMA</a:t>
                      </a:r>
                    </a:p>
                  </a:txBody>
                  <a:tcPr>
                    <a:noFill/>
                  </a:tcPr>
                </a:tc>
                <a:tc>
                  <a:txBody>
                    <a:bodyPr/>
                    <a:lstStyle/>
                    <a:p>
                      <a:pPr algn="ctr"/>
                      <a:r>
                        <a:rPr sz="1200" dirty="0">
                          <a:solidFill>
                            <a:schemeClr val="tx1"/>
                          </a:solidFill>
                        </a:rPr>
                        <a:t>0.816</a:t>
                      </a:r>
                    </a:p>
                  </a:txBody>
                  <a:tcPr>
                    <a:noFill/>
                  </a:tcPr>
                </a:tc>
                <a:tc>
                  <a:txBody>
                    <a:bodyPr/>
                    <a:lstStyle/>
                    <a:p>
                      <a:pPr algn="ctr"/>
                      <a:r>
                        <a:rPr sz="1200" dirty="0">
                          <a:solidFill>
                            <a:schemeClr val="tx1"/>
                          </a:solidFill>
                        </a:rPr>
                        <a:t>0.835</a:t>
                      </a:r>
                    </a:p>
                  </a:txBody>
                  <a:tcPr>
                    <a:noFill/>
                  </a:tcPr>
                </a:tc>
                <a:tc>
                  <a:txBody>
                    <a:bodyPr/>
                    <a:lstStyle/>
                    <a:p>
                      <a:pPr algn="ctr"/>
                      <a:r>
                        <a:rPr sz="1200" dirty="0">
                          <a:solidFill>
                            <a:schemeClr val="tx1"/>
                          </a:solidFill>
                        </a:rPr>
                        <a:t>p=0.102 (</a:t>
                      </a:r>
                      <a:r>
                        <a:rPr sz="1200" dirty="0" err="1">
                          <a:solidFill>
                            <a:schemeClr val="tx1"/>
                          </a:solidFill>
                        </a:rPr>
                        <a:t>n.s</a:t>
                      </a:r>
                      <a:r>
                        <a:rPr sz="1200" dirty="0">
                          <a:solidFill>
                            <a:schemeClr val="tx1"/>
                          </a:solidFill>
                        </a:rPr>
                        <a:t>.)</a:t>
                      </a:r>
                    </a:p>
                  </a:txBody>
                  <a:tcPr>
                    <a:noFill/>
                  </a:tcPr>
                </a:tc>
                <a:tc>
                  <a:txBody>
                    <a:bodyPr/>
                    <a:lstStyle/>
                    <a:p>
                      <a:pPr algn="ctr"/>
                      <a:r>
                        <a:rPr sz="1200" dirty="0">
                          <a:solidFill>
                            <a:schemeClr val="tx1"/>
                          </a:solidFill>
                        </a:rPr>
                        <a:t>0.784</a:t>
                      </a:r>
                    </a:p>
                  </a:txBody>
                  <a:tcPr>
                    <a:noFill/>
                  </a:tcPr>
                </a:tc>
                <a:tc>
                  <a:txBody>
                    <a:bodyPr/>
                    <a:lstStyle/>
                    <a:p>
                      <a:pPr algn="ctr"/>
                      <a:r>
                        <a:rPr sz="1200">
                          <a:solidFill>
                            <a:schemeClr val="tx1"/>
                          </a:solidFill>
                        </a:rPr>
                        <a:t>0.812</a:t>
                      </a:r>
                    </a:p>
                  </a:txBody>
                  <a:tcPr>
                    <a:noFill/>
                  </a:tcPr>
                </a:tc>
                <a:tc>
                  <a:txBody>
                    <a:bodyPr/>
                    <a:lstStyle/>
                    <a:p>
                      <a:pPr algn="ctr"/>
                      <a:r>
                        <a:rPr sz="1200">
                          <a:solidFill>
                            <a:schemeClr val="tx1"/>
                          </a:solidFill>
                        </a:rPr>
                        <a:t>p=0.001 (+AEC)</a:t>
                      </a:r>
                    </a:p>
                  </a:txBody>
                  <a:tcPr>
                    <a:noFill/>
                  </a:tcPr>
                </a:tc>
                <a:extLst>
                  <a:ext uri="{0D108BD9-81ED-4DB2-BD59-A6C34878D82A}">
                    <a16:rowId xmlns:a16="http://schemas.microsoft.com/office/drawing/2014/main" val="10005"/>
                  </a:ext>
                </a:extLst>
              </a:tr>
              <a:tr h="386081">
                <a:tc>
                  <a:txBody>
                    <a:bodyPr/>
                    <a:lstStyle/>
                    <a:p>
                      <a:pPr algn="ctr"/>
                      <a:r>
                        <a:rPr sz="1200" dirty="0">
                          <a:solidFill>
                            <a:srgbClr val="FF0000"/>
                          </a:solidFill>
                        </a:rPr>
                        <a:t>TAMA</a:t>
                      </a:r>
                    </a:p>
                  </a:txBody>
                  <a:tcPr>
                    <a:noFill/>
                  </a:tcPr>
                </a:tc>
                <a:tc>
                  <a:txBody>
                    <a:bodyPr/>
                    <a:lstStyle/>
                    <a:p>
                      <a:pPr algn="ctr"/>
                      <a:r>
                        <a:rPr sz="1200" dirty="0">
                          <a:solidFill>
                            <a:srgbClr val="FF0000"/>
                          </a:solidFill>
                        </a:rPr>
                        <a:t>0.870</a:t>
                      </a:r>
                    </a:p>
                  </a:txBody>
                  <a:tcPr>
                    <a:noFill/>
                  </a:tcPr>
                </a:tc>
                <a:tc>
                  <a:txBody>
                    <a:bodyPr/>
                    <a:lstStyle/>
                    <a:p>
                      <a:pPr algn="ctr"/>
                      <a:r>
                        <a:rPr sz="1200" dirty="0">
                          <a:solidFill>
                            <a:srgbClr val="FF0000"/>
                          </a:solidFill>
                        </a:rPr>
                        <a:t>0.866</a:t>
                      </a:r>
                    </a:p>
                  </a:txBody>
                  <a:tcPr>
                    <a:noFill/>
                  </a:tcPr>
                </a:tc>
                <a:tc>
                  <a:txBody>
                    <a:bodyPr/>
                    <a:lstStyle/>
                    <a:p>
                      <a:pPr algn="ctr"/>
                      <a:r>
                        <a:rPr sz="1200" dirty="0">
                          <a:solidFill>
                            <a:srgbClr val="FF0000"/>
                          </a:solidFill>
                        </a:rPr>
                        <a:t>p=0.512 (</a:t>
                      </a:r>
                      <a:r>
                        <a:rPr sz="1200" dirty="0" err="1">
                          <a:solidFill>
                            <a:srgbClr val="FF0000"/>
                          </a:solidFill>
                        </a:rPr>
                        <a:t>n.s</a:t>
                      </a:r>
                      <a:r>
                        <a:rPr sz="1200" dirty="0">
                          <a:solidFill>
                            <a:srgbClr val="FF0000"/>
                          </a:solidFill>
                        </a:rPr>
                        <a:t>.)</a:t>
                      </a:r>
                    </a:p>
                  </a:txBody>
                  <a:tcPr>
                    <a:noFill/>
                  </a:tcPr>
                </a:tc>
                <a:tc>
                  <a:txBody>
                    <a:bodyPr/>
                    <a:lstStyle/>
                    <a:p>
                      <a:pPr algn="ctr"/>
                      <a:r>
                        <a:rPr sz="1200" dirty="0">
                          <a:solidFill>
                            <a:srgbClr val="FF0000"/>
                          </a:solidFill>
                        </a:rPr>
                        <a:t>0.878</a:t>
                      </a:r>
                    </a:p>
                  </a:txBody>
                  <a:tcPr>
                    <a:noFill/>
                  </a:tcPr>
                </a:tc>
                <a:tc>
                  <a:txBody>
                    <a:bodyPr/>
                    <a:lstStyle/>
                    <a:p>
                      <a:pPr algn="ctr"/>
                      <a:r>
                        <a:rPr sz="1200" dirty="0">
                          <a:solidFill>
                            <a:srgbClr val="FF0000"/>
                          </a:solidFill>
                        </a:rPr>
                        <a:t>0.855</a:t>
                      </a:r>
                    </a:p>
                  </a:txBody>
                  <a:tcPr>
                    <a:noFill/>
                  </a:tcPr>
                </a:tc>
                <a:tc>
                  <a:txBody>
                    <a:bodyPr/>
                    <a:lstStyle/>
                    <a:p>
                      <a:pPr algn="ctr"/>
                      <a:r>
                        <a:rPr sz="1200" dirty="0">
                          <a:solidFill>
                            <a:srgbClr val="FF0000"/>
                          </a:solidFill>
                        </a:rPr>
                        <a:t>p=0.002 (clinic4)</a:t>
                      </a:r>
                    </a:p>
                  </a:txBody>
                  <a:tcPr>
                    <a:noFill/>
                  </a:tcPr>
                </a:tc>
                <a:extLst>
                  <a:ext uri="{0D108BD9-81ED-4DB2-BD59-A6C34878D82A}">
                    <a16:rowId xmlns:a16="http://schemas.microsoft.com/office/drawing/2014/main" val="10006"/>
                  </a:ext>
                </a:extLst>
              </a:tr>
              <a:tr h="386081">
                <a:tc>
                  <a:txBody>
                    <a:bodyPr/>
                    <a:lstStyle/>
                    <a:p>
                      <a:pPr algn="ctr"/>
                      <a:r>
                        <a:rPr sz="1200">
                          <a:solidFill>
                            <a:srgbClr val="FF0000"/>
                          </a:solidFill>
                        </a:rPr>
                        <a:t>NAMA</a:t>
                      </a:r>
                    </a:p>
                  </a:txBody>
                  <a:tcPr>
                    <a:noFill/>
                  </a:tcPr>
                </a:tc>
                <a:tc>
                  <a:txBody>
                    <a:bodyPr/>
                    <a:lstStyle/>
                    <a:p>
                      <a:pPr algn="ctr"/>
                      <a:r>
                        <a:rPr sz="1200">
                          <a:solidFill>
                            <a:srgbClr val="FF0000"/>
                          </a:solidFill>
                        </a:rPr>
                        <a:t>0.838</a:t>
                      </a:r>
                    </a:p>
                  </a:txBody>
                  <a:tcPr>
                    <a:noFill/>
                  </a:tcPr>
                </a:tc>
                <a:tc>
                  <a:txBody>
                    <a:bodyPr/>
                    <a:lstStyle/>
                    <a:p>
                      <a:pPr algn="ctr"/>
                      <a:r>
                        <a:rPr sz="1200">
                          <a:solidFill>
                            <a:srgbClr val="FF0000"/>
                          </a:solidFill>
                        </a:rPr>
                        <a:t>0.838</a:t>
                      </a:r>
                    </a:p>
                  </a:txBody>
                  <a:tcPr>
                    <a:noFill/>
                  </a:tcPr>
                </a:tc>
                <a:tc>
                  <a:txBody>
                    <a:bodyPr/>
                    <a:lstStyle/>
                    <a:p>
                      <a:pPr algn="ctr"/>
                      <a:r>
                        <a:rPr sz="1200" dirty="0">
                          <a:solidFill>
                            <a:srgbClr val="FF0000"/>
                          </a:solidFill>
                        </a:rPr>
                        <a:t>p=0.929 (</a:t>
                      </a:r>
                      <a:r>
                        <a:rPr sz="1200" dirty="0" err="1">
                          <a:solidFill>
                            <a:srgbClr val="FF0000"/>
                          </a:solidFill>
                        </a:rPr>
                        <a:t>n.s</a:t>
                      </a:r>
                      <a:r>
                        <a:rPr sz="1200" dirty="0">
                          <a:solidFill>
                            <a:srgbClr val="FF0000"/>
                          </a:solidFill>
                        </a:rPr>
                        <a:t>.)</a:t>
                      </a:r>
                    </a:p>
                  </a:txBody>
                  <a:tcPr>
                    <a:noFill/>
                  </a:tcPr>
                </a:tc>
                <a:tc>
                  <a:txBody>
                    <a:bodyPr/>
                    <a:lstStyle/>
                    <a:p>
                      <a:pPr algn="ctr"/>
                      <a:r>
                        <a:rPr sz="1200" dirty="0">
                          <a:solidFill>
                            <a:srgbClr val="FF0000"/>
                          </a:solidFill>
                        </a:rPr>
                        <a:t>0.768</a:t>
                      </a:r>
                    </a:p>
                  </a:txBody>
                  <a:tcPr>
                    <a:noFill/>
                  </a:tcPr>
                </a:tc>
                <a:tc>
                  <a:txBody>
                    <a:bodyPr/>
                    <a:lstStyle/>
                    <a:p>
                      <a:pPr algn="ctr"/>
                      <a:r>
                        <a:rPr sz="1200" dirty="0">
                          <a:solidFill>
                            <a:srgbClr val="FF0000"/>
                          </a:solidFill>
                        </a:rPr>
                        <a:t>0.762</a:t>
                      </a:r>
                    </a:p>
                  </a:txBody>
                  <a:tcPr>
                    <a:noFill/>
                  </a:tcPr>
                </a:tc>
                <a:tc>
                  <a:txBody>
                    <a:bodyPr/>
                    <a:lstStyle/>
                    <a:p>
                      <a:pPr algn="ctr"/>
                      <a:r>
                        <a:rPr sz="1200" dirty="0">
                          <a:solidFill>
                            <a:srgbClr val="FF0000"/>
                          </a:solidFill>
                        </a:rPr>
                        <a:t>p=0.310 (</a:t>
                      </a:r>
                      <a:r>
                        <a:rPr sz="1200" dirty="0" err="1">
                          <a:solidFill>
                            <a:srgbClr val="FF0000"/>
                          </a:solidFill>
                        </a:rPr>
                        <a:t>n.s</a:t>
                      </a:r>
                      <a:r>
                        <a:rPr sz="1200" dirty="0">
                          <a:solidFill>
                            <a:srgbClr val="FF0000"/>
                          </a:solidFill>
                        </a:rPr>
                        <a:t>.)</a:t>
                      </a:r>
                    </a:p>
                  </a:txBody>
                  <a:tcPr>
                    <a:noFill/>
                  </a:tcPr>
                </a:tc>
                <a:extLst>
                  <a:ext uri="{0D108BD9-81ED-4DB2-BD59-A6C34878D82A}">
                    <a16:rowId xmlns:a16="http://schemas.microsoft.com/office/drawing/2014/main" val="10007"/>
                  </a:ext>
                </a:extLst>
              </a:tr>
            </a:tbl>
          </a:graphicData>
        </a:graphic>
      </p:graphicFrame>
      <p:sp>
        <p:nvSpPr>
          <p:cNvPr id="5" name="슬라이드 번호 개체 틀 4">
            <a:extLst>
              <a:ext uri="{FF2B5EF4-FFF2-40B4-BE49-F238E27FC236}">
                <a16:creationId xmlns:a16="http://schemas.microsoft.com/office/drawing/2014/main" id="{FED791FB-0C10-93C4-C3E4-8165ADCBCBCF}"/>
              </a:ext>
            </a:extLst>
          </p:cNvPr>
          <p:cNvSpPr>
            <a:spLocks noGrp="1"/>
          </p:cNvSpPr>
          <p:nvPr>
            <p:ph type="sldNum" sz="quarter" idx="12"/>
          </p:nvPr>
        </p:nvSpPr>
        <p:spPr/>
        <p:txBody>
          <a:bodyPr/>
          <a:lstStyle/>
          <a:p>
            <a:fld id="{9F4AF89A-28FA-47FA-B28F-9A9C6913CB7A}" type="slidenum">
              <a:rPr lang="ko-KR" altLang="en-US" smtClean="0"/>
              <a:pPr/>
              <a:t>17</a:t>
            </a:fld>
            <a:endParaRPr lang="ko-KR" alt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 / Next Steps</a:t>
            </a:r>
          </a:p>
        </p:txBody>
      </p:sp>
      <p:sp>
        <p:nvSpPr>
          <p:cNvPr id="3" name="Content Placeholder 2"/>
          <p:cNvSpPr>
            <a:spLocks noGrp="1"/>
          </p:cNvSpPr>
          <p:nvPr>
            <p:ph idx="1"/>
          </p:nvPr>
        </p:nvSpPr>
        <p:spPr/>
        <p:txBody>
          <a:bodyPr>
            <a:normAutofit fontScale="77500" lnSpcReduction="20000"/>
          </a:bodyPr>
          <a:lstStyle/>
          <a:p>
            <a:r>
              <a:rPr dirty="0"/>
              <a:t>AEC </a:t>
            </a:r>
            <a:r>
              <a:rPr dirty="0" err="1"/>
              <a:t>추가</a:t>
            </a:r>
            <a:endParaRPr lang="en-US" dirty="0"/>
          </a:p>
          <a:p>
            <a:pPr lvl="1"/>
            <a:r>
              <a:rPr dirty="0" err="1"/>
              <a:t>VAT·</a:t>
            </a:r>
            <a:r>
              <a:rPr lang="en-US" dirty="0" err="1"/>
              <a:t>Total</a:t>
            </a:r>
            <a:r>
              <a:rPr lang="en-US" dirty="0"/>
              <a:t> </a:t>
            </a:r>
            <a:r>
              <a:rPr lang="en-US" dirty="0" err="1"/>
              <a:t>Fat</a:t>
            </a:r>
            <a:r>
              <a:rPr dirty="0" err="1"/>
              <a:t>만</a:t>
            </a:r>
            <a:r>
              <a:rPr dirty="0"/>
              <a:t> </a:t>
            </a:r>
            <a:r>
              <a:rPr dirty="0" err="1"/>
              <a:t>조건부</a:t>
            </a:r>
            <a:r>
              <a:rPr dirty="0"/>
              <a:t> </a:t>
            </a:r>
            <a:r>
              <a:rPr dirty="0" err="1"/>
              <a:t>개선</a:t>
            </a:r>
            <a:endParaRPr lang="en-US" dirty="0"/>
          </a:p>
          <a:p>
            <a:pPr lvl="1"/>
            <a:r>
              <a:rPr dirty="0" err="1"/>
              <a:t>NAMA·TAMA는</a:t>
            </a:r>
            <a:r>
              <a:rPr dirty="0"/>
              <a:t> </a:t>
            </a:r>
            <a:r>
              <a:rPr dirty="0" err="1"/>
              <a:t>악화</a:t>
            </a:r>
            <a:r>
              <a:rPr dirty="0"/>
              <a:t>(</a:t>
            </a:r>
            <a:r>
              <a:rPr dirty="0" err="1"/>
              <a:t>근육</a:t>
            </a:r>
            <a:r>
              <a:rPr lang="ko-KR" altLang="en-US" dirty="0"/>
              <a:t>과 </a:t>
            </a:r>
            <a:r>
              <a:rPr dirty="0"/>
              <a:t>AEC</a:t>
            </a:r>
            <a:r>
              <a:rPr lang="en-US" dirty="0"/>
              <a:t> </a:t>
            </a:r>
            <a:r>
              <a:rPr lang="ko-KR" altLang="en-US" dirty="0"/>
              <a:t>간의 </a:t>
            </a:r>
            <a:r>
              <a:rPr lang="en-US" altLang="ko-KR" dirty="0"/>
              <a:t>correlation</a:t>
            </a:r>
            <a:r>
              <a:rPr dirty="0"/>
              <a:t> </a:t>
            </a:r>
            <a:r>
              <a:rPr dirty="0" err="1"/>
              <a:t>약함</a:t>
            </a:r>
            <a:r>
              <a:rPr dirty="0"/>
              <a:t>, |r|&lt;0.25)</a:t>
            </a:r>
            <a:endParaRPr lang="en-US" dirty="0"/>
          </a:p>
          <a:p>
            <a:pPr lvl="1"/>
            <a:r>
              <a:rPr dirty="0" err="1"/>
              <a:t>IMATA·SAT는</a:t>
            </a:r>
            <a:r>
              <a:rPr dirty="0"/>
              <a:t> </a:t>
            </a:r>
            <a:r>
              <a:rPr dirty="0" err="1"/>
              <a:t>유의한</a:t>
            </a:r>
            <a:r>
              <a:rPr dirty="0"/>
              <a:t> </a:t>
            </a:r>
            <a:r>
              <a:rPr dirty="0" err="1"/>
              <a:t>변화</a:t>
            </a:r>
            <a:r>
              <a:rPr dirty="0"/>
              <a:t> </a:t>
            </a:r>
            <a:r>
              <a:rPr dirty="0" err="1"/>
              <a:t>없음</a:t>
            </a:r>
            <a:endParaRPr dirty="0"/>
          </a:p>
          <a:p>
            <a:r>
              <a:rPr dirty="0" err="1"/>
              <a:t>VAT·전체지방량</a:t>
            </a:r>
            <a:r>
              <a:rPr dirty="0"/>
              <a:t> </a:t>
            </a:r>
            <a:r>
              <a:rPr dirty="0" err="1"/>
              <a:t>개선은</a:t>
            </a:r>
            <a:r>
              <a:rPr dirty="0"/>
              <a:t> </a:t>
            </a:r>
            <a:r>
              <a:rPr dirty="0" err="1"/>
              <a:t>곡선</a:t>
            </a:r>
            <a:r>
              <a:rPr dirty="0"/>
              <a:t> </a:t>
            </a:r>
            <a:r>
              <a:rPr dirty="0" err="1"/>
              <a:t>정보를</a:t>
            </a:r>
            <a:r>
              <a:rPr dirty="0"/>
              <a:t> </a:t>
            </a:r>
            <a:r>
              <a:rPr dirty="0" err="1"/>
              <a:t>충분히</a:t>
            </a:r>
            <a:r>
              <a:rPr dirty="0"/>
              <a:t> </a:t>
            </a:r>
            <a:r>
              <a:rPr dirty="0" err="1"/>
              <a:t>살렸을</a:t>
            </a:r>
            <a:r>
              <a:rPr dirty="0"/>
              <a:t> </a:t>
            </a:r>
            <a:r>
              <a:rPr dirty="0" err="1"/>
              <a:t>때만</a:t>
            </a:r>
            <a:r>
              <a:rPr dirty="0"/>
              <a:t>(</a:t>
            </a:r>
            <a:r>
              <a:rPr dirty="0" err="1"/>
              <a:t>상위구간선택·형태</a:t>
            </a:r>
            <a:r>
              <a:rPr lang="en-US" dirty="0"/>
              <a:t> </a:t>
            </a:r>
            <a:r>
              <a:rPr dirty="0"/>
              <a:t>feature) </a:t>
            </a:r>
            <a:r>
              <a:rPr dirty="0" err="1"/>
              <a:t>성립</a:t>
            </a:r>
            <a:r>
              <a:rPr dirty="0"/>
              <a:t>, </a:t>
            </a:r>
            <a:r>
              <a:rPr dirty="0" err="1"/>
              <a:t>정보를</a:t>
            </a:r>
            <a:r>
              <a:rPr dirty="0"/>
              <a:t> </a:t>
            </a:r>
            <a:r>
              <a:rPr dirty="0" err="1"/>
              <a:t>많이</a:t>
            </a:r>
            <a:r>
              <a:rPr dirty="0"/>
              <a:t> </a:t>
            </a:r>
            <a:r>
              <a:rPr dirty="0" err="1"/>
              <a:t>압축했을</a:t>
            </a:r>
            <a:r>
              <a:rPr dirty="0"/>
              <a:t> 때(단일평균·앞뒤50%)는 </a:t>
            </a:r>
            <a:r>
              <a:rPr dirty="0" err="1"/>
              <a:t>오히려</a:t>
            </a:r>
            <a:r>
              <a:rPr dirty="0"/>
              <a:t> </a:t>
            </a:r>
            <a:r>
              <a:rPr dirty="0" err="1"/>
              <a:t>악화</a:t>
            </a:r>
            <a:endParaRPr dirty="0"/>
          </a:p>
          <a:p>
            <a:r>
              <a:rPr dirty="0"/>
              <a:t>LAMA </a:t>
            </a:r>
            <a:r>
              <a:rPr dirty="0" err="1"/>
              <a:t>연속형</a:t>
            </a:r>
            <a:r>
              <a:rPr dirty="0"/>
              <a:t> </a:t>
            </a:r>
            <a:r>
              <a:rPr dirty="0" err="1"/>
              <a:t>개선은</a:t>
            </a:r>
            <a:r>
              <a:rPr dirty="0"/>
              <a:t> </a:t>
            </a:r>
            <a:r>
              <a:rPr dirty="0" err="1"/>
              <a:t>착시</a:t>
            </a:r>
            <a:r>
              <a:rPr dirty="0"/>
              <a:t> </a:t>
            </a:r>
            <a:r>
              <a:rPr lang="en-US" dirty="0"/>
              <a:t>-</a:t>
            </a:r>
            <a:r>
              <a:rPr dirty="0"/>
              <a:t> </a:t>
            </a:r>
            <a:r>
              <a:rPr dirty="0" err="1"/>
              <a:t>원래</a:t>
            </a:r>
            <a:r>
              <a:rPr dirty="0"/>
              <a:t> </a:t>
            </a:r>
            <a:r>
              <a:rPr dirty="0" err="1"/>
              <a:t>예측력이</a:t>
            </a:r>
            <a:r>
              <a:rPr dirty="0"/>
              <a:t> </a:t>
            </a:r>
            <a:r>
              <a:rPr dirty="0" err="1"/>
              <a:t>거의</a:t>
            </a:r>
            <a:r>
              <a:rPr dirty="0"/>
              <a:t> </a:t>
            </a:r>
            <a:r>
              <a:rPr dirty="0" err="1"/>
              <a:t>없던</a:t>
            </a:r>
            <a:r>
              <a:rPr dirty="0"/>
              <a:t> </a:t>
            </a:r>
            <a:r>
              <a:rPr dirty="0" err="1"/>
              <a:t>구간</a:t>
            </a:r>
            <a:r>
              <a:rPr dirty="0"/>
              <a:t>(baseline R²≈-0.03~-0.25)</a:t>
            </a:r>
            <a:r>
              <a:rPr dirty="0" err="1"/>
              <a:t>이라</a:t>
            </a:r>
            <a:r>
              <a:rPr dirty="0"/>
              <a:t> </a:t>
            </a:r>
            <a:r>
              <a:rPr dirty="0" err="1"/>
              <a:t>실질적</a:t>
            </a:r>
            <a:r>
              <a:rPr dirty="0"/>
              <a:t> </a:t>
            </a:r>
            <a:r>
              <a:rPr dirty="0" err="1"/>
              <a:t>의미</a:t>
            </a:r>
            <a:r>
              <a:rPr dirty="0"/>
              <a:t> </a:t>
            </a:r>
            <a:r>
              <a:rPr dirty="0" err="1"/>
              <a:t>없음</a:t>
            </a:r>
            <a:endParaRPr dirty="0"/>
          </a:p>
          <a:p>
            <a:r>
              <a:rPr dirty="0"/>
              <a:t>Step4 </a:t>
            </a:r>
            <a:r>
              <a:rPr dirty="0" err="1"/>
              <a:t>이진분류</a:t>
            </a:r>
            <a:r>
              <a:rPr dirty="0"/>
              <a:t>(</a:t>
            </a:r>
            <a:r>
              <a:rPr dirty="0" err="1"/>
              <a:t>성별</a:t>
            </a:r>
            <a:r>
              <a:rPr dirty="0"/>
              <a:t> </a:t>
            </a:r>
            <a:r>
              <a:rPr dirty="0" err="1"/>
              <a:t>평균±표준편차</a:t>
            </a:r>
            <a:r>
              <a:rPr dirty="0"/>
              <a:t> </a:t>
            </a:r>
            <a:r>
              <a:rPr dirty="0" err="1"/>
              <a:t>기준</a:t>
            </a:r>
            <a:r>
              <a:rPr dirty="0"/>
              <a:t>): </a:t>
            </a:r>
            <a:r>
              <a:rPr dirty="0" err="1"/>
              <a:t>진단정확도</a:t>
            </a:r>
            <a:r>
              <a:rPr dirty="0"/>
              <a:t>(AUC) 0.76~0.90, </a:t>
            </a:r>
            <a:r>
              <a:rPr dirty="0" err="1"/>
              <a:t>연속형보다</a:t>
            </a:r>
            <a:r>
              <a:rPr dirty="0"/>
              <a:t> </a:t>
            </a:r>
            <a:r>
              <a:rPr dirty="0" err="1"/>
              <a:t>안정적</a:t>
            </a:r>
            <a:endParaRPr lang="en-US" dirty="0"/>
          </a:p>
          <a:p>
            <a:pPr lvl="1"/>
            <a:r>
              <a:rPr dirty="0" err="1"/>
              <a:t>VAT·Total Fat·SAT: Int·Ext 모두 유의개선(견고)</a:t>
            </a:r>
            <a:endParaRPr dirty="0"/>
          </a:p>
          <a:p>
            <a:pPr lvl="1"/>
            <a:r>
              <a:rPr dirty="0" err="1"/>
              <a:t>IMATA·LAMA: Ext만 유의(Int n.s., 과적합 주의) / TAMA: 악화 / NAMA: 차이없음</a:t>
            </a:r>
            <a:endParaRPr dirty="0"/>
          </a:p>
          <a:p>
            <a:r>
              <a:rPr lang="ko-KR" altLang="en-US" dirty="0"/>
              <a:t>질환</a:t>
            </a:r>
            <a:r>
              <a:rPr lang="en-US" altLang="ko-KR" dirty="0"/>
              <a:t>(</a:t>
            </a:r>
            <a:r>
              <a:rPr lang="ko-KR" altLang="en-US" dirty="0"/>
              <a:t>고혈압</a:t>
            </a:r>
            <a:r>
              <a:rPr lang="en-US" altLang="ko-KR" dirty="0"/>
              <a:t>·</a:t>
            </a:r>
            <a:r>
              <a:rPr lang="ko-KR" altLang="en-US" dirty="0"/>
              <a:t>당뇨</a:t>
            </a:r>
            <a:r>
              <a:rPr lang="en-US" altLang="ko-KR" dirty="0"/>
              <a:t>·</a:t>
            </a:r>
            <a:r>
              <a:rPr lang="ko-KR" altLang="en-US" dirty="0"/>
              <a:t>만성신장질환</a:t>
            </a:r>
            <a:r>
              <a:rPr lang="en-US" altLang="ko-KR" dirty="0"/>
              <a:t>)</a:t>
            </a:r>
            <a:r>
              <a:rPr lang="ko-KR" altLang="en-US" dirty="0"/>
              <a:t> 유무 </a:t>
            </a:r>
            <a:r>
              <a:rPr dirty="0" err="1"/>
              <a:t>데이터</a:t>
            </a:r>
            <a:r>
              <a:rPr dirty="0"/>
              <a:t> </a:t>
            </a:r>
            <a:r>
              <a:rPr dirty="0" err="1"/>
              <a:t>추가</a:t>
            </a:r>
            <a:r>
              <a:rPr dirty="0"/>
              <a:t> </a:t>
            </a:r>
            <a:r>
              <a:rPr lang="en-US" dirty="0"/>
              <a:t>(</a:t>
            </a:r>
            <a:r>
              <a:rPr dirty="0" err="1"/>
              <a:t>분석</a:t>
            </a:r>
            <a:r>
              <a:rPr dirty="0"/>
              <a:t> 전</a:t>
            </a:r>
            <a:r>
              <a:rPr lang="en-US" dirty="0"/>
              <a:t>)</a:t>
            </a:r>
            <a:endParaRPr dirty="0"/>
          </a:p>
        </p:txBody>
      </p:sp>
      <p:sp>
        <p:nvSpPr>
          <p:cNvPr id="5" name="슬라이드 번호 개체 틀 4">
            <a:extLst>
              <a:ext uri="{FF2B5EF4-FFF2-40B4-BE49-F238E27FC236}">
                <a16:creationId xmlns:a16="http://schemas.microsoft.com/office/drawing/2014/main" id="{81E8A225-02D4-30FD-7D9B-CB6DF63DA9D3}"/>
              </a:ext>
            </a:extLst>
          </p:cNvPr>
          <p:cNvSpPr>
            <a:spLocks noGrp="1"/>
          </p:cNvSpPr>
          <p:nvPr>
            <p:ph type="sldNum" sz="quarter" idx="12"/>
          </p:nvPr>
        </p:nvSpPr>
        <p:spPr/>
        <p:txBody>
          <a:bodyPr/>
          <a:lstStyle/>
          <a:p>
            <a:fld id="{9F4AF89A-28FA-47FA-B28F-9A9C6913CB7A}" type="slidenum">
              <a:rPr lang="ko-KR" altLang="en-US" smtClean="0"/>
              <a:pPr/>
              <a:t>18</a:t>
            </a:fld>
            <a:endParaRPr lang="ko-KR" alt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cratch_image18.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LAMA(저감쇠근육량)_SUM: 코호트간 평균차이가 7종 중 최대인 이유</a:t>
            </a:r>
          </a:p>
        </p:txBody>
      </p:sp>
      <p:sp>
        <p:nvSpPr>
          <p:cNvPr id="3" name="Content Placeholder 2"/>
          <p:cNvSpPr>
            <a:spLocks noGrp="1"/>
          </p:cNvSpPr>
          <p:nvPr>
            <p:ph idx="1"/>
          </p:nvPr>
        </p:nvSpPr>
        <p:spPr/>
        <p:txBody>
          <a:bodyPr/>
          <a:lstStyle/>
          <a:p>
            <a:r>
              <a:rPr dirty="0"/>
              <a:t>Feature 7종 </a:t>
            </a:r>
            <a:r>
              <a:rPr dirty="0" err="1"/>
              <a:t>internal→external</a:t>
            </a:r>
            <a:r>
              <a:rPr dirty="0"/>
              <a:t> </a:t>
            </a:r>
            <a:r>
              <a:rPr dirty="0" err="1"/>
              <a:t>평균</a:t>
            </a:r>
            <a:r>
              <a:rPr dirty="0"/>
              <a:t> </a:t>
            </a:r>
            <a:r>
              <a:rPr dirty="0" err="1"/>
              <a:t>변화율</a:t>
            </a:r>
            <a:r>
              <a:rPr dirty="0"/>
              <a:t> </a:t>
            </a:r>
            <a:r>
              <a:rPr dirty="0" err="1"/>
              <a:t>비교</a:t>
            </a:r>
            <a:r>
              <a:rPr dirty="0"/>
              <a:t> (clinic4 </a:t>
            </a:r>
            <a:r>
              <a:rPr dirty="0" err="1"/>
              <a:t>분포는</a:t>
            </a:r>
            <a:r>
              <a:rPr dirty="0"/>
              <a:t> </a:t>
            </a:r>
            <a:r>
              <a:rPr dirty="0" err="1"/>
              <a:t>코호트간</a:t>
            </a:r>
            <a:r>
              <a:rPr dirty="0"/>
              <a:t> </a:t>
            </a:r>
            <a:r>
              <a:rPr dirty="0" err="1"/>
              <a:t>거의</a:t>
            </a:r>
            <a:r>
              <a:rPr dirty="0"/>
              <a:t> </a:t>
            </a:r>
            <a:r>
              <a:rPr dirty="0" err="1"/>
              <a:t>동일</a:t>
            </a:r>
            <a:r>
              <a:rPr dirty="0"/>
              <a:t>)</a:t>
            </a:r>
          </a:p>
          <a:p>
            <a:pPr lvl="1"/>
            <a:r>
              <a:rPr dirty="0"/>
              <a:t>LAMA_SUM +31.7% — 7종 중 </a:t>
            </a:r>
            <a:r>
              <a:rPr dirty="0" err="1"/>
              <a:t>최대</a:t>
            </a:r>
            <a:r>
              <a:rPr dirty="0"/>
              <a:t>, 2위 VAT(+13.0%)의 2배 </a:t>
            </a:r>
            <a:r>
              <a:rPr dirty="0" err="1"/>
              <a:t>이상</a:t>
            </a:r>
            <a:endParaRPr dirty="0"/>
          </a:p>
          <a:p>
            <a:pPr lvl="1"/>
            <a:r>
              <a:rPr dirty="0"/>
              <a:t>attenuation(HU) </a:t>
            </a:r>
            <a:r>
              <a:rPr dirty="0" err="1"/>
              <a:t>임계값</a:t>
            </a:r>
            <a:r>
              <a:rPr dirty="0"/>
              <a:t> </a:t>
            </a:r>
            <a:r>
              <a:rPr dirty="0" err="1"/>
              <a:t>기반</a:t>
            </a:r>
            <a:r>
              <a:rPr dirty="0"/>
              <a:t> </a:t>
            </a:r>
            <a:r>
              <a:rPr dirty="0" err="1"/>
              <a:t>지표</a:t>
            </a:r>
            <a:r>
              <a:rPr dirty="0"/>
              <a:t>(LAMA·IMATA)는 vendor/</a:t>
            </a:r>
            <a:r>
              <a:rPr dirty="0" err="1"/>
              <a:t>스캐너</a:t>
            </a:r>
            <a:r>
              <a:rPr dirty="0"/>
              <a:t> </a:t>
            </a:r>
            <a:r>
              <a:rPr dirty="0" err="1"/>
              <a:t>캘리브레이션</a:t>
            </a:r>
            <a:r>
              <a:rPr lang="ko-KR" altLang="en-US" dirty="0"/>
              <a:t>에</a:t>
            </a:r>
            <a:r>
              <a:rPr dirty="0"/>
              <a:t> </a:t>
            </a:r>
            <a:r>
              <a:rPr dirty="0" err="1"/>
              <a:t>민감</a:t>
            </a:r>
            <a:endParaRPr lang="en-US" dirty="0"/>
          </a:p>
          <a:p>
            <a:pPr lvl="1"/>
            <a:r>
              <a:rPr dirty="0"/>
              <a:t>area </a:t>
            </a:r>
            <a:r>
              <a:rPr dirty="0" err="1"/>
              <a:t>기반</a:t>
            </a:r>
            <a:r>
              <a:rPr dirty="0"/>
              <a:t> </a:t>
            </a:r>
            <a:r>
              <a:rPr dirty="0" err="1"/>
              <a:t>지표</a:t>
            </a:r>
            <a:r>
              <a:rPr dirty="0"/>
              <a:t>(TAMA·SAT)는 </a:t>
            </a:r>
            <a:r>
              <a:rPr dirty="0" err="1"/>
              <a:t>상대적으로</a:t>
            </a:r>
            <a:r>
              <a:rPr dirty="0"/>
              <a:t> </a:t>
            </a:r>
            <a:r>
              <a:rPr dirty="0" err="1"/>
              <a:t>안정</a:t>
            </a:r>
            <a:endParaRPr dirty="0"/>
          </a:p>
          <a:p>
            <a:pPr lvl="1"/>
            <a:r>
              <a:t>clinic4(age/height/weight/sex) 분포는 코호트간 거의 동일 → LAMA 수치 자체가 병원마다 다르게 매겨진 것(기준 차이)</a:t>
            </a:r>
          </a:p>
        </p:txBody>
      </p:sp>
      <p:graphicFrame>
        <p:nvGraphicFramePr>
          <p:cNvPr id="4" name="Table 3"/>
          <p:cNvGraphicFramePr>
            <a:graphicFrameLocks noGrp="1"/>
          </p:cNvGraphicFramePr>
          <p:nvPr/>
        </p:nvGraphicFramePr>
        <p:xfrm>
          <a:off x="2534412" y="3611880"/>
          <a:ext cx="7123175" cy="2642616"/>
        </p:xfrm>
        <a:graphic>
          <a:graphicData uri="http://schemas.openxmlformats.org/drawingml/2006/table">
            <a:tbl>
              <a:tblPr firstRow="1" bandRow="1">
                <a:tableStyleId>{9D7B26C5-4107-4FEC-AEDC-1716B250A1EF}</a:tableStyleId>
              </a:tblPr>
              <a:tblGrid>
                <a:gridCol w="1920856">
                  <a:extLst>
                    <a:ext uri="{9D8B030D-6E8A-4147-A177-3AD203B41FA5}">
                      <a16:colId xmlns:a16="http://schemas.microsoft.com/office/drawing/2014/main" val="20000"/>
                    </a:ext>
                  </a:extLst>
                </a:gridCol>
                <a:gridCol w="1760785">
                  <a:extLst>
                    <a:ext uri="{9D8B030D-6E8A-4147-A177-3AD203B41FA5}">
                      <a16:colId xmlns:a16="http://schemas.microsoft.com/office/drawing/2014/main" val="20001"/>
                    </a:ext>
                  </a:extLst>
                </a:gridCol>
                <a:gridCol w="1760785">
                  <a:extLst>
                    <a:ext uri="{9D8B030D-6E8A-4147-A177-3AD203B41FA5}">
                      <a16:colId xmlns:a16="http://schemas.microsoft.com/office/drawing/2014/main" val="20002"/>
                    </a:ext>
                  </a:extLst>
                </a:gridCol>
                <a:gridCol w="1680749">
                  <a:extLst>
                    <a:ext uri="{9D8B030D-6E8A-4147-A177-3AD203B41FA5}">
                      <a16:colId xmlns:a16="http://schemas.microsoft.com/office/drawing/2014/main" val="20003"/>
                    </a:ext>
                  </a:extLst>
                </a:gridCol>
              </a:tblGrid>
              <a:tr h="330327">
                <a:tc>
                  <a:txBody>
                    <a:bodyPr/>
                    <a:lstStyle/>
                    <a:p>
                      <a:pPr algn="ctr"/>
                      <a:r>
                        <a:rPr sz="1400" b="1"/>
                        <a:t>Feature</a:t>
                      </a:r>
                    </a:p>
                  </a:txBody>
                  <a:tcPr anchor="ctr"/>
                </a:tc>
                <a:tc>
                  <a:txBody>
                    <a:bodyPr/>
                    <a:lstStyle/>
                    <a:p>
                      <a:pPr algn="ctr"/>
                      <a:r>
                        <a:rPr sz="1400" b="1" dirty="0"/>
                        <a:t>Internal mean</a:t>
                      </a:r>
                    </a:p>
                  </a:txBody>
                  <a:tcPr anchor="ctr"/>
                </a:tc>
                <a:tc>
                  <a:txBody>
                    <a:bodyPr/>
                    <a:lstStyle/>
                    <a:p>
                      <a:pPr algn="ctr"/>
                      <a:r>
                        <a:rPr sz="1400" b="1"/>
                        <a:t>External mean</a:t>
                      </a:r>
                    </a:p>
                  </a:txBody>
                  <a:tcPr anchor="ctr"/>
                </a:tc>
                <a:tc>
                  <a:txBody>
                    <a:bodyPr/>
                    <a:lstStyle/>
                    <a:p>
                      <a:pPr algn="ctr"/>
                      <a:r>
                        <a:rPr sz="1400" b="1"/>
                        <a:t>Diff%</a:t>
                      </a:r>
                    </a:p>
                  </a:txBody>
                  <a:tcPr anchor="ctr"/>
                </a:tc>
                <a:extLst>
                  <a:ext uri="{0D108BD9-81ED-4DB2-BD59-A6C34878D82A}">
                    <a16:rowId xmlns:a16="http://schemas.microsoft.com/office/drawing/2014/main" val="10000"/>
                  </a:ext>
                </a:extLst>
              </a:tr>
              <a:tr h="330327">
                <a:tc>
                  <a:txBody>
                    <a:bodyPr/>
                    <a:lstStyle/>
                    <a:p>
                      <a:pPr algn="ctr"/>
                      <a:r>
                        <a:rPr sz="1400" b="1" dirty="0">
                          <a:solidFill>
                            <a:srgbClr val="C0392B"/>
                          </a:solidFill>
                        </a:rPr>
                        <a:t>LAMA</a:t>
                      </a:r>
                    </a:p>
                  </a:txBody>
                  <a:tcPr anchor="ctr">
                    <a:noFill/>
                  </a:tcPr>
                </a:tc>
                <a:tc>
                  <a:txBody>
                    <a:bodyPr/>
                    <a:lstStyle/>
                    <a:p>
                      <a:pPr algn="ctr"/>
                      <a:r>
                        <a:rPr sz="1400" b="1">
                          <a:solidFill>
                            <a:srgbClr val="C0392B"/>
                          </a:solidFill>
                        </a:rPr>
                        <a:t>4,192.1</a:t>
                      </a:r>
                    </a:p>
                  </a:txBody>
                  <a:tcPr anchor="ctr">
                    <a:noFill/>
                  </a:tcPr>
                </a:tc>
                <a:tc>
                  <a:txBody>
                    <a:bodyPr/>
                    <a:lstStyle/>
                    <a:p>
                      <a:pPr algn="ctr"/>
                      <a:r>
                        <a:rPr sz="1400" b="1">
                          <a:solidFill>
                            <a:srgbClr val="C0392B"/>
                          </a:solidFill>
                        </a:rPr>
                        <a:t>5,520.9</a:t>
                      </a:r>
                    </a:p>
                  </a:txBody>
                  <a:tcPr anchor="ctr">
                    <a:noFill/>
                  </a:tcPr>
                </a:tc>
                <a:tc>
                  <a:txBody>
                    <a:bodyPr/>
                    <a:lstStyle/>
                    <a:p>
                      <a:pPr algn="ctr"/>
                      <a:r>
                        <a:rPr sz="1400" b="1">
                          <a:solidFill>
                            <a:srgbClr val="C0392B"/>
                          </a:solidFill>
                        </a:rPr>
                        <a:t>+31.7%</a:t>
                      </a:r>
                    </a:p>
                  </a:txBody>
                  <a:tcPr anchor="ctr">
                    <a:noFill/>
                  </a:tcPr>
                </a:tc>
                <a:extLst>
                  <a:ext uri="{0D108BD9-81ED-4DB2-BD59-A6C34878D82A}">
                    <a16:rowId xmlns:a16="http://schemas.microsoft.com/office/drawing/2014/main" val="10001"/>
                  </a:ext>
                </a:extLst>
              </a:tr>
              <a:tr h="330327">
                <a:tc>
                  <a:txBody>
                    <a:bodyPr/>
                    <a:lstStyle/>
                    <a:p>
                      <a:pPr algn="ctr"/>
                      <a:r>
                        <a:rPr sz="1400" dirty="0"/>
                        <a:t>VAT</a:t>
                      </a:r>
                    </a:p>
                  </a:txBody>
                  <a:tcPr anchor="ctr">
                    <a:noFill/>
                  </a:tcPr>
                </a:tc>
                <a:tc>
                  <a:txBody>
                    <a:bodyPr/>
                    <a:lstStyle/>
                    <a:p>
                      <a:pPr algn="ctr"/>
                      <a:r>
                        <a:rPr sz="1400"/>
                        <a:t>8,550.8</a:t>
                      </a:r>
                    </a:p>
                  </a:txBody>
                  <a:tcPr anchor="ctr">
                    <a:noFill/>
                  </a:tcPr>
                </a:tc>
                <a:tc>
                  <a:txBody>
                    <a:bodyPr/>
                    <a:lstStyle/>
                    <a:p>
                      <a:pPr algn="ctr"/>
                      <a:r>
                        <a:rPr sz="1400"/>
                        <a:t>9,662.3</a:t>
                      </a:r>
                    </a:p>
                  </a:txBody>
                  <a:tcPr anchor="ctr">
                    <a:noFill/>
                  </a:tcPr>
                </a:tc>
                <a:tc>
                  <a:txBody>
                    <a:bodyPr/>
                    <a:lstStyle/>
                    <a:p>
                      <a:pPr algn="ctr"/>
                      <a:r>
                        <a:rPr sz="1400"/>
                        <a:t>+13.0%</a:t>
                      </a:r>
                    </a:p>
                  </a:txBody>
                  <a:tcPr anchor="ctr">
                    <a:noFill/>
                  </a:tcPr>
                </a:tc>
                <a:extLst>
                  <a:ext uri="{0D108BD9-81ED-4DB2-BD59-A6C34878D82A}">
                    <a16:rowId xmlns:a16="http://schemas.microsoft.com/office/drawing/2014/main" val="10002"/>
                  </a:ext>
                </a:extLst>
              </a:tr>
              <a:tr h="330327">
                <a:tc>
                  <a:txBody>
                    <a:bodyPr/>
                    <a:lstStyle/>
                    <a:p>
                      <a:pPr algn="ctr"/>
                      <a:r>
                        <a:rPr sz="1400"/>
                        <a:t>IMATA</a:t>
                      </a:r>
                    </a:p>
                  </a:txBody>
                  <a:tcPr anchor="ctr">
                    <a:noFill/>
                  </a:tcPr>
                </a:tc>
                <a:tc>
                  <a:txBody>
                    <a:bodyPr/>
                    <a:lstStyle/>
                    <a:p>
                      <a:pPr algn="ctr"/>
                      <a:r>
                        <a:rPr sz="1400" dirty="0"/>
                        <a:t>1,198.7</a:t>
                      </a:r>
                    </a:p>
                  </a:txBody>
                  <a:tcPr anchor="ctr">
                    <a:noFill/>
                  </a:tcPr>
                </a:tc>
                <a:tc>
                  <a:txBody>
                    <a:bodyPr/>
                    <a:lstStyle/>
                    <a:p>
                      <a:pPr algn="ctr"/>
                      <a:r>
                        <a:rPr sz="1400"/>
                        <a:t>1,332.0</a:t>
                      </a:r>
                    </a:p>
                  </a:txBody>
                  <a:tcPr anchor="ctr">
                    <a:noFill/>
                  </a:tcPr>
                </a:tc>
                <a:tc>
                  <a:txBody>
                    <a:bodyPr/>
                    <a:lstStyle/>
                    <a:p>
                      <a:pPr algn="ctr"/>
                      <a:r>
                        <a:rPr sz="1400"/>
                        <a:t>+11.1%</a:t>
                      </a:r>
                    </a:p>
                  </a:txBody>
                  <a:tcPr anchor="ctr">
                    <a:noFill/>
                  </a:tcPr>
                </a:tc>
                <a:extLst>
                  <a:ext uri="{0D108BD9-81ED-4DB2-BD59-A6C34878D82A}">
                    <a16:rowId xmlns:a16="http://schemas.microsoft.com/office/drawing/2014/main" val="10003"/>
                  </a:ext>
                </a:extLst>
              </a:tr>
              <a:tr h="330327">
                <a:tc>
                  <a:txBody>
                    <a:bodyPr/>
                    <a:lstStyle/>
                    <a:p>
                      <a:pPr algn="ctr"/>
                      <a:r>
                        <a:rPr sz="1400"/>
                        <a:t>NAMA</a:t>
                      </a:r>
                    </a:p>
                  </a:txBody>
                  <a:tcPr anchor="ctr">
                    <a:noFill/>
                  </a:tcPr>
                </a:tc>
                <a:tc>
                  <a:txBody>
                    <a:bodyPr/>
                    <a:lstStyle/>
                    <a:p>
                      <a:pPr algn="ctr"/>
                      <a:r>
                        <a:rPr sz="1400" dirty="0"/>
                        <a:t>14,445.9</a:t>
                      </a:r>
                    </a:p>
                  </a:txBody>
                  <a:tcPr anchor="ctr">
                    <a:noFill/>
                  </a:tcPr>
                </a:tc>
                <a:tc>
                  <a:txBody>
                    <a:bodyPr/>
                    <a:lstStyle/>
                    <a:p>
                      <a:pPr algn="ctr"/>
                      <a:r>
                        <a:rPr sz="1400"/>
                        <a:t>13,508.9</a:t>
                      </a:r>
                    </a:p>
                  </a:txBody>
                  <a:tcPr anchor="ctr">
                    <a:noFill/>
                  </a:tcPr>
                </a:tc>
                <a:tc>
                  <a:txBody>
                    <a:bodyPr/>
                    <a:lstStyle/>
                    <a:p>
                      <a:pPr algn="ctr"/>
                      <a:r>
                        <a:rPr sz="1400"/>
                        <a:t>-6.5%</a:t>
                      </a:r>
                    </a:p>
                  </a:txBody>
                  <a:tcPr anchor="ctr">
                    <a:noFill/>
                  </a:tcPr>
                </a:tc>
                <a:extLst>
                  <a:ext uri="{0D108BD9-81ED-4DB2-BD59-A6C34878D82A}">
                    <a16:rowId xmlns:a16="http://schemas.microsoft.com/office/drawing/2014/main" val="10004"/>
                  </a:ext>
                </a:extLst>
              </a:tr>
              <a:tr h="330327">
                <a:tc>
                  <a:txBody>
                    <a:bodyPr/>
                    <a:lstStyle/>
                    <a:p>
                      <a:pPr algn="ctr"/>
                      <a:r>
                        <a:rPr sz="1400"/>
                        <a:t>Total Fat</a:t>
                      </a:r>
                    </a:p>
                  </a:txBody>
                  <a:tcPr anchor="ctr">
                    <a:noFill/>
                  </a:tcPr>
                </a:tc>
                <a:tc>
                  <a:txBody>
                    <a:bodyPr/>
                    <a:lstStyle/>
                    <a:p>
                      <a:pPr algn="ctr"/>
                      <a:r>
                        <a:rPr sz="1400"/>
                        <a:t>28,439.3</a:t>
                      </a:r>
                    </a:p>
                  </a:txBody>
                  <a:tcPr anchor="ctr">
                    <a:noFill/>
                  </a:tcPr>
                </a:tc>
                <a:tc>
                  <a:txBody>
                    <a:bodyPr/>
                    <a:lstStyle/>
                    <a:p>
                      <a:pPr algn="ctr"/>
                      <a:r>
                        <a:rPr sz="1400" dirty="0"/>
                        <a:t>29,226.9</a:t>
                      </a:r>
                    </a:p>
                  </a:txBody>
                  <a:tcPr anchor="ctr">
                    <a:noFill/>
                  </a:tcPr>
                </a:tc>
                <a:tc>
                  <a:txBody>
                    <a:bodyPr/>
                    <a:lstStyle/>
                    <a:p>
                      <a:pPr algn="ctr"/>
                      <a:r>
                        <a:rPr sz="1400"/>
                        <a:t>+2.8%</a:t>
                      </a:r>
                    </a:p>
                  </a:txBody>
                  <a:tcPr anchor="ctr">
                    <a:noFill/>
                  </a:tcPr>
                </a:tc>
                <a:extLst>
                  <a:ext uri="{0D108BD9-81ED-4DB2-BD59-A6C34878D82A}">
                    <a16:rowId xmlns:a16="http://schemas.microsoft.com/office/drawing/2014/main" val="10005"/>
                  </a:ext>
                </a:extLst>
              </a:tr>
              <a:tr h="330327">
                <a:tc>
                  <a:txBody>
                    <a:bodyPr/>
                    <a:lstStyle/>
                    <a:p>
                      <a:pPr algn="ctr"/>
                      <a:r>
                        <a:rPr sz="1400"/>
                        <a:t>TAMA</a:t>
                      </a:r>
                    </a:p>
                  </a:txBody>
                  <a:tcPr anchor="ctr">
                    <a:noFill/>
                  </a:tcPr>
                </a:tc>
                <a:tc>
                  <a:txBody>
                    <a:bodyPr/>
                    <a:lstStyle/>
                    <a:p>
                      <a:pPr algn="ctr"/>
                      <a:r>
                        <a:rPr sz="1400"/>
                        <a:t>19,836.7</a:t>
                      </a:r>
                    </a:p>
                  </a:txBody>
                  <a:tcPr anchor="ctr">
                    <a:noFill/>
                  </a:tcPr>
                </a:tc>
                <a:tc>
                  <a:txBody>
                    <a:bodyPr/>
                    <a:lstStyle/>
                    <a:p>
                      <a:pPr algn="ctr"/>
                      <a:r>
                        <a:rPr sz="1400"/>
                        <a:t>20,361.9</a:t>
                      </a:r>
                    </a:p>
                  </a:txBody>
                  <a:tcPr anchor="ctr">
                    <a:noFill/>
                  </a:tcPr>
                </a:tc>
                <a:tc>
                  <a:txBody>
                    <a:bodyPr/>
                    <a:lstStyle/>
                    <a:p>
                      <a:pPr algn="ctr"/>
                      <a:r>
                        <a:rPr sz="1400"/>
                        <a:t>+2.6%</a:t>
                      </a:r>
                    </a:p>
                  </a:txBody>
                  <a:tcPr anchor="ctr">
                    <a:noFill/>
                  </a:tcPr>
                </a:tc>
                <a:extLst>
                  <a:ext uri="{0D108BD9-81ED-4DB2-BD59-A6C34878D82A}">
                    <a16:rowId xmlns:a16="http://schemas.microsoft.com/office/drawing/2014/main" val="10006"/>
                  </a:ext>
                </a:extLst>
              </a:tr>
              <a:tr h="330327">
                <a:tc>
                  <a:txBody>
                    <a:bodyPr/>
                    <a:lstStyle/>
                    <a:p>
                      <a:pPr algn="ctr"/>
                      <a:r>
                        <a:rPr sz="1400"/>
                        <a:t>SAT</a:t>
                      </a:r>
                    </a:p>
                  </a:txBody>
                  <a:tcPr anchor="ctr">
                    <a:noFill/>
                  </a:tcPr>
                </a:tc>
                <a:tc>
                  <a:txBody>
                    <a:bodyPr/>
                    <a:lstStyle/>
                    <a:p>
                      <a:pPr algn="ctr"/>
                      <a:r>
                        <a:rPr sz="1400"/>
                        <a:t>19,888.6</a:t>
                      </a:r>
                    </a:p>
                  </a:txBody>
                  <a:tcPr anchor="ctr">
                    <a:noFill/>
                  </a:tcPr>
                </a:tc>
                <a:tc>
                  <a:txBody>
                    <a:bodyPr/>
                    <a:lstStyle/>
                    <a:p>
                      <a:pPr algn="ctr"/>
                      <a:r>
                        <a:rPr sz="1400" dirty="0"/>
                        <a:t>19,564.6</a:t>
                      </a:r>
                    </a:p>
                  </a:txBody>
                  <a:tcPr anchor="ctr">
                    <a:noFill/>
                  </a:tcPr>
                </a:tc>
                <a:tc>
                  <a:txBody>
                    <a:bodyPr/>
                    <a:lstStyle/>
                    <a:p>
                      <a:pPr algn="ctr"/>
                      <a:r>
                        <a:rPr sz="1400" dirty="0"/>
                        <a:t>-1.6%</a:t>
                      </a:r>
                    </a:p>
                  </a:txBody>
                  <a:tcPr anchor="ctr">
                    <a:noFill/>
                  </a:tcPr>
                </a:tc>
                <a:extLst>
                  <a:ext uri="{0D108BD9-81ED-4DB2-BD59-A6C34878D82A}">
                    <a16:rowId xmlns:a16="http://schemas.microsoft.com/office/drawing/2014/main" val="10007"/>
                  </a:ext>
                </a:extLst>
              </a:tr>
            </a:tbl>
          </a:graphicData>
        </a:graphic>
      </p:graphicFrame>
      <p:sp>
        <p:nvSpPr>
          <p:cNvPr id="5" name="슬라이드 번호 개체 틀 4">
            <a:extLst>
              <a:ext uri="{FF2B5EF4-FFF2-40B4-BE49-F238E27FC236}">
                <a16:creationId xmlns:a16="http://schemas.microsoft.com/office/drawing/2014/main" id="{DBBD90B7-4F9F-77AD-77FC-71655FC41FD2}"/>
              </a:ext>
            </a:extLst>
          </p:cNvPr>
          <p:cNvSpPr>
            <a:spLocks noGrp="1"/>
          </p:cNvSpPr>
          <p:nvPr>
            <p:ph type="sldNum" sz="quarter" idx="12"/>
          </p:nvPr>
        </p:nvSpPr>
        <p:spPr/>
        <p:txBody>
          <a:bodyPr/>
          <a:lstStyle/>
          <a:p>
            <a:fld id="{9F4AF89A-28FA-47FA-B28F-9A9C6913CB7A}" type="slidenum">
              <a:rPr lang="ko-KR" altLang="en-US" smtClean="0"/>
              <a:pPr/>
              <a:t>20</a:t>
            </a:fld>
            <a:endParaRPr lang="ko-KR" altLang="en-US" dirty="0"/>
          </a:p>
        </p:txBody>
      </p:sp>
    </p:spTree>
    <p:extLst>
      <p:ext uri="{BB962C8B-B14F-4D97-AF65-F5344CB8AC3E}">
        <p14:creationId xmlns:p14="http://schemas.microsoft.com/office/powerpoint/2010/main" val="4177399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TAMA(총근육량)_SUM: Clinical-only 선형회귀 잔차 진단</a:t>
            </a:r>
          </a:p>
        </p:txBody>
      </p:sp>
      <p:sp>
        <p:nvSpPr>
          <p:cNvPr id="3" name="Content Placeholder 2"/>
          <p:cNvSpPr>
            <a:spLocks noGrp="1"/>
          </p:cNvSpPr>
          <p:nvPr>
            <p:ph idx="1"/>
          </p:nvPr>
        </p:nvSpPr>
        <p:spPr/>
        <p:txBody>
          <a:bodyPr/>
          <a:lstStyle/>
          <a:p>
            <a:r>
              <a:rPr b="1" dirty="0"/>
              <a:t>internal(OOF): R²=0.646 [0.605, 0.683], RMSE=3155.7, MAE=2258.4, Pearson r=0.804</a:t>
            </a:r>
          </a:p>
          <a:p>
            <a:r>
              <a:rPr b="1" dirty="0"/>
              <a:t>external(frozen): R²=0.711 [0.673, 0.743], RMSE=2633.3, MAE=1980.6, Pearson r=0.848</a:t>
            </a:r>
          </a:p>
        </p:txBody>
      </p:sp>
      <p:pic>
        <p:nvPicPr>
          <p:cNvPr id="4" name="Picture 3" descr="tama_linear_regression_diagnostics.png"/>
          <p:cNvPicPr>
            <a:picLocks noChangeAspect="1"/>
          </p:cNvPicPr>
          <p:nvPr/>
        </p:nvPicPr>
        <p:blipFill>
          <a:blip r:embed="rId3"/>
          <a:stretch>
            <a:fillRect/>
          </a:stretch>
        </p:blipFill>
        <p:spPr>
          <a:xfrm>
            <a:off x="1596000" y="2263807"/>
            <a:ext cx="9000000" cy="4091096"/>
          </a:xfrm>
          <a:prstGeom prst="rect">
            <a:avLst/>
          </a:prstGeom>
        </p:spPr>
      </p:pic>
      <p:sp>
        <p:nvSpPr>
          <p:cNvPr id="6" name="슬라이드 번호 개체 틀 5">
            <a:extLst>
              <a:ext uri="{FF2B5EF4-FFF2-40B4-BE49-F238E27FC236}">
                <a16:creationId xmlns:a16="http://schemas.microsoft.com/office/drawing/2014/main" id="{B0787CDD-49ED-3ECE-A3C5-2BB7EBA90259}"/>
              </a:ext>
            </a:extLst>
          </p:cNvPr>
          <p:cNvSpPr>
            <a:spLocks noGrp="1"/>
          </p:cNvSpPr>
          <p:nvPr>
            <p:ph type="sldNum" sz="quarter" idx="12"/>
          </p:nvPr>
        </p:nvSpPr>
        <p:spPr/>
        <p:txBody>
          <a:bodyPr/>
          <a:lstStyle/>
          <a:p>
            <a:fld id="{9F4AF89A-28FA-47FA-B28F-9A9C6913CB7A}" type="slidenum">
              <a:rPr lang="ko-KR" altLang="en-US" smtClean="0"/>
              <a:pPr/>
              <a:t>21</a:t>
            </a:fld>
            <a:endParaRPr lang="ko-KR" alt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TAMA(총근육량)_SUM: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tama_linear_regression_scatter.png"/>
          <p:cNvPicPr>
            <a:picLocks noChangeAspect="1"/>
          </p:cNvPicPr>
          <p:nvPr/>
        </p:nvPicPr>
        <p:blipFill>
          <a:blip r:embed="rId3"/>
          <a:stretch>
            <a:fillRect/>
          </a:stretch>
        </p:blipFill>
        <p:spPr>
          <a:xfrm>
            <a:off x="1274333" y="1500000"/>
            <a:ext cx="9643333" cy="4700000"/>
          </a:xfrm>
          <a:prstGeom prst="rect">
            <a:avLst/>
          </a:prstGeom>
        </p:spPr>
      </p:pic>
      <p:sp>
        <p:nvSpPr>
          <p:cNvPr id="5" name="슬라이드 번호 개체 틀 4">
            <a:extLst>
              <a:ext uri="{FF2B5EF4-FFF2-40B4-BE49-F238E27FC236}">
                <a16:creationId xmlns:a16="http://schemas.microsoft.com/office/drawing/2014/main" id="{258B285F-71E4-5B05-FFEC-C9082E4C8EA1}"/>
              </a:ext>
            </a:extLst>
          </p:cNvPr>
          <p:cNvSpPr>
            <a:spLocks noGrp="1"/>
          </p:cNvSpPr>
          <p:nvPr>
            <p:ph type="sldNum" sz="quarter" idx="12"/>
          </p:nvPr>
        </p:nvSpPr>
        <p:spPr/>
        <p:txBody>
          <a:bodyPr/>
          <a:lstStyle/>
          <a:p>
            <a:fld id="{9F4AF89A-28FA-47FA-B28F-9A9C6913CB7A}" type="slidenum">
              <a:rPr lang="ko-KR" altLang="en-US" smtClean="0"/>
              <a:pPr/>
              <a:t>22</a:t>
            </a:fld>
            <a:endParaRPr lang="ko-KR" alt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NAMA(정상감쇠근육량)_SUM: Clinical-only 선형회귀 잔차 진단</a:t>
            </a:r>
          </a:p>
        </p:txBody>
      </p:sp>
      <p:sp>
        <p:nvSpPr>
          <p:cNvPr id="3" name="Content Placeholder 2"/>
          <p:cNvSpPr>
            <a:spLocks noGrp="1"/>
          </p:cNvSpPr>
          <p:nvPr>
            <p:ph idx="1"/>
          </p:nvPr>
        </p:nvSpPr>
        <p:spPr/>
        <p:txBody>
          <a:bodyPr/>
          <a:lstStyle/>
          <a:p>
            <a:r>
              <a:rPr b="1" dirty="0"/>
              <a:t>internal(OOF): R²=0.591 [0.535, 0.636], RMSE=2737.6, MAE=2045.9, Pearson r=0.769</a:t>
            </a:r>
          </a:p>
          <a:p>
            <a:r>
              <a:rPr b="1" dirty="0"/>
              <a:t>external(frozen): R²=0.568 [0.511, 0.614], RMSE=2960.9, MAE=2319.2, Pearson r=0.790</a:t>
            </a:r>
          </a:p>
        </p:txBody>
      </p:sp>
      <p:pic>
        <p:nvPicPr>
          <p:cNvPr id="4" name="Picture 3" descr="nama_linear_regression_diagnostics.png"/>
          <p:cNvPicPr>
            <a:picLocks noChangeAspect="1"/>
          </p:cNvPicPr>
          <p:nvPr/>
        </p:nvPicPr>
        <p:blipFill>
          <a:blip r:embed="rId3"/>
          <a:stretch>
            <a:fillRect/>
          </a:stretch>
        </p:blipFill>
        <p:spPr>
          <a:xfrm>
            <a:off x="1596000" y="2262924"/>
            <a:ext cx="9000000" cy="4091095"/>
          </a:xfrm>
          <a:prstGeom prst="rect">
            <a:avLst/>
          </a:prstGeom>
        </p:spPr>
      </p:pic>
      <p:sp>
        <p:nvSpPr>
          <p:cNvPr id="6" name="슬라이드 번호 개체 틀 5">
            <a:extLst>
              <a:ext uri="{FF2B5EF4-FFF2-40B4-BE49-F238E27FC236}">
                <a16:creationId xmlns:a16="http://schemas.microsoft.com/office/drawing/2014/main" id="{07AB0EE2-208D-6D98-D898-416D6ECC4A19}"/>
              </a:ext>
            </a:extLst>
          </p:cNvPr>
          <p:cNvSpPr>
            <a:spLocks noGrp="1"/>
          </p:cNvSpPr>
          <p:nvPr>
            <p:ph type="sldNum" sz="quarter" idx="12"/>
          </p:nvPr>
        </p:nvSpPr>
        <p:spPr/>
        <p:txBody>
          <a:bodyPr/>
          <a:lstStyle/>
          <a:p>
            <a:fld id="{9F4AF89A-28FA-47FA-B28F-9A9C6913CB7A}" type="slidenum">
              <a:rPr lang="ko-KR" altLang="en-US" smtClean="0"/>
              <a:pPr/>
              <a:t>23</a:t>
            </a:fld>
            <a:endParaRPr lang="ko-KR"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Appendix — NAMA(정상감쇠근육량)_SUM: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nama_linear_regression_scatter.png"/>
          <p:cNvPicPr>
            <a:picLocks noChangeAspect="1"/>
          </p:cNvPicPr>
          <p:nvPr/>
        </p:nvPicPr>
        <p:blipFill>
          <a:blip r:embed="rId3"/>
          <a:stretch>
            <a:fillRect/>
          </a:stretch>
        </p:blipFill>
        <p:spPr>
          <a:xfrm>
            <a:off x="1264333" y="1500000"/>
            <a:ext cx="9663333" cy="4700000"/>
          </a:xfrm>
          <a:prstGeom prst="rect">
            <a:avLst/>
          </a:prstGeom>
        </p:spPr>
      </p:pic>
      <p:sp>
        <p:nvSpPr>
          <p:cNvPr id="5" name="슬라이드 번호 개체 틀 4">
            <a:extLst>
              <a:ext uri="{FF2B5EF4-FFF2-40B4-BE49-F238E27FC236}">
                <a16:creationId xmlns:a16="http://schemas.microsoft.com/office/drawing/2014/main" id="{0B0E11FC-9E84-6DCA-4C23-652975F77597}"/>
              </a:ext>
            </a:extLst>
          </p:cNvPr>
          <p:cNvSpPr>
            <a:spLocks noGrp="1"/>
          </p:cNvSpPr>
          <p:nvPr>
            <p:ph type="sldNum" sz="quarter" idx="12"/>
          </p:nvPr>
        </p:nvSpPr>
        <p:spPr/>
        <p:txBody>
          <a:bodyPr/>
          <a:lstStyle/>
          <a:p>
            <a:fld id="{9F4AF89A-28FA-47FA-B28F-9A9C6913CB7A}" type="slidenum">
              <a:rPr lang="ko-KR" altLang="en-US" smtClean="0"/>
              <a:pPr/>
              <a:t>24</a:t>
            </a:fld>
            <a:endParaRPr lang="ko-KR" alt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LAMA(저감쇠근육량)_SUM: Clinical-only 선형회귀 잔차 진단</a:t>
            </a:r>
          </a:p>
        </p:txBody>
      </p:sp>
      <p:sp>
        <p:nvSpPr>
          <p:cNvPr id="3" name="Content Placeholder 2"/>
          <p:cNvSpPr>
            <a:spLocks noGrp="1"/>
          </p:cNvSpPr>
          <p:nvPr>
            <p:ph idx="1"/>
          </p:nvPr>
        </p:nvSpPr>
        <p:spPr/>
        <p:txBody>
          <a:bodyPr/>
          <a:lstStyle/>
          <a:p>
            <a:r>
              <a:rPr b="1" dirty="0"/>
              <a:t>internal(OOF): R²=0.419 [0.373, 0.468], RMSE=1556.9, MAE=996.0, Pearson r=0.648</a:t>
            </a:r>
          </a:p>
          <a:p>
            <a:r>
              <a:rPr b="1" dirty="0"/>
              <a:t>external(frozen): R²=-0.035 [-0.130, 0.045], RMSE=2122.4, MAE=1739.0, Pearson r=0.558</a:t>
            </a:r>
          </a:p>
          <a:p>
            <a:r>
              <a:rPr sz="1600" dirty="0"/>
              <a:t>R²&lt;0 </a:t>
            </a:r>
            <a:r>
              <a:rPr sz="1600" dirty="0" err="1"/>
              <a:t>원인</a:t>
            </a:r>
            <a:r>
              <a:rPr sz="1600" dirty="0"/>
              <a:t>: </a:t>
            </a:r>
            <a:r>
              <a:rPr sz="1600" dirty="0" err="1"/>
              <a:t>코호트</a:t>
            </a:r>
            <a:r>
              <a:rPr sz="1600" dirty="0"/>
              <a:t> </a:t>
            </a:r>
            <a:r>
              <a:rPr sz="1600" dirty="0" err="1"/>
              <a:t>평균차</a:t>
            </a:r>
            <a:r>
              <a:rPr sz="1600" dirty="0"/>
              <a:t>(</a:t>
            </a:r>
            <a:r>
              <a:rPr sz="1600" dirty="0" err="1"/>
              <a:t>강남</a:t>
            </a:r>
            <a:r>
              <a:rPr sz="1600" dirty="0"/>
              <a:t> 4192 vs </a:t>
            </a:r>
            <a:r>
              <a:rPr sz="1600" dirty="0" err="1"/>
              <a:t>신촌</a:t>
            </a:r>
            <a:r>
              <a:rPr sz="1600" dirty="0"/>
              <a:t> 5521, +31.7%) → frozen </a:t>
            </a:r>
            <a:r>
              <a:rPr sz="1600" dirty="0" err="1"/>
              <a:t>모델</a:t>
            </a:r>
            <a:r>
              <a:rPr sz="1600" dirty="0"/>
              <a:t> </a:t>
            </a:r>
            <a:r>
              <a:rPr sz="1600" dirty="0" err="1"/>
              <a:t>상수편향</a:t>
            </a:r>
            <a:r>
              <a:rPr sz="1600" dirty="0"/>
              <a:t>(bias=-1206) → bias²가 external </a:t>
            </a:r>
            <a:r>
              <a:rPr sz="1600" dirty="0" err="1"/>
              <a:t>MSE의</a:t>
            </a:r>
            <a:r>
              <a:rPr sz="1600" dirty="0"/>
              <a:t> 32% </a:t>
            </a:r>
            <a:r>
              <a:rPr sz="1600" dirty="0" err="1"/>
              <a:t>기여</a:t>
            </a:r>
            <a:r>
              <a:rPr sz="1600" dirty="0"/>
              <a:t>, </a:t>
            </a:r>
            <a:r>
              <a:rPr sz="1600" dirty="0" err="1"/>
              <a:t>제거</a:t>
            </a:r>
            <a:r>
              <a:rPr sz="1600" dirty="0"/>
              <a:t> 시 R²≈+0.30</a:t>
            </a:r>
          </a:p>
        </p:txBody>
      </p:sp>
      <p:pic>
        <p:nvPicPr>
          <p:cNvPr id="4" name="Picture 3" descr="lama_linear_regression_diagnostics.png"/>
          <p:cNvPicPr>
            <a:picLocks noChangeAspect="1"/>
          </p:cNvPicPr>
          <p:nvPr/>
        </p:nvPicPr>
        <p:blipFill>
          <a:blip r:embed="rId3"/>
          <a:stretch>
            <a:fillRect/>
          </a:stretch>
        </p:blipFill>
        <p:spPr>
          <a:xfrm>
            <a:off x="1596000" y="2766904"/>
            <a:ext cx="9000000" cy="4091096"/>
          </a:xfrm>
          <a:prstGeom prst="rect">
            <a:avLst/>
          </a:prstGeom>
        </p:spPr>
      </p:pic>
      <p:sp>
        <p:nvSpPr>
          <p:cNvPr id="6" name="슬라이드 번호 개체 틀 5">
            <a:extLst>
              <a:ext uri="{FF2B5EF4-FFF2-40B4-BE49-F238E27FC236}">
                <a16:creationId xmlns:a16="http://schemas.microsoft.com/office/drawing/2014/main" id="{6E39415F-6F8D-DA68-174D-BBEB3FC7C432}"/>
              </a:ext>
            </a:extLst>
          </p:cNvPr>
          <p:cNvSpPr>
            <a:spLocks noGrp="1"/>
          </p:cNvSpPr>
          <p:nvPr>
            <p:ph type="sldNum" sz="quarter" idx="12"/>
          </p:nvPr>
        </p:nvSpPr>
        <p:spPr/>
        <p:txBody>
          <a:bodyPr/>
          <a:lstStyle/>
          <a:p>
            <a:fld id="{9F4AF89A-28FA-47FA-B28F-9A9C6913CB7A}" type="slidenum">
              <a:rPr lang="ko-KR" altLang="en-US" smtClean="0"/>
              <a:pPr/>
              <a:t>25</a:t>
            </a:fld>
            <a:endParaRPr lang="ko-KR" alt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LAMA(저감쇠근육량)_SUM: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lama_linear_regression_scatter.png"/>
          <p:cNvPicPr>
            <a:picLocks noChangeAspect="1"/>
          </p:cNvPicPr>
          <p:nvPr/>
        </p:nvPicPr>
        <p:blipFill>
          <a:blip r:embed="rId3"/>
          <a:stretch>
            <a:fillRect/>
          </a:stretch>
        </p:blipFill>
        <p:spPr>
          <a:xfrm>
            <a:off x="1272667" y="1500000"/>
            <a:ext cx="9646666" cy="4700000"/>
          </a:xfrm>
          <a:prstGeom prst="rect">
            <a:avLst/>
          </a:prstGeom>
        </p:spPr>
      </p:pic>
      <p:sp>
        <p:nvSpPr>
          <p:cNvPr id="5" name="슬라이드 번호 개체 틀 4">
            <a:extLst>
              <a:ext uri="{FF2B5EF4-FFF2-40B4-BE49-F238E27FC236}">
                <a16:creationId xmlns:a16="http://schemas.microsoft.com/office/drawing/2014/main" id="{E710F556-02F3-9C65-8BFD-C568DF1BA5AB}"/>
              </a:ext>
            </a:extLst>
          </p:cNvPr>
          <p:cNvSpPr>
            <a:spLocks noGrp="1"/>
          </p:cNvSpPr>
          <p:nvPr>
            <p:ph type="sldNum" sz="quarter" idx="12"/>
          </p:nvPr>
        </p:nvSpPr>
        <p:spPr/>
        <p:txBody>
          <a:bodyPr/>
          <a:lstStyle/>
          <a:p>
            <a:fld id="{9F4AF89A-28FA-47FA-B28F-9A9C6913CB7A}" type="slidenum">
              <a:rPr lang="ko-KR" altLang="en-US" smtClean="0"/>
              <a:pPr/>
              <a:t>26</a:t>
            </a:fld>
            <a:endParaRPr lang="ko-KR"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IMATA(근육간지방)_SUM: Clinical-only 선형회귀 잔차 진단</a:t>
            </a:r>
          </a:p>
        </p:txBody>
      </p:sp>
      <p:sp>
        <p:nvSpPr>
          <p:cNvPr id="3" name="Content Placeholder 2"/>
          <p:cNvSpPr>
            <a:spLocks noGrp="1"/>
          </p:cNvSpPr>
          <p:nvPr>
            <p:ph idx="1"/>
          </p:nvPr>
        </p:nvSpPr>
        <p:spPr/>
        <p:txBody>
          <a:bodyPr/>
          <a:lstStyle/>
          <a:p>
            <a:r>
              <a:rPr b="1" dirty="0"/>
              <a:t>internal(OOF): R²=0.333 [0.284, 0.382], RMSE=463.4, MAE=321.3, Pearson r=0.577</a:t>
            </a:r>
          </a:p>
          <a:p>
            <a:r>
              <a:rPr b="1" dirty="0"/>
              <a:t>external(frozen): R²=0.282 [0.212, 0.344], RMSE=528.0, MAE=370.2, Pearson r=0.566</a:t>
            </a:r>
          </a:p>
        </p:txBody>
      </p:sp>
      <p:pic>
        <p:nvPicPr>
          <p:cNvPr id="4" name="Picture 3" descr="imata_linear_regression_diagnostics.png"/>
          <p:cNvPicPr>
            <a:picLocks noChangeAspect="1"/>
          </p:cNvPicPr>
          <p:nvPr/>
        </p:nvPicPr>
        <p:blipFill>
          <a:blip r:embed="rId3"/>
          <a:stretch>
            <a:fillRect/>
          </a:stretch>
        </p:blipFill>
        <p:spPr>
          <a:xfrm>
            <a:off x="1596000" y="2283962"/>
            <a:ext cx="9000000" cy="4091096"/>
          </a:xfrm>
          <a:prstGeom prst="rect">
            <a:avLst/>
          </a:prstGeom>
        </p:spPr>
      </p:pic>
      <p:sp>
        <p:nvSpPr>
          <p:cNvPr id="6" name="슬라이드 번호 개체 틀 5">
            <a:extLst>
              <a:ext uri="{FF2B5EF4-FFF2-40B4-BE49-F238E27FC236}">
                <a16:creationId xmlns:a16="http://schemas.microsoft.com/office/drawing/2014/main" id="{FC4043D8-F0F0-8F50-B3D8-D00DC5E89EA6}"/>
              </a:ext>
            </a:extLst>
          </p:cNvPr>
          <p:cNvSpPr>
            <a:spLocks noGrp="1"/>
          </p:cNvSpPr>
          <p:nvPr>
            <p:ph type="sldNum" sz="quarter" idx="12"/>
          </p:nvPr>
        </p:nvSpPr>
        <p:spPr/>
        <p:txBody>
          <a:bodyPr/>
          <a:lstStyle/>
          <a:p>
            <a:fld id="{9F4AF89A-28FA-47FA-B28F-9A9C6913CB7A}" type="slidenum">
              <a:rPr lang="ko-KR" altLang="en-US" smtClean="0"/>
              <a:pPr/>
              <a:t>27</a:t>
            </a:fld>
            <a:endParaRPr lang="ko-KR" alt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IMATA(근육간지방)_SUM: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imata_linear_regression_scatter.png"/>
          <p:cNvPicPr>
            <a:picLocks noChangeAspect="1"/>
          </p:cNvPicPr>
          <p:nvPr/>
        </p:nvPicPr>
        <p:blipFill>
          <a:blip r:embed="rId3"/>
          <a:stretch>
            <a:fillRect/>
          </a:stretch>
        </p:blipFill>
        <p:spPr>
          <a:xfrm>
            <a:off x="1281000" y="1500000"/>
            <a:ext cx="9630000" cy="4700000"/>
          </a:xfrm>
          <a:prstGeom prst="rect">
            <a:avLst/>
          </a:prstGeom>
        </p:spPr>
      </p:pic>
      <p:sp>
        <p:nvSpPr>
          <p:cNvPr id="5" name="슬라이드 번호 개체 틀 4">
            <a:extLst>
              <a:ext uri="{FF2B5EF4-FFF2-40B4-BE49-F238E27FC236}">
                <a16:creationId xmlns:a16="http://schemas.microsoft.com/office/drawing/2014/main" id="{D355789E-8D34-349B-D27D-A17C11E00394}"/>
              </a:ext>
            </a:extLst>
          </p:cNvPr>
          <p:cNvSpPr>
            <a:spLocks noGrp="1"/>
          </p:cNvSpPr>
          <p:nvPr>
            <p:ph type="sldNum" sz="quarter" idx="12"/>
          </p:nvPr>
        </p:nvSpPr>
        <p:spPr/>
        <p:txBody>
          <a:bodyPr/>
          <a:lstStyle/>
          <a:p>
            <a:fld id="{9F4AF89A-28FA-47FA-B28F-9A9C6913CB7A}" type="slidenum">
              <a:rPr lang="ko-KR" altLang="en-US" smtClean="0"/>
              <a:pPr/>
              <a:t>28</a:t>
            </a:fld>
            <a:endParaRPr lang="ko-KR" alt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SAT(피하지방)_SUM: Clinical-only 선형회귀 잔차 진단</a:t>
            </a:r>
          </a:p>
        </p:txBody>
      </p:sp>
      <p:sp>
        <p:nvSpPr>
          <p:cNvPr id="3" name="Content Placeholder 2"/>
          <p:cNvSpPr>
            <a:spLocks noGrp="1"/>
          </p:cNvSpPr>
          <p:nvPr>
            <p:ph idx="1"/>
          </p:nvPr>
        </p:nvSpPr>
        <p:spPr/>
        <p:txBody>
          <a:bodyPr/>
          <a:lstStyle/>
          <a:p>
            <a:r>
              <a:rPr b="1" dirty="0"/>
              <a:t>internal(OOF): R²=0.528 [0.478, 0.573], RMSE=5578.8, MAE=4087.8, Pearson r=0.726</a:t>
            </a:r>
          </a:p>
          <a:p>
            <a:r>
              <a:rPr b="1" dirty="0"/>
              <a:t>external(frozen): R²=0.565 [0.511, 0.613], RMSE=5893.7, MAE=4387.5, Pearson r=0.75</a:t>
            </a:r>
            <a:r>
              <a:rPr lang="en-US" altLang="ko-KR" b="1" dirty="0"/>
              <a:t>9</a:t>
            </a:r>
            <a:endParaRPr b="1" dirty="0"/>
          </a:p>
        </p:txBody>
      </p:sp>
      <p:pic>
        <p:nvPicPr>
          <p:cNvPr id="4" name="Picture 3" descr="sat_linear_regression_diagnostics.png"/>
          <p:cNvPicPr>
            <a:picLocks noChangeAspect="1"/>
          </p:cNvPicPr>
          <p:nvPr/>
        </p:nvPicPr>
        <p:blipFill>
          <a:blip r:embed="rId3"/>
          <a:stretch>
            <a:fillRect/>
          </a:stretch>
        </p:blipFill>
        <p:spPr>
          <a:xfrm>
            <a:off x="1596000" y="2263807"/>
            <a:ext cx="9000000" cy="4091096"/>
          </a:xfrm>
          <a:prstGeom prst="rect">
            <a:avLst/>
          </a:prstGeom>
        </p:spPr>
      </p:pic>
      <p:sp>
        <p:nvSpPr>
          <p:cNvPr id="6" name="슬라이드 번호 개체 틀 5">
            <a:extLst>
              <a:ext uri="{FF2B5EF4-FFF2-40B4-BE49-F238E27FC236}">
                <a16:creationId xmlns:a16="http://schemas.microsoft.com/office/drawing/2014/main" id="{856F5A79-563A-CEE1-DDEF-0809C57CE089}"/>
              </a:ext>
            </a:extLst>
          </p:cNvPr>
          <p:cNvSpPr>
            <a:spLocks noGrp="1"/>
          </p:cNvSpPr>
          <p:nvPr>
            <p:ph type="sldNum" sz="quarter" idx="12"/>
          </p:nvPr>
        </p:nvSpPr>
        <p:spPr/>
        <p:txBody>
          <a:bodyPr/>
          <a:lstStyle/>
          <a:p>
            <a:fld id="{9F4AF89A-28FA-47FA-B28F-9A9C6913CB7A}" type="slidenum">
              <a:rPr lang="ko-KR" altLang="en-US" smtClean="0"/>
              <a:pPr/>
              <a:t>29</a:t>
            </a:fld>
            <a:endParaRPr lang="ko-KR"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SAT(피하지방)_SUM: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sat_linear_regression_scatter.png"/>
          <p:cNvPicPr>
            <a:picLocks noChangeAspect="1"/>
          </p:cNvPicPr>
          <p:nvPr/>
        </p:nvPicPr>
        <p:blipFill>
          <a:blip r:embed="rId3"/>
          <a:stretch>
            <a:fillRect/>
          </a:stretch>
        </p:blipFill>
        <p:spPr>
          <a:xfrm>
            <a:off x="1166163" y="1500000"/>
            <a:ext cx="9859673" cy="4700000"/>
          </a:xfrm>
          <a:prstGeom prst="rect">
            <a:avLst/>
          </a:prstGeom>
        </p:spPr>
      </p:pic>
      <p:sp>
        <p:nvSpPr>
          <p:cNvPr id="5" name="슬라이드 번호 개체 틀 4">
            <a:extLst>
              <a:ext uri="{FF2B5EF4-FFF2-40B4-BE49-F238E27FC236}">
                <a16:creationId xmlns:a16="http://schemas.microsoft.com/office/drawing/2014/main" id="{EC6FC58D-A43B-DC1A-D82A-7143EE608D9D}"/>
              </a:ext>
            </a:extLst>
          </p:cNvPr>
          <p:cNvSpPr>
            <a:spLocks noGrp="1"/>
          </p:cNvSpPr>
          <p:nvPr>
            <p:ph type="sldNum" sz="quarter" idx="12"/>
          </p:nvPr>
        </p:nvSpPr>
        <p:spPr/>
        <p:txBody>
          <a:bodyPr/>
          <a:lstStyle/>
          <a:p>
            <a:fld id="{9F4AF89A-28FA-47FA-B28F-9A9C6913CB7A}" type="slidenum">
              <a:rPr lang="ko-KR" altLang="en-US" smtClean="0"/>
              <a:pPr/>
              <a:t>30</a:t>
            </a:fld>
            <a:endParaRPr lang="ko-KR"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VAT(내장지방)_SUM: Clinical-only 선형회귀 잔차 진단</a:t>
            </a:r>
          </a:p>
        </p:txBody>
      </p:sp>
      <p:sp>
        <p:nvSpPr>
          <p:cNvPr id="3" name="Content Placeholder 2"/>
          <p:cNvSpPr>
            <a:spLocks noGrp="1"/>
          </p:cNvSpPr>
          <p:nvPr>
            <p:ph idx="1"/>
          </p:nvPr>
        </p:nvSpPr>
        <p:spPr/>
        <p:txBody>
          <a:bodyPr/>
          <a:lstStyle/>
          <a:p>
            <a:r>
              <a:rPr b="1" dirty="0"/>
              <a:t>internal(OOF): R²=0.523 [0.483, 0.562], RMSE=3588.0, MAE=2609.7, Pearson r=0.723</a:t>
            </a:r>
          </a:p>
          <a:p>
            <a:r>
              <a:rPr b="1" dirty="0"/>
              <a:t>external(frozen): R²=0.418 [0.359, 0.471], RMSE=4091.0, MAE=3127.3, Pearson r=0.66</a:t>
            </a:r>
            <a:r>
              <a:rPr lang="en-US" altLang="ko-KR" b="1" dirty="0"/>
              <a:t>4</a:t>
            </a:r>
            <a:endParaRPr b="1" dirty="0"/>
          </a:p>
        </p:txBody>
      </p:sp>
      <p:pic>
        <p:nvPicPr>
          <p:cNvPr id="4" name="Picture 3" descr="vat_linear_regression_diagnostics.png"/>
          <p:cNvPicPr>
            <a:picLocks noChangeAspect="1"/>
          </p:cNvPicPr>
          <p:nvPr/>
        </p:nvPicPr>
        <p:blipFill>
          <a:blip r:embed="rId3"/>
          <a:stretch>
            <a:fillRect/>
          </a:stretch>
        </p:blipFill>
        <p:spPr>
          <a:xfrm>
            <a:off x="1596000" y="2272514"/>
            <a:ext cx="9000000" cy="4091096"/>
          </a:xfrm>
          <a:prstGeom prst="rect">
            <a:avLst/>
          </a:prstGeom>
        </p:spPr>
      </p:pic>
      <p:sp>
        <p:nvSpPr>
          <p:cNvPr id="6" name="슬라이드 번호 개체 틀 5">
            <a:extLst>
              <a:ext uri="{FF2B5EF4-FFF2-40B4-BE49-F238E27FC236}">
                <a16:creationId xmlns:a16="http://schemas.microsoft.com/office/drawing/2014/main" id="{C82624E0-483E-4E49-1FDC-10276EB27CC0}"/>
              </a:ext>
            </a:extLst>
          </p:cNvPr>
          <p:cNvSpPr>
            <a:spLocks noGrp="1"/>
          </p:cNvSpPr>
          <p:nvPr>
            <p:ph type="sldNum" sz="quarter" idx="12"/>
          </p:nvPr>
        </p:nvSpPr>
        <p:spPr/>
        <p:txBody>
          <a:bodyPr/>
          <a:lstStyle/>
          <a:p>
            <a:fld id="{9F4AF89A-28FA-47FA-B28F-9A9C6913CB7A}" type="slidenum">
              <a:rPr lang="ko-KR" altLang="en-US" smtClean="0"/>
              <a:pPr/>
              <a:t>31</a:t>
            </a:fld>
            <a:endParaRPr lang="ko-KR" alt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VAT(내장지방)_SUM: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vat_linear_regression_scatter.png"/>
          <p:cNvPicPr>
            <a:picLocks noChangeAspect="1"/>
          </p:cNvPicPr>
          <p:nvPr/>
        </p:nvPicPr>
        <p:blipFill>
          <a:blip r:embed="rId3"/>
          <a:stretch>
            <a:fillRect/>
          </a:stretch>
        </p:blipFill>
        <p:spPr>
          <a:xfrm>
            <a:off x="1164498" y="1500000"/>
            <a:ext cx="9863004" cy="4700000"/>
          </a:xfrm>
          <a:prstGeom prst="rect">
            <a:avLst/>
          </a:prstGeom>
        </p:spPr>
      </p:pic>
      <p:sp>
        <p:nvSpPr>
          <p:cNvPr id="5" name="슬라이드 번호 개체 틀 4">
            <a:extLst>
              <a:ext uri="{FF2B5EF4-FFF2-40B4-BE49-F238E27FC236}">
                <a16:creationId xmlns:a16="http://schemas.microsoft.com/office/drawing/2014/main" id="{F5F28432-3B95-79C3-663F-7D2F7940B81D}"/>
              </a:ext>
            </a:extLst>
          </p:cNvPr>
          <p:cNvSpPr>
            <a:spLocks noGrp="1"/>
          </p:cNvSpPr>
          <p:nvPr>
            <p:ph type="sldNum" sz="quarter" idx="12"/>
          </p:nvPr>
        </p:nvSpPr>
        <p:spPr/>
        <p:txBody>
          <a:bodyPr/>
          <a:lstStyle/>
          <a:p>
            <a:fld id="{9F4AF89A-28FA-47FA-B28F-9A9C6913CB7A}" type="slidenum">
              <a:rPr lang="ko-KR" altLang="en-US" smtClean="0"/>
              <a:pPr/>
              <a:t>32</a:t>
            </a:fld>
            <a:endParaRPr lang="ko-KR" alt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Total Fat(전체지방량)_SUM: Clinical-only 선형회귀 잔차 진단</a:t>
            </a:r>
          </a:p>
        </p:txBody>
      </p:sp>
      <p:sp>
        <p:nvSpPr>
          <p:cNvPr id="3" name="Content Placeholder 2"/>
          <p:cNvSpPr>
            <a:spLocks noGrp="1"/>
          </p:cNvSpPr>
          <p:nvPr>
            <p:ph idx="1"/>
          </p:nvPr>
        </p:nvSpPr>
        <p:spPr/>
        <p:txBody>
          <a:bodyPr/>
          <a:lstStyle/>
          <a:p>
            <a:r>
              <a:rPr b="1" dirty="0"/>
              <a:t>internal(OOF): R²=0.502 [0.452, 0.548], RMSE=8011.9, MAE=5835.2, Pearson r=0.709</a:t>
            </a:r>
          </a:p>
          <a:p>
            <a:r>
              <a:rPr b="1" dirty="0"/>
              <a:t>external(frozen): R²=0.492 [0.428, 0.550], RMSE=8790.2, MAE=6666.6, Pearson r=0.714</a:t>
            </a:r>
          </a:p>
        </p:txBody>
      </p:sp>
      <p:pic>
        <p:nvPicPr>
          <p:cNvPr id="4" name="Picture 3" descr="total_fat_linear_regression_diagnostics.png"/>
          <p:cNvPicPr>
            <a:picLocks noChangeAspect="1"/>
          </p:cNvPicPr>
          <p:nvPr/>
        </p:nvPicPr>
        <p:blipFill>
          <a:blip r:embed="rId3"/>
          <a:stretch>
            <a:fillRect/>
          </a:stretch>
        </p:blipFill>
        <p:spPr>
          <a:xfrm>
            <a:off x="1596000" y="2294594"/>
            <a:ext cx="9000000" cy="4091096"/>
          </a:xfrm>
          <a:prstGeom prst="rect">
            <a:avLst/>
          </a:prstGeom>
        </p:spPr>
      </p:pic>
      <p:sp>
        <p:nvSpPr>
          <p:cNvPr id="6" name="슬라이드 번호 개체 틀 5">
            <a:extLst>
              <a:ext uri="{FF2B5EF4-FFF2-40B4-BE49-F238E27FC236}">
                <a16:creationId xmlns:a16="http://schemas.microsoft.com/office/drawing/2014/main" id="{F6F0339F-08EE-6841-D84C-97DF1B972625}"/>
              </a:ext>
            </a:extLst>
          </p:cNvPr>
          <p:cNvSpPr>
            <a:spLocks noGrp="1"/>
          </p:cNvSpPr>
          <p:nvPr>
            <p:ph type="sldNum" sz="quarter" idx="12"/>
          </p:nvPr>
        </p:nvSpPr>
        <p:spPr/>
        <p:txBody>
          <a:bodyPr/>
          <a:lstStyle/>
          <a:p>
            <a:fld id="{9F4AF89A-28FA-47FA-B28F-9A9C6913CB7A}" type="slidenum">
              <a:rPr lang="ko-KR" altLang="en-US" smtClean="0"/>
              <a:pPr/>
              <a:t>33</a:t>
            </a:fld>
            <a:endParaRPr lang="ko-KR" alt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Appendix — Total Fat(전체지방량)_SUM: Clinical-only 선형회귀 Actual vs Predicted</a:t>
            </a:r>
          </a:p>
        </p:txBody>
      </p:sp>
      <p:sp>
        <p:nvSpPr>
          <p:cNvPr id="3" name="Content Placeholder 2"/>
          <p:cNvSpPr>
            <a:spLocks noGrp="1"/>
          </p:cNvSpPr>
          <p:nvPr>
            <p:ph idx="1"/>
          </p:nvPr>
        </p:nvSpPr>
        <p:spPr/>
        <p:txBody>
          <a:bodyPr/>
          <a:lstStyle/>
          <a:p>
            <a:r>
              <a:t>clinic4 baseline: Actual vs Predicted 산점도(회귀선·95% CI) — 잔차 진단(이전 슬라이드) 보완 시각화</a:t>
            </a:r>
          </a:p>
        </p:txBody>
      </p:sp>
      <p:pic>
        <p:nvPicPr>
          <p:cNvPr id="4" name="Picture 3" descr="total_fat_linear_regression_scatter.png"/>
          <p:cNvPicPr>
            <a:picLocks noChangeAspect="1"/>
          </p:cNvPicPr>
          <p:nvPr/>
        </p:nvPicPr>
        <p:blipFill>
          <a:blip r:embed="rId3"/>
          <a:stretch>
            <a:fillRect/>
          </a:stretch>
        </p:blipFill>
        <p:spPr>
          <a:xfrm>
            <a:off x="1237667" y="1500000"/>
            <a:ext cx="9716666" cy="4700000"/>
          </a:xfrm>
          <a:prstGeom prst="rect">
            <a:avLst/>
          </a:prstGeom>
        </p:spPr>
      </p:pic>
      <p:sp>
        <p:nvSpPr>
          <p:cNvPr id="5" name="슬라이드 번호 개체 틀 4">
            <a:extLst>
              <a:ext uri="{FF2B5EF4-FFF2-40B4-BE49-F238E27FC236}">
                <a16:creationId xmlns:a16="http://schemas.microsoft.com/office/drawing/2014/main" id="{981CB064-3927-5EE1-BBBB-B27B7203F622}"/>
              </a:ext>
            </a:extLst>
          </p:cNvPr>
          <p:cNvSpPr>
            <a:spLocks noGrp="1"/>
          </p:cNvSpPr>
          <p:nvPr>
            <p:ph type="sldNum" sz="quarter" idx="12"/>
          </p:nvPr>
        </p:nvSpPr>
        <p:spPr/>
        <p:txBody>
          <a:bodyPr/>
          <a:lstStyle/>
          <a:p>
            <a:fld id="{9F4AF89A-28FA-47FA-B28F-9A9C6913CB7A}" type="slidenum">
              <a:rPr lang="ko-KR" altLang="en-US" smtClean="0"/>
              <a:pPr/>
              <a:t>34</a:t>
            </a:fld>
            <a:endParaRPr lang="ko-KR" altLang="en-US" dirty="0"/>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A4B9BE-6ABB-4644-A858-A1BE01A7D227}">
  <we:reference id="wa200010725" version="1.0.0.1" store="ko-KR" storeType="OMEX"/>
  <we:alternateReferences>
    <we:reference id="WA200010725" version="1.0.0.1" store="WA200010725" storeType="OMEX"/>
  </we:alternateReferences>
  <we:properties>
    <we:property name="claude.fileId" value="&quot;b67ecc52-606c-4d9b-921c-389ac737e61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6565</TotalTime>
  <Words>5443</Words>
  <Application>Microsoft Office PowerPoint</Application>
  <PresentationFormat>와이드스크린</PresentationFormat>
  <Paragraphs>464</Paragraphs>
  <Slides>34</Slides>
  <Notes>34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34</vt:i4>
      </vt:variant>
    </vt:vector>
  </HeadingPairs>
  <TitlesOfParts>
    <vt:vector size="38" baseType="lpstr">
      <vt:lpstr>KoPub돋움체 Medium</vt:lpstr>
      <vt:lpstr>Arial</vt:lpstr>
      <vt:lpstr>KoPub돋움체 Bold</vt:lpstr>
      <vt:lpstr>Office 테마</vt:lpstr>
      <vt:lpstr>PowerPoint 프레젠테이션</vt:lpstr>
      <vt:lpstr>Reference Papers - 분석 방법론 근거</vt:lpstr>
      <vt:lpstr>Research Summary</vt:lpstr>
      <vt:lpstr>Overview</vt:lpstr>
      <vt:lpstr>Step 0: Baseline (Clinic4 단독)</vt:lpstr>
      <vt:lpstr>Step 1: + AEC 평균 mAs(단일 숫자) — 상관관계 근거</vt:lpstr>
      <vt:lpstr>Step 1: + AEC 평균 mAs(단일 숫자) — R² 성능 결과</vt:lpstr>
      <vt:lpstr>Output Feature × AEC 구간평균 — 상관 히트맵</vt:lpstr>
      <vt:lpstr>AEC 구간 수(Segment Count) Sweep — Regression</vt:lpstr>
      <vt:lpstr>AEC 앞/뒤 50% 단독 사용 — Internal vs External</vt:lpstr>
      <vt:lpstr>Step 2: 구간 선택(Top-k) — 방법</vt:lpstr>
      <vt:lpstr>AEC 구간 선택(Top-k) — Segment Selection Regression</vt:lpstr>
      <vt:lpstr>Step 3: + SD, Skewness, Upper/Lower 50% 비율 등</vt:lpstr>
      <vt:lpstr>최종 목표: 위 Feature 기반 Cutoff → Binary 변환</vt:lpstr>
      <vt:lpstr>Reference Cutoff 직접 산출 (Internal, 전체 코호트 mean±2SD) (1차 시도)</vt:lpstr>
      <vt:lpstr>Step4: 이진분류 방법 재검토 — Cutoff 전체 재산정</vt:lpstr>
      <vt:lpstr>Step4: Logistic Regression 결과 — clinic4 vs clinic4+AEC(8구간)</vt:lpstr>
      <vt:lpstr>Conclusion / Next Steps</vt:lpstr>
      <vt:lpstr>PowerPoint 프레젠테이션</vt:lpstr>
      <vt:lpstr>Appendix — LAMA(저감쇠근육량)_SUM: 코호트간 평균차이가 7종 중 최대인 이유</vt:lpstr>
      <vt:lpstr>Appendix — TAMA(총근육량)_SUM: Clinical-only 선형회귀 잔차 진단</vt:lpstr>
      <vt:lpstr>Appendix — TAMA(총근육량)_SUM: Clinical-only 선형회귀 Actual vs Predicted</vt:lpstr>
      <vt:lpstr>Appendix — NAMA(정상감쇠근육량)_SUM: Clinical-only 선형회귀 잔차 진단</vt:lpstr>
      <vt:lpstr>Appendix — NAMA(정상감쇠근육량)_SUM: Clinical-only 선형회귀 Actual vs Predicted</vt:lpstr>
      <vt:lpstr>Appendix — LAMA(저감쇠근육량)_SUM: Clinical-only 선형회귀 잔차 진단</vt:lpstr>
      <vt:lpstr>Appendix — LAMA(저감쇠근육량)_SUM: Clinical-only 선형회귀 Actual vs Predicted</vt:lpstr>
      <vt:lpstr>Appendix — IMATA(근육간지방)_SUM: Clinical-only 선형회귀 잔차 진단</vt:lpstr>
      <vt:lpstr>Appendix — IMATA(근육간지방)_SUM: Clinical-only 선형회귀 Actual vs Predicted</vt:lpstr>
      <vt:lpstr>Appendix — SAT(피하지방)_SUM: Clinical-only 선형회귀 잔차 진단</vt:lpstr>
      <vt:lpstr>Appendix — SAT(피하지방)_SUM: Clinical-only 선형회귀 Actual vs Predicted</vt:lpstr>
      <vt:lpstr>Appendix — VAT(내장지방)_SUM: Clinical-only 선형회귀 잔차 진단</vt:lpstr>
      <vt:lpstr>Appendix — VAT(내장지방)_SUM: Clinical-only 선형회귀 Actual vs Predicted</vt:lpstr>
      <vt:lpstr>Appendix — Total Fat(전체지방량)_SUM: Clinical-only 선형회귀 잔차 진단</vt:lpstr>
      <vt:lpstr>Appendix — Total Fat(전체지방량)_SUM: Clinical-only 선형회귀 Actual vs Predicted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전장훈</dc:creator>
  <cp:lastModifiedBy>전장훈</cp:lastModifiedBy>
  <cp:revision>677</cp:revision>
  <dcterms:created xsi:type="dcterms:W3CDTF">2026-04-09T07:05:16Z</dcterms:created>
  <dcterms:modified xsi:type="dcterms:W3CDTF">2026-08-05T08:22:49Z</dcterms:modified>
</cp:coreProperties>
</file>