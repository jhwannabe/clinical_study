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0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59" r:id="rId39"/>
    <p:sldId id="360" r:id="rId40"/>
    <p:sldId id="344" r:id="rId15"/>
    <p:sldId id="361" r:id="rId41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43" r:id="rId14"/>
  </p:sldIdLst>
  <p:sldSz cx="12192000" cy="6858000"/>
  <p:notesSz cx="6858000" cy="9144000"/>
  <p:embeddedFontLst>
    <p:embeddedFont>
      <p:font typeface="KoPub돋움체 Bold" panose="00000800000000000000" pitchFamily="2" charset="-127"/>
      <p:bold r:id="rId31"/>
    </p:embeddedFont>
    <p:embeddedFont>
      <p:font typeface="KoPub돋움체 Medium" panose="00000600000000000000" pitchFamily="2" charset="-127"/>
      <p:regular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commentAuthors" Target="commentAuthors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2026-10-15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발표는 CT 사진에서 얻는 몸 구성 정보(내장지방, 근육 등)가 질환을 가려내는 데 얼마나 도움이 되는지 확인한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기본 정보만으로 AUC 0.75~0.77입니다. CT 몸 구성을 더하면 두 병원을 합친 5-fold 기준으로 당뇨와 콩팥병의 AUC가 오르고, 고혈압은 유의한 변화가 없습니다. 콩팥병은 환자 수가 적고 여러 방법 중 best를 고른 값이라 실제보다 높게 나왔을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landmark_filtered 데이터셋은 아래 조건을 모두 만족한 환자만 남긴 것입니다(연구 코드 merge_metadata.py의 _filter_sheets). (1) Height·Weight·BMI와 HTN·DM·CKD 라벨에 결측이 없을 것, (2) 키·몸무게 입력 오류로 표시된 환자 제외, (3) TotalSegmentator segmentation 성공, (4) T10에서 치골까지 landmark slice 번호가 엄격히 증가(liver_dome은 T10과의 상하 위치가 달라 검사하지 않음), (5) AEC 신호가 flat이 아닐 것(CV 0.05 미만, 범위 10 mA 미만, 직선 R² 0.95 이상이면 flat으로 제외). 질환 라벨은 기저질환.xlsx의 ICD-10 코드로, CT 촬영월이 첫 진단월과 같거나 늦으면 양성입니다. 오른쪽은 환자별 확인용 이미지 샘플로(환자 번호는 가렸습니다), 이런 이미지를 강남 2,051명분 만들어 landmark 위치와 분할 영역을 눈으로 확인했습니다. 색 범례의 NAMA, LAMA, IMATA는 근육 관련 영역 구분입니다.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라벨 변경 전후 환자 수 비교입니다. 질환 라벨을 CT 촬영월이 첫 진단월과 같거나 늦은 경우에만 양성으로 바꿨습니다. 그 결과 질환군은 줄고 정상군(세 질환이 모두 없는 사람)은 늘었습니다. 질환군에서 정상군으로 바뀐 환자 수는 마지막 열에 있고, 반대로 바뀐 환자는 없습니다. 전체 환자 수의 감소는 20세 미만 환자를 제외했기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병원 환자를 사용했습니다. 질환마다 '질환군'과 '정상군(세 질환이 모두 없는 사람)'만 비교했고, 다른 질환을 가진 환자는 비교에서 뺐습니다. 만성콩팥병 환자는 강남 45명, 신촌 63명으로 적은 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행은 질환, 열은 4가지 값입니다. 파란 선은 정상군, 빨간 선은 질환군입니다. VAT는 두 선이 벌어지고 별표가 많고, TAMA는 거의 겹칩니다. 신촌 병원 그림은 다음 슬라이드에 있습니다.</a:t>
            </a:r>
          </a:p>
          <a:p>
            <a:endParaRPr/>
          </a:p>
          <a:p>
            <a:r>
              <a:t>[근거 논문]</a:t>
            </a:r>
          </a:p>
          <a:p>
            <a:r>
              <a:t>- Fox CS et al. Circulation 2007;116:39-48 (Framingham: 내장지방 VAT가 고혈압·당뇨·대사증후군과 강하게 연관). https://doi.org/10.1161/CIRCULATIONAHA.106.675355 (PMID 17576866)</a:t>
            </a:r>
          </a:p>
          <a:p>
            <a:r>
              <a:t>- Benjamini Y, Hochberg Y. J R Stat Soc B 1995;57:289-300 (BH-FDR 다중비교 보정). https://doi.org/10.1111/j.2517-6161.1995.tb02031.x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신촌 결과입니다. VAT는 강남과 같은 방향이나 질환군과 정상군의 차이는 강남보다 작습니다. TAMA는 강남에서 모든 높이에서 차이가 났으나 신촌에서는 별표가 없습니다.</a:t>
            </a:r>
          </a:p>
          <a:p>
            <a:endParaRPr/>
          </a:p>
          <a:p>
            <a:r>
              <a:t>[근거 논문]</a:t>
            </a:r>
          </a:p>
          <a:p>
            <a:r>
              <a:t>- Fox CS et al. Circulation 2007;116:39-48 (Framingham: 내장지방 VAT가 고혈압·당뇨·대사증후군과 강하게 연관). https://doi.org/10.1161/CIRCULATIONAHA.106.675355 (PMID 17576866)</a:t>
            </a:r>
          </a:p>
          <a:p>
            <a:r>
              <a:t>- Benjamini Y, Hochberg Y. J R Stat Soc B 1995;57:289-300 (BH-FDR 다중비교 보정). https://doi.org/10.1111/j.2517-6161.1995.tb02031.x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기준 모델의 점수입니다(두 병원 합친 5-fold CV, 3회 반복). 기본 정보만으로 AUC 0.75~0.77이고, 이후 비교는 이 값 대비 변화량(ΔAUC)입니다. 값은 mean ± SD입니다(AUC는 fold별, Sens·Spec은 반복별 SD). Sens·Spec은 민감도 90% 이상을 만족하는 가장 큰 cutoff에서의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기본 정보에 CT 몸 구성을 추가하는 방법 7가지를 비교했습니다. 표의 값은 방법별로 질환마다 가장 높았던 조합의 ΔAUC(기준 clinic4 대비)와 p값이고, 두 병원 합친 5-fold CV(3회 반복) 기준입니다. 테두리 박스는 p&lt;0.05입니다. 5번(구간 평균·합)이 세 질환 모두에서 가장 높았습니다.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VAT·SAT·TAMA·AEC의 구간 평균값을 정상군(파랑)과 질환군(빨강)으로 나눠 비교한 그림입니다. 두 병원을 합쳤고, 질환마다 질환군과 세 질환이 모두 없는 정상군만 사용했습니다. 이 구간별 평균과 합이 best model의 입력(32개)입니다.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36개 입력 모델의 계수입니다. 위 줄은 구간 평균, 아래 줄은 구간 합이고, 구간 ①~④는 ① Liver dome·T10·T11·T12, ② L1·L2, ③ L3·L4, ④ L5·S1·Femoral head·Pubic margin입니다. 구간 평균과 합은 서로 상관이 커서 개별 계수를 그대로 해석하기는 어렵습니다. AEC 구간④ 평균은 세 질환에서 모두 OR이 1보다 작고 15개 모델에서 부호가 같았습니다.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ΔAUC는 기준 모델 대비 AUC 변화입니다. 단계 5(몸을 4구간으로 나눠 구간 평균과 합을 더한 방법)가 세 질환에서 두 병원 합친 5-fold CV test 점수가 가장 높았습니다. DM과 CKD는 AUC가 오르고 p값이 작지만, 여러 방법 중 best를 고른 값이라 실제보다 높게 나왔을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민감도를 90% 이상으로 맞춘 상태에서 정상군을 정상으로 맞추는 비율(특이도)이 얼마나 오르는지 비교한 표입니다. 같은 cutoff 기준으로 baseline(기본 정보만)과 최종 best model을 나란히 두었고, 두 병원 합친 5-fold CV(3회 반복)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CKD는 환자 수가 적고, 방법을 많이 비교했으며 best를 같은 CV로 고른 값이라 AUC가 실제보다 높게 나왔을 수 있습니다. 외부 test set이 없고 병원 간 차이가 섞여 있습니다. 정상군은 세 질환이 모두 없는 환자만 사용했습니다.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본문은 여기까지입니다. 이후는 질문에 답하기 위한 부록입니다.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 = 변수가 1 SD 커질 때의 odds ratio입니다(1보다 크면 질환 가능성 증가). 두 병원 합친 자료에서 5-fold test fold마다 학습한 15개 모델의 평균이고, 괄호는 그 15개 결과의 가운데 95% 범위입니다. 예를 들어 나이의 OR이 2.5이면, 나이가 표준편차 1만큼 높을 때 질환 가능성이 약 2.5배가 된다는 뜻입니다.</a:t>
            </a:r>
          </a:p>
          <a:p>
            <a:endParaRPr/>
          </a:p>
          <a:p>
            <a:r>
              <a:t>[근거 논문]</a:t>
            </a:r>
          </a:p>
          <a:p>
            <a:r>
              <a:t>- Fox CS et al. Circulation 2007;116:39-48 (Framingham: 내장지방 VAT가 고혈압·당뇨·대사증후군과 강하게 연관). https://doi.org/10.1161/CIRCULATIONAHA.106.675355 (PMID 17576866)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조직마다 12곳의 값을 더해 '그 조직의 대략적인 총량'으로 사용 (4종을 한꺼번에 넣은 경우 포함).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12곳 중 한 곳씩, 그리고 전부를 더해 어느 높이에 정보가 있는지 확인 (L3는 CT 체성분 연구의 표준 단면).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몸을 따라 그린 지방·근육 곡선의 가장 높은 값(그 환자에서 조직이 가장 많은 곳)과 그 위치, 4구간별 꼭대기 값.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내장지방/피하지방, 근육/BMI, 내장지방/근육 비율을 12곳마다 계산 (체격이나 지방 분포의 균형을 반영).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몸을 4구간(① Liver dome·T10·T11·T12, ② L1·L2, ③ L3·L4, ④ L5·S1·Femoral head·Pubic margin)으로 나눠 구간 평균과 합을 사용. 한 점보다 잡음에 덜 민감.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VAT·SAT·TAMA·AEC 중 한 조직의 12곳 값만 더해, 어느 조직이 도움이 되는지 분리.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12곳 전체 모델의 coefficient가 큰 높이 순으로 1~6곳만 더함 (순서는 train 데이터 안에서만 계산해 test 정보가 새지 않게 함).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막대가 오른쪽으로 길수록 해당 높이를 추가했을 때 AUC가 더 올랐습니다. 빨간 막대만 유의합니다(p&lt;0.05). 탐색적 비교이므로 특정 높이가 가장 좋다고 단정할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coefficient가 큰 높이부터 순서대로 1곳, 2곳, 3곳 늘려 갔을 때의 점수입니다. 순서를 정할 때 test용 환자를 쓰지 않도록, 매번 train 데이터 안에서만 순서를 계산했습니다. 그래프는 두 병원을 합친 5-fold CV를 3회 반복한 test fold 15개의 평균이고, 별표는 기준(clinic4)보다 유의하게 높은 경우(Nadeau-Bengio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12곳 전체 모델에서 4조직 계수 크기(|표준화 계수| 합)가 큰 순서대로 높이마다 순위를 매겼습니다. 표의 숫자는 두 병원 합친 5-fold CV(3회 반복)의 train fold 15개에서 낸 평균 순위(1이 가장 큼)이고, 괄호는 상위 3위 안에 든 비율입니다. 순위는 train 데이터 안에서만 계산했습니다. 평균 순위가 가장 높은 높이는 HTN L1, DM Femoral head, CKD Femoral head입니다.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지금까지는 12곳마다 VAT·SAT·TAMA·AEC 4종을 모두 넣었습니다. 여기서는 4종 중 일부 조직만 12곳에 넣었을 때(1종 4가지, 2종 6가지, 3종 4가지, 4종 1가지) 점수가 어떻게 달라지는지 확인했습니다. 두 병원 합친 5-fold CV 기준이고, 괄호는 기준(clinic4) 대비 ΔAUC와 p값입니다. 조합이 많아 다중비교 보정은 하지 않았으므로 탐색적 결과입니다. 질환별로 ΔAUC가 가장 큰 조합은 HTN VAT+SAT+TAMA(+0.005), DM VAT+SAT+TAMA+AEC(+0.025), CKD TAMA+AEC(+0.052)입니다. 1종 4가지 결과는 Appendix B6과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3종 조합 4가지와 4종 전체(12곳 전체 raw 값, 입력 52개)입니다. 기준과 표 읽는 법은 앞 슬라이드와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C805716-8EA2-F96C-6391-4B494B09C9B5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2D1BE4-CC80-395F-A3E1-FE44D5712B27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9517A2-1316-4B4A-E808-9A2569162B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546DEDA-3287-A635-3738-AAC0A1C0A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C3C743F5-8336-C697-B8DF-D7A33CDC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67C93B8-5C18-BB4D-C2B0-B88DA3F6D4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3" name="날짜 개체 틀 3">
            <a:extLst>
              <a:ext uri="{FF2B5EF4-FFF2-40B4-BE49-F238E27FC236}">
                <a16:creationId xmlns:a16="http://schemas.microsoft.com/office/drawing/2014/main" id="{61557C19-3D62-A133-C407-C968F16A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바닥글 개체 틀 4">
            <a:extLst>
              <a:ext uri="{FF2B5EF4-FFF2-40B4-BE49-F238E27FC236}">
                <a16:creationId xmlns:a16="http://schemas.microsoft.com/office/drawing/2014/main" id="{5E32A29C-2DD8-CE83-BA54-12AE02B7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84370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sz="2000" b="1" dirty="0">
                <a:solidFill>
                  <a:schemeClr val="bg1"/>
                </a:solidFill>
              </a:rPr>
              <a:t>Detecting HTN, DM, and CKD with CT Body Composition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2026.10.15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4600000"/>
          </a:xfrm>
        </p:spPr>
        <p:txBody>
          <a:bodyPr/>
          <a:lstStyle/>
          <a:p>
            <a:r>
              <a:rPr sz="2000" b="0">
                <a:solidFill>
                  <a:srgbClr val="333F4D"/>
                </a:solidFill>
              </a:rPr>
              <a:t>목적: 기본 정보(나이·성별·키·몸무게)에 CT 몸 구성을 추가했을 때 HTN·DM·CKD 예측 변화</a:t>
            </a:r>
          </a:p>
          <a:p>
            <a:r>
              <a:rPr sz="2000" b="0">
                <a:solidFill>
                  <a:srgbClr val="333F4D"/>
                </a:solidFill>
              </a:rPr>
              <a:t>자료: 강남·신촌 합친 5-fold CV(3회 반복), 질환군 vs 정상군</a:t>
            </a:r>
          </a:p>
          <a:p>
            <a:r>
              <a:rPr sz="2000" b="0">
                <a:solidFill>
                  <a:srgbClr val="333F4D"/>
                </a:solidFill>
              </a:rPr>
              <a:t>기본 정보만: AUC HTN 0.77, DM 0.77, CKD 0.75 (모두 정상 예측 시 정확도 72%·82%·94%)</a:t>
            </a:r>
          </a:p>
          <a:p>
            <a:r>
              <a:rPr sz="2000" b="0">
                <a:solidFill>
                  <a:srgbClr val="333F4D"/>
                </a:solidFill>
              </a:rPr>
              <a:t>CT 몸 구성 추가: DM 0.80 (+0.036), CKD 0.81 (+0.060), HTN +0.012 (p=0.149)</a:t>
            </a:r>
          </a:p>
          <a:p>
            <a:r>
              <a:rPr sz="2000" b="0">
                <a:solidFill>
                  <a:srgbClr val="333F4D"/>
                </a:solidFill>
              </a:rPr>
              <a:t>가설 비교: DM은 총량만으로 +0.025, 분포(SD·첨도) 추가 이득 없음</a:t>
            </a:r>
          </a:p>
          <a:p>
            <a:r>
              <a:rPr sz="2000" b="0">
                <a:solidFill>
                  <a:srgbClr val="333F4D"/>
                </a:solidFill>
              </a:rPr>
              <a:t>한계: 구간·조합 사후 탐색, 다중비교 보정(BH) 필요, CKD 환자 수 적음, 단면 자료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Landmark localization: visual quality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6300000" cy="4800000"/>
          </a:xfrm>
        </p:spPr>
        <p:txBody>
          <a:bodyPr/>
          <a:lstStyle/>
          <a:p>
            <a:r>
              <a:rPr sz="1800" b="1">
                <a:solidFill>
                  <a:srgbClr val="333F4D"/>
                </a:solidFill>
              </a:rPr>
              <a:t>Filtering criteria (landmark_filtered)</a:t>
            </a:r>
          </a:p>
          <a:p>
            <a:r>
              <a:rPr sz="1500" b="0">
                <a:solidFill>
                  <a:srgbClr val="333F4D"/>
                </a:solidFill>
              </a:rPr>
              <a:t>Height·Weight·BMI와 HTN·DM·CKD 라벨 결측 없음</a:t>
            </a:r>
          </a:p>
          <a:p>
            <a:r>
              <a:rPr sz="1500" b="0">
                <a:solidFill>
                  <a:srgbClr val="333F4D"/>
                </a:solidFill>
              </a:rPr>
              <a:t>키·몸무게가 비현실적인 환자 제외</a:t>
            </a:r>
          </a:p>
          <a:p>
            <a:r>
              <a:rPr sz="1500" b="0">
                <a:solidFill>
                  <a:srgbClr val="333F4D"/>
                </a:solidFill>
              </a:rPr>
              <a:t>Segmentation 성공 (seg_status = ok)</a:t>
            </a:r>
          </a:p>
          <a:p>
            <a:r>
              <a:rPr sz="1500" b="0">
                <a:solidFill>
                  <a:srgbClr val="333F4D"/>
                </a:solidFill>
              </a:rPr>
              <a:t>Landmark slice가 T10 → 치골 순으로 단조 증가 (liver_dome 제외)</a:t>
            </a:r>
          </a:p>
          <a:p>
            <a:r>
              <a:rPr sz="1500" b="0">
                <a:solidFill>
                  <a:srgbClr val="333F4D"/>
                </a:solidFill>
              </a:rPr>
              <a:t>AEC flat 제외 (CV 0.05 미만 · 범위 10 mA 미만 · R² 0.95 이상)</a:t>
            </a:r>
          </a:p>
          <a:p>
            <a:r>
              <a:rPr sz="1500" b="0">
                <a:solidFill>
                  <a:srgbClr val="333F4D"/>
                </a:solidFill>
              </a:rPr>
              <a:t>Disease label: CT 촬영월 ≥ 첫 진단월 (기저질환 ICD-10)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3E2DEB-1417-D1BF-2083-F0F45620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737" y="991269"/>
            <a:ext cx="5551132" cy="54123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Disease label change: patient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질환 라벨을 CT 촬영월 ≥ 첫 진단월(기저질환 ICD-10) 기준으로 변경, 20세 미만 제외</a:t>
            </a:r>
          </a:p>
          <a:p>
            <a:r>
              <a:rPr sz="1600" b="0">
                <a:solidFill>
                  <a:srgbClr val="333F4D"/>
                </a:solidFill>
              </a:rPr>
              <a:t>질환군 감소, 정상군 증가: 진단 전 촬영 환자가 질환군(1)에서 정상군(0)으로 이동 (0 → 1 이동은 없음)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300000"/>
          <a:ext cx="11175996" cy="389999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2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3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6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545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변경 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변경 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증감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재라벨 (1→0)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545">
                <a:tc rowSpan="5">
                  <a:txBody>
                    <a:bodyPr/>
                    <a:lstStyle/>
                    <a:p>
                      <a:pPr algn="ctr"/>
                      <a:r>
                        <a:rPr sz="1200" b="0"/>
                        <a:t>강남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전체 환자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1,430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정상군 (세 질환 없음)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545">
                <a:tc rowSpan="5">
                  <a:txBody>
                    <a:bodyPr/>
                    <a:lstStyle/>
                    <a:p>
                      <a:pPr algn="ctr"/>
                      <a:r>
                        <a:rPr sz="1200" b="0"/>
                        <a:t>신촌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전체 환자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정상군 (세 질환 없음)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Data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46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97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2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질환군(명)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정상군(명)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비교한 전체(명)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질환 비율(%)</a:t>
                      </a:r>
                    </a:p>
                    <a:p>
                      <a:pPr algn="ctr"/>
                      <a:r>
                        <a:rPr sz="1200" b="1"/>
                        <a:t>질환군 / 비교한 전체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강남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신촌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Disease vs. normal: Gangnam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선 = 중앙값, 색칠한 띠 = 환자의 가운데 절반이 분포한 범위. 위 별표 = Mann-Whitney U, BH-FDR q 0.05 미만</a:t>
            </a:r>
          </a:p>
          <a:p>
            <a:r>
              <a:rPr sz="1600" b="0">
                <a:solidFill>
                  <a:srgbClr val="333F4D"/>
                </a:solidFill>
              </a:rPr>
              <a:t>VAT: 세 질환 모두, 거의 모든 높이에서 질환군이 높음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8" name="Picture 7" descr="data_distribution_gangn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455" y="2200000"/>
            <a:ext cx="7557089" cy="40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Disease vs. normal: Sinchon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강남과 동일한 방식 (선 = 중앙값, 띠 = 가운데 절반, 별표 = BH-FDR q 0.05 미만)</a:t>
            </a:r>
          </a:p>
          <a:p>
            <a:r>
              <a:rPr sz="1600" b="0">
                <a:solidFill>
                  <a:srgbClr val="333F4D"/>
                </a:solidFill>
              </a:rPr>
              <a:t>VAT: 신촌도 세 질환 모두, 거의 모든 높이에서 질환군이 높음. TAMA: 두 군이 거의 겹침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8" name="Picture 7" descr="data_distribution_sinc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455" y="2200000"/>
            <a:ext cx="7557089" cy="40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Baseline model (clinic4)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모델: clinic4 (Age·Sex·Height·Weight 4개 입력) 로지스틱 회귀, 규제 강도는 train fold 안에서 선택</a:t>
            </a:r>
          </a:p>
          <a:p>
            <a:r>
              <a:rPr sz="1800" b="0">
                <a:solidFill>
                  <a:srgbClr val="333F4D"/>
                </a:solidFill>
              </a:rPr>
              <a:t>평가: 합친 5-fold CV (3회 반복), AUC는 mean ± SD, BA는 BA 최대 cutoff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700000"/>
          <a:ext cx="11175998" cy="28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3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두 병원 합친 5-fold 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환자 수 (질환자)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2,394 (665)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2,115 (386)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1,837 (108)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질환자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27.8%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18.3%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모두 정상 예측 시 정확도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81.7%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94.1%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Balanced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Cases explored: best ΔAUC per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9" cy="512463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87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9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9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9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 12곳 값의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+0.006 (p=0.350, q=0.517)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+0.006 (p=0.208, q=0.208)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(p=0.002, q=0.004)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 위치별 원래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+0.008 (p=0.210, q=0.517)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+0.025 (p=0.005, q=0.009)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+0.050 (p=0.002, q=0.004)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 곡선의 꼭대기(peak)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+0.008 (p=0.259, q=0.517)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+0.022 (p=0.017, q=0.024)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(p=0.051, q=0.059)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 조직 간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+0.005 (p=0.443, q=0.517)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+0.011 (p=0.163, q=0.190)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+0.029 (p=0.112, q=0.112)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 구간 평균·합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+0.012 (p=0.149, q=0.517)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(p&lt;0.001, q&lt;0.004)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+0.060 (p&lt;0.001, q&lt;0.004)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 조직 하나씩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+0.003 (p=0.417, q=0.517)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+0.019 (p&lt;0.001, q&lt;0.004)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(p=0.022, q=0.031)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7. coefficient 순서대로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+0.004 (p=0.625, q=0.625)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+0.025 (p=0.005, q=0.009)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+0.050 (p=0.002, q=0.004)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Segment features: normal vs.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400" b="0">
                <a:solidFill>
                  <a:srgbClr val="333F4D"/>
                </a:solidFill>
              </a:rPr>
              <a:t>4개 구간: ① Liver dome·T10·T11·T12, ② L1·L2, ③ L3·L4, ④ L5·S1·Femoral head·Pubic margin (구간 안 단면의 평균값, 한 구간에만 포함)</a:t>
            </a:r>
          </a:p>
          <a:p>
            <a:r>
              <a:rPr sz="1400" b="0">
                <a:solidFill>
                  <a:srgbClr val="333F4D"/>
                </a:solidFill>
              </a:rPr>
              <a:t>점 = 중앙값, 막대 = 사분위 범위 (Q1~Q3), * = Mann-Whitney BH-FDR q&lt;0.05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8" name="Picture 7" descr="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141" y="2050000"/>
            <a:ext cx="8261718" cy="423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Final best model: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250000"/>
          </a:xfrm>
        </p:spPr>
        <p:txBody>
          <a:bodyPr/>
          <a:lstStyle/>
          <a:p>
            <a:r>
              <a:rPr sz="1400" b="0">
                <a:solidFill>
                  <a:srgbClr val="333F4D"/>
                </a:solidFill>
              </a:rPr>
              <a:t>best model (clinic4 + 4종 구간 평균·합, 36개 입력)의 계수</a:t>
            </a:r>
          </a:p>
          <a:p>
            <a:r>
              <a:rPr sz="1400" b="0">
                <a:solidFill>
                  <a:srgbClr val="333F4D"/>
                </a:solidFill>
              </a:rPr>
              <a:t>OR per SD (표준화 계수), 두 병원 합친 5-fold CV 15개 train fold 모델의 평균, 1보다 크면 질환 가능성 증가 (HTN·DM·CKD 순)</a:t>
            </a:r>
          </a:p>
          <a:p>
            <a:r>
              <a:rPr sz="1400" b="0">
                <a:solidFill>
                  <a:srgbClr val="333F4D"/>
                </a:solidFill>
              </a:rPr>
              <a:t>기본 정보: Age 2.12·2.07·1.57, Weight 1.33·1.91·1.64, Height 0.96·0.86·1.15, Sex 1.09·1.04·1.10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8" name="Picture 7" descr="co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46" y="2300000"/>
            <a:ext cx="9567307" cy="39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Final best model: segment mean and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+ body comp. = 기본 정보 4개 + VAT·SAT·TAMA·AEC 4종 × 4개 구간(① Liver dome·T10·T11·T12, ② L1·L2, ③ L3·L4, ④ L5·S1·Femoral head·Pubic margin)의 평균·합 32개 (12곳 raw 값 전체가 아님)</a:t>
            </a:r>
          </a:p>
          <a:p>
            <a:r>
              <a:rPr sz="1800" b="0">
                <a:solidFill>
                  <a:srgbClr val="333F4D"/>
                </a:solidFill>
              </a:rPr>
              <a:t>ΔAUC = 기준(clinic4) 대비 AUC 변화, 두 병원 합친 5-fold CV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700000"/>
          <a:ext cx="11175998" cy="30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3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3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#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  <a:p>
                      <a:pPr algn="ctr"/>
                      <a:r>
                        <a:rPr sz="1200" b="1"/>
                        <a:t>(+ body comp.)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ΔAUC</a:t>
                      </a:r>
                    </a:p>
                    <a:p>
                      <a:pPr algn="ctr"/>
                      <a:r>
                        <a:rPr sz="1200" b="1"/>
                        <a:t>(두 병원 합친 5-fold CV)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+0.012 (p=0.149)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0.803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0.812 ± 0.052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+0.060 (p&lt;0.001)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D1. Specificity at 90%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민감도 90% 이상을 만족하는 가장 큰 cutoff (Sens90)에서 Spec 비교, 값은 mean ± SD</a:t>
            </a:r>
          </a:p>
          <a:p>
            <a:r>
              <a:rPr sz="1800" b="0">
                <a:solidFill>
                  <a:srgbClr val="333F4D"/>
                </a:solidFill>
              </a:rPr>
              <a:t>Sens는 baseline 값만 표기 (best model과 차이 0.001 이하)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700000"/>
          <a:ext cx="11175998" cy="30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1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1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1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8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</a:t>
                      </a:r>
                    </a:p>
                    <a:p>
                      <a:pPr algn="ctr"/>
                      <a:r>
                        <a:rPr sz="1200" b="1"/>
                        <a:t>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</a:t>
                      </a:r>
                    </a:p>
                    <a:p>
                      <a:pPr algn="ctr"/>
                      <a:r>
                        <a:rPr sz="1200" b="1"/>
                        <a:t>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</a:t>
                      </a:r>
                    </a:p>
                    <a:p>
                      <a:pPr algn="ctr"/>
                      <a:r>
                        <a:rPr sz="1200" b="1"/>
                        <a:t>(Best model)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ΔSpec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0.901 ± 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0.435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0.451 ± 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0.902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0.448 ± 0.004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0.514 ± 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0.907 ± 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0.372 ± 0.009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0.527 ± 0.039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48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CKD 환자 수 적음 (강남 45명, 신촌 63명), 점수 변동 큼 (best AUC SD 0.052)</a:t>
            </a:r>
          </a:p>
          <a:p>
            <a:r>
              <a:rPr sz="1800" b="0">
                <a:solidFill>
                  <a:srgbClr val="333F4D"/>
                </a:solidFill>
              </a:rPr>
              <a:t>구간·사례 547개를 사전 가설 없이 탐색, 다중비교(BH) 보정 전 p값은 신뢰 어려움</a:t>
            </a:r>
          </a:p>
          <a:p>
            <a:r>
              <a:rPr sz="1800" b="0">
                <a:solidFill>
                  <a:srgbClr val="333F4D"/>
                </a:solidFill>
              </a:rPr>
              <a:t>best case 선택과 성능 평가에 같은 CV 사용, AUC 과대 가능성</a:t>
            </a:r>
          </a:p>
          <a:p>
            <a:r>
              <a:rPr sz="1800" b="0">
                <a:solidFill>
                  <a:srgbClr val="333F4D"/>
                </a:solidFill>
              </a:rPr>
              <a:t>독립된 외부 test set 없이 합친 5-fold CV만 평가</a:t>
            </a:r>
          </a:p>
          <a:p>
            <a:r>
              <a:rPr sz="1800" b="0">
                <a:solidFill>
                  <a:srgbClr val="333F4D"/>
                </a:solidFill>
              </a:rPr>
              <a:t>병원 간 차이: VAT 분포 차이 큼, TAMA 차이는 강남에서만 유의</a:t>
            </a:r>
          </a:p>
          <a:p>
            <a:r>
              <a:rPr sz="1800" b="0">
                <a:solidFill>
                  <a:srgbClr val="333F4D"/>
                </a:solidFill>
              </a:rPr>
              <a:t>질환 불균형(질환자 6~28%): 모두 정상 예측해도 정확도 72~94%</a:t>
            </a:r>
          </a:p>
          <a:p>
            <a:r>
              <a:rPr sz="1800" b="0">
                <a:solidFill>
                  <a:srgbClr val="333F4D"/>
                </a:solidFill>
              </a:rPr>
              <a:t>정상군은 HTN·DM·CKD 모두 없는 환자, 단면 자료로 인과 해석 불가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A1. Baseline model coefficients (OR)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9" cy="51246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2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성별 (남=1)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1.07 (1.03~1.10)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1.10 (1.06~1.14)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1.19 (1.12~1.28)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2.56 (2.25~2.86)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2.35 (1.97~2.74)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1.97 (1.75~2.43)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 (0.83~0.92)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 (0.73~0.89)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1.08 (1.00~1.19)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몸무게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1.58 (1.44~1.70)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1.74 (1.49~1.97)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1.29 (1.17~1.48)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B1. Step 1: sum of 12 landmark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0.020 (+0.006, p=0.333)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0.024 (+0.002, p=0.703)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 ± 0.062 (+0.009, p=0.452)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SAT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0.018 (-0.000, p=0.828)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0.025 (-0.000, p=0.848)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0.747 ± 0.050 (-0.004, p=0.149)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TAMA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0.019 (-0.001, p=0.683)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0.026 (+0.001, p=0.173)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0.055 (+0.015, p=0.116)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AEC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0.020 (-0.000, p=0.524)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 (-0.000, p=0.929)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 ± 0.052 (+0.006, p=0.176)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+ 4조직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0.019 (+0.006, p=0.350)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0.024 (+0.006, p=0.208)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 ± 0.058 (+0.036,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B2. Step 2: raw values by landmark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liver_dome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0.018 (+0.002, p=0.484)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0.028 (+0.003, p=0.485)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 ± 0.057 (+0.011, p=0.374)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0.020 (+0.005, p=0.265)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0.028 (+0.008, p=0.204)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0.058 (+0.018, p=0.034)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0.020 (+0.007, p=0.209)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0.028 (+0.007, p=0.249)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0.058 (+0.027,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0.019 (+0.005, p=0.345)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0.026 (+0.004, p=0.505)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0.056 (+0.019, p=0.016)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0.020 (+0.008, p=0.210)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0.026 (+0.004, p=0.523)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 ± 0.055 (+0.026,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0.020 (+0.005, p=0.399)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0.025 (+0.002, p=0.774)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 ± 0.058 (+0.025, p=0.009)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0.019 (+0.004, p=0.445)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0.022 (+0.003, p=0.581)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0.055 (+0.016, p=0.125)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0.019 (+0.002, p=0.684)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0.022 (+0.002, p=0.630)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 ± 0.054 (+0.008, p=0.259)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0.018 (+0.000, p=0.974)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0.023 (+0.001, p=0.826)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 ± 0.055 (+0.013, p=0.211)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 (+0.000, p=0.927)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0.024 (+0.003, p=0.397)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 ± 0.052 (+0.027, p=0.026)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0.017 (-0.000, p=0.881)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0.028 (+0.008, p=0.039)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 ± 0.046 (+0.031, p=0.030)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inferior_pubic_margin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 ± 0.018 (-0.003, p=0.243)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0.029 (+0.009, p=0.107)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 ± 0.053 (+0.028, p=0.097)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전체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(+0.004, p=0.691)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0.029 (+0.025, p=0.005)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0.048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B3. Step 3: curve peak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peak 값 (전체)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0.018 (+0.006, p=0.274)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 ± 0.027 (+0.010, p=0.104)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 ± 0.055 (+0.030, p=0.014)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peak 값·위치 (전체)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0.018 (+0.006, p=0.345)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 ± 0.030 (+0.012, p=0.098)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0.065 (+0.024, p=0.316)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구간별 peak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0.020 (+0.008, p=0.259)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 ± 0.028 (+0.022, p=0.017)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0.050 (+0.036, p=0.051)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B4. Step 4: inter-tissue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VAT/SAT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0.021 (-0.001, p=0.847)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0.021 (+0.002, p=0.658)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0.747 ± 0.049 (-0.004, p=0.769)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TAMA/BMI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0.017 (-0.001, p=0.753)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0.028 (+0.002, p=0.560)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0.057 (+0.021, p=0.142)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VAT/TAMA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0.022 (+0.005, p=0.443)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0.026 (+0.005, p=0.542)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0.060 (+0.017, p=0.229)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조직 간 비율 전체 (36)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(+0.003, p=0.702)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 ± 0.026 (+0.011, p=0.163)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 ± 0.063 (+0.029, p=0.112)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B5. Step 5: segment mean and sum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 평균 (16)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0.022 (+0.008, p=0.403)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 ± 0.029 (+0.031,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0.047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 합산 (16)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0.022 (+0.008, p=0.231)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0.792 ± 0.026 (+0.025,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0.061 (+0.020, p=0.133)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 평균·합산 (32)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0.022 (+0.012, p=0.149)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0.803 ± 0.029 (+0.036,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0.812 ± 0.052 (+0.060, 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B6. Step 6: single-tissue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0.021 (+0.002, p=0.699)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0.025 (+0.005, p=0.503)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 ± 0.067 (+0.006, p=0.702)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SAT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0.019 (+0.003, p=0.417)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 ± 0.030 (+0.017, p=0.028)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 ± 0.049 (+0.002, p=0.869)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TAMA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0.017 (-0.001, p=0.804)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0.027 (+0.001, p=0.676)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0.057 (+0.014, p=0.302)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AEC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0.019 (+0.002, p=0.544)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 ± 0.027 (+0.019,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0.049 (+0.036, p=0.022)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B7. Step 7: top-k landmark selection by coefficient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1곳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 (+0.000, p=0.980)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0.028 (+0.003, p=0.668)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 ± 0.054 (+0.013, p=0.444)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0.020 (+0.003, p=0.671)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 ± 0.029 (+0.010, p=0.194)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0.041 (+0.032, p=0.130)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3곳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0.020 (+0.004, p=0.625)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 ± 0.032 (+0.016, p=0.102)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0.045 (+0.039, p=0.031)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4곳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0.021 (+0.003, p=0.722)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0.031 (+0.018, p=0.071)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 ± 0.046 (+0.038, p=0.027)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5곳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0.022 (+0.002, p=0.819)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0.030 (+0.020, p=0.024)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 ± 0.046 (+0.035, p=0.070)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6곳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0.021 (+0.003, p=0.726)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 ± 0.030 (+0.020, p=0.023)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0.044 (+0.039, p=0.024)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전체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(+0.004, p=0.691)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0.029 (+0.025, p=0.005)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0.048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C1. Landmark-wise contribution (ΔAUC)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12곳 중 한 곳씩만 더했을 때의 ΔAUC (기준 모델 대비 AUC 변화) (두 병원 합친 5-fold CV 기준, 빨강 = p값 0.05 미만)</a:t>
            </a:r>
          </a:p>
          <a:p>
            <a:r>
              <a:rPr sz="1600" b="0">
                <a:solidFill>
                  <a:srgbClr val="333F4D"/>
                </a:solidFill>
              </a:rPr>
              <a:t>CKD는 Femoral head·T11에서 상승폭 최대 (유의한 높이 7곳), HTN은 유의한 높이 0곳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8" name="Picture 7" descr="landmark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250000"/>
            <a:ext cx="11176000" cy="36681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C2. Performance vs. number of landmarks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700000"/>
          </a:xfrm>
        </p:spPr>
        <p:txBody>
          <a:bodyPr/>
          <a:lstStyle/>
          <a:p>
            <a:r>
              <a:rPr sz="1500" b="0">
                <a:solidFill>
                  <a:srgbClr val="333F4D"/>
                </a:solidFill>
              </a:rPr>
              <a:t>12곳 전체 모델에서 coefficient가 큰 높이부터 1곳씩 추가하며 test했습니다 (coefficient 순서는 train 데이터 안에서만 계산, 두 병원 합친 5-fold CV)</a:t>
            </a:r>
          </a:p>
          <a:p>
            <a:r>
              <a:rPr sz="1500" b="0">
                <a:solidFill>
                  <a:srgbClr val="333F4D"/>
                </a:solidFill>
              </a:rPr>
              <a:t>DM: 기준 0.766 → 상위 3곳 0.782 → 12곳 0.791 (기준보다 유의하게 오르는 최소 구성: 상위 5곳)</a:t>
            </a:r>
          </a:p>
          <a:p>
            <a:r>
              <a:rPr sz="1500" b="0">
                <a:solidFill>
                  <a:srgbClr val="333F4D"/>
                </a:solidFill>
              </a:rPr>
              <a:t>CKD: 기준 0.751 → 상위 3곳 0.790 → 12곳 0.801 (기준보다 유의하게 오르는 최소 구성: 상위 3곳)</a:t>
            </a:r>
          </a:p>
          <a:p>
            <a:r>
              <a:rPr sz="1500" b="0">
                <a:solidFill>
                  <a:srgbClr val="333F4D"/>
                </a:solidFill>
              </a:rPr>
              <a:t>HTN: 기준 0.767 → 상위 3곳 0.771 → 12곳 0.770 (기준보다 유의하게 오르는 최소 구성: 없음)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8" name="Picture 7" descr="to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215" y="2800000"/>
            <a:ext cx="7883569" cy="345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C3. Landmark coefficient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9" cy="512462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2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Landmark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  <a:p>
                      <a:pPr algn="ctr"/>
                      <a:r>
                        <a:rPr sz="1200" b="1"/>
                        <a:t>평균 순위 (상위 3위 비율)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  <a:p>
                      <a:pPr algn="ctr"/>
                      <a:r>
                        <a:rPr sz="1200" b="1"/>
                        <a:t>평균 순위 (상위 3위 비율)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  <a:p>
                      <a:pPr algn="ctr"/>
                      <a:r>
                        <a:rPr sz="1200" b="1"/>
                        <a:t>평균 순위 (상위 3위 비율)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Liver dome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3.9 (53%)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5.0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2.6 (73%)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6.1 (27%)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3.7 (73%)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6.6 (20%)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5.1 (33%)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7.7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9.7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11.1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8.8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10.0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3.3 (67%)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3.9 (27%)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9.0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6.1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11.4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7.0 (7%)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8.4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4.7 (33%)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8.1 (13%)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6.3 (27%)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8.0 (7%)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5.6 (27%)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9.5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9.8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9.2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5.9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8.0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4.5 (33%)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Femoral 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4.1 (47%)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3.3 (80%)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2.4 (87%)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Inferior pubic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8.2 (7%)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3.7 (60%)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3.2 (40%)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C4. Additional study: two tissues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7" cy="512463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넣은 조직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0.022 (+0.004, p=0.586)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0.029 (+0.018, p=0.023)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 ± 0.053 (+0.009, p=0.347)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0.020 (+0.004, p=0.559)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0.027 (+0.007, p=0.334)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0.066 (+0.027, p=0.097)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0.021 (+0.001, p=0.912)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 ± 0.027 (+0.016, p=0.006)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 ± 0.054 (+0.029, p=0.012)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+SAT+TAMA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0.019 (+0.002, p=0.704)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 ± 0.033 (+0.018, p=0.054)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0.048 (+0.019, p=0.146)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+SAT+AEC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0.018 (+0.004, p=0.453)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0.030 (+0.024, p=0.006)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 ± 0.047 (+0.030, p=0.132)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0.018 (+0.001, p=0.849)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 ± 0.029 (+0.020, p=0.001)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0.804 ± 0.050 (+0.052, p=0.009)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C5. Additional study: three or four tissues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7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넣은 조직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+VAT+SAT+TAMA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0.022 (+0.005, p=0.552)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 ± 0.031 (+0.022, p=0.018)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0.051 (+0.036,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(+0.003, p=0.692)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 ± 0.028 (+0.023, p=0.004)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 ± 0.046 (+0.031, p=0.028)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0.020 (+0.002, p=0.840)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 ± 0.028 (+0.018, p=0.003)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0.799 ± 0.058 (+0.047, p=0.005)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+SAT+TAMA+AEC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0.019 (+0.003, p=0.700)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0.031 (+0.025, p=0.008)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0.042 (+0.050, p=0.017)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(+0.004, p=0.691)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0.029 (+0.025, p=0.005)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0.048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Final best model: ROC curve and balanced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곡선이 왼쪽 위에 붙을수록 좋음, 대각선은 무작위 (합친 5-fold CV OOF 예측)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4563521"/>
          <a:ext cx="11175998" cy="152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3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3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(clinic4)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 (best)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Balanced acc. (clinic4)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Balanced acc. (best)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0.802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 ± 0.052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roc_baseline_vs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000" y="1850000"/>
            <a:ext cx="8400000" cy="265352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Hypothesis: total vs.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가설: 조직 분포(SD·첨도)가 총량(구간 합산)보다 의미 있다. AUC (ΔAUC, 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700000"/>
          <a:ext cx="11175998" cy="30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3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3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clinic4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 총량 (합산 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+ 총량 + 분포 (48)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best (평균·합산 32)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0.021 (+0.008, p=0.215)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0.023 (+0.002, p=0.785)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0.022 (+0.012, p=0.147)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0.026 (+0.025,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0.024 (+0.025, p=0.045)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0.802 ± 0.029 (+0.036, 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0.061 (+0.020, p=0.147)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0.050 (+0.015, p=0.426)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0.814 ± 0.052 (+0.062, 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Next steps (meeting feedback)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48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지표: Sens90 대신 AUC·ROC·balanced accuracy로 보고, 다음 발표에 코호트별 ROC 추가</a:t>
            </a:r>
          </a:p>
          <a:p>
            <a:r>
              <a:rPr sz="1800" b="0">
                <a:solidFill>
                  <a:srgbClr val="333F4D"/>
                </a:solidFill>
              </a:rPr>
              <a:t>가설: 구간 정의의 임상 근거(문헌) 확보 후 사전 지정, 사례 547개는 BH-FDR q로 보고, 참석자 3과 가설·그래프 분석 협의</a:t>
            </a:r>
          </a:p>
          <a:p>
            <a:r>
              <a:rPr sz="1800" b="0">
                <a:solidFill>
                  <a:srgbClr val="333F4D"/>
                </a:solidFill>
              </a:rPr>
              <a:t>코호트: 두 병원 합산 대신 분리 유지, 병원 간 차이가 큰 VAT 중심으로 정리</a:t>
            </a:r>
          </a:p>
          <a:p>
            <a:r>
              <a:rPr sz="1800" b="0">
                <a:solidFill>
                  <a:srgbClr val="333F4D"/>
                </a:solidFill>
              </a:rPr>
              <a:t>불균형: DM AUC 0.77 원인 확인(유병률·누수), 정상:질환 3:7 이상으로 언더·오버샘플링과 피처 단 SMOTE 비교</a:t>
            </a:r>
          </a:p>
          <a:p>
            <a:r>
              <a:rPr sz="1800" b="0">
                <a:solidFill>
                  <a:srgbClr val="333F4D"/>
                </a:solidFill>
              </a:rPr>
              <a:t>PSM: 질환군과 정상군 매칭 후 AUC(기존 수행분 약 0.8) 수치 재확인 후 공유, 질환 비율 유지 vs 매칭 중 기준 정리</a:t>
            </a:r>
          </a:p>
          <a:p>
            <a:r>
              <a:rPr sz="1800" b="0">
                <a:solidFill>
                  <a:srgbClr val="333F4D"/>
                </a:solidFill>
              </a:rPr>
              <a:t>영상 모델: 12장 입력은 2.5D(채널 적층) ResNet, 환자 단위 판정은 장별 예측 합산도 비교, 선행 연구(이태희 연구원, 임재열 교수 과제) 참고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7324</TotalTime>
  <Words>5788</Words>
  <Application>Microsoft Office PowerPoint</Application>
  <PresentationFormat>와이드스크린</PresentationFormat>
  <Paragraphs>777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KoPub돋움체 Bold</vt:lpstr>
      <vt:lpstr>Arial</vt:lpstr>
      <vt:lpstr>KoPub돋움체 Medium</vt:lpstr>
      <vt:lpstr>Office 테마</vt:lpstr>
      <vt:lpstr>PowerPoint 프레젠테이션</vt:lpstr>
      <vt:lpstr>Summary</vt:lpstr>
      <vt:lpstr>Landmark localization: visual quality check</vt:lpstr>
      <vt:lpstr>Disease label change: patient counts</vt:lpstr>
      <vt:lpstr>Data Distribution</vt:lpstr>
      <vt:lpstr>Disease vs. normal: Gangnam</vt:lpstr>
      <vt:lpstr>Disease vs. normal: Sinchon</vt:lpstr>
      <vt:lpstr>Baseline model (clinic4)</vt:lpstr>
      <vt:lpstr>Cases explored: best ΔAUC per case</vt:lpstr>
      <vt:lpstr>Segment features: normal vs. disease</vt:lpstr>
      <vt:lpstr>Final best model: coefficients</vt:lpstr>
      <vt:lpstr>Final best model: segment mean and sum</vt:lpstr>
      <vt:lpstr>Final best model: specificity at 90% sensitivity</vt:lpstr>
      <vt:lpstr>Limitations</vt:lpstr>
      <vt:lpstr>PowerPoint 프레젠테이션</vt:lpstr>
      <vt:lpstr>Appendix A1. Baseline model coefficients (OR)</vt:lpstr>
      <vt:lpstr>Appendix B1. Step 1: sum of 12 landmark values</vt:lpstr>
      <vt:lpstr>Appendix B2. Step 2: raw values by landmark</vt:lpstr>
      <vt:lpstr>Appendix B3. Step 3: curve peak features</vt:lpstr>
      <vt:lpstr>Appendix B4. Step 4: inter-tissue ratios</vt:lpstr>
      <vt:lpstr>Appendix B5. Step 5: segment mean and sum</vt:lpstr>
      <vt:lpstr>Appendix B6. Step 6: single-tissue features</vt:lpstr>
      <vt:lpstr>Appendix B7. Step 7: top-k landmark selection by coefficient</vt:lpstr>
      <vt:lpstr>Appendix C1. Landmark-wise contribution (ΔAUC)</vt:lpstr>
      <vt:lpstr>Appendix C2. Performance vs. number of landmarks</vt:lpstr>
      <vt:lpstr>Appendix C3. Landmark coefficient ranking</vt:lpstr>
      <vt:lpstr>Appendix C4. Additional study: two tissues</vt:lpstr>
      <vt:lpstr>Appendix C5. Additional study: three or four tissues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743</cp:revision>
  <dcterms:created xsi:type="dcterms:W3CDTF">2026-04-09T07:05:16Z</dcterms:created>
  <dcterms:modified xsi:type="dcterms:W3CDTF">2026-10-15T06:20:52Z</dcterms:modified>
</cp:coreProperties>
</file>