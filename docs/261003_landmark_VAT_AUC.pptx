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5"/>
  </p:notes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</p:sldIdLst>
  <p:sldSz cx="12192000" cy="6858000"/>
  <p:notesSz cx="6858000" cy="9144000"/>
  <p:embeddedFontLst>
    <p:embeddedFont>
      <p:font typeface="KoPub돋움체 Bold" panose="00000800000000000000" pitchFamily="2" charset="-127"/>
      <p:bold r:id="rId26"/>
    </p:embeddedFont>
    <p:embeddedFont>
      <p:font typeface="KoPub돋움체 Medium" panose="00000600000000000000" pitchFamily="2" charset="-127"/>
      <p:regular r:id="rId2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7152" autoAdjust="0"/>
  </p:normalViewPr>
  <p:slideViewPr>
    <p:cSldViewPr snapToGrid="0">
      <p:cViewPr varScale="1">
        <p:scale>
          <a:sx n="96" d="100"/>
          <a:sy n="96" d="100"/>
        </p:scale>
        <p:origin x="109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9-10T05:04:12.456" v="4648" actId="403"/>
      <pc:docMkLst>
        <pc:docMk/>
      </pc:docMkLst>
      <pc:sldChg chg="modSp mod modNotes modNotesTx">
        <pc:chgData name="janghoon jun" userId="056a5883350c2f5e" providerId="LiveId" clId="{6DA654A6-03B0-40F7-A259-B276216985A6}" dt="2026-09-10T04:59:39.505" v="4550" actId="20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 chgLayout modNotes modNotesTx">
        <pc:chgData name="janghoon jun" userId="056a5883350c2f5e" providerId="LiveId" clId="{6DA654A6-03B0-40F7-A259-B276216985A6}" dt="2026-09-10T05:04:12.456" v="4648" actId="403"/>
        <pc:sldMkLst>
          <pc:docMk/>
          <pc:sldMk cId="0" sldId="257"/>
        </pc:sldMkLst>
        <pc:spChg chg="mod ord">
          <ac:chgData name="janghoon jun" userId="056a5883350c2f5e" providerId="LiveId" clId="{6DA654A6-03B0-40F7-A259-B276216985A6}" dt="2026-09-02T02:37:45.894" v="3728" actId="6549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4:12.456" v="4648" actId="40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16:00.971" v="4488" actId="404"/>
        <pc:sldMkLst>
          <pc:docMk/>
          <pc:sldMk cId="0" sldId="258"/>
        </pc:sldMkLst>
        <pc:spChg chg="mod">
          <ac:chgData name="janghoon jun" userId="056a5883350c2f5e" providerId="LiveId" clId="{6DA654A6-03B0-40F7-A259-B276216985A6}" dt="2026-09-10T03:16:00.971" v="4488" actId="404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08T03:15:38.775" v="4423" actId="2062"/>
        <pc:sldMkLst>
          <pc:docMk/>
          <pc:sldMk cId="0" sldId="259"/>
        </pc:sldMkLst>
      </pc:sldChg>
      <pc:sldChg chg="delSp modSp del mod">
        <pc:chgData name="janghoon jun" userId="056a5883350c2f5e" providerId="LiveId" clId="{6DA654A6-03B0-40F7-A259-B276216985A6}" dt="2026-09-10T05:01:31.864" v="4601" actId="47"/>
        <pc:sldMkLst>
          <pc:docMk/>
          <pc:sldMk cId="0" sldId="261"/>
        </pc:sldMkLst>
        <pc:spChg chg="mod">
          <ac:chgData name="janghoon jun" userId="056a5883350c2f5e" providerId="LiveId" clId="{6DA654A6-03B0-40F7-A259-B276216985A6}" dt="2026-09-10T05:01:04.719" v="4595" actId="21"/>
          <ac:spMkLst>
            <pc:docMk/>
            <pc:sldMk cId="0" sldId="261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1:08.538" v="4597" actId="21"/>
          <ac:picMkLst>
            <pc:docMk/>
            <pc:sldMk cId="0" sldId="261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1:46.958" v="4608" actId="47"/>
        <pc:sldMkLst>
          <pc:docMk/>
          <pc:sldMk cId="0" sldId="262"/>
        </pc:sldMkLst>
        <pc:spChg chg="mod">
          <ac:chgData name="janghoon jun" userId="056a5883350c2f5e" providerId="LiveId" clId="{6DA654A6-03B0-40F7-A259-B276216985A6}" dt="2026-09-10T05:01:37.563" v="4603" actId="21"/>
          <ac:spMkLst>
            <pc:docMk/>
            <pc:sldMk cId="0" sldId="262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41.989" v="4605" actId="21"/>
          <ac:picMkLst>
            <pc:docMk/>
            <pc:sldMk cId="0" sldId="262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01.467" v="4615" actId="47"/>
        <pc:sldMkLst>
          <pc:docMk/>
          <pc:sldMk cId="0" sldId="263"/>
        </pc:sldMkLst>
        <pc:spChg chg="mod">
          <ac:chgData name="janghoon jun" userId="056a5883350c2f5e" providerId="LiveId" clId="{6DA654A6-03B0-40F7-A259-B276216985A6}" dt="2026-09-10T05:01:54.745" v="4611" actId="21"/>
          <ac:spMkLst>
            <pc:docMk/>
            <pc:sldMk cId="0" sldId="263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59.021" v="4613" actId="21"/>
          <ac:picMkLst>
            <pc:docMk/>
            <pc:sldMk cId="0" sldId="263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33.552" v="4626" actId="47"/>
        <pc:sldMkLst>
          <pc:docMk/>
          <pc:sldMk cId="0" sldId="264"/>
        </pc:sldMkLst>
        <pc:spChg chg="mod">
          <ac:chgData name="janghoon jun" userId="056a5883350c2f5e" providerId="LiveId" clId="{6DA654A6-03B0-40F7-A259-B276216985A6}" dt="2026-09-10T05:02:07.183" v="4617" actId="21"/>
          <ac:spMkLst>
            <pc:docMk/>
            <pc:sldMk cId="0" sldId="264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2:10.641" v="4619" actId="21"/>
          <ac:picMkLst>
            <pc:docMk/>
            <pc:sldMk cId="0" sldId="264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3:04.881" v="4633" actId="47"/>
        <pc:sldMkLst>
          <pc:docMk/>
          <pc:sldMk cId="0" sldId="265"/>
        </pc:sldMkLst>
        <pc:spChg chg="mod">
          <ac:chgData name="janghoon jun" userId="056a5883350c2f5e" providerId="LiveId" clId="{6DA654A6-03B0-40F7-A259-B276216985A6}" dt="2026-09-10T05:02:38.758" v="4628" actId="21"/>
          <ac:spMkLst>
            <pc:docMk/>
            <pc:sldMk cId="0" sldId="265"/>
            <ac:spMk id="2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54.047" v="4543" actId="255"/>
          <ac:graphicFrameMkLst>
            <pc:docMk/>
            <pc:sldMk cId="0" sldId="265"/>
            <ac:graphicFrameMk id="3" creationId="{00000000-0000-0000-0000-000000000000}"/>
          </ac:graphicFrameMkLst>
        </pc:graphicFrameChg>
        <pc:picChg chg="del">
          <ac:chgData name="janghoon jun" userId="056a5883350c2f5e" providerId="LiveId" clId="{6DA654A6-03B0-40F7-A259-B276216985A6}" dt="2026-09-10T05:02:42.851" v="4630" actId="21"/>
          <ac:picMkLst>
            <pc:docMk/>
            <pc:sldMk cId="0" sldId="265"/>
            <ac:picMk id="3" creationId="{00000000-0000-0000-0000-000000000000}"/>
          </ac:picMkLst>
        </pc:picChg>
      </pc:sldChg>
      <pc:sldChg chg="delSp modSp mod">
        <pc:chgData name="janghoon jun" userId="056a5883350c2f5e" providerId="LiveId" clId="{6DA654A6-03B0-40F7-A259-B276216985A6}" dt="2026-09-10T05:03:31.457" v="4640" actId="1076"/>
        <pc:sldMkLst>
          <pc:docMk/>
          <pc:sldMk cId="0" sldId="266"/>
        </pc:sldMkLst>
        <pc:spChg chg="mod">
          <ac:chgData name="janghoon jun" userId="056a5883350c2f5e" providerId="LiveId" clId="{6DA654A6-03B0-40F7-A259-B276216985A6}" dt="2026-09-10T03:16:18.752" v="4490" actId="404"/>
          <ac:spMkLst>
            <pc:docMk/>
            <pc:sldMk cId="0" sldId="26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3:31.457" v="4640" actId="1076"/>
          <ac:spMkLst>
            <pc:docMk/>
            <pc:sldMk cId="0" sldId="266"/>
            <ac:spMk id="5" creationId="{00000000-0000-0000-0000-000000000000}"/>
          </ac:spMkLst>
        </pc:spChg>
        <pc:graphicFrameChg chg="mod modGraphic">
          <ac:chgData name="janghoon jun" userId="056a5883350c2f5e" providerId="LiveId" clId="{6DA654A6-03B0-40F7-A259-B276216985A6}" dt="2026-09-10T05:03:27.249" v="4639" actId="1076"/>
          <ac:graphicFrameMkLst>
            <pc:docMk/>
            <pc:sldMk cId="0" sldId="266"/>
            <ac:graphicFrameMk id="4" creationId="{00000000-0000-0000-0000-000000000000}"/>
          </ac:graphicFrameMkLst>
        </pc:graphicFrameChg>
      </pc:sldChg>
      <pc:sldChg chg="delSp modSp del mod">
        <pc:chgData name="janghoon jun" userId="056a5883350c2f5e" providerId="LiveId" clId="{6DA654A6-03B0-40F7-A259-B276216985A6}" dt="2026-09-10T05:00:59.834" v="4593" actId="27636"/>
        <pc:sldMkLst>
          <pc:docMk/>
          <pc:sldMk cId="0" sldId="267"/>
        </pc:sldMkLst>
        <pc:spChg chg="mod">
          <ac:chgData name="janghoon jun" userId="056a5883350c2f5e" providerId="LiveId" clId="{6DA654A6-03B0-40F7-A259-B276216985A6}" dt="2026-09-08T03:22:06.514" v="4485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0:59.834" v="4593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 del mod">
        <pc:chgData name="janghoon jun" userId="056a5883350c2f5e" providerId="LiveId" clId="{6DA654A6-03B0-40F7-A259-B276216985A6}" dt="2026-09-10T05:04:04.780" v="4641" actId="47"/>
        <pc:sldMkLst>
          <pc:docMk/>
          <pc:sldMk cId="0" sldId="269"/>
        </pc:sldMkLst>
        <pc:graphicFrameChg chg="modGraphic">
          <ac:chgData name="janghoon jun" userId="056a5883350c2f5e" providerId="LiveId" clId="{6DA654A6-03B0-40F7-A259-B276216985A6}" dt="2026-09-10T03:22:45.138" v="4542" actId="255"/>
          <ac:graphicFrameMkLst>
            <pc:docMk/>
            <pc:sldMk cId="0" sldId="269"/>
            <ac:graphicFrameMk id="6" creationId="{E510CECF-189E-7B95-A7D1-8CF39243907A}"/>
          </ac:graphicFrameMkLst>
        </pc:graphicFrameChg>
      </pc:sldChg>
      <pc:sldChg chg="modSp mod">
        <pc:chgData name="janghoon jun" userId="056a5883350c2f5e" providerId="LiveId" clId="{6DA654A6-03B0-40F7-A259-B276216985A6}" dt="2026-09-10T03:22:37.115" v="4541" actId="255"/>
        <pc:sldMkLst>
          <pc:docMk/>
          <pc:sldMk cId="0" sldId="270"/>
        </pc:sldMkLst>
        <pc:spChg chg="mod">
          <ac:chgData name="janghoon jun" userId="056a5883350c2f5e" providerId="LiveId" clId="{6DA654A6-03B0-40F7-A259-B276216985A6}" dt="2026-09-10T03:22:37.115" v="4541" actId="255"/>
          <ac:spMkLst>
            <pc:docMk/>
            <pc:sldMk cId="0" sldId="270"/>
            <ac:spMk id="4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33.054" v="4540" actId="255"/>
          <ac:graphicFrameMkLst>
            <pc:docMk/>
            <pc:sldMk cId="0" sldId="270"/>
            <ac:graphicFrameMk id="3" creationId="{00000000-0000-0000-0000-000000000000}"/>
          </ac:graphicFrameMkLst>
        </pc:graphicFrameChg>
      </pc:sldChg>
      <pc:sldChg chg="modSp mod">
        <pc:chgData name="janghoon jun" userId="056a5883350c2f5e" providerId="LiveId" clId="{6DA654A6-03B0-40F7-A259-B276216985A6}" dt="2026-09-10T03:23:12.656" v="4546" actId="2710"/>
        <pc:sldMkLst>
          <pc:docMk/>
          <pc:sldMk cId="0" sldId="271"/>
        </pc:sldMkLst>
        <pc:spChg chg="mod">
          <ac:chgData name="janghoon jun" userId="056a5883350c2f5e" providerId="LiveId" clId="{6DA654A6-03B0-40F7-A259-B276216985A6}" dt="2026-09-10T03:23:12.656" v="4546" actId="2710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22:18.743" v="4536" actId="255"/>
        <pc:sldMkLst>
          <pc:docMk/>
          <pc:sldMk cId="0" sldId="272"/>
        </pc:sldMkLst>
        <pc:graphicFrameChg chg="modGraphic">
          <ac:chgData name="janghoon jun" userId="056a5883350c2f5e" providerId="LiveId" clId="{6DA654A6-03B0-40F7-A259-B276216985A6}" dt="2026-09-10T03:22:18.743" v="4536" actId="255"/>
          <ac:graphicFrameMkLst>
            <pc:docMk/>
            <pc:sldMk cId="0" sldId="272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14.195" v="4600" actId="1076"/>
        <pc:sldMkLst>
          <pc:docMk/>
          <pc:sldMk cId="2755278307" sldId="272"/>
        </pc:sldMkLst>
        <pc:spChg chg="mod">
          <ac:chgData name="janghoon jun" userId="056a5883350c2f5e" providerId="LiveId" clId="{6DA654A6-03B0-40F7-A259-B276216985A6}" dt="2026-09-10T05:01:06.801" v="4596"/>
          <ac:spMkLst>
            <pc:docMk/>
            <pc:sldMk cId="2755278307" sldId="272"/>
            <ac:spMk id="2" creationId="{47399A34-AE2B-4CC6-8304-596321EC9448}"/>
          </ac:spMkLst>
        </pc:spChg>
        <pc:spChg chg="del">
          <ac:chgData name="janghoon jun" userId="056a5883350c2f5e" providerId="LiveId" clId="{6DA654A6-03B0-40F7-A259-B276216985A6}" dt="2026-09-10T05:01:02.342" v="4594" actId="478"/>
          <ac:spMkLst>
            <pc:docMk/>
            <pc:sldMk cId="2755278307" sldId="272"/>
            <ac:spMk id="3" creationId="{8C665CBB-843D-1473-C103-8CBA53FCFA04}"/>
          </ac:spMkLst>
        </pc:spChg>
        <pc:spChg chg="add del mod">
          <ac:chgData name="janghoon jun" userId="056a5883350c2f5e" providerId="LiveId" clId="{6DA654A6-03B0-40F7-A259-B276216985A6}" dt="2026-09-10T05:01:11.596" v="4598" actId="478"/>
          <ac:spMkLst>
            <pc:docMk/>
            <pc:sldMk cId="2755278307" sldId="272"/>
            <ac:spMk id="5" creationId="{093EABBB-1335-B701-D6E0-0A3678A54285}"/>
          </ac:spMkLst>
        </pc:spChg>
        <pc:picChg chg="add mod">
          <ac:chgData name="janghoon jun" userId="056a5883350c2f5e" providerId="LiveId" clId="{6DA654A6-03B0-40F7-A259-B276216985A6}" dt="2026-09-10T05:01:14.195" v="4600" actId="1076"/>
          <ac:picMkLst>
            <pc:docMk/>
            <pc:sldMk cId="2755278307" sldId="272"/>
            <ac:picMk id="7" creationId="{DB5C9DB1-2489-F3D0-1976-537E15A9259F}"/>
          </ac:picMkLst>
        </pc:picChg>
      </pc:sldChg>
      <pc:sldChg chg="modSp mod">
        <pc:chgData name="janghoon jun" userId="056a5883350c2f5e" providerId="LiveId" clId="{6DA654A6-03B0-40F7-A259-B276216985A6}" dt="2026-09-10T03:21:38.729" v="4528" actId="255"/>
        <pc:sldMkLst>
          <pc:docMk/>
          <pc:sldMk cId="0" sldId="273"/>
        </pc:sldMkLst>
        <pc:graphicFrameChg chg="modGraphic">
          <ac:chgData name="janghoon jun" userId="056a5883350c2f5e" providerId="LiveId" clId="{6DA654A6-03B0-40F7-A259-B276216985A6}" dt="2026-09-10T03:21:38.729" v="4528" actId="255"/>
          <ac:graphicFrameMkLst>
            <pc:docMk/>
            <pc:sldMk cId="0" sldId="273"/>
            <ac:graphicFrameMk id="6" creationId="{E510CECF-189E-7B95-A7D1-8CF39243907A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44.278" v="4607" actId="22"/>
        <pc:sldMkLst>
          <pc:docMk/>
          <pc:sldMk cId="3764616405" sldId="273"/>
        </pc:sldMkLst>
        <pc:spChg chg="mod">
          <ac:chgData name="janghoon jun" userId="056a5883350c2f5e" providerId="LiveId" clId="{6DA654A6-03B0-40F7-A259-B276216985A6}" dt="2026-09-10T05:01:39.369" v="4604"/>
          <ac:spMkLst>
            <pc:docMk/>
            <pc:sldMk cId="3764616405" sldId="273"/>
            <ac:spMk id="2" creationId="{81756DD1-59E1-2584-8E19-3E1B59037185}"/>
          </ac:spMkLst>
        </pc:spChg>
        <pc:picChg chg="add">
          <ac:chgData name="janghoon jun" userId="056a5883350c2f5e" providerId="LiveId" clId="{6DA654A6-03B0-40F7-A259-B276216985A6}" dt="2026-09-10T05:01:44.278" v="4607" actId="22"/>
          <ac:picMkLst>
            <pc:docMk/>
            <pc:sldMk cId="3764616405" sldId="273"/>
            <ac:picMk id="4" creationId="{4D791A2B-D934-61D3-05BA-457321A70678}"/>
          </ac:picMkLst>
        </pc:picChg>
        <pc:picChg chg="del">
          <ac:chgData name="janghoon jun" userId="056a5883350c2f5e" providerId="LiveId" clId="{6DA654A6-03B0-40F7-A259-B276216985A6}" dt="2026-09-10T05:01:43.956" v="4606" actId="478"/>
          <ac:picMkLst>
            <pc:docMk/>
            <pc:sldMk cId="3764616405" sldId="273"/>
            <ac:picMk id="7" creationId="{C0C8C0CA-19F3-5E89-D747-E613365C3187}"/>
          </ac:picMkLst>
        </pc:picChg>
      </pc:sldChg>
      <pc:sldChg chg="modSp mod">
        <pc:chgData name="janghoon jun" userId="056a5883350c2f5e" providerId="LiveId" clId="{6DA654A6-03B0-40F7-A259-B276216985A6}" dt="2026-09-10T03:21:46.220" v="4529" actId="255"/>
        <pc:sldMkLst>
          <pc:docMk/>
          <pc:sldMk cId="0" sldId="274"/>
        </pc:sldMkLst>
        <pc:graphicFrameChg chg="modGraphic">
          <ac:chgData name="janghoon jun" userId="056a5883350c2f5e" providerId="LiveId" clId="{6DA654A6-03B0-40F7-A259-B276216985A6}" dt="2026-09-10T03:21:46.220" v="4529" actId="255"/>
          <ac:graphicFrameMkLst>
            <pc:docMk/>
            <pc:sldMk cId="0" sldId="274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59.785" v="4614" actId="22"/>
        <pc:sldMkLst>
          <pc:docMk/>
          <pc:sldMk cId="2820107391" sldId="274"/>
        </pc:sldMkLst>
        <pc:spChg chg="mod">
          <ac:chgData name="janghoon jun" userId="056a5883350c2f5e" providerId="LiveId" clId="{6DA654A6-03B0-40F7-A259-B276216985A6}" dt="2026-09-10T05:01:56.743" v="4612"/>
          <ac:spMkLst>
            <pc:docMk/>
            <pc:sldMk cId="2820107391" sldId="274"/>
            <ac:spMk id="2" creationId="{96BE39D2-BACD-9BFA-6BEF-E23EB76F52A3}"/>
          </ac:spMkLst>
        </pc:spChg>
        <pc:picChg chg="del">
          <ac:chgData name="janghoon jun" userId="056a5883350c2f5e" providerId="LiveId" clId="{6DA654A6-03B0-40F7-A259-B276216985A6}" dt="2026-09-10T05:01:51.432" v="4610" actId="478"/>
          <ac:picMkLst>
            <pc:docMk/>
            <pc:sldMk cId="2820107391" sldId="274"/>
            <ac:picMk id="4" creationId="{44560D41-702E-22B7-E44B-6688B87607EB}"/>
          </ac:picMkLst>
        </pc:picChg>
        <pc:picChg chg="add">
          <ac:chgData name="janghoon jun" userId="056a5883350c2f5e" providerId="LiveId" clId="{6DA654A6-03B0-40F7-A259-B276216985A6}" dt="2026-09-10T05:01:59.785" v="4614" actId="22"/>
          <ac:picMkLst>
            <pc:docMk/>
            <pc:sldMk cId="2820107391" sldId="274"/>
            <ac:picMk id="5" creationId="{789B8AA2-C797-6A65-8F18-1F3D8565FBA8}"/>
          </ac:picMkLst>
        </pc:picChg>
      </pc:sldChg>
      <pc:sldChg chg="modSp mod">
        <pc:chgData name="janghoon jun" userId="056a5883350c2f5e" providerId="LiveId" clId="{6DA654A6-03B0-40F7-A259-B276216985A6}" dt="2026-09-10T03:23:26.413" v="4549" actId="2710"/>
        <pc:sldMkLst>
          <pc:docMk/>
          <pc:sldMk cId="0" sldId="275"/>
        </pc:sldMkLst>
        <pc:spChg chg="mod">
          <ac:chgData name="janghoon jun" userId="056a5883350c2f5e" providerId="LiveId" clId="{6DA654A6-03B0-40F7-A259-B276216985A6}" dt="2026-09-10T03:23:26.413" v="4549" actId="2710"/>
          <ac:spMkLst>
            <pc:docMk/>
            <pc:sldMk cId="0" sldId="275"/>
            <ac:spMk id="4" creationId="{00000000-0000-0000-0000-000000000000}"/>
          </ac:spMkLst>
        </pc:spChg>
      </pc:sldChg>
      <pc:sldChg chg="addSp delSp modSp add mod">
        <pc:chgData name="janghoon jun" userId="056a5883350c2f5e" providerId="LiveId" clId="{6DA654A6-03B0-40F7-A259-B276216985A6}" dt="2026-09-10T05:02:27.064" v="4625" actId="1076"/>
        <pc:sldMkLst>
          <pc:docMk/>
          <pc:sldMk cId="1751739855" sldId="275"/>
        </pc:sldMkLst>
        <pc:spChg chg="mod">
          <ac:chgData name="janghoon jun" userId="056a5883350c2f5e" providerId="LiveId" clId="{6DA654A6-03B0-40F7-A259-B276216985A6}" dt="2026-09-10T05:02:08.939" v="4618"/>
          <ac:spMkLst>
            <pc:docMk/>
            <pc:sldMk cId="1751739855" sldId="275"/>
            <ac:spMk id="2" creationId="{6F7E1DCF-9740-40AC-B307-1426493A0AC5}"/>
          </ac:spMkLst>
        </pc:spChg>
        <pc:picChg chg="add mod">
          <ac:chgData name="janghoon jun" userId="056a5883350c2f5e" providerId="LiveId" clId="{6DA654A6-03B0-40F7-A259-B276216985A6}" dt="2026-09-10T05:02:27.064" v="4625" actId="1076"/>
          <ac:picMkLst>
            <pc:docMk/>
            <pc:sldMk cId="1751739855" sldId="275"/>
            <ac:picMk id="4" creationId="{84710ACD-2049-27DA-4399-427001462009}"/>
          </ac:picMkLst>
        </pc:picChg>
        <pc:picChg chg="del">
          <ac:chgData name="janghoon jun" userId="056a5883350c2f5e" providerId="LiveId" clId="{6DA654A6-03B0-40F7-A259-B276216985A6}" dt="2026-09-10T05:02:12.860" v="4620" actId="478"/>
          <ac:picMkLst>
            <pc:docMk/>
            <pc:sldMk cId="1751739855" sldId="275"/>
            <ac:picMk id="5" creationId="{9575D779-2B9E-87D3-6075-E635B5824B4E}"/>
          </ac:picMkLst>
        </pc:picChg>
      </pc:sldChg>
      <pc:sldChg chg="modSp mod">
        <pc:chgData name="janghoon jun" userId="056a5883350c2f5e" providerId="LiveId" clId="{6DA654A6-03B0-40F7-A259-B276216985A6}" dt="2026-09-10T03:21:51.722" v="4530" actId="255"/>
        <pc:sldMkLst>
          <pc:docMk/>
          <pc:sldMk cId="0" sldId="276"/>
        </pc:sldMkLst>
        <pc:graphicFrameChg chg="modGraphic">
          <ac:chgData name="janghoon jun" userId="056a5883350c2f5e" providerId="LiveId" clId="{6DA654A6-03B0-40F7-A259-B276216985A6}" dt="2026-09-10T03:21:51.722" v="4530" actId="255"/>
          <ac:graphicFrameMkLst>
            <pc:docMk/>
            <pc:sldMk cId="0" sldId="276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2:45.534" v="4632" actId="22"/>
        <pc:sldMkLst>
          <pc:docMk/>
          <pc:sldMk cId="1504938630" sldId="276"/>
        </pc:sldMkLst>
        <pc:spChg chg="mod">
          <ac:chgData name="janghoon jun" userId="056a5883350c2f5e" providerId="LiveId" clId="{6DA654A6-03B0-40F7-A259-B276216985A6}" dt="2026-09-10T05:02:40.704" v="4629"/>
          <ac:spMkLst>
            <pc:docMk/>
            <pc:sldMk cId="1504938630" sldId="276"/>
            <ac:spMk id="2" creationId="{913683FB-DF95-E126-F2AF-437AEE942621}"/>
          </ac:spMkLst>
        </pc:spChg>
        <pc:picChg chg="del">
          <ac:chgData name="janghoon jun" userId="056a5883350c2f5e" providerId="LiveId" clId="{6DA654A6-03B0-40F7-A259-B276216985A6}" dt="2026-09-10T05:02:45.004" v="4631" actId="478"/>
          <ac:picMkLst>
            <pc:docMk/>
            <pc:sldMk cId="1504938630" sldId="276"/>
            <ac:picMk id="4" creationId="{46693135-C301-9F06-2589-F08988C88813}"/>
          </ac:picMkLst>
        </pc:picChg>
        <pc:picChg chg="add">
          <ac:chgData name="janghoon jun" userId="056a5883350c2f5e" providerId="LiveId" clId="{6DA654A6-03B0-40F7-A259-B276216985A6}" dt="2026-09-10T05:02:45.534" v="4632" actId="22"/>
          <ac:picMkLst>
            <pc:docMk/>
            <pc:sldMk cId="1504938630" sldId="276"/>
            <ac:picMk id="5" creationId="{D4DA04F9-B60D-B9E9-17B8-B1E936BB0517}"/>
          </ac:picMkLst>
        </pc:picChg>
      </pc:sldChg>
      <pc:sldChg chg="add del">
        <pc:chgData name="janghoon jun" userId="056a5883350c2f5e" providerId="LiveId" clId="{6DA654A6-03B0-40F7-A259-B276216985A6}" dt="2026-09-10T05:03:12.292" v="4635" actId="47"/>
        <pc:sldMkLst>
          <pc:docMk/>
          <pc:sldMk cId="2410116862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2026-10-06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[한 줄 </a:t>
            </a:r>
            <a:r>
              <a:rPr dirty="0" err="1"/>
              <a:t>요약</a:t>
            </a:r>
            <a:r>
              <a:rPr dirty="0"/>
              <a:t>] CT </a:t>
            </a:r>
            <a:r>
              <a:rPr dirty="0" err="1"/>
              <a:t>사진에서</a:t>
            </a:r>
            <a:r>
              <a:rPr dirty="0"/>
              <a:t> </a:t>
            </a:r>
            <a:r>
              <a:rPr dirty="0" err="1"/>
              <a:t>몸속</a:t>
            </a:r>
            <a:r>
              <a:rPr dirty="0"/>
              <a:t> </a:t>
            </a:r>
            <a:r>
              <a:rPr dirty="0" err="1"/>
              <a:t>지방과</a:t>
            </a:r>
            <a:r>
              <a:rPr dirty="0"/>
              <a:t> </a:t>
            </a:r>
            <a:r>
              <a:rPr dirty="0" err="1"/>
              <a:t>근육의</a:t>
            </a:r>
            <a:r>
              <a:rPr dirty="0"/>
              <a:t> </a:t>
            </a:r>
            <a:r>
              <a:rPr dirty="0" err="1"/>
              <a:t>양을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위치에서</a:t>
            </a:r>
            <a:r>
              <a:rPr dirty="0"/>
              <a:t> </a:t>
            </a:r>
            <a:r>
              <a:rPr dirty="0" err="1"/>
              <a:t>재면</a:t>
            </a:r>
            <a:r>
              <a:rPr dirty="0"/>
              <a:t>, </a:t>
            </a:r>
            <a:r>
              <a:rPr dirty="0" err="1"/>
              <a:t>고혈압·당뇨·만성콩팥병이</a:t>
            </a:r>
            <a:r>
              <a:rPr dirty="0"/>
              <a:t> </a:t>
            </a:r>
            <a:r>
              <a:rPr dirty="0" err="1"/>
              <a:t>있는지</a:t>
            </a:r>
            <a:r>
              <a:rPr dirty="0"/>
              <a:t> 더 잘 </a:t>
            </a:r>
            <a:r>
              <a:rPr dirty="0" err="1"/>
              <a:t>맞힐</a:t>
            </a:r>
            <a:r>
              <a:rPr dirty="0"/>
              <a:t> 수 </a:t>
            </a:r>
            <a:r>
              <a:rPr dirty="0" err="1"/>
              <a:t>있을까</a:t>
            </a:r>
            <a:r>
              <a:rPr dirty="0"/>
              <a:t>? </a:t>
            </a:r>
            <a:r>
              <a:rPr dirty="0" err="1"/>
              <a:t>결과</a:t>
            </a:r>
            <a:r>
              <a:rPr dirty="0"/>
              <a:t>: </a:t>
            </a:r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(</a:t>
            </a:r>
            <a:r>
              <a:rPr dirty="0" err="1"/>
              <a:t>환자</a:t>
            </a:r>
            <a:r>
              <a:rPr dirty="0"/>
              <a:t> </a:t>
            </a:r>
            <a:r>
              <a:rPr dirty="0" err="1"/>
              <a:t>수가</a:t>
            </a:r>
            <a:r>
              <a:rPr dirty="0"/>
              <a:t> </a:t>
            </a:r>
            <a:r>
              <a:rPr dirty="0" err="1"/>
              <a:t>이전보다</a:t>
            </a:r>
            <a:r>
              <a:rPr dirty="0"/>
              <a:t> 두 배 </a:t>
            </a:r>
            <a:r>
              <a:rPr dirty="0" err="1"/>
              <a:t>가까이</a:t>
            </a:r>
            <a:r>
              <a:rPr dirty="0"/>
              <a:t> </a:t>
            </a:r>
            <a:r>
              <a:rPr dirty="0" err="1"/>
              <a:t>늘었습니다</a:t>
            </a:r>
            <a:r>
              <a:rPr dirty="0"/>
              <a:t>)</a:t>
            </a:r>
            <a:r>
              <a:rPr dirty="0" err="1"/>
              <a:t>에서는</a:t>
            </a:r>
            <a:r>
              <a:rPr dirty="0"/>
              <a:t> </a:t>
            </a:r>
            <a:r>
              <a:rPr dirty="0" err="1"/>
              <a:t>정확도가</a:t>
            </a:r>
            <a:r>
              <a:rPr dirty="0"/>
              <a:t> </a:t>
            </a:r>
            <a:r>
              <a:rPr dirty="0" err="1"/>
              <a:t>뚜렷하게</a:t>
            </a:r>
            <a:r>
              <a:rPr dirty="0"/>
              <a:t> </a:t>
            </a:r>
            <a:r>
              <a:rPr dirty="0" err="1"/>
              <a:t>오르지</a:t>
            </a:r>
            <a:r>
              <a:rPr dirty="0"/>
              <a:t> </a:t>
            </a:r>
            <a:r>
              <a:rPr dirty="0" err="1"/>
              <a:t>않았습니다</a:t>
            </a:r>
            <a:r>
              <a:rPr dirty="0"/>
              <a:t>. </a:t>
            </a:r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당뇨에서는</a:t>
            </a:r>
            <a:r>
              <a:rPr dirty="0"/>
              <a:t> </a:t>
            </a:r>
            <a:r>
              <a:rPr dirty="0" err="1"/>
              <a:t>허벅지뼈</a:t>
            </a:r>
            <a:r>
              <a:rPr dirty="0"/>
              <a:t> </a:t>
            </a:r>
            <a:r>
              <a:rPr dirty="0" err="1"/>
              <a:t>높이의</a:t>
            </a:r>
            <a:r>
              <a:rPr dirty="0"/>
              <a:t> </a:t>
            </a:r>
            <a:r>
              <a:rPr dirty="0" err="1"/>
              <a:t>피하지방·근육이</a:t>
            </a:r>
            <a:r>
              <a:rPr dirty="0"/>
              <a:t> </a:t>
            </a:r>
            <a:r>
              <a:rPr dirty="0" err="1"/>
              <a:t>적을수록</a:t>
            </a:r>
            <a:r>
              <a:rPr dirty="0"/>
              <a:t> </a:t>
            </a:r>
            <a:r>
              <a:rPr dirty="0" err="1"/>
              <a:t>병이</a:t>
            </a:r>
            <a:r>
              <a:rPr dirty="0"/>
              <a:t> </a:t>
            </a:r>
            <a:r>
              <a:rPr dirty="0" err="1"/>
              <a:t>있을</a:t>
            </a:r>
            <a:r>
              <a:rPr dirty="0"/>
              <a:t> </a:t>
            </a:r>
            <a:r>
              <a:rPr dirty="0" err="1"/>
              <a:t>가능성이</a:t>
            </a:r>
            <a:r>
              <a:rPr dirty="0"/>
              <a:t> </a:t>
            </a:r>
            <a:r>
              <a:rPr dirty="0" err="1"/>
              <a:t>높다는</a:t>
            </a:r>
            <a:r>
              <a:rPr dirty="0"/>
              <a:t> </a:t>
            </a:r>
            <a:r>
              <a:rPr dirty="0" err="1"/>
              <a:t>관계가</a:t>
            </a:r>
            <a:r>
              <a:rPr dirty="0"/>
              <a:t> 두 </a:t>
            </a:r>
            <a:r>
              <a:rPr dirty="0" err="1"/>
              <a:t>병원에서</a:t>
            </a:r>
            <a:r>
              <a:rPr dirty="0"/>
              <a:t> </a:t>
            </a:r>
            <a:r>
              <a:rPr dirty="0" err="1"/>
              <a:t>같게</a:t>
            </a:r>
            <a:r>
              <a:rPr dirty="0"/>
              <a:t> </a:t>
            </a:r>
            <a:r>
              <a:rPr dirty="0" err="1"/>
              <a:t>나왔습니다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용어</a:t>
            </a:r>
            <a:r>
              <a:rPr dirty="0"/>
              <a:t>]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(clinic4) = </a:t>
            </a:r>
            <a:r>
              <a:rPr dirty="0" err="1"/>
              <a:t>성별</a:t>
            </a:r>
            <a:r>
              <a:rPr dirty="0"/>
              <a:t>, </a:t>
            </a:r>
            <a:r>
              <a:rPr dirty="0" err="1"/>
              <a:t>나이</a:t>
            </a:r>
            <a:r>
              <a:rPr dirty="0"/>
              <a:t>, 키, </a:t>
            </a:r>
            <a:r>
              <a:rPr dirty="0" err="1"/>
              <a:t>몸무게</a:t>
            </a:r>
            <a:r>
              <a:rPr dirty="0"/>
              <a:t> 4가지.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[연구 방법] 강남세브란스 1,436명으로 모델을 만들고, 신촌세브란스 1,129명으로 다시 확인했습니다(다른 병원 데이터로 확인하는 것을 '외부검증'이라 합니다). CT 위치 표시가 이상한 환자 23명은 뺐습니다.</a:t>
            </a:r>
          </a:p>
          <a:p>
            <a:r>
              <a:t>[비교 단계] baseline = 기본 정보 4가지만 사용. Model1 = baseline + 간 윗부분부터 치골까지 내장지방 단면적을 모두 더한 값 1개. Model2부터 = Model1 + CT 위 12곳(anchor)에서 잰 지방·근육 값.</a:t>
            </a:r>
          </a:p>
          <a:p>
            <a:r>
              <a:t>[anchor란] CT에서 몸의 위치를 알려 주는 기준점입니다(간 윗부분, 등뼈 T10~T12, 허리뼈 L1~L5, 엉치뼈 S1, 허벅지뼈 머리, 치골). 각 위치의 한 장면에서 내장지방(VAT), 피하지방(SAT), 근육(TAMA)을 쟀습니다.</a:t>
            </a:r>
          </a:p>
          <a:p>
            <a:r>
              <a:t>[평가 방법] 강남 환자를 병이 있는 사람과 없는 사람 수가 같게 맞춘 뒤, 7:1:2로 나눴습니다. 70%로 모델을 만들고, 10%로 설정값을 고르고(컴퓨터가 후보 24가지를 자동으로 시험), 20%로 최종 점수(test)를 냅니다. 신촌 데이터로는 한 번 더 시험합니다. 시험용 환자가 적어(고혈압 188명, 당뇨 117명, 콩팥병 54명) 점수가 쉽게 흔들립니다. 예를 들어 Model1의 콩팥병 내부 점수 0.84의 신뢰구간은 0.73~0.93입니다.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[이 그림은] 환자 한 명의 CT에서 12개 위치(간 윗부분부터 치골까지)의 한 장면씩을 모아 놓은 것입니다. 컴퓨터가 색으로 조직을 구분했습니다: 노랑 = 피하지방, 빨강 = 내장지방, 파랑·하늘·초록 = 근육의 세 부분. 각 장면 아래 숫자는 그 조직이 차지하는 면적(cm²)입니다.</a:t>
            </a:r>
          </a:p>
          <a:p>
            <a:r>
              <a:t>[확인한 내용] 이 숫자들을 우리가 분석에 쓴 데이터 파일의 값과 맞춰 보았습니다. 내장지방·피하지방 값과 장면 번호가 모두 같았고, 분석에 쓴 근육 값(TAMA)은 그림의 세 근육 값을 더한 것과 12곳 모두 같았습니다. 예를 들어 L3 위치의 근육은 53.05 + 23.16 + 3.55 = 79.76 cm²입니다. 내장지방 합계(Model1)는 간 윗부분부터 치골까지 모든 장면의 내장지방 면적을 더한 값입니다.</a:t>
            </a:r>
          </a:p>
          <a:p>
            <a:r>
              <a:t>[주의] 한 명(샘플)만 대조한 것이며, 전체 환자를 이렇게 확인한 것은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[AUC 읽는 법] 병이 있는 사람과 없는 사람을 얼마나 잘 구분하는지를 0.5~1.0으로 나타낸 점수입니다. 0.5는 동전 던지기, 1.0은 완벽입니다. Int는 강남 시험용 환자(내부), Ext는 신촌 데이터(외부) 점수입니다. # Feat는 모델이 쓴 정보의 개수입니다.</a:t>
            </a:r>
          </a:p>
          <a:p>
            <a:r>
              <a:t>[결과] 12곳의 지방·근육 값을 더해도 Model1보다 꾸준히 좋아지지 않습니다. 고혈압은 거의 그대로(외부 ±0.005), 당뇨는 내부 점수만 오르고(시험 환자 117명이라 우연일 수 있음) 외부는 거의 같고, 콩팥병은 내부와 외부가 서로 엇갈립니다. 우연히 좋게 나온 것을 걸러 내는 통계 보정(FDR)을 하면 확실히 좋아졌다고 할 수 있는 모델은 없었습니다.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[OR(오즈비) 읽는 법] 어떤 수치가 평균보다 '한 단계' 높을 때 병이 있을 가능성이 몇 배가 되는지입니다. 1보다 크면 위험 신호, 1보다 작으면 보호 신호, 1이면 관계가 없습니다. 예: 0.70은 가능성이 약 30% 낮다는 뜻입니다.</a:t>
            </a:r>
          </a:p>
          <a:p>
            <a:r>
              <a:t>[결과] 두 병원에서 모두 통계적으로 의미 있고 방향이 같은 값은 5개입니다. 당뇨에서 허벅지뼈 머리 높이의 피하지방(0.70/0.67)과 근육(0.73/0.69), 치골과 L4 높이의 피하지방, 콩팥병에서 엉치뼈(S1) 높이의 피하지방입니다. 고혈압은 하나도 없었습니다. 내장지방 합계는 고혈압에서 강남 1.79, 신촌 1.16으로 병원 간 차이가 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[그림 읽는 법] 가로는 조직 종류와 병원, 세로는 몸 위치입니다. 칸의 숫자가 OR이고, 파란색이면 보호, 빨간색이면 위험 신호입니다. 굵은 테두리는 두 병원 모두에서 통계적으로 의미 있고 방향이 같은 칸입니다.</a:t>
            </a:r>
          </a:p>
          <a:p>
            <a:r>
              <a:t>[결과] 굵은 테두리가 아래쪽(L4, 허벅지뼈 머리, 치골)의 당뇨 쪽에 모여 있습니다. 피하지방과 근육이 많을수록 당뇨가 적은 경향입니다. 고혈압은 일치하는 칸이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[질문] 12곳 × 3종류 = 35개 값 중 몇 개를 쓰는 것이 가장 좋을까? 중요한 것부터 k개를 골라 더해 보았습니다. 중요도는 시험용 환자를 보지 않고 연습용 환자 안에서만 매겨서 '정답을 미리 본' 것 같은 왜곡이 없습니다.</a:t>
            </a:r>
          </a:p>
          <a:p>
            <a:r>
              <a:t>[결과] 개수를 늘려도 꾸준히 좋아지지 않습니다. 고혈압은 거의 그대로, 당뇨는 8개 이상에서 내부 점수가 0.05 정도 오르지만 외부는 거의 같고, 콩팥병은 시험 환자 54명이라 개수에 따라 크게 출렁입니다.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[그림 읽는 법] 가로는 쓴 값의 개수, 세로는 AUC입니다. 파란 선은 강남(내부), 주황 선은 신촌(외부), 점선은 기본 정보만 쓴 baseline, 파선은 Model1입니다.</a:t>
            </a:r>
          </a:p>
          <a:p>
            <a:r>
              <a:t>[결과] 고혈압은 평평하고, 당뇨 외부 점수는 평평하며, 콩팥병 내부 점수는 0.81~0.88 사이를 오갑니다. 선이 흔들리는 것은 시험용 환자가 적기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[질문] 값을 여러 개 한꺼번에 넣고 OR을 보면 해석이 안정적일까?</a:t>
            </a:r>
          </a:p>
          <a:p>
            <a:r>
              <a:t>[결과] 1개만 넣었을 때(k=1)는 당뇨의 허벅지뼈 피하지방이 두 병원에서 같은 방향(0.70/0.67)이지만, 10개·35개를 넣으면 신촌에서 1.45~1.49로 방향이 뒤집힙니다. 이유는 비슷한 정보를 가진 값들이 서로 겹쳐서(공선성) 누가 효과를 낸 것인지 구분하지 못하기 때문입니다. 그래서 OR은 값을 1~3개만 넣었을 때 해석하는 것이 안전합니다.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[비율이란] 값 자체 대신 '비교하는 값'입니다. 위치 간 비율은 같은 조직이 허리뼈 L3보다 얼마나 많은지, 위치 내 비율은 내장지방이 피하지방의 몇 배인지 또는 근육이 전체에서 차지하는 몫 등입니다. 비율은 체격이 큰 사람이 값도 큰 문제를 줄여 줍니다.</a:t>
            </a:r>
          </a:p>
          <a:p>
            <a:r>
              <a:t>[결과] 비율을 넣어도 정확도는 뚜렷하게 오르지 않습니다(내부 최대 +0.03, 외부 최대 +0.014). 하지만 당뇨에서는 비율 하나씩 보면 두 병원에서 같은 방향인 것이 여럿 있습니다: 치골 높이에서 근육이 차지하는 몫(1.38/1.37), L4 높이의 내장지방/피하지방(1.27/1.31).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[질문] 몸의 어느 부위를 보는 것이 중요할까? 결과를 보기 전에 해부학적으로 미리 정한 묶음으로 비교했습니다: 골반(허벅지뼈 머리, 치골), 허리 아래(L4, L5, S1), 대표 4곳(T12, L3, S1, 허벅지뼈 머리).</a:t>
            </a:r>
          </a:p>
          <a:p>
            <a:r>
              <a:t>[결과] 어느 부위도 꾸준히 좋아지지 않았습니다. 통계 보정 후에도 의미가 남은 변화는 오히려 점수가 떨어지는 쪽(당뇨 외부, 허리 가운데 근육 −0.05)뿐입니다. 이전 데이터에서는 골반 부위가 당뇨 외부 점수를 0.05 올렸는데, 이번 데이터에서는 재현되지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[질문] 남성과 여성을 따로 보면 결과가 다를까? 남녀를 각각 따로 학습하고 시험했습니다(성별 정보는 쓰지 않음).</a:t>
            </a:r>
          </a:p>
          <a:p>
            <a:r>
              <a:t>[결과] 성별로 나눠도 지방·근육 값을 더해서 좋아지는 경우는 없었습니다. 눈에 띄는 것은 기본 정보만 쓴 점수가 성별로 다르다는 점입니다: 고혈압은 여성 0.82/0.77, 남성 0.66/0.69로 여성에서 훨씬 잘 맞습니다. OR이 남녀에서 다른지 216개를 검사했더니 10개가 달랐는데, 이는 우연으로 기대되는 수준이고 보정 후에는 하나도 남지 않았습니다. 성별로 나누면 시험 환자가 적어(여성 콩팥병 18명) 점수의 신뢰구간이 매우 넓습니다.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[세 줄 정리] 1) 지방·근육 값을 어떻게 더해도(위치 12곳, 개수 조절, 비율, 부위 묶음) 병을 맞히는 정확도는 꾸준히 오르지 않았습니다. 2) 하지만 당뇨에서는 허벅지뼈·치골·L4 높이의 피하지방과 근육이 적을수록 병이 있을 가능성이 높다는 관계가 두 병원에서 일치합니다. 3) 남녀를 따로 봐도 결론은 같습니다.</a:t>
            </a:r>
          </a:p>
          <a:p>
            <a:r>
              <a:t>[주의] 이전 데이터에서 보이던 당뇨 골반 부위 향상은 이번에 재현되지 않았습니다. 시험용 환자가 적어 내부 점수는 ±0.05~0.13 흔들립니다.</a:t>
            </a:r>
          </a:p>
          <a:p>
            <a:r>
              <a:t>[한계와 다음] 한 시점의 데이터라 원인-결과는 알 수 없고, CT 한 장면은 오차가 큽니다. 분할 시드를 바꿔 여러 번 반복해 안정성을 보고, 몸집을 보정해야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발표 본문은 여기까지입니다. 이어지는 부록(Appendix)은 질문이 있을 때 참고하는 전체 결과표입니다.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[부록 S1] 위치를 L3 하나만, 또는 L1·L3·L5 세 곳만, 또는 12곳 전부 쓴 모델들의 점수표(1/2)입니다. Int는 강남 시험용 환자, Ext는 신촌 점수이고, # Feat는 쓴 정보의 개수입니다.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[부록 S2] 같은 표의 2/2입니다(12곳 전부 쓴 조합 포함).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[부록 S3] 비율 정보를 넣은 모델들입니다. 서로 계산으로 이어진 비율을 중복해서 넣으면 해석이 불안정해지므로 그런 겹침은 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[부록 S4] FPCA는 머리부터 발끝까지 이어진 곡선 모양을 숫자 3개로 요약하는 방법입니다(예: 전체적으로 높은지, 위쪽이 높은지). 조직별 곡선에 적용한 모델들입니다.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[부록 S5] 위치 간 비율(L3 대비)과 위치 내 비율(내장지방/피하지방, 근육 점유율)을 넣은 모델 전체입니다. 점수 변화는 작고 일관되지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[부록 S6] 해부학적으로 미리 정한 위치 묶음(위쪽, 허리, 허리 아래, 골반, 대표 4곳)에 지방·근육 값을 더한 모델들입니다(1/2).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[부록 S7] 같은 표의 2/2입니다. 마지막 세 줄(nested top)은 시험용 환자를 쓰지 않고 연습용 환자 안에서만 상위 3·5·10개를 고른 모델로, 선택 과정의 왜곡을 없앤 방식입니다.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[부록 S8] 비율 55개 중에서 고른 경우(진한 선)와 값 35개 중에서 고른 경우(옅은 선)를 비교한 그림입니다. 비율이 값보다 특별히 낫지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[부록 S9] 대표 모델이 Model1보다 얼마나 좋아지거나 나빠지는지를 남성(파랑)과 여성(주황)으로 나눠 그린 것입니다. 위는 강남 시험용 환자, 아래는 신촌입니다. 막대가 커 보여도 시험 환자가 적어서(여성 콩팥병 18명 등) 우연히 움직인 것일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C805716-8EA2-F96C-6391-4B494B09C9B5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2D1BE4-CC80-395F-A3E1-FE44D5712B27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9517A2-1316-4B4A-E808-9A2569162B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F546DEDA-3287-A635-3738-AAC0A1C0A4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C3C743F5-8336-C697-B8DF-D7A33CDC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67C93B8-5C18-BB4D-C2B0-B88DA3F6D4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3" name="날짜 개체 틀 3">
            <a:extLst>
              <a:ext uri="{FF2B5EF4-FFF2-40B4-BE49-F238E27FC236}">
                <a16:creationId xmlns:a16="http://schemas.microsoft.com/office/drawing/2014/main" id="{61557C19-3D62-A133-C407-C968F16ACC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4" name="바닥글 개체 틀 4">
            <a:extLst>
              <a:ext uri="{FF2B5EF4-FFF2-40B4-BE49-F238E27FC236}">
                <a16:creationId xmlns:a16="http://schemas.microsoft.com/office/drawing/2014/main" id="{5E32A29C-2DD8-CE83-BA54-12AE02B7E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" y="2203269"/>
            <a:ext cx="903959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ko-KR" sz="2000" b="1" dirty="0">
                <a:solidFill>
                  <a:schemeClr val="bg1"/>
                </a:solidFill>
              </a:rPr>
              <a:t>Anchor-Level Body </a:t>
            </a:r>
            <a:r>
              <a:rPr lang="ko-KR" altLang="ko-KR" sz="2000" b="1" dirty="0" err="1">
                <a:solidFill>
                  <a:schemeClr val="bg1"/>
                </a:solidFill>
              </a:rPr>
              <a:t>Composition</a:t>
            </a:r>
            <a:r>
              <a:rPr lang="ko-KR" altLang="ko-KR" sz="2000" b="1" dirty="0">
                <a:solidFill>
                  <a:schemeClr val="bg1"/>
                </a:solidFill>
              </a:rPr>
              <a:t> </a:t>
            </a:r>
            <a:r>
              <a:rPr lang="ko-KR" altLang="ko-KR" sz="2000" b="1" dirty="0" err="1">
                <a:solidFill>
                  <a:schemeClr val="bg1"/>
                </a:solidFill>
              </a:rPr>
              <a:t>Features</a:t>
            </a:r>
            <a:r>
              <a:rPr lang="en-US" altLang="ko-KR" sz="2000" b="1" dirty="0">
                <a:solidFill>
                  <a:schemeClr val="bg1"/>
                </a:solidFill>
              </a:rPr>
              <a:t> </a:t>
            </a:r>
            <a:r>
              <a:rPr lang="ko-KR" altLang="ko-KR" sz="2000" b="1" dirty="0" err="1">
                <a:solidFill>
                  <a:schemeClr val="bg1"/>
                </a:solidFill>
              </a:rPr>
              <a:t>for</a:t>
            </a:r>
            <a:r>
              <a:rPr lang="ko-KR" altLang="ko-KR" sz="2000" b="1" dirty="0">
                <a:solidFill>
                  <a:schemeClr val="bg1"/>
                </a:solidFill>
              </a:rPr>
              <a:t> Chronic Disease Prediction</a:t>
            </a:r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1074" y="3091544"/>
            <a:ext cx="13292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chemeClr val="bg1"/>
                </a:solidFill>
              </a:rPr>
              <a:t>2026. 10. 0</a:t>
            </a:r>
            <a:r>
              <a:rPr lang="en-US" sz="1600" dirty="0">
                <a:solidFill>
                  <a:schemeClr val="bg1"/>
                </a:solidFill>
              </a:rPr>
              <a:t>3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1074" y="3548744"/>
            <a:ext cx="19468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chemeClr val="bg1"/>
                </a:solidFill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074" y="4005944"/>
            <a:ext cx="5093254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bg1"/>
                </a:solidFill>
              </a:rPr>
              <a:t>Department of Medical Device Engineering &amp; Management</a:t>
            </a:r>
          </a:p>
          <a:p>
            <a:r>
              <a:rPr sz="1400">
                <a:solidFill>
                  <a:schemeClr val="bg1"/>
                </a:solidFill>
              </a:rPr>
              <a:t>Gangnam Severance Hospital,</a:t>
            </a:r>
          </a:p>
          <a:p>
            <a:r>
              <a:rPr sz="1400">
                <a:solidFill>
                  <a:schemeClr val="bg1"/>
                </a:solidFill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Study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5261348"/>
          </a:xfrm>
        </p:spPr>
        <p:txBody>
          <a:bodyPr>
            <a:normAutofit fontScale="92500" lnSpcReduction="20000"/>
          </a:bodyPr>
          <a:lstStyle/>
          <a:p>
            <a:r>
              <a:rPr sz="1600" b="0" dirty="0" err="1">
                <a:solidFill>
                  <a:srgbClr val="333F4D"/>
                </a:solidFill>
              </a:rPr>
              <a:t>코호트</a:t>
            </a:r>
            <a:r>
              <a:rPr sz="1600" b="0" dirty="0">
                <a:solidFill>
                  <a:srgbClr val="333F4D"/>
                </a:solidFill>
              </a:rPr>
              <a:t>(2026-10-06 </a:t>
            </a:r>
            <a:r>
              <a:rPr sz="1600" b="0" dirty="0" err="1">
                <a:solidFill>
                  <a:srgbClr val="333F4D"/>
                </a:solidFill>
              </a:rPr>
              <a:t>데이터셋</a:t>
            </a:r>
            <a:r>
              <a:rPr sz="1600" b="0" dirty="0">
                <a:solidFill>
                  <a:srgbClr val="333F4D"/>
                </a:solidFill>
              </a:rPr>
              <a:t>): </a:t>
            </a:r>
            <a:r>
              <a:rPr sz="1600" b="0" dirty="0" err="1">
                <a:solidFill>
                  <a:srgbClr val="333F4D"/>
                </a:solidFill>
              </a:rPr>
              <a:t>gangnam</a:t>
            </a:r>
            <a:r>
              <a:rPr sz="1600" b="0" dirty="0">
                <a:solidFill>
                  <a:srgbClr val="333F4D"/>
                </a:solidFill>
              </a:rPr>
              <a:t> 1,436명 (HTN 469 / DM 291 / CKD 135), </a:t>
            </a:r>
            <a:r>
              <a:rPr sz="1600" b="0" dirty="0" err="1">
                <a:solidFill>
                  <a:srgbClr val="333F4D"/>
                </a:solidFill>
              </a:rPr>
              <a:t>sinchon</a:t>
            </a:r>
            <a:r>
              <a:rPr sz="1600" b="0" dirty="0">
                <a:solidFill>
                  <a:srgbClr val="333F4D"/>
                </a:solidFill>
              </a:rPr>
              <a:t> 1,129명 (HTN 492 / DM 338 / CKD 171). landmark </a:t>
            </a:r>
            <a:r>
              <a:rPr sz="1600" b="0" dirty="0" err="1">
                <a:solidFill>
                  <a:srgbClr val="333F4D"/>
                </a:solidFill>
              </a:rPr>
              <a:t>순서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이상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환자</a:t>
            </a:r>
            <a:r>
              <a:rPr sz="1600" b="0" dirty="0">
                <a:solidFill>
                  <a:srgbClr val="333F4D"/>
                </a:solidFill>
              </a:rPr>
              <a:t>(</a:t>
            </a:r>
            <a:r>
              <a:rPr sz="1600" b="0" dirty="0" err="1">
                <a:solidFill>
                  <a:srgbClr val="333F4D"/>
                </a:solidFill>
              </a:rPr>
              <a:t>gangnam</a:t>
            </a:r>
            <a:r>
              <a:rPr sz="1600" b="0" dirty="0">
                <a:solidFill>
                  <a:srgbClr val="333F4D"/>
                </a:solidFill>
              </a:rPr>
              <a:t> 7, </a:t>
            </a:r>
            <a:r>
              <a:rPr sz="1600" b="0" dirty="0" err="1">
                <a:solidFill>
                  <a:srgbClr val="333F4D"/>
                </a:solidFill>
              </a:rPr>
              <a:t>sinchon</a:t>
            </a:r>
            <a:r>
              <a:rPr sz="1600" b="0" dirty="0">
                <a:solidFill>
                  <a:srgbClr val="333F4D"/>
                </a:solidFill>
              </a:rPr>
              <a:t> 16명) </a:t>
            </a:r>
            <a:r>
              <a:rPr sz="1600" b="0" dirty="0" err="1">
                <a:solidFill>
                  <a:srgbClr val="333F4D"/>
                </a:solidFill>
              </a:rPr>
              <a:t>제외</a:t>
            </a:r>
            <a:endParaRPr sz="1600" b="0" dirty="0">
              <a:solidFill>
                <a:srgbClr val="333F4D"/>
              </a:solidFill>
            </a:endParaRPr>
          </a:p>
          <a:p>
            <a:r>
              <a:rPr sz="1600" b="0" dirty="0">
                <a:solidFill>
                  <a:srgbClr val="333F4D"/>
                </a:solidFill>
              </a:rPr>
              <a:t>baseline = clinic4 (</a:t>
            </a:r>
            <a:r>
              <a:rPr sz="1600" b="0" dirty="0" err="1">
                <a:solidFill>
                  <a:srgbClr val="333F4D"/>
                </a:solidFill>
              </a:rPr>
              <a:t>성별</a:t>
            </a:r>
            <a:r>
              <a:rPr sz="1600" b="0" dirty="0">
                <a:solidFill>
                  <a:srgbClr val="333F4D"/>
                </a:solidFill>
              </a:rPr>
              <a:t>, </a:t>
            </a:r>
            <a:r>
              <a:rPr sz="1600" b="0" dirty="0" err="1">
                <a:solidFill>
                  <a:srgbClr val="333F4D"/>
                </a:solidFill>
              </a:rPr>
              <a:t>나이</a:t>
            </a:r>
            <a:r>
              <a:rPr sz="1600" b="0" dirty="0">
                <a:solidFill>
                  <a:srgbClr val="333F4D"/>
                </a:solidFill>
              </a:rPr>
              <a:t>, </a:t>
            </a:r>
            <a:r>
              <a:rPr sz="1600" b="0" dirty="0" err="1">
                <a:solidFill>
                  <a:srgbClr val="333F4D"/>
                </a:solidFill>
              </a:rPr>
              <a:t>신장</a:t>
            </a:r>
            <a:r>
              <a:rPr sz="1600" b="0" dirty="0">
                <a:solidFill>
                  <a:srgbClr val="333F4D"/>
                </a:solidFill>
              </a:rPr>
              <a:t>, </a:t>
            </a:r>
            <a:r>
              <a:rPr sz="1600" b="0" dirty="0" err="1">
                <a:solidFill>
                  <a:srgbClr val="333F4D"/>
                </a:solidFill>
              </a:rPr>
              <a:t>체중</a:t>
            </a:r>
            <a:r>
              <a:rPr sz="1600" b="0" dirty="0">
                <a:solidFill>
                  <a:srgbClr val="333F4D"/>
                </a:solidFill>
              </a:rPr>
              <a:t>) — feature 4개.  Model1 = baseline + </a:t>
            </a:r>
            <a:r>
              <a:rPr sz="1600" b="0" dirty="0" err="1">
                <a:solidFill>
                  <a:srgbClr val="333F4D"/>
                </a:solidFill>
              </a:rPr>
              <a:t>liver_dome</a:t>
            </a:r>
            <a:r>
              <a:rPr sz="1600" b="0" dirty="0">
                <a:solidFill>
                  <a:srgbClr val="333F4D"/>
                </a:solidFill>
              </a:rPr>
              <a:t> ~ pubis </a:t>
            </a:r>
            <a:r>
              <a:rPr sz="1600" b="0" dirty="0" err="1">
                <a:solidFill>
                  <a:srgbClr val="333F4D"/>
                </a:solidFill>
              </a:rPr>
              <a:t>구간</a:t>
            </a:r>
            <a:r>
              <a:rPr sz="1600" b="0" dirty="0">
                <a:solidFill>
                  <a:srgbClr val="333F4D"/>
                </a:solidFill>
              </a:rPr>
              <a:t> VAT </a:t>
            </a:r>
            <a:r>
              <a:rPr sz="1600" b="0" dirty="0" err="1">
                <a:solidFill>
                  <a:srgbClr val="333F4D"/>
                </a:solidFill>
              </a:rPr>
              <a:t>단면적</a:t>
            </a:r>
            <a:r>
              <a:rPr sz="1600" b="0" dirty="0">
                <a:solidFill>
                  <a:srgbClr val="333F4D"/>
                </a:solidFill>
              </a:rPr>
              <a:t> 합 — feature 5개</a:t>
            </a:r>
          </a:p>
          <a:p>
            <a:r>
              <a:rPr sz="1600" b="0" dirty="0">
                <a:solidFill>
                  <a:srgbClr val="333F4D"/>
                </a:solidFill>
              </a:rPr>
              <a:t>Model2~ = Model1 + 12개 anchor(</a:t>
            </a:r>
            <a:r>
              <a:rPr sz="1600" b="0" dirty="0" err="1">
                <a:solidFill>
                  <a:srgbClr val="333F4D"/>
                </a:solidFill>
              </a:rPr>
              <a:t>liver_dome</a:t>
            </a:r>
            <a:r>
              <a:rPr sz="1600" b="0" dirty="0">
                <a:solidFill>
                  <a:srgbClr val="333F4D"/>
                </a:solidFill>
              </a:rPr>
              <a:t>, T10~T12, L1~L5, S1, </a:t>
            </a:r>
            <a:r>
              <a:rPr sz="1600" b="0" dirty="0" err="1">
                <a:solidFill>
                  <a:srgbClr val="333F4D"/>
                </a:solidFill>
              </a:rPr>
              <a:t>femoral_head</a:t>
            </a:r>
            <a:r>
              <a:rPr sz="1600" b="0" dirty="0">
                <a:solidFill>
                  <a:srgbClr val="333F4D"/>
                </a:solidFill>
              </a:rPr>
              <a:t>, pubis)의 </a:t>
            </a:r>
            <a:r>
              <a:rPr sz="1600" b="0" dirty="0" err="1">
                <a:solidFill>
                  <a:srgbClr val="333F4D"/>
                </a:solidFill>
              </a:rPr>
              <a:t>체성분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단면</a:t>
            </a:r>
            <a:r>
              <a:rPr sz="1600" b="0" dirty="0">
                <a:solidFill>
                  <a:srgbClr val="333F4D"/>
                </a:solidFill>
              </a:rPr>
              <a:t> 값(cm²). </a:t>
            </a:r>
            <a:r>
              <a:rPr sz="1600" b="0" dirty="0" err="1">
                <a:solidFill>
                  <a:srgbClr val="333F4D"/>
                </a:solidFill>
              </a:rPr>
              <a:t>조직은</a:t>
            </a:r>
            <a:r>
              <a:rPr sz="1600" b="0" dirty="0">
                <a:solidFill>
                  <a:srgbClr val="333F4D"/>
                </a:solidFill>
              </a:rPr>
              <a:t> VAT, SAT, TAMA(</a:t>
            </a:r>
            <a:r>
              <a:rPr sz="1600" b="0" dirty="0" err="1">
                <a:solidFill>
                  <a:srgbClr val="333F4D"/>
                </a:solidFill>
              </a:rPr>
              <a:t>근육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전체</a:t>
            </a:r>
            <a:r>
              <a:rPr sz="1600" b="0" dirty="0">
                <a:solidFill>
                  <a:srgbClr val="333F4D"/>
                </a:solidFill>
              </a:rPr>
              <a:t>) 3종, </a:t>
            </a:r>
            <a:r>
              <a:rPr sz="1600" b="0" dirty="0" err="1">
                <a:solidFill>
                  <a:srgbClr val="333F4D"/>
                </a:solidFill>
              </a:rPr>
              <a:t>VAT@pubis는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항상</a:t>
            </a:r>
            <a:r>
              <a:rPr sz="1600" b="0" dirty="0">
                <a:solidFill>
                  <a:srgbClr val="333F4D"/>
                </a:solidFill>
              </a:rPr>
              <a:t> 0이라 </a:t>
            </a:r>
            <a:r>
              <a:rPr sz="1600" b="0" dirty="0" err="1">
                <a:solidFill>
                  <a:srgbClr val="333F4D"/>
                </a:solidFill>
              </a:rPr>
              <a:t>제외</a:t>
            </a:r>
            <a:r>
              <a:rPr sz="1600" b="0" dirty="0">
                <a:solidFill>
                  <a:srgbClr val="333F4D"/>
                </a:solidFill>
              </a:rPr>
              <a:t> → </a:t>
            </a:r>
            <a:r>
              <a:rPr sz="1600" b="0" dirty="0" err="1">
                <a:solidFill>
                  <a:srgbClr val="333F4D"/>
                </a:solidFill>
              </a:rPr>
              <a:t>후보</a:t>
            </a:r>
            <a:r>
              <a:rPr sz="1600" b="0" dirty="0">
                <a:solidFill>
                  <a:srgbClr val="333F4D"/>
                </a:solidFill>
              </a:rPr>
              <a:t> 35개</a:t>
            </a:r>
          </a:p>
          <a:p>
            <a:r>
              <a:rPr sz="1600" b="0" dirty="0" err="1">
                <a:solidFill>
                  <a:srgbClr val="333F4D"/>
                </a:solidFill>
              </a:rPr>
              <a:t>내부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평가</a:t>
            </a:r>
            <a:r>
              <a:rPr sz="1600" b="0" dirty="0">
                <a:solidFill>
                  <a:srgbClr val="333F4D"/>
                </a:solidFill>
              </a:rPr>
              <a:t>: </a:t>
            </a:r>
            <a:r>
              <a:rPr sz="1600" b="0" dirty="0" err="1">
                <a:solidFill>
                  <a:srgbClr val="333F4D"/>
                </a:solidFill>
              </a:rPr>
              <a:t>gangnam</a:t>
            </a:r>
            <a:r>
              <a:rPr sz="1600" b="0" dirty="0">
                <a:solidFill>
                  <a:srgbClr val="333F4D"/>
                </a:solidFill>
              </a:rPr>
              <a:t> 1:1 </a:t>
            </a:r>
            <a:r>
              <a:rPr sz="1600" b="0" dirty="0" err="1">
                <a:solidFill>
                  <a:srgbClr val="333F4D"/>
                </a:solidFill>
              </a:rPr>
              <a:t>언더샘플링</a:t>
            </a:r>
            <a:r>
              <a:rPr sz="1600" b="0" dirty="0">
                <a:solidFill>
                  <a:srgbClr val="333F4D"/>
                </a:solidFill>
              </a:rPr>
              <a:t> 후 train / valid / test = 7 / 1 / 2 hold-out (</a:t>
            </a:r>
            <a:r>
              <a:rPr sz="1600" b="0" dirty="0" err="1">
                <a:solidFill>
                  <a:srgbClr val="333F4D"/>
                </a:solidFill>
              </a:rPr>
              <a:t>valid로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GridSearchCV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튜닝</a:t>
            </a:r>
            <a:r>
              <a:rPr sz="1600" b="0" dirty="0">
                <a:solidFill>
                  <a:srgbClr val="333F4D"/>
                </a:solidFill>
              </a:rPr>
              <a:t>, test AUC </a:t>
            </a:r>
            <a:r>
              <a:rPr sz="1600" b="0" dirty="0" err="1">
                <a:solidFill>
                  <a:srgbClr val="333F4D"/>
                </a:solidFill>
              </a:rPr>
              <a:t>보고</a:t>
            </a:r>
            <a:r>
              <a:rPr sz="1600" b="0" dirty="0">
                <a:solidFill>
                  <a:srgbClr val="333F4D"/>
                </a:solidFill>
              </a:rPr>
              <a:t>). </a:t>
            </a:r>
            <a:r>
              <a:rPr sz="1600" b="0" dirty="0" err="1">
                <a:solidFill>
                  <a:srgbClr val="333F4D"/>
                </a:solidFill>
              </a:rPr>
              <a:t>외부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평가</a:t>
            </a:r>
            <a:r>
              <a:rPr sz="1600" b="0" dirty="0">
                <a:solidFill>
                  <a:srgbClr val="333F4D"/>
                </a:solidFill>
              </a:rPr>
              <a:t>: </a:t>
            </a:r>
            <a:r>
              <a:rPr sz="1600" b="0" dirty="0" err="1">
                <a:solidFill>
                  <a:srgbClr val="333F4D"/>
                </a:solidFill>
              </a:rPr>
              <a:t>train+valid로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재학습한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모델을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sinchon</a:t>
            </a:r>
            <a:r>
              <a:rPr sz="1600" b="0" dirty="0">
                <a:solidFill>
                  <a:srgbClr val="333F4D"/>
                </a:solidFill>
              </a:rPr>
              <a:t>(1:1 </a:t>
            </a:r>
            <a:r>
              <a:rPr sz="1600" b="0" dirty="0" err="1">
                <a:solidFill>
                  <a:srgbClr val="333F4D"/>
                </a:solidFill>
              </a:rPr>
              <a:t>균형</a:t>
            </a:r>
            <a:r>
              <a:rPr sz="1600" b="0" dirty="0">
                <a:solidFill>
                  <a:srgbClr val="333F4D"/>
                </a:solidFill>
              </a:rPr>
              <a:t>)에 </a:t>
            </a:r>
            <a:r>
              <a:rPr sz="1600" b="0" dirty="0" err="1">
                <a:solidFill>
                  <a:srgbClr val="333F4D"/>
                </a:solidFill>
              </a:rPr>
              <a:t>적용</a:t>
            </a:r>
            <a:endParaRPr sz="1600" b="0" dirty="0">
              <a:solidFill>
                <a:srgbClr val="333F4D"/>
              </a:solidFill>
            </a:endParaRPr>
          </a:p>
          <a:p>
            <a:r>
              <a:rPr sz="1600" b="0" dirty="0" err="1">
                <a:solidFill>
                  <a:srgbClr val="333F4D"/>
                </a:solidFill>
              </a:rPr>
              <a:t>test가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작아</a:t>
            </a:r>
            <a:r>
              <a:rPr sz="1600" b="0" dirty="0">
                <a:solidFill>
                  <a:srgbClr val="333F4D"/>
                </a:solidFill>
              </a:rPr>
              <a:t>(HTN 188 / DM 117 / CKD 54명) </a:t>
            </a:r>
            <a:r>
              <a:rPr sz="1600" b="0" dirty="0" err="1">
                <a:solidFill>
                  <a:srgbClr val="333F4D"/>
                </a:solidFill>
              </a:rPr>
              <a:t>내부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AUC의</a:t>
            </a:r>
            <a:r>
              <a:rPr sz="1600" b="0" dirty="0">
                <a:solidFill>
                  <a:srgbClr val="333F4D"/>
                </a:solidFill>
              </a:rPr>
              <a:t> 95% CI </a:t>
            </a:r>
            <a:r>
              <a:rPr sz="1600" b="0" dirty="0" err="1">
                <a:solidFill>
                  <a:srgbClr val="333F4D"/>
                </a:solidFill>
              </a:rPr>
              <a:t>폭이</a:t>
            </a:r>
            <a:r>
              <a:rPr sz="1600" b="0" dirty="0">
                <a:solidFill>
                  <a:srgbClr val="333F4D"/>
                </a:solidFill>
              </a:rPr>
              <a:t> 큼 (Model1: HTN 0.67~0.82, DM 0.53~0.73, CKD 0.73~0.93). </a:t>
            </a:r>
            <a:r>
              <a:rPr sz="1600" b="0" dirty="0" err="1">
                <a:solidFill>
                  <a:srgbClr val="333F4D"/>
                </a:solidFill>
              </a:rPr>
              <a:t>모델</a:t>
            </a:r>
            <a:r>
              <a:rPr sz="1600" b="0" dirty="0">
                <a:solidFill>
                  <a:srgbClr val="333F4D"/>
                </a:solidFill>
              </a:rPr>
              <a:t> 간 </a:t>
            </a:r>
            <a:r>
              <a:rPr sz="1600" b="0" dirty="0" err="1">
                <a:solidFill>
                  <a:srgbClr val="333F4D"/>
                </a:solidFill>
              </a:rPr>
              <a:t>비교는</a:t>
            </a:r>
            <a:r>
              <a:rPr sz="1600" b="0" dirty="0">
                <a:solidFill>
                  <a:srgbClr val="333F4D"/>
                </a:solidFill>
              </a:rPr>
              <a:t> paired DeLong(BH-FDR)</a:t>
            </a:r>
          </a:p>
          <a:p>
            <a:r>
              <a:rPr sz="1600" b="0" dirty="0" err="1">
                <a:solidFill>
                  <a:srgbClr val="333F4D"/>
                </a:solidFill>
              </a:rPr>
              <a:t>연관성</a:t>
            </a:r>
            <a:r>
              <a:rPr sz="1600" b="0" dirty="0">
                <a:solidFill>
                  <a:srgbClr val="333F4D"/>
                </a:solidFill>
              </a:rPr>
              <a:t>: </a:t>
            </a:r>
            <a:r>
              <a:rPr sz="1600" b="0" dirty="0" err="1">
                <a:solidFill>
                  <a:srgbClr val="333F4D"/>
                </a:solidFill>
              </a:rPr>
              <a:t>전체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코호트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로지스틱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회귀</a:t>
            </a:r>
            <a:r>
              <a:rPr sz="1600" b="0" dirty="0">
                <a:solidFill>
                  <a:srgbClr val="333F4D"/>
                </a:solidFill>
              </a:rPr>
              <a:t> +1SD당 OR (clinic4 + VAT 합 </a:t>
            </a:r>
            <a:r>
              <a:rPr sz="1600" b="0" dirty="0" err="1">
                <a:solidFill>
                  <a:srgbClr val="333F4D"/>
                </a:solidFill>
              </a:rPr>
              <a:t>보정</a:t>
            </a:r>
            <a:r>
              <a:rPr sz="1600" b="0" dirty="0">
                <a:solidFill>
                  <a:srgbClr val="333F4D"/>
                </a:solidFill>
              </a:rPr>
              <a:t>). </a:t>
            </a:r>
            <a:r>
              <a:rPr sz="1600" b="0" dirty="0" err="1">
                <a:solidFill>
                  <a:srgbClr val="333F4D"/>
                </a:solidFill>
              </a:rPr>
              <a:t>단면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데이터라</a:t>
            </a:r>
            <a:r>
              <a:rPr sz="1600" b="0" dirty="0">
                <a:solidFill>
                  <a:srgbClr val="333F4D"/>
                </a:solidFill>
              </a:rPr>
              <a:t> HR/</a:t>
            </a:r>
            <a:r>
              <a:rPr sz="1600" b="0" dirty="0" err="1">
                <a:solidFill>
                  <a:srgbClr val="333F4D"/>
                </a:solidFill>
              </a:rPr>
              <a:t>RR은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산출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불가</a:t>
            </a:r>
            <a:endParaRPr sz="1600" b="0" dirty="0">
              <a:solidFill>
                <a:srgbClr val="333F4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Feature Extraction: Sample Patient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0" y="1050000"/>
            <a:ext cx="5334000" cy="5300000"/>
          </a:xfrm>
        </p:spPr>
        <p:txBody>
          <a:bodyPr/>
          <a:lstStyle/>
          <a:p>
            <a:r>
              <a:rPr sz="1600" b="0" dirty="0" err="1">
                <a:solidFill>
                  <a:srgbClr val="333F4D"/>
                </a:solidFill>
              </a:rPr>
              <a:t>CT를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자동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분할해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조직</a:t>
            </a:r>
            <a:r>
              <a:rPr sz="1600" b="0" dirty="0">
                <a:solidFill>
                  <a:srgbClr val="333F4D"/>
                </a:solidFill>
              </a:rPr>
              <a:t>(SAT, VAT, </a:t>
            </a:r>
            <a:r>
              <a:rPr sz="1600" b="0" dirty="0" err="1">
                <a:solidFill>
                  <a:srgbClr val="333F4D"/>
                </a:solidFill>
              </a:rPr>
              <a:t>근육</a:t>
            </a:r>
            <a:r>
              <a:rPr sz="1600" b="0" dirty="0">
                <a:solidFill>
                  <a:srgbClr val="333F4D"/>
                </a:solidFill>
              </a:rPr>
              <a:t>)을 </a:t>
            </a:r>
            <a:r>
              <a:rPr sz="1600" b="0" dirty="0" err="1">
                <a:solidFill>
                  <a:srgbClr val="333F4D"/>
                </a:solidFill>
              </a:rPr>
              <a:t>구분</a:t>
            </a:r>
            <a:r>
              <a:rPr sz="1600" b="0" dirty="0">
                <a:solidFill>
                  <a:srgbClr val="333F4D"/>
                </a:solidFill>
              </a:rPr>
              <a:t> — </a:t>
            </a:r>
            <a:r>
              <a:rPr sz="1600" b="0" dirty="0" err="1">
                <a:solidFill>
                  <a:srgbClr val="333F4D"/>
                </a:solidFill>
              </a:rPr>
              <a:t>리포트는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근육을</a:t>
            </a:r>
            <a:r>
              <a:rPr sz="1600" b="0" dirty="0">
                <a:solidFill>
                  <a:srgbClr val="333F4D"/>
                </a:solidFill>
              </a:rPr>
              <a:t> NAMA/LAMA/</a:t>
            </a:r>
            <a:r>
              <a:rPr sz="1600" b="0" dirty="0" err="1">
                <a:solidFill>
                  <a:srgbClr val="333F4D"/>
                </a:solidFill>
              </a:rPr>
              <a:t>IMATA로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나눠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표시</a:t>
            </a:r>
            <a:r>
              <a:rPr sz="1600" b="0" dirty="0">
                <a:solidFill>
                  <a:srgbClr val="333F4D"/>
                </a:solidFill>
              </a:rPr>
              <a:t>, </a:t>
            </a:r>
            <a:r>
              <a:rPr sz="1600" b="0" dirty="0" err="1">
                <a:solidFill>
                  <a:srgbClr val="333F4D"/>
                </a:solidFill>
              </a:rPr>
              <a:t>분석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데이터는</a:t>
            </a:r>
            <a:r>
              <a:rPr sz="1600" b="0" dirty="0">
                <a:solidFill>
                  <a:srgbClr val="333F4D"/>
                </a:solidFill>
              </a:rPr>
              <a:t> 합(TAMA)을 </a:t>
            </a:r>
            <a:r>
              <a:rPr sz="1600" b="0" dirty="0" err="1">
                <a:solidFill>
                  <a:srgbClr val="333F4D"/>
                </a:solidFill>
              </a:rPr>
              <a:t>사용</a:t>
            </a:r>
            <a:endParaRPr sz="1600" b="0" dirty="0">
              <a:solidFill>
                <a:srgbClr val="333F4D"/>
              </a:solidFill>
            </a:endParaRPr>
          </a:p>
          <a:p>
            <a:r>
              <a:rPr sz="1600" b="0" dirty="0">
                <a:solidFill>
                  <a:srgbClr val="333F4D"/>
                </a:solidFill>
              </a:rPr>
              <a:t>12개 anchor </a:t>
            </a:r>
            <a:r>
              <a:rPr sz="1600" b="0" dirty="0" err="1">
                <a:solidFill>
                  <a:srgbClr val="333F4D"/>
                </a:solidFill>
              </a:rPr>
              <a:t>위치의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단면에서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조직별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면적</a:t>
            </a:r>
            <a:r>
              <a:rPr sz="1600" b="0" dirty="0">
                <a:solidFill>
                  <a:srgbClr val="333F4D"/>
                </a:solidFill>
              </a:rPr>
              <a:t>(cm²)을 </a:t>
            </a:r>
            <a:r>
              <a:rPr sz="1600" b="0" dirty="0" err="1">
                <a:solidFill>
                  <a:srgbClr val="333F4D"/>
                </a:solidFill>
              </a:rPr>
              <a:t>추출</a:t>
            </a:r>
            <a:r>
              <a:rPr sz="1600" b="0" dirty="0">
                <a:solidFill>
                  <a:srgbClr val="333F4D"/>
                </a:solidFill>
              </a:rPr>
              <a:t> → 이 </a:t>
            </a:r>
            <a:r>
              <a:rPr sz="1600" b="0" dirty="0" err="1">
                <a:solidFill>
                  <a:srgbClr val="333F4D"/>
                </a:solidFill>
              </a:rPr>
              <a:t>값이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분석의</a:t>
            </a:r>
            <a:r>
              <a:rPr sz="1600" b="0" dirty="0">
                <a:solidFill>
                  <a:srgbClr val="333F4D"/>
                </a:solidFill>
              </a:rPr>
              <a:t> feature</a:t>
            </a:r>
          </a:p>
          <a:p>
            <a:r>
              <a:rPr sz="1600" b="0" dirty="0" err="1">
                <a:solidFill>
                  <a:srgbClr val="333F4D"/>
                </a:solidFill>
              </a:rPr>
              <a:t>내장지방</a:t>
            </a:r>
            <a:r>
              <a:rPr sz="1600" b="0" dirty="0">
                <a:solidFill>
                  <a:srgbClr val="333F4D"/>
                </a:solidFill>
              </a:rPr>
              <a:t> 합(Model1) = </a:t>
            </a:r>
            <a:r>
              <a:rPr sz="1600" b="0" dirty="0" err="1">
                <a:solidFill>
                  <a:srgbClr val="333F4D"/>
                </a:solidFill>
              </a:rPr>
              <a:t>liver_dome</a:t>
            </a:r>
            <a:r>
              <a:rPr sz="1600" b="0" dirty="0">
                <a:solidFill>
                  <a:srgbClr val="333F4D"/>
                </a:solidFill>
              </a:rPr>
              <a:t> ~ pubis </a:t>
            </a:r>
            <a:r>
              <a:rPr sz="1600" b="0" dirty="0" err="1">
                <a:solidFill>
                  <a:srgbClr val="333F4D"/>
                </a:solidFill>
              </a:rPr>
              <a:t>구간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모든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slice의</a:t>
            </a:r>
            <a:r>
              <a:rPr sz="1600" b="0" dirty="0">
                <a:solidFill>
                  <a:srgbClr val="333F4D"/>
                </a:solidFill>
              </a:rPr>
              <a:t> VAT </a:t>
            </a:r>
            <a:r>
              <a:rPr sz="1600" b="0" dirty="0" err="1">
                <a:solidFill>
                  <a:srgbClr val="333F4D"/>
                </a:solidFill>
              </a:rPr>
              <a:t>면적</a:t>
            </a:r>
            <a:r>
              <a:rPr sz="1600" b="0" dirty="0">
                <a:solidFill>
                  <a:srgbClr val="333F4D"/>
                </a:solidFill>
              </a:rPr>
              <a:t> 합</a:t>
            </a:r>
          </a:p>
          <a:p>
            <a:r>
              <a:rPr sz="1600" b="0" dirty="0" err="1">
                <a:solidFill>
                  <a:srgbClr val="333F4D"/>
                </a:solidFill>
              </a:rPr>
              <a:t>확인</a:t>
            </a:r>
            <a:r>
              <a:rPr sz="1600" b="0" dirty="0">
                <a:solidFill>
                  <a:srgbClr val="333F4D"/>
                </a:solidFill>
              </a:rPr>
              <a:t>: </a:t>
            </a:r>
            <a:r>
              <a:rPr sz="1600" b="0" dirty="0" err="1">
                <a:solidFill>
                  <a:srgbClr val="333F4D"/>
                </a:solidFill>
              </a:rPr>
              <a:t>샘플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환자</a:t>
            </a:r>
            <a:r>
              <a:rPr sz="1600" b="0" dirty="0">
                <a:solidFill>
                  <a:srgbClr val="333F4D"/>
                </a:solidFill>
              </a:rPr>
              <a:t>(ID 864318)의 </a:t>
            </a:r>
            <a:r>
              <a:rPr sz="1600" b="0" dirty="0" err="1">
                <a:solidFill>
                  <a:srgbClr val="333F4D"/>
                </a:solidFill>
              </a:rPr>
              <a:t>리포트와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분석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데이터를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대조</a:t>
            </a:r>
            <a:r>
              <a:rPr sz="1600" b="0" dirty="0">
                <a:solidFill>
                  <a:srgbClr val="333F4D"/>
                </a:solidFill>
              </a:rPr>
              <a:t> → VAT·SAT 24개 </a:t>
            </a:r>
            <a:r>
              <a:rPr sz="1600" b="0" dirty="0" err="1">
                <a:solidFill>
                  <a:srgbClr val="333F4D"/>
                </a:solidFill>
              </a:rPr>
              <a:t>값과</a:t>
            </a:r>
            <a:r>
              <a:rPr sz="1600" b="0" dirty="0">
                <a:solidFill>
                  <a:srgbClr val="333F4D"/>
                </a:solidFill>
              </a:rPr>
              <a:t> slice </a:t>
            </a:r>
            <a:r>
              <a:rPr sz="1600" b="0" dirty="0" err="1">
                <a:solidFill>
                  <a:srgbClr val="333F4D"/>
                </a:solidFill>
              </a:rPr>
              <a:t>번호가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일치</a:t>
            </a:r>
            <a:r>
              <a:rPr sz="1600" b="0" dirty="0">
                <a:solidFill>
                  <a:srgbClr val="333F4D"/>
                </a:solidFill>
              </a:rPr>
              <a:t>, </a:t>
            </a:r>
            <a:r>
              <a:rPr sz="1600" b="0" dirty="0" err="1">
                <a:solidFill>
                  <a:srgbClr val="333F4D"/>
                </a:solidFill>
              </a:rPr>
              <a:t>TAMA는</a:t>
            </a:r>
            <a:r>
              <a:rPr sz="1600" b="0" dirty="0">
                <a:solidFill>
                  <a:srgbClr val="333F4D"/>
                </a:solidFill>
              </a:rPr>
              <a:t> 12개 anchor </a:t>
            </a:r>
            <a:r>
              <a:rPr sz="1600" b="0" dirty="0" err="1">
                <a:solidFill>
                  <a:srgbClr val="333F4D"/>
                </a:solidFill>
              </a:rPr>
              <a:t>모두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리포트의</a:t>
            </a:r>
            <a:r>
              <a:rPr sz="1600" b="0" dirty="0">
                <a:solidFill>
                  <a:srgbClr val="333F4D"/>
                </a:solidFill>
              </a:rPr>
              <a:t> NAMA+LAMA+IMATA </a:t>
            </a:r>
            <a:r>
              <a:rPr sz="1600" b="0" dirty="0" err="1">
                <a:solidFill>
                  <a:srgbClr val="333F4D"/>
                </a:solidFill>
              </a:rPr>
              <a:t>합과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일치</a:t>
            </a:r>
            <a:r>
              <a:rPr sz="1600" b="0" dirty="0">
                <a:solidFill>
                  <a:srgbClr val="333F4D"/>
                </a:solidFill>
              </a:rPr>
              <a:t> (</a:t>
            </a:r>
            <a:r>
              <a:rPr sz="1600" b="0" dirty="0" err="1">
                <a:solidFill>
                  <a:srgbClr val="333F4D"/>
                </a:solidFill>
              </a:rPr>
              <a:t>소수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둘째</a:t>
            </a:r>
            <a:r>
              <a:rPr sz="1600" b="0" dirty="0">
                <a:solidFill>
                  <a:srgbClr val="333F4D"/>
                </a:solidFill>
              </a:rPr>
              <a:t> </a:t>
            </a:r>
            <a:r>
              <a:rPr sz="1600" b="0" dirty="0" err="1">
                <a:solidFill>
                  <a:srgbClr val="333F4D"/>
                </a:solidFill>
              </a:rPr>
              <a:t>자리까지</a:t>
            </a:r>
            <a:r>
              <a:rPr sz="1600" b="0" dirty="0">
                <a:solidFill>
                  <a:srgbClr val="333F4D"/>
                </a:solidFill>
              </a:rPr>
              <a:t>)</a:t>
            </a:r>
          </a:p>
          <a:p>
            <a:r>
              <a:rPr sz="1600" b="0" dirty="0">
                <a:solidFill>
                  <a:srgbClr val="333F4D"/>
                </a:solidFill>
              </a:rPr>
              <a:t>예) L3 (slice 73): VAT 139.27, SAT 181.30, TAMA 79.76 (= 53.05 + 23.16 + 3.55) cm²</a:t>
            </a:r>
          </a:p>
          <a:p>
            <a:r>
              <a:rPr sz="1600" b="0" dirty="0">
                <a:solidFill>
                  <a:srgbClr val="333F4D"/>
                </a:solidFill>
              </a:rPr>
              <a:t>색: </a:t>
            </a:r>
            <a:r>
              <a:rPr sz="1600" b="0" dirty="0" err="1">
                <a:solidFill>
                  <a:srgbClr val="333F4D"/>
                </a:solidFill>
              </a:rPr>
              <a:t>노랑</a:t>
            </a:r>
            <a:r>
              <a:rPr sz="1600" b="0" dirty="0">
                <a:solidFill>
                  <a:srgbClr val="333F4D"/>
                </a:solidFill>
              </a:rPr>
              <a:t> SAT, </a:t>
            </a:r>
            <a:r>
              <a:rPr sz="1600" b="0" dirty="0" err="1">
                <a:solidFill>
                  <a:srgbClr val="333F4D"/>
                </a:solidFill>
              </a:rPr>
              <a:t>빨강</a:t>
            </a:r>
            <a:r>
              <a:rPr sz="1600" b="0" dirty="0">
                <a:solidFill>
                  <a:srgbClr val="333F4D"/>
                </a:solidFill>
              </a:rPr>
              <a:t> VAT, </a:t>
            </a:r>
            <a:r>
              <a:rPr sz="1600" b="0" dirty="0" err="1">
                <a:solidFill>
                  <a:srgbClr val="333F4D"/>
                </a:solidFill>
              </a:rPr>
              <a:t>파랑</a:t>
            </a:r>
            <a:r>
              <a:rPr sz="1600" b="0" dirty="0">
                <a:solidFill>
                  <a:srgbClr val="333F4D"/>
                </a:solidFill>
              </a:rPr>
              <a:t> NAMA, </a:t>
            </a:r>
            <a:r>
              <a:rPr sz="1600" b="0" dirty="0" err="1">
                <a:solidFill>
                  <a:srgbClr val="333F4D"/>
                </a:solidFill>
              </a:rPr>
              <a:t>하늘</a:t>
            </a:r>
            <a:r>
              <a:rPr sz="1600" b="0" dirty="0">
                <a:solidFill>
                  <a:srgbClr val="333F4D"/>
                </a:solidFill>
              </a:rPr>
              <a:t> LAMA, </a:t>
            </a:r>
            <a:r>
              <a:rPr sz="1600" b="0" dirty="0" err="1">
                <a:solidFill>
                  <a:srgbClr val="333F4D"/>
                </a:solidFill>
              </a:rPr>
              <a:t>초록</a:t>
            </a:r>
            <a:r>
              <a:rPr sz="1600" b="0" dirty="0">
                <a:solidFill>
                  <a:srgbClr val="333F4D"/>
                </a:solidFill>
              </a:rPr>
              <a:t> IMATA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8" name="Picture 7" descr="landmark_report_sample_8643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000000"/>
            <a:ext cx="5641026" cy="55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Table 1. Anchor Values Add Little AUC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250000"/>
          </a:xfrm>
        </p:spPr>
        <p:txBody>
          <a:bodyPr/>
          <a:lstStyle/>
          <a:p>
            <a:r>
              <a:rPr sz="1800" b="0" dirty="0">
                <a:solidFill>
                  <a:srgbClr val="333F4D"/>
                </a:solidFill>
              </a:rPr>
              <a:t>12 anchor </a:t>
            </a:r>
            <a:r>
              <a:rPr sz="1800" b="0" dirty="0" err="1">
                <a:solidFill>
                  <a:srgbClr val="333F4D"/>
                </a:solidFill>
              </a:rPr>
              <a:t>값을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더해도</a:t>
            </a:r>
            <a:r>
              <a:rPr sz="1800" b="0" dirty="0">
                <a:solidFill>
                  <a:srgbClr val="333F4D"/>
                </a:solidFill>
              </a:rPr>
              <a:t> Model1 </a:t>
            </a:r>
            <a:r>
              <a:rPr sz="1800" b="0" dirty="0" err="1">
                <a:solidFill>
                  <a:srgbClr val="333F4D"/>
                </a:solidFill>
              </a:rPr>
              <a:t>대비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일관된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향상이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없음</a:t>
            </a:r>
            <a:r>
              <a:rPr sz="1800" b="0" dirty="0">
                <a:solidFill>
                  <a:srgbClr val="333F4D"/>
                </a:solidFill>
              </a:rPr>
              <a:t>: </a:t>
            </a:r>
            <a:r>
              <a:rPr sz="1800" b="0" dirty="0" err="1">
                <a:solidFill>
                  <a:srgbClr val="333F4D"/>
                </a:solidFill>
              </a:rPr>
              <a:t>HTN은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외부</a:t>
            </a:r>
            <a:r>
              <a:rPr sz="1800" b="0" dirty="0">
                <a:solidFill>
                  <a:srgbClr val="333F4D"/>
                </a:solidFill>
              </a:rPr>
              <a:t> +0.005 </a:t>
            </a:r>
            <a:r>
              <a:rPr sz="1800" b="0" dirty="0" err="1">
                <a:solidFill>
                  <a:srgbClr val="333F4D"/>
                </a:solidFill>
              </a:rPr>
              <a:t>이내</a:t>
            </a:r>
            <a:r>
              <a:rPr sz="1800" b="0" dirty="0">
                <a:solidFill>
                  <a:srgbClr val="333F4D"/>
                </a:solidFill>
              </a:rPr>
              <a:t>, </a:t>
            </a:r>
            <a:r>
              <a:rPr sz="1800" b="0" dirty="0" err="1">
                <a:solidFill>
                  <a:srgbClr val="333F4D"/>
                </a:solidFill>
              </a:rPr>
              <a:t>DM은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내부만</a:t>
            </a:r>
            <a:r>
              <a:rPr sz="1800" b="0" dirty="0">
                <a:solidFill>
                  <a:srgbClr val="333F4D"/>
                </a:solidFill>
              </a:rPr>
              <a:t> +0.01~0.07(test 117명, </a:t>
            </a:r>
            <a:r>
              <a:rPr sz="1800" b="0" dirty="0" err="1">
                <a:solidFill>
                  <a:srgbClr val="333F4D"/>
                </a:solidFill>
              </a:rPr>
              <a:t>노이즈</a:t>
            </a:r>
            <a:r>
              <a:rPr sz="1800" b="0" dirty="0">
                <a:solidFill>
                  <a:srgbClr val="333F4D"/>
                </a:solidFill>
              </a:rPr>
              <a:t>)</a:t>
            </a:r>
            <a:r>
              <a:rPr sz="1800" b="0" dirty="0" err="1">
                <a:solidFill>
                  <a:srgbClr val="333F4D"/>
                </a:solidFill>
              </a:rPr>
              <a:t>이고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외부는</a:t>
            </a:r>
            <a:r>
              <a:rPr sz="1800" b="0" dirty="0">
                <a:solidFill>
                  <a:srgbClr val="333F4D"/>
                </a:solidFill>
              </a:rPr>
              <a:t> ±0.015 </a:t>
            </a:r>
            <a:r>
              <a:rPr sz="1800" b="0" dirty="0" err="1">
                <a:solidFill>
                  <a:srgbClr val="333F4D"/>
                </a:solidFill>
              </a:rPr>
              <a:t>이내</a:t>
            </a:r>
            <a:r>
              <a:rPr sz="1800" b="0" dirty="0">
                <a:solidFill>
                  <a:srgbClr val="333F4D"/>
                </a:solidFill>
              </a:rPr>
              <a:t>, </a:t>
            </a:r>
            <a:r>
              <a:rPr sz="1800" b="0" dirty="0" err="1">
                <a:solidFill>
                  <a:srgbClr val="333F4D"/>
                </a:solidFill>
              </a:rPr>
              <a:t>CKD는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내부·외부가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엇갈림</a:t>
            </a:r>
            <a:r>
              <a:rPr sz="1800" b="0" dirty="0">
                <a:solidFill>
                  <a:srgbClr val="333F4D"/>
                </a:solidFill>
              </a:rPr>
              <a:t>. FDR 후 </a:t>
            </a:r>
            <a:r>
              <a:rPr sz="1800" b="0" dirty="0" err="1">
                <a:solidFill>
                  <a:srgbClr val="333F4D"/>
                </a:solidFill>
              </a:rPr>
              <a:t>유의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모델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없음</a:t>
            </a:r>
            <a:endParaRPr sz="1800" b="0" dirty="0">
              <a:solidFill>
                <a:srgbClr val="333F4D"/>
              </a:solidFill>
            </a:endParaRPr>
          </a:p>
          <a:p>
            <a:r>
              <a:rPr sz="1800" b="0" dirty="0">
                <a:solidFill>
                  <a:srgbClr val="333F4D"/>
                </a:solidFill>
              </a:rPr>
              <a:t>Int = </a:t>
            </a:r>
            <a:r>
              <a:rPr sz="1800" b="0" dirty="0" err="1">
                <a:solidFill>
                  <a:srgbClr val="333F4D"/>
                </a:solidFill>
              </a:rPr>
              <a:t>gangnam</a:t>
            </a:r>
            <a:r>
              <a:rPr sz="1800" b="0" dirty="0">
                <a:solidFill>
                  <a:srgbClr val="333F4D"/>
                </a:solidFill>
              </a:rPr>
              <a:t> hold-out test AUC, Ext = </a:t>
            </a:r>
            <a:r>
              <a:rPr sz="1800" b="0" dirty="0" err="1">
                <a:solidFill>
                  <a:srgbClr val="333F4D"/>
                </a:solidFill>
              </a:rPr>
              <a:t>sinchon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외부</a:t>
            </a:r>
            <a:r>
              <a:rPr sz="1800" b="0" dirty="0">
                <a:solidFill>
                  <a:srgbClr val="333F4D"/>
                </a:solidFill>
              </a:rPr>
              <a:t> AUC, # Feat = clinic4 4개 </a:t>
            </a:r>
            <a:r>
              <a:rPr sz="1800" b="0" dirty="0" err="1">
                <a:solidFill>
                  <a:srgbClr val="333F4D"/>
                </a:solidFill>
              </a:rPr>
              <a:t>포함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입력</a:t>
            </a:r>
            <a:r>
              <a:rPr sz="1800" b="0" dirty="0">
                <a:solidFill>
                  <a:srgbClr val="333F4D"/>
                </a:solidFill>
              </a:rPr>
              <a:t> feature </a:t>
            </a:r>
            <a:r>
              <a:rPr sz="1800" b="0" dirty="0" err="1">
                <a:solidFill>
                  <a:srgbClr val="333F4D"/>
                </a:solidFill>
              </a:rPr>
              <a:t>총개수</a:t>
            </a:r>
            <a:endParaRPr sz="1800" b="0" dirty="0">
              <a:solidFill>
                <a:srgbClr val="333F4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172373"/>
              </p:ext>
            </p:extLst>
          </p:nvPr>
        </p:nvGraphicFramePr>
        <p:xfrm>
          <a:off x="508000" y="2877383"/>
          <a:ext cx="11175997" cy="3500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653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7500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# Feat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HTN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HTN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DM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DM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CKD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CKD 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5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 (clinic4)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5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Model1 (+VAT 합)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5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 @12 anchors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5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+SAT @12 anchors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5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+TAMA @12 anchors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75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+VAT,SAT @12 anchors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75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+VAT,SAT,TAMA @12 anchors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Table 2. Associations Replicate Mainly for 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25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두 코호트에서 모두 유의하고 방향이 같은 단일 값 5개: DM의 SAT@femoral_head(0.70/0.67)·TAMA@femoral_head(0.73/0.69)·SAT@pubis·SAT@L4, CKD의 SAT@S1(0.71/0.69). HTN은 없음</a:t>
            </a:r>
          </a:p>
          <a:p>
            <a:r>
              <a:rPr sz="1800" b="0">
                <a:solidFill>
                  <a:srgbClr val="333F4D"/>
                </a:solidFill>
              </a:rPr>
              <a:t>OR = +1SD당, clinic4 + VAT 합 보정, anchor를 하나씩 투입 (35개 값은 서로 상관이 커서 동시 투입 OR은 불안정)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810450"/>
              </p:ext>
            </p:extLst>
          </p:nvPr>
        </p:nvGraphicFramePr>
        <p:xfrm>
          <a:off x="508000" y="2866936"/>
          <a:ext cx="11175997" cy="3500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14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2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2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8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25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18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Gangnam OR (95% CI)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Sinchon OR (95% CI)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VAT 합 (liver~pubis)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1.79 (1.50-2.13)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1.16 (1.00-1.36)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SAT @ femoral_head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0.99 (0.82-1.19)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 (0.67-1.01)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TAMA @ femoral_head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 (0.55-0.86)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 (0.64-1.02)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00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VAT 합 (liver~pubis)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1.50 (1.26-1.79)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1.12 (0.97-1.31)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SAT @ femoral_head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 (0.57-0.87)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 (0.53-0.84)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TAMA @ femoral_head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 (0.58-0.92)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 (0.55-0.88)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000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VAT 합 (liver~pubis)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1.19 (0.96-1.48)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1.35 (1.15-1.59)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SAT @ femoral_head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 (0.55-0.98)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 (0.61-1.05)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TAMA @ femoral_head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 (0.58-1.02)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 (0.61-1.08)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0.151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Figure 1. OR Profile by Anchor and Tissue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6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하부 anchor(L4, femoral_head, pubis)의 SAT·TAMA가 질환과 반대 방향(보호)으로 두 코호트에서 일치하는 값이 DM에 집중 (굵은 테두리 5쌍)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8" name="Picture 7" descr="landmark_o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286" y="2090584"/>
            <a:ext cx="9450713" cy="42957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Table 3. AUC by Number of Selected Values (k)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250000"/>
          </a:xfrm>
        </p:spPr>
        <p:txBody>
          <a:bodyPr>
            <a:normAutofit fontScale="92500" lnSpcReduction="20000"/>
          </a:bodyPr>
          <a:lstStyle/>
          <a:p>
            <a:r>
              <a:rPr sz="1400" b="0" dirty="0" err="1">
                <a:solidFill>
                  <a:srgbClr val="333F4D"/>
                </a:solidFill>
              </a:rPr>
              <a:t>후보</a:t>
            </a:r>
            <a:r>
              <a:rPr sz="1400" b="0" dirty="0">
                <a:solidFill>
                  <a:srgbClr val="333F4D"/>
                </a:solidFill>
              </a:rPr>
              <a:t> 35개 중 </a:t>
            </a:r>
            <a:r>
              <a:rPr sz="1400" b="0" dirty="0" err="1">
                <a:solidFill>
                  <a:srgbClr val="333F4D"/>
                </a:solidFill>
              </a:rPr>
              <a:t>상위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k개를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추가해도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향상이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일관되지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않음</a:t>
            </a:r>
            <a:r>
              <a:rPr sz="1400" b="0" dirty="0">
                <a:solidFill>
                  <a:srgbClr val="333F4D"/>
                </a:solidFill>
              </a:rPr>
              <a:t>: HTN </a:t>
            </a:r>
            <a:r>
              <a:rPr sz="1400" b="0" dirty="0" err="1">
                <a:solidFill>
                  <a:srgbClr val="333F4D"/>
                </a:solidFill>
              </a:rPr>
              <a:t>내부</a:t>
            </a:r>
            <a:r>
              <a:rPr sz="1400" b="0" dirty="0">
                <a:solidFill>
                  <a:srgbClr val="333F4D"/>
                </a:solidFill>
              </a:rPr>
              <a:t> 0~+0.02·외부 ±0.005, DM </a:t>
            </a:r>
            <a:r>
              <a:rPr sz="1400" b="0" dirty="0" err="1">
                <a:solidFill>
                  <a:srgbClr val="333F4D"/>
                </a:solidFill>
              </a:rPr>
              <a:t>내부</a:t>
            </a:r>
            <a:r>
              <a:rPr sz="1400" b="0" dirty="0">
                <a:solidFill>
                  <a:srgbClr val="333F4D"/>
                </a:solidFill>
              </a:rPr>
              <a:t> k≥8에서 +0.05(test 117명) </a:t>
            </a:r>
            <a:r>
              <a:rPr sz="1400" b="0" dirty="0" err="1">
                <a:solidFill>
                  <a:srgbClr val="333F4D"/>
                </a:solidFill>
              </a:rPr>
              <a:t>외부</a:t>
            </a:r>
            <a:r>
              <a:rPr sz="1400" b="0" dirty="0">
                <a:solidFill>
                  <a:srgbClr val="333F4D"/>
                </a:solidFill>
              </a:rPr>
              <a:t> −0.01~+0.02, CKD </a:t>
            </a:r>
            <a:r>
              <a:rPr sz="1400" b="0" dirty="0" err="1">
                <a:solidFill>
                  <a:srgbClr val="333F4D"/>
                </a:solidFill>
              </a:rPr>
              <a:t>내부는</a:t>
            </a:r>
            <a:r>
              <a:rPr sz="1400" b="0" dirty="0">
                <a:solidFill>
                  <a:srgbClr val="333F4D"/>
                </a:solidFill>
              </a:rPr>
              <a:t> −0.03~+0.04로 </a:t>
            </a:r>
            <a:r>
              <a:rPr sz="1400" b="0" dirty="0" err="1">
                <a:solidFill>
                  <a:srgbClr val="333F4D"/>
                </a:solidFill>
              </a:rPr>
              <a:t>출렁임</a:t>
            </a:r>
            <a:r>
              <a:rPr sz="1400" b="0" dirty="0">
                <a:solidFill>
                  <a:srgbClr val="333F4D"/>
                </a:solidFill>
              </a:rPr>
              <a:t>(test 54명)</a:t>
            </a:r>
          </a:p>
          <a:p>
            <a:r>
              <a:rPr sz="1400" b="0" dirty="0" err="1">
                <a:solidFill>
                  <a:srgbClr val="333F4D"/>
                </a:solidFill>
              </a:rPr>
              <a:t>순위</a:t>
            </a:r>
            <a:r>
              <a:rPr sz="1400" b="0" dirty="0">
                <a:solidFill>
                  <a:srgbClr val="333F4D"/>
                </a:solidFill>
              </a:rPr>
              <a:t> = clinic4+VAT 합 </a:t>
            </a:r>
            <a:r>
              <a:rPr sz="1400" b="0" dirty="0" err="1">
                <a:solidFill>
                  <a:srgbClr val="333F4D"/>
                </a:solidFill>
              </a:rPr>
              <a:t>보정</a:t>
            </a:r>
            <a:r>
              <a:rPr sz="1400" b="0" dirty="0">
                <a:solidFill>
                  <a:srgbClr val="333F4D"/>
                </a:solidFill>
              </a:rPr>
              <a:t> 후 </a:t>
            </a:r>
            <a:r>
              <a:rPr sz="1400" b="0" dirty="0" err="1">
                <a:solidFill>
                  <a:srgbClr val="333F4D"/>
                </a:solidFill>
              </a:rPr>
              <a:t>feature별</a:t>
            </a:r>
            <a:r>
              <a:rPr sz="1400" b="0" dirty="0">
                <a:solidFill>
                  <a:srgbClr val="333F4D"/>
                </a:solidFill>
              </a:rPr>
              <a:t> |z| (</a:t>
            </a:r>
            <a:r>
              <a:rPr sz="1400" b="0" dirty="0" err="1">
                <a:solidFill>
                  <a:srgbClr val="333F4D"/>
                </a:solidFill>
              </a:rPr>
              <a:t>train+valid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안에서만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계산</a:t>
            </a:r>
            <a:r>
              <a:rPr sz="1400" b="0" dirty="0">
                <a:solidFill>
                  <a:srgbClr val="333F4D"/>
                </a:solidFill>
              </a:rPr>
              <a:t>, test </a:t>
            </a:r>
            <a:r>
              <a:rPr sz="1400" b="0" dirty="0" err="1">
                <a:solidFill>
                  <a:srgbClr val="333F4D"/>
                </a:solidFill>
              </a:rPr>
              <a:t>미사용</a:t>
            </a:r>
            <a:r>
              <a:rPr sz="1400" b="0" dirty="0">
                <a:solidFill>
                  <a:srgbClr val="333F4D"/>
                </a:solidFill>
              </a:rPr>
              <a:t>), </a:t>
            </a:r>
            <a:r>
              <a:rPr sz="1400" b="0" dirty="0" err="1">
                <a:solidFill>
                  <a:srgbClr val="333F4D"/>
                </a:solidFill>
              </a:rPr>
              <a:t>모든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k를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GridSearchCV</a:t>
            </a:r>
            <a:r>
              <a:rPr sz="1400" b="0" dirty="0">
                <a:solidFill>
                  <a:srgbClr val="333F4D"/>
                </a:solidFill>
              </a:rPr>
              <a:t>(24조합, valid </a:t>
            </a:r>
            <a:r>
              <a:rPr sz="1400" b="0" dirty="0" err="1">
                <a:solidFill>
                  <a:srgbClr val="333F4D"/>
                </a:solidFill>
              </a:rPr>
              <a:t>단일</a:t>
            </a:r>
            <a:r>
              <a:rPr sz="1400" b="0" dirty="0">
                <a:solidFill>
                  <a:srgbClr val="333F4D"/>
                </a:solidFill>
              </a:rPr>
              <a:t> fold)로 </a:t>
            </a:r>
            <a:r>
              <a:rPr sz="1400" b="0" dirty="0" err="1">
                <a:solidFill>
                  <a:srgbClr val="333F4D"/>
                </a:solidFill>
              </a:rPr>
              <a:t>튜닝</a:t>
            </a:r>
            <a:endParaRPr sz="1400" b="0" dirty="0">
              <a:solidFill>
                <a:srgbClr val="333F4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2450000"/>
          <a:ext cx="11175997" cy="3699993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653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6363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# Feat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363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baseline (clinic4)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Model1 (+VAT 합)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Model1 + top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Model1 + top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3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Model1 + top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3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Model1 + top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3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Model1 + top 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3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Model1 + top 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3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Model1 + top 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3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Model1 + top 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Figure 2. AUC vs Number of Selected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6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HTN은 내부 0.75~0.78, 외부 0.71로 거의 평평, DM은 k≥8에서 내부가 올라가나 외부는 평평, CKD 내부는 0.81~0.88로 크게 흔들림 (점선 baseline, 파선 Model1)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8" name="Picture 7" descr="anchor_k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575200"/>
            <a:ext cx="111760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Table 4. Odds Ratios Become Unstable as k Grows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633564"/>
          </a:xfrm>
        </p:spPr>
        <p:txBody>
          <a:bodyPr>
            <a:normAutofit fontScale="92500" lnSpcReduction="10000"/>
          </a:bodyPr>
          <a:lstStyle/>
          <a:p>
            <a:r>
              <a:rPr sz="1800" b="0" dirty="0" err="1">
                <a:solidFill>
                  <a:srgbClr val="333F4D"/>
                </a:solidFill>
              </a:rPr>
              <a:t>gangnam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순위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상위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feature의</a:t>
            </a:r>
            <a:r>
              <a:rPr sz="1800" b="0" dirty="0">
                <a:solidFill>
                  <a:srgbClr val="333F4D"/>
                </a:solidFill>
              </a:rPr>
              <a:t> OR: k=1(</a:t>
            </a:r>
            <a:r>
              <a:rPr sz="1800" b="0" dirty="0" err="1">
                <a:solidFill>
                  <a:srgbClr val="333F4D"/>
                </a:solidFill>
              </a:rPr>
              <a:t>단독</a:t>
            </a:r>
            <a:r>
              <a:rPr sz="1800" b="0" dirty="0">
                <a:solidFill>
                  <a:srgbClr val="333F4D"/>
                </a:solidFill>
              </a:rPr>
              <a:t>)</a:t>
            </a:r>
            <a:r>
              <a:rPr sz="1800" b="0" dirty="0" err="1">
                <a:solidFill>
                  <a:srgbClr val="333F4D"/>
                </a:solidFill>
              </a:rPr>
              <a:t>에서는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DM의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SAT@femoral_head가</a:t>
            </a:r>
            <a:r>
              <a:rPr sz="1800" b="0" dirty="0">
                <a:solidFill>
                  <a:srgbClr val="333F4D"/>
                </a:solidFill>
              </a:rPr>
              <a:t> 두 </a:t>
            </a:r>
            <a:r>
              <a:rPr sz="1800" b="0" dirty="0" err="1">
                <a:solidFill>
                  <a:srgbClr val="333F4D"/>
                </a:solidFill>
              </a:rPr>
              <a:t>코호트에서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일치</a:t>
            </a:r>
            <a:r>
              <a:rPr sz="1800" b="0" dirty="0">
                <a:solidFill>
                  <a:srgbClr val="333F4D"/>
                </a:solidFill>
              </a:rPr>
              <a:t>(0.70/0.67)</a:t>
            </a:r>
            <a:r>
              <a:rPr sz="1800" b="0" dirty="0" err="1">
                <a:solidFill>
                  <a:srgbClr val="333F4D"/>
                </a:solidFill>
              </a:rPr>
              <a:t>하나</a:t>
            </a:r>
            <a:r>
              <a:rPr sz="1800" b="0" dirty="0">
                <a:solidFill>
                  <a:srgbClr val="333F4D"/>
                </a:solidFill>
              </a:rPr>
              <a:t> k=10, 35에서는 </a:t>
            </a:r>
            <a:r>
              <a:rPr sz="1800" b="0" dirty="0" err="1">
                <a:solidFill>
                  <a:srgbClr val="333F4D"/>
                </a:solidFill>
              </a:rPr>
              <a:t>방향이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뒤집힘</a:t>
            </a:r>
            <a:r>
              <a:rPr sz="1800" b="0" dirty="0">
                <a:solidFill>
                  <a:srgbClr val="333F4D"/>
                </a:solidFill>
              </a:rPr>
              <a:t>(</a:t>
            </a:r>
            <a:r>
              <a:rPr sz="1800" b="0" dirty="0" err="1">
                <a:solidFill>
                  <a:srgbClr val="333F4D"/>
                </a:solidFill>
              </a:rPr>
              <a:t>sinchon</a:t>
            </a:r>
            <a:r>
              <a:rPr sz="1800" b="0" dirty="0">
                <a:solidFill>
                  <a:srgbClr val="333F4D"/>
                </a:solidFill>
              </a:rPr>
              <a:t> 1.45~1.49). * p&lt;0.05</a:t>
            </a:r>
          </a:p>
          <a:p>
            <a:r>
              <a:rPr sz="1800" b="0" dirty="0">
                <a:solidFill>
                  <a:srgbClr val="333F4D"/>
                </a:solidFill>
              </a:rPr>
              <a:t>두 </a:t>
            </a:r>
            <a:r>
              <a:rPr sz="1800" b="0" dirty="0" err="1">
                <a:solidFill>
                  <a:srgbClr val="333F4D"/>
                </a:solidFill>
              </a:rPr>
              <a:t>코호트에서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재현</a:t>
            </a:r>
            <a:r>
              <a:rPr sz="1800" b="0" dirty="0">
                <a:solidFill>
                  <a:srgbClr val="333F4D"/>
                </a:solidFill>
              </a:rPr>
              <a:t>(p&lt;0.05 &amp; </a:t>
            </a:r>
            <a:r>
              <a:rPr sz="1800" b="0" dirty="0" err="1">
                <a:solidFill>
                  <a:srgbClr val="333F4D"/>
                </a:solidFill>
              </a:rPr>
              <a:t>같은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방향</a:t>
            </a:r>
            <a:r>
              <a:rPr sz="1800" b="0" dirty="0">
                <a:solidFill>
                  <a:srgbClr val="333F4D"/>
                </a:solidFill>
              </a:rPr>
              <a:t>)</a:t>
            </a:r>
            <a:r>
              <a:rPr sz="1800" b="0" dirty="0" err="1">
                <a:solidFill>
                  <a:srgbClr val="333F4D"/>
                </a:solidFill>
              </a:rPr>
              <a:t>되는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feature는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k별</a:t>
            </a:r>
            <a:r>
              <a:rPr sz="1800" b="0" dirty="0">
                <a:solidFill>
                  <a:srgbClr val="333F4D"/>
                </a:solidFill>
              </a:rPr>
              <a:t> 0~2개이고 </a:t>
            </a:r>
            <a:r>
              <a:rPr sz="1800" b="0" dirty="0" err="1">
                <a:solidFill>
                  <a:srgbClr val="333F4D"/>
                </a:solidFill>
              </a:rPr>
              <a:t>대부분</a:t>
            </a:r>
            <a:r>
              <a:rPr sz="1800" b="0" dirty="0">
                <a:solidFill>
                  <a:srgbClr val="333F4D"/>
                </a:solidFill>
              </a:rPr>
              <a:t> 0~1개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903328"/>
              </p:ext>
            </p:extLst>
          </p:nvPr>
        </p:nvGraphicFramePr>
        <p:xfrm>
          <a:off x="508000" y="2683564"/>
          <a:ext cx="11175998" cy="352467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98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8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4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4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44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44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44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44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123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Feature (rank 1-3)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k=1 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k=1 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k=10 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k=10 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k=35 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k=35 Sinchon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44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SAT@liver_dome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1.44*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4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TAMA@femoral_head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4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SAT@T11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44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SAT@femoral_head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4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SAT@pubis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0.54*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0.51*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4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TAMA@femoral_head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44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VAT@S1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4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VAT@L5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4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VAT@L4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Table 5. Anchor Ratio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647746"/>
          </a:xfrm>
        </p:spPr>
        <p:txBody>
          <a:bodyPr>
            <a:normAutofit fontScale="70000" lnSpcReduction="20000"/>
          </a:bodyPr>
          <a:lstStyle/>
          <a:p>
            <a:r>
              <a:rPr sz="1800" b="0" dirty="0">
                <a:solidFill>
                  <a:srgbClr val="333F4D"/>
                </a:solidFill>
              </a:rPr>
              <a:t>anchor 간(anchor/L3)·anchor 내(VAT/SAT, </a:t>
            </a:r>
            <a:r>
              <a:rPr sz="1800" b="0" dirty="0" err="1">
                <a:solidFill>
                  <a:srgbClr val="333F4D"/>
                </a:solidFill>
              </a:rPr>
              <a:t>근육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점유율</a:t>
            </a:r>
            <a:r>
              <a:rPr sz="1800" b="0" dirty="0">
                <a:solidFill>
                  <a:srgbClr val="333F4D"/>
                </a:solidFill>
              </a:rPr>
              <a:t>) </a:t>
            </a:r>
            <a:r>
              <a:rPr sz="1800" b="0" dirty="0" err="1">
                <a:solidFill>
                  <a:srgbClr val="333F4D"/>
                </a:solidFill>
              </a:rPr>
              <a:t>비율</a:t>
            </a:r>
            <a:r>
              <a:rPr sz="1800" b="0" dirty="0">
                <a:solidFill>
                  <a:srgbClr val="333F4D"/>
                </a:solidFill>
              </a:rPr>
              <a:t> 55개도 </a:t>
            </a:r>
            <a:r>
              <a:rPr sz="1800" b="0" dirty="0" err="1">
                <a:solidFill>
                  <a:srgbClr val="333F4D"/>
                </a:solidFill>
              </a:rPr>
              <a:t>향상이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작고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비일관</a:t>
            </a:r>
            <a:r>
              <a:rPr sz="1800" b="0" dirty="0">
                <a:solidFill>
                  <a:srgbClr val="333F4D"/>
                </a:solidFill>
              </a:rPr>
              <a:t>: </a:t>
            </a:r>
            <a:r>
              <a:rPr sz="1800" b="0" dirty="0" err="1">
                <a:solidFill>
                  <a:srgbClr val="333F4D"/>
                </a:solidFill>
              </a:rPr>
              <a:t>내부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최대</a:t>
            </a:r>
            <a:r>
              <a:rPr sz="1800" b="0" dirty="0">
                <a:solidFill>
                  <a:srgbClr val="333F4D"/>
                </a:solidFill>
              </a:rPr>
              <a:t> +0.03(DM, test 117명), </a:t>
            </a:r>
            <a:r>
              <a:rPr sz="1800" b="0" dirty="0" err="1">
                <a:solidFill>
                  <a:srgbClr val="333F4D"/>
                </a:solidFill>
              </a:rPr>
              <a:t>외부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최대</a:t>
            </a:r>
            <a:r>
              <a:rPr sz="1800" b="0" dirty="0">
                <a:solidFill>
                  <a:srgbClr val="333F4D"/>
                </a:solidFill>
              </a:rPr>
              <a:t> +0.014. FDR 후 </a:t>
            </a:r>
            <a:r>
              <a:rPr sz="1800" b="0" dirty="0" err="1">
                <a:solidFill>
                  <a:srgbClr val="333F4D"/>
                </a:solidFill>
              </a:rPr>
              <a:t>유의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모델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없음</a:t>
            </a:r>
            <a:endParaRPr sz="1800" b="0" dirty="0">
              <a:solidFill>
                <a:srgbClr val="333F4D"/>
              </a:solidFill>
            </a:endParaRPr>
          </a:p>
          <a:p>
            <a:r>
              <a:rPr sz="1800" b="0" dirty="0" err="1">
                <a:solidFill>
                  <a:srgbClr val="333F4D"/>
                </a:solidFill>
              </a:rPr>
              <a:t>비율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하나씩의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OR은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DM에서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여러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개가</a:t>
            </a:r>
            <a:r>
              <a:rPr sz="1800" b="0" dirty="0">
                <a:solidFill>
                  <a:srgbClr val="333F4D"/>
                </a:solidFill>
              </a:rPr>
              <a:t> 두 </a:t>
            </a:r>
            <a:r>
              <a:rPr sz="1800" b="0" dirty="0" err="1">
                <a:solidFill>
                  <a:srgbClr val="333F4D"/>
                </a:solidFill>
              </a:rPr>
              <a:t>코호트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일치</a:t>
            </a:r>
            <a:r>
              <a:rPr sz="1800" b="0" dirty="0">
                <a:solidFill>
                  <a:srgbClr val="333F4D"/>
                </a:solidFill>
              </a:rPr>
              <a:t>: TAMA </a:t>
            </a:r>
            <a:r>
              <a:rPr sz="1800" b="0" dirty="0" err="1">
                <a:solidFill>
                  <a:srgbClr val="333F4D"/>
                </a:solidFill>
              </a:rPr>
              <a:t>점유율@pubis</a:t>
            </a:r>
            <a:r>
              <a:rPr sz="1800" b="0" dirty="0">
                <a:solidFill>
                  <a:srgbClr val="333F4D"/>
                </a:solidFill>
              </a:rPr>
              <a:t> 1.38/1.37, VAT/SAT@L4 1.27/1.31 (</a:t>
            </a:r>
            <a:r>
              <a:rPr sz="1800" b="0" dirty="0" err="1">
                <a:solidFill>
                  <a:srgbClr val="333F4D"/>
                </a:solidFill>
              </a:rPr>
              <a:t>sinchon</a:t>
            </a:r>
            <a:r>
              <a:rPr sz="1800" b="0" dirty="0">
                <a:solidFill>
                  <a:srgbClr val="333F4D"/>
                </a:solidFill>
              </a:rPr>
              <a:t> FDR&lt;0.05). </a:t>
            </a:r>
            <a:r>
              <a:rPr sz="1800" b="0" dirty="0" err="1">
                <a:solidFill>
                  <a:srgbClr val="333F4D"/>
                </a:solidFill>
              </a:rPr>
              <a:t>비율은</a:t>
            </a:r>
            <a:r>
              <a:rPr sz="1800" b="0" dirty="0">
                <a:solidFill>
                  <a:srgbClr val="333F4D"/>
                </a:solidFill>
              </a:rPr>
              <a:t> log((a+1)/(b+1))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537131"/>
              </p:ext>
            </p:extLst>
          </p:nvPr>
        </p:nvGraphicFramePr>
        <p:xfrm>
          <a:off x="508000" y="2753138"/>
          <a:ext cx="11175997" cy="319686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653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46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9608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# Feat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608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 (clinic4)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608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Model1 (+VAT 합)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608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+VAT/SAT @12 anchors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608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+TAMA/(TAMA+fat) @12 anchors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608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+조직 비율 2종 @12 anchors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608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+VAT,SAT,TAMA anchor/L3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608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+모든 비율 (55개)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Table 6. A Priori Anchor Subsets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673322"/>
          </a:xfrm>
        </p:spPr>
        <p:txBody>
          <a:bodyPr>
            <a:normAutofit fontScale="85000" lnSpcReduction="10000"/>
          </a:bodyPr>
          <a:lstStyle/>
          <a:p>
            <a:r>
              <a:rPr sz="1800" b="0" dirty="0" err="1">
                <a:solidFill>
                  <a:srgbClr val="333F4D"/>
                </a:solidFill>
              </a:rPr>
              <a:t>해부학적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부위로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미리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정한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묶음도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일관된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향상이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없음</a:t>
            </a:r>
            <a:r>
              <a:rPr sz="1800" b="0" dirty="0">
                <a:solidFill>
                  <a:srgbClr val="333F4D"/>
                </a:solidFill>
              </a:rPr>
              <a:t>. FDR 후 </a:t>
            </a:r>
            <a:r>
              <a:rPr sz="1800" b="0" dirty="0" err="1">
                <a:solidFill>
                  <a:srgbClr val="333F4D"/>
                </a:solidFill>
              </a:rPr>
              <a:t>유의한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변화는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악화뿐</a:t>
            </a:r>
            <a:r>
              <a:rPr sz="1800" b="0" dirty="0">
                <a:solidFill>
                  <a:srgbClr val="333F4D"/>
                </a:solidFill>
              </a:rPr>
              <a:t>(DM </a:t>
            </a:r>
            <a:r>
              <a:rPr sz="1800" b="0" dirty="0" err="1">
                <a:solidFill>
                  <a:srgbClr val="333F4D"/>
                </a:solidFill>
              </a:rPr>
              <a:t>외부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TAMA@mid</a:t>
            </a:r>
            <a:r>
              <a:rPr sz="1800" b="0" dirty="0">
                <a:solidFill>
                  <a:srgbClr val="333F4D"/>
                </a:solidFill>
              </a:rPr>
              <a:t> −0.050, </a:t>
            </a:r>
            <a:r>
              <a:rPr sz="1800" b="0" dirty="0" err="1">
                <a:solidFill>
                  <a:srgbClr val="333F4D"/>
                </a:solidFill>
              </a:rPr>
              <a:t>p_fdr</a:t>
            </a:r>
            <a:r>
              <a:rPr sz="1800" b="0" dirty="0">
                <a:solidFill>
                  <a:srgbClr val="333F4D"/>
                </a:solidFill>
              </a:rPr>
              <a:t> 0.006). </a:t>
            </a:r>
            <a:r>
              <a:rPr sz="1800" b="0" dirty="0" err="1">
                <a:solidFill>
                  <a:srgbClr val="333F4D"/>
                </a:solidFill>
              </a:rPr>
              <a:t>최대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향상은</a:t>
            </a:r>
            <a:r>
              <a:rPr sz="1800" b="0" dirty="0">
                <a:solidFill>
                  <a:srgbClr val="333F4D"/>
                </a:solidFill>
              </a:rPr>
              <a:t> +0.02대(</a:t>
            </a:r>
            <a:r>
              <a:rPr sz="1800" b="0" dirty="0" err="1">
                <a:solidFill>
                  <a:srgbClr val="333F4D"/>
                </a:solidFill>
              </a:rPr>
              <a:t>하부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척추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VAT+SAT의</a:t>
            </a:r>
            <a:r>
              <a:rPr sz="1800" b="0" dirty="0">
                <a:solidFill>
                  <a:srgbClr val="333F4D"/>
                </a:solidFill>
              </a:rPr>
              <a:t> DM </a:t>
            </a:r>
            <a:r>
              <a:rPr sz="1800" b="0" dirty="0" err="1">
                <a:solidFill>
                  <a:srgbClr val="333F4D"/>
                </a:solidFill>
              </a:rPr>
              <a:t>외부</a:t>
            </a:r>
            <a:r>
              <a:rPr sz="1800" b="0" dirty="0">
                <a:solidFill>
                  <a:srgbClr val="333F4D"/>
                </a:solidFill>
              </a:rPr>
              <a:t> +0.023, </a:t>
            </a:r>
            <a:r>
              <a:rPr sz="1800" b="0" dirty="0" err="1">
                <a:solidFill>
                  <a:srgbClr val="333F4D"/>
                </a:solidFill>
              </a:rPr>
              <a:t>대표</a:t>
            </a:r>
            <a:r>
              <a:rPr sz="1800" b="0" dirty="0">
                <a:solidFill>
                  <a:srgbClr val="333F4D"/>
                </a:solidFill>
              </a:rPr>
              <a:t> 4곳 </a:t>
            </a:r>
            <a:r>
              <a:rPr sz="1800" b="0" dirty="0" err="1">
                <a:solidFill>
                  <a:srgbClr val="333F4D"/>
                </a:solidFill>
              </a:rPr>
              <a:t>VAT+SAT의</a:t>
            </a:r>
            <a:r>
              <a:rPr sz="1800" b="0" dirty="0">
                <a:solidFill>
                  <a:srgbClr val="333F4D"/>
                </a:solidFill>
              </a:rPr>
              <a:t> CKD </a:t>
            </a:r>
            <a:r>
              <a:rPr sz="1800" b="0" dirty="0" err="1">
                <a:solidFill>
                  <a:srgbClr val="333F4D"/>
                </a:solidFill>
              </a:rPr>
              <a:t>외부</a:t>
            </a:r>
            <a:r>
              <a:rPr sz="1800" b="0" dirty="0">
                <a:solidFill>
                  <a:srgbClr val="333F4D"/>
                </a:solidFill>
              </a:rPr>
              <a:t> +0.024; </a:t>
            </a:r>
            <a:r>
              <a:rPr sz="1800" b="0" dirty="0" err="1">
                <a:solidFill>
                  <a:srgbClr val="333F4D"/>
                </a:solidFill>
              </a:rPr>
              <a:t>모두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p_fdr</a:t>
            </a:r>
            <a:r>
              <a:rPr sz="1800" b="0" dirty="0">
                <a:solidFill>
                  <a:srgbClr val="333F4D"/>
                </a:solidFill>
              </a:rPr>
              <a:t>&gt;0.08)</a:t>
            </a:r>
          </a:p>
          <a:p>
            <a:r>
              <a:rPr sz="1800" b="0" dirty="0" err="1">
                <a:solidFill>
                  <a:srgbClr val="333F4D"/>
                </a:solidFill>
              </a:rPr>
              <a:t>이전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데이터</a:t>
            </a:r>
            <a:r>
              <a:rPr sz="1800" b="0" dirty="0">
                <a:solidFill>
                  <a:srgbClr val="333F4D"/>
                </a:solidFill>
              </a:rPr>
              <a:t>(754/443명)</a:t>
            </a:r>
            <a:r>
              <a:rPr sz="1800" b="0" dirty="0" err="1">
                <a:solidFill>
                  <a:srgbClr val="333F4D"/>
                </a:solidFill>
              </a:rPr>
              <a:t>에서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보였던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골반</a:t>
            </a:r>
            <a:r>
              <a:rPr sz="1800" b="0" dirty="0">
                <a:solidFill>
                  <a:srgbClr val="333F4D"/>
                </a:solidFill>
              </a:rPr>
              <a:t>-DM </a:t>
            </a:r>
            <a:r>
              <a:rPr sz="1800" b="0" dirty="0" err="1">
                <a:solidFill>
                  <a:srgbClr val="333F4D"/>
                </a:solidFill>
              </a:rPr>
              <a:t>향상</a:t>
            </a:r>
            <a:r>
              <a:rPr sz="1800" b="0" dirty="0">
                <a:solidFill>
                  <a:srgbClr val="333F4D"/>
                </a:solidFill>
              </a:rPr>
              <a:t>(</a:t>
            </a:r>
            <a:r>
              <a:rPr sz="1800" b="0" dirty="0" err="1">
                <a:solidFill>
                  <a:srgbClr val="333F4D"/>
                </a:solidFill>
              </a:rPr>
              <a:t>외부</a:t>
            </a:r>
            <a:r>
              <a:rPr sz="1800" b="0" dirty="0">
                <a:solidFill>
                  <a:srgbClr val="333F4D"/>
                </a:solidFill>
              </a:rPr>
              <a:t> +0.05)은 </a:t>
            </a:r>
            <a:r>
              <a:rPr sz="1800" b="0" dirty="0" err="1">
                <a:solidFill>
                  <a:srgbClr val="333F4D"/>
                </a:solidFill>
              </a:rPr>
              <a:t>이번에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재현되지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않음</a:t>
            </a:r>
            <a:r>
              <a:rPr sz="1800" b="0" dirty="0">
                <a:solidFill>
                  <a:srgbClr val="333F4D"/>
                </a:solidFill>
              </a:rPr>
              <a:t> (</a:t>
            </a:r>
            <a:r>
              <a:rPr sz="1800" b="0" dirty="0" err="1">
                <a:solidFill>
                  <a:srgbClr val="333F4D"/>
                </a:solidFill>
              </a:rPr>
              <a:t>VAT+SAT@pelvis</a:t>
            </a:r>
            <a:r>
              <a:rPr sz="1800" b="0" dirty="0">
                <a:solidFill>
                  <a:srgbClr val="333F4D"/>
                </a:solidFill>
              </a:rPr>
              <a:t> DM </a:t>
            </a:r>
            <a:r>
              <a:rPr sz="1800" b="0" dirty="0" err="1">
                <a:solidFill>
                  <a:srgbClr val="333F4D"/>
                </a:solidFill>
              </a:rPr>
              <a:t>외부</a:t>
            </a:r>
            <a:r>
              <a:rPr sz="1800" b="0" dirty="0">
                <a:solidFill>
                  <a:srgbClr val="333F4D"/>
                </a:solidFill>
              </a:rPr>
              <a:t> 0.689 = Model1)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406963"/>
              </p:ext>
            </p:extLst>
          </p:nvPr>
        </p:nvGraphicFramePr>
        <p:xfrm>
          <a:off x="508000" y="2723322"/>
          <a:ext cx="11175994" cy="3326679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32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9631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# Feat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 (clinic4)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Model1 (+VAT 합)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+VAT,SAT @pelvis (2 anchors)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+VAT,SAT,TAMA @pelvis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+VAT,SAT @L4,L5,S1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+VAT,SAT,TAMA @L4,L5,S1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+VAT,SAT @T12,L3,S1,femoral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+VAT,SAT,TAMA @T12,L3,S1,femoral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Table 7. Sex-Stratified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886286"/>
          </a:xfrm>
        </p:spPr>
        <p:txBody>
          <a:bodyPr>
            <a:normAutofit fontScale="85000" lnSpcReduction="20000"/>
          </a:bodyPr>
          <a:lstStyle/>
          <a:p>
            <a:r>
              <a:rPr sz="1800" b="0" dirty="0" err="1">
                <a:solidFill>
                  <a:srgbClr val="333F4D"/>
                </a:solidFill>
              </a:rPr>
              <a:t>성별로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나눠도</a:t>
            </a:r>
            <a:r>
              <a:rPr sz="1800" b="0" dirty="0">
                <a:solidFill>
                  <a:srgbClr val="333F4D"/>
                </a:solidFill>
              </a:rPr>
              <a:t> anchor </a:t>
            </a:r>
            <a:r>
              <a:rPr sz="1800" b="0" dirty="0" err="1">
                <a:solidFill>
                  <a:srgbClr val="333F4D"/>
                </a:solidFill>
              </a:rPr>
              <a:t>값의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향상은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없음</a:t>
            </a:r>
            <a:r>
              <a:rPr sz="1800" b="0" dirty="0">
                <a:solidFill>
                  <a:srgbClr val="333F4D"/>
                </a:solidFill>
              </a:rPr>
              <a:t>(DeLong </a:t>
            </a:r>
            <a:r>
              <a:rPr sz="1800" b="0" dirty="0" err="1">
                <a:solidFill>
                  <a:srgbClr val="333F4D"/>
                </a:solidFill>
              </a:rPr>
              <a:t>유의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향상</a:t>
            </a:r>
            <a:r>
              <a:rPr sz="1800" b="0" dirty="0">
                <a:solidFill>
                  <a:srgbClr val="333F4D"/>
                </a:solidFill>
              </a:rPr>
              <a:t> 0건). baseline </a:t>
            </a:r>
            <a:r>
              <a:rPr sz="1800" b="0" dirty="0" err="1">
                <a:solidFill>
                  <a:srgbClr val="333F4D"/>
                </a:solidFill>
              </a:rPr>
              <a:t>성능이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성별로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다름</a:t>
            </a:r>
            <a:r>
              <a:rPr sz="1800" b="0" dirty="0">
                <a:solidFill>
                  <a:srgbClr val="333F4D"/>
                </a:solidFill>
              </a:rPr>
              <a:t>: </a:t>
            </a:r>
            <a:r>
              <a:rPr sz="1800" b="0" dirty="0" err="1">
                <a:solidFill>
                  <a:srgbClr val="333F4D"/>
                </a:solidFill>
              </a:rPr>
              <a:t>HTN은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여성</a:t>
            </a:r>
            <a:r>
              <a:rPr sz="1800" b="0" dirty="0">
                <a:solidFill>
                  <a:srgbClr val="333F4D"/>
                </a:solidFill>
              </a:rPr>
              <a:t> 0.82/0.77, </a:t>
            </a:r>
            <a:r>
              <a:rPr sz="1800" b="0" dirty="0" err="1">
                <a:solidFill>
                  <a:srgbClr val="333F4D"/>
                </a:solidFill>
              </a:rPr>
              <a:t>남성</a:t>
            </a:r>
            <a:r>
              <a:rPr sz="1800" b="0" dirty="0">
                <a:solidFill>
                  <a:srgbClr val="333F4D"/>
                </a:solidFill>
              </a:rPr>
              <a:t> 0.66/0.69. OR </a:t>
            </a:r>
            <a:r>
              <a:rPr sz="1800" b="0" dirty="0" err="1">
                <a:solidFill>
                  <a:srgbClr val="333F4D"/>
                </a:solidFill>
              </a:rPr>
              <a:t>성별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이질성은</a:t>
            </a:r>
            <a:r>
              <a:rPr sz="1800" b="0" dirty="0">
                <a:solidFill>
                  <a:srgbClr val="333F4D"/>
                </a:solidFill>
              </a:rPr>
              <a:t> 216개 중 10개(</a:t>
            </a:r>
            <a:r>
              <a:rPr sz="1800" b="0" dirty="0" err="1">
                <a:solidFill>
                  <a:srgbClr val="333F4D"/>
                </a:solidFill>
              </a:rPr>
              <a:t>우연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수준</a:t>
            </a:r>
            <a:r>
              <a:rPr sz="1800" b="0" dirty="0">
                <a:solidFill>
                  <a:srgbClr val="333F4D"/>
                </a:solidFill>
              </a:rPr>
              <a:t>), FDR&lt;0.10 </a:t>
            </a:r>
            <a:r>
              <a:rPr sz="1800" b="0" dirty="0" err="1">
                <a:solidFill>
                  <a:srgbClr val="333F4D"/>
                </a:solidFill>
              </a:rPr>
              <a:t>없음</a:t>
            </a:r>
            <a:endParaRPr sz="1800" b="0" dirty="0">
              <a:solidFill>
                <a:srgbClr val="333F4D"/>
              </a:solidFill>
            </a:endParaRPr>
          </a:p>
          <a:p>
            <a:r>
              <a:rPr sz="1800" b="0" dirty="0">
                <a:solidFill>
                  <a:srgbClr val="333F4D"/>
                </a:solidFill>
              </a:rPr>
              <a:t>각 </a:t>
            </a:r>
            <a:r>
              <a:rPr sz="1800" b="0" dirty="0" err="1">
                <a:solidFill>
                  <a:srgbClr val="333F4D"/>
                </a:solidFill>
              </a:rPr>
              <a:t>성별로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따로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학습·평가</a:t>
            </a:r>
            <a:r>
              <a:rPr sz="1800" b="0" dirty="0">
                <a:solidFill>
                  <a:srgbClr val="333F4D"/>
                </a:solidFill>
              </a:rPr>
              <a:t>(</a:t>
            </a:r>
            <a:r>
              <a:rPr sz="1800" b="0" dirty="0" err="1">
                <a:solidFill>
                  <a:srgbClr val="333F4D"/>
                </a:solidFill>
              </a:rPr>
              <a:t>성별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변수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제외</a:t>
            </a:r>
            <a:r>
              <a:rPr sz="1800" b="0" dirty="0">
                <a:solidFill>
                  <a:srgbClr val="333F4D"/>
                </a:solidFill>
              </a:rPr>
              <a:t>). </a:t>
            </a:r>
            <a:r>
              <a:rPr sz="1800" b="0" dirty="0" err="1">
                <a:solidFill>
                  <a:srgbClr val="333F4D"/>
                </a:solidFill>
              </a:rPr>
              <a:t>test가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매우</a:t>
            </a:r>
            <a:r>
              <a:rPr sz="1800" b="0" dirty="0">
                <a:solidFill>
                  <a:srgbClr val="333F4D"/>
                </a:solidFill>
              </a:rPr>
              <a:t> </a:t>
            </a:r>
            <a:r>
              <a:rPr sz="1800" b="0" dirty="0" err="1">
                <a:solidFill>
                  <a:srgbClr val="333F4D"/>
                </a:solidFill>
              </a:rPr>
              <a:t>작음</a:t>
            </a:r>
            <a:r>
              <a:rPr sz="1800" b="0" dirty="0">
                <a:solidFill>
                  <a:srgbClr val="333F4D"/>
                </a:solidFill>
              </a:rPr>
              <a:t>: 남 HTN 103 / DM 62 / CKD 36명, 여 HTN 85 / DM 55 / CKD 18명 → </a:t>
            </a:r>
            <a:r>
              <a:rPr sz="1800" b="0" dirty="0" err="1">
                <a:solidFill>
                  <a:srgbClr val="333F4D"/>
                </a:solidFill>
              </a:rPr>
              <a:t>AUC의</a:t>
            </a:r>
            <a:r>
              <a:rPr sz="1800" b="0" dirty="0">
                <a:solidFill>
                  <a:srgbClr val="333F4D"/>
                </a:solidFill>
              </a:rPr>
              <a:t> 95% CI 폭 ±0.1~0.25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053685"/>
              </p:ext>
            </p:extLst>
          </p:nvPr>
        </p:nvGraphicFramePr>
        <p:xfrm>
          <a:off x="508000" y="2991678"/>
          <a:ext cx="11175997" cy="3258321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14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7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6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6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5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56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56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211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Sex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211">
                <a:tc rowSpan="5">
                  <a:txBody>
                    <a:bodyPr/>
                    <a:lstStyle/>
                    <a:p>
                      <a:pPr algn="ctr"/>
                      <a:r>
                        <a:rPr sz="1200" b="0"/>
                        <a:t>남성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21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Model1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21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+VAT,SAT @12 anchors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21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+VAT,SAT,TAMA @12 anchors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21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+VAT,SAT @pelvis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211">
                <a:tc rowSpan="5">
                  <a:txBody>
                    <a:bodyPr/>
                    <a:lstStyle/>
                    <a:p>
                      <a:pPr algn="ctr"/>
                      <a:r>
                        <a:rPr sz="1200" b="0"/>
                        <a:t>여성 (F)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21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Model1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21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+VAT,SAT @12 anchors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21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+VAT,SAT,TAMA @12 anchors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621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+VAT,SAT @pelvis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5288182"/>
          </a:xfrm>
        </p:spPr>
        <p:txBody>
          <a:bodyPr>
            <a:normAutofit fontScale="92500"/>
          </a:bodyPr>
          <a:lstStyle/>
          <a:p>
            <a:r>
              <a:rPr sz="1400" b="0" dirty="0" err="1">
                <a:solidFill>
                  <a:srgbClr val="333F4D"/>
                </a:solidFill>
              </a:rPr>
              <a:t>정확도</a:t>
            </a:r>
            <a:r>
              <a:rPr sz="1400" b="0" dirty="0">
                <a:solidFill>
                  <a:srgbClr val="333F4D"/>
                </a:solidFill>
              </a:rPr>
              <a:t>: Model1(clinic4 + VAT 합) </a:t>
            </a:r>
            <a:r>
              <a:rPr sz="1400" b="0" dirty="0" err="1">
                <a:solidFill>
                  <a:srgbClr val="333F4D"/>
                </a:solidFill>
              </a:rPr>
              <a:t>위에</a:t>
            </a:r>
            <a:r>
              <a:rPr sz="1400" b="0" dirty="0">
                <a:solidFill>
                  <a:srgbClr val="333F4D"/>
                </a:solidFill>
              </a:rPr>
              <a:t> anchor 값(12 anchor, k </a:t>
            </a:r>
            <a:r>
              <a:rPr sz="1400" b="0" dirty="0" err="1">
                <a:solidFill>
                  <a:srgbClr val="333F4D"/>
                </a:solidFill>
              </a:rPr>
              <a:t>스윕</a:t>
            </a:r>
            <a:r>
              <a:rPr sz="1400" b="0" dirty="0">
                <a:solidFill>
                  <a:srgbClr val="333F4D"/>
                </a:solidFill>
              </a:rPr>
              <a:t>), </a:t>
            </a:r>
            <a:r>
              <a:rPr sz="1400" b="0" dirty="0" err="1">
                <a:solidFill>
                  <a:srgbClr val="333F4D"/>
                </a:solidFill>
              </a:rPr>
              <a:t>비율</a:t>
            </a:r>
            <a:r>
              <a:rPr sz="1400" b="0" dirty="0">
                <a:solidFill>
                  <a:srgbClr val="333F4D"/>
                </a:solidFill>
              </a:rPr>
              <a:t>, FPCA, </a:t>
            </a:r>
            <a:r>
              <a:rPr sz="1400" b="0" dirty="0" err="1">
                <a:solidFill>
                  <a:srgbClr val="333F4D"/>
                </a:solidFill>
              </a:rPr>
              <a:t>부위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묶음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어느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방식으로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더해도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일관된</a:t>
            </a:r>
            <a:r>
              <a:rPr sz="1400" b="0" dirty="0">
                <a:solidFill>
                  <a:srgbClr val="333F4D"/>
                </a:solidFill>
              </a:rPr>
              <a:t> AUC </a:t>
            </a:r>
            <a:r>
              <a:rPr sz="1400" b="0" dirty="0" err="1">
                <a:solidFill>
                  <a:srgbClr val="333F4D"/>
                </a:solidFill>
              </a:rPr>
              <a:t>향상이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없음</a:t>
            </a:r>
            <a:r>
              <a:rPr sz="1400" b="0" dirty="0">
                <a:solidFill>
                  <a:srgbClr val="333F4D"/>
                </a:solidFill>
              </a:rPr>
              <a:t> — FDR 후 </a:t>
            </a:r>
            <a:r>
              <a:rPr sz="1400" b="0" dirty="0" err="1">
                <a:solidFill>
                  <a:srgbClr val="333F4D"/>
                </a:solidFill>
              </a:rPr>
              <a:t>유의한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향상</a:t>
            </a:r>
            <a:r>
              <a:rPr sz="1400" b="0" dirty="0">
                <a:solidFill>
                  <a:srgbClr val="333F4D"/>
                </a:solidFill>
              </a:rPr>
              <a:t> 0건, </a:t>
            </a:r>
            <a:r>
              <a:rPr sz="1400" b="0" dirty="0" err="1">
                <a:solidFill>
                  <a:srgbClr val="333F4D"/>
                </a:solidFill>
              </a:rPr>
              <a:t>외부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향상은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대체로</a:t>
            </a:r>
            <a:r>
              <a:rPr sz="1400" b="0" dirty="0">
                <a:solidFill>
                  <a:srgbClr val="333F4D"/>
                </a:solidFill>
              </a:rPr>
              <a:t> +0.02 </a:t>
            </a:r>
            <a:r>
              <a:rPr sz="1400" b="0" dirty="0" err="1">
                <a:solidFill>
                  <a:srgbClr val="333F4D"/>
                </a:solidFill>
              </a:rPr>
              <a:t>이내</a:t>
            </a:r>
            <a:endParaRPr sz="1400" b="0" dirty="0">
              <a:solidFill>
                <a:srgbClr val="333F4D"/>
              </a:solidFill>
            </a:endParaRPr>
          </a:p>
          <a:p>
            <a:r>
              <a:rPr sz="1400" b="0" dirty="0">
                <a:solidFill>
                  <a:srgbClr val="333F4D"/>
                </a:solidFill>
              </a:rPr>
              <a:t>VAT 합(Model1) </a:t>
            </a:r>
            <a:r>
              <a:rPr sz="1400" b="0" dirty="0" err="1">
                <a:solidFill>
                  <a:srgbClr val="333F4D"/>
                </a:solidFill>
              </a:rPr>
              <a:t>자체</a:t>
            </a:r>
            <a:r>
              <a:rPr sz="1400" b="0" dirty="0">
                <a:solidFill>
                  <a:srgbClr val="333F4D"/>
                </a:solidFill>
              </a:rPr>
              <a:t>: baseline </a:t>
            </a:r>
            <a:r>
              <a:rPr sz="1400" b="0" dirty="0" err="1">
                <a:solidFill>
                  <a:srgbClr val="333F4D"/>
                </a:solidFill>
              </a:rPr>
              <a:t>대비</a:t>
            </a:r>
            <a:r>
              <a:rPr sz="1400" b="0" dirty="0">
                <a:solidFill>
                  <a:srgbClr val="333F4D"/>
                </a:solidFill>
              </a:rPr>
              <a:t> HTN </a:t>
            </a:r>
            <a:r>
              <a:rPr sz="1400" b="0" dirty="0" err="1">
                <a:solidFill>
                  <a:srgbClr val="333F4D"/>
                </a:solidFill>
              </a:rPr>
              <a:t>내부</a:t>
            </a:r>
            <a:r>
              <a:rPr sz="1400" b="0" dirty="0">
                <a:solidFill>
                  <a:srgbClr val="333F4D"/>
                </a:solidFill>
              </a:rPr>
              <a:t> +0.022 / </a:t>
            </a:r>
            <a:r>
              <a:rPr sz="1400" b="0" dirty="0" err="1">
                <a:solidFill>
                  <a:srgbClr val="333F4D"/>
                </a:solidFill>
              </a:rPr>
              <a:t>외부</a:t>
            </a:r>
            <a:r>
              <a:rPr sz="1400" b="0" dirty="0">
                <a:solidFill>
                  <a:srgbClr val="333F4D"/>
                </a:solidFill>
              </a:rPr>
              <a:t> +0.011, CKD </a:t>
            </a:r>
            <a:r>
              <a:rPr sz="1400" b="0" dirty="0" err="1">
                <a:solidFill>
                  <a:srgbClr val="333F4D"/>
                </a:solidFill>
              </a:rPr>
              <a:t>외부</a:t>
            </a:r>
            <a:r>
              <a:rPr sz="1400" b="0" dirty="0">
                <a:solidFill>
                  <a:srgbClr val="333F4D"/>
                </a:solidFill>
              </a:rPr>
              <a:t> +0.036(</a:t>
            </a:r>
            <a:r>
              <a:rPr sz="1400" b="0" dirty="0" err="1">
                <a:solidFill>
                  <a:srgbClr val="333F4D"/>
                </a:solidFill>
              </a:rPr>
              <a:t>sinchon</a:t>
            </a:r>
            <a:r>
              <a:rPr sz="1400" b="0" dirty="0">
                <a:solidFill>
                  <a:srgbClr val="333F4D"/>
                </a:solidFill>
              </a:rPr>
              <a:t> DeLong p=0.004, FDR 후 </a:t>
            </a:r>
            <a:r>
              <a:rPr sz="1400" b="0" dirty="0" err="1">
                <a:solidFill>
                  <a:srgbClr val="333F4D"/>
                </a:solidFill>
              </a:rPr>
              <a:t>비유의</a:t>
            </a:r>
            <a:r>
              <a:rPr sz="1400" b="0" dirty="0">
                <a:solidFill>
                  <a:srgbClr val="333F4D"/>
                </a:solidFill>
              </a:rPr>
              <a:t>), DM </a:t>
            </a:r>
            <a:r>
              <a:rPr sz="1400" b="0" dirty="0" err="1">
                <a:solidFill>
                  <a:srgbClr val="333F4D"/>
                </a:solidFill>
              </a:rPr>
              <a:t>내부는</a:t>
            </a:r>
            <a:r>
              <a:rPr sz="1400" b="0" dirty="0">
                <a:solidFill>
                  <a:srgbClr val="333F4D"/>
                </a:solidFill>
              </a:rPr>
              <a:t> −0.037(test 117명, </a:t>
            </a:r>
            <a:r>
              <a:rPr sz="1400" b="0" dirty="0" err="1">
                <a:solidFill>
                  <a:srgbClr val="333F4D"/>
                </a:solidFill>
              </a:rPr>
              <a:t>노이즈</a:t>
            </a:r>
            <a:r>
              <a:rPr sz="1400" b="0" dirty="0">
                <a:solidFill>
                  <a:srgbClr val="333F4D"/>
                </a:solidFill>
              </a:rPr>
              <a:t>)</a:t>
            </a:r>
          </a:p>
          <a:p>
            <a:r>
              <a:rPr sz="1400" b="0" dirty="0" err="1">
                <a:solidFill>
                  <a:srgbClr val="333F4D"/>
                </a:solidFill>
              </a:rPr>
              <a:t>연관성</a:t>
            </a:r>
            <a:r>
              <a:rPr sz="1400" b="0" dirty="0">
                <a:solidFill>
                  <a:srgbClr val="333F4D"/>
                </a:solidFill>
              </a:rPr>
              <a:t>(OR): 두 </a:t>
            </a:r>
            <a:r>
              <a:rPr sz="1400" b="0" dirty="0" err="1">
                <a:solidFill>
                  <a:srgbClr val="333F4D"/>
                </a:solidFill>
              </a:rPr>
              <a:t>코호트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일치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단일</a:t>
            </a:r>
            <a:r>
              <a:rPr sz="1400" b="0" dirty="0">
                <a:solidFill>
                  <a:srgbClr val="333F4D"/>
                </a:solidFill>
              </a:rPr>
              <a:t> 값 5개 — </a:t>
            </a:r>
            <a:r>
              <a:rPr sz="1400" b="0" dirty="0" err="1">
                <a:solidFill>
                  <a:srgbClr val="333F4D"/>
                </a:solidFill>
              </a:rPr>
              <a:t>DM의</a:t>
            </a:r>
            <a:r>
              <a:rPr sz="1400" b="0" dirty="0">
                <a:solidFill>
                  <a:srgbClr val="333F4D"/>
                </a:solidFill>
              </a:rPr>
              <a:t> femoral_head·pubis·L4 </a:t>
            </a:r>
            <a:r>
              <a:rPr sz="1400" b="0" dirty="0" err="1">
                <a:solidFill>
                  <a:srgbClr val="333F4D"/>
                </a:solidFill>
              </a:rPr>
              <a:t>SAT와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femoral_head</a:t>
            </a:r>
            <a:r>
              <a:rPr sz="1400" b="0" dirty="0">
                <a:solidFill>
                  <a:srgbClr val="333F4D"/>
                </a:solidFill>
              </a:rPr>
              <a:t> TAMA, </a:t>
            </a:r>
            <a:r>
              <a:rPr sz="1400" b="0" dirty="0" err="1">
                <a:solidFill>
                  <a:srgbClr val="333F4D"/>
                </a:solidFill>
              </a:rPr>
              <a:t>CKD의</a:t>
            </a:r>
            <a:r>
              <a:rPr sz="1400" b="0" dirty="0">
                <a:solidFill>
                  <a:srgbClr val="333F4D"/>
                </a:solidFill>
              </a:rPr>
              <a:t> S1 SAT. DM </a:t>
            </a:r>
            <a:r>
              <a:rPr sz="1400" b="0" dirty="0" err="1">
                <a:solidFill>
                  <a:srgbClr val="333F4D"/>
                </a:solidFill>
              </a:rPr>
              <a:t>비율</a:t>
            </a:r>
            <a:r>
              <a:rPr sz="1400" b="0" dirty="0">
                <a:solidFill>
                  <a:srgbClr val="333F4D"/>
                </a:solidFill>
              </a:rPr>
              <a:t>(TAMA </a:t>
            </a:r>
            <a:r>
              <a:rPr sz="1400" b="0" dirty="0" err="1">
                <a:solidFill>
                  <a:srgbClr val="333F4D"/>
                </a:solidFill>
              </a:rPr>
              <a:t>점유율@pubis</a:t>
            </a:r>
            <a:r>
              <a:rPr sz="1400" b="0" dirty="0">
                <a:solidFill>
                  <a:srgbClr val="333F4D"/>
                </a:solidFill>
              </a:rPr>
              <a:t> 1.38/1.37 등)도 </a:t>
            </a:r>
            <a:r>
              <a:rPr sz="1400" b="0" dirty="0" err="1">
                <a:solidFill>
                  <a:srgbClr val="333F4D"/>
                </a:solidFill>
              </a:rPr>
              <a:t>일치</a:t>
            </a:r>
            <a:r>
              <a:rPr sz="1400" b="0" dirty="0">
                <a:solidFill>
                  <a:srgbClr val="333F4D"/>
                </a:solidFill>
              </a:rPr>
              <a:t>. </a:t>
            </a:r>
            <a:r>
              <a:rPr sz="1400" b="0" dirty="0" err="1">
                <a:solidFill>
                  <a:srgbClr val="333F4D"/>
                </a:solidFill>
              </a:rPr>
              <a:t>HTN은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일치하는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값이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없고</a:t>
            </a:r>
            <a:r>
              <a:rPr sz="1400" b="0" dirty="0">
                <a:solidFill>
                  <a:srgbClr val="333F4D"/>
                </a:solidFill>
              </a:rPr>
              <a:t> VAT </a:t>
            </a:r>
            <a:r>
              <a:rPr sz="1400" b="0" dirty="0" err="1">
                <a:solidFill>
                  <a:srgbClr val="333F4D"/>
                </a:solidFill>
              </a:rPr>
              <a:t>합도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gangnam</a:t>
            </a:r>
            <a:r>
              <a:rPr sz="1400" b="0" dirty="0">
                <a:solidFill>
                  <a:srgbClr val="333F4D"/>
                </a:solidFill>
              </a:rPr>
              <a:t>(1.79)</a:t>
            </a:r>
            <a:r>
              <a:rPr sz="1400" b="0" dirty="0" err="1">
                <a:solidFill>
                  <a:srgbClr val="333F4D"/>
                </a:solidFill>
              </a:rPr>
              <a:t>에서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뚜렷하나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sinchon은</a:t>
            </a:r>
            <a:r>
              <a:rPr sz="1400" b="0" dirty="0">
                <a:solidFill>
                  <a:srgbClr val="333F4D"/>
                </a:solidFill>
              </a:rPr>
              <a:t> 1.16(p=0.052). </a:t>
            </a:r>
            <a:r>
              <a:rPr sz="1400" b="0" dirty="0" err="1">
                <a:solidFill>
                  <a:srgbClr val="333F4D"/>
                </a:solidFill>
              </a:rPr>
              <a:t>k가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커질수록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다변량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OR은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불안정</a:t>
            </a:r>
            <a:r>
              <a:rPr sz="1400" b="0" dirty="0">
                <a:solidFill>
                  <a:srgbClr val="333F4D"/>
                </a:solidFill>
              </a:rPr>
              <a:t>(</a:t>
            </a:r>
            <a:r>
              <a:rPr sz="1400" b="0" dirty="0" err="1">
                <a:solidFill>
                  <a:srgbClr val="333F4D"/>
                </a:solidFill>
              </a:rPr>
              <a:t>공선성</a:t>
            </a:r>
            <a:r>
              <a:rPr sz="1400" b="0" dirty="0">
                <a:solidFill>
                  <a:srgbClr val="333F4D"/>
                </a:solidFill>
              </a:rPr>
              <a:t>)</a:t>
            </a:r>
          </a:p>
          <a:p>
            <a:r>
              <a:rPr sz="1400" b="0" dirty="0" err="1">
                <a:solidFill>
                  <a:srgbClr val="333F4D"/>
                </a:solidFill>
              </a:rPr>
              <a:t>성별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층화</a:t>
            </a:r>
            <a:r>
              <a:rPr sz="1400" b="0" dirty="0">
                <a:solidFill>
                  <a:srgbClr val="333F4D"/>
                </a:solidFill>
              </a:rPr>
              <a:t>: </a:t>
            </a:r>
            <a:r>
              <a:rPr sz="1400" b="0" dirty="0" err="1">
                <a:solidFill>
                  <a:srgbClr val="333F4D"/>
                </a:solidFill>
              </a:rPr>
              <a:t>남·여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따로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평가해도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향상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없음</a:t>
            </a:r>
            <a:r>
              <a:rPr sz="1400" b="0" dirty="0">
                <a:solidFill>
                  <a:srgbClr val="333F4D"/>
                </a:solidFill>
              </a:rPr>
              <a:t>. baseline </a:t>
            </a:r>
            <a:r>
              <a:rPr sz="1400" b="0" dirty="0" err="1">
                <a:solidFill>
                  <a:srgbClr val="333F4D"/>
                </a:solidFill>
              </a:rPr>
              <a:t>성능이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성별로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다르고</a:t>
            </a:r>
            <a:r>
              <a:rPr sz="1400" b="0" dirty="0">
                <a:solidFill>
                  <a:srgbClr val="333F4D"/>
                </a:solidFill>
              </a:rPr>
              <a:t>(HTN </a:t>
            </a:r>
            <a:r>
              <a:rPr sz="1400" b="0" dirty="0" err="1">
                <a:solidFill>
                  <a:srgbClr val="333F4D"/>
                </a:solidFill>
              </a:rPr>
              <a:t>여성</a:t>
            </a:r>
            <a:r>
              <a:rPr sz="1400" b="0" dirty="0">
                <a:solidFill>
                  <a:srgbClr val="333F4D"/>
                </a:solidFill>
              </a:rPr>
              <a:t> 0.82 vs </a:t>
            </a:r>
            <a:r>
              <a:rPr sz="1400" b="0" dirty="0" err="1">
                <a:solidFill>
                  <a:srgbClr val="333F4D"/>
                </a:solidFill>
              </a:rPr>
              <a:t>남성</a:t>
            </a:r>
            <a:r>
              <a:rPr sz="1400" b="0" dirty="0">
                <a:solidFill>
                  <a:srgbClr val="333F4D"/>
                </a:solidFill>
              </a:rPr>
              <a:t> 0.66) OR </a:t>
            </a:r>
            <a:r>
              <a:rPr sz="1400" b="0" dirty="0" err="1">
                <a:solidFill>
                  <a:srgbClr val="333F4D"/>
                </a:solidFill>
              </a:rPr>
              <a:t>성별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이질성은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우연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수준</a:t>
            </a:r>
            <a:r>
              <a:rPr sz="1400" b="0" dirty="0">
                <a:solidFill>
                  <a:srgbClr val="333F4D"/>
                </a:solidFill>
              </a:rPr>
              <a:t>(10/216, FDR&lt;0.10 </a:t>
            </a:r>
            <a:r>
              <a:rPr sz="1400" b="0" dirty="0" err="1">
                <a:solidFill>
                  <a:srgbClr val="333F4D"/>
                </a:solidFill>
              </a:rPr>
              <a:t>없음</a:t>
            </a:r>
            <a:r>
              <a:rPr sz="1400" b="0" dirty="0">
                <a:solidFill>
                  <a:srgbClr val="333F4D"/>
                </a:solidFill>
              </a:rPr>
              <a:t>)</a:t>
            </a:r>
          </a:p>
          <a:p>
            <a:r>
              <a:rPr sz="1400" b="0" dirty="0" err="1">
                <a:solidFill>
                  <a:srgbClr val="333F4D"/>
                </a:solidFill>
              </a:rPr>
              <a:t>데이터·방법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주의</a:t>
            </a:r>
            <a:r>
              <a:rPr sz="1400" b="0" dirty="0">
                <a:solidFill>
                  <a:srgbClr val="333F4D"/>
                </a:solidFill>
              </a:rPr>
              <a:t>: 7/1/2 hold-</a:t>
            </a:r>
            <a:r>
              <a:rPr sz="1400" b="0" dirty="0" err="1">
                <a:solidFill>
                  <a:srgbClr val="333F4D"/>
                </a:solidFill>
              </a:rPr>
              <a:t>out이라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내부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test가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작아</a:t>
            </a:r>
            <a:r>
              <a:rPr sz="1400" b="0" dirty="0">
                <a:solidFill>
                  <a:srgbClr val="333F4D"/>
                </a:solidFill>
              </a:rPr>
              <a:t>(HTN 188 / DM 117 / CKD 54명) </a:t>
            </a:r>
            <a:r>
              <a:rPr sz="1400" b="0" dirty="0" err="1">
                <a:solidFill>
                  <a:srgbClr val="333F4D"/>
                </a:solidFill>
              </a:rPr>
              <a:t>내부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AUC가</a:t>
            </a:r>
            <a:r>
              <a:rPr sz="1400" b="0" dirty="0">
                <a:solidFill>
                  <a:srgbClr val="333F4D"/>
                </a:solidFill>
              </a:rPr>
              <a:t> ±0.05~0.13 </a:t>
            </a:r>
            <a:r>
              <a:rPr sz="1400" b="0" dirty="0" err="1">
                <a:solidFill>
                  <a:srgbClr val="333F4D"/>
                </a:solidFill>
              </a:rPr>
              <a:t>흔들림</a:t>
            </a:r>
            <a:r>
              <a:rPr sz="1400" b="0" dirty="0">
                <a:solidFill>
                  <a:srgbClr val="333F4D"/>
                </a:solidFill>
              </a:rPr>
              <a:t>. </a:t>
            </a:r>
            <a:r>
              <a:rPr sz="1400" b="0" dirty="0" err="1">
                <a:solidFill>
                  <a:srgbClr val="333F4D"/>
                </a:solidFill>
              </a:rPr>
              <a:t>이전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데이터</a:t>
            </a:r>
            <a:r>
              <a:rPr sz="1400" b="0" dirty="0">
                <a:solidFill>
                  <a:srgbClr val="333F4D"/>
                </a:solidFill>
              </a:rPr>
              <a:t>(754/443명)</a:t>
            </a:r>
            <a:r>
              <a:rPr sz="1400" b="0" dirty="0" err="1">
                <a:solidFill>
                  <a:srgbClr val="333F4D"/>
                </a:solidFill>
              </a:rPr>
              <a:t>에서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보인</a:t>
            </a:r>
            <a:r>
              <a:rPr sz="1400" b="0" dirty="0">
                <a:solidFill>
                  <a:srgbClr val="333F4D"/>
                </a:solidFill>
              </a:rPr>
              <a:t> DM </a:t>
            </a:r>
            <a:r>
              <a:rPr sz="1400" b="0" dirty="0" err="1">
                <a:solidFill>
                  <a:srgbClr val="333F4D"/>
                </a:solidFill>
              </a:rPr>
              <a:t>골반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향상</a:t>
            </a:r>
            <a:r>
              <a:rPr sz="1400" b="0" dirty="0">
                <a:solidFill>
                  <a:srgbClr val="333F4D"/>
                </a:solidFill>
              </a:rPr>
              <a:t>, CKD </a:t>
            </a:r>
            <a:r>
              <a:rPr sz="1400" b="0" dirty="0" err="1">
                <a:solidFill>
                  <a:srgbClr val="333F4D"/>
                </a:solidFill>
              </a:rPr>
              <a:t>향상은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이번에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재현되지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않음</a:t>
            </a:r>
            <a:endParaRPr sz="1400" b="0" dirty="0">
              <a:solidFill>
                <a:srgbClr val="333F4D"/>
              </a:solidFill>
            </a:endParaRPr>
          </a:p>
          <a:p>
            <a:r>
              <a:rPr sz="1400" b="0" dirty="0" err="1">
                <a:solidFill>
                  <a:srgbClr val="333F4D"/>
                </a:solidFill>
              </a:rPr>
              <a:t>한계</a:t>
            </a:r>
            <a:r>
              <a:rPr sz="1400" b="0" dirty="0">
                <a:solidFill>
                  <a:srgbClr val="333F4D"/>
                </a:solidFill>
              </a:rPr>
              <a:t>: </a:t>
            </a:r>
            <a:r>
              <a:rPr sz="1400" b="0" dirty="0" err="1">
                <a:solidFill>
                  <a:srgbClr val="333F4D"/>
                </a:solidFill>
              </a:rPr>
              <a:t>단일</a:t>
            </a:r>
            <a:r>
              <a:rPr sz="1400" b="0" dirty="0">
                <a:solidFill>
                  <a:srgbClr val="333F4D"/>
                </a:solidFill>
              </a:rPr>
              <a:t> seed </a:t>
            </a:r>
            <a:r>
              <a:rPr sz="1400" b="0" dirty="0" err="1">
                <a:solidFill>
                  <a:srgbClr val="333F4D"/>
                </a:solidFill>
              </a:rPr>
              <a:t>분할</a:t>
            </a:r>
            <a:r>
              <a:rPr sz="1400" b="0" dirty="0">
                <a:solidFill>
                  <a:srgbClr val="333F4D"/>
                </a:solidFill>
              </a:rPr>
              <a:t>, </a:t>
            </a:r>
            <a:r>
              <a:rPr sz="1400" b="0" dirty="0" err="1">
                <a:solidFill>
                  <a:srgbClr val="333F4D"/>
                </a:solidFill>
              </a:rPr>
              <a:t>단면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연구</a:t>
            </a:r>
            <a:r>
              <a:rPr sz="1400" b="0" dirty="0">
                <a:solidFill>
                  <a:srgbClr val="333F4D"/>
                </a:solidFill>
              </a:rPr>
              <a:t>(</a:t>
            </a:r>
            <a:r>
              <a:rPr sz="1400" b="0" dirty="0" err="1">
                <a:solidFill>
                  <a:srgbClr val="333F4D"/>
                </a:solidFill>
              </a:rPr>
              <a:t>예후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불가</a:t>
            </a:r>
            <a:r>
              <a:rPr sz="1400" b="0" dirty="0">
                <a:solidFill>
                  <a:srgbClr val="333F4D"/>
                </a:solidFill>
              </a:rPr>
              <a:t>), anchor </a:t>
            </a:r>
            <a:r>
              <a:rPr sz="1400" b="0" dirty="0" err="1">
                <a:solidFill>
                  <a:srgbClr val="333F4D"/>
                </a:solidFill>
              </a:rPr>
              <a:t>단면은</a:t>
            </a:r>
            <a:r>
              <a:rPr sz="1400" b="0" dirty="0">
                <a:solidFill>
                  <a:srgbClr val="333F4D"/>
                </a:solidFill>
              </a:rPr>
              <a:t> slice 1장이라 </a:t>
            </a:r>
            <a:r>
              <a:rPr sz="1400" b="0" dirty="0" err="1">
                <a:solidFill>
                  <a:srgbClr val="333F4D"/>
                </a:solidFill>
              </a:rPr>
              <a:t>노이즈가</a:t>
            </a:r>
            <a:r>
              <a:rPr sz="1400" b="0" dirty="0">
                <a:solidFill>
                  <a:srgbClr val="333F4D"/>
                </a:solidFill>
              </a:rPr>
              <a:t> 큼, </a:t>
            </a:r>
            <a:r>
              <a:rPr sz="1400" b="0" dirty="0" err="1">
                <a:solidFill>
                  <a:srgbClr val="333F4D"/>
                </a:solidFill>
              </a:rPr>
              <a:t>liver_dome이</a:t>
            </a:r>
            <a:r>
              <a:rPr sz="1400" b="0" dirty="0">
                <a:solidFill>
                  <a:srgbClr val="333F4D"/>
                </a:solidFill>
              </a:rPr>
              <a:t> T10보다 </a:t>
            </a:r>
            <a:r>
              <a:rPr sz="1400" b="0" dirty="0" err="1">
                <a:solidFill>
                  <a:srgbClr val="333F4D"/>
                </a:solidFill>
              </a:rPr>
              <a:t>뒤인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환자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다수</a:t>
            </a:r>
            <a:r>
              <a:rPr sz="1400" b="0" dirty="0">
                <a:solidFill>
                  <a:srgbClr val="333F4D"/>
                </a:solidFill>
              </a:rPr>
              <a:t>(</a:t>
            </a:r>
            <a:r>
              <a:rPr sz="1400" b="0" dirty="0" err="1">
                <a:solidFill>
                  <a:srgbClr val="333F4D"/>
                </a:solidFill>
              </a:rPr>
              <a:t>gangnam</a:t>
            </a:r>
            <a:r>
              <a:rPr sz="1400" b="0" dirty="0">
                <a:solidFill>
                  <a:srgbClr val="333F4D"/>
                </a:solidFill>
              </a:rPr>
              <a:t> 46%, </a:t>
            </a:r>
            <a:r>
              <a:rPr sz="1400" b="0" dirty="0" err="1">
                <a:solidFill>
                  <a:srgbClr val="333F4D"/>
                </a:solidFill>
              </a:rPr>
              <a:t>sinchon</a:t>
            </a:r>
            <a:r>
              <a:rPr sz="1400" b="0" dirty="0">
                <a:solidFill>
                  <a:srgbClr val="333F4D"/>
                </a:solidFill>
              </a:rPr>
              <a:t> 13%). </a:t>
            </a:r>
            <a:r>
              <a:rPr sz="1400" b="0" dirty="0" err="1">
                <a:solidFill>
                  <a:srgbClr val="333F4D"/>
                </a:solidFill>
              </a:rPr>
              <a:t>다음</a:t>
            </a:r>
            <a:r>
              <a:rPr sz="1400" b="0" dirty="0">
                <a:solidFill>
                  <a:srgbClr val="333F4D"/>
                </a:solidFill>
              </a:rPr>
              <a:t>: seed </a:t>
            </a:r>
            <a:r>
              <a:rPr sz="1400" b="0" dirty="0" err="1">
                <a:solidFill>
                  <a:srgbClr val="333F4D"/>
                </a:solidFill>
              </a:rPr>
              <a:t>반복</a:t>
            </a:r>
            <a:r>
              <a:rPr sz="1400" b="0" dirty="0">
                <a:solidFill>
                  <a:srgbClr val="333F4D"/>
                </a:solidFill>
              </a:rPr>
              <a:t> hold-</a:t>
            </a:r>
            <a:r>
              <a:rPr sz="1400" b="0" dirty="0" err="1">
                <a:solidFill>
                  <a:srgbClr val="333F4D"/>
                </a:solidFill>
              </a:rPr>
              <a:t>out으로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안정성</a:t>
            </a:r>
            <a:r>
              <a:rPr sz="1400" b="0" dirty="0">
                <a:solidFill>
                  <a:srgbClr val="333F4D"/>
                </a:solidFill>
              </a:rPr>
              <a:t> </a:t>
            </a:r>
            <a:r>
              <a:rPr sz="1400" b="0" dirty="0" err="1">
                <a:solidFill>
                  <a:srgbClr val="333F4D"/>
                </a:solidFill>
              </a:rPr>
              <a:t>확인</a:t>
            </a:r>
            <a:r>
              <a:rPr sz="1400" b="0" dirty="0">
                <a:solidFill>
                  <a:srgbClr val="333F4D"/>
                </a:solidFill>
              </a:rPr>
              <a:t>, </a:t>
            </a:r>
            <a:r>
              <a:rPr sz="1400" b="0" dirty="0" err="1">
                <a:solidFill>
                  <a:srgbClr val="333F4D"/>
                </a:solidFill>
              </a:rPr>
              <a:t>체격</a:t>
            </a:r>
            <a:r>
              <a:rPr sz="1400" b="0" dirty="0">
                <a:solidFill>
                  <a:srgbClr val="333F4D"/>
                </a:solidFill>
              </a:rPr>
              <a:t>(BMI) </a:t>
            </a:r>
            <a:r>
              <a:rPr sz="1400" b="0" dirty="0" err="1">
                <a:solidFill>
                  <a:srgbClr val="333F4D"/>
                </a:solidFill>
              </a:rPr>
              <a:t>보정</a:t>
            </a:r>
            <a:endParaRPr sz="1400" b="0" dirty="0">
              <a:solidFill>
                <a:srgbClr val="333F4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S1. Anchor Value Models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9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Model1에 feature를 추가한 전체 AUC (Int = gangnam hold-out test, Ext = sinchon)</a:t>
            </a:r>
          </a:p>
          <a:p>
            <a:r>
              <a:rPr sz="1800" b="0">
                <a:solidFill>
                  <a:srgbClr val="333F4D"/>
                </a:solidFill>
              </a:rPr>
              <a:t>L3 단독 / L1,L3,L5 / 12 anchors를 Model1에 추가. # Feat = clinic4 4개 포함 입력 feature 총개수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649402"/>
              </p:ext>
            </p:extLst>
          </p:nvPr>
        </p:nvGraphicFramePr>
        <p:xfrm>
          <a:off x="508000" y="2365513"/>
          <a:ext cx="11175994" cy="391448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32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5862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# Feat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862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862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862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+VAT@L3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862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+SAT@L3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862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+TAMA@L3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862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+VAT+SAT@L3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862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+all3@L3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862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+VAT@L1,L3,L5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862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+SAT@L1,L3,L5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862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+TAMA@L1,L3,L5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0.618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S2. Anchor Value Models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9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Model1에 feature를 추가한 전체 AUC (Int = gangnam hold-out test, Ext = sinchon)</a:t>
            </a:r>
          </a:p>
          <a:p>
            <a:r>
              <a:rPr sz="1800" b="0">
                <a:solidFill>
                  <a:srgbClr val="333F4D"/>
                </a:solidFill>
              </a:rPr>
              <a:t>L3 단독 / L1,L3,L5 / 12 anchors를 Model1에 추가. # Feat = clinic4 4개 포함 입력 feature 총개수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159438"/>
              </p:ext>
            </p:extLst>
          </p:nvPr>
        </p:nvGraphicFramePr>
        <p:xfrm>
          <a:off x="508000" y="2415208"/>
          <a:ext cx="11175994" cy="386479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32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6479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# Feat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479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479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479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+VAT+SAT@L1,L3,L5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479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+all3@L1,L3,L5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479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+VAT@all12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479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+SAT@all12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479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+TAMA@all12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479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+VAT+SAT@all12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479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+all3@all12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0.668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S3. Ratio Feature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9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Model1에 feature를 추가한 전체 AUC (Int = gangnam hold-out test, Ext = sinchon)</a:t>
            </a:r>
          </a:p>
          <a:p>
            <a:r>
              <a:rPr sz="1800" b="0">
                <a:solidFill>
                  <a:srgbClr val="333F4D"/>
                </a:solidFill>
              </a:rPr>
              <a:t>VAT/SAT, VAT/TAMA 등 전체 구간 합 비율과 landmark 비율. # Feat = clinic4 4개 포함 입력 feature 총개수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700927"/>
              </p:ext>
            </p:extLst>
          </p:nvPr>
        </p:nvGraphicFramePr>
        <p:xfrm>
          <a:off x="508000" y="2425148"/>
          <a:ext cx="11175994" cy="385485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32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5485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# Feat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485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485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85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Model2 +VAT/SAT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485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Model3 +VAT/TAMA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485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Model4 +TAMA/(TAMA+fat)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485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Model5 +VAT segment fraction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485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Model6 +VAT/SAT@L1,L3,L5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485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Model7 +VAT,SAT,TAMA landmark/L3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485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Model8 +all ratios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0.640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S4. FPCA Feature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9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Model1에 feature를 추가한 전체 AUC (Int = gangnam hold-out test, Ext = sinchon)</a:t>
            </a:r>
          </a:p>
          <a:p>
            <a:r>
              <a:rPr sz="1800" b="0">
                <a:solidFill>
                  <a:srgbClr val="333F4D"/>
                </a:solidFill>
              </a:rPr>
              <a:t>조직별 곡선을 FPCA(PC 3개)로 요약. # Feat = clinic4 4개 포함 입력 feature 총개수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919936"/>
              </p:ext>
            </p:extLst>
          </p:nvPr>
        </p:nvGraphicFramePr>
        <p:xfrm>
          <a:off x="508000" y="2494722"/>
          <a:ext cx="11175994" cy="37852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32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3160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# Feat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160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160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160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Model9 +FPCA(VAT)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160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Model10 +FPCA(SAT)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160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Model11 +FPCA(TAMA)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160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Model12 +FPCA(VAT,SAT)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160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Model13 +FPCA(all3)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0.658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S5. Anchor Ratio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9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Model1에 feature를 추가한 전체 AUC (Int = gangnam hold-out test, Ext = sinchon)</a:t>
            </a:r>
          </a:p>
          <a:p>
            <a:r>
              <a:rPr sz="1800" b="0">
                <a:solidFill>
                  <a:srgbClr val="333F4D"/>
                </a:solidFill>
              </a:rPr>
              <a:t>anchor/L3, anchor 내 조직 비율. # Feat = clinic4 4개 포함 입력 feature 총개수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326769"/>
              </p:ext>
            </p:extLst>
          </p:nvPr>
        </p:nvGraphicFramePr>
        <p:xfrm>
          <a:off x="508000" y="2335696"/>
          <a:ext cx="11175994" cy="3944303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32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8573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# Feat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573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573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573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+VAT anchor/L3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573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+SAT anchor/L3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573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+TAMA anchor/L3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573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+VAT/SAT @anchors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573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+TAMA/(TAMA+fat) @anchors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573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+all3 anchor/L3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573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+tissue ratios @all anchors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573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+all ratios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0.660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S6. A Priori Anchor Subset Models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9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Model1에 feature를 추가한 전체 AUC (Int = gangnam hold-out test, Ext = sinchon)</a:t>
            </a:r>
          </a:p>
          <a:p>
            <a:r>
              <a:rPr sz="1800" b="0">
                <a:solidFill>
                  <a:srgbClr val="333F4D"/>
                </a:solidFill>
              </a:rPr>
              <a:t>위치 구간 부분집합 + nested 상위 k 선택(nested는 train+valid 안에서 선택). # Feat = clinic4 4개 포함 입력 feature 총개수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430657"/>
              </p:ext>
            </p:extLst>
          </p:nvPr>
        </p:nvGraphicFramePr>
        <p:xfrm>
          <a:off x="508000" y="2872409"/>
          <a:ext cx="11175994" cy="341318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32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4581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# Feat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VAT+SAT@upper(liver,T10-12)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TAMA@upper(liver,T10-12)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all3@upper(liver,T10-12)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VAT+SAT@mid(L1-3)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TAMA@mid(L1-3)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all3@mid(L1-3)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VAT+SAT@lowspine(L4,L5,S1)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TAMA@lowspine(L4,L5,S1)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all3@lowspine(L4,L5,S1)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0.652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0.625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S7. A Priori Anchor Subset Models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9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Model1에 feature를 추가한 전체 AUC (Int = gangnam hold-out test, Ext = sinchon)</a:t>
            </a:r>
          </a:p>
          <a:p>
            <a:r>
              <a:rPr sz="1800" b="0">
                <a:solidFill>
                  <a:srgbClr val="333F4D"/>
                </a:solidFill>
              </a:rPr>
              <a:t>위치 구간 부분집합 + nested 상위 k 선택(nested는 train+valid 안에서 선택). # Feat = clinic4 4개 포함 입력 feature 총개수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467517"/>
              </p:ext>
            </p:extLst>
          </p:nvPr>
        </p:nvGraphicFramePr>
        <p:xfrm>
          <a:off x="508000" y="2872408"/>
          <a:ext cx="11175994" cy="341318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32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48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# Feat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HTN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DM 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CKD 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Model1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VAT+SAT@pelvis(femoral,pubis)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TAMA@pelvis(femoral,pubis)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all3@pelvis(femoral,pubis)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VAT+SAT@rep4(T12,L3,S1,femoral)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TAMA@rep4(T12,L3,S1,femoral)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all3@rep4(T12,L3,S1,femoral)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nested top3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nested top5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96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nested top10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0.650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S8. AUC vs k: Ratio Pool vs Value Pool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7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비율 후보 55개(진한 선)와 값 후보 35개(옅은 선)에서 train+valid 안 순위 top-k를 추가한 AUC. 점선=baseline, 파선=Model1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pic>
        <p:nvPicPr>
          <p:cNvPr id="8" name="Picture 7" descr="anchor_ratio_k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457251"/>
            <a:ext cx="111760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S9. Sex-Stratified ΔAUC vs Model1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9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대표 모델의 Model1 대비 AUC 변화를 남성(파랑)·여성(주황)으로 비교. 위: 내부(gangnam test), 아래: 외부(sinchon). 성별별 test가 작아 막대 크기에 비해 불확실성이 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pic>
        <p:nvPicPr>
          <p:cNvPr id="8" name="Picture 7" descr="sex_stratified_delta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000" y="2098000"/>
            <a:ext cx="10200000" cy="47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7321</TotalTime>
  <Words>5514</Words>
  <Application>Microsoft Office PowerPoint</Application>
  <PresentationFormat>와이드스크린</PresentationFormat>
  <Paragraphs>1247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Arial</vt:lpstr>
      <vt:lpstr>KoPub돋움체 Medium</vt:lpstr>
      <vt:lpstr>KoPub돋움체 Bold</vt:lpstr>
      <vt:lpstr>Office 테마</vt:lpstr>
      <vt:lpstr>PowerPoint 프레젠테이션</vt:lpstr>
      <vt:lpstr>Study Design</vt:lpstr>
      <vt:lpstr>Feature Extraction: Sample Patient Check</vt:lpstr>
      <vt:lpstr>Table 1. Anchor Values Add Little AUC</vt:lpstr>
      <vt:lpstr>Table 2. Associations Replicate Mainly for DM</vt:lpstr>
      <vt:lpstr>Figure 1. OR Profile by Anchor and Tissue</vt:lpstr>
      <vt:lpstr>Table 3. AUC by Number of Selected Values (k)</vt:lpstr>
      <vt:lpstr>Figure 2. AUC vs Number of Selected Values</vt:lpstr>
      <vt:lpstr>Table 4. Odds Ratios Become Unstable as k Grows</vt:lpstr>
      <vt:lpstr>Table 5. Anchor Ratio Features</vt:lpstr>
      <vt:lpstr>Table 6. A Priori Anchor Subsets</vt:lpstr>
      <vt:lpstr>Table 7. Sex-Stratified Comparison</vt:lpstr>
      <vt:lpstr>Conclusion</vt:lpstr>
      <vt:lpstr>PowerPoint 프레젠테이션</vt:lpstr>
      <vt:lpstr>S1. Anchor Value Models (1/2)</vt:lpstr>
      <vt:lpstr>S2. Anchor Value Models (2/2)</vt:lpstr>
      <vt:lpstr>S3. Ratio Feature Models</vt:lpstr>
      <vt:lpstr>S4. FPCA Feature Models</vt:lpstr>
      <vt:lpstr>S5. Anchor Ratio Models</vt:lpstr>
      <vt:lpstr>S6. A Priori Anchor Subset Models (1/2)</vt:lpstr>
      <vt:lpstr>S7. A Priori Anchor Subset Models (2/2)</vt:lpstr>
      <vt:lpstr>S8. AUC vs k: Ratio Pool vs Value Pool</vt:lpstr>
      <vt:lpstr>S9. Sex-Stratified ΔAUC vs Model1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745</cp:revision>
  <dcterms:created xsi:type="dcterms:W3CDTF">2026-04-09T07:05:16Z</dcterms:created>
  <dcterms:modified xsi:type="dcterms:W3CDTF">2026-10-06T02:49:23Z</dcterms:modified>
</cp:coreProperties>
</file>