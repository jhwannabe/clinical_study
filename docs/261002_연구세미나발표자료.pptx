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69" r:id="rId3"/>
    <p:sldId id="257" r:id="rId4"/>
    <p:sldId id="258" r:id="rId5"/>
    <p:sldId id="260" r:id="rId6"/>
    <p:sldId id="259" r:id="rId7"/>
    <p:sldId id="265" r:id="rId8"/>
    <p:sldId id="277" r:id="rId9"/>
    <p:sldId id="270" r:id="rId10"/>
    <p:sldId id="268" r:id="rId11"/>
    <p:sldId id="487" r:id="rId12"/>
    <p:sldId id="267" r:id="rId13"/>
    <p:sldId id="262" r:id="rId14"/>
    <p:sldId id="261" r:id="rId15"/>
    <p:sldId id="491" r:id="rId16"/>
    <p:sldId id="492" r:id="rId17"/>
    <p:sldId id="493" r:id="rId18"/>
    <p:sldId id="494" r:id="rId19"/>
    <p:sldId id="495" r:id="rId20"/>
    <p:sldId id="496" r:id="rId21"/>
    <p:sldId id="264" r:id="rId22"/>
    <p:sldId id="278" r:id="rId23"/>
    <p:sldId id="279" r:id="rId24"/>
    <p:sldId id="497" r:id="rId25"/>
  </p:sldIdLst>
  <p:sldSz cx="12192000" cy="6858000"/>
  <p:notesSz cx="6858000" cy="9144000"/>
  <p:embeddedFontLst>
    <p:embeddedFont>
      <p:font typeface="KoPub돋움체 Bold" panose="00000800000000000000" pitchFamily="2" charset="-127"/>
      <p:bold r:id="rId27"/>
    </p:embeddedFont>
    <p:embeddedFont>
      <p:font typeface="KoPub돋움체 Medium" panose="00000600000000000000" pitchFamily="2" charset="-127"/>
      <p:regular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69"/>
            <p14:sldId id="257"/>
            <p14:sldId id="258"/>
            <p14:sldId id="260"/>
            <p14:sldId id="259"/>
            <p14:sldId id="265"/>
            <p14:sldId id="277"/>
            <p14:sldId id="270"/>
            <p14:sldId id="268"/>
            <p14:sldId id="487"/>
            <p14:sldId id="267"/>
            <p14:sldId id="262"/>
            <p14:sldId id="261"/>
            <p14:sldId id="491"/>
            <p14:sldId id="492"/>
            <p14:sldId id="493"/>
            <p14:sldId id="494"/>
            <p14:sldId id="495"/>
            <p14:sldId id="496"/>
            <p14:sldId id="264"/>
            <p14:sldId id="278"/>
            <p14:sldId id="279"/>
            <p14:sldId id="4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10T05:04:12.456" v="4648" actId="403"/>
      <pc:docMkLst>
        <pc:docMk/>
      </pc:docMkLst>
      <pc:sldChg chg="modSp mod modNotes modNotesTx">
        <pc:chgData name="janghoon jun" userId="056a5883350c2f5e" providerId="LiveId" clId="{6DA654A6-03B0-40F7-A259-B276216985A6}" dt="2026-09-10T04:59:39.505" v="4550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10T05:04:12.456" v="4648" actId="403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4:12.456" v="4648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16:00.971" v="4488" actId="404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9-10T03:16:00.971" v="44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08T03:15:38.775" v="4423" actId="2062"/>
        <pc:sldMkLst>
          <pc:docMk/>
          <pc:sldMk cId="0" sldId="259"/>
        </pc:sldMkLst>
      </pc:sldChg>
      <pc:sldChg chg="delSp modSp del mod">
        <pc:chgData name="janghoon jun" userId="056a5883350c2f5e" providerId="LiveId" clId="{6DA654A6-03B0-40F7-A259-B276216985A6}" dt="2026-09-10T05:01:31.864" v="4601" actId="4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9-10T05:01:04.719" v="4595" actId="21"/>
          <ac:spMkLst>
            <pc:docMk/>
            <pc:sldMk cId="0" sldId="261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1:08.538" v="4597" actId="21"/>
          <ac:picMkLst>
            <pc:docMk/>
            <pc:sldMk cId="0" sldId="261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1:46.958" v="4608" actId="4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9-10T05:01:37.563" v="4603" actId="21"/>
          <ac:spMkLst>
            <pc:docMk/>
            <pc:sldMk cId="0" sldId="262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41.989" v="4605" actId="21"/>
          <ac:picMkLst>
            <pc:docMk/>
            <pc:sldMk cId="0" sldId="262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01.467" v="4615" actId="47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9-10T05:01:54.745" v="4611" actId="21"/>
          <ac:spMkLst>
            <pc:docMk/>
            <pc:sldMk cId="0" sldId="263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59.021" v="4613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33.552" v="4626" actId="47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9-10T05:02:07.183" v="4617" actId="21"/>
          <ac:spMkLst>
            <pc:docMk/>
            <pc:sldMk cId="0" sldId="264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2:10.641" v="4619" actId="21"/>
          <ac:picMkLst>
            <pc:docMk/>
            <pc:sldMk cId="0" sldId="264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3:04.881" v="4633" actId="47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9-10T05:02:38.758" v="4628" actId="21"/>
          <ac:spMkLst>
            <pc:docMk/>
            <pc:sldMk cId="0" sldId="265"/>
            <ac:spMk id="2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54.047" v="4543" actId="255"/>
          <ac:graphicFrameMkLst>
            <pc:docMk/>
            <pc:sldMk cId="0" sldId="265"/>
            <ac:graphicFrameMk id="3" creationId="{00000000-0000-0000-0000-000000000000}"/>
          </ac:graphicFrameMkLst>
        </pc:graphicFrameChg>
        <pc:picChg chg="del">
          <ac:chgData name="janghoon jun" userId="056a5883350c2f5e" providerId="LiveId" clId="{6DA654A6-03B0-40F7-A259-B276216985A6}" dt="2026-09-10T05:02:42.851" v="4630" actId="21"/>
          <ac:picMkLst>
            <pc:docMk/>
            <pc:sldMk cId="0" sldId="265"/>
            <ac:picMk id="3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10T05:03:31.457" v="4640" actId="1076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9-10T03:16:18.752" v="4490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3:31.457" v="4640" actId="1076"/>
          <ac:spMkLst>
            <pc:docMk/>
            <pc:sldMk cId="0" sldId="266"/>
            <ac:spMk id="5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9-10T05:03:27.249" v="4639" actId="107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delSp modSp del mod">
        <pc:chgData name="janghoon jun" userId="056a5883350c2f5e" providerId="LiveId" clId="{6DA654A6-03B0-40F7-A259-B276216985A6}" dt="2026-09-10T05:00:59.834" v="4593" actId="2763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9-08T03:22:06.514" v="448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0:59.834" v="45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9-10T05:04:04.780" v="4641" actId="47"/>
        <pc:sldMkLst>
          <pc:docMk/>
          <pc:sldMk cId="0" sldId="269"/>
        </pc:sldMkLst>
        <pc:graphicFrameChg chg="modGraphic">
          <ac:chgData name="janghoon jun" userId="056a5883350c2f5e" providerId="LiveId" clId="{6DA654A6-03B0-40F7-A259-B276216985A6}" dt="2026-09-10T03:22:45.138" v="4542" actId="255"/>
          <ac:graphicFrameMkLst>
            <pc:docMk/>
            <pc:sldMk cId="0" sldId="269"/>
            <ac:graphicFrameMk id="6" creationId="{E510CECF-189E-7B95-A7D1-8CF39243907A}"/>
          </ac:graphicFrameMkLst>
        </pc:graphicFrameChg>
      </pc:sldChg>
      <pc:sldChg chg="modSp mod">
        <pc:chgData name="janghoon jun" userId="056a5883350c2f5e" providerId="LiveId" clId="{6DA654A6-03B0-40F7-A259-B276216985A6}" dt="2026-09-10T03:22:37.115" v="4541" actId="255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9-10T03:22:37.115" v="4541" actId="255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33.054" v="4540" actId="255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9-10T03:23:12.656" v="4546" actId="271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9-10T03:23:12.656" v="4546" actId="271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22:18.743" v="4536" actId="255"/>
        <pc:sldMkLst>
          <pc:docMk/>
          <pc:sldMk cId="0" sldId="272"/>
        </pc:sldMkLst>
        <pc:graphicFrameChg chg="modGraphic">
          <ac:chgData name="janghoon jun" userId="056a5883350c2f5e" providerId="LiveId" clId="{6DA654A6-03B0-40F7-A259-B276216985A6}" dt="2026-09-10T03:22:18.743" v="4536" actId="255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14.195" v="4600" actId="1076"/>
        <pc:sldMkLst>
          <pc:docMk/>
          <pc:sldMk cId="2755278307" sldId="272"/>
        </pc:sldMkLst>
        <pc:spChg chg="mod">
          <ac:chgData name="janghoon jun" userId="056a5883350c2f5e" providerId="LiveId" clId="{6DA654A6-03B0-40F7-A259-B276216985A6}" dt="2026-09-10T05:01:06.801" v="4596"/>
          <ac:spMkLst>
            <pc:docMk/>
            <pc:sldMk cId="2755278307" sldId="272"/>
            <ac:spMk id="2" creationId="{47399A34-AE2B-4CC6-8304-596321EC9448}"/>
          </ac:spMkLst>
        </pc:spChg>
        <pc:spChg chg="del">
          <ac:chgData name="janghoon jun" userId="056a5883350c2f5e" providerId="LiveId" clId="{6DA654A6-03B0-40F7-A259-B276216985A6}" dt="2026-09-10T05:01:02.342" v="4594" actId="478"/>
          <ac:spMkLst>
            <pc:docMk/>
            <pc:sldMk cId="2755278307" sldId="272"/>
            <ac:spMk id="3" creationId="{8C665CBB-843D-1473-C103-8CBA53FCFA04}"/>
          </ac:spMkLst>
        </pc:spChg>
        <pc:spChg chg="add del mod">
          <ac:chgData name="janghoon jun" userId="056a5883350c2f5e" providerId="LiveId" clId="{6DA654A6-03B0-40F7-A259-B276216985A6}" dt="2026-09-10T05:01:11.596" v="4598" actId="478"/>
          <ac:spMkLst>
            <pc:docMk/>
            <pc:sldMk cId="2755278307" sldId="272"/>
            <ac:spMk id="5" creationId="{093EABBB-1335-B701-D6E0-0A3678A54285}"/>
          </ac:spMkLst>
        </pc:spChg>
        <pc:picChg chg="add mod">
          <ac:chgData name="janghoon jun" userId="056a5883350c2f5e" providerId="LiveId" clId="{6DA654A6-03B0-40F7-A259-B276216985A6}" dt="2026-09-10T05:01:14.195" v="4600" actId="1076"/>
          <ac:picMkLst>
            <pc:docMk/>
            <pc:sldMk cId="2755278307" sldId="272"/>
            <ac:picMk id="7" creationId="{DB5C9DB1-2489-F3D0-1976-537E15A9259F}"/>
          </ac:picMkLst>
        </pc:picChg>
      </pc:sldChg>
      <pc:sldChg chg="modSp mod">
        <pc:chgData name="janghoon jun" userId="056a5883350c2f5e" providerId="LiveId" clId="{6DA654A6-03B0-40F7-A259-B276216985A6}" dt="2026-09-10T03:21:38.729" v="4528" actId="255"/>
        <pc:sldMkLst>
          <pc:docMk/>
          <pc:sldMk cId="0" sldId="273"/>
        </pc:sldMkLst>
        <pc:graphicFrameChg chg="modGraphic">
          <ac:chgData name="janghoon jun" userId="056a5883350c2f5e" providerId="LiveId" clId="{6DA654A6-03B0-40F7-A259-B276216985A6}" dt="2026-09-10T03:21:38.729" v="4528" actId="255"/>
          <ac:graphicFrameMkLst>
            <pc:docMk/>
            <pc:sldMk cId="0" sldId="273"/>
            <ac:graphicFrameMk id="6" creationId="{E510CECF-189E-7B95-A7D1-8CF39243907A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44.278" v="4607" actId="22"/>
        <pc:sldMkLst>
          <pc:docMk/>
          <pc:sldMk cId="3764616405" sldId="273"/>
        </pc:sldMkLst>
        <pc:spChg chg="mod">
          <ac:chgData name="janghoon jun" userId="056a5883350c2f5e" providerId="LiveId" clId="{6DA654A6-03B0-40F7-A259-B276216985A6}" dt="2026-09-10T05:01:39.369" v="4604"/>
          <ac:spMkLst>
            <pc:docMk/>
            <pc:sldMk cId="3764616405" sldId="273"/>
            <ac:spMk id="2" creationId="{81756DD1-59E1-2584-8E19-3E1B59037185}"/>
          </ac:spMkLst>
        </pc:spChg>
        <pc:picChg chg="add">
          <ac:chgData name="janghoon jun" userId="056a5883350c2f5e" providerId="LiveId" clId="{6DA654A6-03B0-40F7-A259-B276216985A6}" dt="2026-09-10T05:01:44.278" v="4607" actId="22"/>
          <ac:picMkLst>
            <pc:docMk/>
            <pc:sldMk cId="3764616405" sldId="273"/>
            <ac:picMk id="4" creationId="{4D791A2B-D934-61D3-05BA-457321A70678}"/>
          </ac:picMkLst>
        </pc:picChg>
        <pc:picChg chg="del">
          <ac:chgData name="janghoon jun" userId="056a5883350c2f5e" providerId="LiveId" clId="{6DA654A6-03B0-40F7-A259-B276216985A6}" dt="2026-09-10T05:01:43.956" v="4606" actId="478"/>
          <ac:picMkLst>
            <pc:docMk/>
            <pc:sldMk cId="3764616405" sldId="273"/>
            <ac:picMk id="7" creationId="{C0C8C0CA-19F3-5E89-D747-E613365C3187}"/>
          </ac:picMkLst>
        </pc:picChg>
      </pc:sldChg>
      <pc:sldChg chg="modSp mod">
        <pc:chgData name="janghoon jun" userId="056a5883350c2f5e" providerId="LiveId" clId="{6DA654A6-03B0-40F7-A259-B276216985A6}" dt="2026-09-10T03:21:46.220" v="4529" actId="255"/>
        <pc:sldMkLst>
          <pc:docMk/>
          <pc:sldMk cId="0" sldId="274"/>
        </pc:sldMkLst>
        <pc:graphicFrameChg chg="modGraphic">
          <ac:chgData name="janghoon jun" userId="056a5883350c2f5e" providerId="LiveId" clId="{6DA654A6-03B0-40F7-A259-B276216985A6}" dt="2026-09-10T03:21:46.220" v="4529" actId="255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59.785" v="4614" actId="22"/>
        <pc:sldMkLst>
          <pc:docMk/>
          <pc:sldMk cId="2820107391" sldId="274"/>
        </pc:sldMkLst>
        <pc:spChg chg="mod">
          <ac:chgData name="janghoon jun" userId="056a5883350c2f5e" providerId="LiveId" clId="{6DA654A6-03B0-40F7-A259-B276216985A6}" dt="2026-09-10T05:01:56.743" v="4612"/>
          <ac:spMkLst>
            <pc:docMk/>
            <pc:sldMk cId="2820107391" sldId="274"/>
            <ac:spMk id="2" creationId="{96BE39D2-BACD-9BFA-6BEF-E23EB76F52A3}"/>
          </ac:spMkLst>
        </pc:spChg>
        <pc:picChg chg="del">
          <ac:chgData name="janghoon jun" userId="056a5883350c2f5e" providerId="LiveId" clId="{6DA654A6-03B0-40F7-A259-B276216985A6}" dt="2026-09-10T05:01:51.432" v="4610" actId="478"/>
          <ac:picMkLst>
            <pc:docMk/>
            <pc:sldMk cId="2820107391" sldId="274"/>
            <ac:picMk id="4" creationId="{44560D41-702E-22B7-E44B-6688B87607EB}"/>
          </ac:picMkLst>
        </pc:picChg>
        <pc:picChg chg="add">
          <ac:chgData name="janghoon jun" userId="056a5883350c2f5e" providerId="LiveId" clId="{6DA654A6-03B0-40F7-A259-B276216985A6}" dt="2026-09-10T05:01:59.785" v="4614" actId="22"/>
          <ac:picMkLst>
            <pc:docMk/>
            <pc:sldMk cId="2820107391" sldId="274"/>
            <ac:picMk id="5" creationId="{789B8AA2-C797-6A65-8F18-1F3D8565FBA8}"/>
          </ac:picMkLst>
        </pc:picChg>
      </pc:sldChg>
      <pc:sldChg chg="modSp mod">
        <pc:chgData name="janghoon jun" userId="056a5883350c2f5e" providerId="LiveId" clId="{6DA654A6-03B0-40F7-A259-B276216985A6}" dt="2026-09-10T03:23:26.413" v="4549" actId="2710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9-10T03:23:26.413" v="4549" actId="2710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add mod">
        <pc:chgData name="janghoon jun" userId="056a5883350c2f5e" providerId="LiveId" clId="{6DA654A6-03B0-40F7-A259-B276216985A6}" dt="2026-09-10T05:02:27.064" v="4625" actId="1076"/>
        <pc:sldMkLst>
          <pc:docMk/>
          <pc:sldMk cId="1751739855" sldId="275"/>
        </pc:sldMkLst>
        <pc:spChg chg="mod">
          <ac:chgData name="janghoon jun" userId="056a5883350c2f5e" providerId="LiveId" clId="{6DA654A6-03B0-40F7-A259-B276216985A6}" dt="2026-09-10T05:02:08.939" v="4618"/>
          <ac:spMkLst>
            <pc:docMk/>
            <pc:sldMk cId="1751739855" sldId="275"/>
            <ac:spMk id="2" creationId="{6F7E1DCF-9740-40AC-B307-1426493A0AC5}"/>
          </ac:spMkLst>
        </pc:spChg>
        <pc:picChg chg="add mod">
          <ac:chgData name="janghoon jun" userId="056a5883350c2f5e" providerId="LiveId" clId="{6DA654A6-03B0-40F7-A259-B276216985A6}" dt="2026-09-10T05:02:27.064" v="4625" actId="1076"/>
          <ac:picMkLst>
            <pc:docMk/>
            <pc:sldMk cId="1751739855" sldId="275"/>
            <ac:picMk id="4" creationId="{84710ACD-2049-27DA-4399-427001462009}"/>
          </ac:picMkLst>
        </pc:picChg>
        <pc:picChg chg="del">
          <ac:chgData name="janghoon jun" userId="056a5883350c2f5e" providerId="LiveId" clId="{6DA654A6-03B0-40F7-A259-B276216985A6}" dt="2026-09-10T05:02:12.860" v="4620" actId="478"/>
          <ac:picMkLst>
            <pc:docMk/>
            <pc:sldMk cId="1751739855" sldId="275"/>
            <ac:picMk id="5" creationId="{9575D779-2B9E-87D3-6075-E635B5824B4E}"/>
          </ac:picMkLst>
        </pc:picChg>
      </pc:sldChg>
      <pc:sldChg chg="modSp mod">
        <pc:chgData name="janghoon jun" userId="056a5883350c2f5e" providerId="LiveId" clId="{6DA654A6-03B0-40F7-A259-B276216985A6}" dt="2026-09-10T03:21:51.722" v="4530" actId="255"/>
        <pc:sldMkLst>
          <pc:docMk/>
          <pc:sldMk cId="0" sldId="276"/>
        </pc:sldMkLst>
        <pc:graphicFrameChg chg="modGraphic">
          <ac:chgData name="janghoon jun" userId="056a5883350c2f5e" providerId="LiveId" clId="{6DA654A6-03B0-40F7-A259-B276216985A6}" dt="2026-09-10T03:21:51.722" v="4530" actId="255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2:45.534" v="4632" actId="22"/>
        <pc:sldMkLst>
          <pc:docMk/>
          <pc:sldMk cId="1504938630" sldId="276"/>
        </pc:sldMkLst>
        <pc:spChg chg="mod">
          <ac:chgData name="janghoon jun" userId="056a5883350c2f5e" providerId="LiveId" clId="{6DA654A6-03B0-40F7-A259-B276216985A6}" dt="2026-09-10T05:02:40.704" v="4629"/>
          <ac:spMkLst>
            <pc:docMk/>
            <pc:sldMk cId="1504938630" sldId="276"/>
            <ac:spMk id="2" creationId="{913683FB-DF95-E126-F2AF-437AEE942621}"/>
          </ac:spMkLst>
        </pc:spChg>
        <pc:picChg chg="del">
          <ac:chgData name="janghoon jun" userId="056a5883350c2f5e" providerId="LiveId" clId="{6DA654A6-03B0-40F7-A259-B276216985A6}" dt="2026-09-10T05:02:45.004" v="4631" actId="478"/>
          <ac:picMkLst>
            <pc:docMk/>
            <pc:sldMk cId="1504938630" sldId="276"/>
            <ac:picMk id="4" creationId="{46693135-C301-9F06-2589-F08988C88813}"/>
          </ac:picMkLst>
        </pc:picChg>
        <pc:picChg chg="add">
          <ac:chgData name="janghoon jun" userId="056a5883350c2f5e" providerId="LiveId" clId="{6DA654A6-03B0-40F7-A259-B276216985A6}" dt="2026-09-10T05:02:45.534" v="4632" actId="22"/>
          <ac:picMkLst>
            <pc:docMk/>
            <pc:sldMk cId="1504938630" sldId="276"/>
            <ac:picMk id="5" creationId="{D4DA04F9-B60D-B9E9-17B8-B1E936BB0517}"/>
          </ac:picMkLst>
        </pc:picChg>
      </pc:sldChg>
      <pc:sldChg chg="add del">
        <pc:chgData name="janghoon jun" userId="056a5883350c2f5e" providerId="LiveId" clId="{6DA654A6-03B0-40F7-A259-B276216985A6}" dt="2026-09-10T05:03:12.292" v="4635" actId="47"/>
        <pc:sldMkLst>
          <pc:docMk/>
          <pc:sldMk cId="2410116862" sldId="27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2026-09-29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안녕하십니까, 발표를 시작하겠습니다. 오늘은 CT에서 얻는 AEC 곡선과 체성분 곡선이, 성별·나이·키·몸무게 같은 임상 기본 변수 대비 고혈압·당뇨·만성신장질환 예측에 실제로 얼마나 추가 기여를 하는지, 그리고 그 기여가 내부·외부 코호트에 걸쳐 일관되는지를 말씀드리겠습니다. 성능 지표는 전부 5-fold cross-validation 기준입니다 — 질환별 양성 표본이 21명에서 386명까지 차이가 커서, 단일 test split보다 안정적인 평가가 필요했습니다. 순서는 배경, 방법, 결과(표 2개·그림 3개), Discussion, Conclusion 순이고, 세부 수치는 Supplementary에 정리했습니다.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배경입니다. 임상 기본 변수만으로 세운 기준선(Baseline)에 AEC 곡선과 다섯 체성분 곡선(VAT·SAT·LAMA·NAMA·IMATA)을 추가했을 때 그 기준선을 얼마나 넘어서는지 봤습니다. 핵심 질문은 두 가지 — 이 곡선들이 실제로 추가 정보를 주는가, 그리고 그 개선이 개발 코호트(Gangnam)와 외부 코호트(Sinchon)에 걸쳐 일관되게 나타나는가입니다. 둘 다 단면(cross-sectional) 데이터이고, longitudinal 설계인 New10000은 오늘 범위에서 제외했습니다.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방법론입니다. 몇 가지만 짚겠습니다. Cutoff는 valid ROC의 Youden index가 아니라, Internal 전체를 5-fold CV로 돌린 out-of-fold(OOF) 예측 전체에서 Youden index로 정합니다 — 이 cutoff를 External(Sinchon)에도 그대로 적용합니다. External에 적용하는 모델은 Gangnam 전체 데이터로 재학습한 frozen 모델입니다. 하이퍼파라미터(C, penalty, class_weight)는 처음에 GridSearchCV로 한 번 고른 값을 그대로 고정해서 모든 fold와 재학습에 재사용합니다 — CKD처럼 양성이 적은 질환에서 매번 다시 튜닝하면 불안정해지기 때문입니다. Baseline 계수(Odds Ratio)도 같은 철학으로, 5-fold 각각의 training 세트에서 fit한 계수의 평균±SD를 보여주고, 유의성은 Gangnam 전체로 재적합한 모델의 Wald test로 판단합니다.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Table 1은 두 코호트의 기초 특성입니다. Gangnam 1,260명, Sinchon 1,123명이고, 성비·나이·체성분 지표 대부분이 유의하게 다릅니다. 세 질환 유병률도 Sinchon이 전부 1.5배가량 높습니다(HTN 30.6%→45.1%, DM 18.5%→29.8%, CKD 8.3%→16.7%). 이 유병률 차이 때문에 Youden cutoff와 AUC 중심 비교가 중요했습니다.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Table 2가 핵심 결과입니다. Internal(Gangnam)은 5-fold CV의 fold별 AUC/ACC/Sens/Spec 평균±SD로, External(Sinchon)은 frozen 모델 1회 적용 값입니다. HTN은 Gangnam 0.796→0.811(p=0.035), Sinchon 0.718→0.741(p=0.011)로 둘 다 유의합니다. DM은 Sinchon이 0.665→0.706(p&lt;0.001)로 강하게 유의한데 Gangnam은 0.712→0.736(p=0.078)로 근접했지만 유의성엔 못 미칩니다. CKD는 Sinchon 0.615→0.681(p&lt;0.001)로 가장 크게 개선되는데 Gangnam은 0.770→0.784(p=0.393)로 아직 유의하지 않습니다. 정리하면 Sinchon은 세 질환 모두 유의하고, Gangnam은 HTN만 유의합니다.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1은 Baseline 모델의 Odds Ratio입니다. 5-fold 각각의 training 세트에서 계수를 fit해 평균±SD로 점과 오차막대를 그렸고, 색은 Gangnam 전체로 재적합한 모델의 Wald p&lt;0.05 여부입니다. 모든 변수는 표준화된 척도라 OR은 '1 표준편차 증가당'으로 읽어야 합니다. 성별(남성)·나이·몸무게는 위험을 높이는 방향, 키는 낮추는 방향입니다 — 몸무게를 같이 넣은 상태에서의 효과라 '같은 몸무게라면 키가 클수록 위험이 낮다'로 해석합니다. CKD도 전체 데이터로 재적합하니 성별·키까지 전부 유의해졌습니다 — 예전에 표본이 작은 부분집합으로 봤을 때는 비유의했던 항목입니다.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2는 AEC 곡선의 FPCA 계수를 128개 slice 축으로 역변환한 결과이고, 역시 5-fold 각각에서 다시 계산해 평균 곡선(실선)과 ±SD 밴드로 그렸습니다. PCA가 선형변환이라는 점을 이용해 PC 점수 위의 계수를 '곡선의 어느 slice가 얼마나 기여하는지'로 되돌린 겁니다. 세 질환 모두 대략 slice 40~50 부근에서 양의 기여가 정점을 찍고 slice 90 이후로는 음의 방향으로 바뀌는 패턴이 보이는데, CKD는 다른 두 질환과 정점 위치·부호 전환 지점이 다릅니다 — 이 차이가 뒤에 Discussion에서 다룰 코호트 불일치와도 연결됩니다.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49F85-BE6B-5075-93DD-06C87EF09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CB01C-6DFB-662E-6D77-086F50A17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8B0F6-581D-F115-E541-F080CF8FE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3은 Best 모델의 calibration plot입니다. Internal은 5-fold OOF 예측, External은 frozen 재학습 모델 예측을 각각 5개 구간으로 나눠 평균 예측확률과 실제 관측 비율을 비교했습니다. 점선이 완벽한 calibration입니다. HTN은 두 코호트 모두 대각선에 비교적 가깝습니다. DM과 CKD는 예측확률이 높은 구간에서 점들이 대각선 아래로 내려가는 경향이 있어, discrimination(AUC)은 개선되어도 고위험군의 위험을 다소 과대추정할 수 있다는 걸 보여줍니다.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BEC81-8798-CC3F-98AB-C751B4C75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99801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Discussion입니다. 첫째, AEC 단독 추가는 효과가 작고 Sinchon에서도 3개 중 2개만 유의합니다. 둘째, 체성분까지 더하면 커지지만 Sinchon 위주로 유의합니다. 셋째, 같은 확장이라도 부위·질환·코호트에 따라 크기가 다릅니다 — 예를 들어 CKD Gangnam은 체성분만 넣으면 +0.015인데 AEC만 넣으면 오히려 -0.016입니다(둘 다 5-fold CV 기준). 넷째, crop range가 환자마다 달라 같은 slice index가 같은 해부학적 위치를 가리키지 않을 수 있다는 게 해석상 가설입니다 — 직접 측정한 건 아니고, 이번 발표에서는 추가 검증 없이 관찰만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결론입니다. 임상 기본 변수만으로도 Gangnam AUC 0.71~0.80, Sinchon 0.62~0.72 수준의 판별력이 나옵니다(전부 5-fold CV 기준). AEC 곡선만 추가하면 개선이 -0.017~+0.027로 작고, CKD Gangnam은 오히려 하락합니다(Table S11에 5-fold 상세가 있습니다). 체성분까지 더하면 개선되지만—Sinchon은 세 질환 모두 유의한 반면 Gangnam은 HTN 한 건만 유의해서, 코호트 간에 일관되게 재현된다고 보기는 어렵습니다. 이 불일치의 원인으로 crop range가 환자마다 다를 가능성을 가설로 제시했지만 직접 검증하지는 않았습니다. Supplementary에 fold별 상세, 계수·VIF 전체를 정리해뒀으니 질문 주시면 같이 보겠습니다. 이상으로 발표를 마치겠습니다.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" y="2203269"/>
            <a:ext cx="84370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ko-KR" sz="2000" b="1" dirty="0" err="1">
                <a:solidFill>
                  <a:schemeClr val="bg1"/>
                </a:solidFill>
              </a:rPr>
              <a:t>Contribution</a:t>
            </a:r>
            <a:r>
              <a:rPr lang="ko-KR" altLang="ko-KR" sz="2000" b="1" dirty="0">
                <a:solidFill>
                  <a:schemeClr val="bg1"/>
                </a:solidFill>
              </a:rPr>
              <a:t> and </a:t>
            </a:r>
            <a:r>
              <a:rPr lang="ko-KR" altLang="ko-KR" sz="2000" b="1" dirty="0" err="1">
                <a:solidFill>
                  <a:schemeClr val="bg1"/>
                </a:solidFill>
              </a:rPr>
              <a:t>Limitations</a:t>
            </a:r>
            <a:r>
              <a:rPr lang="ko-KR" altLang="ko-KR" sz="2000" b="1" dirty="0">
                <a:solidFill>
                  <a:schemeClr val="bg1"/>
                </a:solidFill>
              </a:rPr>
              <a:t> of AEC and </a:t>
            </a:r>
            <a:r>
              <a:rPr lang="ko-KR" altLang="ko-KR" sz="2000" b="1" dirty="0" err="1">
                <a:solidFill>
                  <a:schemeClr val="bg1"/>
                </a:solidFill>
              </a:rPr>
              <a:t>Body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Composition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Curves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r>
              <a:rPr lang="ko-KR" altLang="ko-KR" sz="2000" b="1" dirty="0" err="1">
                <a:solidFill>
                  <a:schemeClr val="bg1"/>
                </a:solidFill>
              </a:rPr>
              <a:t>in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Chronic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Disease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Prediction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1074" y="3091544"/>
            <a:ext cx="13292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chemeClr val="bg1"/>
                </a:solidFill>
              </a:rPr>
              <a:t>2026. 10. 02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074" y="3548744"/>
            <a:ext cx="1946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chemeClr val="bg1"/>
                </a:solidFill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4" y="4005944"/>
            <a:ext cx="509325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bg1"/>
                </a:solidFill>
              </a:rPr>
              <a:t>Department of, Medical Device Engineering &amp; Management</a:t>
            </a:r>
          </a:p>
          <a:p>
            <a:r>
              <a:rPr sz="1400">
                <a:solidFill>
                  <a:schemeClr val="bg1"/>
                </a:solidFill>
              </a:rPr>
              <a:t>Gangnam Severance Hospital,</a:t>
            </a:r>
          </a:p>
          <a:p>
            <a:r>
              <a:rPr sz="1400">
                <a:solidFill>
                  <a:schemeClr val="bg1"/>
                </a:solidFill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t>Background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sz="1800"/>
              <a:t>Clinic4(성별·나이·신장·체중)만으로 만성질환(HTN·DM·CKD)을 어느 정도 판별할 수 있는지 기준선을 만든다</a:t>
            </a:r>
          </a:p>
          <a:p>
            <a:r>
              <a:rPr sz="1800"/>
              <a:t>CT에서 얻는 AEC 곡선과 체성분(VAT/SAT/근육/근내지방) 곡선이 이 기준선을 넘어서는 추가 정보를 주는지 평가한다</a:t>
            </a:r>
          </a:p>
          <a:p>
            <a:r>
              <a:rPr sz="1800"/>
              <a:t>곡선은 liver→pubis로 crop한 128구간으로 표현하고, 전처리·FPCA·부위 조합을 바꿔가며 개선을 시도했다</a:t>
            </a:r>
          </a:p>
          <a:p>
            <a:r>
              <a:rPr sz="1800"/>
              <a:t>개발은 Gangnam, 외부검증은 Sinchon(둘 다 단면 데이터)에서 같은 프레임(Youden cutoff·DeLong)으로 평가한다</a:t>
            </a:r>
          </a:p>
          <a:p>
            <a:r>
              <a:rPr sz="1800"/>
              <a:t>목적: 곡선 기반 확장이 Baseline 대비 얼마나, 그리고 코호트 간 일관되게 성능을 올리는지 확인하고, 일관되지 않다면 원인과 다음 단계를 제시한다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63E61-31BA-0C84-5523-4F90057F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106120"/>
              </p:ext>
            </p:extLst>
          </p:nvPr>
        </p:nvGraphicFramePr>
        <p:xfrm>
          <a:off x="512064" y="978408"/>
          <a:ext cx="1117396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728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Detail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Internal(Gangnam, n=1,260) 개발·내부검증 / External(Sinchon, n=1,123) 외부검증 — 둘 다 단면(cross-sectional)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Clinic4 = Sex + Age + Height + Weight (Gangnam 기준 StandardScaler로 표준화)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HTN / DM / CKD 각각 독립적인 logistic regression (질병마다 별도 split)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하이퍼파라미터 튜닝에는 질병 라벨로 stratify한 patient-level train:valid = 7:1(:2) split을 쓰고(valid로 GridSearchCV), 최종 성능 보고는 이 튜닝된 하이퍼파라미터를 고정한 채 Internal 전체에 5-fold CV를 적용한다(아래 Cutoff 항목 참고)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GridSearchCV(C×penalty(l1/l2)×class_weight, solver=liblinear, scoring=roc_auc), valid는 단일 predefined fold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Cutoff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Internal(Gangnam)은 5-fold stratified CV의 out-of-fold(OOF) 예측 전체에서 Youden index 최댓값으로 cutoff를 정한다(양성 수가 21~386명대로 적어 단일 split보다 안정적). 이 cutoff를 External(Sinchon)에도 그대로 적용한다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External 적용 모델은 Gangnam 전체 데이터로 재학습한 frozen 모델이다(하이퍼파라미터는 재탐색 없이 기존 GridSearchCV 선택값을 그대로 사용)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Extended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AEC + 체성분(VAT/SAT/LAMA/NAMA/IMATA) 128구간 곡선(liver→pubis crop, 전처리 없음)을 FPCA로 압축해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Internal 성능은 5-fold CV OOF 예측으로, External 성능은 위 frozen 모델의 예측으로 보고한다. Baseline 대비 개선은 각각 OOF/External 예측을 patient_id로 짝지은 paired DeLong test로 검정한다 (* p&lt;0.05, 보정 전)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A07828-50EF-3A57-FEBD-8ED533A2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Table 1. Baseline Characteristics — Internal (Gangnam) vs External (Sinchon)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264235"/>
              </p:ext>
            </p:extLst>
          </p:nvPr>
        </p:nvGraphicFramePr>
        <p:xfrm>
          <a:off x="512064" y="978408"/>
          <a:ext cx="11173968" cy="4896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793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3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3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Characteristic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Gangnam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1260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9510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Sex (Male), n (%)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475 (37.7%)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547 (48.7%)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57.3 ± 12.1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59.7 ± 12.3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Height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162.8 ± 8.0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163.7 ± 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62.0 ± 10.1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62.4 ± 10.1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BMI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23.3 ± 2.9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23.2 ± 2.9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0.322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SMI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6873.5 ± 1562.8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6661.3 ± 1639.9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0.108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8486.2 ± 5165.1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9096.4 ± 5280.4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SAT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19243.6 ± 7914.4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17914.4 ± 8631.1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IMATA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1175.5 ± 576.0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1224.9 ± 617.6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NAMA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14279.5 ± 4408.5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12931.5 ± 4709.8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LAMA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4127.4 ± 1962.2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5093.2 ± 2123.8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TAMA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18406.9 ± 5171.0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18024.7 ± 5311.8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0.378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HTN, n (%)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386 (30.6%)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507 (45.1%)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DM, n (%)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233 (18.5%)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335 (29.8%)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CKD, n (%)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105 (8.3%)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188 (16.7%)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D9492-77D8-9D4C-A0F4-E86DA11F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Table 2. Performance — Baseline vs Best (+</a:t>
            </a:r>
            <a:r>
              <a:rPr dirty="0" err="1"/>
              <a:t>AEC+체성분</a:t>
            </a:r>
            <a:r>
              <a:rPr dirty="0"/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112704"/>
              </p:ext>
            </p:extLst>
          </p:nvPr>
        </p:nvGraphicFramePr>
        <p:xfrm>
          <a:off x="512064" y="978408"/>
          <a:ext cx="11173967" cy="512462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62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62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62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202">
                <a:tc rowSpan="4">
                  <a:txBody>
                    <a:bodyPr/>
                    <a:lstStyle/>
                    <a:p>
                      <a:pPr algn="ctr"/>
                      <a:r>
                        <a:rPr sz="1200" b="0" dirty="0" err="1"/>
                        <a:t>고혈압</a:t>
                      </a:r>
                      <a:r>
                        <a:rPr sz="1200" b="0" dirty="0"/>
                        <a:t>(HTN)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Internal (Gangnam)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0.796 ± 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0.697 ± 0.017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 ± 0.048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0.646 ± 0.013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 ± 0.032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 ± 0.027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0.878 ± 0.059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0.594 ± 0.023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(Sinchon)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+AEC+체성분*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0.866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0.437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202">
                <a:tc rowSpan="4">
                  <a:txBody>
                    <a:bodyPr/>
                    <a:lstStyle/>
                    <a:p>
                      <a:pPr algn="ctr"/>
                      <a:r>
                        <a:rPr sz="1200" b="0" dirty="0" err="1"/>
                        <a:t>당뇨병</a:t>
                      </a:r>
                      <a:r>
                        <a:rPr sz="1200" b="0" dirty="0"/>
                        <a:t>(DM)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Internal (Gangnam)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 ± 0.049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0.599 ± 0.023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0.790 ± 0.065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0.556 ± 0.030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 ± 0.039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0.611 ± 0.032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0.820 ± 0.061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0.564 ± 0.031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(Sinchon)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+AEC+체성분*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0.504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0.346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202">
                <a:tc rowSpan="4">
                  <a:txBody>
                    <a:bodyPr/>
                    <a:lstStyle/>
                    <a:p>
                      <a:pPr algn="ctr"/>
                      <a:r>
                        <a:rPr sz="1200" b="0" dirty="0" err="1"/>
                        <a:t>만성신장질환</a:t>
                      </a:r>
                      <a:r>
                        <a:rPr sz="1200" b="0" dirty="0"/>
                        <a:t>(CKD)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Internal (Gangnam)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0.034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0.646 ± 0.044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 ± 0.080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0.631 ± 0.049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0.784 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0.660 ± 0.046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 ± 0.067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0.646 ± 0.055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 (Sinchon)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B6F5C5-8D53-6EB3-73C5-17B8D7F88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3D3A8-A8E5-E8A2-ABF2-C59FC7E2A71D}"/>
              </a:ext>
            </a:extLst>
          </p:cNvPr>
          <p:cNvSpPr txBox="1"/>
          <p:nvPr/>
        </p:nvSpPr>
        <p:spPr>
          <a:xfrm>
            <a:off x="394063" y="6103034"/>
            <a:ext cx="61177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DeLong p&lt;0.05 vs Baseline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1. Clinic4 Baseline Odds Ratio (Internal, 5-fold CV mean±SD; significance from full-Gangnam refit)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4CDF56-6C7D-B301-188E-7F81AB29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5" name="Picture 4" descr="fig_baseline_or_forest_cv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1812276"/>
            <a:ext cx="11176000" cy="3806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Figure 2. FPCA Coefficient Inverse Transform — Slice-wise Logit Contribution (Internal, 5-fold CV mean±SD)</a:t>
            </a:r>
            <a:r>
              <a:rPr lang="en-US" dirty="0"/>
              <a:t/>
            </a:r>
            <a:r>
              <a:rPr dirty="0"/>
              <a:t/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985A2A-E881-0F89-38EF-8306EF68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5" name="Picture 4" descr="fig_fpca_recovered_cv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1812276"/>
            <a:ext cx="11176000" cy="3806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43A7-2DE1-484D-10ED-54E154F4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E494A-8665-27CC-F400-B88484969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Figure 3. Calibration Plot — Best (+AEC+체성분), Internal (Gangnam, 5-fold OOF) / External (Sinchon)</a:t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8CA5B1-7A51-6B75-7EFD-944329CBC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5" name="Picture 4" descr="fig_calibration_cv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812276"/>
            <a:ext cx="11176000" cy="380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0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t>Discussion — 체성분은 기여하지만 코호트 간 일관되지 않다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1131824"/>
            <a:ext cx="11173968" cy="3460053"/>
          </a:xfrm>
        </p:spPr>
        <p:txBody>
          <a:bodyPr wrap="square">
            <a:normAutofit fontScale="92500"/>
          </a:bodyPr>
          <a:lstStyle/>
          <a:p>
            <a:r>
              <a:rPr sz="1800" dirty="0"/>
              <a:t>AEC </a:t>
            </a:r>
            <a:r>
              <a:rPr sz="1800" dirty="0" err="1"/>
              <a:t>단독</a:t>
            </a:r>
            <a:r>
              <a:rPr sz="1800" dirty="0"/>
              <a:t> </a:t>
            </a:r>
            <a:r>
              <a:rPr sz="1800" dirty="0" err="1"/>
              <a:t>기여는</a:t>
            </a:r>
            <a:r>
              <a:rPr sz="1800" dirty="0"/>
              <a:t> </a:t>
            </a:r>
            <a:r>
              <a:rPr sz="1800" dirty="0" err="1"/>
              <a:t>작고</a:t>
            </a:r>
            <a:r>
              <a:rPr sz="1800" dirty="0"/>
              <a:t>(</a:t>
            </a:r>
            <a:r>
              <a:rPr sz="1800" dirty="0" err="1"/>
              <a:t>sinchon</a:t>
            </a:r>
            <a:r>
              <a:rPr sz="1800" dirty="0"/>
              <a:t> 2/3만 </a:t>
            </a:r>
            <a:r>
              <a:rPr sz="1800" dirty="0" err="1"/>
              <a:t>유의</a:t>
            </a:r>
            <a:r>
              <a:rPr sz="1800" dirty="0"/>
              <a:t>), </a:t>
            </a:r>
            <a:r>
              <a:rPr sz="1800" dirty="0" err="1"/>
              <a:t>체성분을</a:t>
            </a:r>
            <a:r>
              <a:rPr sz="1800" dirty="0"/>
              <a:t> </a:t>
            </a:r>
            <a:r>
              <a:rPr sz="1800" dirty="0" err="1"/>
              <a:t>더하면</a:t>
            </a:r>
            <a:r>
              <a:rPr sz="1800" dirty="0"/>
              <a:t> </a:t>
            </a:r>
            <a:r>
              <a:rPr sz="1800" dirty="0" err="1"/>
              <a:t>커지지만</a:t>
            </a:r>
            <a:r>
              <a:rPr sz="1800" dirty="0"/>
              <a:t> Sinchon </a:t>
            </a:r>
            <a:r>
              <a:rPr sz="1800" dirty="0" err="1"/>
              <a:t>위주로</a:t>
            </a:r>
            <a:r>
              <a:rPr sz="1800" dirty="0"/>
              <a:t> </a:t>
            </a:r>
            <a:r>
              <a:rPr sz="1800" dirty="0" err="1"/>
              <a:t>유의</a:t>
            </a:r>
            <a:r>
              <a:rPr lang="ko-KR" altLang="en-US" sz="1800" dirty="0"/>
              <a:t>함</a:t>
            </a:r>
            <a:endParaRPr sz="1800" dirty="0"/>
          </a:p>
          <a:p>
            <a:r>
              <a:rPr sz="1800" dirty="0" err="1"/>
              <a:t>같은 확장이라도 부위·질환·코호트에 따라 크기가 다름 (예: CKD Gangnam은 체성분만 +0.015, AEC만 -0.016, 5-fold CV 기준)</a:t>
            </a:r>
          </a:p>
          <a:p>
            <a:r>
              <a:rPr sz="1800" dirty="0" err="1"/>
              <a:t>해석</a:t>
            </a:r>
            <a:r>
              <a:rPr sz="1800" dirty="0"/>
              <a:t>(</a:t>
            </a:r>
            <a:r>
              <a:rPr sz="1800" dirty="0" err="1"/>
              <a:t>가설</a:t>
            </a:r>
            <a:r>
              <a:rPr sz="1800" dirty="0"/>
              <a:t>): crop </a:t>
            </a:r>
            <a:r>
              <a:rPr sz="1800" dirty="0" err="1"/>
              <a:t>범위</a:t>
            </a:r>
            <a:r>
              <a:rPr sz="1800" dirty="0"/>
              <a:t> </a:t>
            </a:r>
            <a:r>
              <a:rPr sz="1800" dirty="0" err="1"/>
              <a:t>안에서도</a:t>
            </a:r>
            <a:r>
              <a:rPr sz="1800" dirty="0"/>
              <a:t> </a:t>
            </a:r>
            <a:r>
              <a:rPr sz="1800" dirty="0" err="1"/>
              <a:t>환자마다</a:t>
            </a:r>
            <a:r>
              <a:rPr sz="1800" dirty="0"/>
              <a:t> </a:t>
            </a:r>
            <a:r>
              <a:rPr sz="1800" dirty="0" err="1"/>
              <a:t>해부학적</a:t>
            </a:r>
            <a:r>
              <a:rPr sz="1800" dirty="0"/>
              <a:t> </a:t>
            </a:r>
            <a:r>
              <a:rPr sz="1800" dirty="0" err="1"/>
              <a:t>구성이</a:t>
            </a:r>
            <a:r>
              <a:rPr sz="1800" dirty="0"/>
              <a:t> </a:t>
            </a:r>
            <a:r>
              <a:rPr sz="1800" dirty="0" err="1"/>
              <a:t>달라</a:t>
            </a:r>
            <a:r>
              <a:rPr sz="1800" dirty="0"/>
              <a:t>, </a:t>
            </a:r>
            <a:r>
              <a:rPr sz="1800" dirty="0" err="1"/>
              <a:t>같은</a:t>
            </a:r>
            <a:r>
              <a:rPr sz="1800" dirty="0"/>
              <a:t> slice </a:t>
            </a:r>
            <a:r>
              <a:rPr sz="1800" dirty="0" err="1"/>
              <a:t>index가</a:t>
            </a:r>
            <a:r>
              <a:rPr sz="1800" dirty="0"/>
              <a:t> </a:t>
            </a:r>
            <a:r>
              <a:rPr sz="1800" dirty="0" err="1"/>
              <a:t>같은</a:t>
            </a:r>
            <a:r>
              <a:rPr sz="1800" dirty="0"/>
              <a:t> </a:t>
            </a:r>
            <a:r>
              <a:rPr sz="1800" dirty="0" err="1"/>
              <a:t>위치를</a:t>
            </a:r>
            <a:r>
              <a:rPr sz="1800" dirty="0"/>
              <a:t> </a:t>
            </a:r>
            <a:r>
              <a:rPr sz="1800" dirty="0" err="1"/>
              <a:t>가리키지</a:t>
            </a:r>
            <a:r>
              <a:rPr sz="1800" dirty="0"/>
              <a:t> </a:t>
            </a:r>
            <a:r>
              <a:rPr sz="1800" dirty="0" err="1"/>
              <a:t>않을</a:t>
            </a:r>
            <a:r>
              <a:rPr sz="1800" dirty="0"/>
              <a:t> 수 있</a:t>
            </a:r>
            <a:r>
              <a:rPr lang="ko-KR" altLang="en-US" sz="1800" dirty="0"/>
              <a:t>음</a:t>
            </a:r>
            <a:endParaRPr sz="1800" dirty="0"/>
          </a:p>
          <a:p>
            <a:r>
              <a:rPr sz="1800" dirty="0" err="1"/>
              <a:t>한계</a:t>
            </a:r>
            <a:r>
              <a:rPr sz="1800" dirty="0"/>
              <a:t>: 이 </a:t>
            </a:r>
            <a:r>
              <a:rPr sz="1800" dirty="0" err="1"/>
              <a:t>위치</a:t>
            </a:r>
            <a:r>
              <a:rPr sz="1800" dirty="0"/>
              <a:t> </a:t>
            </a:r>
            <a:r>
              <a:rPr sz="1800" dirty="0" err="1"/>
              <a:t>불일치는</a:t>
            </a:r>
            <a:r>
              <a:rPr sz="1800" dirty="0"/>
              <a:t> </a:t>
            </a:r>
            <a:r>
              <a:rPr sz="1800" dirty="0" err="1"/>
              <a:t>직접</a:t>
            </a:r>
            <a:r>
              <a:rPr sz="1800" dirty="0"/>
              <a:t> </a:t>
            </a:r>
            <a:r>
              <a:rPr sz="1800" dirty="0" err="1"/>
              <a:t>측정하지</a:t>
            </a:r>
            <a:r>
              <a:rPr sz="1800" dirty="0"/>
              <a:t> </a:t>
            </a:r>
            <a:r>
              <a:rPr sz="1800" dirty="0" err="1"/>
              <a:t>않은</a:t>
            </a:r>
            <a:r>
              <a:rPr sz="1800" dirty="0"/>
              <a:t> </a:t>
            </a:r>
            <a:r>
              <a:rPr sz="1800" dirty="0" err="1"/>
              <a:t>가설이며</a:t>
            </a:r>
            <a:r>
              <a:rPr sz="1800" dirty="0"/>
              <a:t>, </a:t>
            </a:r>
            <a:r>
              <a:rPr sz="1800" dirty="0" err="1"/>
              <a:t>이번</a:t>
            </a:r>
            <a:r>
              <a:rPr sz="1800" dirty="0"/>
              <a:t> </a:t>
            </a:r>
            <a:r>
              <a:rPr sz="1800" dirty="0" err="1"/>
              <a:t>발표에서는</a:t>
            </a:r>
            <a:r>
              <a:rPr sz="1800" dirty="0"/>
              <a:t> </a:t>
            </a:r>
            <a:r>
              <a:rPr sz="1800" dirty="0" err="1"/>
              <a:t>추가</a:t>
            </a:r>
            <a:r>
              <a:rPr sz="1800" dirty="0"/>
              <a:t> </a:t>
            </a:r>
            <a:r>
              <a:rPr sz="1800" dirty="0" err="1"/>
              <a:t>검증</a:t>
            </a:r>
            <a:r>
              <a:rPr sz="1800" dirty="0"/>
              <a:t> </a:t>
            </a:r>
            <a:r>
              <a:rPr sz="1800" dirty="0" err="1"/>
              <a:t>없이</a:t>
            </a:r>
            <a:r>
              <a:rPr sz="1800" dirty="0"/>
              <a:t> </a:t>
            </a:r>
            <a:r>
              <a:rPr sz="1800" dirty="0" err="1"/>
              <a:t>관찰</a:t>
            </a:r>
            <a:r>
              <a:rPr lang="en-US" sz="1800" dirty="0"/>
              <a:t> </a:t>
            </a:r>
            <a:r>
              <a:rPr sz="1800" dirty="0" err="1"/>
              <a:t>제시</a:t>
            </a:r>
            <a:endParaRPr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F90836-9E69-7EFC-2877-0FBBA2FA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sz="1800"/>
              <a:t>Clinic4(성별·나이·신장·체중)만으로 AUC Gangnam 0.71~0.80(5-fold CV), Sinchon 0.62~0.72 수준의 판별력을 보인다</a:t>
            </a:r>
          </a:p>
          <a:p>
            <a:r>
              <a:rPr sz="1800"/>
              <a:t>AEC 곡선(FPCA)만 추가하면 ΔAUC -0.017~+0.027(Internal 5-fold CV/External)로 미미하고, CKD Gangnam은 오히려 하락한다(-0.017, Table S11)</a:t>
            </a:r>
          </a:p>
          <a:p>
            <a:r>
              <a:rPr sz="1800"/>
              <a:t>체성분을 더하면 개선된다 — AEC+체성분 ΔAUC +0.014~+0.066(Internal 5-fold CV/External 기준), Sinchon 3/3 질환에서 유의. 다만 Gangnam은 1/3 질환(HTN)뿐이고 부위·질환에 따라 편차가 있어 코호트 간 일관되지 않다</a:t>
            </a:r>
          </a:p>
          <a:p>
            <a:r>
              <a:rPr sz="1800"/>
              <a:t>한계: crop range가 환자마다 일정하지 않을 가능성을 가설로 제시하나, 직접 측정하지 않았다 — 추가 검증이 필요하다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0757-D1D4-11B5-E65D-AF1C9B6A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8F56E8-9DBA-93D7-63F1-C8508A93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Figure S1. Baseline 대비 확장모델 ΔAUC (Internal 5-fold CV / External, 참고용 그래프)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412909-25DE-E3CF-2D11-6AA6372F1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5" name="Picture 4" descr="fig_S1_delta_auc_c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812276"/>
            <a:ext cx="11176000" cy="38061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Table S1. 전체 확장모델 AUC 비교 (Internal 5-fold CV mean±SD / External full-refit, * paired DeLong p&lt;0.05 vs Baseline)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C5A0FE-4927-3A33-20F9-1AA1153E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07013"/>
              </p:ext>
            </p:extLst>
          </p:nvPr>
        </p:nvGraphicFramePr>
        <p:xfrm>
          <a:off x="489796" y="1047981"/>
          <a:ext cx="1121240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18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r>
                        <a:rPr lang="en-US" sz="1200" b="1" dirty="0"/>
                        <a:t> </a:t>
                      </a:r>
                      <a:r>
                        <a:rPr sz="1200" b="1" dirty="0"/>
                        <a:t>(</a:t>
                      </a:r>
                      <a:r>
                        <a:rPr sz="1200" b="1" dirty="0" err="1"/>
                        <a:t>FPCA+Ratio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 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 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 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 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 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</a:t>
                      </a:r>
                      <a:r>
                        <a:rPr sz="1200" b="1" dirty="0" err="1"/>
                        <a:t>체성분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체성분만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0.796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0.804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0.805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0.800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0.810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0.808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0.811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0.811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0.032*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0.031*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0.740*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0.733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0.730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0.738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0.736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0.736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0.698*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0.770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0.774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0.754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0.776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0.793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0.783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0.784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0.785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0.675*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4CCB-3F0A-43E8-AB6B-119F8A6B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0B8A-30B4-4DE0-ED36-E831C7CE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S2. Internal 5-fold CV — Fold별 AUC (전체 확장모델, HTN)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712F35-3F2F-742B-95F1-A7E6949F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CD25B792-B93D-4E4E-FB4B-0C6522F21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597627"/>
              </p:ext>
            </p:extLst>
          </p:nvPr>
        </p:nvGraphicFramePr>
        <p:xfrm>
          <a:off x="335883" y="1684086"/>
          <a:ext cx="11520234" cy="2743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1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22">
                <a:tc rowSpan="9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(FPCA+Ratio)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체성분만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037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F82BA-C09D-0197-4479-9391079D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ED191-D9A4-FA35-31B6-E6C57CD3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S3. Internal 5-fold CV — Fold별 AUC (전체 확장모델, DM)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16272E-70B7-8151-AE51-17FCD411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E8BD02EF-2534-89EF-6FC4-D487230B0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1583"/>
              </p:ext>
            </p:extLst>
          </p:nvPr>
        </p:nvGraphicFramePr>
        <p:xfrm>
          <a:off x="335883" y="1525060"/>
          <a:ext cx="11520234" cy="2743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1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22">
                <a:tc rowSpan="9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(FPCA+Ratio)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체성분만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191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A112-84AC-9FF6-9B6C-E7A2104F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2BB6-F2FC-4B98-DE93-0764D58B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S4. Internal 5-fold CV — Fold별 AUC (전체 확장모델, CKD)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30DF12-C68A-6F0C-41B2-9F7E2D84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0A2B0E14-5AB4-0663-2CA2-B715AAE1C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064542"/>
              </p:ext>
            </p:extLst>
          </p:nvPr>
        </p:nvGraphicFramePr>
        <p:xfrm>
          <a:off x="186563" y="1544938"/>
          <a:ext cx="11818874" cy="2743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22">
                <a:tc rowSpan="9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(FPCA+Ratio)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302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체성분만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860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7D40-A40F-D86B-87EB-CCF489E7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7D85-A2F6-60D0-F6A5-60814AC6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Table S5. Internal 5-fold CV — Fold별 상세 (Baseline vs Best, HTN)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441B7B-3AE6-9E7F-F342-E41FDEC8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90977E91-04F5-0389-7AC3-3919F7C4B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760786"/>
              </p:ext>
            </p:extLst>
          </p:nvPr>
        </p:nvGraphicFramePr>
        <p:xfrm>
          <a:off x="512064" y="1236825"/>
          <a:ext cx="11173968" cy="30175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6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531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310">
                <a:tc rowSpan="10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78/252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78/252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623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89EA-9712-05BE-1A09-93661A95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8D571-3CD5-6A8B-81EC-D4223B6C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Table S6. Internal 5-fold CV — Fold별 상세 (Baseline vs Best, DM)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13B60A-646E-15E4-CDC5-7CB62390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135163E9-673A-2D95-4651-0F540248D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5291"/>
              </p:ext>
            </p:extLst>
          </p:nvPr>
        </p:nvGraphicFramePr>
        <p:xfrm>
          <a:off x="512064" y="1236826"/>
          <a:ext cx="11173968" cy="30175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6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531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310">
                <a:tc rowSpan="10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46/252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46/252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46/252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46/252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256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C583E-DC7F-987A-E3CE-9164414CE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9F08B-C218-680A-87F1-80EB348F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Table S7. Internal 5-fold CV — Fold별 상세 (Baseline vs Best, CKD)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8E61D7-26C5-856A-934D-4F479A8E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9BEF6B21-EB29-2EB9-2D0C-732027AAD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565024"/>
              </p:ext>
            </p:extLst>
          </p:nvPr>
        </p:nvGraphicFramePr>
        <p:xfrm>
          <a:off x="437293" y="1276582"/>
          <a:ext cx="11317414" cy="30175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531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310">
                <a:tc rowSpan="10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+</a:t>
                      </a:r>
                      <a:r>
                        <a:rPr sz="1200" b="0" dirty="0" err="1"/>
                        <a:t>AEC+체성분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584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S8. +AEC FPCA-only Coefficient (Internal, full-Gangnam refit, * p&lt;0.05, 보정 전)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B6C037-1BE8-AD43-7C28-151B04A0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978408"/>
          <a:ext cx="11173965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/>
                <a:gridCol w="2234793"/>
                <a:gridCol w="2234793"/>
                <a:gridCol w="2234793"/>
                <a:gridCol w="2234793"/>
              </a:tblGrid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Odds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p-value</a:t>
                      </a:r>
                    </a:p>
                  </a:txBody>
                  <a:tcPr anchor="ctr"/>
                </a:tc>
              </a:tr>
              <a:tr h="512463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1.387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51246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-0.452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51246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0.537</a:t>
                      </a:r>
                    </a:p>
                  </a:txBody>
                  <a:tcPr anchor="ctr"/>
                </a:tc>
              </a:tr>
              <a:tr h="512463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0.326</a:t>
                      </a:r>
                    </a:p>
                  </a:txBody>
                  <a:tcPr anchor="ctr"/>
                </a:tc>
              </a:tr>
              <a:tr h="51246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-0.494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51246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0.087</a:t>
                      </a:r>
                    </a:p>
                  </a:txBody>
                  <a:tcPr anchor="ctr"/>
                </a:tc>
              </a:tr>
              <a:tr h="512463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0.334</a:t>
                      </a:r>
                    </a:p>
                  </a:txBody>
                  <a:tcPr anchor="ctr"/>
                </a:tc>
              </a:tr>
              <a:tr h="51246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-0.342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0.015 *</a:t>
                      </a:r>
                    </a:p>
                  </a:txBody>
                  <a:tcPr anchor="ctr"/>
                </a:tc>
              </a:tr>
              <a:tr h="51246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0.359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E8BB5-7A3D-4040-D873-8EFC1E56D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A9CB-D578-8F7A-989B-900CEEA1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Table S9. Clinic4 Baseline Coefficients — Detail (Internal, 5-fold CV mean±SD, * p&lt;0.05 on full-Gangnam refit)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AEA37D-047D-C628-6786-B49D6278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064" y="978408"/>
          <a:ext cx="11173965" cy="512462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/>
                <a:gridCol w="2234793"/>
                <a:gridCol w="2234793"/>
                <a:gridCol w="2234793"/>
                <a:gridCol w="2234793"/>
              </a:tblGrid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Coefficient (5-fold mean±SD)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Odds Ratio (5-fold mean±SD)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p-value (full-refit)</a:t>
                      </a:r>
                    </a:p>
                  </a:txBody>
                  <a:tcPr anchor="ctr"/>
                </a:tc>
              </a:tr>
              <a:tr h="394202">
                <a:tc rowSpan="4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0.872 ± 0.075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2.398 ± 0.186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39420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1.018 ± 0.054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2.772 ± 0.148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39420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-0.375 ± 0.089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 ± 0.060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0.001 *</a:t>
                      </a:r>
                    </a:p>
                  </a:txBody>
                  <a:tcPr anchor="ctr"/>
                </a:tc>
              </a:tr>
              <a:tr h="39420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0.604 ± 0.067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1.833 ± 0.122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394202">
                <a:tc rowSpan="4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0.677 ± 0.074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1.973 ± 0.139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0.004 *</a:t>
                      </a:r>
                    </a:p>
                  </a:txBody>
                  <a:tcPr anchor="ctr"/>
                </a:tc>
              </a:tr>
              <a:tr h="39420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0.545 ± 0.060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1.727 ± 0.107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39420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-0.436 ± 0.051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 ± 0.033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39420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0.625 ± 0.031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1.869 ± 0.058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394202">
                <a:tc rowSpan="4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1.287 ± 0.167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3.677 ± 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39420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0.704 ±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2.023 ± 0.059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  <a:tr h="39420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-0.374 ± 0.077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 ± 0.053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0.036 *</a:t>
                      </a:r>
                    </a:p>
                  </a:txBody>
                  <a:tcPr anchor="ctr"/>
                </a:tc>
              </a:tr>
              <a:tr h="39420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0.542 ± 0.077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1.725 ± 0.131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639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041C5-D9E0-25D3-C066-D6EBC07E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915A-F311-E5F2-7117-A239886E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Table S10. Clinic4 Baseline Variance Inflation Factor (VIF) — Multicollinearity Check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CAE82-15D4-E727-6D5D-CFFBD151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138BAC77-54EF-D7D8-DA03-5E8E2972F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889474"/>
              </p:ext>
            </p:extLst>
          </p:nvPr>
        </p:nvGraphicFramePr>
        <p:xfrm>
          <a:off x="512064" y="978408"/>
          <a:ext cx="4487320" cy="512463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43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3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VIF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2.361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1.232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2.781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1.820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842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5D747-8719-E607-8411-9800E9B05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9701-6829-C21E-E4B0-6949698C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Table S11. Internal 5-fold Cross-Validation — Baseline vs +AEC(FPCA) (하이퍼파라미터 고정, OOF 평가)</a:t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BE1C60-4ECF-9664-17AD-85523EF3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72236941-0B35-C074-8F8B-37B42298389A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978408"/>
          <a:ext cx="1117396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6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8115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 AUC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 AUC (+AEC)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OOF AUC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OOF AUC (+AEC)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Δ(OOF AUC)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DeLong p (OOF)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115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0.796 ± 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0.805 ± 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115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 ± 0.049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 ± 0.048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115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0.754 ± 0.037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0.273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463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7256</TotalTime>
  <Words>2484</Words>
  <Application>Microsoft Office PowerPoint</Application>
  <PresentationFormat>와이드스크린</PresentationFormat>
  <Paragraphs>971</Paragraphs>
  <Slides>24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KoPub돋움체 Medium</vt:lpstr>
      <vt:lpstr>KoPub돋움체 Bold</vt:lpstr>
      <vt:lpstr>Arial</vt:lpstr>
      <vt:lpstr>Office 테마</vt:lpstr>
      <vt:lpstr>PowerPoint 프레젠테이션</vt:lpstr>
      <vt:lpstr>Background &amp; Objective</vt:lpstr>
      <vt:lpstr>Methods</vt:lpstr>
      <vt:lpstr>Table 1. Baseline Characteristics — Internal (Gangnam) vs External (Sinchon)</vt:lpstr>
      <vt:lpstr>Table 2. Performance — Baseline vs Best (+AEC+체성분)</vt:lpstr>
      <vt:lpstr>Figure 1. Clinic4 Baseline Odds Ratio (95% CI, Internal train+valid)</vt:lpstr>
      <vt:lpstr>Figure 2. FPCA Coefficient Inverse Transform — Slice-wise Logit Contribution (Dimension Recovery)</vt:lpstr>
      <vt:lpstr>Figure 3. Calibration Plot — Best (+AEC+체성분), Internal (Gangnam, 5-fold OOF) / External (Sinchon)</vt:lpstr>
      <vt:lpstr>Discussion — 체성분은 기여하지만 코호트 간 일관되지 않다</vt:lpstr>
      <vt:lpstr>Conclusion</vt:lpstr>
      <vt:lpstr>PowerPoint 프레젠테이션</vt:lpstr>
      <vt:lpstr>Supplementary</vt:lpstr>
      <vt:lpstr>Figure S1. Baseline 대비 확장모델 ΔAUC (Internal 5-fold CV / External, 참고용 그래프)</vt:lpstr>
      <vt:lpstr>Table S1. 전체 확장모델 AUC 비교 (Internal 5-fold CV mean±SD / External full-refit, * paired DeLong p&lt;0.05 vs Baseline)</vt:lpstr>
      <vt:lpstr>Table S2. Internal 5-fold CV — Fold별 AUC (전체 확장모델)</vt:lpstr>
      <vt:lpstr>Table S2. Internal 5-fold CV — Fold별 AUC (전체 확장모델)</vt:lpstr>
      <vt:lpstr>Table S2. Internal 5-fold CV — Fold별 AUC (전체 확장모델)</vt:lpstr>
      <vt:lpstr>Table S3. Internal 5-fold CV — Fold별 상세 (Baseline vs Best, AUC/ACC/Sens/Spec)</vt:lpstr>
      <vt:lpstr>Table S3. Internal 5-fold CV — Fold별 상세 (Baseline vs Best, AUC/ACC/Sens/Spec)</vt:lpstr>
      <vt:lpstr>Table S3. Internal 5-fold CV — Fold별 상세 (Baseline vs Best, AUC/ACC/Sens/Spec)</vt:lpstr>
      <vt:lpstr>Table S4. +AEC FPCA-only Coefficient (Internal, * p&lt;0.05, 보정 전)</vt:lpstr>
      <vt:lpstr>Table S5. Clinic4 Baseline Coefficients — Detail (Coefficient, SE, Odds Ratio, p-value)</vt:lpstr>
      <vt:lpstr>Table S6. Clinic4 Baseline Variance Inflation Factor (VIF) — Multicollinearity Check</vt:lpstr>
      <vt:lpstr>Table S7. Internal 5-fold Cross-Validation — Baseline vs +AEC(FPCA) (하이퍼파라미터 고정, OOF 평가)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713</cp:revision>
  <dcterms:created xsi:type="dcterms:W3CDTF">2026-04-09T07:05:16Z</dcterms:created>
  <dcterms:modified xsi:type="dcterms:W3CDTF">2026-09-29T10:19:17Z</dcterms:modified>
</cp:coreProperties>
</file>