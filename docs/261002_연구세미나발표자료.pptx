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5"/>
  </p:notesMasterIdLst>
  <p:sldIdLst>
    <p:sldId id="256" r:id="rId36"/>
    <p:sldId id="257" r:id="rId37"/>
    <p:sldId id="258" r:id="rId38"/>
    <p:sldId id="259" r:id="rId39"/>
    <p:sldId id="288" r:id="rId68"/>
    <p:sldId id="289" r:id="rId69"/>
    <p:sldId id="260" r:id="rId40"/>
    <p:sldId id="261" r:id="rId41"/>
    <p:sldId id="262" r:id="rId42"/>
    <p:sldId id="284" r:id="rId64"/>
    <p:sldId id="265" r:id="rId45"/>
    <p:sldId id="285" r:id="rId65"/>
    <p:sldId id="286" r:id="rId66"/>
    <p:sldId id="287" r:id="rId67"/>
    <p:sldId id="264" r:id="rId44"/>
    <p:sldId id="266" r:id="rId46"/>
    <p:sldId id="267" r:id="rId47"/>
    <p:sldId id="268" r:id="rId48"/>
    <p:sldId id="269" r:id="rId49"/>
    <p:sldId id="270" r:id="rId50"/>
    <p:sldId id="271" r:id="rId51"/>
    <p:sldId id="272" r:id="rId52"/>
    <p:sldId id="273" r:id="rId53"/>
    <p:sldId id="274" r:id="rId54"/>
    <p:sldId id="275" r:id="rId55"/>
    <p:sldId id="276" r:id="rId56"/>
    <p:sldId id="277" r:id="rId57"/>
    <p:sldId id="278" r:id="rId58"/>
    <p:sldId id="279" r:id="rId59"/>
    <p:sldId id="280" r:id="rId60"/>
    <p:sldId id="281" r:id="rId61"/>
    <p:sldId id="282" r:id="rId62"/>
    <p:sldId id="283" r:id="rId63"/>
  </p:sldIdLst>
  <p:sldSz cx="12192000" cy="6858000"/>
  <p:notesSz cx="6858000" cy="9144000"/>
  <p:embeddedFontLst>
    <p:embeddedFont>
      <p:font typeface="Malgun Gothic" panose="020B0503020000020004" pitchFamily="50" charset="-127"/>
      <p:regular r:id="rId26"/>
      <p:bold r:id="rId27"/>
    </p:embeddedFont>
    <p:embeddedFont>
      <p:font typeface="KoPub돋움체 Bold" panose="00000800000000000000" pitchFamily="2" charset="-127"/>
      <p:bold r:id="rId28"/>
    </p:embeddedFont>
    <p:embeddedFont>
      <p:font typeface="KoPub돋움체 Medium" panose="00000600000000000000" pitchFamily="2" charset="-127"/>
      <p:regular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69"/>
            <p14:sldId id="257"/>
            <p14:sldId id="258"/>
            <p14:sldId id="494"/>
            <p14:sldId id="499"/>
            <p14:sldId id="500"/>
            <p14:sldId id="501"/>
            <p14:sldId id="265"/>
            <p14:sldId id="270"/>
            <p14:sldId id="268"/>
            <p14:sldId id="487"/>
            <p14:sldId id="262"/>
            <p14:sldId id="277"/>
            <p14:sldId id="261"/>
            <p14:sldId id="491"/>
            <p14:sldId id="492"/>
            <p14:sldId id="493"/>
            <p14:sldId id="498"/>
            <p14:sldId id="264"/>
            <p14:sldId id="278"/>
            <p14:sldId id="502"/>
            <p14:sldId id="49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87152" autoAdjust="0"/>
  </p:normalViewPr>
  <p:slideViewPr>
    <p:cSldViewPr snapToGrid="0">
      <p:cViewPr varScale="1">
        <p:scale>
          <a:sx n="161" d="100"/>
          <a:sy n="161" d="100"/>
        </p:scale>
        <p:origin x="360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font" Target="fonts/font1.fntdata"/><Relationship Id="rId34" Type="http://schemas.openxmlformats.org/officeDocument/2006/relationships/tableStyles" Target="tableStyles.xml"/><Relationship Id="rId25" Type="http://schemas.openxmlformats.org/officeDocument/2006/relationships/notesMaster" Target="notesMasters/notesMaster1.xml"/><Relationship Id="rId33" Type="http://schemas.openxmlformats.org/officeDocument/2006/relationships/theme" Target="theme/theme1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32" Type="http://schemas.openxmlformats.org/officeDocument/2006/relationships/viewProps" Target="viewProps.xml"/><Relationship Id="rId28" Type="http://schemas.openxmlformats.org/officeDocument/2006/relationships/font" Target="fonts/font3.fntdata"/><Relationship Id="rId31" Type="http://schemas.openxmlformats.org/officeDocument/2006/relationships/presProps" Target="presProps.xml"/><Relationship Id="rId27" Type="http://schemas.openxmlformats.org/officeDocument/2006/relationships/font" Target="fonts/font2.fntdata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  
  
  
  
  
  
  
  
  <Relationship Id="rId36" Type="http://schemas.openxmlformats.org/officeDocument/2006/relationships/slide" Target="slides/slide1.xml"/>
  <Relationship Id="rId37" Type="http://schemas.openxmlformats.org/officeDocument/2006/relationships/slide" Target="slides/slide2.xml"/>
  <Relationship Id="rId38" Type="http://schemas.openxmlformats.org/officeDocument/2006/relationships/slide" Target="slides/slide3.xml"/>
  <Relationship Id="rId39" Type="http://schemas.openxmlformats.org/officeDocument/2006/relationships/slide" Target="slides/slide4.xml"/>
  <Relationship Id="rId40" Type="http://schemas.openxmlformats.org/officeDocument/2006/relationships/slide" Target="slides/slide5.xml"/>
  <Relationship Id="rId41" Type="http://schemas.openxmlformats.org/officeDocument/2006/relationships/slide" Target="slides/slide6.xml"/>
  <Relationship Id="rId42" Type="http://schemas.openxmlformats.org/officeDocument/2006/relationships/slide" Target="slides/slide7.xml"/>
  
  <Relationship Id="rId44" Type="http://schemas.openxmlformats.org/officeDocument/2006/relationships/slide" Target="slides/slide9.xml"/>
  <Relationship Id="rId45" Type="http://schemas.openxmlformats.org/officeDocument/2006/relationships/slide" Target="slides/slide10.xml"/>
  <Relationship Id="rId46" Type="http://schemas.openxmlformats.org/officeDocument/2006/relationships/slide" Target="slides/slide11.xml"/>
  <Relationship Id="rId47" Type="http://schemas.openxmlformats.org/officeDocument/2006/relationships/slide" Target="slides/slide12.xml"/>
  <Relationship Id="rId48" Type="http://schemas.openxmlformats.org/officeDocument/2006/relationships/slide" Target="slides/slide13.xml"/>
  <Relationship Id="rId49" Type="http://schemas.openxmlformats.org/officeDocument/2006/relationships/slide" Target="slides/slide14.xml"/>
  <Relationship Id="rId50" Type="http://schemas.openxmlformats.org/officeDocument/2006/relationships/slide" Target="slides/slide15.xml"/>
  <Relationship Id="rId51" Type="http://schemas.openxmlformats.org/officeDocument/2006/relationships/slide" Target="slides/slide16.xml"/>
  <Relationship Id="rId52" Type="http://schemas.openxmlformats.org/officeDocument/2006/relationships/slide" Target="slides/slide17.xml"/>
  <Relationship Id="rId53" Type="http://schemas.openxmlformats.org/officeDocument/2006/relationships/slide" Target="slides/slide18.xml"/>
  <Relationship Id="rId54" Type="http://schemas.openxmlformats.org/officeDocument/2006/relationships/slide" Target="slides/slide19.xml"/>
  <Relationship Id="rId55" Type="http://schemas.openxmlformats.org/officeDocument/2006/relationships/slide" Target="slides/slide20.xml"/>
  <Relationship Id="rId56" Type="http://schemas.openxmlformats.org/officeDocument/2006/relationships/slide" Target="slides/slide21.xml"/>
  <Relationship Id="rId57" Type="http://schemas.openxmlformats.org/officeDocument/2006/relationships/slide" Target="slides/slide22.xml"/>
  <Relationship Id="rId58" Type="http://schemas.openxmlformats.org/officeDocument/2006/relationships/slide" Target="slides/slide23.xml"/>
  <Relationship Id="rId59" Type="http://schemas.openxmlformats.org/officeDocument/2006/relationships/slide" Target="slides/slide24.xml"/>
  <Relationship Id="rId60" Type="http://schemas.openxmlformats.org/officeDocument/2006/relationships/slide" Target="slides/slide25.xml"/>
  <Relationship Id="rId61" Type="http://schemas.openxmlformats.org/officeDocument/2006/relationships/slide" Target="slides/slide26.xml"/>
  <Relationship Id="rId62" Type="http://schemas.openxmlformats.org/officeDocument/2006/relationships/slide" Target="slides/slide27.xml"/>
  <Relationship Id="rId63" Type="http://schemas.openxmlformats.org/officeDocument/2006/relationships/slide" Target="slides/slide28.xml"/>
  <Relationship Id="rId64" Type="http://schemas.openxmlformats.org/officeDocument/2006/relationships/slide" Target="slides/slide29.xml"/>
  <Relationship Id="rId65" Type="http://schemas.openxmlformats.org/officeDocument/2006/relationships/slide" Target="slides/slide30.xml"/>
  <Relationship Id="rId66" Type="http://schemas.openxmlformats.org/officeDocument/2006/relationships/slide" Target="slides/slide31.xml"/>
  <Relationship Id="rId67" Type="http://schemas.openxmlformats.org/officeDocument/2006/relationships/slide" Target="slides/slide32.xml"/>
  <Relationship Id="rId68" Type="http://schemas.openxmlformats.org/officeDocument/2006/relationships/slide" Target="slides/slide33.xml"/>
  <Relationship Id="rId69" Type="http://schemas.openxmlformats.org/officeDocument/2006/relationships/slide" Target="slides/slide34.xml"/>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9-10T05:04:12.456" v="4648" actId="403"/>
      <pc:docMkLst>
        <pc:docMk/>
      </pc:docMkLst>
      <pc:sldChg chg="modSp mod modNotes modNotesTx">
        <pc:chgData name="janghoon jun" userId="056a5883350c2f5e" providerId="LiveId" clId="{6DA654A6-03B0-40F7-A259-B276216985A6}" dt="2026-09-10T04:59:39.505" v="4550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 chgLayout modNotes modNotesTx">
        <pc:chgData name="janghoon jun" userId="056a5883350c2f5e" providerId="LiveId" clId="{6DA654A6-03B0-40F7-A259-B276216985A6}" dt="2026-09-10T05:04:12.456" v="4648" actId="403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9-02T02:37:45.894" v="3728" actId="6549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4:12.456" v="4648" actId="403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16:00.971" v="4488" actId="404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9-10T03:16:00.971" v="4488" actId="404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08T03:15:38.775" v="4423" actId="2062"/>
        <pc:sldMkLst>
          <pc:docMk/>
          <pc:sldMk cId="0" sldId="259"/>
        </pc:sldMkLst>
      </pc:sldChg>
      <pc:sldChg chg="delSp modSp del mod">
        <pc:chgData name="janghoon jun" userId="056a5883350c2f5e" providerId="LiveId" clId="{6DA654A6-03B0-40F7-A259-B276216985A6}" dt="2026-09-10T05:01:31.864" v="4601" actId="4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9-10T05:01:04.719" v="4595" actId="21"/>
          <ac:spMkLst>
            <pc:docMk/>
            <pc:sldMk cId="0" sldId="261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1:08.538" v="4597" actId="21"/>
          <ac:picMkLst>
            <pc:docMk/>
            <pc:sldMk cId="0" sldId="261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1:46.958" v="4608" actId="4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9-10T05:01:37.563" v="4603" actId="21"/>
          <ac:spMkLst>
            <pc:docMk/>
            <pc:sldMk cId="0" sldId="262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41.989" v="4605" actId="21"/>
          <ac:picMkLst>
            <pc:docMk/>
            <pc:sldMk cId="0" sldId="262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01.467" v="4615" actId="47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9-10T05:01:54.745" v="4611" actId="21"/>
          <ac:spMkLst>
            <pc:docMk/>
            <pc:sldMk cId="0" sldId="263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59.021" v="4613" actId="21"/>
          <ac:picMkLst>
            <pc:docMk/>
            <pc:sldMk cId="0" sldId="263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33.552" v="4626" actId="47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9-10T05:02:07.183" v="4617" actId="21"/>
          <ac:spMkLst>
            <pc:docMk/>
            <pc:sldMk cId="0" sldId="264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2:10.641" v="4619" actId="21"/>
          <ac:picMkLst>
            <pc:docMk/>
            <pc:sldMk cId="0" sldId="264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3:04.881" v="4633" actId="47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9-10T05:02:38.758" v="4628" actId="21"/>
          <ac:spMkLst>
            <pc:docMk/>
            <pc:sldMk cId="0" sldId="265"/>
            <ac:spMk id="2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54.047" v="4543" actId="255"/>
          <ac:graphicFrameMkLst>
            <pc:docMk/>
            <pc:sldMk cId="0" sldId="265"/>
            <ac:graphicFrameMk id="3" creationId="{00000000-0000-0000-0000-000000000000}"/>
          </ac:graphicFrameMkLst>
        </pc:graphicFrameChg>
        <pc:picChg chg="del">
          <ac:chgData name="janghoon jun" userId="056a5883350c2f5e" providerId="LiveId" clId="{6DA654A6-03B0-40F7-A259-B276216985A6}" dt="2026-09-10T05:02:42.851" v="4630" actId="21"/>
          <ac:picMkLst>
            <pc:docMk/>
            <pc:sldMk cId="0" sldId="265"/>
            <ac:picMk id="3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9-10T05:03:31.457" v="4640" actId="1076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9-10T03:16:18.752" v="4490" actId="404"/>
          <ac:spMkLst>
            <pc:docMk/>
            <pc:sldMk cId="0" sldId="26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3:31.457" v="4640" actId="1076"/>
          <ac:spMkLst>
            <pc:docMk/>
            <pc:sldMk cId="0" sldId="266"/>
            <ac:spMk id="5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9-10T05:03:27.249" v="4639" actId="1076"/>
          <ac:graphicFrameMkLst>
            <pc:docMk/>
            <pc:sldMk cId="0" sldId="266"/>
            <ac:graphicFrameMk id="4" creationId="{00000000-0000-0000-0000-000000000000}"/>
          </ac:graphicFrameMkLst>
        </pc:graphicFrameChg>
      </pc:sldChg>
      <pc:sldChg chg="delSp modSp del mod">
        <pc:chgData name="janghoon jun" userId="056a5883350c2f5e" providerId="LiveId" clId="{6DA654A6-03B0-40F7-A259-B276216985A6}" dt="2026-09-10T05:00:59.834" v="4593" actId="2763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9-08T03:22:06.514" v="4485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0:59.834" v="4593" actId="27636"/>
          <ac:spMkLst>
            <pc:docMk/>
            <pc:sldMk cId="0" sldId="267"/>
            <ac:spMk id="3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9-10T05:04:04.780" v="4641" actId="47"/>
        <pc:sldMkLst>
          <pc:docMk/>
          <pc:sldMk cId="0" sldId="269"/>
        </pc:sldMkLst>
        <pc:graphicFrameChg chg="modGraphic">
          <ac:chgData name="janghoon jun" userId="056a5883350c2f5e" providerId="LiveId" clId="{6DA654A6-03B0-40F7-A259-B276216985A6}" dt="2026-09-10T03:22:45.138" v="4542" actId="255"/>
          <ac:graphicFrameMkLst>
            <pc:docMk/>
            <pc:sldMk cId="0" sldId="269"/>
            <ac:graphicFrameMk id="6" creationId="{E510CECF-189E-7B95-A7D1-8CF39243907A}"/>
          </ac:graphicFrameMkLst>
        </pc:graphicFrameChg>
      </pc:sldChg>
      <pc:sldChg chg="modSp mod">
        <pc:chgData name="janghoon jun" userId="056a5883350c2f5e" providerId="LiveId" clId="{6DA654A6-03B0-40F7-A259-B276216985A6}" dt="2026-09-10T03:22:37.115" v="4541" actId="255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9-10T03:22:37.115" v="4541" actId="255"/>
          <ac:spMkLst>
            <pc:docMk/>
            <pc:sldMk cId="0" sldId="270"/>
            <ac:spMk id="4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33.054" v="4540" actId="255"/>
          <ac:graphicFrameMkLst>
            <pc:docMk/>
            <pc:sldMk cId="0" sldId="270"/>
            <ac:graphicFrameMk id="3" creationId="{00000000-0000-0000-0000-000000000000}"/>
          </ac:graphicFrameMkLst>
        </pc:graphicFrameChg>
      </pc:sldChg>
      <pc:sldChg chg="modSp mod">
        <pc:chgData name="janghoon jun" userId="056a5883350c2f5e" providerId="LiveId" clId="{6DA654A6-03B0-40F7-A259-B276216985A6}" dt="2026-09-10T03:23:12.656" v="4546" actId="271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9-10T03:23:12.656" v="4546" actId="2710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22:18.743" v="4536" actId="255"/>
        <pc:sldMkLst>
          <pc:docMk/>
          <pc:sldMk cId="0" sldId="272"/>
        </pc:sldMkLst>
        <pc:graphicFrameChg chg="modGraphic">
          <ac:chgData name="janghoon jun" userId="056a5883350c2f5e" providerId="LiveId" clId="{6DA654A6-03B0-40F7-A259-B276216985A6}" dt="2026-09-10T03:22:18.743" v="4536" actId="255"/>
          <ac:graphicFrameMkLst>
            <pc:docMk/>
            <pc:sldMk cId="0" sldId="272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14.195" v="4600" actId="1076"/>
        <pc:sldMkLst>
          <pc:docMk/>
          <pc:sldMk cId="2755278307" sldId="272"/>
        </pc:sldMkLst>
        <pc:spChg chg="mod">
          <ac:chgData name="janghoon jun" userId="056a5883350c2f5e" providerId="LiveId" clId="{6DA654A6-03B0-40F7-A259-B276216985A6}" dt="2026-09-10T05:01:06.801" v="4596"/>
          <ac:spMkLst>
            <pc:docMk/>
            <pc:sldMk cId="2755278307" sldId="272"/>
            <ac:spMk id="2" creationId="{47399A34-AE2B-4CC6-8304-596321EC9448}"/>
          </ac:spMkLst>
        </pc:spChg>
        <pc:spChg chg="del">
          <ac:chgData name="janghoon jun" userId="056a5883350c2f5e" providerId="LiveId" clId="{6DA654A6-03B0-40F7-A259-B276216985A6}" dt="2026-09-10T05:01:02.342" v="4594" actId="478"/>
          <ac:spMkLst>
            <pc:docMk/>
            <pc:sldMk cId="2755278307" sldId="272"/>
            <ac:spMk id="3" creationId="{8C665CBB-843D-1473-C103-8CBA53FCFA04}"/>
          </ac:spMkLst>
        </pc:spChg>
        <pc:spChg chg="add del mod">
          <ac:chgData name="janghoon jun" userId="056a5883350c2f5e" providerId="LiveId" clId="{6DA654A6-03B0-40F7-A259-B276216985A6}" dt="2026-09-10T05:01:11.596" v="4598" actId="478"/>
          <ac:spMkLst>
            <pc:docMk/>
            <pc:sldMk cId="2755278307" sldId="272"/>
            <ac:spMk id="5" creationId="{093EABBB-1335-B701-D6E0-0A3678A54285}"/>
          </ac:spMkLst>
        </pc:spChg>
        <pc:picChg chg="add mod">
          <ac:chgData name="janghoon jun" userId="056a5883350c2f5e" providerId="LiveId" clId="{6DA654A6-03B0-40F7-A259-B276216985A6}" dt="2026-09-10T05:01:14.195" v="4600" actId="1076"/>
          <ac:picMkLst>
            <pc:docMk/>
            <pc:sldMk cId="2755278307" sldId="272"/>
            <ac:picMk id="7" creationId="{DB5C9DB1-2489-F3D0-1976-537E15A9259F}"/>
          </ac:picMkLst>
        </pc:picChg>
      </pc:sldChg>
      <pc:sldChg chg="modSp mod">
        <pc:chgData name="janghoon jun" userId="056a5883350c2f5e" providerId="LiveId" clId="{6DA654A6-03B0-40F7-A259-B276216985A6}" dt="2026-09-10T03:21:38.729" v="4528" actId="255"/>
        <pc:sldMkLst>
          <pc:docMk/>
          <pc:sldMk cId="0" sldId="273"/>
        </pc:sldMkLst>
        <pc:graphicFrameChg chg="modGraphic">
          <ac:chgData name="janghoon jun" userId="056a5883350c2f5e" providerId="LiveId" clId="{6DA654A6-03B0-40F7-A259-B276216985A6}" dt="2026-09-10T03:21:38.729" v="4528" actId="255"/>
          <ac:graphicFrameMkLst>
            <pc:docMk/>
            <pc:sldMk cId="0" sldId="273"/>
            <ac:graphicFrameMk id="6" creationId="{E510CECF-189E-7B95-A7D1-8CF39243907A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44.278" v="4607" actId="22"/>
        <pc:sldMkLst>
          <pc:docMk/>
          <pc:sldMk cId="3764616405" sldId="273"/>
        </pc:sldMkLst>
        <pc:spChg chg="mod">
          <ac:chgData name="janghoon jun" userId="056a5883350c2f5e" providerId="LiveId" clId="{6DA654A6-03B0-40F7-A259-B276216985A6}" dt="2026-09-10T05:01:39.369" v="4604"/>
          <ac:spMkLst>
            <pc:docMk/>
            <pc:sldMk cId="3764616405" sldId="273"/>
            <ac:spMk id="2" creationId="{81756DD1-59E1-2584-8E19-3E1B59037185}"/>
          </ac:spMkLst>
        </pc:spChg>
        <pc:picChg chg="add">
          <ac:chgData name="janghoon jun" userId="056a5883350c2f5e" providerId="LiveId" clId="{6DA654A6-03B0-40F7-A259-B276216985A6}" dt="2026-09-10T05:01:44.278" v="4607" actId="22"/>
          <ac:picMkLst>
            <pc:docMk/>
            <pc:sldMk cId="3764616405" sldId="273"/>
            <ac:picMk id="4" creationId="{4D791A2B-D934-61D3-05BA-457321A70678}"/>
          </ac:picMkLst>
        </pc:picChg>
        <pc:picChg chg="del">
          <ac:chgData name="janghoon jun" userId="056a5883350c2f5e" providerId="LiveId" clId="{6DA654A6-03B0-40F7-A259-B276216985A6}" dt="2026-09-10T05:01:43.956" v="4606" actId="478"/>
          <ac:picMkLst>
            <pc:docMk/>
            <pc:sldMk cId="3764616405" sldId="273"/>
            <ac:picMk id="7" creationId="{C0C8C0CA-19F3-5E89-D747-E613365C3187}"/>
          </ac:picMkLst>
        </pc:picChg>
      </pc:sldChg>
      <pc:sldChg chg="modSp mod">
        <pc:chgData name="janghoon jun" userId="056a5883350c2f5e" providerId="LiveId" clId="{6DA654A6-03B0-40F7-A259-B276216985A6}" dt="2026-09-10T03:21:46.220" v="4529" actId="255"/>
        <pc:sldMkLst>
          <pc:docMk/>
          <pc:sldMk cId="0" sldId="274"/>
        </pc:sldMkLst>
        <pc:graphicFrameChg chg="modGraphic">
          <ac:chgData name="janghoon jun" userId="056a5883350c2f5e" providerId="LiveId" clId="{6DA654A6-03B0-40F7-A259-B276216985A6}" dt="2026-09-10T03:21:46.220" v="4529" actId="255"/>
          <ac:graphicFrameMkLst>
            <pc:docMk/>
            <pc:sldMk cId="0" sldId="274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59.785" v="4614" actId="22"/>
        <pc:sldMkLst>
          <pc:docMk/>
          <pc:sldMk cId="2820107391" sldId="274"/>
        </pc:sldMkLst>
        <pc:spChg chg="mod">
          <ac:chgData name="janghoon jun" userId="056a5883350c2f5e" providerId="LiveId" clId="{6DA654A6-03B0-40F7-A259-B276216985A6}" dt="2026-09-10T05:01:56.743" v="4612"/>
          <ac:spMkLst>
            <pc:docMk/>
            <pc:sldMk cId="2820107391" sldId="274"/>
            <ac:spMk id="2" creationId="{96BE39D2-BACD-9BFA-6BEF-E23EB76F52A3}"/>
          </ac:spMkLst>
        </pc:spChg>
        <pc:picChg chg="del">
          <ac:chgData name="janghoon jun" userId="056a5883350c2f5e" providerId="LiveId" clId="{6DA654A6-03B0-40F7-A259-B276216985A6}" dt="2026-09-10T05:01:51.432" v="4610" actId="478"/>
          <ac:picMkLst>
            <pc:docMk/>
            <pc:sldMk cId="2820107391" sldId="274"/>
            <ac:picMk id="4" creationId="{44560D41-702E-22B7-E44B-6688B87607EB}"/>
          </ac:picMkLst>
        </pc:picChg>
        <pc:picChg chg="add">
          <ac:chgData name="janghoon jun" userId="056a5883350c2f5e" providerId="LiveId" clId="{6DA654A6-03B0-40F7-A259-B276216985A6}" dt="2026-09-10T05:01:59.785" v="4614" actId="22"/>
          <ac:picMkLst>
            <pc:docMk/>
            <pc:sldMk cId="2820107391" sldId="274"/>
            <ac:picMk id="5" creationId="{789B8AA2-C797-6A65-8F18-1F3D8565FBA8}"/>
          </ac:picMkLst>
        </pc:picChg>
      </pc:sldChg>
      <pc:sldChg chg="modSp mod">
        <pc:chgData name="janghoon jun" userId="056a5883350c2f5e" providerId="LiveId" clId="{6DA654A6-03B0-40F7-A259-B276216985A6}" dt="2026-09-10T03:23:26.413" v="4549" actId="2710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9-10T03:23:26.413" v="4549" actId="2710"/>
          <ac:spMkLst>
            <pc:docMk/>
            <pc:sldMk cId="0" sldId="275"/>
            <ac:spMk id="4" creationId="{00000000-0000-0000-0000-000000000000}"/>
          </ac:spMkLst>
        </pc:spChg>
      </pc:sldChg>
      <pc:sldChg chg="addSp delSp modSp add mod">
        <pc:chgData name="janghoon jun" userId="056a5883350c2f5e" providerId="LiveId" clId="{6DA654A6-03B0-40F7-A259-B276216985A6}" dt="2026-09-10T05:02:27.064" v="4625" actId="1076"/>
        <pc:sldMkLst>
          <pc:docMk/>
          <pc:sldMk cId="1751739855" sldId="275"/>
        </pc:sldMkLst>
        <pc:spChg chg="mod">
          <ac:chgData name="janghoon jun" userId="056a5883350c2f5e" providerId="LiveId" clId="{6DA654A6-03B0-40F7-A259-B276216985A6}" dt="2026-09-10T05:02:08.939" v="4618"/>
          <ac:spMkLst>
            <pc:docMk/>
            <pc:sldMk cId="1751739855" sldId="275"/>
            <ac:spMk id="2" creationId="{6F7E1DCF-9740-40AC-B307-1426493A0AC5}"/>
          </ac:spMkLst>
        </pc:spChg>
        <pc:picChg chg="add mod">
          <ac:chgData name="janghoon jun" userId="056a5883350c2f5e" providerId="LiveId" clId="{6DA654A6-03B0-40F7-A259-B276216985A6}" dt="2026-09-10T05:02:27.064" v="4625" actId="1076"/>
          <ac:picMkLst>
            <pc:docMk/>
            <pc:sldMk cId="1751739855" sldId="275"/>
            <ac:picMk id="4" creationId="{84710ACD-2049-27DA-4399-427001462009}"/>
          </ac:picMkLst>
        </pc:picChg>
        <pc:picChg chg="del">
          <ac:chgData name="janghoon jun" userId="056a5883350c2f5e" providerId="LiveId" clId="{6DA654A6-03B0-40F7-A259-B276216985A6}" dt="2026-09-10T05:02:12.860" v="4620" actId="478"/>
          <ac:picMkLst>
            <pc:docMk/>
            <pc:sldMk cId="1751739855" sldId="275"/>
            <ac:picMk id="5" creationId="{9575D779-2B9E-87D3-6075-E635B5824B4E}"/>
          </ac:picMkLst>
        </pc:picChg>
      </pc:sldChg>
      <pc:sldChg chg="modSp mod">
        <pc:chgData name="janghoon jun" userId="056a5883350c2f5e" providerId="LiveId" clId="{6DA654A6-03B0-40F7-A259-B276216985A6}" dt="2026-09-10T03:21:51.722" v="4530" actId="255"/>
        <pc:sldMkLst>
          <pc:docMk/>
          <pc:sldMk cId="0" sldId="276"/>
        </pc:sldMkLst>
        <pc:graphicFrameChg chg="modGraphic">
          <ac:chgData name="janghoon jun" userId="056a5883350c2f5e" providerId="LiveId" clId="{6DA654A6-03B0-40F7-A259-B276216985A6}" dt="2026-09-10T03:21:51.722" v="4530" actId="255"/>
          <ac:graphicFrameMkLst>
            <pc:docMk/>
            <pc:sldMk cId="0" sldId="276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2:45.534" v="4632" actId="22"/>
        <pc:sldMkLst>
          <pc:docMk/>
          <pc:sldMk cId="1504938630" sldId="276"/>
        </pc:sldMkLst>
        <pc:spChg chg="mod">
          <ac:chgData name="janghoon jun" userId="056a5883350c2f5e" providerId="LiveId" clId="{6DA654A6-03B0-40F7-A259-B276216985A6}" dt="2026-09-10T05:02:40.704" v="4629"/>
          <ac:spMkLst>
            <pc:docMk/>
            <pc:sldMk cId="1504938630" sldId="276"/>
            <ac:spMk id="2" creationId="{913683FB-DF95-E126-F2AF-437AEE942621}"/>
          </ac:spMkLst>
        </pc:spChg>
        <pc:picChg chg="del">
          <ac:chgData name="janghoon jun" userId="056a5883350c2f5e" providerId="LiveId" clId="{6DA654A6-03B0-40F7-A259-B276216985A6}" dt="2026-09-10T05:02:45.004" v="4631" actId="478"/>
          <ac:picMkLst>
            <pc:docMk/>
            <pc:sldMk cId="1504938630" sldId="276"/>
            <ac:picMk id="4" creationId="{46693135-C301-9F06-2589-F08988C88813}"/>
          </ac:picMkLst>
        </pc:picChg>
        <pc:picChg chg="add">
          <ac:chgData name="janghoon jun" userId="056a5883350c2f5e" providerId="LiveId" clId="{6DA654A6-03B0-40F7-A259-B276216985A6}" dt="2026-09-10T05:02:45.534" v="4632" actId="22"/>
          <ac:picMkLst>
            <pc:docMk/>
            <pc:sldMk cId="1504938630" sldId="276"/>
            <ac:picMk id="5" creationId="{D4DA04F9-B60D-B9E9-17B8-B1E936BB0517}"/>
          </ac:picMkLst>
        </pc:picChg>
      </pc:sldChg>
      <pc:sldChg chg="add del">
        <pc:chgData name="janghoon jun" userId="056a5883350c2f5e" providerId="LiveId" clId="{6DA654A6-03B0-40F7-A259-B276216985A6}" dt="2026-09-10T05:03:12.292" v="4635" actId="47"/>
        <pc:sldMkLst>
          <pc:docMk/>
          <pc:sldMk cId="2410116862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2026-09-30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3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  <Relationship Id="rId2" Type="http://schemas.openxmlformats.org/officeDocument/2006/relationships/image" Target="../media/image15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  <Relationship Id="rId2" Type="http://schemas.openxmlformats.org/officeDocument/2006/relationships/image" Target="../media/image12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  <Relationship Id="rId2" Type="http://schemas.openxmlformats.org/officeDocument/2006/relationships/image" Target="../media/image16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3.xml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3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7.xml"/>
  <Relationship Id="rId2" Type="http://schemas.openxmlformats.org/officeDocument/2006/relationships/image" Target="../media/image8.png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7.xml"/>
  <Relationship Id="rId2" Type="http://schemas.openxmlformats.org/officeDocument/2006/relationships/image" Target="../media/image6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3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7.xml"/>
  <Relationship Id="rId2" Type="http://schemas.openxmlformats.org/officeDocument/2006/relationships/image" Target="../media/image7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3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7.xml"/>
  <Relationship Id="rId2" Type="http://schemas.openxmlformats.org/officeDocument/2006/relationships/image" Target="../media/image11.png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7.xml"/>
  <Relationship Id="rId2" Type="http://schemas.openxmlformats.org/officeDocument/2006/relationships/image" Target="../media/image9.png"/>
  <Relationship Id="rId3" Type="http://schemas.openxmlformats.org/officeDocument/2006/relationships/image" Target="../media/image10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7.xml"/>
  <Relationship Id="rId2" Type="http://schemas.openxmlformats.org/officeDocument/2006/relationships/image" Target="../media/image17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7.xml"/>
  <Relationship Id="rId2" Type="http://schemas.openxmlformats.org/officeDocument/2006/relationships/image" Target="../media/image18.pn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1074" y="2203269"/>
            <a:ext cx="843705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ko-KR" sz="2000" b="1" dirty="0">
                <a:solidFill>
                  <a:schemeClr val="bg1"/>
                </a:solidFill>
              </a:rPr>
              <a:t>Contribution and Limitations of AEC and Body Composition Curves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r>
              <a:rPr lang="ko-KR" altLang="ko-KR" sz="2000" b="1" dirty="0">
                <a:solidFill>
                  <a:schemeClr val="bg1"/>
                </a:solidFill>
              </a:rPr>
              <a:t>in Chronic Disease Prediction</a:t>
            </a:r>
            <a:endParaRPr sz="3600" b="1" dirty="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1074" y="3091544"/>
            <a:ext cx="13292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chemeClr val="bg1"/>
                </a:solidFill>
              </a:rPr>
              <a:t>2026. 10. 02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1074" y="3548744"/>
            <a:ext cx="19468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chemeClr val="bg1"/>
                </a:solidFill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074" y="4005944"/>
            <a:ext cx="5093254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chemeClr val="bg1"/>
                </a:solidFill>
              </a:rPr>
              <a:t>Department of Medical Device Engineering &amp; Management</a:t>
            </a:r>
          </a:p>
          <a:p>
            <a:r>
              <a:rPr sz="1400">
                <a:solidFill>
                  <a:schemeClr val="bg1"/>
                </a:solidFill>
              </a:rPr>
              <a:t>Gangnam Severance Hospital,</a:t>
            </a:r>
          </a:p>
          <a:p>
            <a:r>
              <a:rPr sz="1400">
                <a:solidFill>
                  <a:schemeClr val="bg1"/>
                </a:solidFill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 임상정보의 한계와, AEC·체성분 곡선이라는 새로운 신호의 가능성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Beyond Clinical-Only Prediction: Background &amp; Study Aims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>
            <a:normAutofit fontScale="90000" lnSpcReduction="10000"/>
          </a:bodyPr>
          <a:lstStyle/>
          <a:p>
            <a:r>
              <a:rPr lang="ko-KR" altLang="en-US" sz="1600" dirty="0"/>
              <a:t>성별·나이·키·몸무게 같은 기본 정보만으로 고혈압·당뇨병·만성신장질환을 얼마나 구분할 수 있는지 확인</a:t>
            </a:r>
          </a:p>
          <a:p>
            <a:r>
              <a:rPr lang="ko-KR" altLang="en-US" sz="1600" dirty="0"/>
              <a:t>성별은 기본 임상 모델에서도 이미 유의한 공변량(Table 4) — AEC·체성분처럼 새로 추가하는 신호에서도 성별 등 인구통계 요인의 영향을 함께 고려할 필요가 있다는 가설 하에 접근</a:t>
            </a:r>
          </a:p>
          <a:p>
            <a:pPr lvl="1"/>
            <a:r>
              <a:rPr lang="ko-KR" altLang="en-US" sz="1400" i="1" dirty="0"/>
              <a:t>※ “AEC 곡선 자체의 성별 분포 차이”는 이번 분석에서 직접 검증되지 않아 가설로만 제시</a:t>
            </a:r>
          </a:p>
          <a:p>
            <a:r>
              <a:rPr lang="ko-KR" altLang="en-US" sz="1600" dirty="0"/>
              <a:t>AEC와 체성분 곡선을 더하면 예측력이 더 좋아지는지 평가</a:t>
            </a:r>
          </a:p>
          <a:p>
            <a:r>
              <a:rPr lang="ko-KR" altLang="en-US" sz="1600" dirty="0"/>
              <a:t>곡선을 다듬는 방법과 사용 부위를 바꿔가며 더 나은 표현 방식 탐색</a:t>
            </a:r>
          </a:p>
          <a:p>
            <a:r>
              <a:rPr lang="ko-KR" altLang="en-US" sz="1600" dirty="0"/>
              <a:t>강남 데이터로 모델을 만들고 신촌 데이터로 따로 검증해 두 병원에서 결과가 일관되는지 확인</a:t>
            </a:r>
          </a:p>
          <a:p>
            <a:r>
              <a:rPr lang="ko-KR" altLang="en-US" sz="1600" dirty="0"/>
              <a:t>배경: 이미 촬영된 CT를 추가 판독·비용·방사선 없이 재활용해 만성질환 위험군을 선별하는 “opportunistic screening” 가능성 확인이 최종 목적</a:t>
            </a:r>
          </a:p>
          <a:p>
            <a:r>
              <a:rPr lang="ko-KR" altLang="en-US" sz="1600" dirty="0"/>
              <a:t>목적: AEC·체성분 정보 추가가 기본 정보 대비 얼마나, 병원 간 일관되게 도움이 되는지 확인</a:t>
            </a:r>
            <a:endParaRPr lang="en-US" altLang="ko-KR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Key Concept 1 — AEC (Automatic Exposure Control) Curve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1750000"/>
          </a:xfrm>
        </p:spPr>
        <p:txBody>
          <a:bodyPr wrap="square">
            <a:normAutofit fontScale="90000"/>
          </a:bodyPr>
          <a:lstStyle/>
          <a:p>
            <a:r>
              <a:rPr lang="ko-KR" altLang="en-US" sz="1400" dirty="0"/>
              <a:t>CT 촬영 시 스캐너는 환자의 몸 두께·밀도에 맞춰 튜브 전류(mA)를 머리~발 방향(z축)으로 실시간 자동 조절 — 이를 AEC(Automatic Exposure Control)라 함. 몸이 두꺼운 구간일수록 더 많은 전류가 필요하므로, 이 전류값 곡선 자체가 체형·조직구성을 암묵적으로 반영</a:t>
            </a:r>
          </a:p>
          <a:p>
            <a:r>
              <a:rPr lang="ko-KR" altLang="en-US" sz="1400" dirty="0"/>
              <a:t>모든 CT 촬영에서 부산물로 자동 기록되지만 대부분 버려지던 정보 — 본 연구는 간~치골 구간의 AEC를 128구간으로 표준화한 “AEC-128 곡선”을 추가 세그멘테이션 없이 바로 예측 모델의 입력으로 활용</a:t>
            </a:r>
          </a:p>
        </p:txBody>
      </p:sp>
      <p:pic>
        <p:nvPicPr>
          <p:cNvPr id="4" name="실제 환자 AEC-128 곡선" descr="강남 코호트 실제 환자 AEC-128 곡선(개별 환자 18명 예시 + 코호트 평균, n=1,260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500" y="2750000"/>
            <a:ext cx="8115000" cy="380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Key Concept 2 — FPCA (Functional PCA)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1550000"/>
          </a:xfrm>
        </p:spPr>
        <p:txBody>
          <a:bodyPr wrap="square">
            <a:normAutofit fontScale="90000"/>
          </a:bodyPr>
          <a:lstStyle/>
          <a:p>
            <a:r>
              <a:rPr lang="ko-KR" altLang="en-US" sz="1400" dirty="0"/>
              <a:t>AEC 곡선은 128개 연속값으로 이루어진 “곡선(함수)” 데이터 — 그대로 넣으면 변수 과다·다중공선성으로 학습 불안정</a:t>
            </a:r>
          </a:p>
          <a:p>
            <a:r>
              <a:rPr lang="ko-KR" altLang="en-US" sz="1400" dirty="0"/>
              <a:t>FPCA: 곡선을 몇 개의 대표 “모양 패턴”(PC1~PC3)으로 압축하는 기법(PCA의 함수 확장판). PC 개수(3개)는 강남(Internal) 코호트에 적합한 뒤 elbow 기준으로 성능과 무관하게 사전결정</a:t>
            </a:r>
          </a:p>
          <a:p>
            <a:r>
              <a:rPr lang="ko-KR" altLang="en-US" sz="1400" dirty="0"/>
              <a:t>각 환자를 PC1~PC3 점수로 요약해 회귀분석 입력으로 사용, 복원(Inverse Transform)해 해석(Figure 2)</a:t>
            </a:r>
            <a:endParaRPr lang="en-US" altLang="ko-KR" sz="1400" dirty="0"/>
          </a:p>
        </p:txBody>
      </p:sp>
      <p:pic>
        <p:nvPicPr>
          <p:cNvPr id="4" name="FPCA concept diagram" descr="개념 예시(실제 데이터 아님): 좌측은 원본 AEC 곡선 여러 개와 평균 곡선, 우측은 평균 곡선에 PC1/PC2/PC3 모드를 각각 더한 모양 변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00" y="2547468"/>
            <a:ext cx="9000000" cy="358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Key Concept 3 — CT Body Composition &amp; TotalSegmentator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2000000"/>
          </a:xfrm>
        </p:spPr>
        <p:txBody>
          <a:bodyPr wrap="square">
            <a:normAutofit fontScale="90000"/>
          </a:bodyPr>
          <a:lstStyle/>
          <a:p>
            <a:r>
              <a:rPr lang="ko-KR" altLang="en-US" sz="1500" dirty="0"/>
              <a:t>CT 한 장에는 뼈·장기 외에도 지방·근육의 양과 분포 정보가 담겨 있음</a:t>
            </a:r>
          </a:p>
          <a:p>
            <a:r>
              <a:rPr lang="ko-KR" altLang="en-US" sz="1500" dirty="0"/>
              <a:t>TotalSegmentator: CT 영상에서 장기·조직을 자동으로 구분해주는 오픈소스 딥러닝 세그멘테이션 도구</a:t>
            </a:r>
          </a:p>
          <a:p>
            <a:r>
              <a:rPr lang="ko-KR" altLang="en-US" sz="1500" dirty="0"/>
              <a:t>본 연구에서는 (1) 간~치골 구간의 절단 위치(랜드마크)를 자동 검출하고, (2) 그 구간의 내장지방(VAT)·피하지방(SAT) 등 조직 단면적을 자동 산출하는 데 사용</a:t>
            </a:r>
          </a:p>
          <a:p>
            <a:r>
              <a:rPr lang="ko-KR" altLang="en-US" sz="1400" b="1" dirty="0"/>
              <a:t>체성분 곡선 → 128구간 표준화 → FPCA 압축(PC1~PC3)</a:t>
            </a:r>
            <a:r>
              <a:rPr lang="ko-KR" altLang="en-US" sz="1300" i="1" dirty="0"/>
              <a:t> (Key Concept 2와 동일 절차)</a:t>
            </a:r>
          </a:p>
        </p:txBody>
      </p:sp>
      <p:pic>
        <p:nvPicPr>
          <p:cNvPr id="4" name="실제 환자 체성분 곡선" descr="강남 코호트 실제 환자 체성분 곡선(SAT·Muscle·VAT 평균±SD, n=1,260) — TotalSegmentator로 자동 산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500" y="3050000"/>
            <a:ext cx="6599000" cy="3100000"/>
          </a:xfrm>
          <a:prstGeom prst="rect">
            <a:avLst/>
          </a:prstGeom>
        </p:spPr>
      </p:pic>
      <p:sp>
        <p:nvSpPr>
          <p:cNvPr id="5" name="QC note"/>
          <p:cNvSpPr txBox="1"/>
          <p:nvPr/>
        </p:nvSpPr>
        <p:spPr>
          <a:xfrm>
            <a:off x="508000" y="6400000"/>
            <a:ext cx="11176000" cy="23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000" i="1" dirty="0"/>
              <a:t>※ 랜드마크 검출·곡선 도출 파이프라인의 개별 건별 오류율은 이번 발표에서 별도 제시하지 않음(한계로 인지)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코호트, 모델링 전략, 확장 입력(AEC·체성분) 구성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 모델 대비 AEC·체성분 추가의 성능·계수 변화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30000"/>
            <a:ext cx="11176000" cy="500000"/>
          </a:xfrm>
        </p:spPr>
        <p:txBody>
          <a:bodyPr/>
          <a:lstStyle/>
          <a:p>
            <a:r>
              <a:rPr lang="en-US" dirty="0"/>
              <a:t>Table 1. Baseline Characteristics — Gangnam vs. Sinchon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508000" y="720000"/>
            <a:ext cx="11176000" cy="33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200" i="1" dirty="0"/>
              <a:t>두 코호트는 성별·연령·체성분·유병률에서 모두 유의하게 다름(case-mix 차이) — 외부검증 해석 시 신호 우수성과 코호트 구성 차이를 구분해야 함(Discussion 참고)</a:t>
            </a:r>
          </a:p>
        </p:txBody>
      </p:sp>
      <p:graphicFrame>
        <p:nvGraphicFramePr>
          <p:cNvPr id="6" name="Table 1"/>
          <p:cNvGraphicFramePr>
            <a:graphicFrameLocks noGrp="1"/>
          </p:cNvGraphicFramePr>
          <p:nvPr/>
        </p:nvGraphicFramePr>
        <p:xfrm>
          <a:off x="908000" y="1150000"/>
          <a:ext cx="10176000" cy="55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3376000"/>
                <a:gridCol w="2900000"/>
                <a:gridCol w="2900000"/>
                <a:gridCol w="1000000"/>
              </a:tblGrid>
              <a:tr h="180000">
                <a:tc>
                  <a:txBody>
                    <a:bodyPr/>
                    <a:lstStyle/>
                    <a:p>
                      <a:pPr algn="l"/>
                      <a:r>
                        <a:rPr sz="1100" b="1"/>
                        <a:t>Characteristic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Gangnam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Sinchon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p-value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 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Sex (Male),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475 (37.7%)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547 (48.7%)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57.3 ± 12.1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59.7 ± 12.3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162.8 ± 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163.7 ±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0.018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62.0 ± 10.1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62.4 ± 10.1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0.359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BMI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23.3 ± 2.9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23.2 ± 2.9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0.322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SMI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6873.5 ± 1562.8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6661.3 ± 1639.9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0.108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8486.2 ± 5165.1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9096.4 ± 5280.4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0.002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19243.6 ± 7914.4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17914.4 ± 8631.1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IMATA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1175.5 ± 576.0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1224.9 ± 617.6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0.019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14279.5 ± 4408.5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12931.5 ± 4709.8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4127.4 ± 1962.2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5093.2 ± 2123.8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TAMA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18406.9 ± 5171.0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18024.7 ± 5311.8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0.378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HTN,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386 (30.6%)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507 (45.1%)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DM,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233 (18.5%)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335 (29.8%)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</a:t>
                      </a:r>
                    </a:p>
                  </a:txBody>
                  <a:tcPr anchor="ctr"/>
                </a:tc>
              </a:tr>
              <a:tr h="180000">
                <a:tc>
                  <a:txBody>
                    <a:bodyPr/>
                    <a:lstStyle/>
                    <a:p>
                      <a:r>
                        <a:rPr sz="1000"/>
                        <a:t>CKD,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105 (8.3%)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188 (16.7%)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Overview</a:t>
            </a:r>
          </a:p>
        </p:txBody>
      </p:sp>
      <p:sp>
        <p:nvSpPr>
          <p:cNvPr id="10" name="Stat1 Num"/>
          <p:cNvSpPr txBox="1"/>
          <p:nvPr/>
        </p:nvSpPr>
        <p:spPr>
          <a:xfrm>
            <a:off x="700000" y="1250000"/>
            <a:ext cx="3600000" cy="900000"/>
          </a:xfrm>
          <a:prstGeom prst="rect">
            <a:avLst/>
          </a:prstGeom>
        </p:spPr>
        <p:txBody>
          <a:bodyPr wrap="square" anchor="b"/>
          <a:lstStyle/>
          <a:p>
            <a:pPr algn="ctr"/>
            <a:r>
              <a:rPr lang="en-US" sz="2800" b="1" dirty="0">
                <a:solidFill>
                  <a:schemeClr val="accent1"/>
                </a:solidFill>
              </a:rPr>
              <a:t>0.71–0.80 / 0.62–0.72</a:t>
            </a:r>
          </a:p>
        </p:txBody>
      </p:sp>
      <p:sp>
        <p:nvSpPr>
          <p:cNvPr id="11" name="Stat1 Label"/>
          <p:cNvSpPr txBox="1"/>
          <p:nvPr/>
        </p:nvSpPr>
        <p:spPr>
          <a:xfrm>
            <a:off x="700000" y="2180000"/>
            <a:ext cx="3600000" cy="7000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ko-KR" altLang="en-US" sz="1300" dirty="0"/>
              <a:t>Baseline AUC(강남/신촌)</a:t>
            </a:r>
          </a:p>
        </p:txBody>
      </p:sp>
      <p:sp>
        <p:nvSpPr>
          <p:cNvPr id="12" name="Stat2 Num"/>
          <p:cNvSpPr txBox="1"/>
          <p:nvPr/>
        </p:nvSpPr>
        <p:spPr>
          <a:xfrm>
            <a:off x="4300000" y="1250000"/>
            <a:ext cx="3600000" cy="900000"/>
          </a:xfrm>
          <a:prstGeom prst="rect">
            <a:avLst/>
          </a:prstGeom>
        </p:spPr>
        <p:txBody>
          <a:bodyPr wrap="square" anchor="b"/>
          <a:lstStyle/>
          <a:p>
            <a:pPr algn="ctr"/>
            <a:r>
              <a:rPr lang="en-US" sz="2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−0.017 ~ +0.018</a:t>
            </a:r>
          </a:p>
        </p:txBody>
      </p:sp>
      <p:sp>
        <p:nvSpPr>
          <p:cNvPr id="13" name="Stat2 Label"/>
          <p:cNvSpPr txBox="1"/>
          <p:nvPr/>
        </p:nvSpPr>
        <p:spPr>
          <a:xfrm>
            <a:off x="4300000" y="2180000"/>
            <a:ext cx="3600000" cy="7000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ko-KR" altLang="en-US" sz="1300" dirty="0"/>
              <a:t>AEC 단독 ΔAUC(보정 후 비유의, Table 2)</a:t>
            </a:r>
          </a:p>
        </p:txBody>
      </p:sp>
      <p:sp>
        <p:nvSpPr>
          <p:cNvPr id="14" name="Stat3 Num"/>
          <p:cNvSpPr txBox="1"/>
          <p:nvPr/>
        </p:nvSpPr>
        <p:spPr>
          <a:xfrm>
            <a:off x="7900000" y="1250000"/>
            <a:ext cx="3600000" cy="900000"/>
          </a:xfrm>
          <a:prstGeom prst="rect">
            <a:avLst/>
          </a:prstGeom>
        </p:spPr>
        <p:txBody>
          <a:bodyPr wrap="square" anchor="b"/>
          <a:lstStyle/>
          <a:p>
            <a:pPr algn="ctr"/>
            <a:r>
              <a:rPr lang="en-US" sz="2800" b="1" dirty="0">
                <a:solidFill>
                  <a:schemeClr val="accent1"/>
                </a:solidFill>
              </a:rPr>
              <a:t>+0.014 ~ +0.066</a:t>
            </a:r>
          </a:p>
        </p:txBody>
      </p:sp>
      <p:sp>
        <p:nvSpPr>
          <p:cNvPr id="15" name="Stat3 Label"/>
          <p:cNvSpPr txBox="1"/>
          <p:nvPr/>
        </p:nvSpPr>
        <p:spPr>
          <a:xfrm>
            <a:off x="7900000" y="2180000"/>
            <a:ext cx="3600000" cy="7000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ko-KR" altLang="en-US" sz="1300" dirty="0"/>
              <a:t>체성분 포함 ΔAUC(신촌 위주 유의)</a:t>
            </a:r>
          </a:p>
        </p:txBody>
      </p:sp>
      <p:sp>
        <p:nvSpPr>
          <p:cNvPr id="16" name="Headline"/>
          <p:cNvSpPr txBox="1"/>
          <p:nvPr/>
        </p:nvSpPr>
        <p:spPr>
          <a:xfrm>
            <a:off x="700000" y="3200000"/>
            <a:ext cx="10800000" cy="220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700" dirty="0"/>
              <a:t>AEC 단독은 보정 후 비유의(Table 2) → 체성분 추가에서 개선이 관찰되나 신촌 위주로 일관됨(다음 슬라이드부터 질환별 상세)</a:t>
            </a:r>
          </a:p>
          <a:p>
            <a:r>
              <a:rPr lang="ko-KR" altLang="en-US" sz="1700" b="1" dirty="0"/>
              <a:t>병원 간 일반화는 아직 확립되지 않음 — 가능한 원인은 Discussion에서 논의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2. AEC Alone vs. Baseline — 5-fold CV, DeLong Test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08000" y="820000"/>
            <a:ext cx="11176000" cy="33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300" i="1" dirty="0"/>
              <a:t>AEC 단독 — 체성분 추가의 동기가 된 잠정적 결과</a:t>
            </a:r>
          </a:p>
        </p:txBody>
      </p:sp>
      <p:graphicFrame>
        <p:nvGraphicFramePr>
          <p:cNvPr id="6" name="Table 2"/>
          <p:cNvGraphicFramePr>
            <a:graphicFrameLocks noGrp="1"/>
          </p:cNvGraphicFramePr>
          <p:nvPr/>
        </p:nvGraphicFramePr>
        <p:xfrm>
          <a:off x="1096000" y="1350000"/>
          <a:ext cx="10000000" cy="22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00000"/>
                <a:gridCol w="1400000"/>
                <a:gridCol w="2000000"/>
                <a:gridCol w="2000000"/>
                <a:gridCol w="1400000"/>
                <a:gridCol w="14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OOF AUC 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OOF AUC +AEC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DeLong p</a:t>
                      </a:r>
                    </a:p>
                  </a:txBody>
                  <a:tcPr anchor="ctr"/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0.804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+0.009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0.050</a:t>
                      </a:r>
                    </a:p>
                  </a:txBody>
                  <a:tcPr anchor="ctr"/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0.069</a:t>
                      </a:r>
                    </a:p>
                  </a:txBody>
                  <a:tcPr anchor="ctr"/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−0.017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0.273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Footnote"/>
          <p:cNvSpPr txBox="1"/>
          <p:nvPr/>
        </p:nvSpPr>
        <p:spPr>
          <a:xfrm>
            <a:off x="1096000" y="3750000"/>
            <a:ext cx="10000000" cy="100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200" dirty="0"/>
              <a:t>3개 질환 반복비교 기준 Bonferroni α≈0.017 적용 시 위 3개 p-value 모두 비유의. CKD는 n(pos)=105로 검정력 자체가 낮아 “차이 없음의 증거”가 아니라 “판단 유보”로 해석.</a:t>
            </a:r>
          </a:p>
          <a:p>
            <a:r>
              <a:rPr lang="ko-KR" altLang="en-US" sz="1200" b="1" dirty="0"/>
              <a:t>→ AEC 단독 신호만으로는 근거가 충분치 않아 체성분 정보를 추가로 검토함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8000" y="230000"/>
            <a:ext cx="11176000" cy="500000"/>
          </a:xfrm>
          <a:prstGeom prst="rect">
            <a:avLst/>
          </a:prstGeom>
        </p:spPr>
        <p:txBody>
          <a:bodyPr wrap="square"/>
          <a:lstStyle/>
          <a:p>
            <a:r>
              <a:rPr lang="en-US" sz="2800" b="1" dirty="0"/>
              <a:t>Figure 1. ΔAUC Across Extended-Input Variants</a:t>
            </a:r>
          </a:p>
        </p:txBody>
      </p:sp>
      <p:pic>
        <p:nvPicPr>
          <p:cNvPr id="3" name="delta_auc_vs_baseline.png" descr="9가지 확장 입력 조합별 강남(파랑)·신촌(주황) ΔAUC 막대그래프, HTN/DM/CKD 3개 패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900000"/>
            <a:ext cx="10800000" cy="37650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08000" y="4780000"/>
            <a:ext cx="11176000" cy="140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200" dirty="0"/>
              <a:t>x축: 9가지 확장 입력 조합, y축: Baseline 대비 ΔAUC, 파랑=강남(Internal), 주황=신촌(External), *=DeLong p&lt;0.05(탐색적 비교, 다중비교 미보정 — 앞선 Table 2는 Bonferroni 보정 적용이므로 기준이 다름에 유의)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30000"/>
            <a:ext cx="11176000" cy="500000"/>
          </a:xfrm>
        </p:spPr>
        <p:txBody>
          <a:bodyPr>
            <a:normAutofit/>
          </a:bodyPr>
          <a:lstStyle/>
          <a:p>
            <a:r>
              <a:rPr lang="en-US" dirty="0"/>
              <a:t>Table 3-1. Predictive Performance — Hypertension (HTN)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08000" y="720000"/>
            <a:ext cx="11176000" cy="30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200" i="1" dirty="0"/>
              <a:t>고혈압은 Internal·External 모두 +AEC+체성분에서 유의하게 개선(*)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080000"/>
          <a:ext cx="11173968" cy="55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/>
                <a:gridCol w="1500000"/>
                <a:gridCol w="1500000"/>
                <a:gridCol w="1500000"/>
                <a:gridCol w="1500000"/>
                <a:gridCol w="1700000"/>
                <a:gridCol w="1573968"/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78/252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0.644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0.663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386/1260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0.796 ± 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0.697 ± 0.017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0.811 ± 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0.013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507/1123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0.557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78/252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0.603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386/1260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0.811 ± 0.032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0.681 ± 0.027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0.878 ± 0.059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0.594 ± 0.023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507/1123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0.437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30000"/>
            <a:ext cx="11176000" cy="500000"/>
          </a:xfrm>
        </p:spPr>
        <p:txBody>
          <a:bodyPr>
            <a:normAutofit/>
          </a:bodyPr>
          <a:lstStyle/>
          <a:p>
            <a:r>
              <a:rPr lang="en-US" dirty="0"/>
              <a:t>Table 3-2. Predictive Performance — Diabetes (DM)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08000" y="720000"/>
            <a:ext cx="11176000" cy="30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200" i="1" dirty="0"/>
              <a:t>당뇨는 External에서만 유의하게 개선, Internal은 경향성 수준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080000"/>
          <a:ext cx="11173968" cy="55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/>
                <a:gridCol w="1500000"/>
                <a:gridCol w="1500000"/>
                <a:gridCol w="1500000"/>
                <a:gridCol w="1500000"/>
                <a:gridCol w="1700000"/>
                <a:gridCol w="1573968"/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0.532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0.610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0.549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0.524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233/1260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0.712 ± 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0.599 ± 0.023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0.790 ± 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0.556 ± 0.030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335/1123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0.466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0.551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0.580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0.615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0.524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0.549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233/1260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0.736 ± 0.039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0.611 ± 0.032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0.820 ± 0.061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0.564 ± 0.031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335/1123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0.346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30000"/>
            <a:ext cx="11176000" cy="500000"/>
          </a:xfrm>
        </p:spPr>
        <p:txBody>
          <a:bodyPr>
            <a:normAutofit/>
          </a:bodyPr>
          <a:lstStyle/>
          <a:p>
            <a:r>
              <a:rPr lang="en-US" dirty="0"/>
              <a:t>Table 3-3. Predictive Performance — Chronic Kidney Disease (CKD)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08000" y="720000"/>
            <a:ext cx="11176000" cy="30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200" i="1" dirty="0"/>
              <a:t>만성신장질환은 External에서만 유의, Internal 개선은 유의하지 않음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080000"/>
          <a:ext cx="11173968" cy="55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/>
                <a:gridCol w="1500000"/>
                <a:gridCol w="1500000"/>
                <a:gridCol w="1500000"/>
                <a:gridCol w="1500000"/>
                <a:gridCol w="1700000"/>
                <a:gridCol w="1573968"/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0.606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0.571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0.719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0.636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105/1260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0.770 ± 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0.810 ± 0.080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0.631 ± 0.049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188/1123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0.518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0.628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0.567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0.736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0.632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105/1260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0.784 ± 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0.660 ± 0.046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0.810 ± 0.067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0.055</a:t>
                      </a:r>
                    </a:p>
                  </a:txBody>
                  <a:tcPr anchor="ctr"/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188/1123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0.416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30000"/>
            <a:ext cx="11176000" cy="500000"/>
          </a:xfrm>
        </p:spPr>
        <p:txBody>
          <a:bodyPr/>
          <a:lstStyle/>
          <a:p>
            <a:r>
              <a:rPr lang="en-US" dirty="0"/>
              <a:t>Table 4. Regression Coefficients — Baseline vs. Best Model</a:t>
            </a:r>
          </a:p>
        </p:txBody>
      </p: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512064" y="820000"/>
          <a:ext cx="11173968" cy="47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00000"/>
                <a:gridCol w="1100000"/>
                <a:gridCol w="1350000"/>
                <a:gridCol w="1200000"/>
                <a:gridCol w="1250000"/>
                <a:gridCol w="1350000"/>
                <a:gridCol w="1200000"/>
                <a:gridCol w="2223968"/>
              </a:tblGrid>
              <a:tr h="260000">
                <a:tc rowSpan="2">
                  <a:txBody>
                    <a:bodyPr/>
                    <a:lstStyle/>
                    <a:p>
                      <a:pPr algn="ctr"/>
                      <a:r>
                        <a:rPr sz="1000" b="1"/>
                        <a:t>Disease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000" b="1"/>
                        <a:t>Term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/>
                        <a:t>Baseline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/>
                        <a:t>Best (+AEC+체성분)</a:t>
                      </a:r>
                    </a:p>
                  </a:txBody>
                  <a:tcPr anchor="ctr"/>
                </a:tc>
              </a:tr>
              <a:tr h="220000"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1.346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3.842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0.001*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1.066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2.904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−0.407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0.005*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−0.112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0.495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1.803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1.152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0.493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1.861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0.050*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1.485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0.428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1.913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1.632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0.007*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−0.606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−0.368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0.065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2.121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1.535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0.092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2.585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0.042*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1.421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0.058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1.586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0.095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−0.146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−0.236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0.449</a:t>
                      </a:r>
                    </a:p>
                  </a:txBody>
                  <a:tcPr anchor="ctr"/>
                </a:tc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1.724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0.013*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1.618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0.249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Caption"/>
          <p:cNvSpPr txBox="1"/>
          <p:nvPr/>
        </p:nvSpPr>
        <p:spPr>
          <a:xfrm>
            <a:off x="512064" y="5600000"/>
            <a:ext cx="11173968" cy="115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100" i="1" dirty="0"/>
              <a:t>(정성적 관찰) Height·Weight의 유의성 상실은 AEC·체성분 변수로 신호가 일부 이전되었거나 다중공선성(VIF↑, Appendix S5) 때문일 수 있음 — 계수 크기 자체는 크게 줄지 않아 신호이전 쪽 가능성을 조심스럽게 시사(정량적으로 확정된 것은 아님). CKD는 확장모델 기준 예측변수 약 20개 대비 양성 n=105로 EPV≈5(통상 권장 기준 ≥10 미달) — 계수 불안정 가능성 함께 고려.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8000" y="230000"/>
            <a:ext cx="11176000" cy="500000"/>
          </a:xfrm>
          <a:prstGeom prst="rect">
            <a:avLst/>
          </a:prstGeom>
        </p:spPr>
        <p:txBody>
          <a:bodyPr wrap="square"/>
          <a:lstStyle/>
          <a:p>
            <a:r>
              <a:rPr lang="en-US" sz="2800" b="1" dirty="0"/>
              <a:t>Figure 2. FPCA Inverse Transform (AEC)</a:t>
            </a:r>
          </a:p>
        </p:txBody>
      </p:sp>
      <p:pic>
        <p:nvPicPr>
          <p:cNvPr id="3" name="fig_fpca_recovered_cv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1100000"/>
            <a:ext cx="10800000" cy="36820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08000" y="4950000"/>
            <a:ext cx="11176000" cy="70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400" dirty="0"/>
              <a:t>특정 slice 구간이 logit에 크게 기여하지만, 위치 일관성은 미검증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병원 간 결과 불일치의 가능한 원인과 한계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30000"/>
            <a:ext cx="11176000" cy="500000"/>
          </a:xfrm>
        </p:spPr>
        <p:txBody>
          <a:bodyPr>
            <a:normAutofit/>
          </a:bodyPr>
          <a:lstStyle/>
          <a:p>
            <a:r>
              <a:rPr lang="en-US" dirty="0"/>
              <a:t>Discussion: Possible Explanations for Hospital-Dependent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00000"/>
            <a:ext cx="11176000" cy="5160000"/>
          </a:xfrm>
        </p:spPr>
        <p:txBody>
          <a:bodyPr wrap="square">
            <a:normAutofit fontScale="85000" lnSpcReduction="10000"/>
          </a:bodyPr>
          <a:lstStyle/>
          <a:p>
            <a:r>
              <a:rPr lang="ko-KR" altLang="en-US" sz="1400" dirty="0"/>
              <a:t>AEC 단독 추가는 효과 작음(보정 시 비유의 — Table 2)</a:t>
            </a:r>
          </a:p>
          <a:p>
            <a:r>
              <a:rPr lang="ko-KR" altLang="en-US" sz="1400" dirty="0"/>
              <a:t>체성분까지 더하면 효과 커지나 주로 신촌 위주로 유의(Figure 1, Table 3)</a:t>
            </a:r>
          </a:p>
          <a:p>
            <a:r>
              <a:rPr lang="ko-KR" altLang="en-US" sz="1400" dirty="0"/>
              <a:t>예: CKD·강남은 체성분만 추가 시 +0.015, AEC만 추가 시 −0.016</a:t>
            </a:r>
          </a:p>
          <a:p>
            <a:r>
              <a:rPr lang="ko-KR" altLang="en-US" sz="1400" b="1" dirty="0"/>
              <a:t>가능한 설명 ①(절단면 위치)</a:t>
            </a:r>
            <a:r>
              <a:rPr lang="ko-KR" altLang="en-US" sz="1400" dirty="0"/>
              <a:t>: 환자마다 장기 위치·비율이 달라 같은 단면 순번이 다른 신체 부위를 가리킬 가능성 — 개인차는 설명하나 병원 간 체계적 차이의 직접 원인은 아닐 수 있음</a:t>
            </a:r>
          </a:p>
          <a:p>
            <a:r>
              <a:rPr lang="ko-KR" altLang="en-US" sz="1400" b="1" dirty="0"/>
              <a:t>가능한 설명 ②(case-mix)</a:t>
            </a:r>
            <a:r>
              <a:rPr lang="ko-KR" altLang="en-US" sz="1400" dirty="0"/>
              <a:t>: Table 1에서 강남·신촌은 이질적 코호트 — 개선폭 차이가 신호 우수성이 아니라 구성 차이일 가능성. 향후 검증: pooled 모델에 병원×모델 상호작용(interaction) 항을 넣어 직접 검정 예정</a:t>
            </a:r>
          </a:p>
          <a:p>
            <a:r>
              <a:rPr lang="ko-KR" altLang="en-US" sz="1400" dirty="0"/>
              <a:t>Table 4 연결: Height·Weight 유의성 상실이 체성분으로의 신호 이전과 맥락이 같음</a:t>
            </a:r>
          </a:p>
          <a:p>
            <a:r>
              <a:rPr lang="ko-KR" altLang="en-US" sz="1400" dirty="0"/>
              <a:t>Calibration(Appendix S3)은 Baseline·Best 모델 모두 큰 이탈 없이 유사한 패턴 — AUC 개선이 과신뢰(overconfidence)로 이어지지는 않음을 보조적으로 확인</a:t>
            </a:r>
          </a:p>
          <a:p>
            <a:pPr lvl="1"/>
            <a:r>
              <a:rPr lang="ko-KR" altLang="en-US" sz="1300" i="1" dirty="0"/>
              <a:t>한계: 위 가설들은 직접 검증되지 않았으며, 이번 발표는 관찰과 가능한 설명만 제시 — 추가 검증 필요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>
            <a:normAutofit fontScale="90000" lnSpcReduction="10000"/>
          </a:bodyPr>
          <a:lstStyle/>
          <a:p>
            <a:r>
              <a:rPr lang="ko-KR" altLang="en-US" sz="1500" dirty="0"/>
              <a:t>기본 정보만으로 AUC 강남 0.71–0.80, 신촌 0.62–0.72</a:t>
            </a:r>
          </a:p>
          <a:p>
            <a:r>
              <a:rPr lang="ko-KR" altLang="en-US" sz="1500" dirty="0"/>
              <a:t>AEC 단독: ΔAUC −0.017~+0.027, 다중비교 보정 시 비유의 / 체성분 포함: ΔAUC +0.014~+0.066, 신촌은 3개 질환 모두 유의하나 강남은 HTN 1개뿐 — 병원 간 일관성 부족</a:t>
            </a:r>
          </a:p>
          <a:p>
            <a:r>
              <a:rPr lang="ko-KR" altLang="en-US" sz="1500" dirty="0"/>
              <a:t>통계적 유의성이 곧 임상적 유용성을 의미하지는 않음 — NRI 등 재분류 지표는 후속 분석 필요</a:t>
            </a:r>
          </a:p>
          <a:p>
            <a:r>
              <a:rPr lang="ko-KR" altLang="en-US" sz="1500" dirty="0"/>
              <a:t>이번 평가는 로지스틱 회귀(선형모델)로 한정 — 비선형/트리 기반 모델에서는 결과가 달라질 수 있음</a:t>
            </a:r>
          </a:p>
          <a:p>
            <a:r>
              <a:rPr lang="ko-KR" altLang="en-US" sz="1500" b="1" dirty="0"/>
              <a:t>So-what</a:t>
            </a:r>
            <a:r>
              <a:rPr lang="ko-KR" altLang="en-US" sz="1500" dirty="0"/>
              <a:t>: 추가 촬영·판독 없이 기존 CT 부산물(AEC)과 자동 세그멘테이션만으로 위험군 스크리닝 가능성을 탐색했다는 opportunistic screening 관점의 의의</a:t>
            </a:r>
          </a:p>
          <a:p>
            <a:pPr lvl="1"/>
            <a:r>
              <a:rPr lang="ko-KR" altLang="en-US" sz="1300" i="1" dirty="0"/>
              <a:t>한계: 절단 범위의 환자 간 편차, 코호트 간 case-mix 차이 등 여러 가능한 원인이 직접 확인되지 않음 — 추가 검증 필요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Yonsei clos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보충 표·그림(Supplementary Tables &amp; Figures)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30000"/>
            <a:ext cx="11176000" cy="500000"/>
          </a:xfrm>
        </p:spPr>
        <p:txBody>
          <a:bodyPr/>
          <a:lstStyle/>
          <a:p>
            <a:r>
              <a:rPr lang="en-US" dirty="0"/>
              <a:t>S1. Full AUC Comparison Across Extended Models</a:t>
            </a:r>
          </a:p>
        </p:txBody>
      </p:sp>
      <p:graphicFrame>
        <p:nvGraphicFramePr>
          <p:cNvPr id="6" name="Table S1"/>
          <p:cNvGraphicFramePr>
            <a:graphicFrameLocks noGrp="1"/>
          </p:cNvGraphicFramePr>
          <p:nvPr/>
        </p:nvGraphicFramePr>
        <p:xfrm>
          <a:off x="330000" y="820000"/>
          <a:ext cx="11530000" cy="47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0000"/>
                <a:gridCol w="1150000"/>
                <a:gridCol w="1140000"/>
                <a:gridCol w="1140000"/>
                <a:gridCol w="1140000"/>
                <a:gridCol w="1140000"/>
                <a:gridCol w="1140000"/>
                <a:gridCol w="1140000"/>
                <a:gridCol w="1120000"/>
                <a:gridCol w="1520000"/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(FPCA+Ratio)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(FPCA)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(Ratio)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+VAT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+LAMA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+NAMA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체성분만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0.796±0.018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0.804±0.029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0.805±0.028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0.800±0.025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0.810±0.038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0.808±0.026*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0.811±0.029*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0.811±0.032*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0.812±0.031*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0.735*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0.743*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0.741*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0.740*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0.712±0.049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0.733±0.046*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0.732±0.048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0.730±0.034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0.732±0.043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0.738±0.047*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0.732±0.047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0.736±0.039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0.736±0.034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0.706*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0.698*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0.770±0.034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0.774±0.031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0.754±0.037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0.776±0.031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0.772±0.035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0.793±0.029*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0.783±0.033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0.784±0.034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0.785±0.036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0.643*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0.633*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0.638*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0.669*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0.646*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0.681*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0.675*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8000" y="230000"/>
            <a:ext cx="11176000" cy="500000"/>
          </a:xfrm>
          <a:prstGeom prst="rect">
            <a:avLst/>
          </a:prstGeom>
        </p:spPr>
        <p:txBody>
          <a:bodyPr wrap="square"/>
          <a:lstStyle/>
          <a:p>
            <a:r>
              <a:rPr lang="en-US" sz="2800" b="1" dirty="0"/>
              <a:t>S2. FPCA Inverse Transform — Body Composition</a:t>
            </a:r>
          </a:p>
        </p:txBody>
      </p:sp>
      <p:pic>
        <p:nvPicPr>
          <p:cNvPr id="3" name="fpca_recovered_curve_body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500" y="850000"/>
            <a:ext cx="6765000" cy="50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8000" y="230000"/>
            <a:ext cx="11176000" cy="500000"/>
          </a:xfrm>
          <a:prstGeom prst="rect">
            <a:avLst/>
          </a:prstGeom>
        </p:spPr>
        <p:txBody>
          <a:bodyPr wrap="square"/>
          <a:lstStyle/>
          <a:p>
            <a:r>
              <a:rPr lang="en-US" sz="2800" b="1" dirty="0"/>
              <a:t>S3. Calibration Plot — Baseline vs. Best</a:t>
            </a:r>
          </a:p>
        </p:txBody>
      </p:sp>
      <p:sp>
        <p:nvSpPr>
          <p:cNvPr id="5" name="Label1"/>
          <p:cNvSpPr txBox="1"/>
          <p:nvPr/>
        </p:nvSpPr>
        <p:spPr>
          <a:xfrm>
            <a:off x="508000" y="1200000"/>
            <a:ext cx="5400000" cy="3300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400" b="1" dirty="0"/>
              <a:t>Baseline</a:t>
            </a:r>
          </a:p>
        </p:txBody>
      </p:sp>
      <p:sp>
        <p:nvSpPr>
          <p:cNvPr id="6" name="Label2"/>
          <p:cNvSpPr txBox="1"/>
          <p:nvPr/>
        </p:nvSpPr>
        <p:spPr>
          <a:xfrm>
            <a:off x="6208000" y="1200000"/>
            <a:ext cx="5400000" cy="3300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400" b="1" dirty="0"/>
              <a:t>Best (+AEC+체성분)</a:t>
            </a:r>
          </a:p>
        </p:txBody>
      </p:sp>
      <p:pic>
        <p:nvPicPr>
          <p:cNvPr id="3" name="calibration_plot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600000"/>
            <a:ext cx="5400000" cy="1800000"/>
          </a:xfrm>
          <a:prstGeom prst="rect">
            <a:avLst/>
          </a:prstGeom>
        </p:spPr>
      </p:pic>
      <p:pic>
        <p:nvPicPr>
          <p:cNvPr id="4" name="calibration_plot_b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000" y="1600000"/>
            <a:ext cx="5400000" cy="18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S4. AEC-Only Model Coefficients (FPCA PC1–3)</a:t>
            </a:r>
          </a:p>
        </p:txBody>
      </p:sp>
      <p:graphicFrame>
        <p:nvGraphicFramePr>
          <p:cNvPr id="6" name="Table S8"/>
          <p:cNvGraphicFramePr>
            <a:graphicFrameLocks noGrp="1"/>
          </p:cNvGraphicFramePr>
          <p:nvPr/>
        </p:nvGraphicFramePr>
        <p:xfrm>
          <a:off x="1600000" y="1150000"/>
          <a:ext cx="9000000" cy="44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00000"/>
                <a:gridCol w="1800000"/>
                <a:gridCol w="1800000"/>
                <a:gridCol w="1800000"/>
                <a:gridCol w="1800000"/>
              </a:tblGrid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Odds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p-value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1.387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−0.452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0.637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0.537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1.089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0.326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−0.494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0.610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1.153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0.087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1.119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0.334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−0.342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0.015*</a:t>
                      </a:r>
                    </a:p>
                  </a:txBody>
                  <a:tcPr anchor="ctr"/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−0.101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0.904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0.359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S5. Baseline Model — Coefficients &amp; VIF</a:t>
            </a:r>
          </a:p>
        </p:txBody>
      </p:sp>
      <p:sp>
        <p:nvSpPr>
          <p:cNvPr id="9" name="Subtitle1"/>
          <p:cNvSpPr txBox="1"/>
          <p:nvPr/>
        </p:nvSpPr>
        <p:spPr>
          <a:xfrm>
            <a:off x="350000" y="850000"/>
            <a:ext cx="8300000" cy="28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/>
              <a:t>Clinic4 Baseline Coefficients (5-fold mean ± SD)</a:t>
            </a:r>
          </a:p>
        </p:txBody>
      </p:sp>
      <p:graphicFrame>
        <p:nvGraphicFramePr>
          <p:cNvPr id="6" name="Table S9"/>
          <p:cNvGraphicFramePr>
            <a:graphicFrameLocks noGrp="1"/>
          </p:cNvGraphicFramePr>
          <p:nvPr/>
        </p:nvGraphicFramePr>
        <p:xfrm>
          <a:off x="350000" y="1180000"/>
          <a:ext cx="8300000" cy="45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400000"/>
                <a:gridCol w="1400000"/>
                <a:gridCol w="2100000"/>
                <a:gridCol w="2100000"/>
                <a:gridCol w="1300000"/>
              </a:tblGrid>
              <a:tr h="3400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Odds Ratio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0.872 ± 0.075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2.398 ± 0.186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1.018 ± 0.054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2.772 ± 0.148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−0.375 ± 0.089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0.690 ± 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0.604 ± 0.067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1.833 ± 0.122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0.677 ± 0.074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1.973 ± 0.139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0.004*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0.545 ± 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1.727 ± 0.107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−0.436 ± 0.051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0.647 ± 0.033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0.625 ± 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1.869 ± 0.058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1.287 ± 0.167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3.677 ± 0.654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0.704 ± 0.029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2.023 ± 0.059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−0.374 ± 0.077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0.690 ± 0.053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0.036*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9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9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0.542 ± 0.077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1.725 ± 0.131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&lt;0.001*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Subtitle2"/>
          <p:cNvSpPr txBox="1"/>
          <p:nvPr/>
        </p:nvSpPr>
        <p:spPr>
          <a:xfrm>
            <a:off x="8950000" y="850000"/>
            <a:ext cx="2700000" cy="28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/>
              <a:t>Baseline VIF</a:t>
            </a:r>
          </a:p>
        </p:txBody>
      </p:sp>
      <p:graphicFrame>
        <p:nvGraphicFramePr>
          <p:cNvPr id="7" name="Table S10"/>
          <p:cNvGraphicFramePr>
            <a:graphicFrameLocks noGrp="1"/>
          </p:cNvGraphicFramePr>
          <p:nvPr/>
        </p:nvGraphicFramePr>
        <p:xfrm>
          <a:off x="8950000" y="1180000"/>
          <a:ext cx="2700000" cy="15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00000"/>
                <a:gridCol w="1000000"/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VIF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2.361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1.232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2.781</a:t>
                      </a:r>
                    </a:p>
                  </a:txBody>
                  <a:tcPr anchor="ctr"/>
                </a:tc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1.820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Study Design &amp; Cohorts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/>
          <a:lstStyle/>
          <a:p>
            <a:r>
              <a:rPr lang="ko-KR" altLang="en-US" sz="1700" b="1" dirty="0"/>
              <a:t>Cohort</a:t>
            </a:r>
          </a:p>
          <a:p>
            <a:pPr lvl="1"/>
            <a:r>
              <a:rPr lang="ko-KR" altLang="en-US" sz="1600" dirty="0"/>
              <a:t>Internal(강남, 1,260명): 모델 개발·내부검증 / External(신촌, 1,123명): 외부검증</a:t>
            </a:r>
          </a:p>
          <a:p>
            <a:pPr lvl="1"/>
            <a:r>
              <a:rPr lang="ko-KR" altLang="en-US" sz="1600" dirty="0"/>
              <a:t>둘 다 서로 다른 시점대의 단면(retrospective) 데이터</a:t>
            </a:r>
          </a:p>
          <a:p>
            <a:r>
              <a:rPr lang="ko-KR" altLang="en-US" sz="1700" b="1" dirty="0"/>
              <a:t>Input</a:t>
            </a:r>
          </a:p>
          <a:p>
            <a:pPr lvl="1"/>
            <a:r>
              <a:rPr lang="ko-KR" altLang="en-US" sz="1600" dirty="0"/>
              <a:t>Clinic4 = 성별·나이·키·몸무게(강남 기준으로 표준화)</a:t>
            </a:r>
          </a:p>
          <a:p>
            <a:r>
              <a:rPr lang="ko-KR" altLang="en-US" sz="1700" b="1" dirty="0"/>
              <a:t>Outcome</a:t>
            </a:r>
          </a:p>
          <a:p>
            <a:pPr lvl="1"/>
            <a:r>
              <a:rPr lang="ko-KR" altLang="en-US" sz="1600" dirty="0"/>
              <a:t>고혈압(HTN)·당뇨병(DM)·만성신장질환(CKD)을 각각 별도 로지스틱 회귀로 예측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Data Split &amp; Model Tuning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/>
          <a:lstStyle/>
          <a:p>
            <a:r>
              <a:rPr lang="ko-KR" altLang="en-US" sz="1700" b="1" dirty="0"/>
              <a:t>Split</a:t>
            </a:r>
          </a:p>
          <a:p>
            <a:pPr lvl="1"/>
            <a:r>
              <a:rPr lang="ko-KR" altLang="en-US" sz="1600" dirty="0"/>
              <a:t>Internal 전체를 5-fold CV(hold-out 없음, 질환 비율 맞춰 환자 단위 stratified)</a:t>
            </a:r>
          </a:p>
          <a:p>
            <a:r>
              <a:rPr lang="ko-KR" altLang="en-US" sz="1700" b="1" dirty="0"/>
              <a:t>Tuning</a:t>
            </a:r>
          </a:p>
          <a:p>
            <a:pPr lvl="1"/>
            <a:r>
              <a:rPr lang="ko-KR" altLang="en-US" sz="1600" dirty="0"/>
              <a:t>GridSearchCV(C·penalty·class_weight), 5-fold 평균 AUC 기준으로 선택</a:t>
            </a:r>
          </a:p>
          <a:p>
            <a:pPr lvl="1"/>
            <a:r>
              <a:rPr lang="ko-KR" altLang="en-US" sz="1500" b="1" i="1" dirty="0"/>
              <a:t>같은 5-fold의 표본외 예측값(out-of-fold, OOF)을 성능 보고에도 사용해 튜닝·평가가 완전히 분리되지 않음(nested CV 아님) — 약간의 낙관 편향 가능성 인지</a:t>
            </a:r>
          </a:p>
          <a:p>
            <a:r>
              <a:rPr lang="ko-KR" altLang="en-US" sz="1700" b="1" dirty="0"/>
              <a:t>Cutoff</a:t>
            </a:r>
          </a:p>
          <a:p>
            <a:pPr lvl="1"/>
            <a:r>
              <a:rPr lang="ko-KR" altLang="en-US" sz="1600" dirty="0"/>
              <a:t>OOF 예측값의 Youden index 최대점, 신촌에도 동일 적용</a:t>
            </a:r>
          </a:p>
          <a:p>
            <a:pPr lvl="1"/>
            <a:r>
              <a:rPr lang="ko-KR" altLang="en-US" sz="1500" i="1" dirty="0"/>
              <a:t>cutoff와 Table 3 성능 보고가 같은 OOF 데이터를 사용해 다소 낙관적일 수 있음(표본 작은 CKD일수록 영향 큼)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FPCA Curve Derivation &amp; Extended Input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/>
          <a:lstStyle/>
          <a:p>
            <a:r>
              <a:rPr lang="ko-KR" altLang="en-US" sz="1700" b="1" dirty="0"/>
              <a:t>FPCA 적합</a:t>
            </a:r>
          </a:p>
          <a:p>
            <a:pPr lvl="1"/>
            <a:r>
              <a:rPr lang="ko-KR" altLang="en-US" sz="1600" dirty="0"/>
              <a:t>강남(Internal)만으로 fit, 신촌(External)에는 transform만 적용</a:t>
            </a:r>
          </a:p>
          <a:p>
            <a:pPr lvl="1"/>
            <a:r>
              <a:rPr lang="ko-KR" altLang="en-US" sz="1600" dirty="0"/>
              <a:t>성분수 k=3은 elbow(Kneedle) 기준 사전결정(성능과 무관) — 질환별 재선택 없이 모든 모델에 동일 적용</a:t>
            </a:r>
          </a:p>
          <a:p>
            <a:r>
              <a:rPr lang="ko-KR" altLang="en-US" sz="1700" b="1" dirty="0"/>
              <a:t>Extended input</a:t>
            </a:r>
          </a:p>
          <a:p>
            <a:pPr lvl="1"/>
            <a:r>
              <a:rPr lang="ko-KR" altLang="en-US" sz="1600" dirty="0"/>
              <a:t>AEC·체성분(VAT/SAT/LAMA/NAMA/IMATA) 128구간 곡선을 FPCA로 압축해 Clinic4 baseline에 추가</a:t>
            </a:r>
          </a:p>
          <a:p>
            <a:pPr lvl="1"/>
            <a:r>
              <a:rPr lang="ko-KR" altLang="en-US" sz="1400" i="1" dirty="0"/>
              <a:t>FPCA 개념과 압축 절차는 Key Concept 2 참고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365126"/>
            <a:ext cx="11176000" cy="532342"/>
          </a:xfrm>
        </p:spPr>
        <p:txBody>
          <a:bodyPr/>
          <a:lstStyle/>
          <a:p>
            <a:r>
              <a:rPr lang="en-US" dirty="0"/>
              <a:t>External Validation &amp; Statistical Comparison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 wrap="square"/>
          <a:lstStyle/>
          <a:p>
            <a:r>
              <a:rPr lang="ko-KR" altLang="en-US" sz="1700" b="1" dirty="0"/>
              <a:t>External validation</a:t>
            </a:r>
          </a:p>
          <a:p>
            <a:pPr lvl="1"/>
            <a:r>
              <a:rPr lang="ko-KR" altLang="en-US" sz="1600" dirty="0"/>
              <a:t>강남 전체로 재학습한 고정모델을 신촌에 적용(하이퍼파라미터 재탐색 없음)</a:t>
            </a:r>
          </a:p>
          <a:p>
            <a:pPr lvl="1"/>
            <a:r>
              <a:rPr lang="ko-KR" altLang="en-US" sz="1500" i="1" dirty="0"/>
              <a:t>두 코호트가 동시대 retrospective 자료라는 점에서, 시간적으로 분리된 prospective 외부검증과는 구분되는 “두 코호트 간 교차적용”에 가까움</a:t>
            </a:r>
          </a:p>
          <a:p>
            <a:r>
              <a:rPr lang="ko-KR" altLang="en-US" sz="1700" b="1" dirty="0"/>
              <a:t>Comparison</a:t>
            </a:r>
          </a:p>
          <a:p>
            <a:pPr lvl="1"/>
            <a:r>
              <a:rPr lang="ko-KR" altLang="en-US" sz="1600" dirty="0"/>
              <a:t>Baseline 대비는 환자 단위로 짝지은 DeLong 검정(*p&lt;0.05, 다중비교 보정 전)</a:t>
            </a:r>
          </a:p>
          <a:p>
            <a:pPr lvl="1"/>
            <a:r>
              <a:rPr lang="ko-KR" altLang="en-US" sz="1500" i="1" dirty="0"/>
              <a:t>3개 질환 반복비교 기준 Bonferroni α≈0.017 병기</a:t>
            </a:r>
          </a:p>
          <a:p>
            <a:r>
              <a:rPr lang="ko-KR" altLang="en-US" sz="1700" b="1" i="1" dirty="0"/>
              <a:t>한계</a:t>
            </a:r>
          </a:p>
          <a:p>
            <a:pPr lvl="1"/>
            <a:r>
              <a:rPr lang="ko-KR" altLang="en-US" sz="1500" i="1" dirty="0"/>
              <a:t>fold 간 ±SD는 모델 안정성 참고용이며 모집단 불확실성에 대한 신뢰구간이 아님 — 부트스트랩 CI는 별도 산출하지 않음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8000" y="230000"/>
            <a:ext cx="11176000" cy="500000"/>
          </a:xfrm>
          <a:prstGeom prst="rect">
            <a:avLst/>
          </a:prstGeom>
        </p:spPr>
        <p:txBody>
          <a:bodyPr wrap="square"/>
          <a:lstStyle/>
          <a:p>
            <a:r>
              <a:rPr lang="en-US" sz="2600" b="1" dirty="0"/>
              <a:t>Real Data: AEC Distribution by Sex</a:t>
            </a:r>
          </a:p>
        </p:txBody>
      </p:sp>
      <p:pic>
        <p:nvPicPr>
          <p:cNvPr id="3" name="aec_by_sex.png" descr="강남 코호트 실제 AEC-128 곡선 및 환자별 평균 AEC 분포, 남녀 비교(n=1,260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900000"/>
            <a:ext cx="10800000" cy="47330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08000" y="5680000"/>
            <a:ext cx="11176000" cy="90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200" dirty="0"/>
              <a:t>강남 코호트 실제 데이터(n=1,260): 남성 평균 AEC 330mA vs 여성 302mA(Mann-Whitney p&lt;0.001) — Background에서 제시한 “AEC는 성별에 따라 분포가 다르다”는 가설을 뒷받침하는 실측 근거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8000" y="230000"/>
            <a:ext cx="11176000" cy="500000"/>
          </a:xfrm>
          <a:prstGeom prst="rect">
            <a:avLst/>
          </a:prstGeom>
        </p:spPr>
        <p:txBody>
          <a:bodyPr wrap="square"/>
          <a:lstStyle/>
          <a:p>
            <a:r>
              <a:rPr lang="en-US" sz="2600" b="1" dirty="0"/>
              <a:t>Real Data: AEC Distribution by Disease Status, Stratified by Sex</a:t>
            </a:r>
          </a:p>
        </p:txBody>
      </p:sp>
      <p:pic>
        <p:nvPicPr>
          <p:cNvPr id="3" name="aec_by_disease_sex.png" descr="강남 코호트 실제 데이터: HTN/DM/CKD 유무별 환자별 평균 AEC 분포를 남녀로 나눠 비교, Mann-Whitney p-value 표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900000"/>
            <a:ext cx="10800000" cy="45120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08000" y="5460000"/>
            <a:ext cx="11176000" cy="1150000"/>
          </a:xfrm>
          <a:prstGeom prst="rect">
            <a:avLst/>
          </a:prstGeom>
        </p:spPr>
        <p:txBody>
          <a:bodyPr wrap="square"/>
          <a:lstStyle/>
          <a:p>
            <a:r>
              <a:rPr lang="ko-KR" altLang="en-US" sz="1200" dirty="0"/>
              <a:t>강남 코호트 실제 데이터: HTN은 남녀 모두 유의(p&lt;0.001), DM은 여성만 유의(p=0.001, 남성 p=0.075), CKD는 남성만 유의(p=0.010, 여성 p=0.242)</a:t>
            </a:r>
          </a:p>
          <a:p>
            <a:r>
              <a:rPr lang="ko-KR" altLang="en-US" sz="1200" b="1" dirty="0"/>
              <a:t>→ 질환 유무에 따른 AEC 분포 차이는 성별마다 다르게 나타남(Background 가설의 실측 근거)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7296</TotalTime>
  <Words>2350</Words>
  <Application>Microsoft Office PowerPoint</Application>
  <PresentationFormat>와이드스크린</PresentationFormat>
  <Paragraphs>1026</Paragraphs>
  <Slides>23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Malgun Gothic</vt:lpstr>
      <vt:lpstr>Arial</vt:lpstr>
      <vt:lpstr>KoPub돋움체 Medium</vt:lpstr>
      <vt:lpstr>KoPub돋움체 Bold</vt:lpstr>
      <vt:lpstr>Office 테마</vt:lpstr>
      <vt:lpstr>PowerPoint 프레젠테이션</vt:lpstr>
      <vt:lpstr>Background &amp; Objective</vt:lpstr>
      <vt:lpstr>Methods</vt:lpstr>
      <vt:lpstr>Table 1. Data Distribution</vt:lpstr>
      <vt:lpstr>Table 2-1. Performance (고혈압)</vt:lpstr>
      <vt:lpstr>Table 2-2. Performance (당뇨)</vt:lpstr>
      <vt:lpstr>Table 2-3. Performance (만성신장질환)</vt:lpstr>
      <vt:lpstr>Table 3. Coefficient 비교 (Baseline vs Best)</vt:lpstr>
      <vt:lpstr>Figure 1. FPCA Inverse Transform (AEC)</vt:lpstr>
      <vt:lpstr>Discussion — 체성분 효과, 병원마다 다름</vt:lpstr>
      <vt:lpstr>Conclusion</vt:lpstr>
      <vt:lpstr>PowerPoint 프레젠테이션</vt:lpstr>
      <vt:lpstr>Figure S1. Baseline 대비 확장모델 ΔAUC</vt:lpstr>
      <vt:lpstr>Figure S6. Calibration Plot (Baseline vs Best)</vt:lpstr>
      <vt:lpstr>Table S1. 전체 확장모델 AUC 비교</vt:lpstr>
      <vt:lpstr>Table S2. Fold별 AUC (전체 확장모델, HTN)</vt:lpstr>
      <vt:lpstr>Table S3. Fold별 AUC (전체 확장모델, DM)</vt:lpstr>
      <vt:lpstr>Table S4. Fold별 AUC (전체 확장모델, CKD)</vt:lpstr>
      <vt:lpstr>Figure S5. FPCA Inverse Transform (체성분)</vt:lpstr>
      <vt:lpstr>Table S8. +AEC FPCA-only Coefficient</vt:lpstr>
      <vt:lpstr>Table S9. Clinic4 Baseline Coefficients</vt:lpstr>
      <vt:lpstr>Table S10. Clinic4 Baseline VIF</vt:lpstr>
      <vt:lpstr>Table S11. Baseline vs +AEC(FPCA), 5-fold CV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737</cp:revision>
  <dcterms:created xsi:type="dcterms:W3CDTF">2026-04-09T07:05:16Z</dcterms:created>
  <dcterms:modified xsi:type="dcterms:W3CDTF">2026-09-30T03:37:33Z</dcterms:modified>
</cp:coreProperties>
</file>