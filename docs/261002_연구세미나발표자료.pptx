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0"/>
  </p:notesMasterIdLst>
  <p:sldIdLst>
    <p:sldId id="256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4" r:id="rId15"/>
    <p:sldId id="315" r:id="rId16"/>
    <p:sldId id="316" r:id="rId17"/>
    <p:sldId id="318" r:id="rId18"/>
    <p:sldId id="319" r:id="rId19"/>
    <p:sldId id="320" r:id="rId20"/>
    <p:sldId id="321" r:id="rId21"/>
    <p:sldId id="323" r:id="rId22"/>
    <p:sldId id="324" r:id="rId23"/>
    <p:sldId id="325" r:id="rId24"/>
    <p:sldId id="326" r:id="rId25"/>
    <p:sldId id="327" r:id="rId26"/>
    <p:sldId id="328" r:id="rId27"/>
    <p:sldId id="329" r:id="rId28"/>
    <p:sldId id="330" r:id="rId29"/>
  </p:sldIdLst>
  <p:sldSz cx="12192000" cy="6858000"/>
  <p:notesSz cx="6858000" cy="9144000"/>
  <p:embeddedFontLst>
    <p:embeddedFont>
      <p:font typeface="KoPub돋움체 Bold" panose="00000800000000000000" pitchFamily="2" charset="-127"/>
      <p:bold r:id="rId31"/>
    </p:embeddedFont>
    <p:embeddedFont>
      <p:font typeface="KoPub돋움체 Medium" panose="00000600000000000000" pitchFamily="2" charset="-127"/>
      <p:regular r:id="rId3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4"/>
            <p14:sldId id="315"/>
            <p14:sldId id="316"/>
            <p14:sldId id="318"/>
            <p14:sldId id="319"/>
            <p14:sldId id="320"/>
            <p14:sldId id="321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7152" autoAdjust="0"/>
  </p:normalViewPr>
  <p:slideViewPr>
    <p:cSldViewPr snapToGrid="0">
      <p:cViewPr varScale="1">
        <p:scale>
          <a:sx n="96" d="100"/>
          <a:sy n="96" d="100"/>
        </p:scale>
        <p:origin x="109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안녕하세요, 강남세브란스병원 의료기기공학 소속 천장훈입니다. 오늘은 CT에서 자동으로 얻을 수 있는 AEC 곡선과 체성분 곡선이 만성질환 예측에 얼마나 기여하는지, 그리고 그 한계를 발표드리겠습니다.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만성질환 위험군을 선별하는 데 이미 찍은 CT를 재활용할 수 있는지가 이 연구의 출발점입니다. 기본 정보만으로 얼마나 구분되는지, AEC와 체성분 곡선을 더하면 나아지는지, 그리고 두 병원에서 일관되는지를 봅니다. 성별은 기본 모델에서도 유의한 변수라 곡선 효과를 해석할 때 함께 고려합니다.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AEC는 CT가 환자 몸 두께에 맞춰 튜브 전류를 자동으로 조절하는 기능입니다. 이 전류 곡선이 체형 정보를 담고 있고 촬영할 때마다 자동으로 기록되지만 대부분 버려집니다. 간에서 치골까지를 128구간으로 표준화해 세그멘테이션 없이 바로 입력으로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강남 코호트 실제 데이터입니다. 남성이 여성보다 평균 AEC가 높습니다. 남성 평균 330mA, 여성 302mA이고 p&lt;0.001입니다. 질환에 따른 곡선 차이도 성별마다 다릅니다. 고혈압은 남녀 모두 유의하고, 당뇨병은 여성에서만, 만성신장질환은 남성에서만 유의합니다. 그래서 성별을 함께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 곡선은 128개 연속값이라 그대로 쓰면 변수가 너무 많고 서로 강하게 상관됩니다. FPCA로 곡선을 소수의 대표 모양 패턴으로 압축하고, 환자마다 그 모양의 점수를 회귀 입력으로 씁니다. 오른쪽은 평균 곡선에 각 PC 모양을 2 표준편차만큼 더한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체성분은 TotalSegmentator로 CT를 자동 분할해 구했습니다. 간에서 치골까지 내장지방(VAT), 피하지방(SAT), 근육(LAMA, NAMA), 근육 사이 지방(IMATA) 단면적 곡선을 만들고, AEC와 같은 방식으로 128구간 표준화 후 FPCA로 압축합니다.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연구 설계입니다. 강남 1,260명으로 모델을 만들고 5-fold CV로 평가한 뒤, 강남 전체로 재학습한 고정 모델을 신촌 1,123명에 적용했습니다. 입력은 Baseline인 성별, 나이, 키, 몸무게와 여기에 AEC·체성분 FPCA 점수를 더한 확장 모델이고, 질환마다 로지스틱 회귀를 따로 적합했습니다.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Table 1입니다. 신촌은 남성 비율, 나이, 세 질환의 유병률이 모두 더 높습니다. 고혈압은 강남 30.6%, 신촌 45.1%입니다. 외부검증 결과는 이 구성 차이를 감안해서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평가 방법입니다. 강남 전체에 환자 단위 5-fold CV를 적용했고 hold-out은 없습니다. 튜닝과 평가를 같은 5-fold에서 했기 때문에 nested CV가 아니어서 약간 낙관적일 수 있습니다. cutoff는 OOF 예측값의 Youden index 최대점을 신촌에도 그대로 적용했고, 모델 비교는 paired DeLong 검정입니다. 다중비교 보정 전이며 Bonferroni 기준 알파 0.017도 병기합니다. fold 간 표준편차는 안정성 참고용이지 신뢰구간이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PC 개수는 성능을 보고 정한 것이 아니라, scree 곡선에서 PC1과 PC20을 잇는 직선과 가장 멀리 떨어진 지점을 Kneedle 방식으로 찾아 정했습니다. 파란 점선이 그 직선이고 빨간 원이 elbow입니다. AEC와 IMATA는 3개, VAT, SAT, LAMA, NAMA는 2개입니다.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AEC만 더했을 때의 결과입니다. OOF AUC가 고혈압 0.795에서 0.804, 당뇨병 0.714에서 0.732로 올랐지만 DeLong p가 0.050과 0.069이고, 만성신장질환은 0.769에서 0.752로 오히려 낮아졌습니다. Bonferroni 기준에서는 세 질환 모두 비유의입니다. 그래서 체성분을 추가로 검토했습니다.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확장 모델별 ΔAUC입니다. 체성분을 포함한 모델에서 개선 폭이 가장 크고 0.014에서 0.066이며, 별표로 표시된 유의한 개선은 주로 신촌에서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Baseline과 AEC·체성분 모델의 비교입니다. 고혈압은 Internal 0.795에서 0.809, p=0.035, External 0.718에서 0.741, p=0.011로 두 코호트 모두 유의합니다. 당뇨병은 Internal 0.714에서 0.735, p=0.078로 비유의, External은 0.665에서 0.706으로 유의하고, 만성신장질환도 Internal은 p=0.39로 비유의, External은 0.615에서 0.681로 유의합니다. 즉 외부에서는 세 질환 모두 개선되고 내부에서는 고혈압만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계수는 강남 1,260명에 규제 없는 로지스틱 회귀를 적합해 구했습니다. Coefficient는 변수가 1 표준편차 커질 때 log-odds 변화입니다. p-value는 Wald 검정으로, 계수가 0이라는 가정에서 Coefficient를 표준오차로 나눈 Z값을 봅니다. 다른 변수를 보정한 뒤의 독립적 효과이고 질환군과 비질환군의 평균 비교가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Best 모델에서는 성별과 나이는 대체로 유의하게 남지만 키와 몸무게는 대부분 유의하지 않게 바뀝니다. 곡선 정보가 체격 정보를 일부 대신했거나 다중공선성 때문일 수 있지만 확정은 아닙니다. 만성신장질환은 양성이 105명인데 변수가 많아 계수가 불안정할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Best 모델의 FPCA 점수 14개 계수입니다. AEC 점수는 세 질환 모두 비유의이고, 유의한 점수는 체성분에서만 나왔습니다. 점수 하나만으로는 해석이 어려워 다음 슬라이드에서 위치별로 환산했습니다. p-value는 다중비교 보정 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점수 계수를 곡선 위치별로 되돌린 그림입니다. 위는 그 위치 AEC가 높을수록 질환 확률이 올라가고 아래는 내려갑니다. 세 질환 모두 간 쪽은 양, 치골 쪽은 음이고 전환 위치는 질환마다 다릅니다. slice 번호가 환자마다 같은 위치인지는 확인하지 못해 가설 수준입니다.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효과가 병원마다 다른 이유로 두 가지를 생각했습니다. 하나는 환자마다 장기 위치가 달라 같은 slice 번호가 다른 부위일 수 있다는 점이고, 다른 하나는 두 코호트의 구성 차이입니다. 예를 들어 강남 만성신장질환은 체성분만 추가하면 AUC가 0.015 오르는데 AEC만 추가하면 0.016 떨어집니다. Calibration은 두 모델 패턴이 비슷하고 Brier는 대체로 개선되지만, 당뇨병은 과대예측이어서 재보정이 필요합니다. 두 설명 모두 직접 검증하지는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정리하면, 기본 정보만으로 AUC는 강남 0.71에서 0.80, 신촌 0.62에서 0.72입니다. AEC만 추가하면 개선이 없었고, 체성분을 더하면 0.014에서 0.066 올랐지만 신촌은 세 질환 모두, 강남은 고혈압만 유의해 병원 간 일관성은 부족했습니다. 통계적 유의성이 곧 임상적 유용성은 아니고 로지스틱 회귀에 한정된 결과입니다. 원인 검증이 다음 과제입니다.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 받겠습니다.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 곡선별로 Best 모델의 계수를 위치별로 환산한 그림입니다. 곡선마다 기여가 큰 위치가 다르고, IMATA는 치골 쪽에서 당뇨병과 만성신장질환의 기여가 크게 보입니다. 위치 해석은 가설 수준입니다.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Calibration plot입니다. 위가 Baseline, 아래가 Best이고 강남은 5-fold 예측, 신촌은 고정 모델 예측입니다. 고혈압은 대체로 대각선 근처이고 당뇨병은 class_weight를 balanced로 둔 영향으로 예측확률이 높게 나옵니다. Brier는 대체로 개선되지만 당뇨병 신촌만 0.238에서 0.247로 나빠졌습니다.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전체 확장 모델의 AUC 비교입니다. Internal은 5-fold 평균과 표준편차, External은 고정 모델 AUC이고 별표는 Baseline 대비 DeLong p&lt;0.05입니다.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 FPCA 점수만 추가한 모델의 계수입니다. 세 질환 모두 PC2가 유의하고 PC1은 고혈압에서만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 모델의 VIF입니다. 모든 변수가 3보다 작아 기본 모델의 다중공선성은 크지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고혈압의 fold별 성능입니다. Baseline 대비 AEC·체성분 모델의 평균 AUC는 0.796에서 0.811이고 External은 0.718에서 0.741입니다. ± 값은 표본 표준편차입니다.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당뇨병의 fold별 성능입니다. 평균 AUC는 0.712에서 0.736, External은 0.665에서 0.706입니다. Fold 4에서 값이 낮아 fold 간 변동이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만성신장질환의 fold별 성능입니다. 평균 AUC는 0.770에서 0.784, External은 0.615에서 0.681입니다. 양성이 fold당 21명뿐이라 변동이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C805716-8EA2-F96C-6391-4B494B09C9B5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22D1BE4-CC80-395F-A3E1-FE44D5712B27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CE9517A2-1316-4B4A-E808-9A2569162BE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F546DEDA-3287-A635-3738-AAC0A1C0A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11" name="슬라이드 번호 개체 틀 5">
            <a:extLst>
              <a:ext uri="{FF2B5EF4-FFF2-40B4-BE49-F238E27FC236}">
                <a16:creationId xmlns:a16="http://schemas.microsoft.com/office/drawing/2014/main" id="{C3C743F5-8336-C697-B8DF-D7A33CDC2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7C93B8-5C18-BB4D-C2B0-B88DA3F6D4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3" name="날짜 개체 틀 3">
            <a:extLst>
              <a:ext uri="{FF2B5EF4-FFF2-40B4-BE49-F238E27FC236}">
                <a16:creationId xmlns:a16="http://schemas.microsoft.com/office/drawing/2014/main" id="{61557C19-3D62-A133-C407-C968F16ACC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바닥글 개체 틀 4">
            <a:extLst>
              <a:ext uri="{FF2B5EF4-FFF2-40B4-BE49-F238E27FC236}">
                <a16:creationId xmlns:a16="http://schemas.microsoft.com/office/drawing/2014/main" id="{5E32A29C-2DD8-CE83-BA54-12AE02B7E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843705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ko-KR" sz="2000" b="1" dirty="0">
                <a:solidFill>
                  <a:schemeClr val="bg1"/>
                </a:solidFill>
              </a:rPr>
              <a:t>Contribution and Limitations of AEC and Body Composition Curves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r>
              <a:rPr lang="ko-KR" altLang="ko-KR" sz="2000" b="1" dirty="0">
                <a:solidFill>
                  <a:schemeClr val="bg1"/>
                </a:solidFill>
              </a:rPr>
              <a:t>in Chronic Disease Prediction</a:t>
            </a:r>
            <a:endParaRPr sz="36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Background &amp; 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304160"/>
          </a:xfrm>
        </p:spPr>
        <p:txBody>
          <a:bodyPr/>
          <a:lstStyle/>
          <a:p>
            <a:r>
              <a:rPr sz="2000" b="1">
                <a:solidFill>
                  <a:srgbClr val="1F3B63"/>
                </a:solidFill>
              </a:rPr>
              <a:t>기본 정보(성별·나이·키·몸무게)만으로</a:t>
            </a:r>
            <a:r>
              <a:rPr sz="2000" b="0">
                <a:solidFill>
                  <a:srgbClr val="333F4D"/>
                </a:solidFill>
              </a:rPr>
              <a:t> 고혈압·당뇨병·만성신장질환을 얼마나 구분할 수 있는가?</a:t>
            </a:r>
          </a:p>
          <a:p>
            <a:r>
              <a:rPr sz="2000" b="0">
                <a:solidFill>
                  <a:srgbClr val="333F4D"/>
                </a:solidFill>
              </a:rPr>
              <a:t>이미 촬영된 CT의 </a:t>
            </a:r>
            <a:r>
              <a:rPr sz="2000" b="1">
                <a:solidFill>
                  <a:srgbClr val="1F3B63"/>
                </a:solidFill>
              </a:rPr>
              <a:t>AEC·체성분 곡선</a:t>
            </a:r>
            <a:r>
              <a:rPr sz="2000" b="0">
                <a:solidFill>
                  <a:srgbClr val="333F4D"/>
                </a:solidFill>
              </a:rPr>
              <a:t>을 더하면 예측력이 좋아지는가?</a:t>
            </a:r>
          </a:p>
          <a:p>
            <a:r>
              <a:rPr sz="2000" b="0">
                <a:solidFill>
                  <a:srgbClr val="333F4D"/>
                </a:solidFill>
              </a:rPr>
              <a:t>강남으로 모델을 만들고 </a:t>
            </a:r>
            <a:r>
              <a:rPr sz="2000" b="1">
                <a:solidFill>
                  <a:srgbClr val="1F3B63"/>
                </a:solidFill>
              </a:rPr>
              <a:t>신촌으로 외부검증</a:t>
            </a:r>
            <a:r>
              <a:rPr sz="2000" b="0">
                <a:solidFill>
                  <a:srgbClr val="333F4D"/>
                </a:solidFill>
              </a:rPr>
              <a:t>해 병원 간 일관성을 확인</a:t>
            </a:r>
          </a:p>
          <a:p>
            <a:r>
              <a:rPr sz="2000" b="0">
                <a:solidFill>
                  <a:srgbClr val="333F4D"/>
                </a:solidFill>
              </a:rPr>
              <a:t>최종 목적: 추가 비용·방사선 없이 기존 CT를 재활용한 위험군 선별 (opportunistic screening)</a:t>
            </a:r>
          </a:p>
          <a:p>
            <a:pPr lvl="1"/>
            <a:r>
              <a:rPr sz="1800" b="0">
                <a:solidFill>
                  <a:srgbClr val="333F4D"/>
                </a:solidFill>
              </a:rPr>
              <a:t>성별은 기본 모델에서도 유의한 변수(Table 4): 곡선 효과 해석 시 함께 고려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AEC: A Free Byproduct of Every CT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212880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AEC(Automatic Exposure Control): 스캐너가 몸 두께·밀도에 맞춰 </a:t>
            </a:r>
            <a:r>
              <a:rPr sz="1800" b="1">
                <a:solidFill>
                  <a:srgbClr val="1F3B63"/>
                </a:solidFill>
              </a:rPr>
              <a:t>튜브 전류(mA)를 z축으로 자동 조절</a:t>
            </a:r>
          </a:p>
          <a:p>
            <a:r>
              <a:rPr sz="1800" b="0">
                <a:solidFill>
                  <a:srgbClr val="333F4D"/>
                </a:solidFill>
              </a:rPr>
              <a:t>곡선이 체형·조직구성을 반영하지만, 자동 기록될 뿐 대부분 버려지는 정보</a:t>
            </a:r>
          </a:p>
          <a:p>
            <a:r>
              <a:rPr sz="1800" b="0">
                <a:solidFill>
                  <a:srgbClr val="333F4D"/>
                </a:solidFill>
              </a:rPr>
              <a:t>간~치골 구간을 128구간으로 표준화(AEC-128)해 세그멘테이션 없이 바로 입력으로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760" y="3258800"/>
            <a:ext cx="6694479" cy="31411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AEC Curves Differ by Sex and Disease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66304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성별: 남성 평균 </a:t>
            </a:r>
            <a:r>
              <a:rPr sz="1800" b="1">
                <a:solidFill>
                  <a:srgbClr val="1F3B63"/>
                </a:solidFill>
              </a:rPr>
              <a:t>330mA</a:t>
            </a:r>
            <a:r>
              <a:rPr sz="1800" b="0">
                <a:solidFill>
                  <a:srgbClr val="333F4D"/>
                </a:solidFill>
              </a:rPr>
              <a:t> vs 여성 </a:t>
            </a:r>
            <a:r>
              <a:rPr sz="1800" b="1">
                <a:solidFill>
                  <a:srgbClr val="1F3B63"/>
                </a:solidFill>
              </a:rPr>
              <a:t>302mA</a:t>
            </a:r>
            <a:r>
              <a:rPr sz="1800" b="0">
                <a:solidFill>
                  <a:srgbClr val="333F4D"/>
                </a:solidFill>
              </a:rPr>
              <a:t> (Mann-Whitney p&lt;0.001)</a:t>
            </a:r>
          </a:p>
          <a:p>
            <a:r>
              <a:rPr sz="1800" b="0">
                <a:solidFill>
                  <a:srgbClr val="333F4D"/>
                </a:solidFill>
              </a:rPr>
              <a:t>질환 유무에 따른 차이는 성별마다 다름: HTN 남녀 모두 유의(p&lt;0.001), DM 여성만(p=0.001), CKD 남성만(p=0.010)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23" y="2793040"/>
            <a:ext cx="10011154" cy="36069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FPCA: A Curve Becomes a Few Shape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29728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AEC 곡선은 128개 연속값: 그대로 넣으면 </a:t>
            </a:r>
            <a:r>
              <a:rPr sz="1800" b="1">
                <a:solidFill>
                  <a:srgbClr val="1F3B63"/>
                </a:solidFill>
              </a:rPr>
              <a:t>변수 과다·다중공선성</a:t>
            </a:r>
          </a:p>
          <a:p>
            <a:r>
              <a:rPr sz="1800" b="0">
                <a:solidFill>
                  <a:srgbClr val="333F4D"/>
                </a:solidFill>
              </a:rPr>
              <a:t>FPCA: 곡선을 소수의 </a:t>
            </a:r>
            <a:r>
              <a:rPr sz="1800" b="1">
                <a:solidFill>
                  <a:srgbClr val="1F3B63"/>
                </a:solidFill>
              </a:rPr>
              <a:t>대표 모양 패턴(PC)</a:t>
            </a:r>
            <a:r>
              <a:rPr sz="1800" b="0">
                <a:solidFill>
                  <a:srgbClr val="333F4D"/>
                </a:solidFill>
              </a:rPr>
              <a:t>으로 압축하고, 환자별 PC 점수를 회귀 입력으로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93" y="2427280"/>
            <a:ext cx="10053413" cy="3972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Body Composition Curves from CT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39728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TotalSegmentator: CT에서 장기·조직을 자동 분할하는 오픈소스 딥러닝 도구</a:t>
            </a:r>
          </a:p>
          <a:p>
            <a:r>
              <a:rPr sz="1800" b="0">
                <a:solidFill>
                  <a:srgbClr val="333F4D"/>
                </a:solidFill>
              </a:rPr>
              <a:t>간~치골 구간의 </a:t>
            </a:r>
            <a:r>
              <a:rPr sz="1800" b="1">
                <a:solidFill>
                  <a:srgbClr val="1F3B63"/>
                </a:solidFill>
              </a:rPr>
              <a:t>VAT·SAT·LAMA·NAMA·IMATA</a:t>
            </a:r>
            <a:r>
              <a:rPr sz="1800" b="0">
                <a:solidFill>
                  <a:srgbClr val="333F4D"/>
                </a:solidFill>
              </a:rPr>
              <a:t> 단면적을 자동 산출</a:t>
            </a:r>
          </a:p>
          <a:p>
            <a:r>
              <a:rPr sz="1800" b="0">
                <a:solidFill>
                  <a:srgbClr val="333F4D"/>
                </a:solidFill>
              </a:rPr>
              <a:t>체성분 곡선도 128구간 표준화 후 FPCA로 압축 (AEC와 같은 절차)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001" y="2527280"/>
            <a:ext cx="8243997" cy="38727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Study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76304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Internal </a:t>
            </a:r>
            <a:r>
              <a:rPr sz="1800" b="1">
                <a:solidFill>
                  <a:srgbClr val="1F3B63"/>
                </a:solidFill>
              </a:rPr>
              <a:t>강남 1,260명</a:t>
            </a:r>
            <a:r>
              <a:rPr sz="1800" b="0">
                <a:solidFill>
                  <a:srgbClr val="333F4D"/>
                </a:solidFill>
              </a:rPr>
              <a:t> / External </a:t>
            </a:r>
            <a:r>
              <a:rPr sz="1800" b="1">
                <a:solidFill>
                  <a:srgbClr val="1F3B63"/>
                </a:solidFill>
              </a:rPr>
              <a:t>신촌 1,123명</a:t>
            </a:r>
            <a:r>
              <a:rPr sz="1800" b="0">
                <a:solidFill>
                  <a:srgbClr val="333F4D"/>
                </a:solidFill>
              </a:rPr>
              <a:t> (모두 단면 데이터)</a:t>
            </a:r>
          </a:p>
          <a:p>
            <a:r>
              <a:rPr sz="1800" b="0">
                <a:solidFill>
                  <a:srgbClr val="333F4D"/>
                </a:solidFill>
              </a:rPr>
              <a:t>Input: Baseline(성별·나이·키·몸무게) vs </a:t>
            </a:r>
            <a:r>
              <a:rPr sz="1800" b="1">
                <a:solidFill>
                  <a:srgbClr val="1F3B63"/>
                </a:solidFill>
              </a:rPr>
              <a:t>+AEC·체성분 FPCA 점수</a:t>
            </a:r>
          </a:p>
          <a:p>
            <a:r>
              <a:rPr sz="1800" b="0">
                <a:solidFill>
                  <a:srgbClr val="333F4D"/>
                </a:solidFill>
              </a:rPr>
              <a:t>Outcome: 고혈압·당뇨병·만성신장질환, 질환별 Logistic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511" y="2893040"/>
            <a:ext cx="9312977" cy="35069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1. The Two Cohorts Differ in Case-Mix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33711"/>
              </p:ext>
            </p:extLst>
          </p:nvPr>
        </p:nvGraphicFramePr>
        <p:xfrm>
          <a:off x="1981977" y="1321957"/>
          <a:ext cx="8228046" cy="486603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88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431">
                <a:tc>
                  <a:txBody>
                    <a:bodyPr/>
                    <a:lstStyle/>
                    <a:p>
                      <a:pPr algn="ctr"/>
                      <a:r>
                        <a:rPr sz="1600" b="1" dirty="0"/>
                        <a:t>Characteristic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/>
                        <a:t>Gangnam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Sinchon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Sex (Male),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475 (37.7%)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547 (48.7%)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57.3 ± 12.1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59.7 ± 12.3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162.8 ± 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163.7 ±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62.0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62.4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0.359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BMI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23.3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23.2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0.322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SMI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6873.5 ± 1562.8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6661.3 ± 1639.9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0.108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8486.2 ± 5165.1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9096.4 ± 5280.4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19243.6 ± 7914.4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17914.4 ± 8631.1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IMATA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1175.5 ± 576.0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1224.9 ± 617.6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14279.5 ± 4408.5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12931.5 ± 4709.8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4127.4 ± 1962.2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5093.2 ± 2123.8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TAMA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18406.9 ± 5171.0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18024.7 ± 5311.8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0.378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HTN,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386 (30.6%)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507 (45.1%)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DM,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233 (18.5%)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335 (29.8%)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172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CKD,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105 (8.3%)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188 (16.7%)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Modeling and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7632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Split: 강남 전체 5-fold CV (환자 단위 stratified, hold-out 없음)</a:t>
            </a:r>
          </a:p>
          <a:p>
            <a:r>
              <a:rPr sz="1800" b="0">
                <a:solidFill>
                  <a:srgbClr val="333F4D"/>
                </a:solidFill>
              </a:rPr>
              <a:t>Tuning: GridSearchCV (C·penalty·class_weight), 5-fold 평균 AUC 기준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nested CV가 아니라 튜닝과 평가에 같은 fold 사용: 약간 낙관적일 수 있음</a:t>
            </a:r>
          </a:p>
          <a:p>
            <a:r>
              <a:rPr sz="1800" b="0">
                <a:solidFill>
                  <a:srgbClr val="333F4D"/>
                </a:solidFill>
              </a:rPr>
              <a:t>Cutoff: OOF 예측값의 Youden index 최대점, 신촌에도 동일 적용</a:t>
            </a:r>
          </a:p>
          <a:p>
            <a:r>
              <a:rPr sz="1800" b="0">
                <a:solidFill>
                  <a:srgbClr val="333F4D"/>
                </a:solidFill>
              </a:rPr>
              <a:t>External: 강남 전체로 재학습한 고정 모델을 신촌에 적용 (재탐색 없음)</a:t>
            </a:r>
          </a:p>
          <a:p>
            <a:r>
              <a:rPr sz="1800" b="0">
                <a:solidFill>
                  <a:srgbClr val="333F4D"/>
                </a:solidFill>
              </a:rPr>
              <a:t>Comparison: Baseline 대비 paired DeLong (*p&lt;0.05, 다중비교 보정 전; Bonferroni α≈0.017 병기)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fold 간 ±SD는 안정성 참고용이며 신뢰구간이 아님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FPCA Component Selection (Kneedle Elbow)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29728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scree 곡선(PC1~PC20)에서 </a:t>
            </a:r>
            <a:r>
              <a:rPr sz="1800" b="1">
                <a:solidFill>
                  <a:srgbClr val="1F3B63"/>
                </a:solidFill>
              </a:rPr>
              <a:t>첫·끝 점을 잇는 직선과 가장 먼 지점(elbow)을 Kneedle로 검출</a:t>
            </a:r>
            <a:r>
              <a:rPr sz="1800" b="0">
                <a:solidFill>
                  <a:srgbClr val="333F4D"/>
                </a:solidFill>
              </a:rPr>
              <a:t>해 PC 수 결정 (성능과 무관, 강남 기준)</a:t>
            </a:r>
          </a:p>
          <a:p>
            <a:r>
              <a:rPr sz="1800" b="0">
                <a:solidFill>
                  <a:srgbClr val="333F4D"/>
                </a:solidFill>
              </a:rPr>
              <a:t>AEC 3, VAT·SAT·LAMA·NAMA 2, IMATA 3개 PC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298" y="2427280"/>
            <a:ext cx="8975404" cy="39727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2. AEC Alone Adds Little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39728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AEC만 추가하면 3개 질환 모두 </a:t>
            </a:r>
            <a:r>
              <a:rPr sz="1800" b="1">
                <a:solidFill>
                  <a:srgbClr val="1F3B63"/>
                </a:solidFill>
              </a:rPr>
              <a:t>비유의</a:t>
            </a:r>
            <a:r>
              <a:rPr sz="1800" b="0">
                <a:solidFill>
                  <a:srgbClr val="333F4D"/>
                </a:solidFill>
              </a:rPr>
              <a:t> (Bonferroni α≈0.017 기준)</a:t>
            </a:r>
          </a:p>
          <a:p>
            <a:r>
              <a:rPr sz="1800" b="0">
                <a:solidFill>
                  <a:srgbClr val="333F4D"/>
                </a:solidFill>
              </a:rPr>
              <a:t>CKD는 양성이 105명이라 검정력이 낮아 판단 유보</a:t>
            </a:r>
          </a:p>
          <a:p>
            <a:r>
              <a:rPr sz="1800" b="0">
                <a:solidFill>
                  <a:srgbClr val="333F4D"/>
                </a:solidFill>
              </a:rPr>
              <a:t>→ AEC만으로는 근거 부족, </a:t>
            </a:r>
            <a:r>
              <a:rPr sz="1800" b="1">
                <a:solidFill>
                  <a:srgbClr val="1F3B63"/>
                </a:solidFill>
              </a:rPr>
              <a:t>체성분 추가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graphicFrame>
        <p:nvGraphicFramePr>
          <p:cNvPr id="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362364"/>
              </p:ext>
            </p:extLst>
          </p:nvPr>
        </p:nvGraphicFramePr>
        <p:xfrm>
          <a:off x="1096000" y="3530721"/>
          <a:ext cx="10000000" cy="176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+AEC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DeLong 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0.804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−0.017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0.273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Figure 1. Body Composition Gives the Largest 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93152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체성분을 포함한 모델에서 ΔAUC가 가장 큼 (</a:t>
            </a:r>
            <a:r>
              <a:rPr sz="1800" b="1">
                <a:solidFill>
                  <a:srgbClr val="1F3B63"/>
                </a:solidFill>
              </a:rPr>
              <a:t>+0.014~+0.066 (fold 평균 AUC)</a:t>
            </a:r>
            <a:r>
              <a:rPr sz="1800" b="0">
                <a:solidFill>
                  <a:srgbClr val="333F4D"/>
                </a:solidFill>
              </a:rPr>
              <a:t>)</a:t>
            </a:r>
          </a:p>
          <a:p>
            <a:r>
              <a:rPr sz="1800" b="0">
                <a:solidFill>
                  <a:srgbClr val="333F4D"/>
                </a:solidFill>
              </a:rPr>
              <a:t>유의(*)한 개선은 주로 </a:t>
            </a:r>
            <a:r>
              <a:rPr sz="1800" b="1">
                <a:solidFill>
                  <a:srgbClr val="1F3B63"/>
                </a:solidFill>
              </a:rPr>
              <a:t>신촌(External)</a:t>
            </a:r>
            <a:r>
              <a:rPr sz="1800" b="0">
                <a:solidFill>
                  <a:srgbClr val="333F4D"/>
                </a:solidFill>
              </a:rPr>
              <a:t>에서 나타남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301508"/>
            <a:ext cx="11176000" cy="38958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3. Gains Hold in External, Not Always in Internal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93152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고혈압: Internal·External 모두 유의하게 개선</a:t>
            </a:r>
          </a:p>
          <a:p>
            <a:r>
              <a:rPr sz="1800" b="0">
                <a:solidFill>
                  <a:srgbClr val="333F4D"/>
                </a:solidFill>
              </a:rPr>
              <a:t>당뇨병·만성신장질환: </a:t>
            </a:r>
            <a:r>
              <a:rPr sz="1800" b="1">
                <a:solidFill>
                  <a:srgbClr val="1F3B63"/>
                </a:solidFill>
              </a:rPr>
              <a:t>External에서만 유의</a:t>
            </a:r>
            <a:r>
              <a:rPr sz="1800" b="0">
                <a:solidFill>
                  <a:srgbClr val="333F4D"/>
                </a:solidFill>
              </a:rPr>
              <a:t>, Internal은 비유의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590592"/>
              </p:ext>
            </p:extLst>
          </p:nvPr>
        </p:nvGraphicFramePr>
        <p:xfrm>
          <a:off x="512064" y="2420242"/>
          <a:ext cx="11173968" cy="392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Baseline 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+AEC+체성분 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ΔAUC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DeLong 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고혈압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0.809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0.035*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0.011*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당뇨병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만성신장질환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dirty="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How the Coefficients Were Obtained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969920"/>
          </a:xfrm>
        </p:spPr>
        <p:txBody>
          <a:bodyPr/>
          <a:lstStyle/>
          <a:p>
            <a:r>
              <a:rPr sz="1800" b="0" dirty="0" err="1">
                <a:solidFill>
                  <a:srgbClr val="333F4D"/>
                </a:solidFill>
              </a:rPr>
              <a:t>대상</a:t>
            </a:r>
            <a:r>
              <a:rPr sz="1800" b="0" dirty="0">
                <a:solidFill>
                  <a:srgbClr val="333F4D"/>
                </a:solidFill>
              </a:rPr>
              <a:t>: </a:t>
            </a:r>
            <a:r>
              <a:rPr sz="1800" b="0" dirty="0" err="1">
                <a:solidFill>
                  <a:srgbClr val="333F4D"/>
                </a:solidFill>
              </a:rPr>
              <a:t>강남</a:t>
            </a:r>
            <a:r>
              <a:rPr sz="1800" b="0" dirty="0">
                <a:solidFill>
                  <a:srgbClr val="333F4D"/>
                </a:solidFill>
              </a:rPr>
              <a:t> </a:t>
            </a:r>
            <a:r>
              <a:rPr sz="1800" b="0" dirty="0" err="1">
                <a:solidFill>
                  <a:srgbClr val="333F4D"/>
                </a:solidFill>
              </a:rPr>
              <a:t>코호트</a:t>
            </a:r>
            <a:r>
              <a:rPr sz="1800" b="0" dirty="0">
                <a:solidFill>
                  <a:srgbClr val="333F4D"/>
                </a:solidFill>
              </a:rPr>
              <a:t> 1,260명</a:t>
            </a:r>
          </a:p>
          <a:p>
            <a:r>
              <a:rPr sz="1800" b="0" dirty="0">
                <a:solidFill>
                  <a:srgbClr val="333F4D"/>
                </a:solidFill>
              </a:rPr>
              <a:t>Input: Baseline(</a:t>
            </a:r>
            <a:r>
              <a:rPr sz="1800" b="0" dirty="0" err="1">
                <a:solidFill>
                  <a:srgbClr val="333F4D"/>
                </a:solidFill>
              </a:rPr>
              <a:t>성별·나이·키·몸무게</a:t>
            </a:r>
            <a:r>
              <a:rPr sz="1800" b="0" dirty="0">
                <a:solidFill>
                  <a:srgbClr val="333F4D"/>
                </a:solidFill>
              </a:rPr>
              <a:t>) + Best(FPCA </a:t>
            </a:r>
            <a:r>
              <a:rPr sz="1800" b="0" dirty="0" err="1">
                <a:solidFill>
                  <a:srgbClr val="333F4D"/>
                </a:solidFill>
              </a:rPr>
              <a:t>점수</a:t>
            </a:r>
            <a:r>
              <a:rPr sz="1800" b="0" dirty="0">
                <a:solidFill>
                  <a:srgbClr val="333F4D"/>
                </a:solidFill>
              </a:rPr>
              <a:t> 14개 </a:t>
            </a:r>
            <a:r>
              <a:rPr sz="1800" b="0" dirty="0" err="1">
                <a:solidFill>
                  <a:srgbClr val="333F4D"/>
                </a:solidFill>
              </a:rPr>
              <a:t>추가</a:t>
            </a:r>
            <a:r>
              <a:rPr sz="1800" b="0" dirty="0">
                <a:solidFill>
                  <a:srgbClr val="333F4D"/>
                </a:solidFill>
              </a:rPr>
              <a:t>, Table 5)</a:t>
            </a:r>
          </a:p>
          <a:p>
            <a:r>
              <a:rPr sz="1800" b="0" dirty="0" err="1">
                <a:solidFill>
                  <a:srgbClr val="333F4D"/>
                </a:solidFill>
              </a:rPr>
              <a:t>모델</a:t>
            </a:r>
            <a:r>
              <a:rPr sz="1800" b="0" dirty="0">
                <a:solidFill>
                  <a:srgbClr val="333F4D"/>
                </a:solidFill>
              </a:rPr>
              <a:t>: </a:t>
            </a:r>
            <a:r>
              <a:rPr sz="1800" b="0" dirty="0" err="1">
                <a:solidFill>
                  <a:srgbClr val="333F4D"/>
                </a:solidFill>
              </a:rPr>
              <a:t>질환별</a:t>
            </a:r>
            <a:r>
              <a:rPr sz="1800" b="0" dirty="0">
                <a:solidFill>
                  <a:srgbClr val="333F4D"/>
                </a:solidFill>
              </a:rPr>
              <a:t> Logistic Regression (</a:t>
            </a:r>
            <a:r>
              <a:rPr sz="1800" b="0" dirty="0" err="1">
                <a:solidFill>
                  <a:srgbClr val="333F4D"/>
                </a:solidFill>
              </a:rPr>
              <a:t>규제</a:t>
            </a:r>
            <a:r>
              <a:rPr sz="1800" b="0" dirty="0">
                <a:solidFill>
                  <a:srgbClr val="333F4D"/>
                </a:solidFill>
              </a:rPr>
              <a:t> </a:t>
            </a:r>
            <a:r>
              <a:rPr sz="1800" b="0" dirty="0" err="1">
                <a:solidFill>
                  <a:srgbClr val="333F4D"/>
                </a:solidFill>
              </a:rPr>
              <a:t>없음</a:t>
            </a:r>
            <a:r>
              <a:rPr sz="1800" b="0" dirty="0">
                <a:solidFill>
                  <a:srgbClr val="333F4D"/>
                </a:solidFill>
              </a:rPr>
              <a:t>)</a:t>
            </a:r>
          </a:p>
          <a:p>
            <a:r>
              <a:rPr sz="1800" b="0" dirty="0">
                <a:solidFill>
                  <a:srgbClr val="333F4D"/>
                </a:solidFill>
              </a:rPr>
              <a:t>Coefficient: </a:t>
            </a:r>
            <a:r>
              <a:rPr sz="1800" b="0" dirty="0" err="1">
                <a:solidFill>
                  <a:srgbClr val="333F4D"/>
                </a:solidFill>
              </a:rPr>
              <a:t>변수</a:t>
            </a:r>
            <a:r>
              <a:rPr sz="1800" b="0" dirty="0">
                <a:solidFill>
                  <a:srgbClr val="333F4D"/>
                </a:solidFill>
              </a:rPr>
              <a:t> 1SD </a:t>
            </a:r>
            <a:r>
              <a:rPr sz="1800" b="0" dirty="0" err="1">
                <a:solidFill>
                  <a:srgbClr val="333F4D"/>
                </a:solidFill>
              </a:rPr>
              <a:t>증가</a:t>
            </a:r>
            <a:r>
              <a:rPr sz="1800" b="0" dirty="0">
                <a:solidFill>
                  <a:srgbClr val="333F4D"/>
                </a:solidFill>
              </a:rPr>
              <a:t> 시 log-odds </a:t>
            </a:r>
            <a:r>
              <a:rPr sz="1800" b="0" dirty="0" err="1">
                <a:solidFill>
                  <a:srgbClr val="333F4D"/>
                </a:solidFill>
              </a:rPr>
              <a:t>변화</a:t>
            </a:r>
            <a:endParaRPr sz="1800" b="0" dirty="0">
              <a:solidFill>
                <a:srgbClr val="333F4D"/>
              </a:solidFill>
            </a:endParaRPr>
          </a:p>
          <a:p>
            <a:r>
              <a:rPr sz="1800" b="0" dirty="0">
                <a:solidFill>
                  <a:srgbClr val="333F4D"/>
                </a:solidFill>
              </a:rPr>
              <a:t>p-value: </a:t>
            </a:r>
            <a:r>
              <a:rPr sz="1800" b="1" dirty="0">
                <a:solidFill>
                  <a:srgbClr val="1F3B63"/>
                </a:solidFill>
              </a:rPr>
              <a:t>Wald </a:t>
            </a:r>
            <a:r>
              <a:rPr sz="1800" b="1" dirty="0" err="1">
                <a:solidFill>
                  <a:srgbClr val="1F3B63"/>
                </a:solidFill>
              </a:rPr>
              <a:t>검정</a:t>
            </a:r>
            <a:endParaRPr sz="1800" b="1" dirty="0">
              <a:solidFill>
                <a:srgbClr val="1F3B63"/>
              </a:solidFill>
            </a:endParaRPr>
          </a:p>
          <a:p>
            <a:pPr lvl="1"/>
            <a:r>
              <a:rPr sz="1600" b="0" dirty="0" err="1">
                <a:solidFill>
                  <a:srgbClr val="333F4D"/>
                </a:solidFill>
              </a:rPr>
              <a:t>계수가</a:t>
            </a:r>
            <a:r>
              <a:rPr sz="1600" b="0" dirty="0">
                <a:solidFill>
                  <a:srgbClr val="333F4D"/>
                </a:solidFill>
              </a:rPr>
              <a:t> 0(</a:t>
            </a:r>
            <a:r>
              <a:rPr sz="1600" b="0" dirty="0" err="1">
                <a:solidFill>
                  <a:srgbClr val="333F4D"/>
                </a:solidFill>
              </a:rPr>
              <a:t>영향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없음</a:t>
            </a:r>
            <a:r>
              <a:rPr sz="1600" b="0" dirty="0">
                <a:solidFill>
                  <a:srgbClr val="333F4D"/>
                </a:solidFill>
              </a:rPr>
              <a:t>)</a:t>
            </a:r>
            <a:r>
              <a:rPr sz="1600" b="0" dirty="0" err="1">
                <a:solidFill>
                  <a:srgbClr val="333F4D"/>
                </a:solidFill>
              </a:rPr>
              <a:t>이라는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가정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하에</a:t>
            </a:r>
            <a:r>
              <a:rPr sz="1600" b="0" dirty="0">
                <a:solidFill>
                  <a:srgbClr val="333F4D"/>
                </a:solidFill>
              </a:rPr>
              <a:t> Z = Coefficient ÷ </a:t>
            </a:r>
            <a:r>
              <a:rPr sz="1600" b="0" dirty="0" err="1">
                <a:solidFill>
                  <a:srgbClr val="333F4D"/>
                </a:solidFill>
              </a:rPr>
              <a:t>표준오차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계산</a:t>
            </a:r>
            <a:endParaRPr sz="1600" b="0" dirty="0">
              <a:solidFill>
                <a:srgbClr val="333F4D"/>
              </a:solidFill>
            </a:endParaRPr>
          </a:p>
          <a:p>
            <a:pPr lvl="1"/>
            <a:r>
              <a:rPr sz="1600" b="0" dirty="0">
                <a:solidFill>
                  <a:srgbClr val="333F4D"/>
                </a:solidFill>
              </a:rPr>
              <a:t>|</a:t>
            </a:r>
            <a:r>
              <a:rPr sz="1600" b="0" dirty="0" err="1">
                <a:solidFill>
                  <a:srgbClr val="333F4D"/>
                </a:solidFill>
              </a:rPr>
              <a:t>Z|가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클수록</a:t>
            </a:r>
            <a:r>
              <a:rPr sz="1600" b="0" dirty="0">
                <a:solidFill>
                  <a:srgbClr val="333F4D"/>
                </a:solidFill>
              </a:rPr>
              <a:t> p-value </a:t>
            </a:r>
            <a:r>
              <a:rPr sz="1600" b="0" dirty="0" err="1">
                <a:solidFill>
                  <a:srgbClr val="333F4D"/>
                </a:solidFill>
              </a:rPr>
              <a:t>작아짐</a:t>
            </a:r>
            <a:r>
              <a:rPr sz="1600" b="0" dirty="0">
                <a:solidFill>
                  <a:srgbClr val="333F4D"/>
                </a:solidFill>
              </a:rPr>
              <a:t>, p&lt;0.05는 *</a:t>
            </a:r>
          </a:p>
          <a:p>
            <a:pPr lvl="1"/>
            <a:r>
              <a:rPr sz="1600" b="0" dirty="0" err="1">
                <a:solidFill>
                  <a:srgbClr val="333F4D"/>
                </a:solidFill>
              </a:rPr>
              <a:t>다른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변수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보정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후의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독립적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효과</a:t>
            </a:r>
            <a:r>
              <a:rPr sz="1600" b="0" dirty="0">
                <a:solidFill>
                  <a:srgbClr val="333F4D"/>
                </a:solidFill>
              </a:rPr>
              <a:t> (</a:t>
            </a:r>
            <a:r>
              <a:rPr sz="1600" b="0" dirty="0" err="1">
                <a:solidFill>
                  <a:srgbClr val="333F4D"/>
                </a:solidFill>
              </a:rPr>
              <a:t>질환군-비질환군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평균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비교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아님</a:t>
            </a:r>
            <a:r>
              <a:rPr sz="1600" b="0" dirty="0">
                <a:solidFill>
                  <a:srgbClr val="333F4D"/>
                </a:solidFill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4. Height and Weight Lose Significance in Best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793212"/>
          </a:xfrm>
        </p:spPr>
        <p:txBody>
          <a:bodyPr>
            <a:normAutofit/>
          </a:bodyPr>
          <a:lstStyle/>
          <a:p>
            <a:r>
              <a:rPr sz="1600" b="1" dirty="0" err="1">
                <a:solidFill>
                  <a:srgbClr val="333F4D"/>
                </a:solidFill>
              </a:rPr>
              <a:t>성별·나이는</a:t>
            </a:r>
            <a:r>
              <a:rPr sz="1600" b="1" dirty="0">
                <a:solidFill>
                  <a:srgbClr val="333F4D"/>
                </a:solidFill>
              </a:rPr>
              <a:t> </a:t>
            </a:r>
            <a:r>
              <a:rPr sz="1600" b="1" dirty="0" err="1">
                <a:solidFill>
                  <a:srgbClr val="333F4D"/>
                </a:solidFill>
              </a:rPr>
              <a:t>대체로</a:t>
            </a:r>
            <a:r>
              <a:rPr sz="1600" b="1" dirty="0">
                <a:solidFill>
                  <a:srgbClr val="333F4D"/>
                </a:solidFill>
              </a:rPr>
              <a:t> </a:t>
            </a:r>
            <a:r>
              <a:rPr sz="1600" b="1" dirty="0" err="1">
                <a:solidFill>
                  <a:srgbClr val="333F4D"/>
                </a:solidFill>
              </a:rPr>
              <a:t>유의</a:t>
            </a:r>
            <a:r>
              <a:rPr sz="1600" b="1" dirty="0">
                <a:solidFill>
                  <a:srgbClr val="333F4D"/>
                </a:solidFill>
              </a:rPr>
              <a:t>, </a:t>
            </a:r>
            <a:r>
              <a:rPr sz="1600" b="1" dirty="0" err="1">
                <a:solidFill>
                  <a:srgbClr val="1F3B63"/>
                </a:solidFill>
              </a:rPr>
              <a:t>키·몸무게는</a:t>
            </a:r>
            <a:r>
              <a:rPr sz="1600" b="1" dirty="0">
                <a:solidFill>
                  <a:srgbClr val="1F3B63"/>
                </a:solidFill>
              </a:rPr>
              <a:t> </a:t>
            </a:r>
            <a:r>
              <a:rPr sz="1600" b="1" dirty="0" err="1">
                <a:solidFill>
                  <a:srgbClr val="1F3B63"/>
                </a:solidFill>
              </a:rPr>
              <a:t>대부분</a:t>
            </a:r>
            <a:r>
              <a:rPr sz="1600" b="1" dirty="0">
                <a:solidFill>
                  <a:srgbClr val="1F3B63"/>
                </a:solidFill>
              </a:rPr>
              <a:t> </a:t>
            </a:r>
            <a:r>
              <a:rPr sz="1600" b="1" dirty="0" err="1">
                <a:solidFill>
                  <a:srgbClr val="1F3B63"/>
                </a:solidFill>
              </a:rPr>
              <a:t>비유의</a:t>
            </a:r>
            <a:endParaRPr sz="1600" b="1" dirty="0">
              <a:solidFill>
                <a:srgbClr val="1F3B63"/>
              </a:solidFill>
            </a:endParaRPr>
          </a:p>
          <a:p>
            <a:r>
              <a:rPr sz="1600" b="0" dirty="0" err="1">
                <a:solidFill>
                  <a:srgbClr val="333F4D"/>
                </a:solidFill>
              </a:rPr>
              <a:t>원인</a:t>
            </a:r>
            <a:r>
              <a:rPr sz="1600" b="0" dirty="0">
                <a:solidFill>
                  <a:srgbClr val="333F4D"/>
                </a:solidFill>
              </a:rPr>
              <a:t>: </a:t>
            </a:r>
            <a:r>
              <a:rPr sz="1600" b="0" dirty="0" err="1">
                <a:solidFill>
                  <a:srgbClr val="333F4D"/>
                </a:solidFill>
              </a:rPr>
              <a:t>신호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이전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또는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다중공선성</a:t>
            </a:r>
            <a:r>
              <a:rPr sz="1600" b="0" dirty="0">
                <a:solidFill>
                  <a:srgbClr val="333F4D"/>
                </a:solidFill>
              </a:rPr>
              <a:t>(VIF, Appendix S5) </a:t>
            </a:r>
            <a:r>
              <a:rPr sz="1600" b="0" dirty="0" err="1">
                <a:solidFill>
                  <a:srgbClr val="333F4D"/>
                </a:solidFill>
              </a:rPr>
              <a:t>가능성</a:t>
            </a:r>
            <a:r>
              <a:rPr sz="1600" b="0" dirty="0">
                <a:solidFill>
                  <a:srgbClr val="333F4D"/>
                </a:solidFill>
              </a:rPr>
              <a:t>, </a:t>
            </a:r>
            <a:r>
              <a:rPr sz="1600" b="0" dirty="0" err="1">
                <a:solidFill>
                  <a:srgbClr val="333F4D"/>
                </a:solidFill>
              </a:rPr>
              <a:t>미확정</a:t>
            </a:r>
            <a:endParaRPr sz="1600" b="0" dirty="0">
              <a:solidFill>
                <a:srgbClr val="333F4D"/>
              </a:solidFill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333F4D"/>
                </a:solidFill>
              </a:rPr>
              <a:t>CKD는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양성</a:t>
            </a:r>
            <a:r>
              <a:rPr sz="1600" b="0" dirty="0">
                <a:solidFill>
                  <a:srgbClr val="333F4D"/>
                </a:solidFill>
              </a:rPr>
              <a:t> 105명 </a:t>
            </a:r>
            <a:r>
              <a:rPr sz="1600" b="0" dirty="0" err="1">
                <a:solidFill>
                  <a:srgbClr val="333F4D"/>
                </a:solidFill>
              </a:rPr>
              <a:t>대비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변수가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많아</a:t>
            </a:r>
            <a:r>
              <a:rPr sz="1600" b="0" dirty="0">
                <a:solidFill>
                  <a:srgbClr val="333F4D"/>
                </a:solidFill>
              </a:rPr>
              <a:t>(EPV≈5) </a:t>
            </a:r>
            <a:r>
              <a:rPr sz="1600" b="0" dirty="0" err="1">
                <a:solidFill>
                  <a:srgbClr val="333F4D"/>
                </a:solidFill>
              </a:rPr>
              <a:t>계수가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불안정할</a:t>
            </a:r>
            <a:r>
              <a:rPr sz="1600" b="0" dirty="0">
                <a:solidFill>
                  <a:srgbClr val="333F4D"/>
                </a:solidFill>
              </a:rPr>
              <a:t> 수 </a:t>
            </a:r>
            <a:r>
              <a:rPr sz="1600" b="0" dirty="0" err="1">
                <a:solidFill>
                  <a:srgbClr val="333F4D"/>
                </a:solidFill>
              </a:rPr>
              <a:t>있음</a:t>
            </a:r>
            <a:endParaRPr sz="1600" b="0" dirty="0">
              <a:solidFill>
                <a:srgbClr val="333F4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6270118"/>
              </p:ext>
            </p:extLst>
          </p:nvPr>
        </p:nvGraphicFramePr>
        <p:xfrm>
          <a:off x="510033" y="2843212"/>
          <a:ext cx="11173967" cy="34299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64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0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0000">
                <a:tc rowSpan="2">
                  <a:txBody>
                    <a:bodyPr/>
                    <a:lstStyle/>
                    <a:p>
                      <a:pPr algn="ctr"/>
                      <a:r>
                        <a:rPr sz="1000" b="1" dirty="0"/>
                        <a:t>Disease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000" b="1" dirty="0"/>
                        <a:t>Term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 dirty="0"/>
                        <a:t>Baseline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sz="1000" dirty="0"/>
                        <a:t>Best (+</a:t>
                      </a:r>
                      <a:r>
                        <a:rPr sz="1000" dirty="0" err="1"/>
                        <a:t>AEC+체성분</a:t>
                      </a:r>
                      <a:r>
                        <a:rPr sz="1000" dirty="0"/>
                        <a:t>)</a:t>
                      </a:r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0.004*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0.004*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-0.434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-0.246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0.013*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1.283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1.153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0.018*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-0.372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0.036*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0.223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5. Only Body-Composition Scores Are Significant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49999"/>
            <a:ext cx="11176000" cy="1322595"/>
          </a:xfrm>
        </p:spPr>
        <p:txBody>
          <a:bodyPr/>
          <a:lstStyle/>
          <a:p>
            <a:r>
              <a:rPr sz="1600" b="0" dirty="0">
                <a:solidFill>
                  <a:srgbClr val="333F4D"/>
                </a:solidFill>
              </a:rPr>
              <a:t>AEC </a:t>
            </a:r>
            <a:r>
              <a:rPr sz="1600" b="0" dirty="0" err="1">
                <a:solidFill>
                  <a:srgbClr val="333F4D"/>
                </a:solidFill>
              </a:rPr>
              <a:t>점수는</a:t>
            </a:r>
            <a:r>
              <a:rPr sz="1600" b="0" dirty="0">
                <a:solidFill>
                  <a:srgbClr val="333F4D"/>
                </a:solidFill>
              </a:rPr>
              <a:t> 세 </a:t>
            </a:r>
            <a:r>
              <a:rPr sz="1600" b="0" dirty="0" err="1">
                <a:solidFill>
                  <a:srgbClr val="333F4D"/>
                </a:solidFill>
              </a:rPr>
              <a:t>질환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모두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비유의</a:t>
            </a:r>
            <a:r>
              <a:rPr sz="1600" b="0" dirty="0">
                <a:solidFill>
                  <a:srgbClr val="333F4D"/>
                </a:solidFill>
              </a:rPr>
              <a:t>, </a:t>
            </a:r>
            <a:r>
              <a:rPr sz="1600" b="0" dirty="0" err="1">
                <a:solidFill>
                  <a:srgbClr val="333F4D"/>
                </a:solidFill>
              </a:rPr>
              <a:t>유의한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점수는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1" dirty="0" err="1">
                <a:solidFill>
                  <a:srgbClr val="1F3B63"/>
                </a:solidFill>
              </a:rPr>
              <a:t>체성분에서만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나옴</a:t>
            </a:r>
            <a:r>
              <a:rPr sz="1600" b="0" dirty="0">
                <a:solidFill>
                  <a:srgbClr val="333F4D"/>
                </a:solidFill>
              </a:rPr>
              <a:t> (p-</a:t>
            </a:r>
            <a:r>
              <a:rPr sz="1600" b="0" dirty="0" err="1">
                <a:solidFill>
                  <a:srgbClr val="333F4D"/>
                </a:solidFill>
              </a:rPr>
              <a:t>value는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보정</a:t>
            </a:r>
            <a:r>
              <a:rPr sz="1600" b="0" dirty="0">
                <a:solidFill>
                  <a:srgbClr val="333F4D"/>
                </a:solidFill>
              </a:rPr>
              <a:t> 전)</a:t>
            </a:r>
          </a:p>
          <a:p>
            <a:r>
              <a:rPr sz="1600" b="0" dirty="0" err="1">
                <a:solidFill>
                  <a:srgbClr val="333F4D"/>
                </a:solidFill>
              </a:rPr>
              <a:t>점수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하나만으로는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해석이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어려움</a:t>
            </a:r>
            <a:r>
              <a:rPr sz="1600" b="0" dirty="0">
                <a:solidFill>
                  <a:srgbClr val="333F4D"/>
                </a:solidFill>
              </a:rPr>
              <a:t> (</a:t>
            </a:r>
            <a:r>
              <a:rPr sz="1600" b="0" dirty="0" err="1">
                <a:solidFill>
                  <a:srgbClr val="333F4D"/>
                </a:solidFill>
              </a:rPr>
              <a:t>위치별</a:t>
            </a:r>
            <a:r>
              <a:rPr sz="1600" b="0" dirty="0">
                <a:solidFill>
                  <a:srgbClr val="333F4D"/>
                </a:solidFill>
              </a:rPr>
              <a:t> </a:t>
            </a:r>
            <a:r>
              <a:rPr sz="1600" b="0" dirty="0" err="1">
                <a:solidFill>
                  <a:srgbClr val="333F4D"/>
                </a:solidFill>
              </a:rPr>
              <a:t>해석은</a:t>
            </a:r>
            <a:r>
              <a:rPr sz="1600" b="0" dirty="0">
                <a:solidFill>
                  <a:srgbClr val="333F4D"/>
                </a:solidFill>
              </a:rPr>
              <a:t> Figure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graphicFrame>
        <p:nvGraphicFramePr>
          <p:cNvPr id="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047811"/>
              </p:ext>
            </p:extLst>
          </p:nvPr>
        </p:nvGraphicFramePr>
        <p:xfrm>
          <a:off x="512064" y="2427987"/>
          <a:ext cx="11173967" cy="3936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6000"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고혈압(HTN)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당뇨병(DM)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만성신장질환(CKD)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vat_fpca_pc1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-0.323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vat_fpca_pc2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sat_fpca_pc1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0.765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sat_fpca_pc2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lama_fpca_pc1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0.043*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lama_fpca_pc2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nama_fpca_pc1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-0.383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nama_fpca_pc2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/>
                        <a:t>0.214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Figure 2. Where on the Curve Does AEC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60048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계수를 원래 곡선 위치(slice)로 환산: 위(+)는 그 위치 AEC가 높을수록 질환 확률 ↑, 아래(-)는 ↓</a:t>
            </a:r>
          </a:p>
          <a:p>
            <a:r>
              <a:rPr sz="1600" b="0">
                <a:solidFill>
                  <a:srgbClr val="333F4D"/>
                </a:solidFill>
              </a:rPr>
              <a:t>세 질환 모두 간 쪽 +, 치골 쪽 -, 부호 전환 위치는 질환마다 다름</a:t>
            </a:r>
          </a:p>
          <a:p>
            <a:r>
              <a:rPr sz="1600" b="0">
                <a:solidFill>
                  <a:srgbClr val="333F4D"/>
                </a:solidFill>
              </a:rPr>
              <a:t>한계: slice 번호가 환자 간 같은 해부학적 위치인지 미확인 (가설 수준)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02" y="2730480"/>
            <a:ext cx="10411196" cy="36695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Why Do Effects Differ by Hospital?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89184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AEC만 추가 시 효과 작음, 체성분까지 추가하면 커지나 </a:t>
            </a:r>
            <a:r>
              <a:rPr sz="1800" b="1">
                <a:solidFill>
                  <a:srgbClr val="1F3B63"/>
                </a:solidFill>
              </a:rPr>
              <a:t>주로 신촌에서 유의</a:t>
            </a:r>
          </a:p>
          <a:p>
            <a:r>
              <a:rPr sz="1800" b="0">
                <a:solidFill>
                  <a:srgbClr val="333F4D"/>
                </a:solidFill>
              </a:rPr>
              <a:t>예: 강남 CKD는 체성분만 추가 시 +0.015, AEC만 추가 시 -0.016 (fold 평균 AUC)</a:t>
            </a:r>
          </a:p>
          <a:p>
            <a:r>
              <a:rPr sz="1800" b="0">
                <a:solidFill>
                  <a:srgbClr val="333F4D"/>
                </a:solidFill>
              </a:rPr>
              <a:t>설명 ① 절단면 위치: 환자마다 장기 위치가 달라 같은 slice 번호가 다른 부위일 수 있음</a:t>
            </a:r>
          </a:p>
          <a:p>
            <a:r>
              <a:rPr sz="1800" b="0">
                <a:solidFill>
                  <a:srgbClr val="333F4D"/>
                </a:solidFill>
              </a:rPr>
              <a:t>설명 ② case-mix: 코호트 구성 차이(Table 1)가 개선폭 차이일 수 있음, 향후 병원×모델 상호작용으로 검정</a:t>
            </a:r>
          </a:p>
          <a:p>
            <a:r>
              <a:rPr sz="1800" b="0">
                <a:solidFill>
                  <a:srgbClr val="333F4D"/>
                </a:solidFill>
              </a:rPr>
              <a:t>Calibration(Appendix S2): 두 모델 패턴이 비슷, Brier는 대체로 개선(DM 신촌 제외), DM은 과대예측</a:t>
            </a:r>
          </a:p>
          <a:p>
            <a:r>
              <a:rPr sz="1800" b="0">
                <a:solidFill>
                  <a:srgbClr val="333F4D"/>
                </a:solidFill>
              </a:rPr>
              <a:t>한계: 위 설명은 직접 검증하지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500000"/>
          </a:xfrm>
        </p:spPr>
        <p:txBody>
          <a:bodyPr/>
          <a:lstStyle/>
          <a:p>
            <a:r>
              <a:rPr sz="1800" b="0">
                <a:solidFill>
                  <a:srgbClr val="333F4D"/>
                </a:solidFill>
              </a:rPr>
              <a:t>기본 정보만으로 AUC 강남 </a:t>
            </a:r>
            <a:r>
              <a:rPr sz="1800" b="1">
                <a:solidFill>
                  <a:srgbClr val="1F3B63"/>
                </a:solidFill>
              </a:rPr>
              <a:t>0.71–0.80</a:t>
            </a:r>
            <a:r>
              <a:rPr sz="1800" b="0">
                <a:solidFill>
                  <a:srgbClr val="333F4D"/>
                </a:solidFill>
              </a:rPr>
              <a:t>, 신촌 </a:t>
            </a:r>
            <a:r>
              <a:rPr sz="1800" b="1">
                <a:solidFill>
                  <a:srgbClr val="1F3B63"/>
                </a:solidFill>
              </a:rPr>
              <a:t>0.62–0.72</a:t>
            </a:r>
          </a:p>
          <a:p>
            <a:r>
              <a:rPr sz="1800" b="0">
                <a:solidFill>
                  <a:srgbClr val="333F4D"/>
                </a:solidFill>
              </a:rPr>
              <a:t>AEC만 추가: Internal ΔAUC -0.017~+0.018 (Table 2), 보정 시 비유의</a:t>
            </a:r>
          </a:p>
          <a:p>
            <a:r>
              <a:rPr sz="1800" b="0">
                <a:solidFill>
                  <a:srgbClr val="333F4D"/>
                </a:solidFill>
              </a:rPr>
              <a:t>체성분 추가: </a:t>
            </a:r>
            <a:r>
              <a:rPr sz="1800" b="1">
                <a:solidFill>
                  <a:srgbClr val="1F3B63"/>
                </a:solidFill>
              </a:rPr>
              <a:t>+0.014~+0.066 (fold 평균 AUC)</a:t>
            </a:r>
            <a:r>
              <a:rPr sz="1800" b="0">
                <a:solidFill>
                  <a:srgbClr val="333F4D"/>
                </a:solidFill>
              </a:rPr>
              <a:t>, 신촌은 3개 질환 모두 유의, 강남은 HTN만 유의해 병원 간 불일치</a:t>
            </a:r>
          </a:p>
          <a:p>
            <a:r>
              <a:rPr sz="1800" b="0">
                <a:solidFill>
                  <a:srgbClr val="333F4D"/>
                </a:solidFill>
              </a:rPr>
              <a:t>통계적 유의성이 곧 임상적 유용성은 아님 (NRI 등은 후속 분석), 로지스틱 회귀에 한정</a:t>
            </a:r>
          </a:p>
          <a:p>
            <a:r>
              <a:rPr sz="1800" b="0">
                <a:solidFill>
                  <a:srgbClr val="333F4D"/>
                </a:solidFill>
              </a:rPr>
              <a:t>의의: 추가 촬영 없이 기존 CT 부산물만으로 위험군 선별 가능성 탐색</a:t>
            </a:r>
          </a:p>
          <a:p>
            <a:r>
              <a:rPr sz="1800" b="0">
                <a:solidFill>
                  <a:srgbClr val="333F4D"/>
                </a:solidFill>
              </a:rPr>
              <a:t>한계: slice 위치 불일치, case-mix 차이 등 원인은 미확인, 추가 검증 필요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S1. FPCA Inverse Transform, Body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Best 모델의 곡선별 FPCA 계수를 위치별로 환산 (Figure 2와 같은 방법)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pic>
        <p:nvPicPr>
          <p:cNvPr id="8" name="Picture 7" descr="fpca_recovered_body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52" y="1650000"/>
            <a:ext cx="10359096" cy="474999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S2. Calibration Plot, Baseline vs Best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80000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Baseline(위)과 Best(아래)의 패턴이 비슷, HTN은 대체로 일치하고 DM은 class_weight=balanced로 예측확률이 관측 빈도보다 높음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pic>
        <p:nvPicPr>
          <p:cNvPr id="9" name="Picture 8" descr="calibration_plo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000" y="1950000"/>
            <a:ext cx="6600000" cy="2200000"/>
          </a:xfrm>
          <a:prstGeom prst="rect">
            <a:avLst/>
          </a:prstGeom>
        </p:spPr>
      </p:pic>
      <p:pic>
        <p:nvPicPr>
          <p:cNvPr id="10" name="Picture 9" descr="calibration_plot_b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000" y="4210000"/>
            <a:ext cx="6600000" cy="22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S3. Full AUC Comparison Across Extended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* p&lt;0.05 vs Baseline (paired DeLong, 다중비교 보정 전)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graphicFrame>
        <p:nvGraphicFramePr>
          <p:cNvPr id="6" name="Table S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80475"/>
              </p:ext>
            </p:extLst>
          </p:nvPr>
        </p:nvGraphicFramePr>
        <p:xfrm>
          <a:off x="331000" y="1789443"/>
          <a:ext cx="11530000" cy="35927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2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4343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/>
                        <a:t>+AEC</a:t>
                      </a:r>
                      <a:endParaRPr lang="en-US" sz="1000" b="1" dirty="0"/>
                    </a:p>
                    <a:p>
                      <a:pPr algn="ctr"/>
                      <a:r>
                        <a:rPr sz="1000" b="1" dirty="0"/>
                        <a:t>(</a:t>
                      </a:r>
                      <a:r>
                        <a:rPr sz="1000" b="1" dirty="0" err="1"/>
                        <a:t>FPCA+Ratio</a:t>
                      </a:r>
                      <a:r>
                        <a:rPr sz="10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+AEC +체성분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0.796±0.020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0.804±0.033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0.805±0.031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0.800±0.028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0.810±0.042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0.808±0.029*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0.811±0.032*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0.811±0.036*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0.735*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0.712±0.055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0.733±0.051*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0.732±0.054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0.730±0.038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0.732±0.048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0.738±0.052*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0.732±0.053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0.736±0.044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0.770±0.038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0.774±0.035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0.754±0.041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0.776±0.035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0.772±0.039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0.793±0.032*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0.783±0.037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0.784±0.038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8066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0.638*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0.681*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S4. AEC-Only Model Coefficients (FPCA PC1–3)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AEC 점수는 PC2가 HTN·DM·CKD에서 일관되게 유의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graphicFrame>
        <p:nvGraphicFramePr>
          <p:cNvPr id="6" name="Table S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947027"/>
              </p:ext>
            </p:extLst>
          </p:nvPr>
        </p:nvGraphicFramePr>
        <p:xfrm>
          <a:off x="1596000" y="2122259"/>
          <a:ext cx="9000000" cy="335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0.537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−0.342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0.015*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0.359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S5. Baseline Model VIF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모든 변수 VIF &lt; 3: 기본 모델의 다중공선성은 크지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graphicFrame>
        <p:nvGraphicFramePr>
          <p:cNvPr id="7" name="Table S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7446"/>
              </p:ext>
            </p:extLst>
          </p:nvPr>
        </p:nvGraphicFramePr>
        <p:xfrm>
          <a:off x="4746000" y="1928559"/>
          <a:ext cx="2700000" cy="149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VIF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2.361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1.232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2.781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1.820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S6. Fold-Level Performance, Hypertension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고혈압: Internal 0.795 → 0.809 (p=0.035), External 0.718 → 0.741 (p=0.011),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0.796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0.697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0.681 ± 0.030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0.878 ± 0.066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0.594 ± 0.026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S7. Fold-Level Performance,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당뇨병: Internal 0.714 → 0.735 (p=0.078), External 0.665 → 0.706 (p&lt;0.001),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0.712 ± 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0.598 ± 0.025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0.790 ± 0.073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0.555 ± 0.032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0.736 ± 0.044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0.611 ± 0.036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0.820 ± 0.068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0.564 ± 0.035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0.346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S8. Fold-Level Performance, CKD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r>
              <a:rPr sz="1600" b="0">
                <a:solidFill>
                  <a:srgbClr val="333F4D"/>
                </a:solidFill>
              </a:rPr>
              <a:t>만성신장질환: Internal 0.769 → 0.784 (p=0.39), External 0.615 → 0.681 (p&lt;0.001),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0.770 ± 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0.631 ± 0.055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0.784 ± 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0.660 ± 0.051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7317</TotalTime>
  <Words>3655</Words>
  <Application>Microsoft Office PowerPoint</Application>
  <PresentationFormat>와이드스크린</PresentationFormat>
  <Paragraphs>938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KoPub돋움체 Bold</vt:lpstr>
      <vt:lpstr>Arial</vt:lpstr>
      <vt:lpstr>KoPub돋움체 Medium</vt:lpstr>
      <vt:lpstr>Office 테마</vt:lpstr>
      <vt:lpstr>PowerPoint 프레젠테이션</vt:lpstr>
      <vt:lpstr>Background &amp; Aims</vt:lpstr>
      <vt:lpstr>AEC: A Free Byproduct of Every CT Scan</vt:lpstr>
      <vt:lpstr>AEC Curves Differ by Sex and Disease</vt:lpstr>
      <vt:lpstr>FPCA: A Curve Becomes a Few Shape Scores</vt:lpstr>
      <vt:lpstr>Body Composition Curves from CT Segmentation</vt:lpstr>
      <vt:lpstr>Study Design</vt:lpstr>
      <vt:lpstr>Table 1. The Two Cohorts Differ in Case-Mix</vt:lpstr>
      <vt:lpstr>Modeling and Evaluation</vt:lpstr>
      <vt:lpstr>FPCA Component Selection (Kneedle Elbow)</vt:lpstr>
      <vt:lpstr>Table 2. AEC Alone Adds Little</vt:lpstr>
      <vt:lpstr>Figure 1. Body Composition Gives the Largest Gain</vt:lpstr>
      <vt:lpstr>Table 3. Gains Hold in External, Not Always in Internal</vt:lpstr>
      <vt:lpstr>How the Coefficients Were Obtained</vt:lpstr>
      <vt:lpstr>Table 4. Height and Weight Lose Significance in Best</vt:lpstr>
      <vt:lpstr>Table 5. Only Body-Composition Scores Are Significant</vt:lpstr>
      <vt:lpstr>Figure 2. Where on the Curve Does AEC Matter?</vt:lpstr>
      <vt:lpstr>Why Do Effects Differ by Hospital?</vt:lpstr>
      <vt:lpstr>Conclusion</vt:lpstr>
      <vt:lpstr>PowerPoint 프레젠테이션</vt:lpstr>
      <vt:lpstr>S1. FPCA Inverse Transform, Body Composition</vt:lpstr>
      <vt:lpstr>S2. Calibration Plot, Baseline vs Best</vt:lpstr>
      <vt:lpstr>S3. Full AUC Comparison Across Extended Models</vt:lpstr>
      <vt:lpstr>S4. AEC-Only Model Coefficients (FPCA PC1–3)</vt:lpstr>
      <vt:lpstr>S5. Baseline Model VIF</vt:lpstr>
      <vt:lpstr>S6. Fold-Level Performance, Hypertension</vt:lpstr>
      <vt:lpstr>S7. Fold-Level Performance, Diabetes</vt:lpstr>
      <vt:lpstr>S8. Fold-Level Performance, CKD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742</cp:revision>
  <dcterms:created xsi:type="dcterms:W3CDTF">2026-04-09T07:05:16Z</dcterms:created>
  <dcterms:modified xsi:type="dcterms:W3CDTF">2026-10-01T10:24:09Z</dcterms:modified>
</cp:coreProperties>
</file>